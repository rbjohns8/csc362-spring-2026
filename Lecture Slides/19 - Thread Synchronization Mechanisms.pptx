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903" autoAdjust="0"/>
  </p:normalViewPr>
  <p:slideViewPr>
    <p:cSldViewPr>
      <p:cViewPr varScale="1">
        <p:scale>
          <a:sx n="61" d="100"/>
          <a:sy n="61" d="100"/>
        </p:scale>
        <p:origin x="1416" y="4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3774D5-E2BF-4344-8F5A-68FE912A6DF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AB03A4-493F-4AC4-BFB4-4B706537AA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2101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Figure:</a:t>
            </a:r>
          </a:p>
          <a:p>
            <a:r>
              <a:rPr lang="en-US" dirty="0"/>
              <a:t>A sequence diagram illustrating the logic of Dekker’s Algorithm, </a:t>
            </a:r>
          </a:p>
          <a:p>
            <a:r>
              <a:rPr lang="en-US" dirty="0"/>
              <a:t>showing Task 1 and Task 2 setting flags and </a:t>
            </a:r>
          </a:p>
          <a:p>
            <a:r>
              <a:rPr lang="en-US" dirty="0"/>
              <a:t>a turn variable to manage access to a critical section.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AB03A4-493F-4AC4-BFB4-4B706537AA2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9376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spc="-10" dirty="0">
                <a:solidFill>
                  <a:srgbClr val="0F2044"/>
                </a:solidFill>
                <a:latin typeface="Georgia"/>
                <a:cs typeface="Georgia"/>
              </a:rPr>
              <a:t>Dekker’s</a:t>
            </a:r>
            <a:r>
              <a:rPr lang="en-US" sz="1200" b="1" spc="-30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lang="en-US" sz="1200" b="1" spc="-10" dirty="0">
                <a:solidFill>
                  <a:srgbClr val="0F2044"/>
                </a:solidFill>
                <a:latin typeface="Georgia"/>
                <a:cs typeface="Georgia"/>
              </a:rPr>
              <a:t>Algorithm</a:t>
            </a:r>
            <a:endParaRPr lang="en-US" sz="1200" b="1" dirty="0">
              <a:latin typeface="Georgia"/>
              <a:cs typeface="Georgia"/>
            </a:endParaRPr>
          </a:p>
          <a:p>
            <a:r>
              <a:rPr lang="en-US" dirty="0"/>
              <a:t>Two process solution.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Turn indicator: </a:t>
            </a:r>
            <a:r>
              <a:rPr lang="en-US" b="0" dirty="0"/>
              <a:t>int </a:t>
            </a:r>
            <a:r>
              <a:rPr lang="en-US" dirty="0"/>
              <a:t>turn;</a:t>
            </a:r>
            <a:br>
              <a:rPr lang="en-US" dirty="0"/>
            </a:br>
            <a:r>
              <a:rPr lang="en-US" dirty="0"/>
              <a:t>indicates who has priority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Flags: </a:t>
            </a:r>
            <a:r>
              <a:rPr lang="en-US" b="0" dirty="0"/>
              <a:t>bool </a:t>
            </a:r>
            <a:r>
              <a:rPr lang="en-US" dirty="0" err="1"/>
              <a:t>wants_to</a:t>
            </a:r>
            <a:r>
              <a:rPr lang="en-US" dirty="0"/>
              <a:t> enter[2];</a:t>
            </a:r>
            <a:br>
              <a:rPr lang="en-US" dirty="0"/>
            </a:br>
            <a:r>
              <a:rPr lang="en-US" dirty="0"/>
              <a:t>indicates intent to enter the critical section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AB03A4-493F-4AC4-BFB4-4B706537AA2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1522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Figure: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humorous cartoon of two stick figures;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one is frustrated at a computer while the other sits on the floor with a phone,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"waiting for my turn to print" in a literal interpretation of process waiting.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AB03A4-493F-4AC4-BFB4-4B706537AA2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7065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See example:</a:t>
            </a:r>
          </a:p>
          <a:p>
            <a:r>
              <a:rPr lang="en-US" dirty="0" err="1"/>
              <a:t>dekkers_algorithm.c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Volatile keyword:</a:t>
            </a:r>
            <a:r>
              <a:rPr lang="en-US" dirty="0"/>
              <a:t> </a:t>
            </a:r>
          </a:p>
          <a:p>
            <a:r>
              <a:rPr lang="en-US" dirty="0"/>
              <a:t>maintain variables in memory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AB03A4-493F-4AC4-BFB4-4B706537AA2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905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Dekker’s Algorithm - Limitations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three primary drawbacks of Dekker's Algorithm: 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complexity, scalability, and fairness.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Complexity and Inefficiency: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Manual Implementation: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is difficult to code correctly because it requires managing multiple shared flags and complex state conditions.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Busy Waiting: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algorithm uses "spinning" (looping) to check conditions.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wastes CPU cycles because the processor is doing work just to wait.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Modern Fix: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Mutexes and semaphores use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blocking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allowing threads to "sleep" and free up the CPU until they are needed.</a:t>
            </a:r>
          </a:p>
          <a:p>
            <a:endParaRPr lang="en-US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Limited Scalability: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Two-Thread Limit: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algorithm is designed strictly for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 threads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Extending it to N threads makes the logic exponentially more complex and impractical.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Lack of Fairness: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Starvation Risk: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 is no guarantee of "first-come, first-served."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 thread might dominate the critical section while the other is left waiting indefinitely (starvation).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Modern Fix: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Modern primitives use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priority queues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round-robin scheduling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ensure every thread eventually gets a turn.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AB03A4-493F-4AC4-BFB4-4B706537AA2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6971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Why Dekker Fails on Modern Systems (Reordering)</a:t>
            </a:r>
          </a:p>
          <a:p>
            <a:r>
              <a:rPr lang="en-US" dirty="0"/>
              <a:t>Hardware and software optimizations break the assumptions made by classic algorithms.</a:t>
            </a:r>
          </a:p>
          <a:p>
            <a:endParaRPr lang="en-US" dirty="0"/>
          </a:p>
          <a:p>
            <a:r>
              <a:rPr lang="en-US" b="1" dirty="0"/>
              <a:t>Instruction Reordering:</a:t>
            </a:r>
            <a:r>
              <a:rPr lang="en-US" dirty="0"/>
              <a:t> </a:t>
            </a:r>
          </a:p>
          <a:p>
            <a:r>
              <a:rPr lang="en-US" dirty="0"/>
              <a:t>To improve speed, </a:t>
            </a:r>
            <a:r>
              <a:rPr lang="en-US" b="1" dirty="0"/>
              <a:t>Compilers</a:t>
            </a:r>
            <a:r>
              <a:rPr lang="en-US" dirty="0"/>
              <a:t> may swap the order of two instructions if they appear independent.</a:t>
            </a:r>
          </a:p>
          <a:p>
            <a:endParaRPr lang="en-US" dirty="0"/>
          </a:p>
          <a:p>
            <a:r>
              <a:rPr lang="en-US" b="1" dirty="0"/>
              <a:t>Out-of-Order Execution:</a:t>
            </a:r>
            <a:r>
              <a:rPr lang="en-US" dirty="0"/>
              <a:t> </a:t>
            </a:r>
          </a:p>
          <a:p>
            <a:r>
              <a:rPr lang="en-US" b="1" dirty="0"/>
              <a:t>CPUs</a:t>
            </a:r>
            <a:r>
              <a:rPr lang="en-US" dirty="0"/>
              <a:t> may execute commands in a different order than written to keep their internal "pipelines" full.</a:t>
            </a:r>
          </a:p>
          <a:p>
            <a:endParaRPr lang="en-US" dirty="0"/>
          </a:p>
          <a:p>
            <a:r>
              <a:rPr lang="en-US" b="1" dirty="0"/>
              <a:t>The Conflict:</a:t>
            </a:r>
            <a:r>
              <a:rPr lang="en-US" dirty="0"/>
              <a:t> </a:t>
            </a:r>
          </a:p>
          <a:p>
            <a:r>
              <a:rPr lang="en-US" dirty="0"/>
              <a:t>If the code says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flag = 1; turn = 2;</a:t>
            </a:r>
            <a:r>
              <a:rPr lang="en-US" dirty="0"/>
              <a:t>, </a:t>
            </a:r>
          </a:p>
          <a:p>
            <a:r>
              <a:rPr lang="en-US" dirty="0"/>
              <a:t>a modern CPU might actually write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turn = 2</a:t>
            </a:r>
            <a:r>
              <a:rPr lang="en-US" dirty="0"/>
              <a:t> </a:t>
            </a:r>
            <a:r>
              <a:rPr lang="en-US" b="1" dirty="0"/>
              <a:t>before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flag = 1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This reordering destroys the logic Dekker’s Algorithm relies on to ensure mutual exclusion.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AB03A4-493F-4AC4-BFB4-4B706537AA2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0183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Why Dekker Fails (Memory Visibility)</a:t>
            </a:r>
          </a:p>
          <a:p>
            <a:r>
              <a:rPr lang="en-US" dirty="0"/>
              <a:t>Overview: The difference between "program order" and "visibility“.</a:t>
            </a:r>
          </a:p>
          <a:p>
            <a:endParaRPr lang="en-US" dirty="0"/>
          </a:p>
          <a:p>
            <a:r>
              <a:rPr lang="en-US" b="1" dirty="0"/>
              <a:t>Strict Memory Visibility:</a:t>
            </a:r>
            <a:r>
              <a:rPr lang="en-US" dirty="0"/>
              <a:t> </a:t>
            </a:r>
          </a:p>
          <a:p>
            <a:r>
              <a:rPr lang="en-US" dirty="0"/>
              <a:t>Dekker's Algorithm assumes that if Thread A writes a value, </a:t>
            </a:r>
            <a:br>
              <a:rPr lang="en-US" dirty="0"/>
            </a:br>
            <a:r>
              <a:rPr lang="en-US" dirty="0"/>
              <a:t>Thread B sees it </a:t>
            </a:r>
            <a:r>
              <a:rPr lang="en-US" b="1" dirty="0"/>
              <a:t>immediately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dirty="0"/>
              <a:t>The Reality of Multi-Core Systems:</a:t>
            </a:r>
            <a:r>
              <a:rPr lang="en-US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Each core has its own </a:t>
            </a:r>
            <a:r>
              <a:rPr lang="en-US" b="1" dirty="0"/>
              <a:t>cache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/>
              <a:t>A write might stay in Core 1's cache for a while before being pushed to main memory.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Stale Values: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Thread 2 might read an old value from memory </a:t>
            </a:r>
            <a:br>
              <a:rPr lang="en-US" dirty="0"/>
            </a:br>
            <a:r>
              <a:rPr lang="en-US" dirty="0"/>
              <a:t>because Thread 1’s update is still "buffered" or "cached.“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r>
              <a:rPr lang="en-US" b="1" dirty="0"/>
              <a:t>The Consequence:</a:t>
            </a:r>
            <a:r>
              <a:rPr lang="en-US" dirty="0"/>
              <a:t> </a:t>
            </a:r>
          </a:p>
          <a:p>
            <a:r>
              <a:rPr lang="en-US" dirty="0"/>
              <a:t>Without </a:t>
            </a:r>
            <a:r>
              <a:rPr lang="en-US" b="1" dirty="0"/>
              <a:t>memory fences</a:t>
            </a:r>
            <a:r>
              <a:rPr lang="en-US" dirty="0"/>
              <a:t> or </a:t>
            </a:r>
            <a:r>
              <a:rPr lang="en-US" b="1" dirty="0"/>
              <a:t>atomic operations</a:t>
            </a:r>
            <a:r>
              <a:rPr lang="en-US" dirty="0"/>
              <a:t>, </a:t>
            </a:r>
          </a:p>
          <a:p>
            <a:r>
              <a:rPr lang="en-US" dirty="0"/>
              <a:t>both threads might think it is their turn simultaneously, </a:t>
            </a:r>
          </a:p>
          <a:p>
            <a:r>
              <a:rPr lang="en-US" dirty="0"/>
              <a:t>leading to a crash or data corruption.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AB03A4-493F-4AC4-BFB4-4B706537AA2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210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Why Dekker Fails (Race Conditions)</a:t>
            </a:r>
          </a:p>
          <a:p>
            <a:r>
              <a:rPr lang="en-US" dirty="0"/>
              <a:t>Scenario where the lack of immediate visibility causes a failure.</a:t>
            </a:r>
          </a:p>
          <a:p>
            <a:endParaRPr lang="en-US" dirty="0"/>
          </a:p>
          <a:p>
            <a:r>
              <a:rPr lang="en-US" b="1" dirty="0"/>
              <a:t>Delayed Visibility:</a:t>
            </a:r>
            <a:r>
              <a:rPr lang="en-US" dirty="0"/>
              <a:t> </a:t>
            </a:r>
          </a:p>
          <a:p>
            <a:r>
              <a:rPr lang="en-US" dirty="0"/>
              <a:t>If Thread 1 sets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flag1 = 1</a:t>
            </a:r>
            <a:r>
              <a:rPr lang="en-US" dirty="0"/>
              <a:t> but it stays in the local cache, </a:t>
            </a:r>
          </a:p>
          <a:p>
            <a:r>
              <a:rPr lang="en-US" dirty="0"/>
              <a:t>Thread 2 will still see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flag1 == 0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dirty="0"/>
              <a:t>Failing to Block:</a:t>
            </a:r>
            <a:r>
              <a:rPr lang="en-US" dirty="0"/>
              <a:t> </a:t>
            </a:r>
          </a:p>
          <a:p>
            <a:r>
              <a:rPr lang="en-US" dirty="0"/>
              <a:t>Because Thread 2 sees the old value, </a:t>
            </a:r>
          </a:p>
          <a:p>
            <a:r>
              <a:rPr lang="en-US" dirty="0"/>
              <a:t>its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en-US" dirty="0"/>
              <a:t> loop (the guard condition) fails to trigger.</a:t>
            </a:r>
          </a:p>
          <a:p>
            <a:endParaRPr lang="en-US" dirty="0"/>
          </a:p>
          <a:p>
            <a:r>
              <a:rPr lang="en-US" b="1" dirty="0"/>
              <a:t>The Result:</a:t>
            </a:r>
            <a:r>
              <a:rPr lang="en-US" dirty="0"/>
              <a:t> </a:t>
            </a:r>
          </a:p>
          <a:p>
            <a:r>
              <a:rPr lang="en-US" dirty="0"/>
              <a:t>Both threads "skip the wait" and enter the critical section at the same time. </a:t>
            </a:r>
          </a:p>
          <a:p>
            <a:r>
              <a:rPr lang="en-US" dirty="0"/>
              <a:t>This is a </a:t>
            </a:r>
            <a:r>
              <a:rPr lang="en-US" b="1" dirty="0"/>
              <a:t>race condition</a:t>
            </a:r>
            <a:r>
              <a:rPr lang="en-US" dirty="0"/>
              <a:t> that breaks the synchronization logic entirely.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AB03A4-493F-4AC4-BFB4-4B706537AA2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6697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Synchronization Mechanism - Condition Variables</a:t>
            </a:r>
          </a:p>
          <a:p>
            <a:r>
              <a:rPr lang="en-US" dirty="0"/>
              <a:t>Introduces a more sophisticated tool for thread coordination.</a:t>
            </a:r>
          </a:p>
          <a:p>
            <a:endParaRPr lang="en-US" dirty="0"/>
          </a:p>
          <a:p>
            <a:r>
              <a:rPr lang="en-US" b="1" dirty="0"/>
              <a:t>Definition:</a:t>
            </a:r>
            <a:r>
              <a:rPr lang="en-US" dirty="0"/>
              <a:t> </a:t>
            </a:r>
          </a:p>
          <a:p>
            <a:r>
              <a:rPr lang="en-US" dirty="0"/>
              <a:t>A </a:t>
            </a:r>
            <a:r>
              <a:rPr lang="en-US" b="1" dirty="0"/>
              <a:t>Condition Variable</a:t>
            </a:r>
            <a:r>
              <a:rPr lang="en-US" dirty="0"/>
              <a:t> is a primitive that allows a thread to wait for a specific state to change before it continues.</a:t>
            </a:r>
          </a:p>
          <a:p>
            <a:endParaRPr lang="en-US" dirty="0"/>
          </a:p>
          <a:p>
            <a:r>
              <a:rPr lang="en-US" b="1" dirty="0"/>
              <a:t>Efficiency:</a:t>
            </a:r>
            <a:r>
              <a:rPr lang="en-US" dirty="0"/>
              <a:t> </a:t>
            </a:r>
          </a:p>
          <a:p>
            <a:r>
              <a:rPr lang="en-US" dirty="0"/>
              <a:t>They are used alongside </a:t>
            </a:r>
            <a:r>
              <a:rPr lang="en-US" b="1" dirty="0"/>
              <a:t>Mutexes</a:t>
            </a:r>
            <a:r>
              <a:rPr lang="en-US" dirty="0"/>
              <a:t> to eliminate busy-waiting. </a:t>
            </a:r>
          </a:p>
          <a:p>
            <a:r>
              <a:rPr lang="en-US" dirty="0"/>
              <a:t>Instead of looping, the thread stays dormant until it receives a signal.</a:t>
            </a:r>
          </a:p>
          <a:p>
            <a:endParaRPr lang="en-US" dirty="0"/>
          </a:p>
          <a:p>
            <a:r>
              <a:rPr lang="en-US" b="1" dirty="0"/>
              <a:t>Key Operations:</a:t>
            </a:r>
            <a:endParaRPr lang="en-US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Wait:</a:t>
            </a:r>
            <a:r>
              <a:rPr lang="en-US" dirty="0"/>
              <a:t> The thread puts itself to sleep and releases the mutex until another thread signals it.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Signal:</a:t>
            </a:r>
            <a:r>
              <a:rPr lang="en-US" dirty="0"/>
              <a:t> A thread that changes the shared state "wakes up" one (or more) waiting threads to let them know they can try to proceed.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AB03A4-493F-4AC4-BFB4-4B706537AA2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800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The Problem - Busy-Waiting (Polling)</a:t>
            </a:r>
          </a:p>
          <a:p>
            <a:r>
              <a:rPr lang="en-US" dirty="0"/>
              <a:t>Illustrates the most basic (and inefficient) way to wait for a condition.</a:t>
            </a:r>
          </a:p>
          <a:p>
            <a:endParaRPr lang="en-US" dirty="0"/>
          </a:p>
          <a:p>
            <a:r>
              <a:rPr lang="en-US" b="1" dirty="0"/>
              <a:t>Definition of Polling:</a:t>
            </a:r>
            <a:r>
              <a:rPr lang="en-US" dirty="0"/>
              <a:t> </a:t>
            </a:r>
          </a:p>
          <a:p>
            <a:r>
              <a:rPr lang="en-US" dirty="0"/>
              <a:t>A thread repeatedly checks a shared variable (like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 == true</a:t>
            </a:r>
            <a:r>
              <a:rPr lang="en-US" dirty="0"/>
              <a:t>) in a tight loop.</a:t>
            </a:r>
          </a:p>
          <a:p>
            <a:endParaRPr lang="en-US" dirty="0"/>
          </a:p>
          <a:p>
            <a:r>
              <a:rPr lang="en-US" b="1" dirty="0"/>
              <a:t>Mechanism:</a:t>
            </a:r>
            <a:r>
              <a:rPr lang="en-US" dirty="0"/>
              <a:t> </a:t>
            </a:r>
          </a:p>
          <a:p>
            <a:r>
              <a:rPr lang="en-US" dirty="0"/>
              <a:t>Thread ‘A’ constantly executes an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assert</a:t>
            </a:r>
            <a:r>
              <a:rPr lang="en-US" dirty="0"/>
              <a:t> or check. </a:t>
            </a:r>
          </a:p>
          <a:p>
            <a:r>
              <a:rPr lang="en-US" dirty="0"/>
              <a:t>It doesn't move forward until Thread ‘B’ completes its task and sets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 = true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dirty="0"/>
              <a:t>The Drawback (CPU Waste):</a:t>
            </a:r>
            <a:r>
              <a:rPr lang="en-US" dirty="0"/>
              <a:t> </a:t>
            </a:r>
          </a:p>
          <a:p>
            <a:r>
              <a:rPr lang="en-US" dirty="0"/>
              <a:t>This is "resource hungry." </a:t>
            </a:r>
          </a:p>
          <a:p>
            <a:r>
              <a:rPr lang="en-US" dirty="0"/>
              <a:t>The CPU is running at 100% just to check a flag, </a:t>
            </a:r>
          </a:p>
          <a:p>
            <a:r>
              <a:rPr lang="en-US" dirty="0"/>
              <a:t>preventing other useful work from being done on that core.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AB03A4-493F-4AC4-BFB4-4B706537AA2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2512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Mechanism:</a:t>
            </a:r>
            <a:r>
              <a:rPr lang="en-US" dirty="0"/>
              <a:t> </a:t>
            </a:r>
          </a:p>
          <a:p>
            <a:r>
              <a:rPr lang="en-US" dirty="0"/>
              <a:t>Thread ‘A’ constantly executes an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assert</a:t>
            </a:r>
            <a:r>
              <a:rPr lang="en-US" dirty="0"/>
              <a:t> or check. </a:t>
            </a:r>
          </a:p>
          <a:p>
            <a:r>
              <a:rPr lang="en-US" dirty="0"/>
              <a:t>It doesn't move forward until Thread ‘B’ completes its task and sets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 = true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dirty="0"/>
              <a:t>The Drawback (CPU Waste):</a:t>
            </a:r>
            <a:r>
              <a:rPr lang="en-US" dirty="0"/>
              <a:t> </a:t>
            </a:r>
          </a:p>
          <a:p>
            <a:r>
              <a:rPr lang="en-US" dirty="0"/>
              <a:t>This is "resource hungry." </a:t>
            </a:r>
          </a:p>
          <a:p>
            <a:r>
              <a:rPr lang="en-US" dirty="0"/>
              <a:t>The CPU is running at 100% just to check a flag, </a:t>
            </a:r>
          </a:p>
          <a:p>
            <a:r>
              <a:rPr lang="en-US" dirty="0"/>
              <a:t>preventing other useful work from being done on that core.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AB03A4-493F-4AC4-BFB4-4B706537AA2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8710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The "Naive" Fix - Polling with Sleep</a:t>
            </a:r>
          </a:p>
          <a:p>
            <a:r>
              <a:rPr lang="en-US" dirty="0"/>
              <a:t>Attempts to fix busy-waiting by adding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sleep()</a:t>
            </a:r>
            <a:r>
              <a:rPr lang="en-US" dirty="0"/>
              <a:t> commands.</a:t>
            </a:r>
          </a:p>
          <a:p>
            <a:endParaRPr lang="en-US" dirty="0"/>
          </a:p>
          <a:p>
            <a:r>
              <a:rPr lang="en-US" b="1" dirty="0"/>
              <a:t>The Idea:</a:t>
            </a:r>
            <a:r>
              <a:rPr lang="en-US" dirty="0"/>
              <a:t> </a:t>
            </a:r>
          </a:p>
          <a:p>
            <a:r>
              <a:rPr lang="en-US" dirty="0"/>
              <a:t>Insert a small delay (e.g., 50ms) between checks to free up the CPU.</a:t>
            </a:r>
          </a:p>
          <a:p>
            <a:endParaRPr lang="en-US" dirty="0"/>
          </a:p>
          <a:p>
            <a:r>
              <a:rPr lang="en-US" b="1" dirty="0"/>
              <a:t>The "Goldilocks" Problem:</a:t>
            </a:r>
            <a:endParaRPr lang="en-US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Time too short: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High overhead from constant </a:t>
            </a:r>
            <a:r>
              <a:rPr lang="en-US" b="1" dirty="0"/>
              <a:t>context switching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(the OS moving the thread in and out of the CPU).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Time too long: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Poor responsiveness. </a:t>
            </a:r>
            <a:br>
              <a:rPr lang="en-US" dirty="0"/>
            </a:br>
            <a:r>
              <a:rPr lang="en-US" dirty="0"/>
              <a:t>If the condition becomes true at 1ms into a 50ms sleep, </a:t>
            </a:r>
            <a:br>
              <a:rPr lang="en-US" dirty="0"/>
            </a:br>
            <a:r>
              <a:rPr lang="en-US" dirty="0"/>
              <a:t>the thread wastes 49ms just sleeping, causing a lag in the application.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AB03A4-493F-4AC4-BFB4-4B706537AA2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7431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The Efficient Goal - True Sleeping</a:t>
            </a:r>
          </a:p>
          <a:p>
            <a:r>
              <a:rPr lang="en-US" dirty="0"/>
              <a:t>Introduces the ideal behavior that synchronization primitives aim to achieve.</a:t>
            </a:r>
          </a:p>
          <a:p>
            <a:endParaRPr lang="en-US" dirty="0"/>
          </a:p>
          <a:p>
            <a:r>
              <a:rPr lang="en-US" b="1" dirty="0"/>
              <a:t>Wait until True:</a:t>
            </a:r>
            <a:r>
              <a:rPr lang="en-US" dirty="0"/>
              <a:t> </a:t>
            </a:r>
          </a:p>
          <a:p>
            <a:r>
              <a:rPr lang="en-US" dirty="0"/>
              <a:t>Thread ‘A’ should perform a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wait_until</a:t>
            </a:r>
            <a:r>
              <a:rPr lang="en-US" dirty="0"/>
              <a:t> operation.</a:t>
            </a:r>
          </a:p>
          <a:p>
            <a:endParaRPr lang="en-US" dirty="0"/>
          </a:p>
          <a:p>
            <a:r>
              <a:rPr lang="en-US" b="1" dirty="0"/>
              <a:t>Resource Management:</a:t>
            </a:r>
            <a:r>
              <a:rPr lang="en-US" dirty="0"/>
              <a:t> </a:t>
            </a:r>
          </a:p>
          <a:p>
            <a:r>
              <a:rPr lang="en-US" dirty="0"/>
              <a:t>Instead of checking or periodically waking up, </a:t>
            </a:r>
          </a:p>
          <a:p>
            <a:r>
              <a:rPr lang="en-US" dirty="0"/>
              <a:t>the thread is put into a "blocked" state by the OS.</a:t>
            </a:r>
          </a:p>
          <a:p>
            <a:endParaRPr lang="en-US" dirty="0"/>
          </a:p>
          <a:p>
            <a:r>
              <a:rPr lang="en-US" b="1" dirty="0"/>
              <a:t>Benefit:</a:t>
            </a:r>
            <a:r>
              <a:rPr lang="en-US" dirty="0"/>
              <a:t> </a:t>
            </a:r>
          </a:p>
          <a:p>
            <a:r>
              <a:rPr lang="en-US" dirty="0"/>
              <a:t>Zero CPU cycles are consumed by Thread ‘A’ while it waits. </a:t>
            </a:r>
          </a:p>
          <a:p>
            <a:r>
              <a:rPr lang="en-US" dirty="0"/>
              <a:t>The CPU is 100% free for other tasks.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AB03A4-493F-4AC4-BFB4-4B706537AA2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9601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The Implementation -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std::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condition_variable</a:t>
            </a:r>
            <a:endParaRPr lang="en-US" b="1" dirty="0"/>
          </a:p>
          <a:p>
            <a:r>
              <a:rPr lang="en-US" dirty="0"/>
              <a:t>The C++ standard library's way of implementing the "True Sleeping" goal.</a:t>
            </a:r>
          </a:p>
          <a:p>
            <a:endParaRPr lang="en-US" dirty="0"/>
          </a:p>
          <a:p>
            <a:r>
              <a:rPr lang="en-US" b="1" dirty="0"/>
              <a:t>The Components:</a:t>
            </a:r>
            <a:endParaRPr lang="en-US" sz="12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std::mutex m</a:t>
            </a:r>
            <a:r>
              <a:rPr lang="en-US" b="1" dirty="0"/>
              <a:t>: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Protects the shared condition.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std::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unique_lock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ul(m)</a:t>
            </a:r>
            <a:r>
              <a:rPr lang="en-US" b="1" dirty="0"/>
              <a:t>: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A wrapper that manages the mutex.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cv.wait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(ul, ...)</a:t>
            </a:r>
            <a:r>
              <a:rPr lang="en-US" b="1" dirty="0"/>
              <a:t>: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This is the "magic" step. </a:t>
            </a:r>
            <a:br>
              <a:rPr lang="en-US" dirty="0"/>
            </a:br>
            <a:r>
              <a:rPr lang="en-US" dirty="0"/>
              <a:t>It </a:t>
            </a:r>
            <a:r>
              <a:rPr lang="en-US" b="1" dirty="0"/>
              <a:t>atomically releases the mutex</a:t>
            </a:r>
            <a:r>
              <a:rPr lang="en-US" dirty="0"/>
              <a:t> and puts the thread to sleep.</a:t>
            </a:r>
          </a:p>
          <a:p>
            <a:endParaRPr lang="en-US" b="1" dirty="0"/>
          </a:p>
          <a:p>
            <a:r>
              <a:rPr lang="en-US" b="1" dirty="0"/>
              <a:t>The Wake-up Call: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Thread ‘B’ finishes its work and calls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cv.notify_one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Thread ‘A’ is woken up, </a:t>
            </a:r>
            <a:r>
              <a:rPr lang="en-US" b="1" dirty="0"/>
              <a:t>re-acquires the mutex</a:t>
            </a:r>
            <a:r>
              <a:rPr lang="en-US" dirty="0"/>
              <a:t>, and continues its work.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AB03A4-493F-4AC4-BFB4-4B706537AA2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4551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The Standard Workflow (Validation/Invalidation)</a:t>
            </a:r>
          </a:p>
          <a:p>
            <a:r>
              <a:rPr lang="en-US" dirty="0"/>
              <a:t>Summarizes the lifecycle of a condition variable synchronization.</a:t>
            </a:r>
          </a:p>
          <a:p>
            <a:endParaRPr lang="en-US" dirty="0"/>
          </a:p>
          <a:p>
            <a:r>
              <a:rPr lang="en-US" b="1" dirty="0"/>
              <a:t>Validation:</a:t>
            </a:r>
            <a:r>
              <a:rPr lang="en-US" dirty="0"/>
              <a:t> </a:t>
            </a:r>
          </a:p>
          <a:p>
            <a:r>
              <a:rPr lang="en-US" dirty="0"/>
              <a:t>Thread ‘B’ performs work that makes the condition true ("Validates") and then notifies the waiting thread.</a:t>
            </a:r>
          </a:p>
          <a:p>
            <a:endParaRPr lang="en-US" dirty="0"/>
          </a:p>
          <a:p>
            <a:r>
              <a:rPr lang="en-US" b="1" dirty="0"/>
              <a:t>Invalidation:</a:t>
            </a:r>
            <a:r>
              <a:rPr lang="en-US" dirty="0"/>
              <a:t> </a:t>
            </a:r>
          </a:p>
          <a:p>
            <a:r>
              <a:rPr lang="en-US" dirty="0"/>
              <a:t>Once Thread ‘A’ wakes up and finishes its dependent work, </a:t>
            </a:r>
          </a:p>
          <a:p>
            <a:r>
              <a:rPr lang="en-US" dirty="0"/>
              <a:t>it may reset the condition ("Invalidates") so the cycle can begin again.</a:t>
            </a:r>
          </a:p>
          <a:p>
            <a:endParaRPr lang="en-US" dirty="0"/>
          </a:p>
          <a:p>
            <a:r>
              <a:rPr lang="en-US" b="1" dirty="0"/>
              <a:t>The Loop of Cooperation:</a:t>
            </a:r>
            <a:r>
              <a:rPr lang="en-US" dirty="0"/>
              <a:t> </a:t>
            </a:r>
          </a:p>
          <a:p>
            <a:r>
              <a:rPr lang="en-US" dirty="0"/>
              <a:t>This creates a clean "Hand-off" between threads without the heat, noise, and waste of busy-waiting.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AB03A4-493F-4AC4-BFB4-4B706537AA2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7236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See example:</a:t>
            </a:r>
          </a:p>
          <a:p>
            <a:r>
              <a:rPr lang="en-US" dirty="0" err="1"/>
              <a:t>semaphore.c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AB03A4-493F-4AC4-BFB4-4B706537AA2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3105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10375" y="1188547"/>
            <a:ext cx="4025265" cy="6553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rgbClr val="0F2044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1" i="0">
                <a:solidFill>
                  <a:srgbClr val="0F2044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10375" y="1543538"/>
            <a:ext cx="5362679" cy="47192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133945"/>
            <a:ext cx="12192000" cy="100905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10375" y="1188547"/>
            <a:ext cx="5370830" cy="6553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70774" y="2590031"/>
            <a:ext cx="5892165" cy="33801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rgbClr val="0F2044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ritical_section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hyperlink" Target="https://en.wikipedia.org/wiki/Busy_wait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ritical_section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jpg"/><Relationship Id="rId4" Type="http://schemas.openxmlformats.org/officeDocument/2006/relationships/hyperlink" Target="https://en.wikipedia.org/wiki/Busy_wait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robert-puskas.info/2019/03/overview-cpp-concurrency-pt2.html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robert-puskas.info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robert-puskas.info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robert-puskas.info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robert-puskas.info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://www.robert-puskas.info/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://www.robert-puskas.info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caler.com/" TargetMode="External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uru99.com/" TargetMode="External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62183" y="2702546"/>
            <a:ext cx="8662035" cy="772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900" dirty="0"/>
              <a:t>CSC</a:t>
            </a:r>
            <a:r>
              <a:rPr sz="4900" spc="-85" dirty="0"/>
              <a:t> </a:t>
            </a:r>
            <a:r>
              <a:rPr sz="4900" dirty="0"/>
              <a:t>362:</a:t>
            </a:r>
            <a:r>
              <a:rPr sz="4900" spc="-85" dirty="0"/>
              <a:t> </a:t>
            </a:r>
            <a:r>
              <a:rPr sz="4900" dirty="0"/>
              <a:t>System</a:t>
            </a:r>
            <a:r>
              <a:rPr sz="4900" spc="-90" dirty="0"/>
              <a:t> </a:t>
            </a:r>
            <a:r>
              <a:rPr sz="4900" spc="-10" dirty="0"/>
              <a:t>Programming</a:t>
            </a:r>
            <a:endParaRPr sz="4900"/>
          </a:p>
        </p:txBody>
      </p:sp>
      <p:sp>
        <p:nvSpPr>
          <p:cNvPr id="3" name="object 3"/>
          <p:cNvSpPr txBox="1"/>
          <p:nvPr/>
        </p:nvSpPr>
        <p:spPr>
          <a:xfrm>
            <a:off x="5363120" y="3585985"/>
            <a:ext cx="14655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Lecture</a:t>
            </a:r>
            <a:r>
              <a:rPr sz="2400" spc="-1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0F2044"/>
                </a:solidFill>
                <a:latin typeface="Arial MT"/>
                <a:cs typeface="Arial MT"/>
              </a:rPr>
              <a:t>19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18174" y="4145624"/>
            <a:ext cx="9054465" cy="31115"/>
          </a:xfrm>
          <a:custGeom>
            <a:avLst/>
            <a:gdLst/>
            <a:ahLst/>
            <a:cxnLst/>
            <a:rect l="l" t="t" r="r" b="b"/>
            <a:pathLst>
              <a:path w="9054465" h="31114">
                <a:moveTo>
                  <a:pt x="0" y="0"/>
                </a:moveTo>
                <a:lnTo>
                  <a:pt x="9053999" y="30899"/>
                </a:lnTo>
              </a:path>
            </a:pathLst>
          </a:custGeom>
          <a:ln w="9524">
            <a:solidFill>
              <a:srgbClr val="0F20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22A578-A902-46B5-50ED-1F33AC8D9E56}"/>
              </a:ext>
            </a:extLst>
          </p:cNvPr>
          <p:cNvSpPr txBox="1"/>
          <p:nvPr/>
        </p:nvSpPr>
        <p:spPr>
          <a:xfrm>
            <a:off x="3098244" y="4267200"/>
            <a:ext cx="6094324" cy="6781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dirty="0"/>
              <a:t>Original slides by: Amitabha Dey</a:t>
            </a:r>
          </a:p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dirty="0"/>
              <a:t>Adapted by: Dr. Richard Johnson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203401" y="5437645"/>
            <a:ext cx="578231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indent="617855">
              <a:lnSpc>
                <a:spcPts val="2590"/>
              </a:lnSpc>
              <a:spcBef>
                <a:spcPts val="425"/>
              </a:spcBef>
            </a:pPr>
            <a:r>
              <a:rPr sz="2400" spc="-10" dirty="0">
                <a:solidFill>
                  <a:srgbClr val="0F2044"/>
                </a:solidFill>
                <a:latin typeface="Arial MT"/>
                <a:cs typeface="Arial MT"/>
              </a:rPr>
              <a:t>Department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24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Computer</a:t>
            </a:r>
            <a:r>
              <a:rPr sz="24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F2044"/>
                </a:solidFill>
                <a:latin typeface="Arial MT"/>
                <a:cs typeface="Arial MT"/>
              </a:rPr>
              <a:t>Science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University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North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Carolina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at</a:t>
            </a:r>
            <a:r>
              <a:rPr sz="24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F2044"/>
                </a:solidFill>
                <a:latin typeface="Arial MT"/>
                <a:cs typeface="Arial MT"/>
              </a:rPr>
              <a:t>Greensboro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059012"/>
            <a:ext cx="1834514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Status</a:t>
            </a:r>
            <a:r>
              <a:rPr spc="-30" dirty="0"/>
              <a:t> </a:t>
            </a:r>
            <a:r>
              <a:rPr spc="-10" dirty="0"/>
              <a:t>Check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41325" y="1447006"/>
            <a:ext cx="5931535" cy="5334794"/>
          </a:xfrm>
          <a:prstGeom prst="rect">
            <a:avLst/>
          </a:prstGeom>
        </p:spPr>
        <p:txBody>
          <a:bodyPr vert="horz" wrap="square" lIns="0" tIns="127000" rIns="0" bIns="0" rtlCol="0">
            <a:spAutoFit/>
          </a:bodyPr>
          <a:lstStyle/>
          <a:p>
            <a:pPr marL="356235" indent="-343535">
              <a:lnSpc>
                <a:spcPct val="100000"/>
              </a:lnSpc>
              <a:spcBef>
                <a:spcPts val="1000"/>
              </a:spcBef>
              <a:buChar char="●"/>
              <a:tabLst>
                <a:tab pos="356235" algn="l"/>
              </a:tabLst>
            </a:pPr>
            <a:r>
              <a:rPr lang="en-US" sz="1500" dirty="0">
                <a:solidFill>
                  <a:srgbClr val="0F2044"/>
                </a:solidFill>
                <a:latin typeface="Arial MT"/>
                <a:cs typeface="Arial MT"/>
              </a:rPr>
              <a:t>Race</a:t>
            </a:r>
            <a:r>
              <a:rPr lang="en-US" sz="1500" spc="-6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500" spc="-10" dirty="0">
                <a:solidFill>
                  <a:srgbClr val="0F2044"/>
                </a:solidFill>
                <a:latin typeface="Arial MT"/>
                <a:cs typeface="Arial MT"/>
              </a:rPr>
              <a:t>Conditions</a:t>
            </a:r>
            <a:endParaRPr lang="en-US" sz="1500" dirty="0">
              <a:latin typeface="Arial MT"/>
              <a:cs typeface="Arial MT"/>
            </a:endParaRPr>
          </a:p>
          <a:p>
            <a:pPr marL="356235" indent="-343535">
              <a:lnSpc>
                <a:spcPct val="100000"/>
              </a:lnSpc>
              <a:spcBef>
                <a:spcPts val="900"/>
              </a:spcBef>
              <a:buChar char="●"/>
              <a:tabLst>
                <a:tab pos="356235" algn="l"/>
              </a:tabLst>
            </a:pPr>
            <a:r>
              <a:rPr lang="en-US" sz="1500" dirty="0">
                <a:solidFill>
                  <a:srgbClr val="0F2044"/>
                </a:solidFill>
                <a:latin typeface="Arial MT"/>
                <a:cs typeface="Arial MT"/>
              </a:rPr>
              <a:t>Critical</a:t>
            </a:r>
            <a:r>
              <a:rPr lang="en-US" sz="1500" spc="-9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500" spc="-10" dirty="0">
                <a:solidFill>
                  <a:srgbClr val="0F2044"/>
                </a:solidFill>
                <a:latin typeface="Arial MT"/>
                <a:cs typeface="Arial MT"/>
              </a:rPr>
              <a:t>Sections</a:t>
            </a:r>
            <a:endParaRPr lang="en-US" sz="1500" dirty="0">
              <a:latin typeface="Arial MT"/>
              <a:cs typeface="Arial MT"/>
            </a:endParaRPr>
          </a:p>
          <a:p>
            <a:pPr marL="356235" indent="-343535">
              <a:lnSpc>
                <a:spcPct val="100000"/>
              </a:lnSpc>
              <a:spcBef>
                <a:spcPts val="900"/>
              </a:spcBef>
              <a:buChar char="●"/>
              <a:tabLst>
                <a:tab pos="356235" algn="l"/>
              </a:tabLst>
            </a:pPr>
            <a:r>
              <a:rPr lang="en-US" sz="1500" dirty="0">
                <a:solidFill>
                  <a:srgbClr val="0F2044"/>
                </a:solidFill>
                <a:latin typeface="Arial MT"/>
                <a:cs typeface="Arial MT"/>
              </a:rPr>
              <a:t>Atomic</a:t>
            </a:r>
            <a:r>
              <a:rPr lang="en-US" sz="15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500" spc="-10" dirty="0">
                <a:solidFill>
                  <a:srgbClr val="0F2044"/>
                </a:solidFill>
                <a:latin typeface="Arial MT"/>
                <a:cs typeface="Arial MT"/>
              </a:rPr>
              <a:t>Operations</a:t>
            </a:r>
            <a:endParaRPr lang="en-US" sz="1500" dirty="0">
              <a:latin typeface="Arial MT"/>
              <a:cs typeface="Arial MT"/>
            </a:endParaRPr>
          </a:p>
          <a:p>
            <a:pPr marL="356235" indent="-343535">
              <a:lnSpc>
                <a:spcPct val="100000"/>
              </a:lnSpc>
              <a:spcBef>
                <a:spcPts val="900"/>
              </a:spcBef>
              <a:buChar char="●"/>
              <a:tabLst>
                <a:tab pos="356235" algn="l"/>
              </a:tabLst>
            </a:pPr>
            <a:r>
              <a:rPr lang="en-US" sz="1500" dirty="0">
                <a:solidFill>
                  <a:srgbClr val="0F2044"/>
                </a:solidFill>
                <a:latin typeface="Arial MT"/>
                <a:cs typeface="Arial MT"/>
              </a:rPr>
              <a:t>Thread</a:t>
            </a:r>
            <a:r>
              <a:rPr lang="en-US" sz="1500" spc="-8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500" spc="-10" dirty="0">
                <a:solidFill>
                  <a:srgbClr val="0F2044"/>
                </a:solidFill>
                <a:latin typeface="Arial MT"/>
                <a:cs typeface="Arial MT"/>
              </a:rPr>
              <a:t>Synchronization</a:t>
            </a:r>
            <a:endParaRPr lang="en-US" sz="1500" dirty="0">
              <a:latin typeface="Arial MT"/>
              <a:cs typeface="Arial MT"/>
            </a:endParaRPr>
          </a:p>
          <a:p>
            <a:pPr marL="813435" lvl="1" indent="-344170">
              <a:lnSpc>
                <a:spcPct val="100000"/>
              </a:lnSpc>
              <a:spcBef>
                <a:spcPts val="900"/>
              </a:spcBef>
              <a:buChar char="○"/>
              <a:tabLst>
                <a:tab pos="813435" algn="l"/>
              </a:tabLst>
            </a:pPr>
            <a:r>
              <a:rPr lang="en-US" sz="1500" dirty="0">
                <a:solidFill>
                  <a:srgbClr val="0F2044"/>
                </a:solidFill>
                <a:latin typeface="Arial MT"/>
                <a:cs typeface="Arial MT"/>
              </a:rPr>
              <a:t>Mutual</a:t>
            </a:r>
            <a:r>
              <a:rPr lang="en-US" sz="15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500" spc="-10" dirty="0">
                <a:solidFill>
                  <a:srgbClr val="0F2044"/>
                </a:solidFill>
                <a:latin typeface="Arial MT"/>
                <a:cs typeface="Arial MT"/>
              </a:rPr>
              <a:t>Exclusion:</a:t>
            </a:r>
            <a:r>
              <a:rPr lang="en-US" sz="15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500" spc="-10" dirty="0">
                <a:solidFill>
                  <a:srgbClr val="0F2044"/>
                </a:solidFill>
                <a:latin typeface="Arial MT"/>
                <a:cs typeface="Arial MT"/>
              </a:rPr>
              <a:t>Mutexes</a:t>
            </a:r>
            <a:endParaRPr lang="en-US" sz="1500" dirty="0">
              <a:latin typeface="Arial MT"/>
              <a:cs typeface="Arial MT"/>
            </a:endParaRPr>
          </a:p>
          <a:p>
            <a:pPr marL="356235" indent="-343535">
              <a:lnSpc>
                <a:spcPct val="100000"/>
              </a:lnSpc>
              <a:spcBef>
                <a:spcPts val="900"/>
              </a:spcBef>
              <a:buChar char="●"/>
              <a:tabLst>
                <a:tab pos="356235" algn="l"/>
              </a:tabLst>
            </a:pPr>
            <a:r>
              <a:rPr lang="en-US" sz="1500" dirty="0">
                <a:solidFill>
                  <a:srgbClr val="0F2044"/>
                </a:solidFill>
                <a:latin typeface="Arial MT"/>
                <a:cs typeface="Arial MT"/>
              </a:rPr>
              <a:t>Thread</a:t>
            </a:r>
            <a:r>
              <a:rPr lang="en-US" sz="15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500" dirty="0">
                <a:solidFill>
                  <a:srgbClr val="0F2044"/>
                </a:solidFill>
                <a:latin typeface="Arial MT"/>
                <a:cs typeface="Arial MT"/>
              </a:rPr>
              <a:t>Safety</a:t>
            </a:r>
            <a:r>
              <a:rPr lang="en-US" sz="15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500" dirty="0">
                <a:solidFill>
                  <a:srgbClr val="0F2044"/>
                </a:solidFill>
                <a:latin typeface="Arial MT"/>
                <a:cs typeface="Arial MT"/>
              </a:rPr>
              <a:t>and</a:t>
            </a:r>
            <a:r>
              <a:rPr lang="en-US" sz="15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500" dirty="0">
                <a:solidFill>
                  <a:srgbClr val="0F2044"/>
                </a:solidFill>
                <a:latin typeface="Arial MT"/>
                <a:cs typeface="Arial MT"/>
              </a:rPr>
              <a:t>Basic</a:t>
            </a:r>
            <a:r>
              <a:rPr lang="en-US" sz="1500" spc="-6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500" spc="-20" dirty="0">
                <a:solidFill>
                  <a:srgbClr val="0F2044"/>
                </a:solidFill>
                <a:latin typeface="Arial MT"/>
                <a:cs typeface="Arial MT"/>
              </a:rPr>
              <a:t>Thread-</a:t>
            </a:r>
            <a:r>
              <a:rPr lang="en-US" sz="1500" dirty="0">
                <a:solidFill>
                  <a:srgbClr val="0F2044"/>
                </a:solidFill>
                <a:latin typeface="Arial MT"/>
                <a:cs typeface="Arial MT"/>
              </a:rPr>
              <a:t>Safe</a:t>
            </a:r>
            <a:r>
              <a:rPr lang="en-US" sz="15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500" spc="-10" dirty="0">
                <a:solidFill>
                  <a:srgbClr val="0F2044"/>
                </a:solidFill>
                <a:latin typeface="Arial MT"/>
                <a:cs typeface="Arial MT"/>
              </a:rPr>
              <a:t>Programming</a:t>
            </a:r>
            <a:endParaRPr lang="en-US" sz="1500" dirty="0">
              <a:latin typeface="Arial MT"/>
              <a:cs typeface="Arial MT"/>
            </a:endParaRPr>
          </a:p>
          <a:p>
            <a:pPr lvl="1">
              <a:lnSpc>
                <a:spcPct val="100000"/>
              </a:lnSpc>
              <a:spcBef>
                <a:spcPts val="440"/>
              </a:spcBef>
              <a:buClr>
                <a:srgbClr val="0F2044"/>
              </a:buClr>
            </a:pPr>
            <a:endParaRPr sz="15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What</a:t>
            </a:r>
            <a:r>
              <a:rPr sz="25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we</a:t>
            </a:r>
            <a:r>
              <a:rPr sz="25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will</a:t>
            </a:r>
            <a:r>
              <a:rPr sz="25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cover</a:t>
            </a:r>
            <a:r>
              <a:rPr sz="2500" spc="-30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spc="-20" dirty="0">
                <a:solidFill>
                  <a:srgbClr val="0F2044"/>
                </a:solidFill>
                <a:latin typeface="Georgia"/>
                <a:cs typeface="Georgia"/>
              </a:rPr>
              <a:t>today</a:t>
            </a:r>
            <a:endParaRPr sz="2500" dirty="0">
              <a:latin typeface="Georgia"/>
              <a:cs typeface="Georgia"/>
            </a:endParaRPr>
          </a:p>
          <a:p>
            <a:pPr marL="431800" indent="-343535">
              <a:lnSpc>
                <a:spcPct val="100000"/>
              </a:lnSpc>
              <a:spcBef>
                <a:spcPts val="1200"/>
              </a:spcBef>
              <a:buChar char="●"/>
              <a:tabLst>
                <a:tab pos="431800" algn="l"/>
              </a:tabLst>
            </a:pP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Synchronization</a:t>
            </a:r>
            <a:r>
              <a:rPr sz="15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Mechanism</a:t>
            </a:r>
            <a:endParaRPr sz="1500" dirty="0">
              <a:latin typeface="Arial MT"/>
              <a:cs typeface="Arial MT"/>
            </a:endParaRPr>
          </a:p>
          <a:p>
            <a:pPr marL="889000" lvl="1" indent="-343535">
              <a:lnSpc>
                <a:spcPct val="100000"/>
              </a:lnSpc>
              <a:spcBef>
                <a:spcPts val="900"/>
              </a:spcBef>
              <a:buChar char="○"/>
              <a:tabLst>
                <a:tab pos="889000" algn="l"/>
              </a:tabLst>
            </a:pP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Dekker’s</a:t>
            </a:r>
            <a:r>
              <a:rPr sz="15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Algorithm</a:t>
            </a:r>
            <a:endParaRPr sz="1500" dirty="0">
              <a:latin typeface="Arial MT"/>
              <a:cs typeface="Arial MT"/>
            </a:endParaRPr>
          </a:p>
          <a:p>
            <a:pPr marL="1346200" lvl="2" indent="-343535">
              <a:lnSpc>
                <a:spcPct val="100000"/>
              </a:lnSpc>
              <a:spcBef>
                <a:spcPts val="900"/>
              </a:spcBef>
              <a:buChar char="■"/>
              <a:tabLst>
                <a:tab pos="1346200" algn="l"/>
              </a:tabLst>
            </a:pPr>
            <a:r>
              <a:rPr sz="1500" dirty="0">
                <a:solidFill>
                  <a:srgbClr val="0F2044"/>
                </a:solidFill>
                <a:latin typeface="Arial MT"/>
                <a:cs typeface="Arial MT"/>
              </a:rPr>
              <a:t>Busy</a:t>
            </a:r>
            <a:r>
              <a:rPr sz="15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0F2044"/>
                </a:solidFill>
                <a:latin typeface="Arial MT"/>
                <a:cs typeface="Arial MT"/>
              </a:rPr>
              <a:t>waiting,</a:t>
            </a:r>
            <a:r>
              <a:rPr sz="15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0F2044"/>
                </a:solidFill>
                <a:latin typeface="Arial MT"/>
                <a:cs typeface="Arial MT"/>
              </a:rPr>
              <a:t>flags,</a:t>
            </a:r>
            <a:r>
              <a:rPr sz="15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limitations</a:t>
            </a:r>
            <a:endParaRPr sz="1500" dirty="0">
              <a:latin typeface="Arial MT"/>
              <a:cs typeface="Arial MT"/>
            </a:endParaRPr>
          </a:p>
          <a:p>
            <a:pPr marL="889000" lvl="1" indent="-343535">
              <a:lnSpc>
                <a:spcPct val="100000"/>
              </a:lnSpc>
              <a:spcBef>
                <a:spcPts val="900"/>
              </a:spcBef>
              <a:buChar char="○"/>
              <a:tabLst>
                <a:tab pos="889000" algn="l"/>
              </a:tabLst>
            </a:pP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Condition</a:t>
            </a:r>
            <a:r>
              <a:rPr sz="15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Variables</a:t>
            </a:r>
            <a:endParaRPr sz="1500" dirty="0">
              <a:latin typeface="Arial MT"/>
              <a:cs typeface="Arial MT"/>
            </a:endParaRPr>
          </a:p>
          <a:p>
            <a:pPr marL="1346200" lvl="2" indent="-343535">
              <a:lnSpc>
                <a:spcPct val="100000"/>
              </a:lnSpc>
              <a:spcBef>
                <a:spcPts val="900"/>
              </a:spcBef>
              <a:buChar char="■"/>
              <a:tabLst>
                <a:tab pos="1346200" algn="l"/>
              </a:tabLst>
            </a:pPr>
            <a:r>
              <a:rPr sz="1500" dirty="0">
                <a:solidFill>
                  <a:srgbClr val="0F2044"/>
                </a:solidFill>
                <a:latin typeface="Arial MT"/>
                <a:cs typeface="Arial MT"/>
              </a:rPr>
              <a:t>wait,</a:t>
            </a:r>
            <a:r>
              <a:rPr sz="1500" spc="-6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signal</a:t>
            </a:r>
            <a:endParaRPr sz="1500" dirty="0">
              <a:latin typeface="Arial MT"/>
              <a:cs typeface="Arial MT"/>
            </a:endParaRPr>
          </a:p>
          <a:p>
            <a:pPr marL="889000" lvl="1" indent="-343535">
              <a:lnSpc>
                <a:spcPct val="100000"/>
              </a:lnSpc>
              <a:spcBef>
                <a:spcPts val="900"/>
              </a:spcBef>
              <a:buChar char="○"/>
              <a:tabLst>
                <a:tab pos="889000" algn="l"/>
              </a:tabLst>
            </a:pP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Semaphores</a:t>
            </a:r>
            <a:endParaRPr sz="1500" dirty="0">
              <a:latin typeface="Arial MT"/>
              <a:cs typeface="Arial MT"/>
            </a:endParaRPr>
          </a:p>
          <a:p>
            <a:pPr marL="1346200" lvl="2" indent="-343535">
              <a:lnSpc>
                <a:spcPct val="100000"/>
              </a:lnSpc>
              <a:spcBef>
                <a:spcPts val="900"/>
              </a:spcBef>
              <a:buChar char="■"/>
              <a:tabLst>
                <a:tab pos="1346200" algn="l"/>
              </a:tabLst>
            </a:pPr>
            <a:r>
              <a:rPr sz="1500" dirty="0">
                <a:solidFill>
                  <a:srgbClr val="0F2044"/>
                </a:solidFill>
                <a:latin typeface="Arial MT"/>
                <a:cs typeface="Arial MT"/>
              </a:rPr>
              <a:t>counters,</a:t>
            </a:r>
            <a:r>
              <a:rPr sz="1500" spc="-7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b="1" dirty="0">
                <a:solidFill>
                  <a:srgbClr val="0F2044"/>
                </a:solidFill>
                <a:latin typeface="Arial"/>
                <a:cs typeface="Arial"/>
              </a:rPr>
              <a:t>sem_wait</a:t>
            </a:r>
            <a:r>
              <a:rPr sz="1500" dirty="0">
                <a:solidFill>
                  <a:srgbClr val="0F2044"/>
                </a:solidFill>
                <a:latin typeface="Arial MT"/>
                <a:cs typeface="Arial MT"/>
              </a:rPr>
              <a:t>,</a:t>
            </a:r>
            <a:r>
              <a:rPr sz="1500" spc="-8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b="1" spc="-10" dirty="0">
                <a:solidFill>
                  <a:srgbClr val="0F2044"/>
                </a:solidFill>
                <a:latin typeface="Arial"/>
                <a:cs typeface="Arial"/>
              </a:rPr>
              <a:t>sem_post</a:t>
            </a:r>
            <a:endParaRPr sz="1500" dirty="0">
              <a:latin typeface="Arial"/>
              <a:cs typeface="Arial"/>
            </a:endParaRPr>
          </a:p>
        </p:txBody>
      </p:sp>
      <p:pic>
        <p:nvPic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882518" y="2216065"/>
            <a:ext cx="3208348" cy="274389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188547"/>
            <a:ext cx="40252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0375" y="1543538"/>
            <a:ext cx="19926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Dekker’s</a:t>
            </a:r>
            <a:r>
              <a:rPr sz="1800" spc="-30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Algorithm</a:t>
            </a:r>
            <a:endParaRPr sz="1800">
              <a:latin typeface="Georgia"/>
              <a:cs typeface="Georg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95050" y="2043855"/>
            <a:ext cx="4293870" cy="4237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10185">
              <a:lnSpc>
                <a:spcPct val="114000"/>
              </a:lnSpc>
              <a:spcBef>
                <a:spcPts val="100"/>
              </a:spcBef>
              <a:spcAft>
                <a:spcPts val="1800"/>
              </a:spcAft>
            </a:pPr>
            <a:r>
              <a:rPr sz="1800" dirty="0">
                <a:latin typeface="Arial MT"/>
                <a:cs typeface="Arial MT"/>
              </a:rPr>
              <a:t>Dekker’s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algorithm was the </a:t>
            </a:r>
            <a:r>
              <a:rPr sz="1800" spc="-10" dirty="0">
                <a:latin typeface="Arial MT"/>
                <a:cs typeface="Arial MT"/>
              </a:rPr>
              <a:t>first probably-</a:t>
            </a:r>
            <a:r>
              <a:rPr sz="1800" dirty="0">
                <a:latin typeface="Arial MT"/>
                <a:cs typeface="Arial MT"/>
              </a:rPr>
              <a:t>correct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solution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critical </a:t>
            </a:r>
            <a:r>
              <a:rPr sz="1800" dirty="0">
                <a:latin typeface="Arial MT"/>
                <a:cs typeface="Arial MT"/>
              </a:rPr>
              <a:t>section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problem.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allows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two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threads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to </a:t>
            </a:r>
            <a:r>
              <a:rPr sz="1800" dirty="0">
                <a:latin typeface="Arial MT"/>
                <a:cs typeface="Arial MT"/>
              </a:rPr>
              <a:t>share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0" dirty="0">
                <a:latin typeface="Arial MT"/>
                <a:cs typeface="Arial MT"/>
              </a:rPr>
              <a:t> single-</a:t>
            </a:r>
            <a:r>
              <a:rPr sz="1800" dirty="0">
                <a:latin typeface="Arial MT"/>
                <a:cs typeface="Arial MT"/>
              </a:rPr>
              <a:t>use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resource</a:t>
            </a:r>
            <a:r>
              <a:rPr sz="1800" spc="-10" dirty="0">
                <a:latin typeface="Arial MT"/>
                <a:cs typeface="Arial MT"/>
              </a:rPr>
              <a:t> without </a:t>
            </a:r>
            <a:r>
              <a:rPr sz="1800" dirty="0">
                <a:latin typeface="Arial MT"/>
                <a:cs typeface="Arial MT"/>
              </a:rPr>
              <a:t>conflict,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using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only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shared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memory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for </a:t>
            </a:r>
            <a:r>
              <a:rPr sz="1800" spc="-10" dirty="0">
                <a:latin typeface="Arial MT"/>
                <a:cs typeface="Arial MT"/>
              </a:rPr>
              <a:t>communication.</a:t>
            </a:r>
            <a:endParaRPr sz="1800" dirty="0">
              <a:latin typeface="Arial MT"/>
              <a:cs typeface="Arial MT"/>
            </a:endParaRPr>
          </a:p>
          <a:p>
            <a:pPr marL="469265" indent="-366395">
              <a:lnSpc>
                <a:spcPct val="114000"/>
              </a:lnSpc>
              <a:buChar char="●"/>
              <a:tabLst>
                <a:tab pos="469265" algn="l"/>
              </a:tabLst>
            </a:pPr>
            <a:r>
              <a:rPr sz="1800" dirty="0">
                <a:latin typeface="Arial MT"/>
                <a:cs typeface="Arial MT"/>
              </a:rPr>
              <a:t>One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earliest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solutions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to</a:t>
            </a:r>
            <a:endParaRPr sz="1800" dirty="0">
              <a:latin typeface="Arial MT"/>
              <a:cs typeface="Arial MT"/>
            </a:endParaRPr>
          </a:p>
          <a:p>
            <a:pPr marL="469900">
              <a:lnSpc>
                <a:spcPct val="114000"/>
              </a:lnSpc>
              <a:spcAft>
                <a:spcPts val="1800"/>
              </a:spcAft>
            </a:pPr>
            <a:r>
              <a:rPr sz="1800" b="1" dirty="0">
                <a:latin typeface="Arial"/>
                <a:cs typeface="Arial"/>
              </a:rPr>
              <a:t>mutual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exclusion</a:t>
            </a:r>
            <a:r>
              <a:rPr sz="1800" spc="-10" dirty="0">
                <a:latin typeface="Arial MT"/>
                <a:cs typeface="Arial MT"/>
              </a:rPr>
              <a:t>.</a:t>
            </a:r>
            <a:endParaRPr sz="1800" dirty="0">
              <a:latin typeface="Arial MT"/>
              <a:cs typeface="Arial MT"/>
            </a:endParaRPr>
          </a:p>
          <a:p>
            <a:pPr marL="469900" marR="5080" indent="-367030">
              <a:lnSpc>
                <a:spcPct val="114000"/>
              </a:lnSpc>
              <a:buChar char="●"/>
              <a:tabLst>
                <a:tab pos="469900" algn="l"/>
              </a:tabLst>
            </a:pPr>
            <a:r>
              <a:rPr sz="1800" dirty="0">
                <a:latin typeface="Arial MT"/>
                <a:cs typeface="Arial MT"/>
              </a:rPr>
              <a:t>Ensures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two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threads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alternate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access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shared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resource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without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relying </a:t>
            </a:r>
            <a:r>
              <a:rPr sz="1800" dirty="0">
                <a:latin typeface="Arial MT"/>
                <a:cs typeface="Arial MT"/>
              </a:rPr>
              <a:t>on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modern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primitives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like </a:t>
            </a:r>
            <a:r>
              <a:rPr lang="en-US" sz="1800" spc="-20" dirty="0">
                <a:latin typeface="Arial MT"/>
                <a:cs typeface="Arial MT"/>
              </a:rPr>
              <a:t>mutex locks and </a:t>
            </a:r>
            <a:r>
              <a:rPr sz="1800" spc="-10" dirty="0">
                <a:latin typeface="Arial MT"/>
                <a:cs typeface="Arial MT"/>
              </a:rPr>
              <a:t>semaphores.</a:t>
            </a:r>
            <a:endParaRPr sz="1800" dirty="0">
              <a:latin typeface="Arial MT"/>
              <a:cs typeface="Arial MT"/>
            </a:endParaRPr>
          </a:p>
        </p:txBody>
      </p:sp>
      <p:grpSp>
        <p:nvGrpSpPr>
          <p:cNvPr id="5" name="object 5" descr="A sequence diagram illustrating the logic of Dekker’s Algorithm, showing Task 1 and Task 2 setting flags and a turn variable to manage access to a critical section."/>
          <p:cNvGrpSpPr/>
          <p:nvPr/>
        </p:nvGrpSpPr>
        <p:grpSpPr>
          <a:xfrm>
            <a:off x="4946450" y="2130724"/>
            <a:ext cx="6843395" cy="3215640"/>
            <a:chOff x="4946450" y="2130724"/>
            <a:chExt cx="6843395" cy="3215640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55975" y="2140249"/>
              <a:ext cx="6824300" cy="3196199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4951212" y="2135487"/>
              <a:ext cx="6833870" cy="3206115"/>
            </a:xfrm>
            <a:custGeom>
              <a:avLst/>
              <a:gdLst/>
              <a:ahLst/>
              <a:cxnLst/>
              <a:rect l="l" t="t" r="r" b="b"/>
              <a:pathLst>
                <a:path w="6833870" h="3206115">
                  <a:moveTo>
                    <a:pt x="0" y="0"/>
                  </a:moveTo>
                  <a:lnTo>
                    <a:pt x="6833825" y="0"/>
                  </a:lnTo>
                  <a:lnTo>
                    <a:pt x="6833825" y="3205724"/>
                  </a:lnTo>
                  <a:lnTo>
                    <a:pt x="0" y="320572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516324" y="5521311"/>
            <a:ext cx="1852295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dirty="0">
                <a:latin typeface="Arial MT"/>
                <a:cs typeface="Arial MT"/>
              </a:rPr>
              <a:t>Image</a:t>
            </a:r>
            <a:r>
              <a:rPr sz="800" spc="-35" dirty="0">
                <a:latin typeface="Arial MT"/>
                <a:cs typeface="Arial MT"/>
              </a:rPr>
              <a:t> </a:t>
            </a:r>
            <a:r>
              <a:rPr sz="800" dirty="0">
                <a:latin typeface="Arial MT"/>
                <a:cs typeface="Arial MT"/>
              </a:rPr>
              <a:t>credit</a:t>
            </a:r>
            <a:r>
              <a:rPr sz="800" spc="-35" dirty="0">
                <a:latin typeface="Arial MT"/>
                <a:cs typeface="Arial MT"/>
              </a:rPr>
              <a:t> </a:t>
            </a:r>
            <a:r>
              <a:rPr sz="800" dirty="0">
                <a:latin typeface="Arial MT"/>
                <a:cs typeface="Arial MT"/>
              </a:rPr>
              <a:t>-</a:t>
            </a:r>
            <a:r>
              <a:rPr sz="800" spc="-30" dirty="0">
                <a:latin typeface="Arial MT"/>
                <a:cs typeface="Arial MT"/>
              </a:rPr>
              <a:t> </a:t>
            </a:r>
            <a:r>
              <a:rPr sz="800" spc="-10" dirty="0">
                <a:latin typeface="Arial MT"/>
                <a:cs typeface="Arial MT"/>
              </a:rPr>
              <a:t>https://jakob.engbloms.se/</a:t>
            </a:r>
            <a:endParaRPr sz="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188547"/>
            <a:ext cx="40252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95050" y="1543538"/>
            <a:ext cx="4761865" cy="497828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94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Dekker’s</a:t>
            </a:r>
            <a:r>
              <a:rPr sz="1800" spc="-30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Algorithm</a:t>
            </a:r>
            <a:endParaRPr sz="1800" dirty="0">
              <a:latin typeface="Georgia"/>
              <a:cs typeface="Georgia"/>
            </a:endParaRPr>
          </a:p>
          <a:p>
            <a:pPr marL="12700" marR="397510">
              <a:lnSpc>
                <a:spcPct val="100000"/>
              </a:lnSpc>
              <a:spcBef>
                <a:spcPts val="1780"/>
              </a:spcBef>
            </a:pP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If</a:t>
            </a:r>
            <a:r>
              <a:rPr sz="1800" spc="-2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two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processes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attempt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to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enter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a</a:t>
            </a:r>
            <a:r>
              <a:rPr sz="1800" spc="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688C"/>
                </a:solidFill>
                <a:latin typeface="Arial MT"/>
                <a:cs typeface="Arial MT"/>
                <a:hlinkClick r:id="rId3"/>
              </a:rPr>
              <a:t>critical</a:t>
            </a:r>
            <a:r>
              <a:rPr sz="1800" spc="-10" dirty="0">
                <a:solidFill>
                  <a:srgbClr val="00688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688C"/>
                </a:solidFill>
                <a:latin typeface="Arial MT"/>
                <a:cs typeface="Arial MT"/>
                <a:hlinkClick r:id="rId3"/>
              </a:rPr>
              <a:t>section</a:t>
            </a:r>
            <a:r>
              <a:rPr sz="1800" spc="-25" dirty="0">
                <a:solidFill>
                  <a:srgbClr val="00688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at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same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time,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the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algorithm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will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allow</a:t>
            </a:r>
            <a:r>
              <a:rPr sz="1800" spc="-2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only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one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process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in,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based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on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whose </a:t>
            </a:r>
            <a:r>
              <a:rPr sz="1800" b="1" spc="-10" dirty="0">
                <a:solidFill>
                  <a:srgbClr val="202122"/>
                </a:solidFill>
                <a:latin typeface="Courier New"/>
                <a:cs typeface="Courier New"/>
              </a:rPr>
              <a:t>turn</a:t>
            </a:r>
            <a:r>
              <a:rPr sz="1800" spc="-580" dirty="0">
                <a:solidFill>
                  <a:srgbClr val="202122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it</a:t>
            </a:r>
            <a:r>
              <a:rPr sz="1800" spc="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202122"/>
                </a:solidFill>
                <a:latin typeface="Arial MT"/>
                <a:cs typeface="Arial MT"/>
              </a:rPr>
              <a:t>is.</a:t>
            </a:r>
            <a:endParaRPr sz="18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85"/>
              </a:spcBef>
            </a:pPr>
            <a:endParaRPr sz="1800" dirty="0">
              <a:latin typeface="Arial MT"/>
              <a:cs typeface="Arial MT"/>
            </a:endParaRPr>
          </a:p>
          <a:p>
            <a:pPr marL="12700" marR="81915">
              <a:lnSpc>
                <a:spcPct val="100000"/>
              </a:lnSpc>
              <a:spcBef>
                <a:spcPts val="5"/>
              </a:spcBef>
            </a:pP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If</a:t>
            </a:r>
            <a:r>
              <a:rPr sz="1800" spc="-2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one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process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is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already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in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critical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section,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other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process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will</a:t>
            </a:r>
            <a:r>
              <a:rPr sz="1800" spc="-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A00C30"/>
                </a:solidFill>
                <a:latin typeface="Arial"/>
                <a:cs typeface="Arial"/>
                <a:hlinkClick r:id="rId4"/>
              </a:rPr>
              <a:t>busy</a:t>
            </a:r>
            <a:r>
              <a:rPr sz="1800" b="1" spc="-15" dirty="0">
                <a:solidFill>
                  <a:srgbClr val="A00C30"/>
                </a:solidFill>
                <a:latin typeface="Arial"/>
                <a:cs typeface="Arial"/>
                <a:hlinkClick r:id="rId4"/>
              </a:rPr>
              <a:t> </a:t>
            </a:r>
            <a:r>
              <a:rPr sz="1800" b="1" dirty="0">
                <a:solidFill>
                  <a:srgbClr val="A00C30"/>
                </a:solidFill>
                <a:latin typeface="Arial"/>
                <a:cs typeface="Arial"/>
                <a:hlinkClick r:id="rId4"/>
              </a:rPr>
              <a:t>wait</a:t>
            </a:r>
            <a:r>
              <a:rPr sz="1800" b="1" spc="-1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for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the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first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process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to</a:t>
            </a:r>
            <a:r>
              <a:rPr sz="1800" spc="-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exit.</a:t>
            </a:r>
            <a:endParaRPr sz="18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85"/>
              </a:spcBef>
            </a:pPr>
            <a:endParaRPr sz="1800" dirty="0">
              <a:latin typeface="Arial MT"/>
              <a:cs typeface="Arial MT"/>
            </a:endParaRPr>
          </a:p>
          <a:p>
            <a:pPr marL="12700" marR="5080">
              <a:lnSpc>
                <a:spcPct val="100000"/>
              </a:lnSpc>
              <a:spcBef>
                <a:spcPts val="5"/>
              </a:spcBef>
            </a:pP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This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is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done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by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use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of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two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flags, </a:t>
            </a:r>
            <a:r>
              <a:rPr sz="1800" b="1" spc="-10" dirty="0">
                <a:solidFill>
                  <a:srgbClr val="202122"/>
                </a:solidFill>
                <a:latin typeface="Courier New"/>
                <a:cs typeface="Courier New"/>
              </a:rPr>
              <a:t>wants_to_enter[0]</a:t>
            </a:r>
            <a:r>
              <a:rPr sz="1800" spc="-500" dirty="0">
                <a:solidFill>
                  <a:srgbClr val="202122"/>
                </a:solidFill>
                <a:latin typeface="Courier New"/>
                <a:cs typeface="Courier New"/>
              </a:rPr>
              <a:t> </a:t>
            </a:r>
            <a:r>
              <a:rPr sz="1800" spc="-25" dirty="0">
                <a:solidFill>
                  <a:srgbClr val="202122"/>
                </a:solidFill>
                <a:latin typeface="Arial MT"/>
                <a:cs typeface="Arial MT"/>
              </a:rPr>
              <a:t>and </a:t>
            </a:r>
            <a:r>
              <a:rPr sz="1800" b="1" dirty="0">
                <a:solidFill>
                  <a:srgbClr val="202122"/>
                </a:solidFill>
                <a:latin typeface="Courier New"/>
                <a:cs typeface="Courier New"/>
              </a:rPr>
              <a:t>wants_to_enter[1]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,</a:t>
            </a:r>
            <a:r>
              <a:rPr sz="1800" b="1" spc="-6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which</a:t>
            </a:r>
            <a:r>
              <a:rPr sz="1800" spc="-5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indicate</a:t>
            </a:r>
            <a:r>
              <a:rPr sz="1800" spc="-5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202122"/>
                </a:solidFill>
                <a:latin typeface="Arial MT"/>
                <a:cs typeface="Arial MT"/>
              </a:rPr>
              <a:t>an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intention</a:t>
            </a:r>
            <a:r>
              <a:rPr sz="1800" spc="-3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to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enter</a:t>
            </a:r>
            <a:r>
              <a:rPr sz="1800" spc="-2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the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critical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section</a:t>
            </a:r>
            <a:r>
              <a:rPr sz="1800" spc="-2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on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the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part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of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processes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0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and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1,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respectively,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and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spc="-50" dirty="0">
                <a:solidFill>
                  <a:srgbClr val="202122"/>
                </a:solidFill>
                <a:latin typeface="Arial MT"/>
                <a:cs typeface="Arial MT"/>
              </a:rPr>
              <a:t>a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variable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202122"/>
                </a:solidFill>
                <a:latin typeface="Courier New"/>
                <a:cs typeface="Courier New"/>
              </a:rPr>
              <a:t>turn</a:t>
            </a:r>
            <a:r>
              <a:rPr sz="1800" spc="-585" dirty="0">
                <a:solidFill>
                  <a:srgbClr val="202122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that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indicates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who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has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priority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between</a:t>
            </a:r>
            <a:r>
              <a:rPr sz="1800" spc="-3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the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two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processes.</a:t>
            </a:r>
            <a:endParaRPr sz="1800" dirty="0">
              <a:latin typeface="Arial MT"/>
              <a:cs typeface="Arial MT"/>
            </a:endParaRPr>
          </a:p>
        </p:txBody>
      </p:sp>
      <p:pic>
        <p:nvPicPr>
          <p:cNvPr id="6" name="object 6" descr="A detailed flowchart of Dekker's Algorithm for two processes, using decision diamonds and notes to explain how processes check flags and turns to avoid conflict.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876800" y="914400"/>
            <a:ext cx="7315200" cy="59435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188547"/>
            <a:ext cx="40252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95050" y="1543538"/>
            <a:ext cx="4761865" cy="497828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94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Dekker’s</a:t>
            </a:r>
            <a:r>
              <a:rPr sz="1800" spc="-30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Algorithm</a:t>
            </a:r>
            <a:endParaRPr sz="1800" dirty="0">
              <a:latin typeface="Georgia"/>
              <a:cs typeface="Georgia"/>
            </a:endParaRPr>
          </a:p>
          <a:p>
            <a:pPr marL="12700" marR="397510">
              <a:lnSpc>
                <a:spcPct val="100000"/>
              </a:lnSpc>
              <a:spcBef>
                <a:spcPts val="1780"/>
              </a:spcBef>
            </a:pP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If</a:t>
            </a:r>
            <a:r>
              <a:rPr sz="1800" spc="-2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two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processes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attempt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to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enter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a</a:t>
            </a:r>
            <a:r>
              <a:rPr sz="1800" spc="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688C"/>
                </a:solidFill>
                <a:latin typeface="Arial MT"/>
                <a:cs typeface="Arial MT"/>
                <a:hlinkClick r:id="rId3"/>
              </a:rPr>
              <a:t>critical</a:t>
            </a:r>
            <a:r>
              <a:rPr sz="1800" spc="-10" dirty="0">
                <a:solidFill>
                  <a:srgbClr val="00688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688C"/>
                </a:solidFill>
                <a:latin typeface="Arial MT"/>
                <a:cs typeface="Arial MT"/>
                <a:hlinkClick r:id="rId3"/>
              </a:rPr>
              <a:t>section</a:t>
            </a:r>
            <a:r>
              <a:rPr sz="1800" spc="-25" dirty="0">
                <a:solidFill>
                  <a:srgbClr val="00688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at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same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time,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the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algorithm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will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allow</a:t>
            </a:r>
            <a:r>
              <a:rPr sz="1800" spc="-2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only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one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process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in,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based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on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whose </a:t>
            </a:r>
            <a:r>
              <a:rPr sz="1800" b="1" spc="-10" dirty="0">
                <a:solidFill>
                  <a:srgbClr val="202122"/>
                </a:solidFill>
                <a:latin typeface="Courier New"/>
                <a:cs typeface="Courier New"/>
              </a:rPr>
              <a:t>turn</a:t>
            </a:r>
            <a:r>
              <a:rPr sz="1800" spc="-580" dirty="0">
                <a:solidFill>
                  <a:srgbClr val="202122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it</a:t>
            </a:r>
            <a:r>
              <a:rPr sz="1800" spc="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202122"/>
                </a:solidFill>
                <a:latin typeface="Arial MT"/>
                <a:cs typeface="Arial MT"/>
              </a:rPr>
              <a:t>is.</a:t>
            </a:r>
            <a:endParaRPr sz="18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85"/>
              </a:spcBef>
            </a:pPr>
            <a:endParaRPr sz="1800" dirty="0">
              <a:latin typeface="Arial MT"/>
              <a:cs typeface="Arial MT"/>
            </a:endParaRPr>
          </a:p>
          <a:p>
            <a:pPr marL="12700" marR="81915">
              <a:lnSpc>
                <a:spcPct val="100000"/>
              </a:lnSpc>
              <a:spcBef>
                <a:spcPts val="5"/>
              </a:spcBef>
            </a:pP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If</a:t>
            </a:r>
            <a:r>
              <a:rPr sz="1800" spc="-2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one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process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is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already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in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critical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section,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other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process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will</a:t>
            </a:r>
            <a:r>
              <a:rPr sz="1800" spc="-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A00C30"/>
                </a:solidFill>
                <a:latin typeface="Arial"/>
                <a:cs typeface="Arial"/>
                <a:hlinkClick r:id="rId4"/>
              </a:rPr>
              <a:t>busy</a:t>
            </a:r>
            <a:r>
              <a:rPr sz="1800" b="1" spc="-15" dirty="0">
                <a:solidFill>
                  <a:srgbClr val="A00C30"/>
                </a:solidFill>
                <a:latin typeface="Arial"/>
                <a:cs typeface="Arial"/>
                <a:hlinkClick r:id="rId4"/>
              </a:rPr>
              <a:t> </a:t>
            </a:r>
            <a:r>
              <a:rPr sz="1800" b="1" dirty="0">
                <a:solidFill>
                  <a:srgbClr val="A00C30"/>
                </a:solidFill>
                <a:latin typeface="Arial"/>
                <a:cs typeface="Arial"/>
                <a:hlinkClick r:id="rId4"/>
              </a:rPr>
              <a:t>wait</a:t>
            </a:r>
            <a:r>
              <a:rPr sz="1800" b="1" spc="-1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for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the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first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process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to</a:t>
            </a:r>
            <a:r>
              <a:rPr sz="1800" spc="-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exit.</a:t>
            </a:r>
            <a:endParaRPr sz="18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85"/>
              </a:spcBef>
            </a:pPr>
            <a:endParaRPr sz="1800" dirty="0">
              <a:latin typeface="Arial MT"/>
              <a:cs typeface="Arial MT"/>
            </a:endParaRPr>
          </a:p>
          <a:p>
            <a:pPr marL="12700" marR="5080">
              <a:lnSpc>
                <a:spcPct val="100000"/>
              </a:lnSpc>
              <a:spcBef>
                <a:spcPts val="5"/>
              </a:spcBef>
            </a:pP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This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is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done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by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use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of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two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flags, </a:t>
            </a:r>
            <a:r>
              <a:rPr sz="1800" b="1" spc="-10" dirty="0">
                <a:solidFill>
                  <a:srgbClr val="202122"/>
                </a:solidFill>
                <a:latin typeface="Courier New"/>
                <a:cs typeface="Courier New"/>
              </a:rPr>
              <a:t>wants_to_enter[0]</a:t>
            </a:r>
            <a:r>
              <a:rPr sz="1800" b="1" spc="-500" dirty="0">
                <a:solidFill>
                  <a:srgbClr val="202122"/>
                </a:solidFill>
                <a:latin typeface="Courier New"/>
                <a:cs typeface="Courier New"/>
              </a:rPr>
              <a:t> </a:t>
            </a:r>
            <a:r>
              <a:rPr sz="1800" spc="-25" dirty="0">
                <a:solidFill>
                  <a:srgbClr val="202122"/>
                </a:solidFill>
                <a:latin typeface="Arial MT"/>
                <a:cs typeface="Arial MT"/>
              </a:rPr>
              <a:t>and </a:t>
            </a:r>
            <a:r>
              <a:rPr sz="1800" b="1" dirty="0" err="1">
                <a:solidFill>
                  <a:srgbClr val="202122"/>
                </a:solidFill>
                <a:latin typeface="Courier New"/>
                <a:cs typeface="Courier New"/>
              </a:rPr>
              <a:t>wants_to_enter</a:t>
            </a:r>
            <a:r>
              <a:rPr sz="1800" b="1" dirty="0">
                <a:solidFill>
                  <a:srgbClr val="202122"/>
                </a:solidFill>
                <a:latin typeface="Courier New"/>
                <a:cs typeface="Courier New"/>
              </a:rPr>
              <a:t>[1]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,</a:t>
            </a:r>
            <a:r>
              <a:rPr sz="1800" spc="-6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which</a:t>
            </a:r>
            <a:r>
              <a:rPr sz="1800" spc="-5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indicate</a:t>
            </a:r>
            <a:r>
              <a:rPr sz="1800" spc="-5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202122"/>
                </a:solidFill>
                <a:latin typeface="Arial MT"/>
                <a:cs typeface="Arial MT"/>
              </a:rPr>
              <a:t>an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intention</a:t>
            </a:r>
            <a:r>
              <a:rPr sz="1800" spc="-3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to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enter</a:t>
            </a:r>
            <a:r>
              <a:rPr sz="1800" spc="-2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the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critical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section</a:t>
            </a:r>
            <a:r>
              <a:rPr sz="1800" spc="-2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on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the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part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of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processes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0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and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1,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respectively,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and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spc="-50" dirty="0">
                <a:solidFill>
                  <a:srgbClr val="202122"/>
                </a:solidFill>
                <a:latin typeface="Arial MT"/>
                <a:cs typeface="Arial MT"/>
              </a:rPr>
              <a:t>a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variable</a:t>
            </a:r>
            <a:r>
              <a:rPr sz="1800" spc="-1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202122"/>
                </a:solidFill>
                <a:latin typeface="Courier New"/>
                <a:cs typeface="Courier New"/>
              </a:rPr>
              <a:t>turn</a:t>
            </a:r>
            <a:r>
              <a:rPr sz="1800" spc="-585" dirty="0">
                <a:solidFill>
                  <a:srgbClr val="202122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that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indicates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who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has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 priority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between</a:t>
            </a:r>
            <a:r>
              <a:rPr sz="1800" spc="-35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the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202122"/>
                </a:solidFill>
                <a:latin typeface="Arial MT"/>
                <a:cs typeface="Arial MT"/>
              </a:rPr>
              <a:t>two</a:t>
            </a:r>
            <a:r>
              <a:rPr sz="1800" spc="-20" dirty="0">
                <a:solidFill>
                  <a:srgbClr val="202122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202122"/>
                </a:solidFill>
                <a:latin typeface="Arial MT"/>
                <a:cs typeface="Arial MT"/>
              </a:rPr>
              <a:t>processes.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518199" y="1619125"/>
            <a:ext cx="6216650" cy="877569"/>
          </a:xfrm>
          <a:prstGeom prst="rect">
            <a:avLst/>
          </a:prstGeom>
          <a:ln w="19049">
            <a:solidFill>
              <a:srgbClr val="980000"/>
            </a:solidFill>
          </a:ln>
        </p:spPr>
        <p:txBody>
          <a:bodyPr vert="horz" wrap="square" lIns="0" tIns="78105" rIns="0" bIns="0" rtlCol="0">
            <a:spAutoFit/>
          </a:bodyPr>
          <a:lstStyle/>
          <a:p>
            <a:pPr marL="85090" marR="286385">
              <a:lnSpc>
                <a:spcPct val="100000"/>
              </a:lnSpc>
              <a:spcBef>
                <a:spcPts val="615"/>
              </a:spcBef>
            </a:pP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busy</a:t>
            </a:r>
            <a:r>
              <a:rPr sz="1500" b="1" spc="-40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waiting</a:t>
            </a:r>
            <a:r>
              <a:rPr sz="1500" b="1" spc="-35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is</a:t>
            </a:r>
            <a:r>
              <a:rPr sz="1500" b="1" spc="-35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a</a:t>
            </a:r>
            <a:r>
              <a:rPr sz="1500" b="1" spc="-35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spc="-10" dirty="0">
                <a:solidFill>
                  <a:srgbClr val="980000"/>
                </a:solidFill>
                <a:latin typeface="Roboto"/>
                <a:cs typeface="Roboto"/>
              </a:rPr>
              <a:t>technique</a:t>
            </a:r>
            <a:r>
              <a:rPr sz="1500" b="1" spc="-35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in</a:t>
            </a:r>
            <a:r>
              <a:rPr sz="1500" b="1" spc="-35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which</a:t>
            </a:r>
            <a:r>
              <a:rPr sz="1500" b="1" spc="-35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a</a:t>
            </a:r>
            <a:r>
              <a:rPr sz="1500" b="1" spc="-35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process</a:t>
            </a:r>
            <a:r>
              <a:rPr sz="1500" b="1" spc="-35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repeatedly</a:t>
            </a:r>
            <a:r>
              <a:rPr sz="1500" b="1" spc="-35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checks</a:t>
            </a:r>
            <a:r>
              <a:rPr sz="1500" b="1" spc="-35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spc="-25" dirty="0">
                <a:solidFill>
                  <a:srgbClr val="980000"/>
                </a:solidFill>
                <a:latin typeface="Roboto"/>
                <a:cs typeface="Roboto"/>
              </a:rPr>
              <a:t>to </a:t>
            </a: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see</a:t>
            </a:r>
            <a:r>
              <a:rPr sz="1500" b="1" spc="-25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if</a:t>
            </a:r>
            <a:r>
              <a:rPr sz="1500" b="1" spc="-20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a</a:t>
            </a:r>
            <a:r>
              <a:rPr sz="1500" b="1" spc="-25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spc="-10" dirty="0">
                <a:solidFill>
                  <a:srgbClr val="980000"/>
                </a:solidFill>
                <a:latin typeface="Roboto"/>
                <a:cs typeface="Roboto"/>
              </a:rPr>
              <a:t>condition</a:t>
            </a:r>
            <a:r>
              <a:rPr sz="1500" b="1" spc="-20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is</a:t>
            </a:r>
            <a:r>
              <a:rPr sz="1500" b="1" spc="-25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true,</a:t>
            </a:r>
            <a:r>
              <a:rPr sz="1500" b="1" spc="-20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such</a:t>
            </a:r>
            <a:r>
              <a:rPr sz="1500" b="1" spc="-20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as</a:t>
            </a:r>
            <a:r>
              <a:rPr sz="1500" b="1" spc="-25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whether</a:t>
            </a:r>
            <a:r>
              <a:rPr sz="1500" b="1" spc="-20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keyboard</a:t>
            </a:r>
            <a:r>
              <a:rPr sz="1500" b="1" spc="-25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spc="-10" dirty="0">
                <a:solidFill>
                  <a:srgbClr val="980000"/>
                </a:solidFill>
                <a:latin typeface="Roboto"/>
                <a:cs typeface="Roboto"/>
              </a:rPr>
              <a:t>input</a:t>
            </a:r>
            <a:r>
              <a:rPr sz="1500" b="1" spc="-20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or</a:t>
            </a:r>
            <a:r>
              <a:rPr sz="1500" b="1" spc="-20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a</a:t>
            </a:r>
            <a:r>
              <a:rPr sz="1500" b="1" spc="-25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980000"/>
                </a:solidFill>
                <a:latin typeface="Roboto"/>
                <a:cs typeface="Roboto"/>
              </a:rPr>
              <a:t>lock</a:t>
            </a:r>
            <a:r>
              <a:rPr sz="1500" b="1" spc="-20" dirty="0">
                <a:solidFill>
                  <a:srgbClr val="980000"/>
                </a:solidFill>
                <a:latin typeface="Roboto"/>
                <a:cs typeface="Roboto"/>
              </a:rPr>
              <a:t> </a:t>
            </a:r>
            <a:r>
              <a:rPr sz="1500" b="1" spc="-25" dirty="0">
                <a:solidFill>
                  <a:srgbClr val="980000"/>
                </a:solidFill>
                <a:latin typeface="Roboto"/>
                <a:cs typeface="Roboto"/>
              </a:rPr>
              <a:t>is </a:t>
            </a:r>
            <a:r>
              <a:rPr sz="1500" b="1" spc="-10" dirty="0">
                <a:solidFill>
                  <a:srgbClr val="980000"/>
                </a:solidFill>
                <a:latin typeface="Roboto"/>
                <a:cs typeface="Roboto"/>
              </a:rPr>
              <a:t>available.</a:t>
            </a:r>
            <a:endParaRPr sz="1500">
              <a:latin typeface="Roboto"/>
              <a:cs typeface="Roboto"/>
            </a:endParaRPr>
          </a:p>
        </p:txBody>
      </p:sp>
      <p:pic>
        <p:nvPicPr>
          <p:cNvPr id="6" name="object 6" descr="A humorous cartoon of two stick figures; one is frustrated at a computer while the other sits on the floor with a phone, &quot;waiting for my turn to print&quot; in a literal interpretation of process waiting.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735688" y="2678913"/>
            <a:ext cx="5844252" cy="3283287"/>
          </a:xfrm>
          <a:prstGeom prst="rect">
            <a:avLst/>
          </a:prstGeom>
        </p:spPr>
      </p:pic>
      <p:sp>
        <p:nvSpPr>
          <p:cNvPr id="7" name="object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278324" y="6130911"/>
            <a:ext cx="127635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dirty="0">
                <a:latin typeface="Arial MT"/>
                <a:cs typeface="Arial MT"/>
              </a:rPr>
              <a:t>Image</a:t>
            </a:r>
            <a:r>
              <a:rPr sz="800" spc="-35" dirty="0">
                <a:latin typeface="Arial MT"/>
                <a:cs typeface="Arial MT"/>
              </a:rPr>
              <a:t> </a:t>
            </a:r>
            <a:r>
              <a:rPr sz="800" dirty="0">
                <a:latin typeface="Arial MT"/>
                <a:cs typeface="Arial MT"/>
              </a:rPr>
              <a:t>credit</a:t>
            </a:r>
            <a:r>
              <a:rPr sz="800" spc="-35" dirty="0">
                <a:latin typeface="Arial MT"/>
                <a:cs typeface="Arial MT"/>
              </a:rPr>
              <a:t> </a:t>
            </a:r>
            <a:r>
              <a:rPr sz="800" dirty="0">
                <a:latin typeface="Arial MT"/>
                <a:cs typeface="Arial MT"/>
              </a:rPr>
              <a:t>-</a:t>
            </a:r>
            <a:r>
              <a:rPr sz="800" spc="-30" dirty="0">
                <a:latin typeface="Arial MT"/>
                <a:cs typeface="Arial MT"/>
              </a:rPr>
              <a:t> </a:t>
            </a:r>
            <a:r>
              <a:rPr sz="800" spc="-10" dirty="0">
                <a:latin typeface="Arial MT"/>
                <a:cs typeface="Arial MT"/>
              </a:rPr>
              <a:t>https://dev.to/</a:t>
            </a:r>
            <a:endParaRPr sz="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188547"/>
            <a:ext cx="40252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95050" y="1543538"/>
            <a:ext cx="4434205" cy="524861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94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Dekker’s</a:t>
            </a:r>
            <a:r>
              <a:rPr sz="1800" spc="-30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Algorithm</a:t>
            </a:r>
            <a:endParaRPr sz="1800" dirty="0">
              <a:latin typeface="Georgia"/>
              <a:cs typeface="Georgia"/>
            </a:endParaRPr>
          </a:p>
          <a:p>
            <a:pPr marL="469265" indent="-351155">
              <a:lnSpc>
                <a:spcPct val="100000"/>
              </a:lnSpc>
              <a:spcBef>
                <a:spcPts val="1785"/>
              </a:spcBef>
              <a:buClr>
                <a:srgbClr val="000000"/>
              </a:buClr>
              <a:buFont typeface="Arial MT"/>
              <a:buChar char="●"/>
              <a:tabLst>
                <a:tab pos="469265" algn="l"/>
              </a:tabLst>
            </a:pP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flag[2]</a:t>
            </a:r>
            <a:r>
              <a:rPr sz="1600" b="1" spc="-10" dirty="0">
                <a:latin typeface="Arial MT"/>
                <a:cs typeface="Arial MT"/>
              </a:rPr>
              <a:t>:</a:t>
            </a:r>
            <a:endParaRPr sz="1600" b="1" dirty="0">
              <a:latin typeface="Arial MT"/>
              <a:cs typeface="Arial MT"/>
            </a:endParaRPr>
          </a:p>
          <a:p>
            <a:pPr marL="927100" marR="74930" lvl="1" indent="-351790">
              <a:lnSpc>
                <a:spcPct val="114999"/>
              </a:lnSpc>
              <a:spcAft>
                <a:spcPts val="600"/>
              </a:spcAft>
              <a:buClr>
                <a:srgbClr val="000000"/>
              </a:buClr>
              <a:buFont typeface="Arial MT"/>
              <a:buChar char="○"/>
              <a:tabLst>
                <a:tab pos="927100" algn="l"/>
              </a:tabLst>
            </a:pP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flag[0]</a:t>
            </a:r>
            <a:r>
              <a:rPr sz="1600" b="1" spc="-10" dirty="0">
                <a:latin typeface="Arial MT"/>
                <a:cs typeface="Arial MT"/>
              </a:rPr>
              <a:t>:</a:t>
            </a:r>
            <a:r>
              <a:rPr sz="1600" b="1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Indicates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whether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Thread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50" dirty="0">
                <a:latin typeface="Arial MT"/>
                <a:cs typeface="Arial MT"/>
              </a:rPr>
              <a:t>1 </a:t>
            </a:r>
            <a:r>
              <a:rPr sz="1600" dirty="0">
                <a:latin typeface="Arial MT"/>
                <a:cs typeface="Arial MT"/>
              </a:rPr>
              <a:t>wants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enter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critical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section.</a:t>
            </a:r>
            <a:endParaRPr sz="1600" dirty="0">
              <a:latin typeface="Arial MT"/>
              <a:cs typeface="Arial MT"/>
            </a:endParaRPr>
          </a:p>
          <a:p>
            <a:pPr marL="927100" marR="74930" lvl="1" indent="-351790">
              <a:lnSpc>
                <a:spcPct val="114999"/>
              </a:lnSpc>
              <a:spcAft>
                <a:spcPts val="600"/>
              </a:spcAft>
              <a:buClr>
                <a:srgbClr val="000000"/>
              </a:buClr>
              <a:buFont typeface="Arial MT"/>
              <a:buChar char="○"/>
              <a:tabLst>
                <a:tab pos="927100" algn="l"/>
              </a:tabLst>
            </a:pP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flag[1]</a:t>
            </a:r>
            <a:r>
              <a:rPr sz="1600" b="1" spc="-10" dirty="0">
                <a:latin typeface="Arial MT"/>
                <a:cs typeface="Arial MT"/>
              </a:rPr>
              <a:t>: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Indicates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whether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Thread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50" dirty="0">
                <a:latin typeface="Arial MT"/>
                <a:cs typeface="Arial MT"/>
              </a:rPr>
              <a:t>2 </a:t>
            </a:r>
            <a:r>
              <a:rPr sz="1600" dirty="0">
                <a:latin typeface="Arial MT"/>
                <a:cs typeface="Arial MT"/>
              </a:rPr>
              <a:t>wants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enter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critical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section.</a:t>
            </a:r>
            <a:endParaRPr sz="1600" dirty="0">
              <a:latin typeface="Arial MT"/>
              <a:cs typeface="Arial MT"/>
            </a:endParaRPr>
          </a:p>
          <a:p>
            <a:pPr marL="469265" indent="-351155">
              <a:lnSpc>
                <a:spcPct val="100000"/>
              </a:lnSpc>
              <a:spcBef>
                <a:spcPts val="290"/>
              </a:spcBef>
              <a:buClr>
                <a:srgbClr val="000000"/>
              </a:buClr>
              <a:buFont typeface="Arial MT"/>
              <a:buChar char="●"/>
              <a:tabLst>
                <a:tab pos="469265" algn="l"/>
              </a:tabLst>
            </a:pP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turn</a:t>
            </a:r>
            <a:r>
              <a:rPr sz="1600" b="1" spc="-10" dirty="0">
                <a:latin typeface="Arial MT"/>
                <a:cs typeface="Arial MT"/>
              </a:rPr>
              <a:t>:</a:t>
            </a:r>
            <a:endParaRPr sz="1600" b="1" dirty="0">
              <a:latin typeface="Arial MT"/>
              <a:cs typeface="Arial MT"/>
            </a:endParaRPr>
          </a:p>
          <a:p>
            <a:pPr marL="927100" marR="45085" lvl="1" indent="-351790">
              <a:lnSpc>
                <a:spcPct val="114999"/>
              </a:lnSpc>
              <a:spcAft>
                <a:spcPts val="600"/>
              </a:spcAft>
              <a:buChar char="○"/>
              <a:tabLst>
                <a:tab pos="927100" algn="l"/>
              </a:tabLst>
            </a:pPr>
            <a:r>
              <a:rPr sz="1600" dirty="0">
                <a:latin typeface="Arial MT"/>
                <a:cs typeface="Arial MT"/>
              </a:rPr>
              <a:t>Keeps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track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whose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turn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it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enter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critical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section.</a:t>
            </a:r>
            <a:endParaRPr sz="1600" dirty="0">
              <a:latin typeface="Arial MT"/>
              <a:cs typeface="Arial MT"/>
            </a:endParaRPr>
          </a:p>
          <a:p>
            <a:pPr marL="927100" marR="484505" lvl="1" indent="-351790">
              <a:lnSpc>
                <a:spcPct val="114999"/>
              </a:lnSpc>
              <a:buChar char="○"/>
              <a:tabLst>
                <a:tab pos="927100" algn="l"/>
              </a:tabLst>
            </a:pPr>
            <a:r>
              <a:rPr sz="1600" dirty="0">
                <a:latin typeface="Arial MT"/>
                <a:cs typeface="Arial MT"/>
              </a:rPr>
              <a:t>Prevents</a:t>
            </a:r>
            <a:r>
              <a:rPr sz="1600" spc="-10" dirty="0">
                <a:latin typeface="Arial MT"/>
                <a:cs typeface="Arial MT"/>
              </a:rPr>
              <a:t> starvation </a:t>
            </a:r>
            <a:r>
              <a:rPr sz="1600" dirty="0">
                <a:latin typeface="Arial MT"/>
                <a:cs typeface="Arial MT"/>
              </a:rPr>
              <a:t>by</a:t>
            </a:r>
            <a:r>
              <a:rPr sz="1600" spc="-10" dirty="0">
                <a:latin typeface="Arial MT"/>
                <a:cs typeface="Arial MT"/>
              </a:rPr>
              <a:t> alternating access.</a:t>
            </a:r>
            <a:endParaRPr sz="16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1600" b="1" spc="-10" dirty="0">
                <a:latin typeface="Arial"/>
                <a:cs typeface="Arial"/>
              </a:rPr>
              <a:t>Volatile</a:t>
            </a:r>
            <a:r>
              <a:rPr sz="1600" spc="-10" dirty="0">
                <a:latin typeface="Arial MT"/>
                <a:cs typeface="Arial MT"/>
              </a:rPr>
              <a:t>:</a:t>
            </a:r>
            <a:endParaRPr sz="1600" dirty="0">
              <a:latin typeface="Arial MT"/>
              <a:cs typeface="Arial MT"/>
            </a:endParaRPr>
          </a:p>
          <a:p>
            <a:pPr marL="469900" marR="5080" indent="-351790">
              <a:lnSpc>
                <a:spcPct val="114999"/>
              </a:lnSpc>
              <a:spcBef>
                <a:spcPts val="600"/>
              </a:spcBef>
              <a:buChar char="●"/>
              <a:tabLst>
                <a:tab pos="469900" algn="l"/>
              </a:tabLst>
            </a:pP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volatile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keyword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ensures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that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the </a:t>
            </a:r>
            <a:r>
              <a:rPr sz="1600" dirty="0">
                <a:latin typeface="Arial MT"/>
                <a:cs typeface="Arial MT"/>
              </a:rPr>
              <a:t>variables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are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always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read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from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and </a:t>
            </a:r>
            <a:r>
              <a:rPr sz="1600" dirty="0">
                <a:latin typeface="Arial MT"/>
                <a:cs typeface="Arial MT"/>
              </a:rPr>
              <a:t>not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optimized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away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by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compiler,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as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they </a:t>
            </a:r>
            <a:r>
              <a:rPr sz="1600" dirty="0">
                <a:latin typeface="Arial MT"/>
                <a:cs typeface="Arial MT"/>
              </a:rPr>
              <a:t>are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shared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between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threads.</a:t>
            </a:r>
            <a:endParaRPr sz="1600" dirty="0">
              <a:latin typeface="Arial MT"/>
              <a:cs typeface="Arial MT"/>
            </a:endParaRPr>
          </a:p>
        </p:txBody>
      </p:sp>
      <p:grpSp>
        <p:nvGrpSpPr>
          <p:cNvPr id="4" name="object 4" descr="A code snippet in C highlighting the global initialization of a volatile boolean array flag[2] and a volatile integer turn for thread synchronization."/>
          <p:cNvGrpSpPr/>
          <p:nvPr/>
        </p:nvGrpSpPr>
        <p:grpSpPr>
          <a:xfrm>
            <a:off x="5029662" y="1410591"/>
            <a:ext cx="6914515" cy="5142865"/>
            <a:chOff x="5029662" y="1410591"/>
            <a:chExt cx="6914515" cy="514286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320625" y="1410591"/>
              <a:ext cx="6623050" cy="5142608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043949" y="1439199"/>
              <a:ext cx="6758940" cy="696595"/>
            </a:xfrm>
            <a:custGeom>
              <a:avLst/>
              <a:gdLst/>
              <a:ahLst/>
              <a:cxnLst/>
              <a:rect l="l" t="t" r="r" b="b"/>
              <a:pathLst>
                <a:path w="6758940" h="696594">
                  <a:moveTo>
                    <a:pt x="0" y="0"/>
                  </a:moveTo>
                  <a:lnTo>
                    <a:pt x="6758399" y="0"/>
                  </a:lnTo>
                  <a:lnTo>
                    <a:pt x="6758399" y="695999"/>
                  </a:lnTo>
                  <a:lnTo>
                    <a:pt x="0" y="6959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  <a:p>
            <a:pPr marL="12700">
              <a:lnSpc>
                <a:spcPts val="2060"/>
              </a:lnSpc>
            </a:pPr>
            <a:r>
              <a:rPr sz="1800" spc="-10" dirty="0"/>
              <a:t>Dekker’s</a:t>
            </a:r>
            <a:r>
              <a:rPr sz="1800" spc="-30" dirty="0"/>
              <a:t> </a:t>
            </a:r>
            <a:r>
              <a:rPr sz="1800" spc="-10" dirty="0"/>
              <a:t>Algorithm</a:t>
            </a:r>
            <a:endParaRPr sz="1800"/>
          </a:p>
        </p:txBody>
      </p:sp>
      <p:sp>
        <p:nvSpPr>
          <p:cNvPr id="3" name="object 3"/>
          <p:cNvSpPr txBox="1"/>
          <p:nvPr/>
        </p:nvSpPr>
        <p:spPr>
          <a:xfrm>
            <a:off x="395050" y="2196763"/>
            <a:ext cx="4405550" cy="293599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2340610" algn="ctr">
              <a:lnSpc>
                <a:spcPct val="114000"/>
              </a:lnSpc>
              <a:spcBef>
                <a:spcPts val="100"/>
              </a:spcBef>
            </a:pPr>
            <a:r>
              <a:rPr b="1" dirty="0">
                <a:solidFill>
                  <a:srgbClr val="980000"/>
                </a:solidFill>
                <a:latin typeface="Arial"/>
                <a:cs typeface="Arial"/>
              </a:rPr>
              <a:t>Thread</a:t>
            </a:r>
            <a:r>
              <a:rPr b="1" spc="-5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980000"/>
                </a:solidFill>
                <a:latin typeface="Arial"/>
                <a:cs typeface="Arial"/>
              </a:rPr>
              <a:t>1</a:t>
            </a:r>
            <a:r>
              <a:rPr b="1" spc="-5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b="1" spc="-10" dirty="0">
                <a:solidFill>
                  <a:srgbClr val="980000"/>
                </a:solidFill>
                <a:latin typeface="Arial"/>
                <a:cs typeface="Arial"/>
              </a:rPr>
              <a:t>Behavior</a:t>
            </a:r>
            <a:r>
              <a:rPr spc="-10" dirty="0">
                <a:solidFill>
                  <a:srgbClr val="980000"/>
                </a:solidFill>
                <a:latin typeface="Arial MT"/>
                <a:cs typeface="Arial MT"/>
              </a:rPr>
              <a:t>:</a:t>
            </a:r>
            <a:endParaRPr dirty="0">
              <a:latin typeface="Arial MT"/>
              <a:cs typeface="Arial MT"/>
            </a:endParaRPr>
          </a:p>
          <a:p>
            <a:pPr marR="2372360" algn="ctr">
              <a:lnSpc>
                <a:spcPct val="114000"/>
              </a:lnSpc>
              <a:spcBef>
                <a:spcPts val="1500"/>
              </a:spcBef>
            </a:pPr>
            <a:r>
              <a:rPr b="1" dirty="0">
                <a:latin typeface="Arial"/>
                <a:cs typeface="Arial"/>
              </a:rPr>
              <a:t>flag[0]</a:t>
            </a:r>
            <a:r>
              <a:rPr b="1" spc="-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=</a:t>
            </a:r>
            <a:r>
              <a:rPr b="1" spc="-5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true;</a:t>
            </a:r>
            <a:endParaRPr dirty="0">
              <a:latin typeface="Arial"/>
              <a:cs typeface="Arial"/>
            </a:endParaRPr>
          </a:p>
          <a:p>
            <a:pPr marL="468630" marR="5080" indent="-365760" algn="just">
              <a:lnSpc>
                <a:spcPct val="114000"/>
              </a:lnSpc>
              <a:spcBef>
                <a:spcPts val="1200"/>
              </a:spcBef>
              <a:spcAft>
                <a:spcPts val="600"/>
              </a:spcAft>
              <a:buChar char="●"/>
              <a:tabLst>
                <a:tab pos="469900" algn="l"/>
              </a:tabLst>
            </a:pPr>
            <a:r>
              <a:rPr dirty="0">
                <a:latin typeface="Arial MT"/>
                <a:cs typeface="Arial MT"/>
              </a:rPr>
              <a:t>Thread</a:t>
            </a:r>
            <a:r>
              <a:rPr spc="-1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1</a:t>
            </a:r>
            <a:r>
              <a:rPr spc="-1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sets</a:t>
            </a:r>
            <a:r>
              <a:rPr spc="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its</a:t>
            </a:r>
            <a:r>
              <a:rPr spc="130" dirty="0">
                <a:latin typeface="Arial MT"/>
                <a:cs typeface="Arial MT"/>
              </a:rPr>
              <a:t> </a:t>
            </a:r>
            <a:r>
              <a:rPr b="1" spc="-65" dirty="0">
                <a:solidFill>
                  <a:srgbClr val="188037"/>
                </a:solidFill>
                <a:latin typeface="Courier New"/>
                <a:cs typeface="Courier New"/>
              </a:rPr>
              <a:t>flag[0]</a:t>
            </a:r>
            <a:r>
              <a:rPr spc="-20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dirty="0">
                <a:latin typeface="Arial MT"/>
                <a:cs typeface="Arial MT"/>
              </a:rPr>
              <a:t>to</a:t>
            </a:r>
            <a:r>
              <a:rPr spc="125" dirty="0">
                <a:latin typeface="Arial MT"/>
                <a:cs typeface="Arial MT"/>
              </a:rPr>
              <a:t> </a:t>
            </a:r>
            <a:r>
              <a:rPr b="1" spc="-120" dirty="0">
                <a:solidFill>
                  <a:srgbClr val="188037"/>
                </a:solidFill>
                <a:latin typeface="Courier New"/>
                <a:cs typeface="Courier New"/>
              </a:rPr>
              <a:t>true</a:t>
            </a:r>
            <a:r>
              <a:rPr spc="-14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pc="-25" dirty="0">
                <a:latin typeface="Arial MT"/>
                <a:cs typeface="Arial MT"/>
              </a:rPr>
              <a:t>to 	</a:t>
            </a:r>
            <a:r>
              <a:rPr dirty="0">
                <a:latin typeface="Arial MT"/>
                <a:cs typeface="Arial MT"/>
              </a:rPr>
              <a:t>signal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that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it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wants</a:t>
            </a:r>
            <a:r>
              <a:rPr spc="-1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to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enter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-10" dirty="0">
                <a:latin typeface="Arial MT"/>
                <a:cs typeface="Arial MT"/>
              </a:rPr>
              <a:t> critical 	section.</a:t>
            </a:r>
            <a:endParaRPr dirty="0">
              <a:latin typeface="Arial MT"/>
              <a:cs typeface="Arial MT"/>
            </a:endParaRPr>
          </a:p>
          <a:p>
            <a:pPr marL="469900" marR="126364" indent="-367030">
              <a:lnSpc>
                <a:spcPct val="114000"/>
              </a:lnSpc>
              <a:buChar char="●"/>
              <a:tabLst>
                <a:tab pos="469900" algn="l"/>
              </a:tabLst>
            </a:pPr>
            <a:r>
              <a:rPr dirty="0">
                <a:latin typeface="Arial MT"/>
                <a:cs typeface="Arial MT"/>
              </a:rPr>
              <a:t>Notifies</a:t>
            </a:r>
            <a:r>
              <a:rPr spc="-5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Thread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2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(via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flag[0]</a:t>
            </a:r>
            <a:r>
              <a:rPr dirty="0">
                <a:latin typeface="Arial MT"/>
                <a:cs typeface="Arial MT"/>
              </a:rPr>
              <a:t>)</a:t>
            </a:r>
            <a:r>
              <a:rPr spc="-20" dirty="0">
                <a:latin typeface="Arial MT"/>
                <a:cs typeface="Arial MT"/>
              </a:rPr>
              <a:t> that </a:t>
            </a:r>
            <a:r>
              <a:rPr dirty="0">
                <a:latin typeface="Arial MT"/>
                <a:cs typeface="Arial MT"/>
              </a:rPr>
              <a:t>Thread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1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is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interested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in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critical section.</a:t>
            </a:r>
            <a:endParaRPr dirty="0">
              <a:latin typeface="Arial MT"/>
              <a:cs typeface="Arial MT"/>
            </a:endParaRPr>
          </a:p>
        </p:txBody>
      </p:sp>
      <p:grpSp>
        <p:nvGrpSpPr>
          <p:cNvPr id="4" name="object 4" descr="A code snippet in C highlighting the logic within thread1, showing it setting its flag, busy-waiting on the other thread’s turn, and then entering its work section."/>
          <p:cNvGrpSpPr/>
          <p:nvPr/>
        </p:nvGrpSpPr>
        <p:grpSpPr>
          <a:xfrm>
            <a:off x="5029662" y="1410591"/>
            <a:ext cx="6914515" cy="5142865"/>
            <a:chOff x="5029662" y="1410591"/>
            <a:chExt cx="6914515" cy="514286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20625" y="1410591"/>
              <a:ext cx="6623050" cy="5142608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043949" y="2505999"/>
              <a:ext cx="6758940" cy="1144270"/>
            </a:xfrm>
            <a:custGeom>
              <a:avLst/>
              <a:gdLst/>
              <a:ahLst/>
              <a:cxnLst/>
              <a:rect l="l" t="t" r="r" b="b"/>
              <a:pathLst>
                <a:path w="6758940" h="1144270">
                  <a:moveTo>
                    <a:pt x="0" y="0"/>
                  </a:moveTo>
                  <a:lnTo>
                    <a:pt x="6758399" y="0"/>
                  </a:lnTo>
                  <a:lnTo>
                    <a:pt x="6758399" y="1144199"/>
                  </a:lnTo>
                  <a:lnTo>
                    <a:pt x="0" y="11441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  <a:p>
            <a:pPr marL="12700">
              <a:lnSpc>
                <a:spcPts val="2060"/>
              </a:lnSpc>
            </a:pPr>
            <a:r>
              <a:rPr sz="1800" spc="-10" dirty="0"/>
              <a:t>Dekker’s</a:t>
            </a:r>
            <a:r>
              <a:rPr sz="1800" spc="-30" dirty="0"/>
              <a:t> </a:t>
            </a:r>
            <a:r>
              <a:rPr sz="1800" spc="-10" dirty="0"/>
              <a:t>Algorithm</a:t>
            </a:r>
            <a:endParaRPr sz="1800"/>
          </a:p>
        </p:txBody>
      </p:sp>
      <p:sp>
        <p:nvSpPr>
          <p:cNvPr id="3" name="object 3"/>
          <p:cNvSpPr txBox="1"/>
          <p:nvPr/>
        </p:nvSpPr>
        <p:spPr>
          <a:xfrm>
            <a:off x="395050" y="2196763"/>
            <a:ext cx="4319905" cy="270138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1" dirty="0">
                <a:solidFill>
                  <a:srgbClr val="980000"/>
                </a:solidFill>
                <a:latin typeface="Arial"/>
                <a:cs typeface="Arial"/>
              </a:rPr>
              <a:t>Thread</a:t>
            </a:r>
            <a:r>
              <a:rPr b="1" spc="-5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980000"/>
                </a:solidFill>
                <a:latin typeface="Arial"/>
                <a:cs typeface="Arial"/>
              </a:rPr>
              <a:t>1</a:t>
            </a:r>
            <a:r>
              <a:rPr b="1" spc="-5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b="1" spc="-10" dirty="0">
                <a:solidFill>
                  <a:srgbClr val="980000"/>
                </a:solidFill>
                <a:latin typeface="Arial"/>
                <a:cs typeface="Arial"/>
              </a:rPr>
              <a:t>Behavior</a:t>
            </a:r>
            <a:r>
              <a:rPr spc="-10" dirty="0">
                <a:solidFill>
                  <a:srgbClr val="980000"/>
                </a:solidFill>
                <a:latin typeface="Arial MT"/>
                <a:cs typeface="Arial MT"/>
              </a:rPr>
              <a:t>:</a:t>
            </a:r>
            <a:endParaRPr dirty="0">
              <a:latin typeface="Arial MT"/>
              <a:cs typeface="Arial MT"/>
            </a:endParaRPr>
          </a:p>
          <a:p>
            <a:pPr marL="241300" marR="1329055" indent="-228600">
              <a:lnSpc>
                <a:spcPts val="3679"/>
              </a:lnSpc>
              <a:spcBef>
                <a:spcPts val="355"/>
              </a:spcBef>
            </a:pPr>
            <a:r>
              <a:rPr b="1" dirty="0">
                <a:latin typeface="Arial"/>
                <a:cs typeface="Arial"/>
              </a:rPr>
              <a:t>while</a:t>
            </a:r>
            <a:r>
              <a:rPr b="1" spc="-3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(flag[1]</a:t>
            </a:r>
            <a:r>
              <a:rPr b="1" spc="-2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&amp;&amp;</a:t>
            </a:r>
            <a:r>
              <a:rPr b="1" spc="-2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turn</a:t>
            </a:r>
            <a:r>
              <a:rPr b="1" spc="-2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==</a:t>
            </a:r>
            <a:r>
              <a:rPr b="1" spc="-20" dirty="0">
                <a:latin typeface="Arial"/>
                <a:cs typeface="Arial"/>
              </a:rPr>
              <a:t> </a:t>
            </a:r>
            <a:r>
              <a:rPr b="1" spc="-25" dirty="0">
                <a:latin typeface="Arial"/>
                <a:cs typeface="Arial"/>
              </a:rPr>
              <a:t>1); </a:t>
            </a:r>
            <a:r>
              <a:rPr b="1" spc="-10" dirty="0">
                <a:latin typeface="Arial"/>
                <a:cs typeface="Arial"/>
              </a:rPr>
              <a:t>Condition</a:t>
            </a:r>
            <a:r>
              <a:rPr spc="-10" dirty="0">
                <a:latin typeface="Arial MT"/>
                <a:cs typeface="Arial MT"/>
              </a:rPr>
              <a:t>:</a:t>
            </a:r>
            <a:endParaRPr dirty="0">
              <a:latin typeface="Arial MT"/>
              <a:cs typeface="Arial MT"/>
            </a:endParaRPr>
          </a:p>
          <a:p>
            <a:pPr marL="469900" marR="315595" indent="-367030">
              <a:lnSpc>
                <a:spcPct val="114999"/>
              </a:lnSpc>
              <a:spcBef>
                <a:spcPts val="830"/>
              </a:spcBef>
              <a:spcAft>
                <a:spcPts val="600"/>
              </a:spcAft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flag[1]</a:t>
            </a:r>
            <a:r>
              <a:rPr dirty="0">
                <a:latin typeface="Arial MT"/>
                <a:cs typeface="Arial MT"/>
              </a:rPr>
              <a:t>: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Checks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if</a:t>
            </a:r>
            <a:r>
              <a:rPr spc="-10" dirty="0">
                <a:latin typeface="Arial MT"/>
                <a:cs typeface="Arial MT"/>
              </a:rPr>
              <a:t> </a:t>
            </a:r>
            <a:r>
              <a:rPr b="1" dirty="0">
                <a:latin typeface="Arial"/>
                <a:cs typeface="Arial"/>
              </a:rPr>
              <a:t>Thread</a:t>
            </a:r>
            <a:r>
              <a:rPr b="1" spc="-1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2</a:t>
            </a:r>
            <a:r>
              <a:rPr b="1" spc="-5" dirty="0">
                <a:latin typeface="Arial"/>
                <a:cs typeface="Arial"/>
              </a:rPr>
              <a:t> </a:t>
            </a:r>
            <a:r>
              <a:rPr spc="-20" dirty="0">
                <a:latin typeface="Arial MT"/>
                <a:cs typeface="Arial MT"/>
              </a:rPr>
              <a:t>also </a:t>
            </a:r>
            <a:r>
              <a:rPr dirty="0">
                <a:latin typeface="Arial MT"/>
                <a:cs typeface="Arial MT"/>
              </a:rPr>
              <a:t>wants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to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enter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critical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section.</a:t>
            </a:r>
            <a:endParaRPr dirty="0">
              <a:latin typeface="Arial MT"/>
              <a:cs typeface="Arial MT"/>
            </a:endParaRPr>
          </a:p>
          <a:p>
            <a:pPr marL="469900" marR="5080" indent="-367030">
              <a:lnSpc>
                <a:spcPct val="114999"/>
              </a:lnSpc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turn</a:t>
            </a:r>
            <a:r>
              <a:rPr b="1" spc="-3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==</a:t>
            </a:r>
            <a:r>
              <a:rPr b="1" spc="-2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1</a:t>
            </a:r>
            <a:r>
              <a:rPr dirty="0">
                <a:latin typeface="Arial MT"/>
                <a:cs typeface="Arial MT"/>
              </a:rPr>
              <a:t>: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Checks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if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it’s</a:t>
            </a:r>
            <a:r>
              <a:rPr spc="-5" dirty="0">
                <a:latin typeface="Arial MT"/>
                <a:cs typeface="Arial MT"/>
              </a:rPr>
              <a:t> </a:t>
            </a:r>
            <a:r>
              <a:rPr b="1" dirty="0">
                <a:latin typeface="Arial"/>
                <a:cs typeface="Arial"/>
              </a:rPr>
              <a:t>Thread</a:t>
            </a:r>
            <a:r>
              <a:rPr b="1" spc="-15" dirty="0">
                <a:latin typeface="Arial"/>
                <a:cs typeface="Arial"/>
              </a:rPr>
              <a:t> </a:t>
            </a:r>
            <a:r>
              <a:rPr b="1" spc="-25" dirty="0">
                <a:latin typeface="Arial"/>
                <a:cs typeface="Arial"/>
              </a:rPr>
              <a:t>2's </a:t>
            </a:r>
            <a:r>
              <a:rPr b="1" dirty="0">
                <a:latin typeface="Arial"/>
                <a:cs typeface="Arial"/>
              </a:rPr>
              <a:t>turn</a:t>
            </a:r>
            <a:r>
              <a:rPr b="1" spc="-35" dirty="0">
                <a:latin typeface="Arial"/>
                <a:cs typeface="Arial"/>
              </a:rPr>
              <a:t> </a:t>
            </a:r>
            <a:r>
              <a:rPr dirty="0">
                <a:latin typeface="Arial MT"/>
                <a:cs typeface="Arial MT"/>
              </a:rPr>
              <a:t>to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access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critical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section.</a:t>
            </a:r>
            <a:endParaRPr dirty="0">
              <a:latin typeface="Arial MT"/>
              <a:cs typeface="Arial MT"/>
            </a:endParaRPr>
          </a:p>
        </p:txBody>
      </p:sp>
      <p:grpSp>
        <p:nvGrpSp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029662" y="1410591"/>
            <a:ext cx="6914515" cy="5142865"/>
            <a:chOff x="5029662" y="1410591"/>
            <a:chExt cx="6914515" cy="514286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20625" y="1410591"/>
              <a:ext cx="6623050" cy="5142608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043949" y="2505999"/>
              <a:ext cx="6758940" cy="1144270"/>
            </a:xfrm>
            <a:custGeom>
              <a:avLst/>
              <a:gdLst/>
              <a:ahLst/>
              <a:cxnLst/>
              <a:rect l="l" t="t" r="r" b="b"/>
              <a:pathLst>
                <a:path w="6758940" h="1144270">
                  <a:moveTo>
                    <a:pt x="0" y="0"/>
                  </a:moveTo>
                  <a:lnTo>
                    <a:pt x="6758399" y="0"/>
                  </a:lnTo>
                  <a:lnTo>
                    <a:pt x="6758399" y="1144199"/>
                  </a:lnTo>
                  <a:lnTo>
                    <a:pt x="0" y="11441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188547"/>
            <a:ext cx="40252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95050" y="1543538"/>
            <a:ext cx="4434205" cy="46682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94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Dekker’s</a:t>
            </a:r>
            <a:r>
              <a:rPr sz="1800" spc="-30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Algorithm</a:t>
            </a:r>
            <a:endParaRPr sz="1800" dirty="0">
              <a:latin typeface="Georgia"/>
              <a:cs typeface="Georgia"/>
            </a:endParaRPr>
          </a:p>
          <a:p>
            <a:pPr>
              <a:lnSpc>
                <a:spcPct val="100000"/>
              </a:lnSpc>
              <a:spcBef>
                <a:spcPts val="930"/>
              </a:spcBef>
            </a:pPr>
            <a:endParaRPr sz="1800" dirty="0">
              <a:latin typeface="Georgia"/>
              <a:cs typeface="Georgia"/>
            </a:endParaRPr>
          </a:p>
          <a:p>
            <a:pPr marL="12700">
              <a:lnSpc>
                <a:spcPct val="114000"/>
              </a:lnSpc>
              <a:spcBef>
                <a:spcPts val="5"/>
              </a:spcBef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Thread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1</a:t>
            </a:r>
            <a:r>
              <a:rPr sz="1800" b="1" spc="-1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Behavior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:</a:t>
            </a:r>
            <a:endParaRPr sz="1800" dirty="0">
              <a:latin typeface="Arial MT"/>
              <a:cs typeface="Arial MT"/>
            </a:endParaRPr>
          </a:p>
          <a:p>
            <a:pPr marL="12700">
              <a:lnSpc>
                <a:spcPct val="114000"/>
              </a:lnSpc>
              <a:spcBef>
                <a:spcPts val="1520"/>
              </a:spcBef>
            </a:pPr>
            <a:r>
              <a:rPr sz="1800" b="1" spc="-10" dirty="0">
                <a:latin typeface="Arial"/>
                <a:cs typeface="Arial"/>
              </a:rPr>
              <a:t>Behavior</a:t>
            </a:r>
            <a:r>
              <a:rPr sz="1800" spc="-10" dirty="0">
                <a:latin typeface="Arial MT"/>
                <a:cs typeface="Arial MT"/>
              </a:rPr>
              <a:t>:</a:t>
            </a:r>
            <a:endParaRPr sz="1800" dirty="0">
              <a:latin typeface="Arial MT"/>
              <a:cs typeface="Arial MT"/>
            </a:endParaRPr>
          </a:p>
          <a:p>
            <a:pPr marL="469900" marR="5080" indent="-367030">
              <a:lnSpc>
                <a:spcPct val="114000"/>
              </a:lnSpc>
              <a:spcBef>
                <a:spcPts val="1200"/>
              </a:spcBef>
              <a:spcAft>
                <a:spcPts val="600"/>
              </a:spcAft>
              <a:buChar char="●"/>
              <a:tabLst>
                <a:tab pos="469900" algn="l"/>
              </a:tabLst>
            </a:pPr>
            <a:r>
              <a:rPr sz="1800" dirty="0">
                <a:latin typeface="Arial MT"/>
                <a:cs typeface="Arial MT"/>
              </a:rPr>
              <a:t>If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both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flag[1]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true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(Thread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2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is </a:t>
            </a:r>
            <a:r>
              <a:rPr sz="1800" dirty="0">
                <a:latin typeface="Arial MT"/>
                <a:cs typeface="Arial MT"/>
              </a:rPr>
              <a:t>interested)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and</a:t>
            </a:r>
            <a:r>
              <a:rPr sz="1800" b="1" spc="-5" dirty="0"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turn</a:t>
            </a:r>
            <a:r>
              <a:rPr sz="1800" b="1" spc="-1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==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1</a:t>
            </a:r>
            <a:r>
              <a:rPr sz="1800" b="1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br>
              <a:rPr lang="en-US" sz="1800" b="1" spc="-585" dirty="0">
                <a:solidFill>
                  <a:srgbClr val="188037"/>
                </a:solidFill>
                <a:latin typeface="Courier New"/>
                <a:cs typeface="Courier New"/>
              </a:rPr>
            </a:br>
            <a:r>
              <a:rPr sz="1800" spc="-10" dirty="0">
                <a:latin typeface="Arial MT"/>
                <a:cs typeface="Arial MT"/>
              </a:rPr>
              <a:t>(it's </a:t>
            </a:r>
            <a:r>
              <a:rPr sz="1800" dirty="0">
                <a:latin typeface="Arial MT"/>
                <a:cs typeface="Arial MT"/>
              </a:rPr>
              <a:t>Thread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2's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turn),</a:t>
            </a:r>
            <a:r>
              <a:rPr sz="1800" spc="-55" dirty="0">
                <a:latin typeface="Arial MT"/>
                <a:cs typeface="Arial MT"/>
              </a:rPr>
              <a:t> </a:t>
            </a:r>
            <a:br>
              <a:rPr lang="en-US" sz="1800" spc="-55" dirty="0">
                <a:latin typeface="Arial MT"/>
                <a:cs typeface="Arial MT"/>
              </a:rPr>
            </a:br>
            <a:r>
              <a:rPr sz="1800" dirty="0">
                <a:latin typeface="Arial MT"/>
                <a:cs typeface="Arial MT"/>
              </a:rPr>
              <a:t>Thread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1 </a:t>
            </a:r>
            <a:r>
              <a:rPr sz="1800" b="1" dirty="0">
                <a:latin typeface="Arial"/>
                <a:cs typeface="Arial"/>
              </a:rPr>
              <a:t>waits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in</a:t>
            </a:r>
            <a:r>
              <a:rPr sz="1800" b="1" spc="-25" dirty="0">
                <a:latin typeface="Arial"/>
                <a:cs typeface="Arial"/>
              </a:rPr>
              <a:t> the </a:t>
            </a:r>
            <a:r>
              <a:rPr sz="1800" b="1" spc="-10" dirty="0">
                <a:latin typeface="Arial"/>
                <a:cs typeface="Arial"/>
              </a:rPr>
              <a:t>loop</a:t>
            </a:r>
            <a:r>
              <a:rPr sz="1800" spc="-10" dirty="0">
                <a:latin typeface="Arial MT"/>
                <a:cs typeface="Arial MT"/>
              </a:rPr>
              <a:t>.</a:t>
            </a:r>
            <a:endParaRPr sz="1800" dirty="0">
              <a:latin typeface="Arial MT"/>
              <a:cs typeface="Arial MT"/>
            </a:endParaRPr>
          </a:p>
          <a:p>
            <a:pPr marL="469265" indent="-366395">
              <a:lnSpc>
                <a:spcPct val="114000"/>
              </a:lnSpc>
              <a:spcBef>
                <a:spcPts val="325"/>
              </a:spcBef>
              <a:buChar char="●"/>
              <a:tabLst>
                <a:tab pos="469265" algn="l"/>
              </a:tabLst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loop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continues</a:t>
            </a:r>
            <a:r>
              <a:rPr sz="1800" spc="-10" dirty="0">
                <a:latin typeface="Arial MT"/>
                <a:cs typeface="Arial MT"/>
              </a:rPr>
              <a:t> until:</a:t>
            </a:r>
            <a:endParaRPr sz="1800" dirty="0">
              <a:latin typeface="Arial MT"/>
              <a:cs typeface="Arial MT"/>
            </a:endParaRPr>
          </a:p>
          <a:p>
            <a:pPr marL="927100" marR="267335" lvl="1" indent="-367030">
              <a:lnSpc>
                <a:spcPct val="114000"/>
              </a:lnSpc>
              <a:spcAft>
                <a:spcPts val="600"/>
              </a:spcAft>
              <a:buClr>
                <a:srgbClr val="000000"/>
              </a:buClr>
              <a:buFont typeface="Arial MT"/>
              <a:buChar char="○"/>
              <a:tabLst>
                <a:tab pos="927100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flag[1]</a:t>
            </a:r>
            <a:r>
              <a:rPr sz="1800" b="1" spc="-3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==</a:t>
            </a:r>
            <a:r>
              <a:rPr sz="1800" b="1" spc="-3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false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5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Thread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50" dirty="0">
                <a:latin typeface="Arial MT"/>
                <a:cs typeface="Arial MT"/>
              </a:rPr>
              <a:t>2 </a:t>
            </a:r>
            <a:r>
              <a:rPr sz="1800" dirty="0">
                <a:latin typeface="Arial MT"/>
                <a:cs typeface="Arial MT"/>
              </a:rPr>
              <a:t>no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longer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wants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enter.</a:t>
            </a:r>
            <a:endParaRPr sz="1800" dirty="0">
              <a:latin typeface="Arial MT"/>
              <a:cs typeface="Arial MT"/>
            </a:endParaRPr>
          </a:p>
          <a:p>
            <a:pPr marL="927100" marR="236854" lvl="1" indent="-367030">
              <a:lnSpc>
                <a:spcPct val="114000"/>
              </a:lnSpc>
              <a:buClr>
                <a:srgbClr val="000000"/>
              </a:buClr>
              <a:buFont typeface="Arial MT"/>
              <a:buChar char="○"/>
              <a:tabLst>
                <a:tab pos="927100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turn</a:t>
            </a:r>
            <a:r>
              <a:rPr sz="1800" b="1" spc="-1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!=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1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becomes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Thread </a:t>
            </a:r>
            <a:r>
              <a:rPr sz="1800" dirty="0">
                <a:latin typeface="Arial MT"/>
                <a:cs typeface="Arial MT"/>
              </a:rPr>
              <a:t>1’s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turn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proceed.</a:t>
            </a:r>
            <a:endParaRPr sz="1800" dirty="0">
              <a:latin typeface="Arial MT"/>
              <a:cs typeface="Arial MT"/>
            </a:endParaRPr>
          </a:p>
        </p:txBody>
      </p:sp>
      <p:grpSp>
        <p:nvGrpSp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029662" y="1410591"/>
            <a:ext cx="6914515" cy="5142865"/>
            <a:chOff x="5029662" y="1410591"/>
            <a:chExt cx="6914515" cy="514286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20625" y="1410591"/>
              <a:ext cx="6623050" cy="5142608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043949" y="2505999"/>
              <a:ext cx="6758940" cy="1144270"/>
            </a:xfrm>
            <a:custGeom>
              <a:avLst/>
              <a:gdLst/>
              <a:ahLst/>
              <a:cxnLst/>
              <a:rect l="l" t="t" r="r" b="b"/>
              <a:pathLst>
                <a:path w="6758940" h="1144270">
                  <a:moveTo>
                    <a:pt x="0" y="0"/>
                  </a:moveTo>
                  <a:lnTo>
                    <a:pt x="6758399" y="0"/>
                  </a:lnTo>
                  <a:lnTo>
                    <a:pt x="6758399" y="1144199"/>
                  </a:lnTo>
                  <a:lnTo>
                    <a:pt x="0" y="11441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  <a:p>
            <a:pPr marL="12700">
              <a:lnSpc>
                <a:spcPts val="2060"/>
              </a:lnSpc>
            </a:pPr>
            <a:r>
              <a:rPr sz="1800" spc="-10" dirty="0"/>
              <a:t>Dekker’s</a:t>
            </a:r>
            <a:r>
              <a:rPr sz="1800" spc="-30" dirty="0"/>
              <a:t> </a:t>
            </a:r>
            <a:r>
              <a:rPr sz="1800" spc="-10" dirty="0"/>
              <a:t>Algorithm</a:t>
            </a:r>
            <a:endParaRPr sz="1800"/>
          </a:p>
        </p:txBody>
      </p:sp>
      <p:sp>
        <p:nvSpPr>
          <p:cNvPr id="3" name="object 3"/>
          <p:cNvSpPr txBox="1"/>
          <p:nvPr/>
        </p:nvSpPr>
        <p:spPr>
          <a:xfrm>
            <a:off x="395050" y="2196255"/>
            <a:ext cx="4262755" cy="1866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Thread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1</a:t>
            </a:r>
            <a:r>
              <a:rPr sz="1800" b="1" spc="-1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Behavior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:</a:t>
            </a:r>
            <a:endParaRPr sz="1800" dirty="0">
              <a:latin typeface="Arial MT"/>
              <a:cs typeface="Arial MT"/>
            </a:endParaRPr>
          </a:p>
          <a:p>
            <a:pPr marL="12700" marR="5080">
              <a:lnSpc>
                <a:spcPct val="114999"/>
              </a:lnSpc>
              <a:spcBef>
                <a:spcPts val="1200"/>
              </a:spcBef>
            </a:pPr>
            <a:r>
              <a:rPr sz="1800" b="1" dirty="0">
                <a:latin typeface="Arial"/>
                <a:cs typeface="Arial"/>
              </a:rPr>
              <a:t>Purpose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Ensures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5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Thread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1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does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not </a:t>
            </a:r>
            <a:r>
              <a:rPr sz="1800" dirty="0">
                <a:latin typeface="Arial MT"/>
                <a:cs typeface="Arial MT"/>
              </a:rPr>
              <a:t>enter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critical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section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if:</a:t>
            </a:r>
            <a:endParaRPr sz="1800" dirty="0">
              <a:latin typeface="Arial MT"/>
              <a:cs typeface="Arial MT"/>
            </a:endParaRPr>
          </a:p>
          <a:p>
            <a:pPr marL="469265" indent="-366395">
              <a:lnSpc>
                <a:spcPct val="100000"/>
              </a:lnSpc>
              <a:spcBef>
                <a:spcPts val="1520"/>
              </a:spcBef>
              <a:buChar char="●"/>
              <a:tabLst>
                <a:tab pos="469265" algn="l"/>
              </a:tabLst>
            </a:pPr>
            <a:r>
              <a:rPr sz="1800" dirty="0">
                <a:latin typeface="Arial MT"/>
                <a:cs typeface="Arial MT"/>
              </a:rPr>
              <a:t>Thread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2 is also </a:t>
            </a:r>
            <a:r>
              <a:rPr sz="1800" spc="-10" dirty="0">
                <a:latin typeface="Arial MT"/>
                <a:cs typeface="Arial MT"/>
              </a:rPr>
              <a:t>interested,</a:t>
            </a:r>
            <a:r>
              <a:rPr sz="1800" spc="-10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AND</a:t>
            </a:r>
            <a:endParaRPr sz="1800" dirty="0">
              <a:latin typeface="Arial MT"/>
              <a:cs typeface="Arial MT"/>
            </a:endParaRPr>
          </a:p>
          <a:p>
            <a:pPr marL="469265" indent="-366395">
              <a:lnSpc>
                <a:spcPct val="100000"/>
              </a:lnSpc>
              <a:spcBef>
                <a:spcPts val="325"/>
              </a:spcBef>
              <a:buChar char="●"/>
              <a:tabLst>
                <a:tab pos="469265" algn="l"/>
              </a:tabLst>
            </a:pPr>
            <a:r>
              <a:rPr sz="1800" dirty="0">
                <a:latin typeface="Arial MT"/>
                <a:cs typeface="Arial MT"/>
              </a:rPr>
              <a:t>It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Thread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2's</a:t>
            </a:r>
            <a:r>
              <a:rPr sz="1800" spc="-10" dirty="0">
                <a:latin typeface="Arial MT"/>
                <a:cs typeface="Arial MT"/>
              </a:rPr>
              <a:t> turn.</a:t>
            </a:r>
            <a:endParaRPr sz="1800" dirty="0">
              <a:latin typeface="Arial MT"/>
              <a:cs typeface="Arial MT"/>
            </a:endParaRPr>
          </a:p>
        </p:txBody>
      </p:sp>
      <p:grpSp>
        <p:nvGrpSp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029662" y="1410591"/>
            <a:ext cx="6914515" cy="5142865"/>
            <a:chOff x="5029662" y="1410591"/>
            <a:chExt cx="6914515" cy="514286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20625" y="1410591"/>
              <a:ext cx="6623050" cy="5142608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043949" y="2505999"/>
              <a:ext cx="6758940" cy="1144270"/>
            </a:xfrm>
            <a:custGeom>
              <a:avLst/>
              <a:gdLst/>
              <a:ahLst/>
              <a:cxnLst/>
              <a:rect l="l" t="t" r="r" b="b"/>
              <a:pathLst>
                <a:path w="6758940" h="1144270">
                  <a:moveTo>
                    <a:pt x="0" y="0"/>
                  </a:moveTo>
                  <a:lnTo>
                    <a:pt x="6758399" y="0"/>
                  </a:lnTo>
                  <a:lnTo>
                    <a:pt x="6758399" y="1144199"/>
                  </a:lnTo>
                  <a:lnTo>
                    <a:pt x="0" y="11441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  <a:p>
            <a:pPr marL="12700">
              <a:lnSpc>
                <a:spcPts val="2060"/>
              </a:lnSpc>
            </a:pPr>
            <a:r>
              <a:rPr sz="1800" spc="-10" dirty="0"/>
              <a:t>Dekker’s</a:t>
            </a:r>
            <a:r>
              <a:rPr sz="1800" spc="-30" dirty="0"/>
              <a:t> </a:t>
            </a:r>
            <a:r>
              <a:rPr sz="1800" spc="-10" dirty="0"/>
              <a:t>Algorithm</a:t>
            </a:r>
            <a:endParaRPr sz="1800"/>
          </a:p>
        </p:txBody>
      </p:sp>
      <p:sp>
        <p:nvSpPr>
          <p:cNvPr id="3" name="object 3"/>
          <p:cNvSpPr txBox="1"/>
          <p:nvPr/>
        </p:nvSpPr>
        <p:spPr>
          <a:xfrm>
            <a:off x="395050" y="2196255"/>
            <a:ext cx="4400550" cy="382559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Thread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2</a:t>
            </a:r>
            <a:r>
              <a:rPr sz="1800" b="1" spc="-1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Behavior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:</a:t>
            </a:r>
            <a:endParaRPr sz="18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520"/>
              </a:spcBef>
            </a:pPr>
            <a:r>
              <a:rPr sz="1800" spc="-10" dirty="0">
                <a:latin typeface="Arial MT"/>
                <a:cs typeface="Arial MT"/>
              </a:rPr>
              <a:t>Similarly,</a:t>
            </a:r>
            <a:r>
              <a:rPr sz="1800" spc="-6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Thread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2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sets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flag[1]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to </a:t>
            </a:r>
            <a:r>
              <a:rPr sz="1800" b="1" spc="-20" dirty="0">
                <a:solidFill>
                  <a:srgbClr val="188037"/>
                </a:solidFill>
                <a:latin typeface="Courier New"/>
                <a:cs typeface="Courier New"/>
              </a:rPr>
              <a:t>true</a:t>
            </a:r>
            <a:endParaRPr sz="1800" b="1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sz="1800" dirty="0">
                <a:latin typeface="Arial MT"/>
                <a:cs typeface="Arial MT"/>
              </a:rPr>
              <a:t>to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request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access.</a:t>
            </a:r>
            <a:endParaRPr sz="1800" dirty="0">
              <a:latin typeface="Arial MT"/>
              <a:cs typeface="Arial MT"/>
            </a:endParaRPr>
          </a:p>
          <a:p>
            <a:pPr marL="241300">
              <a:lnSpc>
                <a:spcPct val="100000"/>
              </a:lnSpc>
              <a:spcBef>
                <a:spcPts val="1525"/>
              </a:spcBef>
            </a:pPr>
            <a:r>
              <a:rPr sz="1800" dirty="0">
                <a:latin typeface="Arial MT"/>
                <a:cs typeface="Arial MT"/>
              </a:rPr>
              <a:t>Waits</a:t>
            </a:r>
            <a:r>
              <a:rPr sz="1800" spc="-9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until:</a:t>
            </a:r>
            <a:endParaRPr sz="1800" dirty="0">
              <a:latin typeface="Arial MT"/>
              <a:cs typeface="Arial MT"/>
            </a:endParaRPr>
          </a:p>
          <a:p>
            <a:pPr marL="469900" marR="748030" indent="-367030">
              <a:lnSpc>
                <a:spcPct val="114999"/>
              </a:lnSpc>
              <a:spcBef>
                <a:spcPts val="1200"/>
              </a:spcBef>
              <a:spcAft>
                <a:spcPts val="600"/>
              </a:spcAft>
              <a:buChar char="●"/>
              <a:tabLst>
                <a:tab pos="469900" algn="l"/>
              </a:tabLst>
            </a:pPr>
            <a:r>
              <a:rPr sz="1800" dirty="0">
                <a:latin typeface="Arial MT"/>
                <a:cs typeface="Arial MT"/>
              </a:rPr>
              <a:t>Thread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1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does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want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access </a:t>
            </a:r>
            <a:r>
              <a:rPr sz="1800" dirty="0">
                <a:latin typeface="Arial MT"/>
                <a:cs typeface="Arial MT"/>
              </a:rPr>
              <a:t>(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flag[0]</a:t>
            </a:r>
            <a:r>
              <a:rPr sz="1800" b="1" spc="-4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==</a:t>
            </a:r>
            <a:r>
              <a:rPr sz="1800" b="1" spc="-3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false</a:t>
            </a:r>
            <a:r>
              <a:rPr sz="1800" dirty="0">
                <a:latin typeface="Arial MT"/>
                <a:cs typeface="Arial MT"/>
              </a:rPr>
              <a:t>),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or</a:t>
            </a:r>
            <a:endParaRPr sz="1800" dirty="0">
              <a:latin typeface="Arial MT"/>
              <a:cs typeface="Arial MT"/>
            </a:endParaRPr>
          </a:p>
          <a:p>
            <a:pPr marL="469265" indent="-366395">
              <a:lnSpc>
                <a:spcPct val="100000"/>
              </a:lnSpc>
              <a:spcBef>
                <a:spcPts val="325"/>
              </a:spcBef>
              <a:buChar char="●"/>
              <a:tabLst>
                <a:tab pos="469265" algn="l"/>
              </a:tabLst>
            </a:pPr>
            <a:r>
              <a:rPr sz="1800" dirty="0">
                <a:latin typeface="Arial MT"/>
                <a:cs typeface="Arial MT"/>
              </a:rPr>
              <a:t>It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Thread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2's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turn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turn</a:t>
            </a:r>
            <a:r>
              <a:rPr sz="1800" b="1" spc="-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!=</a:t>
            </a:r>
            <a:r>
              <a:rPr sz="1800" b="1" spc="-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spc="-25" dirty="0">
                <a:solidFill>
                  <a:srgbClr val="188037"/>
                </a:solidFill>
                <a:latin typeface="Courier New"/>
                <a:cs typeface="Courier New"/>
              </a:rPr>
              <a:t>0</a:t>
            </a:r>
            <a:r>
              <a:rPr sz="1800" spc="-25" dirty="0">
                <a:latin typeface="Arial MT"/>
                <a:cs typeface="Arial MT"/>
              </a:rPr>
              <a:t>).</a:t>
            </a:r>
            <a:endParaRPr sz="1800" dirty="0">
              <a:latin typeface="Arial MT"/>
              <a:cs typeface="Arial MT"/>
            </a:endParaRPr>
          </a:p>
          <a:p>
            <a:pPr marL="12700" marR="5080">
              <a:lnSpc>
                <a:spcPct val="114999"/>
              </a:lnSpc>
              <a:spcBef>
                <a:spcPts val="1200"/>
              </a:spcBef>
            </a:pPr>
            <a:r>
              <a:rPr sz="1800" dirty="0">
                <a:latin typeface="Arial MT"/>
                <a:cs typeface="Arial MT"/>
              </a:rPr>
              <a:t>After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completing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work,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sets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turn</a:t>
            </a:r>
            <a:r>
              <a:rPr sz="1800" b="1" spc="-2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=</a:t>
            </a:r>
            <a:r>
              <a:rPr sz="1800" b="1" spc="-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spc="-50" dirty="0">
                <a:solidFill>
                  <a:srgbClr val="188037"/>
                </a:solidFill>
                <a:latin typeface="Courier New"/>
                <a:cs typeface="Courier New"/>
              </a:rPr>
              <a:t>0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give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Thread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1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chance,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clears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flag[1]</a:t>
            </a:r>
            <a:r>
              <a:rPr sz="1800" b="1" spc="-10" dirty="0">
                <a:latin typeface="Arial MT"/>
                <a:cs typeface="Arial MT"/>
              </a:rPr>
              <a:t>.</a:t>
            </a:r>
            <a:endParaRPr sz="1800" b="1" dirty="0">
              <a:latin typeface="Arial MT"/>
              <a:cs typeface="Arial MT"/>
            </a:endParaRPr>
          </a:p>
        </p:txBody>
      </p:sp>
      <p:grpSp>
        <p:nvGrpSpPr>
          <p:cNvPr id="4" name="object 4" descr="A code snippet in C highlighting the logic within thread2, showing it setting its flag to true and busy-waiting while the other thread has the turn."/>
          <p:cNvGrpSpPr/>
          <p:nvPr/>
        </p:nvGrpSpPr>
        <p:grpSpPr>
          <a:xfrm>
            <a:off x="5029662" y="1410591"/>
            <a:ext cx="6914515" cy="5142865"/>
            <a:chOff x="5029662" y="1410591"/>
            <a:chExt cx="6914515" cy="514286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20625" y="1410591"/>
              <a:ext cx="6623050" cy="5142608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043949" y="4487199"/>
              <a:ext cx="6758940" cy="1364615"/>
            </a:xfrm>
            <a:custGeom>
              <a:avLst/>
              <a:gdLst/>
              <a:ahLst/>
              <a:cxnLst/>
              <a:rect l="l" t="t" r="r" b="b"/>
              <a:pathLst>
                <a:path w="6758940" h="1364614">
                  <a:moveTo>
                    <a:pt x="0" y="0"/>
                  </a:moveTo>
                  <a:lnTo>
                    <a:pt x="6758399" y="0"/>
                  </a:lnTo>
                  <a:lnTo>
                    <a:pt x="6758399" y="1364099"/>
                  </a:lnTo>
                  <a:lnTo>
                    <a:pt x="0" y="13640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188547"/>
            <a:ext cx="40252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0375" y="1543538"/>
            <a:ext cx="33585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Dekker’s</a:t>
            </a:r>
            <a:r>
              <a:rPr sz="1800" spc="-30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Algorithm</a:t>
            </a:r>
            <a:r>
              <a:rPr sz="1800" spc="-2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1800" dirty="0">
                <a:solidFill>
                  <a:srgbClr val="0F2044"/>
                </a:solidFill>
                <a:latin typeface="Georgia"/>
                <a:cs typeface="Georgia"/>
              </a:rPr>
              <a:t>-</a:t>
            </a:r>
            <a:r>
              <a:rPr sz="1800" spc="-2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Limitations</a:t>
            </a:r>
            <a:endParaRPr sz="1800">
              <a:latin typeface="Georgia"/>
              <a:cs typeface="Georg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22024" y="1979975"/>
            <a:ext cx="4633595" cy="4552315"/>
          </a:xfrm>
          <a:prstGeom prst="rect">
            <a:avLst/>
          </a:prstGeom>
          <a:solidFill>
            <a:srgbClr val="FCE4CD"/>
          </a:solidFill>
          <a:ln w="9524">
            <a:solidFill>
              <a:srgbClr val="000000"/>
            </a:solidFill>
          </a:ln>
        </p:spPr>
        <p:txBody>
          <a:bodyPr vert="horz" wrap="square" lIns="0" tIns="7810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15"/>
              </a:spcBef>
            </a:pPr>
            <a:r>
              <a:rPr sz="1500" b="1" spc="-10" dirty="0">
                <a:latin typeface="Arial"/>
                <a:cs typeface="Arial"/>
              </a:rPr>
              <a:t>Complexity</a:t>
            </a:r>
            <a:r>
              <a:rPr sz="1500" b="1" spc="-25" dirty="0">
                <a:latin typeface="Arial"/>
                <a:cs typeface="Arial"/>
              </a:rPr>
              <a:t> </a:t>
            </a:r>
            <a:r>
              <a:rPr sz="1500" b="1" dirty="0">
                <a:latin typeface="Arial"/>
                <a:cs typeface="Arial"/>
              </a:rPr>
              <a:t>and</a:t>
            </a:r>
            <a:r>
              <a:rPr sz="1500" b="1" spc="-25" dirty="0">
                <a:latin typeface="Arial"/>
                <a:cs typeface="Arial"/>
              </a:rPr>
              <a:t> </a:t>
            </a:r>
            <a:r>
              <a:rPr sz="1500" b="1" spc="-10" dirty="0">
                <a:latin typeface="Arial"/>
                <a:cs typeface="Arial"/>
              </a:rPr>
              <a:t>Inefficiency</a:t>
            </a:r>
            <a:endParaRPr sz="1500" dirty="0">
              <a:latin typeface="Arial"/>
              <a:cs typeface="Arial"/>
            </a:endParaRPr>
          </a:p>
          <a:p>
            <a:pPr marL="542290" indent="-343535">
              <a:lnSpc>
                <a:spcPct val="100000"/>
              </a:lnSpc>
              <a:spcBef>
                <a:spcPts val="1470"/>
              </a:spcBef>
              <a:buFont typeface="Arial MT"/>
              <a:buChar char="●"/>
              <a:tabLst>
                <a:tab pos="542290" algn="l"/>
              </a:tabLst>
            </a:pPr>
            <a:r>
              <a:rPr sz="1500" b="1" dirty="0">
                <a:latin typeface="Arial"/>
                <a:cs typeface="Arial"/>
              </a:rPr>
              <a:t>Manual</a:t>
            </a:r>
            <a:r>
              <a:rPr sz="1500" b="1" spc="-30" dirty="0">
                <a:latin typeface="Arial"/>
                <a:cs typeface="Arial"/>
              </a:rPr>
              <a:t> </a:t>
            </a:r>
            <a:r>
              <a:rPr sz="1500" b="1" spc="-10" dirty="0">
                <a:latin typeface="Arial"/>
                <a:cs typeface="Arial"/>
              </a:rPr>
              <a:t>Implementation</a:t>
            </a:r>
            <a:r>
              <a:rPr sz="1500" spc="-10" dirty="0">
                <a:latin typeface="Arial MT"/>
                <a:cs typeface="Arial MT"/>
              </a:rPr>
              <a:t>:</a:t>
            </a:r>
            <a:endParaRPr sz="1500" dirty="0">
              <a:latin typeface="Arial MT"/>
              <a:cs typeface="Arial MT"/>
            </a:endParaRPr>
          </a:p>
          <a:p>
            <a:pPr marL="1000125" marR="386715" lvl="1" indent="-344170">
              <a:lnSpc>
                <a:spcPct val="114999"/>
              </a:lnSpc>
              <a:buChar char="○"/>
              <a:tabLst>
                <a:tab pos="1000125" algn="l"/>
              </a:tabLst>
            </a:pPr>
            <a:r>
              <a:rPr sz="1500" spc="-10" dirty="0">
                <a:latin typeface="Arial MT"/>
                <a:cs typeface="Arial MT"/>
              </a:rPr>
              <a:t>Dekker's</a:t>
            </a:r>
            <a:r>
              <a:rPr sz="1500" spc="-9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Algorithm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is</a:t>
            </a:r>
            <a:r>
              <a:rPr sz="1500" spc="-2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challenging</a:t>
            </a:r>
            <a:r>
              <a:rPr sz="1500" spc="-20" dirty="0">
                <a:latin typeface="Arial MT"/>
                <a:cs typeface="Arial MT"/>
              </a:rPr>
              <a:t> </a:t>
            </a:r>
            <a:r>
              <a:rPr sz="1500" spc="-25" dirty="0">
                <a:latin typeface="Arial MT"/>
                <a:cs typeface="Arial MT"/>
              </a:rPr>
              <a:t>to </a:t>
            </a:r>
            <a:r>
              <a:rPr sz="1500" spc="-10" dirty="0">
                <a:latin typeface="Arial MT"/>
                <a:cs typeface="Arial MT"/>
              </a:rPr>
              <a:t>implement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correctly,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as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it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requires </a:t>
            </a:r>
            <a:r>
              <a:rPr sz="1500" dirty="0">
                <a:latin typeface="Arial MT"/>
                <a:cs typeface="Arial MT"/>
              </a:rPr>
              <a:t>meticulous</a:t>
            </a:r>
            <a:r>
              <a:rPr sz="1500" spc="-7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handling</a:t>
            </a:r>
            <a:r>
              <a:rPr sz="1500" spc="-7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of</a:t>
            </a:r>
            <a:r>
              <a:rPr sz="1500" spc="-7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multiple</a:t>
            </a:r>
            <a:r>
              <a:rPr sz="1500" spc="-7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shared </a:t>
            </a:r>
            <a:r>
              <a:rPr sz="1500" dirty="0">
                <a:latin typeface="Arial MT"/>
                <a:cs typeface="Arial MT"/>
              </a:rPr>
              <a:t>flags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and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conditions.</a:t>
            </a:r>
            <a:endParaRPr sz="1500" dirty="0">
              <a:latin typeface="Arial MT"/>
              <a:cs typeface="Arial MT"/>
            </a:endParaRPr>
          </a:p>
          <a:p>
            <a:pPr marL="542290" indent="-343535">
              <a:lnSpc>
                <a:spcPct val="100000"/>
              </a:lnSpc>
              <a:spcBef>
                <a:spcPts val="270"/>
              </a:spcBef>
              <a:buFont typeface="Arial MT"/>
              <a:buChar char="●"/>
              <a:tabLst>
                <a:tab pos="542290" algn="l"/>
              </a:tabLst>
            </a:pPr>
            <a:r>
              <a:rPr sz="1500" b="1" dirty="0">
                <a:latin typeface="Arial"/>
                <a:cs typeface="Arial"/>
              </a:rPr>
              <a:t>Busy</a:t>
            </a:r>
            <a:r>
              <a:rPr sz="1500" b="1" spc="-60" dirty="0">
                <a:latin typeface="Arial"/>
                <a:cs typeface="Arial"/>
              </a:rPr>
              <a:t> </a:t>
            </a:r>
            <a:r>
              <a:rPr sz="1500" b="1" spc="-10" dirty="0">
                <a:latin typeface="Arial"/>
                <a:cs typeface="Arial"/>
              </a:rPr>
              <a:t>Waiting</a:t>
            </a:r>
            <a:r>
              <a:rPr sz="1500" spc="-10" dirty="0">
                <a:latin typeface="Arial MT"/>
                <a:cs typeface="Arial MT"/>
              </a:rPr>
              <a:t>:</a:t>
            </a:r>
            <a:endParaRPr sz="1500" dirty="0">
              <a:latin typeface="Arial MT"/>
              <a:cs typeface="Arial MT"/>
            </a:endParaRPr>
          </a:p>
          <a:p>
            <a:pPr marL="1000125" marR="356235" lvl="1" indent="-344170">
              <a:lnSpc>
                <a:spcPct val="114999"/>
              </a:lnSpc>
              <a:buChar char="○"/>
              <a:tabLst>
                <a:tab pos="1000125" algn="l"/>
              </a:tabLst>
            </a:pP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algorithm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uses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b="1" dirty="0">
                <a:latin typeface="Arial"/>
                <a:cs typeface="Arial"/>
              </a:rPr>
              <a:t>busy</a:t>
            </a:r>
            <a:r>
              <a:rPr sz="1500" b="1" spc="-40" dirty="0">
                <a:latin typeface="Arial"/>
                <a:cs typeface="Arial"/>
              </a:rPr>
              <a:t> </a:t>
            </a:r>
            <a:r>
              <a:rPr sz="1500" b="1" spc="-10" dirty="0">
                <a:latin typeface="Arial"/>
                <a:cs typeface="Arial"/>
              </a:rPr>
              <a:t>waiting </a:t>
            </a:r>
            <a:r>
              <a:rPr sz="1500" spc="-10" dirty="0">
                <a:latin typeface="Arial MT"/>
                <a:cs typeface="Arial MT"/>
              </a:rPr>
              <a:t>(spinning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in</a:t>
            </a:r>
            <a:r>
              <a:rPr sz="1500" spc="-2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loops</a:t>
            </a:r>
            <a:r>
              <a:rPr sz="1500" spc="-2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to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check</a:t>
            </a:r>
            <a:r>
              <a:rPr sz="1500" spc="-2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conditions), </a:t>
            </a:r>
            <a:r>
              <a:rPr sz="1500" dirty="0">
                <a:latin typeface="Arial MT"/>
                <a:cs typeface="Arial MT"/>
              </a:rPr>
              <a:t>wasting</a:t>
            </a:r>
            <a:r>
              <a:rPr sz="1500" spc="-6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CPU</a:t>
            </a:r>
            <a:r>
              <a:rPr sz="1500" spc="-6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cycles</a:t>
            </a:r>
            <a:r>
              <a:rPr sz="1500" spc="-6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while</a:t>
            </a:r>
            <a:r>
              <a:rPr sz="1500" spc="-6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waiting</a:t>
            </a:r>
            <a:r>
              <a:rPr sz="1500" spc="-65" dirty="0">
                <a:latin typeface="Arial MT"/>
                <a:cs typeface="Arial MT"/>
              </a:rPr>
              <a:t> </a:t>
            </a:r>
            <a:r>
              <a:rPr sz="1500" spc="-25" dirty="0">
                <a:latin typeface="Arial MT"/>
                <a:cs typeface="Arial MT"/>
              </a:rPr>
              <a:t>for </a:t>
            </a:r>
            <a:r>
              <a:rPr sz="1500" dirty="0">
                <a:latin typeface="Arial MT"/>
                <a:cs typeface="Arial MT"/>
              </a:rPr>
              <a:t>access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to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critical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section.</a:t>
            </a:r>
            <a:endParaRPr sz="1500" dirty="0">
              <a:latin typeface="Arial MT"/>
              <a:cs typeface="Arial MT"/>
            </a:endParaRPr>
          </a:p>
          <a:p>
            <a:pPr marL="542290" indent="-343535">
              <a:lnSpc>
                <a:spcPct val="100000"/>
              </a:lnSpc>
              <a:spcBef>
                <a:spcPts val="270"/>
              </a:spcBef>
              <a:buFont typeface="Arial MT"/>
              <a:buChar char="●"/>
              <a:tabLst>
                <a:tab pos="542290" algn="l"/>
              </a:tabLst>
            </a:pPr>
            <a:r>
              <a:rPr sz="1500" b="1" dirty="0">
                <a:latin typeface="Arial"/>
                <a:cs typeface="Arial"/>
              </a:rPr>
              <a:t>Modern</a:t>
            </a:r>
            <a:r>
              <a:rPr sz="1500" b="1" spc="-30" dirty="0">
                <a:latin typeface="Arial"/>
                <a:cs typeface="Arial"/>
              </a:rPr>
              <a:t> </a:t>
            </a:r>
            <a:r>
              <a:rPr sz="1500" b="1" spc="-10" dirty="0">
                <a:latin typeface="Arial"/>
                <a:cs typeface="Arial"/>
              </a:rPr>
              <a:t>Solutions</a:t>
            </a:r>
            <a:r>
              <a:rPr sz="1500" spc="-10" dirty="0">
                <a:latin typeface="Arial MT"/>
                <a:cs typeface="Arial MT"/>
              </a:rPr>
              <a:t>:</a:t>
            </a:r>
            <a:endParaRPr sz="1500" dirty="0">
              <a:latin typeface="Arial MT"/>
              <a:cs typeface="Arial MT"/>
            </a:endParaRPr>
          </a:p>
          <a:p>
            <a:pPr marL="1000125" marR="102235" lvl="1" indent="-344170">
              <a:lnSpc>
                <a:spcPct val="114999"/>
              </a:lnSpc>
              <a:buChar char="○"/>
              <a:tabLst>
                <a:tab pos="1000125" algn="l"/>
              </a:tabLst>
            </a:pPr>
            <a:r>
              <a:rPr sz="1500" dirty="0">
                <a:latin typeface="Arial MT"/>
                <a:cs typeface="Arial MT"/>
              </a:rPr>
              <a:t>Mutexes</a:t>
            </a:r>
            <a:r>
              <a:rPr sz="1500" spc="-6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and</a:t>
            </a:r>
            <a:r>
              <a:rPr sz="1500" spc="-6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semaphores</a:t>
            </a:r>
            <a:r>
              <a:rPr sz="1500" spc="-6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provide </a:t>
            </a:r>
            <a:r>
              <a:rPr sz="1500" dirty="0">
                <a:latin typeface="Arial MT"/>
                <a:cs typeface="Arial MT"/>
              </a:rPr>
              <a:t>blocking</a:t>
            </a:r>
            <a:r>
              <a:rPr sz="1500" spc="-7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mechanisms,</a:t>
            </a:r>
            <a:r>
              <a:rPr sz="1500" spc="-7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allowing</a:t>
            </a:r>
            <a:r>
              <a:rPr sz="1500" spc="-7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threads</a:t>
            </a:r>
            <a:r>
              <a:rPr sz="1500" spc="-70" dirty="0">
                <a:latin typeface="Arial MT"/>
                <a:cs typeface="Arial MT"/>
              </a:rPr>
              <a:t> </a:t>
            </a:r>
            <a:r>
              <a:rPr sz="1500" spc="-25" dirty="0">
                <a:latin typeface="Arial MT"/>
                <a:cs typeface="Arial MT"/>
              </a:rPr>
              <a:t>to </a:t>
            </a:r>
            <a:r>
              <a:rPr sz="1500" dirty="0">
                <a:latin typeface="Arial MT"/>
                <a:cs typeface="Arial MT"/>
              </a:rPr>
              <a:t>sleep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until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access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is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available,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conserving </a:t>
            </a:r>
            <a:r>
              <a:rPr sz="1500" dirty="0">
                <a:latin typeface="Arial MT"/>
                <a:cs typeface="Arial MT"/>
              </a:rPr>
              <a:t>CPU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resources.</a:t>
            </a:r>
            <a:endParaRPr sz="15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066100" y="1979975"/>
            <a:ext cx="3430270" cy="4552315"/>
          </a:xfrm>
          <a:prstGeom prst="rect">
            <a:avLst/>
          </a:prstGeom>
          <a:solidFill>
            <a:srgbClr val="FCE4CD"/>
          </a:solidFill>
          <a:ln w="9524">
            <a:solidFill>
              <a:srgbClr val="000000"/>
            </a:solidFill>
          </a:ln>
        </p:spPr>
        <p:txBody>
          <a:bodyPr vert="horz" wrap="square" lIns="0" tIns="7810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15"/>
              </a:spcBef>
            </a:pPr>
            <a:r>
              <a:rPr sz="1500" b="1" dirty="0">
                <a:latin typeface="Arial"/>
                <a:cs typeface="Arial"/>
              </a:rPr>
              <a:t>Limited</a:t>
            </a:r>
            <a:r>
              <a:rPr sz="1500" b="1" spc="-35" dirty="0">
                <a:latin typeface="Arial"/>
                <a:cs typeface="Arial"/>
              </a:rPr>
              <a:t> </a:t>
            </a:r>
            <a:r>
              <a:rPr sz="1500" b="1" spc="-10" dirty="0">
                <a:latin typeface="Arial"/>
                <a:cs typeface="Arial"/>
              </a:rPr>
              <a:t>Scalability</a:t>
            </a:r>
            <a:endParaRPr sz="1500" dirty="0">
              <a:latin typeface="Arial"/>
              <a:cs typeface="Arial"/>
            </a:endParaRPr>
          </a:p>
          <a:p>
            <a:pPr marL="542290" indent="-343535">
              <a:lnSpc>
                <a:spcPct val="100000"/>
              </a:lnSpc>
              <a:spcBef>
                <a:spcPts val="1470"/>
              </a:spcBef>
              <a:buFont typeface="Arial MT"/>
              <a:buChar char="●"/>
              <a:tabLst>
                <a:tab pos="542290" algn="l"/>
              </a:tabLst>
            </a:pPr>
            <a:r>
              <a:rPr sz="1500" b="1" spc="-40" dirty="0">
                <a:latin typeface="Arial"/>
                <a:cs typeface="Arial"/>
              </a:rPr>
              <a:t>Two-</a:t>
            </a:r>
            <a:r>
              <a:rPr sz="1500" b="1" dirty="0">
                <a:latin typeface="Arial"/>
                <a:cs typeface="Arial"/>
              </a:rPr>
              <a:t>Thread </a:t>
            </a:r>
            <a:r>
              <a:rPr sz="1500" b="1" spc="-10" dirty="0">
                <a:latin typeface="Arial"/>
                <a:cs typeface="Arial"/>
              </a:rPr>
              <a:t>Limit</a:t>
            </a:r>
            <a:r>
              <a:rPr sz="1500" spc="-10" dirty="0">
                <a:latin typeface="Arial MT"/>
                <a:cs typeface="Arial MT"/>
              </a:rPr>
              <a:t>:</a:t>
            </a:r>
            <a:endParaRPr sz="1500" dirty="0">
              <a:latin typeface="Arial MT"/>
              <a:cs typeface="Arial MT"/>
            </a:endParaRPr>
          </a:p>
          <a:p>
            <a:pPr marL="1000125" marR="422909" lvl="1" indent="-344170">
              <a:lnSpc>
                <a:spcPct val="114999"/>
              </a:lnSpc>
              <a:buChar char="○"/>
              <a:tabLst>
                <a:tab pos="1000125" algn="l"/>
              </a:tabLst>
            </a:pPr>
            <a:r>
              <a:rPr sz="1500" spc="-10" dirty="0">
                <a:latin typeface="Arial MT"/>
                <a:cs typeface="Arial MT"/>
              </a:rPr>
              <a:t>Dekker's</a:t>
            </a:r>
            <a:r>
              <a:rPr sz="1500" spc="-9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Algorithm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spc="-20" dirty="0">
                <a:latin typeface="Arial MT"/>
                <a:cs typeface="Arial MT"/>
              </a:rPr>
              <a:t>only </a:t>
            </a:r>
            <a:r>
              <a:rPr sz="1500" dirty="0">
                <a:latin typeface="Arial MT"/>
                <a:cs typeface="Arial MT"/>
              </a:rPr>
              <a:t>works</a:t>
            </a:r>
            <a:r>
              <a:rPr sz="1500" spc="-2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for</a:t>
            </a:r>
            <a:r>
              <a:rPr sz="1500" spc="-15" dirty="0">
                <a:latin typeface="Arial MT"/>
                <a:cs typeface="Arial MT"/>
              </a:rPr>
              <a:t> </a:t>
            </a:r>
            <a:r>
              <a:rPr sz="1500" b="1" dirty="0">
                <a:latin typeface="Arial"/>
                <a:cs typeface="Arial"/>
              </a:rPr>
              <a:t>two</a:t>
            </a:r>
            <a:r>
              <a:rPr sz="1500" b="1" spc="-20" dirty="0">
                <a:latin typeface="Arial"/>
                <a:cs typeface="Arial"/>
              </a:rPr>
              <a:t> </a:t>
            </a:r>
            <a:r>
              <a:rPr sz="1500" b="1" spc="-10" dirty="0">
                <a:latin typeface="Arial"/>
                <a:cs typeface="Arial"/>
              </a:rPr>
              <a:t>threads</a:t>
            </a:r>
            <a:r>
              <a:rPr sz="1500" spc="-10" dirty="0">
                <a:latin typeface="Arial MT"/>
                <a:cs typeface="Arial MT"/>
              </a:rPr>
              <a:t>. Extending</a:t>
            </a:r>
            <a:r>
              <a:rPr sz="1500" spc="-1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it</a:t>
            </a:r>
            <a:r>
              <a:rPr sz="1500" spc="-1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to</a:t>
            </a:r>
            <a:r>
              <a:rPr sz="1500" spc="-15" dirty="0">
                <a:latin typeface="Arial MT"/>
                <a:cs typeface="Arial MT"/>
              </a:rPr>
              <a:t> </a:t>
            </a:r>
            <a:r>
              <a:rPr sz="1500" spc="-20" dirty="0">
                <a:latin typeface="Arial MT"/>
                <a:cs typeface="Arial MT"/>
              </a:rPr>
              <a:t>more </a:t>
            </a:r>
            <a:r>
              <a:rPr sz="1500" dirty="0">
                <a:latin typeface="Arial MT"/>
                <a:cs typeface="Arial MT"/>
              </a:rPr>
              <a:t>threads</a:t>
            </a:r>
            <a:r>
              <a:rPr sz="1500" spc="-6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significantly </a:t>
            </a:r>
            <a:r>
              <a:rPr sz="1500" dirty="0">
                <a:latin typeface="Arial MT"/>
                <a:cs typeface="Arial MT"/>
              </a:rPr>
              <a:t>increases</a:t>
            </a:r>
            <a:r>
              <a:rPr sz="1500" spc="-7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complexity, </a:t>
            </a:r>
            <a:r>
              <a:rPr sz="1500" dirty="0">
                <a:latin typeface="Arial MT"/>
                <a:cs typeface="Arial MT"/>
              </a:rPr>
              <a:t>making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it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impractical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spc="-25" dirty="0">
                <a:latin typeface="Arial MT"/>
                <a:cs typeface="Arial MT"/>
              </a:rPr>
              <a:t>for </a:t>
            </a:r>
            <a:r>
              <a:rPr sz="1500" spc="-20" dirty="0">
                <a:latin typeface="Arial MT"/>
                <a:cs typeface="Arial MT"/>
              </a:rPr>
              <a:t>multi-</a:t>
            </a:r>
            <a:r>
              <a:rPr sz="1500" spc="-10" dirty="0">
                <a:latin typeface="Arial MT"/>
                <a:cs typeface="Arial MT"/>
              </a:rPr>
              <a:t>threaded environments.</a:t>
            </a:r>
            <a:endParaRPr sz="1500" dirty="0">
              <a:latin typeface="Arial MT"/>
              <a:cs typeface="Arial MT"/>
            </a:endParaRPr>
          </a:p>
          <a:p>
            <a:pPr marL="542290" indent="-343535">
              <a:lnSpc>
                <a:spcPct val="100000"/>
              </a:lnSpc>
              <a:spcBef>
                <a:spcPts val="270"/>
              </a:spcBef>
              <a:buFont typeface="Arial MT"/>
              <a:buChar char="●"/>
              <a:tabLst>
                <a:tab pos="542290" algn="l"/>
              </a:tabLst>
            </a:pPr>
            <a:r>
              <a:rPr sz="1500" b="1" dirty="0">
                <a:latin typeface="Arial"/>
                <a:cs typeface="Arial"/>
              </a:rPr>
              <a:t>Modern</a:t>
            </a:r>
            <a:r>
              <a:rPr sz="1500" b="1" spc="-30" dirty="0">
                <a:latin typeface="Arial"/>
                <a:cs typeface="Arial"/>
              </a:rPr>
              <a:t> </a:t>
            </a:r>
            <a:r>
              <a:rPr sz="1500" b="1" spc="-10" dirty="0">
                <a:latin typeface="Arial"/>
                <a:cs typeface="Arial"/>
              </a:rPr>
              <a:t>Solutions</a:t>
            </a:r>
            <a:r>
              <a:rPr sz="1500" spc="-10" dirty="0">
                <a:latin typeface="Arial MT"/>
                <a:cs typeface="Arial MT"/>
              </a:rPr>
              <a:t>:</a:t>
            </a:r>
            <a:endParaRPr sz="1500" dirty="0">
              <a:latin typeface="Arial MT"/>
              <a:cs typeface="Arial MT"/>
            </a:endParaRPr>
          </a:p>
          <a:p>
            <a:pPr marL="1000125" marR="274955" lvl="1" indent="-344170">
              <a:lnSpc>
                <a:spcPct val="114999"/>
              </a:lnSpc>
              <a:buChar char="○"/>
              <a:tabLst>
                <a:tab pos="1000125" algn="l"/>
              </a:tabLst>
            </a:pPr>
            <a:r>
              <a:rPr sz="1500" dirty="0">
                <a:latin typeface="Arial MT"/>
                <a:cs typeface="Arial MT"/>
              </a:rPr>
              <a:t>Mutexes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and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spc="-20" dirty="0">
                <a:latin typeface="Arial MT"/>
                <a:cs typeface="Arial MT"/>
              </a:rPr>
              <a:t>more </a:t>
            </a:r>
            <a:r>
              <a:rPr sz="1500" spc="-10" dirty="0">
                <a:latin typeface="Arial MT"/>
                <a:cs typeface="Arial MT"/>
              </a:rPr>
              <a:t>advanced</a:t>
            </a:r>
            <a:r>
              <a:rPr sz="1500" spc="-2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algorithms,</a:t>
            </a:r>
            <a:r>
              <a:rPr sz="1500" spc="-20" dirty="0">
                <a:latin typeface="Arial MT"/>
                <a:cs typeface="Arial MT"/>
              </a:rPr>
              <a:t> like </a:t>
            </a:r>
            <a:r>
              <a:rPr sz="1500" spc="-10" dirty="0">
                <a:latin typeface="Arial MT"/>
                <a:cs typeface="Arial MT"/>
              </a:rPr>
              <a:t>Peterson's</a:t>
            </a:r>
            <a:r>
              <a:rPr sz="1500" spc="-9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Algorithm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spc="-25" dirty="0">
                <a:latin typeface="Arial MT"/>
                <a:cs typeface="Arial MT"/>
              </a:rPr>
              <a:t>or </a:t>
            </a:r>
            <a:r>
              <a:rPr sz="1500" spc="-10" dirty="0">
                <a:latin typeface="Arial MT"/>
                <a:cs typeface="Arial MT"/>
              </a:rPr>
              <a:t>semaphores,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scale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better </a:t>
            </a:r>
            <a:r>
              <a:rPr sz="1500" dirty="0">
                <a:latin typeface="Arial MT"/>
                <a:cs typeface="Arial MT"/>
              </a:rPr>
              <a:t>to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multiple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threads.</a:t>
            </a:r>
            <a:endParaRPr sz="1500" dirty="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606874" y="1979975"/>
            <a:ext cx="3430270" cy="4552315"/>
          </a:xfrm>
          <a:prstGeom prst="rect">
            <a:avLst/>
          </a:prstGeom>
          <a:solidFill>
            <a:srgbClr val="FCE4CD"/>
          </a:solidFill>
          <a:ln w="9524">
            <a:solidFill>
              <a:srgbClr val="000000"/>
            </a:solidFill>
          </a:ln>
        </p:spPr>
        <p:txBody>
          <a:bodyPr vert="horz" wrap="square" lIns="0" tIns="78105" rIns="0" bIns="0" rtlCol="0">
            <a:spAutoFit/>
          </a:bodyPr>
          <a:lstStyle/>
          <a:p>
            <a:pPr marL="138430">
              <a:lnSpc>
                <a:spcPct val="100000"/>
              </a:lnSpc>
              <a:spcBef>
                <a:spcPts val="615"/>
              </a:spcBef>
            </a:pPr>
            <a:r>
              <a:rPr lang="en-US" sz="1500" b="1" dirty="0">
                <a:latin typeface="Arial"/>
                <a:cs typeface="Arial"/>
              </a:rPr>
              <a:t>Lack</a:t>
            </a:r>
            <a:r>
              <a:rPr lang="en-US" sz="1500" b="1" spc="-30" dirty="0">
                <a:latin typeface="Arial"/>
                <a:cs typeface="Arial"/>
              </a:rPr>
              <a:t> </a:t>
            </a:r>
            <a:r>
              <a:rPr lang="en-US" sz="1500" b="1" dirty="0">
                <a:latin typeface="Arial"/>
                <a:cs typeface="Arial"/>
              </a:rPr>
              <a:t>of</a:t>
            </a:r>
            <a:r>
              <a:rPr lang="en-US" sz="1500" b="1" spc="-30" dirty="0">
                <a:latin typeface="Arial"/>
                <a:cs typeface="Arial"/>
              </a:rPr>
              <a:t> </a:t>
            </a:r>
            <a:r>
              <a:rPr lang="en-US" sz="1500" b="1" spc="-10" dirty="0">
                <a:latin typeface="Arial"/>
                <a:cs typeface="Arial"/>
              </a:rPr>
              <a:t>Fairness</a:t>
            </a:r>
            <a:endParaRPr lang="en-US" sz="1500" dirty="0">
              <a:latin typeface="Arial"/>
              <a:cs typeface="Arial"/>
            </a:endParaRPr>
          </a:p>
          <a:p>
            <a:pPr marL="542290" indent="-343535">
              <a:lnSpc>
                <a:spcPct val="100000"/>
              </a:lnSpc>
              <a:spcBef>
                <a:spcPts val="1470"/>
              </a:spcBef>
              <a:buFont typeface="Arial MT"/>
              <a:buChar char="●"/>
              <a:tabLst>
                <a:tab pos="542290" algn="l"/>
              </a:tabLst>
            </a:pPr>
            <a:r>
              <a:rPr lang="en-US" sz="1500" b="1" spc="-10" dirty="0">
                <a:latin typeface="Arial"/>
                <a:cs typeface="Arial"/>
              </a:rPr>
              <a:t>Starvation</a:t>
            </a:r>
            <a:r>
              <a:rPr lang="en-US" sz="1500" b="1" spc="-25" dirty="0">
                <a:latin typeface="Arial"/>
                <a:cs typeface="Arial"/>
              </a:rPr>
              <a:t> </a:t>
            </a:r>
            <a:r>
              <a:rPr lang="en-US" sz="1500" b="1" spc="-20" dirty="0">
                <a:latin typeface="Arial"/>
                <a:cs typeface="Arial"/>
              </a:rPr>
              <a:t>Risk</a:t>
            </a:r>
            <a:r>
              <a:rPr lang="en-US" sz="1500" spc="-20" dirty="0">
                <a:latin typeface="Arial MT"/>
                <a:cs typeface="Arial MT"/>
              </a:rPr>
              <a:t>:</a:t>
            </a:r>
            <a:endParaRPr lang="en-US" sz="1500" dirty="0">
              <a:latin typeface="Arial MT"/>
              <a:cs typeface="Arial MT"/>
            </a:endParaRPr>
          </a:p>
          <a:p>
            <a:pPr marL="1000125" marR="222250" lvl="1" indent="-344170">
              <a:lnSpc>
                <a:spcPct val="114999"/>
              </a:lnSpc>
              <a:buChar char="○"/>
              <a:tabLst>
                <a:tab pos="1000125" algn="l"/>
              </a:tabLst>
            </a:pPr>
            <a:r>
              <a:rPr lang="en-US" sz="1500" spc="-10" dirty="0">
                <a:latin typeface="Arial MT"/>
                <a:cs typeface="Arial MT"/>
              </a:rPr>
              <a:t>Dekker’s</a:t>
            </a:r>
            <a:r>
              <a:rPr lang="en-US" sz="1500" spc="-95" dirty="0">
                <a:latin typeface="Arial MT"/>
                <a:cs typeface="Arial MT"/>
              </a:rPr>
              <a:t> </a:t>
            </a:r>
            <a:r>
              <a:rPr lang="en-US" sz="1500" dirty="0">
                <a:latin typeface="Arial MT"/>
                <a:cs typeface="Arial MT"/>
              </a:rPr>
              <a:t>Algorithm</a:t>
            </a:r>
            <a:r>
              <a:rPr lang="en-US" sz="1500" spc="-10" dirty="0">
                <a:latin typeface="Arial MT"/>
                <a:cs typeface="Arial MT"/>
              </a:rPr>
              <a:t> </a:t>
            </a:r>
            <a:r>
              <a:rPr lang="en-US" sz="1500" spc="-20" dirty="0">
                <a:latin typeface="Arial MT"/>
                <a:cs typeface="Arial MT"/>
              </a:rPr>
              <a:t>does </a:t>
            </a:r>
            <a:r>
              <a:rPr lang="en-US" sz="1500" dirty="0">
                <a:latin typeface="Arial MT"/>
                <a:cs typeface="Arial MT"/>
              </a:rPr>
              <a:t>not</a:t>
            </a:r>
            <a:r>
              <a:rPr lang="en-US" sz="1500" spc="-55" dirty="0">
                <a:latin typeface="Arial MT"/>
                <a:cs typeface="Arial MT"/>
              </a:rPr>
              <a:t> </a:t>
            </a:r>
            <a:r>
              <a:rPr lang="en-US" sz="1500" spc="-10" dirty="0">
                <a:latin typeface="Arial MT"/>
                <a:cs typeface="Arial MT"/>
              </a:rPr>
              <a:t>guarantee</a:t>
            </a:r>
            <a:r>
              <a:rPr lang="en-US" sz="1500" spc="-55" dirty="0">
                <a:latin typeface="Arial MT"/>
                <a:cs typeface="Arial MT"/>
              </a:rPr>
              <a:t> </a:t>
            </a:r>
            <a:r>
              <a:rPr lang="en-US" sz="1500" dirty="0">
                <a:latin typeface="Arial MT"/>
                <a:cs typeface="Arial MT"/>
              </a:rPr>
              <a:t>fairness,</a:t>
            </a:r>
            <a:r>
              <a:rPr lang="en-US" sz="1500" spc="-55" dirty="0">
                <a:latin typeface="Arial MT"/>
                <a:cs typeface="Arial MT"/>
              </a:rPr>
              <a:t> </a:t>
            </a:r>
            <a:r>
              <a:rPr lang="en-US" sz="1500" spc="-25" dirty="0">
                <a:latin typeface="Arial MT"/>
                <a:cs typeface="Arial MT"/>
              </a:rPr>
              <a:t>as </a:t>
            </a:r>
            <a:r>
              <a:rPr lang="en-US" sz="1500" dirty="0">
                <a:latin typeface="Arial MT"/>
                <a:cs typeface="Arial MT"/>
              </a:rPr>
              <a:t>one</a:t>
            </a:r>
            <a:r>
              <a:rPr lang="en-US" sz="1500" spc="-50" dirty="0">
                <a:latin typeface="Arial MT"/>
                <a:cs typeface="Arial MT"/>
              </a:rPr>
              <a:t> </a:t>
            </a:r>
            <a:r>
              <a:rPr lang="en-US" sz="1500" dirty="0">
                <a:latin typeface="Arial MT"/>
                <a:cs typeface="Arial MT"/>
              </a:rPr>
              <a:t>thread</a:t>
            </a:r>
            <a:r>
              <a:rPr lang="en-US" sz="1500" spc="-50" dirty="0">
                <a:latin typeface="Arial MT"/>
                <a:cs typeface="Arial MT"/>
              </a:rPr>
              <a:t> </a:t>
            </a:r>
            <a:r>
              <a:rPr lang="en-US" sz="1500" dirty="0">
                <a:latin typeface="Arial MT"/>
                <a:cs typeface="Arial MT"/>
              </a:rPr>
              <a:t>may</a:t>
            </a:r>
            <a:r>
              <a:rPr lang="en-US" sz="1500" spc="-50" dirty="0">
                <a:latin typeface="Arial MT"/>
                <a:cs typeface="Arial MT"/>
              </a:rPr>
              <a:t> </a:t>
            </a:r>
            <a:r>
              <a:rPr lang="en-US" sz="1500" spc="-10" dirty="0">
                <a:latin typeface="Arial MT"/>
                <a:cs typeface="Arial MT"/>
              </a:rPr>
              <a:t>dominate </a:t>
            </a:r>
            <a:r>
              <a:rPr lang="en-US" sz="1500" dirty="0">
                <a:latin typeface="Arial MT"/>
                <a:cs typeface="Arial MT"/>
              </a:rPr>
              <a:t>access</a:t>
            </a:r>
            <a:r>
              <a:rPr lang="en-US" sz="1500" spc="-35" dirty="0">
                <a:latin typeface="Arial MT"/>
                <a:cs typeface="Arial MT"/>
              </a:rPr>
              <a:t> </a:t>
            </a:r>
            <a:r>
              <a:rPr lang="en-US" sz="1500" dirty="0">
                <a:latin typeface="Arial MT"/>
                <a:cs typeface="Arial MT"/>
              </a:rPr>
              <a:t>to</a:t>
            </a:r>
            <a:r>
              <a:rPr lang="en-US" sz="1500" spc="-35" dirty="0">
                <a:latin typeface="Arial MT"/>
                <a:cs typeface="Arial MT"/>
              </a:rPr>
              <a:t> </a:t>
            </a:r>
            <a:r>
              <a:rPr lang="en-US" sz="1500" dirty="0">
                <a:latin typeface="Arial MT"/>
                <a:cs typeface="Arial MT"/>
              </a:rPr>
              <a:t>the</a:t>
            </a:r>
            <a:r>
              <a:rPr lang="en-US" sz="1500" spc="-30" dirty="0">
                <a:latin typeface="Arial MT"/>
                <a:cs typeface="Arial MT"/>
              </a:rPr>
              <a:t> </a:t>
            </a:r>
            <a:r>
              <a:rPr lang="en-US" sz="1500" spc="-10" dirty="0">
                <a:latin typeface="Arial MT"/>
                <a:cs typeface="Arial MT"/>
              </a:rPr>
              <a:t>critical </a:t>
            </a:r>
            <a:r>
              <a:rPr lang="en-US" sz="1500" dirty="0">
                <a:latin typeface="Arial MT"/>
                <a:cs typeface="Arial MT"/>
              </a:rPr>
              <a:t>section</a:t>
            </a:r>
            <a:r>
              <a:rPr lang="en-US" sz="1500" spc="-65" dirty="0">
                <a:latin typeface="Arial MT"/>
                <a:cs typeface="Arial MT"/>
              </a:rPr>
              <a:t> </a:t>
            </a:r>
            <a:r>
              <a:rPr lang="en-US" sz="1500" dirty="0">
                <a:latin typeface="Arial MT"/>
                <a:cs typeface="Arial MT"/>
              </a:rPr>
              <a:t>under</a:t>
            </a:r>
            <a:r>
              <a:rPr lang="en-US" sz="1500" spc="-65" dirty="0">
                <a:latin typeface="Arial MT"/>
                <a:cs typeface="Arial MT"/>
              </a:rPr>
              <a:t> </a:t>
            </a:r>
            <a:r>
              <a:rPr lang="en-US" sz="1500" spc="-10" dirty="0">
                <a:latin typeface="Arial MT"/>
                <a:cs typeface="Arial MT"/>
              </a:rPr>
              <a:t>certain conditions,</a:t>
            </a:r>
            <a:r>
              <a:rPr lang="en-US" sz="1500" spc="-55" dirty="0">
                <a:latin typeface="Arial MT"/>
                <a:cs typeface="Arial MT"/>
              </a:rPr>
              <a:t> </a:t>
            </a:r>
            <a:r>
              <a:rPr lang="en-US" sz="1500" dirty="0">
                <a:latin typeface="Arial MT"/>
                <a:cs typeface="Arial MT"/>
              </a:rPr>
              <a:t>causing</a:t>
            </a:r>
            <a:r>
              <a:rPr lang="en-US" sz="1500" spc="-50" dirty="0">
                <a:latin typeface="Arial MT"/>
                <a:cs typeface="Arial MT"/>
              </a:rPr>
              <a:t> </a:t>
            </a:r>
            <a:r>
              <a:rPr lang="en-US" sz="1500" spc="-25" dirty="0">
                <a:latin typeface="Arial MT"/>
                <a:cs typeface="Arial MT"/>
              </a:rPr>
              <a:t>the </a:t>
            </a:r>
            <a:r>
              <a:rPr lang="en-US" sz="1500" dirty="0">
                <a:latin typeface="Arial MT"/>
                <a:cs typeface="Arial MT"/>
              </a:rPr>
              <a:t>other</a:t>
            </a:r>
            <a:r>
              <a:rPr lang="en-US" sz="1500" spc="-25" dirty="0">
                <a:latin typeface="Arial MT"/>
                <a:cs typeface="Arial MT"/>
              </a:rPr>
              <a:t> </a:t>
            </a:r>
            <a:r>
              <a:rPr lang="en-US" sz="1500" dirty="0">
                <a:latin typeface="Arial MT"/>
                <a:cs typeface="Arial MT"/>
              </a:rPr>
              <a:t>to</a:t>
            </a:r>
            <a:r>
              <a:rPr lang="en-US" sz="1500" spc="-25" dirty="0">
                <a:latin typeface="Arial MT"/>
                <a:cs typeface="Arial MT"/>
              </a:rPr>
              <a:t> </a:t>
            </a:r>
            <a:r>
              <a:rPr lang="en-US" sz="1500" spc="-10" dirty="0">
                <a:latin typeface="Arial MT"/>
                <a:cs typeface="Arial MT"/>
              </a:rPr>
              <a:t>starve.</a:t>
            </a:r>
            <a:endParaRPr lang="en-US" sz="1500" dirty="0">
              <a:latin typeface="Arial MT"/>
              <a:cs typeface="Arial MT"/>
            </a:endParaRPr>
          </a:p>
          <a:p>
            <a:pPr marL="542290" indent="-343535">
              <a:lnSpc>
                <a:spcPct val="100000"/>
              </a:lnSpc>
              <a:spcBef>
                <a:spcPts val="270"/>
              </a:spcBef>
              <a:buFont typeface="Arial MT"/>
              <a:buChar char="●"/>
              <a:tabLst>
                <a:tab pos="542290" algn="l"/>
              </a:tabLst>
            </a:pPr>
            <a:r>
              <a:rPr lang="en-US" sz="1500" b="1" dirty="0">
                <a:latin typeface="Arial"/>
                <a:cs typeface="Arial"/>
              </a:rPr>
              <a:t>Modern</a:t>
            </a:r>
            <a:r>
              <a:rPr lang="en-US" sz="1500" b="1" spc="-30" dirty="0">
                <a:latin typeface="Arial"/>
                <a:cs typeface="Arial"/>
              </a:rPr>
              <a:t> </a:t>
            </a:r>
            <a:r>
              <a:rPr lang="en-US" sz="1500" b="1" spc="-10" dirty="0">
                <a:latin typeface="Arial"/>
                <a:cs typeface="Arial"/>
              </a:rPr>
              <a:t>Solutions</a:t>
            </a:r>
            <a:r>
              <a:rPr lang="en-US" sz="1500" spc="-10" dirty="0">
                <a:latin typeface="Arial MT"/>
                <a:cs typeface="Arial MT"/>
              </a:rPr>
              <a:t>:</a:t>
            </a:r>
            <a:endParaRPr lang="en-US" sz="1500" dirty="0">
              <a:latin typeface="Arial MT"/>
              <a:cs typeface="Arial MT"/>
            </a:endParaRPr>
          </a:p>
          <a:p>
            <a:pPr marL="1000125" marR="241935" lvl="1" indent="-344170">
              <a:lnSpc>
                <a:spcPct val="114999"/>
              </a:lnSpc>
              <a:buChar char="○"/>
              <a:tabLst>
                <a:tab pos="1000125" algn="l"/>
              </a:tabLst>
            </a:pPr>
            <a:r>
              <a:rPr lang="en-US" sz="1500" dirty="0">
                <a:latin typeface="Arial MT"/>
                <a:cs typeface="Arial MT"/>
              </a:rPr>
              <a:t>Many</a:t>
            </a:r>
            <a:r>
              <a:rPr lang="en-US" sz="1500" spc="-45" dirty="0">
                <a:latin typeface="Arial MT"/>
                <a:cs typeface="Arial MT"/>
              </a:rPr>
              <a:t> </a:t>
            </a:r>
            <a:r>
              <a:rPr lang="en-US" sz="1500" spc="-10" dirty="0">
                <a:latin typeface="Arial MT"/>
                <a:cs typeface="Arial MT"/>
              </a:rPr>
              <a:t>modern synchronization</a:t>
            </a:r>
            <a:r>
              <a:rPr lang="en-US" sz="1500" spc="-30" dirty="0">
                <a:latin typeface="Arial MT"/>
                <a:cs typeface="Arial MT"/>
              </a:rPr>
              <a:t> </a:t>
            </a:r>
            <a:r>
              <a:rPr lang="en-US" sz="1500" spc="-10" dirty="0">
                <a:latin typeface="Arial MT"/>
                <a:cs typeface="Arial MT"/>
              </a:rPr>
              <a:t>primitives </a:t>
            </a:r>
            <a:r>
              <a:rPr lang="en-US" sz="1500" dirty="0">
                <a:latin typeface="Arial MT"/>
                <a:cs typeface="Arial MT"/>
              </a:rPr>
              <a:t>ensure</a:t>
            </a:r>
            <a:r>
              <a:rPr lang="en-US" sz="1500" spc="-55" dirty="0">
                <a:latin typeface="Arial MT"/>
                <a:cs typeface="Arial MT"/>
              </a:rPr>
              <a:t> </a:t>
            </a:r>
            <a:r>
              <a:rPr lang="en-US" sz="1500" dirty="0">
                <a:latin typeface="Arial MT"/>
                <a:cs typeface="Arial MT"/>
              </a:rPr>
              <a:t>fairness</a:t>
            </a:r>
            <a:r>
              <a:rPr lang="en-US" sz="1500" spc="-50" dirty="0">
                <a:latin typeface="Arial MT"/>
                <a:cs typeface="Arial MT"/>
              </a:rPr>
              <a:t> </a:t>
            </a:r>
            <a:r>
              <a:rPr lang="en-US" sz="1500" dirty="0">
                <a:latin typeface="Arial MT"/>
                <a:cs typeface="Arial MT"/>
              </a:rPr>
              <a:t>by</a:t>
            </a:r>
            <a:r>
              <a:rPr lang="en-US" sz="1500" spc="-50" dirty="0">
                <a:latin typeface="Arial MT"/>
                <a:cs typeface="Arial MT"/>
              </a:rPr>
              <a:t> </a:t>
            </a:r>
            <a:r>
              <a:rPr lang="en-US" sz="1500" spc="-10" dirty="0">
                <a:latin typeface="Arial MT"/>
                <a:cs typeface="Arial MT"/>
              </a:rPr>
              <a:t>using </a:t>
            </a:r>
            <a:r>
              <a:rPr lang="en-US" sz="1500" dirty="0">
                <a:latin typeface="Arial MT"/>
                <a:cs typeface="Arial MT"/>
              </a:rPr>
              <a:t>mechanisms</a:t>
            </a:r>
            <a:r>
              <a:rPr lang="en-US" sz="1500" spc="-70" dirty="0">
                <a:latin typeface="Arial MT"/>
                <a:cs typeface="Arial MT"/>
              </a:rPr>
              <a:t> </a:t>
            </a:r>
            <a:r>
              <a:rPr lang="en-US" sz="1500" dirty="0">
                <a:latin typeface="Arial MT"/>
                <a:cs typeface="Arial MT"/>
              </a:rPr>
              <a:t>like</a:t>
            </a:r>
            <a:r>
              <a:rPr lang="en-US" sz="1500" spc="-60" dirty="0">
                <a:latin typeface="Arial MT"/>
                <a:cs typeface="Arial MT"/>
              </a:rPr>
              <a:t> </a:t>
            </a:r>
            <a:r>
              <a:rPr lang="en-US" sz="1500" b="1" spc="-10" dirty="0">
                <a:latin typeface="Arial"/>
                <a:cs typeface="Arial"/>
              </a:rPr>
              <a:t>priority </a:t>
            </a:r>
            <a:r>
              <a:rPr lang="en-US" sz="1500" b="1" dirty="0">
                <a:latin typeface="Arial"/>
                <a:cs typeface="Arial"/>
              </a:rPr>
              <a:t>queues</a:t>
            </a:r>
            <a:r>
              <a:rPr lang="en-US" sz="1500" b="1" spc="-10" dirty="0">
                <a:latin typeface="Arial"/>
                <a:cs typeface="Arial"/>
              </a:rPr>
              <a:t> </a:t>
            </a:r>
            <a:r>
              <a:rPr lang="en-US" sz="1500" dirty="0">
                <a:latin typeface="Arial MT"/>
                <a:cs typeface="Arial MT"/>
              </a:rPr>
              <a:t>or</a:t>
            </a:r>
            <a:r>
              <a:rPr lang="en-US" sz="1500" spc="-5" dirty="0">
                <a:latin typeface="Arial MT"/>
                <a:cs typeface="Arial MT"/>
              </a:rPr>
              <a:t> </a:t>
            </a:r>
            <a:r>
              <a:rPr lang="en-US" sz="1500" b="1" spc="-10" dirty="0">
                <a:latin typeface="Arial"/>
                <a:cs typeface="Arial"/>
              </a:rPr>
              <a:t>round-robin scheduling</a:t>
            </a:r>
            <a:r>
              <a:rPr lang="en-US" sz="1500" spc="-10" dirty="0">
                <a:latin typeface="Arial MT"/>
                <a:cs typeface="Arial MT"/>
              </a:rPr>
              <a:t>.</a:t>
            </a:r>
            <a:endParaRPr lang="en-US" sz="15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5958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Why</a:t>
            </a:r>
            <a:r>
              <a:rPr spc="-75" dirty="0"/>
              <a:t> </a:t>
            </a:r>
            <a:r>
              <a:rPr dirty="0"/>
              <a:t>Dekker</a:t>
            </a:r>
            <a:r>
              <a:rPr spc="-70" dirty="0"/>
              <a:t> </a:t>
            </a:r>
            <a:r>
              <a:rPr dirty="0"/>
              <a:t>Fails</a:t>
            </a:r>
            <a:r>
              <a:rPr spc="-75" dirty="0"/>
              <a:t> </a:t>
            </a:r>
            <a:r>
              <a:rPr dirty="0"/>
              <a:t>on</a:t>
            </a:r>
            <a:r>
              <a:rPr spc="-70" dirty="0"/>
              <a:t> </a:t>
            </a:r>
            <a:r>
              <a:rPr dirty="0"/>
              <a:t>Modern</a:t>
            </a:r>
            <a:r>
              <a:rPr spc="-70" dirty="0"/>
              <a:t> </a:t>
            </a:r>
            <a:r>
              <a:rPr spc="-10" dirty="0"/>
              <a:t>Systems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22875" y="2125174"/>
            <a:ext cx="5048250" cy="4120515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34925" rIns="0" bIns="0" rtlCol="0">
            <a:spAutoFit/>
          </a:bodyPr>
          <a:lstStyle/>
          <a:p>
            <a:pPr marL="85090" marR="868044">
              <a:lnSpc>
                <a:spcPct val="114999"/>
              </a:lnSpc>
              <a:spcBef>
                <a:spcPts val="275"/>
              </a:spcBef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Modern</a:t>
            </a:r>
            <a:r>
              <a:rPr sz="1800" b="1" spc="-5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compilers</a:t>
            </a:r>
            <a:r>
              <a:rPr sz="1800" b="1" spc="-4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and</a:t>
            </a:r>
            <a:r>
              <a:rPr sz="1800" b="1" spc="-4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CPUs</a:t>
            </a:r>
            <a:r>
              <a:rPr sz="1800" b="1" spc="-4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reorder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instructions</a:t>
            </a:r>
            <a:r>
              <a:rPr sz="1800" b="1" spc="-4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to</a:t>
            </a:r>
            <a:r>
              <a:rPr sz="1800" b="1" spc="-4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optimize</a:t>
            </a:r>
            <a:r>
              <a:rPr sz="1800" b="1" spc="-4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performance.</a:t>
            </a:r>
            <a:endParaRPr sz="1800" dirty="0">
              <a:latin typeface="Arial"/>
              <a:cs typeface="Arial"/>
            </a:endParaRPr>
          </a:p>
          <a:p>
            <a:pPr marL="542925" marR="117475" indent="-367030">
              <a:lnSpc>
                <a:spcPct val="114999"/>
              </a:lnSpc>
              <a:spcBef>
                <a:spcPts val="1205"/>
              </a:spcBef>
              <a:buFont typeface="Arial MT"/>
              <a:buChar char="●"/>
              <a:tabLst>
                <a:tab pos="542925" algn="l"/>
              </a:tabLst>
            </a:pPr>
            <a:r>
              <a:rPr sz="1800" b="1" dirty="0">
                <a:latin typeface="Arial"/>
                <a:cs typeface="Arial"/>
              </a:rPr>
              <a:t>Compilers</a:t>
            </a:r>
            <a:r>
              <a:rPr sz="1800" b="1" spc="-3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often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reorder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instructions </a:t>
            </a:r>
            <a:r>
              <a:rPr sz="1800" dirty="0">
                <a:latin typeface="Arial MT"/>
                <a:cs typeface="Arial MT"/>
              </a:rPr>
              <a:t>during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optimization.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If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compiler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believes </a:t>
            </a:r>
            <a:r>
              <a:rPr sz="1800" dirty="0">
                <a:latin typeface="Arial MT"/>
                <a:cs typeface="Arial MT"/>
              </a:rPr>
              <a:t>two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instructions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don’t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depend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each </a:t>
            </a:r>
            <a:r>
              <a:rPr sz="1800" dirty="0">
                <a:latin typeface="Arial MT"/>
                <a:cs typeface="Arial MT"/>
              </a:rPr>
              <a:t>other,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may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swap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them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improve performance.</a:t>
            </a:r>
            <a:endParaRPr sz="18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09"/>
              </a:spcBef>
              <a:buFont typeface="Arial MT"/>
              <a:buChar char="●"/>
            </a:pPr>
            <a:endParaRPr sz="1800" dirty="0">
              <a:latin typeface="Arial MT"/>
              <a:cs typeface="Arial MT"/>
            </a:endParaRPr>
          </a:p>
          <a:p>
            <a:pPr marL="542925" marR="394335" indent="-367030">
              <a:lnSpc>
                <a:spcPct val="114999"/>
              </a:lnSpc>
              <a:buFont typeface="Arial MT"/>
              <a:buChar char="●"/>
              <a:tabLst>
                <a:tab pos="542925" algn="l"/>
              </a:tabLst>
            </a:pPr>
            <a:r>
              <a:rPr sz="1800" b="1" dirty="0">
                <a:latin typeface="Arial"/>
                <a:cs typeface="Arial"/>
              </a:rPr>
              <a:t>CPUs </a:t>
            </a:r>
            <a:r>
              <a:rPr sz="1800" dirty="0">
                <a:latin typeface="Arial MT"/>
                <a:cs typeface="Arial MT"/>
              </a:rPr>
              <a:t>also perform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b="1" spc="-20" dirty="0">
                <a:latin typeface="Arial"/>
                <a:cs typeface="Arial"/>
              </a:rPr>
              <a:t>out-of-order </a:t>
            </a:r>
            <a:r>
              <a:rPr sz="1800" b="1" dirty="0">
                <a:latin typeface="Arial"/>
                <a:cs typeface="Arial"/>
              </a:rPr>
              <a:t>execution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internally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reordering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memory </a:t>
            </a:r>
            <a:r>
              <a:rPr sz="1800" dirty="0">
                <a:latin typeface="Arial MT"/>
                <a:cs typeface="Arial MT"/>
              </a:rPr>
              <a:t>loads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stores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better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utilize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CPU </a:t>
            </a:r>
            <a:r>
              <a:rPr sz="1800" dirty="0">
                <a:latin typeface="Arial MT"/>
                <a:cs typeface="Arial MT"/>
              </a:rPr>
              <a:t>pipelines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memory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subsystems.</a:t>
            </a:r>
            <a:endParaRPr sz="1800" dirty="0">
              <a:latin typeface="Arial MT"/>
              <a:cs typeface="Arial MT"/>
            </a:endParaRPr>
          </a:p>
        </p:txBody>
      </p:sp>
      <p:grpSp>
        <p:nvGrpSpPr>
          <p:cNvPr id="4" name="object 4" descr="A close-up code fragment showing two variable assignments: flag = 1; and turn = 2;."/>
          <p:cNvGrpSpPr/>
          <p:nvPr/>
        </p:nvGrpSpPr>
        <p:grpSpPr>
          <a:xfrm>
            <a:off x="6722999" y="2590816"/>
            <a:ext cx="3314700" cy="1200150"/>
            <a:chOff x="6722999" y="2590816"/>
            <a:chExt cx="3314700" cy="1200150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32524" y="2600341"/>
              <a:ext cx="3295649" cy="118109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6727762" y="2595578"/>
              <a:ext cx="3305175" cy="1190625"/>
            </a:xfrm>
            <a:custGeom>
              <a:avLst/>
              <a:gdLst/>
              <a:ahLst/>
              <a:cxnLst/>
              <a:rect l="l" t="t" r="r" b="b"/>
              <a:pathLst>
                <a:path w="3305175" h="1190625">
                  <a:moveTo>
                    <a:pt x="0" y="0"/>
                  </a:moveTo>
                  <a:lnTo>
                    <a:pt x="3305174" y="0"/>
                  </a:lnTo>
                  <a:lnTo>
                    <a:pt x="3305174" y="1190624"/>
                  </a:lnTo>
                  <a:lnTo>
                    <a:pt x="0" y="119062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20125" y="4271230"/>
            <a:ext cx="472059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CPU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might </a:t>
            </a:r>
            <a:r>
              <a:rPr sz="1800" b="1" dirty="0">
                <a:latin typeface="Arial"/>
                <a:cs typeface="Arial"/>
              </a:rPr>
              <a:t>write</a:t>
            </a:r>
            <a:r>
              <a:rPr sz="1800" b="1" spc="-10" dirty="0"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turn</a:t>
            </a:r>
            <a:r>
              <a:rPr sz="1800" b="1" spc="-2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=</a:t>
            </a:r>
            <a:r>
              <a:rPr sz="1800" b="1" spc="-3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2</a:t>
            </a:r>
            <a:r>
              <a:rPr sz="1800" b="1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latin typeface="Arial"/>
                <a:cs typeface="Arial"/>
              </a:rPr>
              <a:t>before</a:t>
            </a:r>
            <a:r>
              <a:rPr sz="1800" b="1" spc="-5" dirty="0">
                <a:latin typeface="Arial"/>
                <a:cs typeface="Arial"/>
              </a:rPr>
              <a:t> </a:t>
            </a:r>
            <a:r>
              <a:rPr sz="1800" b="1" spc="-20" dirty="0">
                <a:solidFill>
                  <a:srgbClr val="188037"/>
                </a:solidFill>
                <a:latin typeface="Courier New"/>
                <a:cs typeface="Courier New"/>
              </a:rPr>
              <a:t>flag</a:t>
            </a:r>
            <a:endParaRPr sz="1800">
              <a:latin typeface="Courier New"/>
              <a:cs typeface="Courier New"/>
            </a:endParaRPr>
          </a:p>
          <a:p>
            <a:pPr marL="12700" marR="162560">
              <a:lnSpc>
                <a:spcPct val="100000"/>
              </a:lnSpc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=</a:t>
            </a:r>
            <a:r>
              <a:rPr sz="1800" b="1" spc="-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1</a:t>
            </a:r>
            <a:r>
              <a:rPr sz="1800" b="1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if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thinks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faster,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even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though </a:t>
            </a:r>
            <a:r>
              <a:rPr sz="1800" dirty="0">
                <a:latin typeface="Arial MT"/>
                <a:cs typeface="Arial MT"/>
              </a:rPr>
              <a:t>your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code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lists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them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other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way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around.</a:t>
            </a:r>
            <a:endParaRPr sz="1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0375" y="1435436"/>
            <a:ext cx="5370830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Why</a:t>
            </a:r>
            <a:r>
              <a:rPr sz="2500" spc="-7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Dekker</a:t>
            </a:r>
            <a:r>
              <a:rPr sz="2500" spc="-70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Fails</a:t>
            </a:r>
            <a:r>
              <a:rPr sz="2500" spc="-7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on</a:t>
            </a:r>
            <a:r>
              <a:rPr sz="2500" spc="-70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Modern</a:t>
            </a:r>
            <a:r>
              <a:rPr sz="2500" spc="-70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spc="-10" dirty="0">
                <a:solidFill>
                  <a:srgbClr val="0F2044"/>
                </a:solidFill>
                <a:latin typeface="Georgia"/>
                <a:cs typeface="Georgia"/>
              </a:rPr>
              <a:t>Systems</a:t>
            </a:r>
            <a:endParaRPr sz="2500">
              <a:latin typeface="Georgia"/>
              <a:cs typeface="Georgi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22875" y="2125174"/>
            <a:ext cx="5250180" cy="4375172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40640" rIns="0" bIns="0" rtlCol="0">
            <a:spAutoFit/>
          </a:bodyPr>
          <a:lstStyle/>
          <a:p>
            <a:pPr marL="85090" marR="552450">
              <a:lnSpc>
                <a:spcPct val="114999"/>
              </a:lnSpc>
              <a:spcBef>
                <a:spcPts val="320"/>
              </a:spcBef>
            </a:pPr>
            <a:r>
              <a:rPr b="1" dirty="0">
                <a:solidFill>
                  <a:srgbClr val="980000"/>
                </a:solidFill>
                <a:latin typeface="Arial"/>
                <a:cs typeface="Arial"/>
              </a:rPr>
              <a:t>Memory</a:t>
            </a:r>
            <a:r>
              <a:rPr b="1" spc="-4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980000"/>
                </a:solidFill>
                <a:latin typeface="Arial"/>
                <a:cs typeface="Arial"/>
              </a:rPr>
              <a:t>operations</a:t>
            </a:r>
            <a:r>
              <a:rPr b="1" spc="-3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980000"/>
                </a:solidFill>
                <a:latin typeface="Arial"/>
                <a:cs typeface="Arial"/>
              </a:rPr>
              <a:t>may</a:t>
            </a:r>
            <a:r>
              <a:rPr b="1" spc="-3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980000"/>
                </a:solidFill>
                <a:latin typeface="Arial"/>
                <a:cs typeface="Arial"/>
              </a:rPr>
              <a:t>not</a:t>
            </a:r>
            <a:r>
              <a:rPr b="1" spc="-3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980000"/>
                </a:solidFill>
                <a:latin typeface="Arial"/>
                <a:cs typeface="Arial"/>
              </a:rPr>
              <a:t>happen</a:t>
            </a:r>
            <a:r>
              <a:rPr b="1" spc="-3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980000"/>
                </a:solidFill>
                <a:latin typeface="Arial"/>
                <a:cs typeface="Arial"/>
              </a:rPr>
              <a:t>in</a:t>
            </a:r>
            <a:r>
              <a:rPr b="1" spc="-4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b="1" spc="-10" dirty="0">
                <a:solidFill>
                  <a:srgbClr val="980000"/>
                </a:solidFill>
                <a:latin typeface="Arial"/>
                <a:cs typeface="Arial"/>
              </a:rPr>
              <a:t>program order.</a:t>
            </a:r>
            <a:endParaRPr dirty="0">
              <a:latin typeface="Arial"/>
              <a:cs typeface="Arial"/>
            </a:endParaRPr>
          </a:p>
          <a:p>
            <a:pPr marL="542925" marR="283845" indent="-351790">
              <a:lnSpc>
                <a:spcPct val="114999"/>
              </a:lnSpc>
              <a:spcBef>
                <a:spcPts val="1200"/>
              </a:spcBef>
              <a:spcAft>
                <a:spcPts val="1200"/>
              </a:spcAft>
              <a:buChar char="●"/>
              <a:tabLst>
                <a:tab pos="542925" algn="l"/>
              </a:tabLst>
            </a:pPr>
            <a:r>
              <a:rPr dirty="0">
                <a:latin typeface="Arial MT"/>
                <a:cs typeface="Arial MT"/>
              </a:rPr>
              <a:t>Even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though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your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b="1" dirty="0">
                <a:latin typeface="Arial"/>
                <a:cs typeface="Arial"/>
              </a:rPr>
              <a:t>code</a:t>
            </a:r>
            <a:r>
              <a:rPr b="1" spc="-3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appears</a:t>
            </a:r>
            <a:r>
              <a:rPr b="1" spc="-2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sequential</a:t>
            </a:r>
            <a:r>
              <a:rPr dirty="0">
                <a:latin typeface="Arial MT"/>
                <a:cs typeface="Arial MT"/>
              </a:rPr>
              <a:t>,</a:t>
            </a:r>
            <a:r>
              <a:rPr spc="-25" dirty="0">
                <a:latin typeface="Arial MT"/>
                <a:cs typeface="Arial MT"/>
              </a:rPr>
              <a:t> the </a:t>
            </a:r>
            <a:r>
              <a:rPr dirty="0">
                <a:latin typeface="Arial MT"/>
                <a:cs typeface="Arial MT"/>
              </a:rPr>
              <a:t>actual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b="1" dirty="0">
                <a:latin typeface="Arial"/>
                <a:cs typeface="Arial"/>
              </a:rPr>
              <a:t>order</a:t>
            </a:r>
            <a:r>
              <a:rPr b="1" spc="-3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in</a:t>
            </a:r>
            <a:r>
              <a:rPr b="1" spc="-3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which</a:t>
            </a:r>
            <a:r>
              <a:rPr b="1" spc="-3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memory</a:t>
            </a:r>
            <a:r>
              <a:rPr b="1" spc="-35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writes/reads </a:t>
            </a:r>
            <a:r>
              <a:rPr b="1" dirty="0">
                <a:latin typeface="Arial"/>
                <a:cs typeface="Arial"/>
              </a:rPr>
              <a:t>become</a:t>
            </a:r>
            <a:r>
              <a:rPr b="1" spc="-5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visible</a:t>
            </a:r>
            <a:r>
              <a:rPr b="1" spc="-3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to</a:t>
            </a:r>
            <a:r>
              <a:rPr b="1" spc="-3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other</a:t>
            </a:r>
            <a:r>
              <a:rPr b="1" spc="-3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threads</a:t>
            </a:r>
            <a:r>
              <a:rPr b="1" spc="-25" dirty="0">
                <a:latin typeface="Arial"/>
                <a:cs typeface="Arial"/>
              </a:rPr>
              <a:t> </a:t>
            </a:r>
            <a:r>
              <a:rPr dirty="0">
                <a:latin typeface="Arial MT"/>
                <a:cs typeface="Arial MT"/>
              </a:rPr>
              <a:t>can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vary.</a:t>
            </a:r>
            <a:endParaRPr dirty="0">
              <a:latin typeface="Arial MT"/>
              <a:cs typeface="Arial MT"/>
            </a:endParaRPr>
          </a:p>
          <a:p>
            <a:pPr marL="542925" marR="103505" indent="-351790">
              <a:lnSpc>
                <a:spcPct val="114999"/>
              </a:lnSpc>
              <a:spcAft>
                <a:spcPts val="1800"/>
              </a:spcAft>
              <a:buChar char="●"/>
              <a:tabLst>
                <a:tab pos="542925" algn="l"/>
              </a:tabLst>
            </a:pPr>
            <a:r>
              <a:rPr dirty="0">
                <a:latin typeface="Arial MT"/>
                <a:cs typeface="Arial MT"/>
              </a:rPr>
              <a:t>Especially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problematic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in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b="1" spc="-20" dirty="0">
                <a:latin typeface="Arial"/>
                <a:cs typeface="Arial"/>
              </a:rPr>
              <a:t>multi-</a:t>
            </a:r>
            <a:r>
              <a:rPr b="1" dirty="0">
                <a:latin typeface="Arial"/>
                <a:cs typeface="Arial"/>
              </a:rPr>
              <a:t>core</a:t>
            </a:r>
            <a:r>
              <a:rPr b="1" spc="-1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systems</a:t>
            </a:r>
            <a:r>
              <a:rPr dirty="0">
                <a:latin typeface="Arial MT"/>
                <a:cs typeface="Arial MT"/>
              </a:rPr>
              <a:t>: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spc="-25" dirty="0">
                <a:latin typeface="Arial MT"/>
                <a:cs typeface="Arial MT"/>
              </a:rPr>
              <a:t>one </a:t>
            </a:r>
            <a:r>
              <a:rPr dirty="0">
                <a:latin typeface="Arial MT"/>
                <a:cs typeface="Arial MT"/>
              </a:rPr>
              <a:t>core’s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writes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may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be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b="1" dirty="0">
                <a:latin typeface="Arial"/>
                <a:cs typeface="Arial"/>
              </a:rPr>
              <a:t>cached</a:t>
            </a:r>
            <a:r>
              <a:rPr b="1" spc="-2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and</a:t>
            </a:r>
            <a:r>
              <a:rPr b="1" spc="-2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delayed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spc="-10" dirty="0">
                <a:latin typeface="Arial MT"/>
                <a:cs typeface="Arial MT"/>
              </a:rPr>
              <a:t>before </a:t>
            </a:r>
            <a:r>
              <a:rPr dirty="0">
                <a:latin typeface="Arial MT"/>
                <a:cs typeface="Arial MT"/>
              </a:rPr>
              <a:t>being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visible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to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others.</a:t>
            </a:r>
            <a:endParaRPr dirty="0">
              <a:latin typeface="Arial MT"/>
              <a:cs typeface="Arial MT"/>
            </a:endParaRPr>
          </a:p>
          <a:p>
            <a:pPr marL="85090" marR="327025">
              <a:lnSpc>
                <a:spcPct val="114999"/>
              </a:lnSpc>
              <a:spcBef>
                <a:spcPts val="5"/>
              </a:spcBef>
            </a:pPr>
            <a:r>
              <a:rPr b="1" dirty="0">
                <a:latin typeface="Arial"/>
                <a:cs typeface="Arial"/>
              </a:rPr>
              <a:t>This</a:t>
            </a:r>
            <a:r>
              <a:rPr b="1" spc="-40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means</a:t>
            </a:r>
            <a:r>
              <a:rPr spc="-10" dirty="0">
                <a:latin typeface="Arial MT"/>
                <a:cs typeface="Arial MT"/>
              </a:rPr>
              <a:t>:</a:t>
            </a:r>
            <a:r>
              <a:rPr spc="-10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</a:t>
            </a:r>
            <a:r>
              <a:rPr spc="-114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thread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b="1" dirty="0">
                <a:latin typeface="Arial"/>
                <a:cs typeface="Arial"/>
              </a:rPr>
              <a:t>might</a:t>
            </a:r>
            <a:r>
              <a:rPr b="1" spc="-3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see</a:t>
            </a:r>
            <a:r>
              <a:rPr b="1" spc="-2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stale</a:t>
            </a:r>
            <a:r>
              <a:rPr b="1" spc="-3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values</a:t>
            </a:r>
            <a:r>
              <a:rPr b="1" spc="-20" dirty="0">
                <a:latin typeface="Arial"/>
                <a:cs typeface="Arial"/>
              </a:rPr>
              <a:t> </a:t>
            </a:r>
            <a:r>
              <a:rPr dirty="0">
                <a:latin typeface="Arial MT"/>
                <a:cs typeface="Arial MT"/>
              </a:rPr>
              <a:t>—</a:t>
            </a:r>
            <a:r>
              <a:rPr spc="-25" dirty="0">
                <a:latin typeface="Arial MT"/>
                <a:cs typeface="Arial MT"/>
              </a:rPr>
              <a:t> it </a:t>
            </a:r>
            <a:r>
              <a:rPr dirty="0">
                <a:latin typeface="Arial MT"/>
                <a:cs typeface="Arial MT"/>
              </a:rPr>
              <a:t>sees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turn</a:t>
            </a:r>
            <a:r>
              <a:rPr b="1" spc="-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=</a:t>
            </a:r>
            <a:r>
              <a:rPr b="1" spc="-4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2</a:t>
            </a:r>
            <a:r>
              <a:rPr dirty="0">
                <a:latin typeface="Arial MT"/>
                <a:cs typeface="Arial MT"/>
              </a:rPr>
              <a:t>,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but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not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yet</a:t>
            </a:r>
            <a:r>
              <a:rPr spc="-10" dirty="0">
                <a:latin typeface="Arial MT"/>
                <a:cs typeface="Arial MT"/>
              </a:rPr>
              <a:t> </a:t>
            </a: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flag</a:t>
            </a:r>
            <a:r>
              <a:rPr b="1" spc="-4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=</a:t>
            </a:r>
            <a:r>
              <a:rPr b="1" spc="-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1</a:t>
            </a:r>
            <a:r>
              <a:rPr dirty="0">
                <a:latin typeface="Arial MT"/>
                <a:cs typeface="Arial MT"/>
              </a:rPr>
              <a:t>,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because</a:t>
            </a:r>
            <a:r>
              <a:rPr spc="-20" dirty="0">
                <a:latin typeface="Arial MT"/>
                <a:cs typeface="Arial MT"/>
              </a:rPr>
              <a:t> that </a:t>
            </a:r>
            <a:r>
              <a:rPr dirty="0">
                <a:latin typeface="Arial MT"/>
                <a:cs typeface="Arial MT"/>
              </a:rPr>
              <a:t>write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is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still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sitting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in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CPU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cache.</a:t>
            </a:r>
            <a:endParaRPr dirty="0">
              <a:latin typeface="Arial MT"/>
              <a:cs typeface="Arial MT"/>
            </a:endParaRPr>
          </a:p>
        </p:txBody>
      </p:sp>
      <p:sp>
        <p:nvSp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05400" y="1217575"/>
            <a:ext cx="5917565" cy="5282771"/>
          </a:xfrm>
          <a:custGeom>
            <a:avLst/>
            <a:gdLst/>
            <a:ahLst/>
            <a:cxnLst/>
            <a:rect l="l" t="t" r="r" b="b"/>
            <a:pathLst>
              <a:path w="5917565" h="5270500">
                <a:moveTo>
                  <a:pt x="0" y="0"/>
                </a:moveTo>
                <a:lnTo>
                  <a:pt x="5917499" y="0"/>
                </a:lnTo>
                <a:lnTo>
                  <a:pt x="5917499" y="5270399"/>
                </a:lnTo>
                <a:lnTo>
                  <a:pt x="0" y="527039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078425" y="1245896"/>
            <a:ext cx="5075555" cy="6228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999"/>
              </a:lnSpc>
              <a:spcBef>
                <a:spcPts val="100"/>
              </a:spcBef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Dekker’s</a:t>
            </a:r>
            <a:r>
              <a:rPr sz="1800" b="1" spc="-9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Algorithm</a:t>
            </a:r>
            <a:r>
              <a:rPr sz="1800" b="1" spc="-4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assumes</a:t>
            </a:r>
            <a:r>
              <a:rPr sz="1800" b="1" spc="-4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strict</a:t>
            </a:r>
            <a:r>
              <a:rPr sz="1800" b="1" spc="-4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memory</a:t>
            </a:r>
            <a:r>
              <a:rPr sz="1800" b="1" spc="-3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visibility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between</a:t>
            </a:r>
            <a:r>
              <a:rPr sz="1800" b="1" spc="-3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threads.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078425" y="1995704"/>
            <a:ext cx="5588000" cy="405764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265" indent="-351155">
              <a:lnSpc>
                <a:spcPct val="100000"/>
              </a:lnSpc>
              <a:spcBef>
                <a:spcPts val="100"/>
              </a:spcBef>
              <a:spcAft>
                <a:spcPts val="1200"/>
              </a:spcAft>
              <a:buChar char="●"/>
              <a:tabLst>
                <a:tab pos="469265" algn="l"/>
              </a:tabLst>
            </a:pPr>
            <a:r>
              <a:rPr dirty="0">
                <a:latin typeface="Arial MT"/>
                <a:cs typeface="Arial MT"/>
              </a:rPr>
              <a:t>Dekker's</a:t>
            </a:r>
            <a:r>
              <a:rPr spc="-9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Algorithm</a:t>
            </a:r>
            <a:r>
              <a:rPr spc="-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relies</a:t>
            </a:r>
            <a:r>
              <a:rPr spc="-5" dirty="0">
                <a:latin typeface="Arial MT"/>
                <a:cs typeface="Arial MT"/>
              </a:rPr>
              <a:t> </a:t>
            </a:r>
            <a:r>
              <a:rPr spc="-25" dirty="0">
                <a:latin typeface="Arial MT"/>
                <a:cs typeface="Arial MT"/>
              </a:rPr>
              <a:t>on:</a:t>
            </a:r>
            <a:endParaRPr dirty="0">
              <a:latin typeface="Arial MT"/>
              <a:cs typeface="Arial MT"/>
            </a:endParaRPr>
          </a:p>
          <a:p>
            <a:pPr marL="926465" lvl="1" indent="-397510">
              <a:lnSpc>
                <a:spcPct val="100000"/>
              </a:lnSpc>
              <a:spcAft>
                <a:spcPts val="1200"/>
              </a:spcAft>
              <a:buAutoNum type="arabicPeriod"/>
              <a:tabLst>
                <a:tab pos="926465" algn="l"/>
              </a:tabLst>
            </a:pPr>
            <a:r>
              <a:rPr dirty="0">
                <a:latin typeface="Arial MT"/>
                <a:cs typeface="Arial MT"/>
              </a:rPr>
              <a:t>Each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thread’s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writes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to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shared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variables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being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spc="-20" dirty="0">
                <a:latin typeface="Arial MT"/>
                <a:cs typeface="Arial MT"/>
              </a:rPr>
              <a:t>seen</a:t>
            </a:r>
            <a:r>
              <a:rPr lang="en-US" dirty="0">
                <a:latin typeface="Arial MT"/>
                <a:cs typeface="Arial MT"/>
              </a:rPr>
              <a:t> </a:t>
            </a:r>
            <a:r>
              <a:rPr b="1" spc="-10" dirty="0">
                <a:latin typeface="Arial"/>
                <a:cs typeface="Arial"/>
              </a:rPr>
              <a:t>immediately</a:t>
            </a:r>
            <a:r>
              <a:rPr b="1" spc="-30" dirty="0">
                <a:latin typeface="Arial"/>
                <a:cs typeface="Arial"/>
              </a:rPr>
              <a:t> </a:t>
            </a:r>
            <a:r>
              <a:rPr dirty="0">
                <a:latin typeface="Arial MT"/>
                <a:cs typeface="Arial MT"/>
              </a:rPr>
              <a:t>by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other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threads.</a:t>
            </a:r>
            <a:endParaRPr dirty="0">
              <a:latin typeface="Arial MT"/>
              <a:cs typeface="Arial MT"/>
            </a:endParaRPr>
          </a:p>
          <a:p>
            <a:pPr marL="927100" marR="103505" lvl="1" indent="-398145">
              <a:lnSpc>
                <a:spcPct val="114999"/>
              </a:lnSpc>
              <a:spcAft>
                <a:spcPts val="1200"/>
              </a:spcAft>
              <a:buAutoNum type="arabicPeriod" startAt="2"/>
              <a:tabLst>
                <a:tab pos="927100" algn="l"/>
              </a:tabLst>
            </a:pPr>
            <a:r>
              <a:rPr dirty="0">
                <a:latin typeface="Arial MT"/>
                <a:cs typeface="Arial MT"/>
              </a:rPr>
              <a:t>Memory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operations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occurring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b="1" dirty="0">
                <a:latin typeface="Arial"/>
                <a:cs typeface="Arial"/>
              </a:rPr>
              <a:t>exactly</a:t>
            </a:r>
            <a:r>
              <a:rPr b="1" spc="-3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in</a:t>
            </a:r>
            <a:r>
              <a:rPr b="1" spc="-3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the</a:t>
            </a:r>
            <a:r>
              <a:rPr b="1" spc="-30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order written</a:t>
            </a:r>
            <a:r>
              <a:rPr spc="-10" dirty="0">
                <a:latin typeface="Arial MT"/>
                <a:cs typeface="Arial MT"/>
              </a:rPr>
              <a:t>.</a:t>
            </a:r>
            <a:endParaRPr dirty="0">
              <a:latin typeface="Arial MT"/>
              <a:cs typeface="Arial MT"/>
            </a:endParaRPr>
          </a:p>
          <a:p>
            <a:pPr marL="469900" marR="53340" indent="-351790">
              <a:lnSpc>
                <a:spcPct val="114999"/>
              </a:lnSpc>
              <a:spcAft>
                <a:spcPts val="1800"/>
              </a:spcAft>
              <a:buChar char="●"/>
              <a:tabLst>
                <a:tab pos="469900" algn="l"/>
              </a:tabLst>
            </a:pPr>
            <a:r>
              <a:rPr dirty="0">
                <a:latin typeface="Arial MT"/>
                <a:cs typeface="Arial MT"/>
              </a:rPr>
              <a:t>These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assumptions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were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b="1" dirty="0">
                <a:latin typeface="Arial"/>
                <a:cs typeface="Arial"/>
              </a:rPr>
              <a:t>valid</a:t>
            </a:r>
            <a:r>
              <a:rPr b="1" spc="-3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for</a:t>
            </a:r>
            <a:r>
              <a:rPr b="1" spc="-3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older</a:t>
            </a:r>
            <a:r>
              <a:rPr b="1" spc="-30" dirty="0">
                <a:latin typeface="Arial"/>
                <a:cs typeface="Arial"/>
              </a:rPr>
              <a:t> </a:t>
            </a:r>
            <a:r>
              <a:rPr b="1" spc="-20" dirty="0">
                <a:latin typeface="Arial"/>
                <a:cs typeface="Arial"/>
              </a:rPr>
              <a:t>single-</a:t>
            </a:r>
            <a:r>
              <a:rPr b="1" dirty="0">
                <a:latin typeface="Arial"/>
                <a:cs typeface="Arial"/>
              </a:rPr>
              <a:t>core</a:t>
            </a:r>
            <a:r>
              <a:rPr b="1" spc="-30" dirty="0">
                <a:latin typeface="Arial"/>
                <a:cs typeface="Arial"/>
              </a:rPr>
              <a:t> </a:t>
            </a:r>
            <a:r>
              <a:rPr b="1" spc="-25" dirty="0">
                <a:latin typeface="Arial"/>
                <a:cs typeface="Arial"/>
              </a:rPr>
              <a:t>or </a:t>
            </a:r>
            <a:r>
              <a:rPr b="1" dirty="0">
                <a:latin typeface="Arial"/>
                <a:cs typeface="Arial"/>
              </a:rPr>
              <a:t>simpler</a:t>
            </a:r>
            <a:r>
              <a:rPr b="1" spc="-4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CPU</a:t>
            </a:r>
            <a:r>
              <a:rPr b="1" spc="-3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models</a:t>
            </a:r>
            <a:r>
              <a:rPr dirty="0">
                <a:latin typeface="Arial MT"/>
                <a:cs typeface="Arial MT"/>
              </a:rPr>
              <a:t>,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but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b="1" dirty="0">
                <a:latin typeface="Arial"/>
                <a:cs typeface="Arial"/>
              </a:rPr>
              <a:t>break</a:t>
            </a:r>
            <a:r>
              <a:rPr b="1" spc="-3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on</a:t>
            </a:r>
            <a:r>
              <a:rPr b="1" spc="-35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modern architectures</a:t>
            </a:r>
            <a:r>
              <a:rPr spc="-10" dirty="0">
                <a:latin typeface="Arial MT"/>
                <a:cs typeface="Arial MT"/>
              </a:rPr>
              <a:t>.</a:t>
            </a:r>
            <a:endParaRPr dirty="0">
              <a:latin typeface="Arial MT"/>
              <a:cs typeface="Arial MT"/>
            </a:endParaRPr>
          </a:p>
          <a:p>
            <a:pPr marL="12700" marR="9525">
              <a:lnSpc>
                <a:spcPct val="114999"/>
              </a:lnSpc>
            </a:pPr>
            <a:r>
              <a:rPr dirty="0">
                <a:latin typeface="Arial MT"/>
                <a:cs typeface="Arial MT"/>
              </a:rPr>
              <a:t>Without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enforcing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visibility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(e.g.,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using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atomics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or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memory </a:t>
            </a:r>
            <a:r>
              <a:rPr dirty="0">
                <a:latin typeface="Arial MT"/>
                <a:cs typeface="Arial MT"/>
              </a:rPr>
              <a:t>fences),</a:t>
            </a:r>
            <a:r>
              <a:rPr spc="-45" dirty="0">
                <a:latin typeface="Arial MT"/>
                <a:cs typeface="Arial MT"/>
              </a:rPr>
              <a:t> </a:t>
            </a:r>
            <a:r>
              <a:rPr b="1" dirty="0">
                <a:latin typeface="Arial"/>
                <a:cs typeface="Arial"/>
              </a:rPr>
              <a:t>both</a:t>
            </a:r>
            <a:r>
              <a:rPr b="1" spc="-4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threads</a:t>
            </a:r>
            <a:r>
              <a:rPr b="1" spc="-5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could</a:t>
            </a:r>
            <a:r>
              <a:rPr b="1" spc="-5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believe</a:t>
            </a:r>
            <a:r>
              <a:rPr b="1" spc="-5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it’s</a:t>
            </a:r>
            <a:r>
              <a:rPr b="1" spc="-5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their</a:t>
            </a:r>
            <a:r>
              <a:rPr b="1" spc="-5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turn</a:t>
            </a:r>
            <a:r>
              <a:rPr b="1" spc="-25" dirty="0">
                <a:latin typeface="Arial"/>
                <a:cs typeface="Arial"/>
              </a:rPr>
              <a:t> </a:t>
            </a:r>
            <a:r>
              <a:rPr dirty="0">
                <a:latin typeface="Arial MT"/>
                <a:cs typeface="Arial MT"/>
              </a:rPr>
              <a:t>and</a:t>
            </a:r>
            <a:r>
              <a:rPr spc="-50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enter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critical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section.</a:t>
            </a:r>
            <a:endParaRPr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188547"/>
            <a:ext cx="5370830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Why</a:t>
            </a:r>
            <a:r>
              <a:rPr spc="-75" dirty="0"/>
              <a:t> </a:t>
            </a:r>
            <a:r>
              <a:rPr dirty="0"/>
              <a:t>Dekker</a:t>
            </a:r>
            <a:r>
              <a:rPr spc="-70" dirty="0"/>
              <a:t> </a:t>
            </a:r>
            <a:r>
              <a:rPr dirty="0"/>
              <a:t>Fails</a:t>
            </a:r>
            <a:r>
              <a:rPr spc="-75" dirty="0"/>
              <a:t> </a:t>
            </a:r>
            <a:r>
              <a:rPr dirty="0"/>
              <a:t>on</a:t>
            </a:r>
            <a:r>
              <a:rPr spc="-70" dirty="0"/>
              <a:t> </a:t>
            </a:r>
            <a:r>
              <a:rPr dirty="0"/>
              <a:t>Modern</a:t>
            </a:r>
            <a:r>
              <a:rPr spc="-70" dirty="0"/>
              <a:t> </a:t>
            </a:r>
            <a:r>
              <a:rPr spc="-10" dirty="0"/>
              <a:t>Systems</a:t>
            </a:r>
          </a:p>
        </p:txBody>
      </p:sp>
      <p:sp>
        <p:nvSp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0474" y="1972774"/>
            <a:ext cx="5464810" cy="4704080"/>
          </a:xfrm>
          <a:custGeom>
            <a:avLst/>
            <a:gdLst/>
            <a:ahLst/>
            <a:cxnLst/>
            <a:rect l="l" t="t" r="r" b="b"/>
            <a:pathLst>
              <a:path w="5464810" h="4704080">
                <a:moveTo>
                  <a:pt x="0" y="0"/>
                </a:moveTo>
                <a:lnTo>
                  <a:pt x="5464199" y="0"/>
                </a:lnTo>
                <a:lnTo>
                  <a:pt x="5464199" y="4703999"/>
                </a:lnTo>
                <a:lnTo>
                  <a:pt x="0" y="470399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10375" y="1543538"/>
            <a:ext cx="5155565" cy="50473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F2044"/>
                </a:solidFill>
                <a:latin typeface="Georgia"/>
                <a:cs typeface="Georgia"/>
              </a:rPr>
              <a:t>Race</a:t>
            </a:r>
            <a:r>
              <a:rPr sz="1800" spc="-4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Conditions</a:t>
            </a:r>
            <a:r>
              <a:rPr sz="1800" spc="-4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1800" dirty="0">
                <a:solidFill>
                  <a:srgbClr val="0F2044"/>
                </a:solidFill>
                <a:latin typeface="Georgia"/>
                <a:cs typeface="Georgia"/>
              </a:rPr>
              <a:t>May</a:t>
            </a:r>
            <a:r>
              <a:rPr sz="1800" spc="-40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1800" dirty="0">
                <a:solidFill>
                  <a:srgbClr val="0F2044"/>
                </a:solidFill>
                <a:latin typeface="Georgia"/>
                <a:cs typeface="Georgia"/>
              </a:rPr>
              <a:t>Still</a:t>
            </a:r>
            <a:r>
              <a:rPr sz="1800" spc="-4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1800" spc="-20" dirty="0">
                <a:solidFill>
                  <a:srgbClr val="0F2044"/>
                </a:solidFill>
                <a:latin typeface="Georgia"/>
                <a:cs typeface="Georgia"/>
              </a:rPr>
              <a:t>Occur</a:t>
            </a:r>
            <a:endParaRPr sz="1800" dirty="0">
              <a:latin typeface="Georgia"/>
              <a:cs typeface="Georgia"/>
            </a:endParaRPr>
          </a:p>
          <a:p>
            <a:pPr marL="45720" marR="163195">
              <a:lnSpc>
                <a:spcPct val="114999"/>
              </a:lnSpc>
              <a:spcBef>
                <a:spcPts val="1440"/>
              </a:spcBef>
            </a:pP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A</a:t>
            </a:r>
            <a:r>
              <a:rPr sz="1700" b="1" spc="-8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write</a:t>
            </a:r>
            <a:r>
              <a:rPr sz="1700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by</a:t>
            </a:r>
            <a:r>
              <a:rPr sz="1700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one</a:t>
            </a:r>
            <a:r>
              <a:rPr sz="1700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thread</a:t>
            </a:r>
            <a:r>
              <a:rPr sz="1700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(e.g.,</a:t>
            </a:r>
            <a:r>
              <a:rPr sz="1700" b="1" spc="-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980000"/>
                </a:solidFill>
                <a:latin typeface="Courier New"/>
                <a:cs typeface="Courier New"/>
              </a:rPr>
              <a:t>flag1</a:t>
            </a:r>
            <a:r>
              <a:rPr sz="1700" b="1" spc="-50" dirty="0">
                <a:solidFill>
                  <a:srgbClr val="980000"/>
                </a:solidFill>
                <a:latin typeface="Courier New"/>
                <a:cs typeface="Courier New"/>
              </a:rPr>
              <a:t> </a:t>
            </a:r>
            <a:r>
              <a:rPr sz="1700" b="1" dirty="0">
                <a:solidFill>
                  <a:srgbClr val="980000"/>
                </a:solidFill>
                <a:latin typeface="Courier New"/>
                <a:cs typeface="Courier New"/>
              </a:rPr>
              <a:t>=</a:t>
            </a:r>
            <a:r>
              <a:rPr sz="1700" b="1" spc="-50" dirty="0">
                <a:solidFill>
                  <a:srgbClr val="980000"/>
                </a:solidFill>
                <a:latin typeface="Courier New"/>
                <a:cs typeface="Courier New"/>
              </a:rPr>
              <a:t> </a:t>
            </a:r>
            <a:r>
              <a:rPr sz="1700" b="1" dirty="0">
                <a:solidFill>
                  <a:srgbClr val="980000"/>
                </a:solidFill>
                <a:latin typeface="Courier New"/>
                <a:cs typeface="Courier New"/>
              </a:rPr>
              <a:t>1</a:t>
            </a: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)</a:t>
            </a:r>
            <a:r>
              <a:rPr sz="1700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may</a:t>
            </a:r>
            <a:r>
              <a:rPr sz="1700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not</a:t>
            </a:r>
            <a:r>
              <a:rPr sz="1700" b="1" spc="-25" dirty="0">
                <a:solidFill>
                  <a:srgbClr val="980000"/>
                </a:solidFill>
                <a:latin typeface="Arial"/>
                <a:cs typeface="Arial"/>
              </a:rPr>
              <a:t> be </a:t>
            </a: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seen</a:t>
            </a:r>
            <a:r>
              <a:rPr sz="1700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in</a:t>
            </a:r>
            <a:r>
              <a:rPr sz="1700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time</a:t>
            </a:r>
            <a:r>
              <a:rPr sz="1700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by</a:t>
            </a:r>
            <a:r>
              <a:rPr sz="1700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another</a:t>
            </a:r>
            <a:r>
              <a:rPr sz="1700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spc="-10" dirty="0">
                <a:solidFill>
                  <a:srgbClr val="980000"/>
                </a:solidFill>
                <a:latin typeface="Arial"/>
                <a:cs typeface="Arial"/>
              </a:rPr>
              <a:t>thread.</a:t>
            </a:r>
            <a:endParaRPr sz="1700" dirty="0">
              <a:latin typeface="Arial"/>
              <a:cs typeface="Arial"/>
            </a:endParaRPr>
          </a:p>
          <a:p>
            <a:pPr marL="502920" marR="5080" indent="-351790">
              <a:lnSpc>
                <a:spcPct val="114999"/>
              </a:lnSpc>
              <a:spcBef>
                <a:spcPts val="1200"/>
              </a:spcBef>
              <a:spcAft>
                <a:spcPts val="1200"/>
              </a:spcAft>
              <a:buChar char="●"/>
              <a:tabLst>
                <a:tab pos="502920" algn="l"/>
              </a:tabLst>
            </a:pPr>
            <a:r>
              <a:rPr sz="1700" dirty="0">
                <a:latin typeface="Arial MT"/>
                <a:cs typeface="Arial MT"/>
              </a:rPr>
              <a:t>In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</a:t>
            </a:r>
            <a:r>
              <a:rPr sz="1700" spc="-15" dirty="0">
                <a:latin typeface="Arial MT"/>
                <a:cs typeface="Arial MT"/>
              </a:rPr>
              <a:t> </a:t>
            </a:r>
            <a:r>
              <a:rPr sz="1700" b="1" spc="-20" dirty="0">
                <a:latin typeface="Arial"/>
                <a:cs typeface="Arial"/>
              </a:rPr>
              <a:t>multi-</a:t>
            </a:r>
            <a:r>
              <a:rPr sz="1700" b="1" dirty="0">
                <a:latin typeface="Arial"/>
                <a:cs typeface="Arial"/>
              </a:rPr>
              <a:t>core</a:t>
            </a:r>
            <a:r>
              <a:rPr sz="1700" b="1" spc="-1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CPU</a:t>
            </a:r>
            <a:r>
              <a:rPr sz="1700" dirty="0">
                <a:latin typeface="Arial MT"/>
                <a:cs typeface="Arial MT"/>
              </a:rPr>
              <a:t>,</a:t>
            </a:r>
            <a:r>
              <a:rPr sz="1700" spc="-1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each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core</a:t>
            </a:r>
            <a:r>
              <a:rPr sz="1700" spc="-1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can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cache</a:t>
            </a:r>
            <a:r>
              <a:rPr sz="1700" spc="-1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memory separately.</a:t>
            </a:r>
            <a:endParaRPr sz="1700" dirty="0">
              <a:latin typeface="Arial MT"/>
              <a:cs typeface="Arial MT"/>
            </a:endParaRPr>
          </a:p>
          <a:p>
            <a:pPr marL="502920" marR="93980" indent="-351790">
              <a:lnSpc>
                <a:spcPct val="114999"/>
              </a:lnSpc>
              <a:spcAft>
                <a:spcPts val="1200"/>
              </a:spcAft>
              <a:buChar char="●"/>
              <a:tabLst>
                <a:tab pos="502920" algn="l"/>
              </a:tabLst>
            </a:pPr>
            <a:r>
              <a:rPr sz="1700" dirty="0">
                <a:latin typeface="Arial MT"/>
                <a:cs typeface="Arial MT"/>
              </a:rPr>
              <a:t>When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b="1" dirty="0">
                <a:latin typeface="Arial"/>
                <a:cs typeface="Arial"/>
              </a:rPr>
              <a:t>Thread</a:t>
            </a:r>
            <a:r>
              <a:rPr sz="1700" b="1" spc="-2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1</a:t>
            </a:r>
            <a:r>
              <a:rPr sz="1700" b="1" spc="-10" dirty="0">
                <a:latin typeface="Arial"/>
                <a:cs typeface="Arial"/>
              </a:rPr>
              <a:t> </a:t>
            </a:r>
            <a:r>
              <a:rPr sz="1700" dirty="0">
                <a:latin typeface="Arial MT"/>
                <a:cs typeface="Arial MT"/>
              </a:rPr>
              <a:t>writes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flag1</a:t>
            </a:r>
            <a:r>
              <a:rPr sz="1700" b="1" spc="-4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=</a:t>
            </a:r>
            <a:r>
              <a:rPr sz="1700" b="1" spc="-4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1</a:t>
            </a:r>
            <a:r>
              <a:rPr sz="1700" dirty="0">
                <a:latin typeface="Arial MT"/>
                <a:cs typeface="Arial MT"/>
              </a:rPr>
              <a:t>,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that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write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may </a:t>
            </a:r>
            <a:r>
              <a:rPr sz="1700" b="1" dirty="0">
                <a:latin typeface="Arial"/>
                <a:cs typeface="Arial"/>
              </a:rPr>
              <a:t>stay</a:t>
            </a:r>
            <a:r>
              <a:rPr sz="1700" b="1" spc="-3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in</a:t>
            </a:r>
            <a:r>
              <a:rPr sz="1700" b="1" spc="-3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its</a:t>
            </a:r>
            <a:r>
              <a:rPr sz="1700" b="1" spc="-3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local</a:t>
            </a:r>
            <a:r>
              <a:rPr sz="1700" b="1" spc="-3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cache</a:t>
            </a:r>
            <a:r>
              <a:rPr sz="1700" b="1" spc="-15" dirty="0">
                <a:latin typeface="Arial"/>
                <a:cs typeface="Arial"/>
              </a:rPr>
              <a:t> </a:t>
            </a:r>
            <a:r>
              <a:rPr sz="1700" dirty="0">
                <a:latin typeface="Arial MT"/>
                <a:cs typeface="Arial MT"/>
              </a:rPr>
              <a:t>for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short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time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and</a:t>
            </a:r>
            <a:r>
              <a:rPr sz="1700" spc="-15" dirty="0">
                <a:latin typeface="Arial MT"/>
                <a:cs typeface="Arial MT"/>
              </a:rPr>
              <a:t> </a:t>
            </a:r>
            <a:r>
              <a:rPr sz="1700" b="1" spc="-25" dirty="0">
                <a:latin typeface="Arial"/>
                <a:cs typeface="Arial"/>
              </a:rPr>
              <a:t>not </a:t>
            </a:r>
            <a:r>
              <a:rPr sz="1700" b="1" spc="-10" dirty="0">
                <a:latin typeface="Arial"/>
                <a:cs typeface="Arial"/>
              </a:rPr>
              <a:t>immediately</a:t>
            </a:r>
            <a:r>
              <a:rPr sz="1700" b="1" spc="-5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reach</a:t>
            </a:r>
            <a:r>
              <a:rPr sz="1700" b="1" spc="-4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main</a:t>
            </a:r>
            <a:r>
              <a:rPr sz="1700" b="1" spc="-40" dirty="0">
                <a:latin typeface="Arial"/>
                <a:cs typeface="Arial"/>
              </a:rPr>
              <a:t> </a:t>
            </a:r>
            <a:r>
              <a:rPr sz="1700" b="1" spc="-10" dirty="0">
                <a:latin typeface="Arial"/>
                <a:cs typeface="Arial"/>
              </a:rPr>
              <a:t>memory</a:t>
            </a:r>
            <a:r>
              <a:rPr sz="1700" spc="-10" dirty="0">
                <a:latin typeface="Arial MT"/>
                <a:cs typeface="Arial MT"/>
              </a:rPr>
              <a:t>.</a:t>
            </a:r>
            <a:endParaRPr sz="1700" dirty="0">
              <a:latin typeface="Arial MT"/>
              <a:cs typeface="Arial MT"/>
            </a:endParaRPr>
          </a:p>
          <a:p>
            <a:pPr marL="502920" marR="83820" indent="-351790">
              <a:lnSpc>
                <a:spcPct val="114999"/>
              </a:lnSpc>
              <a:spcBef>
                <a:spcPts val="5"/>
              </a:spcBef>
              <a:buChar char="●"/>
              <a:tabLst>
                <a:tab pos="502920" algn="l"/>
              </a:tabLst>
            </a:pPr>
            <a:r>
              <a:rPr sz="1700" dirty="0">
                <a:latin typeface="Arial MT"/>
                <a:cs typeface="Arial MT"/>
              </a:rPr>
              <a:t>Meanwhile,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b="1" dirty="0">
                <a:latin typeface="Arial"/>
                <a:cs typeface="Arial"/>
              </a:rPr>
              <a:t>Thread</a:t>
            </a:r>
            <a:r>
              <a:rPr sz="1700" b="1" spc="-2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2</a:t>
            </a:r>
            <a:r>
              <a:rPr sz="1700" dirty="0">
                <a:latin typeface="Arial MT"/>
                <a:cs typeface="Arial MT"/>
              </a:rPr>
              <a:t>,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running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on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different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core, </a:t>
            </a:r>
            <a:r>
              <a:rPr sz="1700" dirty="0">
                <a:latin typeface="Arial MT"/>
                <a:cs typeface="Arial MT"/>
              </a:rPr>
              <a:t>may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b="1" dirty="0">
                <a:latin typeface="Arial"/>
                <a:cs typeface="Arial"/>
              </a:rPr>
              <a:t>read</a:t>
            </a:r>
            <a:r>
              <a:rPr sz="1700" b="1" spc="-3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the</a:t>
            </a:r>
            <a:r>
              <a:rPr sz="1700" b="1" spc="-2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old</a:t>
            </a:r>
            <a:r>
              <a:rPr sz="1700" b="1" spc="-3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value</a:t>
            </a:r>
            <a:r>
              <a:rPr sz="1700" b="1" spc="-10" dirty="0">
                <a:latin typeface="Arial"/>
                <a:cs typeface="Arial"/>
              </a:rPr>
              <a:t> </a:t>
            </a:r>
            <a:r>
              <a:rPr sz="1700" dirty="0">
                <a:latin typeface="Arial MT"/>
                <a:cs typeface="Arial MT"/>
              </a:rPr>
              <a:t>(</a:t>
            </a: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flag1</a:t>
            </a:r>
            <a:r>
              <a:rPr sz="1700" b="1" spc="-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==</a:t>
            </a:r>
            <a:r>
              <a:rPr sz="1700" b="1" spc="-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0</a:t>
            </a:r>
            <a:r>
              <a:rPr sz="1700" dirty="0">
                <a:latin typeface="Arial MT"/>
                <a:cs typeface="Arial MT"/>
              </a:rPr>
              <a:t>)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because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it </a:t>
            </a:r>
            <a:r>
              <a:rPr sz="1700" dirty="0">
                <a:latin typeface="Arial MT"/>
                <a:cs typeface="Arial MT"/>
              </a:rPr>
              <a:t>hasn't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seen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update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spc="-20" dirty="0">
                <a:latin typeface="Arial MT"/>
                <a:cs typeface="Arial MT"/>
              </a:rPr>
              <a:t>yet.</a:t>
            </a:r>
            <a:endParaRPr sz="1700" dirty="0">
              <a:latin typeface="Arial MT"/>
              <a:cs typeface="Arial MT"/>
            </a:endParaRPr>
          </a:p>
          <a:p>
            <a:pPr marL="45720" marR="212725">
              <a:lnSpc>
                <a:spcPct val="114999"/>
              </a:lnSpc>
              <a:spcBef>
                <a:spcPts val="1800"/>
              </a:spcBef>
            </a:pPr>
            <a:r>
              <a:rPr sz="1700" b="1" dirty="0">
                <a:latin typeface="Arial"/>
                <a:cs typeface="Arial"/>
              </a:rPr>
              <a:t>This</a:t>
            </a:r>
            <a:r>
              <a:rPr sz="1700" b="1" spc="-4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breaks</a:t>
            </a:r>
            <a:r>
              <a:rPr sz="1700" b="1" spc="-4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the</a:t>
            </a:r>
            <a:r>
              <a:rPr sz="1700" b="1" spc="-4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synchronization</a:t>
            </a:r>
            <a:r>
              <a:rPr sz="1700" b="1" spc="-4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logic</a:t>
            </a:r>
            <a:r>
              <a:rPr sz="1700" b="1" spc="-15" dirty="0">
                <a:latin typeface="Arial"/>
                <a:cs typeface="Arial"/>
              </a:rPr>
              <a:t> </a:t>
            </a:r>
            <a:r>
              <a:rPr sz="1700" dirty="0">
                <a:latin typeface="Arial MT"/>
                <a:cs typeface="Arial MT"/>
              </a:rPr>
              <a:t>because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the </a:t>
            </a:r>
            <a:r>
              <a:rPr sz="1700" dirty="0">
                <a:latin typeface="Arial MT"/>
                <a:cs typeface="Arial MT"/>
              </a:rPr>
              <a:t>threads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rely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on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b="1" spc="-10" dirty="0">
                <a:latin typeface="Arial"/>
                <a:cs typeface="Arial"/>
              </a:rPr>
              <a:t>immediate</a:t>
            </a:r>
            <a:r>
              <a:rPr sz="1700" b="1" spc="-3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visibility</a:t>
            </a:r>
            <a:r>
              <a:rPr sz="1700" b="1" spc="-30" dirty="0">
                <a:latin typeface="Arial"/>
                <a:cs typeface="Arial"/>
              </a:rPr>
              <a:t> </a:t>
            </a:r>
            <a:r>
              <a:rPr sz="1700" dirty="0">
                <a:latin typeface="Arial MT"/>
                <a:cs typeface="Arial MT"/>
              </a:rPr>
              <a:t>of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shared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flags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to </a:t>
            </a:r>
            <a:r>
              <a:rPr sz="1700" dirty="0">
                <a:latin typeface="Arial MT"/>
                <a:cs typeface="Arial MT"/>
              </a:rPr>
              <a:t>coordinate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access.</a:t>
            </a:r>
            <a:endParaRPr sz="1700" dirty="0">
              <a:latin typeface="Arial MT"/>
              <a:cs typeface="Arial MT"/>
            </a:endParaRPr>
          </a:p>
        </p:txBody>
      </p:sp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53974" y="1973775"/>
            <a:ext cx="6090920" cy="4575175"/>
          </a:xfrm>
          <a:custGeom>
            <a:avLst/>
            <a:gdLst/>
            <a:ahLst/>
            <a:cxnLst/>
            <a:rect l="l" t="t" r="r" b="b"/>
            <a:pathLst>
              <a:path w="6090920" h="4575175">
                <a:moveTo>
                  <a:pt x="0" y="0"/>
                </a:moveTo>
                <a:lnTo>
                  <a:pt x="6090299" y="0"/>
                </a:lnTo>
                <a:lnTo>
                  <a:pt x="6090299" y="4574699"/>
                </a:lnTo>
                <a:lnTo>
                  <a:pt x="0" y="457469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026999" y="2002096"/>
            <a:ext cx="5811520" cy="42499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8895">
              <a:lnSpc>
                <a:spcPct val="114999"/>
              </a:lnSpc>
              <a:spcBef>
                <a:spcPts val="100"/>
              </a:spcBef>
            </a:pP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Conditions</a:t>
            </a:r>
            <a:r>
              <a:rPr sz="1700" b="1" spc="-5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like</a:t>
            </a:r>
            <a:r>
              <a:rPr sz="1700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980000"/>
                </a:solidFill>
                <a:latin typeface="Courier New"/>
                <a:cs typeface="Courier New"/>
              </a:rPr>
              <a:t>while</a:t>
            </a:r>
            <a:r>
              <a:rPr sz="1700" b="1" spc="-55" dirty="0">
                <a:solidFill>
                  <a:srgbClr val="980000"/>
                </a:solidFill>
                <a:latin typeface="Courier New"/>
                <a:cs typeface="Courier New"/>
              </a:rPr>
              <a:t> </a:t>
            </a:r>
            <a:r>
              <a:rPr sz="1700" b="1" dirty="0">
                <a:solidFill>
                  <a:srgbClr val="980000"/>
                </a:solidFill>
                <a:latin typeface="Courier New"/>
                <a:cs typeface="Courier New"/>
              </a:rPr>
              <a:t>(flag2</a:t>
            </a:r>
            <a:r>
              <a:rPr sz="1700" b="1" spc="-55" dirty="0">
                <a:solidFill>
                  <a:srgbClr val="980000"/>
                </a:solidFill>
                <a:latin typeface="Courier New"/>
                <a:cs typeface="Courier New"/>
              </a:rPr>
              <a:t> </a:t>
            </a:r>
            <a:r>
              <a:rPr sz="1700" b="1" dirty="0">
                <a:solidFill>
                  <a:srgbClr val="980000"/>
                </a:solidFill>
                <a:latin typeface="Courier New"/>
                <a:cs typeface="Courier New"/>
              </a:rPr>
              <a:t>&amp;&amp;</a:t>
            </a:r>
            <a:r>
              <a:rPr sz="1700" b="1" spc="-55" dirty="0">
                <a:solidFill>
                  <a:srgbClr val="980000"/>
                </a:solidFill>
                <a:latin typeface="Courier New"/>
                <a:cs typeface="Courier New"/>
              </a:rPr>
              <a:t> </a:t>
            </a:r>
            <a:r>
              <a:rPr sz="1700" b="1" dirty="0">
                <a:solidFill>
                  <a:srgbClr val="980000"/>
                </a:solidFill>
                <a:latin typeface="Courier New"/>
                <a:cs typeface="Courier New"/>
              </a:rPr>
              <a:t>turn</a:t>
            </a:r>
            <a:r>
              <a:rPr sz="1700" b="1" spc="-55" dirty="0">
                <a:solidFill>
                  <a:srgbClr val="980000"/>
                </a:solidFill>
                <a:latin typeface="Courier New"/>
                <a:cs typeface="Courier New"/>
              </a:rPr>
              <a:t> </a:t>
            </a:r>
            <a:r>
              <a:rPr sz="1700" b="1" dirty="0">
                <a:solidFill>
                  <a:srgbClr val="980000"/>
                </a:solidFill>
                <a:latin typeface="Courier New"/>
                <a:cs typeface="Courier New"/>
              </a:rPr>
              <a:t>==</a:t>
            </a:r>
            <a:r>
              <a:rPr sz="1700" b="1" spc="-55" dirty="0">
                <a:solidFill>
                  <a:srgbClr val="980000"/>
                </a:solidFill>
                <a:latin typeface="Courier New"/>
                <a:cs typeface="Courier New"/>
              </a:rPr>
              <a:t> </a:t>
            </a:r>
            <a:r>
              <a:rPr sz="1700" b="1" spc="-20" dirty="0">
                <a:solidFill>
                  <a:srgbClr val="980000"/>
                </a:solidFill>
                <a:latin typeface="Courier New"/>
                <a:cs typeface="Courier New"/>
              </a:rPr>
              <a:t>2)</a:t>
            </a:r>
            <a:r>
              <a:rPr sz="1700" b="1" spc="-520" dirty="0">
                <a:solidFill>
                  <a:srgbClr val="980000"/>
                </a:solidFill>
                <a:latin typeface="Courier New"/>
                <a:cs typeface="Courier New"/>
              </a:rPr>
              <a:t> </a:t>
            </a: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may</a:t>
            </a:r>
            <a:r>
              <a:rPr sz="1700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fail</a:t>
            </a:r>
            <a:r>
              <a:rPr sz="1700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spc="-25" dirty="0">
                <a:solidFill>
                  <a:srgbClr val="980000"/>
                </a:solidFill>
                <a:latin typeface="Arial"/>
                <a:cs typeface="Arial"/>
              </a:rPr>
              <a:t>to </a:t>
            </a: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detect</a:t>
            </a:r>
            <a:r>
              <a:rPr sz="1700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the</a:t>
            </a:r>
            <a:r>
              <a:rPr sz="1700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true</a:t>
            </a:r>
            <a:r>
              <a:rPr sz="1700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spc="-10" dirty="0">
                <a:solidFill>
                  <a:srgbClr val="980000"/>
                </a:solidFill>
                <a:latin typeface="Arial"/>
                <a:cs typeface="Arial"/>
              </a:rPr>
              <a:t>state.</a:t>
            </a:r>
            <a:endParaRPr sz="1700" dirty="0">
              <a:latin typeface="Arial"/>
              <a:cs typeface="Arial"/>
            </a:endParaRPr>
          </a:p>
          <a:p>
            <a:pPr marL="469900" marR="8890" indent="-351790">
              <a:lnSpc>
                <a:spcPct val="114999"/>
              </a:lnSpc>
              <a:spcBef>
                <a:spcPts val="1200"/>
              </a:spcBef>
              <a:spcAft>
                <a:spcPts val="1200"/>
              </a:spcAft>
              <a:buChar char="●"/>
              <a:tabLst>
                <a:tab pos="469900" algn="l"/>
              </a:tabLst>
            </a:pPr>
            <a:r>
              <a:rPr sz="1700" dirty="0">
                <a:latin typeface="Arial MT"/>
                <a:cs typeface="Arial MT"/>
              </a:rPr>
              <a:t>These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b="1" spc="-20" dirty="0">
                <a:latin typeface="Arial"/>
                <a:cs typeface="Arial"/>
              </a:rPr>
              <a:t>while-</a:t>
            </a:r>
            <a:r>
              <a:rPr sz="1700" b="1" dirty="0">
                <a:latin typeface="Arial"/>
                <a:cs typeface="Arial"/>
              </a:rPr>
              <a:t>loops</a:t>
            </a:r>
            <a:r>
              <a:rPr sz="1700" b="1" spc="-2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are</a:t>
            </a:r>
            <a:r>
              <a:rPr sz="1700" b="1" spc="-2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guard</a:t>
            </a:r>
            <a:r>
              <a:rPr sz="1700" b="1" spc="-2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conditions</a:t>
            </a:r>
            <a:r>
              <a:rPr sz="1700" b="1" spc="-10" dirty="0">
                <a:latin typeface="Arial"/>
                <a:cs typeface="Arial"/>
              </a:rPr>
              <a:t> </a:t>
            </a:r>
            <a:r>
              <a:rPr sz="1700" dirty="0">
                <a:latin typeface="Arial MT"/>
                <a:cs typeface="Arial MT"/>
              </a:rPr>
              <a:t>—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they’re </a:t>
            </a:r>
            <a:r>
              <a:rPr sz="1700" dirty="0">
                <a:latin typeface="Arial MT"/>
                <a:cs typeface="Arial MT"/>
              </a:rPr>
              <a:t>supposed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to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block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thread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until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it’s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safe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to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enter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critical section.</a:t>
            </a:r>
            <a:endParaRPr sz="1700" dirty="0">
              <a:latin typeface="Arial MT"/>
              <a:cs typeface="Arial MT"/>
            </a:endParaRPr>
          </a:p>
          <a:p>
            <a:pPr marL="469900" marR="5080" indent="-351790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sz="1700" dirty="0">
                <a:latin typeface="Arial MT"/>
                <a:cs typeface="Arial MT"/>
              </a:rPr>
              <a:t>If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b="1" spc="-10" dirty="0">
                <a:latin typeface="Arial"/>
                <a:cs typeface="Arial"/>
              </a:rPr>
              <a:t>instruction</a:t>
            </a:r>
            <a:r>
              <a:rPr sz="1700" b="1" spc="-4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reordering</a:t>
            </a:r>
            <a:r>
              <a:rPr sz="1700" b="1" spc="-3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or</a:t>
            </a:r>
            <a:r>
              <a:rPr sz="1700" b="1" spc="-4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delayed</a:t>
            </a:r>
            <a:r>
              <a:rPr sz="1700" b="1" spc="-4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visibility </a:t>
            </a:r>
            <a:r>
              <a:rPr sz="1700" dirty="0">
                <a:latin typeface="Arial MT"/>
                <a:cs typeface="Arial MT"/>
              </a:rPr>
              <a:t>causes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one </a:t>
            </a:r>
            <a:r>
              <a:rPr sz="1700" dirty="0">
                <a:latin typeface="Arial MT"/>
                <a:cs typeface="Arial MT"/>
              </a:rPr>
              <a:t>thread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to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miss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update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made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by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other,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condition </a:t>
            </a:r>
            <a:r>
              <a:rPr sz="1700" b="1" dirty="0">
                <a:latin typeface="Arial"/>
                <a:cs typeface="Arial"/>
              </a:rPr>
              <a:t>fails</a:t>
            </a:r>
            <a:r>
              <a:rPr sz="1700" b="1" spc="-3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to</a:t>
            </a:r>
            <a:r>
              <a:rPr sz="1700" b="1" spc="-3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block</a:t>
            </a:r>
            <a:r>
              <a:rPr sz="1700" dirty="0">
                <a:latin typeface="Arial MT"/>
                <a:cs typeface="Arial MT"/>
              </a:rPr>
              <a:t>,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even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though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it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should.</a:t>
            </a:r>
            <a:endParaRPr sz="17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490"/>
              </a:spcBef>
            </a:pPr>
            <a:r>
              <a:rPr sz="1700" b="1" dirty="0">
                <a:latin typeface="Arial"/>
                <a:cs typeface="Arial"/>
              </a:rPr>
              <a:t>This</a:t>
            </a:r>
            <a:r>
              <a:rPr sz="1700" b="1" spc="-2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leads</a:t>
            </a:r>
            <a:r>
              <a:rPr sz="1700" b="1" spc="-20" dirty="0">
                <a:latin typeface="Arial"/>
                <a:cs typeface="Arial"/>
              </a:rPr>
              <a:t> </a:t>
            </a:r>
            <a:r>
              <a:rPr sz="1700" b="1" spc="-25" dirty="0">
                <a:latin typeface="Arial"/>
                <a:cs typeface="Arial"/>
              </a:rPr>
              <a:t>to:</a:t>
            </a:r>
            <a:endParaRPr sz="1700" dirty="0">
              <a:latin typeface="Arial"/>
              <a:cs typeface="Arial"/>
            </a:endParaRPr>
          </a:p>
          <a:p>
            <a:pPr marL="469265" indent="-351155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har char="●"/>
              <a:tabLst>
                <a:tab pos="469265" algn="l"/>
              </a:tabLst>
            </a:pPr>
            <a:r>
              <a:rPr sz="1700" dirty="0">
                <a:latin typeface="Arial MT"/>
                <a:cs typeface="Arial MT"/>
              </a:rPr>
              <a:t>Threads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b="1" dirty="0">
                <a:latin typeface="Arial"/>
                <a:cs typeface="Arial"/>
              </a:rPr>
              <a:t>skipping</a:t>
            </a:r>
            <a:r>
              <a:rPr sz="1700" b="1" spc="-2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the</a:t>
            </a:r>
            <a:r>
              <a:rPr sz="1700" b="1" spc="-20" dirty="0">
                <a:latin typeface="Arial"/>
                <a:cs typeface="Arial"/>
              </a:rPr>
              <a:t> </a:t>
            </a:r>
            <a:r>
              <a:rPr sz="1700" b="1" spc="-10" dirty="0">
                <a:latin typeface="Arial"/>
                <a:cs typeface="Arial"/>
              </a:rPr>
              <a:t>wait</a:t>
            </a:r>
            <a:r>
              <a:rPr sz="1700" spc="-10" dirty="0">
                <a:latin typeface="Arial MT"/>
                <a:cs typeface="Arial MT"/>
              </a:rPr>
              <a:t>.</a:t>
            </a:r>
            <a:endParaRPr sz="1700" dirty="0">
              <a:latin typeface="Arial MT"/>
              <a:cs typeface="Arial MT"/>
            </a:endParaRPr>
          </a:p>
          <a:p>
            <a:pPr marL="469900" marR="398145" indent="-351790">
              <a:lnSpc>
                <a:spcPct val="114999"/>
              </a:lnSpc>
              <a:buFont typeface="Arial MT"/>
              <a:buChar char="●"/>
              <a:tabLst>
                <a:tab pos="469900" algn="l"/>
              </a:tabLst>
            </a:pPr>
            <a:r>
              <a:rPr sz="1700" b="1" dirty="0">
                <a:latin typeface="Arial"/>
                <a:cs typeface="Arial"/>
              </a:rPr>
              <a:t>Both</a:t>
            </a:r>
            <a:r>
              <a:rPr sz="1700" b="1" spc="-4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thinking</a:t>
            </a:r>
            <a:r>
              <a:rPr sz="1700" b="1" spc="-4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it's</a:t>
            </a:r>
            <a:r>
              <a:rPr sz="1700" b="1" spc="-4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their</a:t>
            </a:r>
            <a:r>
              <a:rPr sz="1700" b="1" spc="-3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turn</a:t>
            </a:r>
            <a:r>
              <a:rPr sz="1700" dirty="0">
                <a:latin typeface="Arial MT"/>
                <a:cs typeface="Arial MT"/>
              </a:rPr>
              <a:t>,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due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to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stale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or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reordered values.</a:t>
            </a:r>
            <a:endParaRPr sz="17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188547"/>
            <a:ext cx="40252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0375" y="1543538"/>
            <a:ext cx="5292090" cy="486088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Condition</a:t>
            </a:r>
            <a:r>
              <a:rPr sz="18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Variables</a:t>
            </a:r>
            <a:endParaRPr sz="1800" dirty="0">
              <a:latin typeface="Georgia"/>
              <a:cs typeface="Georgia"/>
            </a:endParaRPr>
          </a:p>
          <a:p>
            <a:pPr marL="454025" marR="587375" indent="-367030">
              <a:lnSpc>
                <a:spcPct val="114000"/>
              </a:lnSpc>
              <a:spcBef>
                <a:spcPts val="1780"/>
              </a:spcBef>
              <a:spcAft>
                <a:spcPts val="1800"/>
              </a:spcAft>
              <a:buChar char="●"/>
              <a:tabLst>
                <a:tab pos="454025" algn="l"/>
              </a:tabLst>
            </a:pPr>
            <a:r>
              <a:rPr sz="1800" dirty="0">
                <a:latin typeface="Arial MT"/>
                <a:cs typeface="Arial MT"/>
              </a:rPr>
              <a:t>A</a:t>
            </a:r>
            <a:r>
              <a:rPr sz="1800" spc="-114" dirty="0">
                <a:latin typeface="Arial MT"/>
                <a:cs typeface="Arial MT"/>
              </a:rPr>
              <a:t> </a:t>
            </a:r>
            <a:r>
              <a:rPr sz="1800" b="1" spc="-10" dirty="0">
                <a:latin typeface="Arial"/>
                <a:cs typeface="Arial"/>
              </a:rPr>
              <a:t>condition</a:t>
            </a:r>
            <a:r>
              <a:rPr sz="1800" b="1" spc="-1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variable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synchronization </a:t>
            </a:r>
            <a:r>
              <a:rPr sz="1800" dirty="0">
                <a:latin typeface="Arial MT"/>
                <a:cs typeface="Arial MT"/>
              </a:rPr>
              <a:t>primitive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allows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threads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wait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for</a:t>
            </a:r>
            <a:r>
              <a:rPr sz="1800" b="1" spc="-15" dirty="0">
                <a:latin typeface="Arial"/>
                <a:cs typeface="Arial"/>
              </a:rPr>
              <a:t> </a:t>
            </a:r>
            <a:r>
              <a:rPr sz="1800" b="1" spc="-50" dirty="0">
                <a:latin typeface="Arial"/>
                <a:cs typeface="Arial"/>
              </a:rPr>
              <a:t>a </a:t>
            </a:r>
            <a:r>
              <a:rPr sz="1800" b="1" dirty="0">
                <a:latin typeface="Arial"/>
                <a:cs typeface="Arial"/>
              </a:rPr>
              <a:t>specific</a:t>
            </a:r>
            <a:r>
              <a:rPr sz="1800" b="1" spc="-4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condition</a:t>
            </a:r>
            <a:r>
              <a:rPr sz="1800" b="1" spc="-3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become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true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before proceeding.</a:t>
            </a:r>
            <a:endParaRPr sz="1800" dirty="0">
              <a:latin typeface="Arial MT"/>
              <a:cs typeface="Arial MT"/>
            </a:endParaRPr>
          </a:p>
          <a:p>
            <a:pPr marL="454025" marR="5080" indent="-367030">
              <a:lnSpc>
                <a:spcPct val="114000"/>
              </a:lnSpc>
              <a:spcBef>
                <a:spcPts val="5"/>
              </a:spcBef>
              <a:spcAft>
                <a:spcPts val="1800"/>
              </a:spcAft>
              <a:buChar char="●"/>
              <a:tabLst>
                <a:tab pos="454025" algn="l"/>
              </a:tabLst>
            </a:pPr>
            <a:r>
              <a:rPr sz="1800" dirty="0">
                <a:latin typeface="Arial MT"/>
                <a:cs typeface="Arial MT"/>
              </a:rPr>
              <a:t>They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work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conjunction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mutex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10" dirty="0">
                <a:latin typeface="Arial MT"/>
                <a:cs typeface="Arial MT"/>
              </a:rPr>
              <a:t> avoid busy-</a:t>
            </a:r>
            <a:r>
              <a:rPr sz="1800" dirty="0">
                <a:latin typeface="Arial MT"/>
                <a:cs typeface="Arial MT"/>
              </a:rPr>
              <a:t>waiting,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where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thread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repeatedly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checks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condition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loop,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wasting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CPU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cycles.</a:t>
            </a:r>
            <a:endParaRPr sz="1800" dirty="0">
              <a:latin typeface="Arial MT"/>
              <a:cs typeface="Arial MT"/>
            </a:endParaRPr>
          </a:p>
          <a:p>
            <a:pPr marL="454025" indent="-366395">
              <a:lnSpc>
                <a:spcPct val="114000"/>
              </a:lnSpc>
              <a:spcBef>
                <a:spcPts val="5"/>
              </a:spcBef>
              <a:buChar char="●"/>
              <a:tabLst>
                <a:tab pos="454025" algn="l"/>
              </a:tabLst>
            </a:pPr>
            <a:r>
              <a:rPr sz="1800" dirty="0">
                <a:latin typeface="Arial MT"/>
                <a:cs typeface="Arial MT"/>
              </a:rPr>
              <a:t>Threads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can:</a:t>
            </a:r>
            <a:endParaRPr sz="1800" dirty="0">
              <a:latin typeface="Arial MT"/>
              <a:cs typeface="Arial MT"/>
            </a:endParaRPr>
          </a:p>
          <a:p>
            <a:pPr marL="911225" lvl="1" indent="-419100">
              <a:lnSpc>
                <a:spcPct val="114000"/>
              </a:lnSpc>
              <a:buFont typeface="Arial MT"/>
              <a:buAutoNum type="arabicPeriod"/>
              <a:tabLst>
                <a:tab pos="911225" algn="l"/>
              </a:tabLst>
            </a:pPr>
            <a:r>
              <a:rPr sz="1800" b="1" dirty="0">
                <a:latin typeface="Arial"/>
                <a:cs typeface="Arial"/>
              </a:rPr>
              <a:t>Wait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on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condition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variable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until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another</a:t>
            </a:r>
            <a:endParaRPr sz="1800" dirty="0">
              <a:latin typeface="Arial MT"/>
              <a:cs typeface="Arial MT"/>
            </a:endParaRPr>
          </a:p>
          <a:p>
            <a:pPr marL="911225">
              <a:lnSpc>
                <a:spcPct val="114000"/>
              </a:lnSpc>
              <a:spcBef>
                <a:spcPts val="320"/>
              </a:spcBef>
              <a:spcAft>
                <a:spcPts val="600"/>
              </a:spcAft>
            </a:pPr>
            <a:r>
              <a:rPr sz="1800" dirty="0">
                <a:latin typeface="Arial MT"/>
                <a:cs typeface="Arial MT"/>
              </a:rPr>
              <a:t>thread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signals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condition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0" dirty="0">
                <a:latin typeface="Arial MT"/>
                <a:cs typeface="Arial MT"/>
              </a:rPr>
              <a:t> met.</a:t>
            </a:r>
            <a:endParaRPr sz="1800" dirty="0">
              <a:latin typeface="Arial MT"/>
              <a:cs typeface="Arial MT"/>
            </a:endParaRPr>
          </a:p>
          <a:p>
            <a:pPr marL="911225" marR="295275" lvl="1" indent="-419734">
              <a:lnSpc>
                <a:spcPct val="114000"/>
              </a:lnSpc>
              <a:buFont typeface="Arial MT"/>
              <a:buAutoNum type="arabicPeriod" startAt="2"/>
              <a:tabLst>
                <a:tab pos="911225" algn="l"/>
              </a:tabLst>
            </a:pPr>
            <a:r>
              <a:rPr sz="1800" b="1" dirty="0">
                <a:latin typeface="Arial"/>
                <a:cs typeface="Arial"/>
              </a:rPr>
              <a:t>Signal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condition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variable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wake</a:t>
            </a:r>
            <a:r>
              <a:rPr sz="1800" spc="-25" dirty="0">
                <a:latin typeface="Arial MT"/>
                <a:cs typeface="Arial MT"/>
              </a:rPr>
              <a:t> up </a:t>
            </a:r>
            <a:r>
              <a:rPr sz="1800" dirty="0">
                <a:latin typeface="Arial MT"/>
                <a:cs typeface="Arial MT"/>
              </a:rPr>
              <a:t>one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more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waiting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threads.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567950" y="3043099"/>
            <a:ext cx="4624070" cy="1293495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6200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00"/>
              </a:spcBef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Recommended</a:t>
            </a:r>
            <a:r>
              <a:rPr sz="18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reading:</a:t>
            </a:r>
            <a:endParaRPr sz="1800">
              <a:latin typeface="Arial MT"/>
              <a:cs typeface="Arial MT"/>
            </a:endParaRPr>
          </a:p>
          <a:p>
            <a:pPr marL="85725" marR="184785">
              <a:lnSpc>
                <a:spcPct val="100000"/>
              </a:lnSpc>
            </a:pPr>
            <a:r>
              <a:rPr sz="1800" u="heavy" spc="-10" dirty="0">
                <a:solidFill>
                  <a:srgbClr val="00688C"/>
                </a:solidFill>
                <a:uFill>
                  <a:solidFill>
                    <a:srgbClr val="00688C"/>
                  </a:solidFill>
                </a:uFill>
                <a:latin typeface="Arial MT"/>
                <a:cs typeface="Arial MT"/>
                <a:hlinkClick r:id="rId3"/>
              </a:rPr>
              <a:t>http://www.robert-puskas.info/2019/03/over</a:t>
            </a:r>
            <a:r>
              <a:rPr sz="1800" spc="-10" dirty="0">
                <a:solidFill>
                  <a:srgbClr val="00688C"/>
                </a:solidFill>
                <a:latin typeface="Arial MT"/>
                <a:cs typeface="Arial MT"/>
              </a:rPr>
              <a:t> </a:t>
            </a:r>
            <a:r>
              <a:rPr sz="1800" u="heavy" spc="-10" dirty="0">
                <a:solidFill>
                  <a:srgbClr val="00688C"/>
                </a:solidFill>
                <a:uFill>
                  <a:solidFill>
                    <a:srgbClr val="00688C"/>
                  </a:solidFill>
                </a:uFill>
                <a:latin typeface="Arial MT"/>
                <a:cs typeface="Arial MT"/>
                <a:hlinkClick r:id="rId3"/>
              </a:rPr>
              <a:t>view-cpp-concurrency-pt2.html</a:t>
            </a:r>
            <a:endParaRPr sz="1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  <a:p>
            <a:pPr marL="12700">
              <a:lnSpc>
                <a:spcPts val="2060"/>
              </a:lnSpc>
            </a:pPr>
            <a:r>
              <a:rPr sz="1800" spc="-10" dirty="0"/>
              <a:t>Condition</a:t>
            </a:r>
            <a:r>
              <a:rPr sz="1800" spc="-35" dirty="0"/>
              <a:t> </a:t>
            </a:r>
            <a:r>
              <a:rPr sz="1800" spc="-10" dirty="0"/>
              <a:t>Variables</a:t>
            </a:r>
            <a:endParaRPr sz="1800"/>
          </a:p>
        </p:txBody>
      </p:sp>
      <p:sp>
        <p:nvSpPr>
          <p:cNvPr id="7" name="object 7"/>
          <p:cNvSpPr txBox="1"/>
          <p:nvPr/>
        </p:nvSpPr>
        <p:spPr>
          <a:xfrm>
            <a:off x="570774" y="2590031"/>
            <a:ext cx="3935095" cy="347300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33350">
              <a:lnSpc>
                <a:spcPct val="114000"/>
              </a:lnSpc>
              <a:spcBef>
                <a:spcPts val="100"/>
              </a:spcBef>
            </a:pP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Thread</a:t>
            </a:r>
            <a:r>
              <a:rPr sz="1800" b="1" spc="-7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35" dirty="0">
                <a:solidFill>
                  <a:srgbClr val="0F2044"/>
                </a:solidFill>
                <a:latin typeface="Arial"/>
                <a:cs typeface="Arial"/>
              </a:rPr>
              <a:t>‘A’</a:t>
            </a:r>
            <a:r>
              <a:rPr sz="1800" b="1" spc="-10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is</a:t>
            </a:r>
            <a:r>
              <a:rPr sz="1800" b="1" spc="-4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continuously</a:t>
            </a:r>
            <a:r>
              <a:rPr sz="1800" b="1" spc="-4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polling</a:t>
            </a:r>
            <a:r>
              <a:rPr sz="1800" b="1" spc="-4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50" dirty="0">
                <a:solidFill>
                  <a:srgbClr val="0F2044"/>
                </a:solidFill>
                <a:latin typeface="Arial"/>
                <a:cs typeface="Arial"/>
              </a:rPr>
              <a:t>f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to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check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if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it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becomes</a:t>
            </a:r>
            <a:r>
              <a:rPr sz="1800" b="1" spc="-2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true.</a:t>
            </a:r>
            <a:endParaRPr sz="1800" dirty="0">
              <a:latin typeface="Arial"/>
              <a:cs typeface="Arial"/>
            </a:endParaRPr>
          </a:p>
          <a:p>
            <a:pPr>
              <a:lnSpc>
                <a:spcPct val="114000"/>
              </a:lnSpc>
              <a:spcBef>
                <a:spcPts val="90"/>
              </a:spcBef>
            </a:pPr>
            <a:endParaRPr sz="1800" dirty="0">
              <a:latin typeface="Arial"/>
              <a:cs typeface="Arial"/>
            </a:endParaRPr>
          </a:p>
          <a:p>
            <a:pPr marL="12700" marR="5080">
              <a:lnSpc>
                <a:spcPct val="114000"/>
              </a:lnSpc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This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is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most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basic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way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wait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for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50" dirty="0">
                <a:solidFill>
                  <a:srgbClr val="0F2044"/>
                </a:solidFill>
                <a:latin typeface="Arial MT"/>
                <a:cs typeface="Arial MT"/>
              </a:rPr>
              <a:t>a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particular</a:t>
            </a:r>
            <a:r>
              <a:rPr sz="18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condition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become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true,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which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can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be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implemented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with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50" dirty="0">
                <a:solidFill>
                  <a:srgbClr val="0F2044"/>
                </a:solidFill>
                <a:latin typeface="Arial MT"/>
                <a:cs typeface="Arial MT"/>
              </a:rPr>
              <a:t>a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simple</a:t>
            </a:r>
            <a:r>
              <a:rPr sz="18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loop.</a:t>
            </a:r>
            <a:r>
              <a:rPr sz="18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Thread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50" dirty="0">
                <a:solidFill>
                  <a:srgbClr val="0F2044"/>
                </a:solidFill>
                <a:latin typeface="Arial MT"/>
                <a:cs typeface="Arial MT"/>
              </a:rPr>
              <a:t>‘A’</a:t>
            </a:r>
            <a:r>
              <a:rPr sz="1800" spc="-7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polls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50" dirty="0">
                <a:solidFill>
                  <a:srgbClr val="0F2044"/>
                </a:solidFill>
                <a:latin typeface="Arial MT"/>
                <a:cs typeface="Arial MT"/>
              </a:rPr>
              <a:t>f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continuously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until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it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becomes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true,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which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is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resource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hungry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operation.</a:t>
            </a:r>
            <a:endParaRPr sz="1800" dirty="0">
              <a:latin typeface="Arial MT"/>
              <a:cs typeface="Arial MT"/>
            </a:endParaRPr>
          </a:p>
          <a:p>
            <a:pPr marL="12700" marR="118110">
              <a:lnSpc>
                <a:spcPct val="114000"/>
              </a:lnSpc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Because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that,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this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approach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is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also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called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busy-</a:t>
            </a:r>
            <a:r>
              <a:rPr sz="1800" b="1" spc="-20" dirty="0">
                <a:solidFill>
                  <a:srgbClr val="0F2044"/>
                </a:solidFill>
                <a:latin typeface="Arial"/>
                <a:cs typeface="Arial"/>
              </a:rPr>
              <a:t>wait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.</a:t>
            </a:r>
            <a:endParaRPr sz="1800" dirty="0">
              <a:latin typeface="Arial MT"/>
              <a:cs typeface="Arial MT"/>
            </a:endParaRPr>
          </a:p>
        </p:txBody>
      </p:sp>
      <p:grpSp>
        <p:nvGrpSpPr>
          <p:cNvPr id="3" name="object 3" descr="A diagram of two threads, A and B, where Thread A repeatedly runs assertions on a boolean flag while Thread B eventually sets the flag to true.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GrpSpPr/>
          <p:nvPr/>
        </p:nvGrpSpPr>
        <p:grpSpPr>
          <a:xfrm>
            <a:off x="5019675" y="1317824"/>
            <a:ext cx="6678295" cy="5016500"/>
            <a:chOff x="5019675" y="1317824"/>
            <a:chExt cx="6678295" cy="501650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526407" y="1830851"/>
              <a:ext cx="5752498" cy="4034303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5024437" y="1322587"/>
              <a:ext cx="6668770" cy="5006975"/>
            </a:xfrm>
            <a:custGeom>
              <a:avLst/>
              <a:gdLst/>
              <a:ahLst/>
              <a:cxnLst/>
              <a:rect l="l" t="t" r="r" b="b"/>
              <a:pathLst>
                <a:path w="6668770" h="5006975">
                  <a:moveTo>
                    <a:pt x="0" y="0"/>
                  </a:moveTo>
                  <a:lnTo>
                    <a:pt x="6668325" y="0"/>
                  </a:lnTo>
                  <a:lnTo>
                    <a:pt x="6668325" y="5006774"/>
                  </a:lnTo>
                  <a:lnTo>
                    <a:pt x="0" y="500677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516324" y="6359511"/>
            <a:ext cx="201041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dirty="0">
                <a:latin typeface="Arial MT"/>
                <a:cs typeface="Arial MT"/>
              </a:rPr>
              <a:t>Image</a:t>
            </a:r>
            <a:r>
              <a:rPr sz="800" spc="20" dirty="0">
                <a:latin typeface="Arial MT"/>
                <a:cs typeface="Arial MT"/>
              </a:rPr>
              <a:t> </a:t>
            </a:r>
            <a:r>
              <a:rPr sz="800" dirty="0">
                <a:latin typeface="Arial MT"/>
                <a:cs typeface="Arial MT"/>
              </a:rPr>
              <a:t>credit</a:t>
            </a:r>
            <a:r>
              <a:rPr sz="800" spc="20" dirty="0">
                <a:latin typeface="Arial MT"/>
                <a:cs typeface="Arial MT"/>
              </a:rPr>
              <a:t> </a:t>
            </a:r>
            <a:r>
              <a:rPr sz="800" dirty="0">
                <a:latin typeface="Arial MT"/>
                <a:cs typeface="Arial MT"/>
              </a:rPr>
              <a:t>-</a:t>
            </a:r>
            <a:r>
              <a:rPr sz="800" spc="25" dirty="0">
                <a:latin typeface="Arial MT"/>
                <a:cs typeface="Arial MT"/>
              </a:rPr>
              <a:t> </a:t>
            </a:r>
            <a:r>
              <a:rPr sz="800" spc="-20" dirty="0">
                <a:latin typeface="Arial MT"/>
                <a:cs typeface="Arial MT"/>
                <a:hlinkClick r:id="rId4"/>
              </a:rPr>
              <a:t>http://www.robert-</a:t>
            </a:r>
            <a:r>
              <a:rPr sz="800" spc="-10" dirty="0">
                <a:latin typeface="Arial MT"/>
                <a:cs typeface="Arial MT"/>
                <a:hlinkClick r:id="rId4"/>
              </a:rPr>
              <a:t>puskas.info/</a:t>
            </a:r>
            <a:endParaRPr sz="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188547"/>
            <a:ext cx="40252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0375" y="1543538"/>
            <a:ext cx="20326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Condition</a:t>
            </a:r>
            <a:r>
              <a:rPr sz="18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Variables</a:t>
            </a:r>
            <a:endParaRPr sz="1800">
              <a:latin typeface="Georgia"/>
              <a:cs typeface="Georgia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AA5F2E3-2B30-7AE8-C458-6F45DF137F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024437" y="1322587"/>
            <a:ext cx="6668770" cy="5006975"/>
            <a:chOff x="5024437" y="1322587"/>
            <a:chExt cx="6668770" cy="500697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526407" y="1830851"/>
              <a:ext cx="5752498" cy="4034303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024437" y="1322587"/>
              <a:ext cx="6668770" cy="5006975"/>
            </a:xfrm>
            <a:custGeom>
              <a:avLst/>
              <a:gdLst/>
              <a:ahLst/>
              <a:cxnLst/>
              <a:rect l="l" t="t" r="r" b="b"/>
              <a:pathLst>
                <a:path w="6668770" h="5006975">
                  <a:moveTo>
                    <a:pt x="0" y="0"/>
                  </a:moveTo>
                  <a:lnTo>
                    <a:pt x="6668325" y="0"/>
                  </a:lnTo>
                  <a:lnTo>
                    <a:pt x="6668325" y="5006774"/>
                  </a:lnTo>
                  <a:lnTo>
                    <a:pt x="0" y="500677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06ABFB1-0E05-FA5B-6723-7026AC77FC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97749" y="3364350"/>
            <a:ext cx="6128385" cy="2894330"/>
            <a:chOff x="497749" y="3364350"/>
            <a:chExt cx="6128385" cy="2894330"/>
          </a:xfrm>
        </p:grpSpPr>
        <p:sp>
          <p:nvSpPr>
            <p:cNvPr id="7" name="object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97749" y="3364350"/>
              <a:ext cx="6128385" cy="2894330"/>
            </a:xfrm>
            <a:custGeom>
              <a:avLst/>
              <a:gdLst/>
              <a:ahLst/>
              <a:cxnLst/>
              <a:rect l="l" t="t" r="r" b="b"/>
              <a:pathLst>
                <a:path w="6128384" h="2894329">
                  <a:moveTo>
                    <a:pt x="6128099" y="2893799"/>
                  </a:moveTo>
                  <a:lnTo>
                    <a:pt x="0" y="2893799"/>
                  </a:lnTo>
                  <a:lnTo>
                    <a:pt x="0" y="0"/>
                  </a:lnTo>
                  <a:lnTo>
                    <a:pt x="6128099" y="0"/>
                  </a:lnTo>
                  <a:lnTo>
                    <a:pt x="6128099" y="28937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97749" y="3364350"/>
              <a:ext cx="6128385" cy="2894330"/>
            </a:xfrm>
            <a:custGeom>
              <a:avLst/>
              <a:gdLst/>
              <a:ahLst/>
              <a:cxnLst/>
              <a:rect l="l" t="t" r="r" b="b"/>
              <a:pathLst>
                <a:path w="6128384" h="2894329">
                  <a:moveTo>
                    <a:pt x="0" y="0"/>
                  </a:moveTo>
                  <a:lnTo>
                    <a:pt x="6128099" y="0"/>
                  </a:lnTo>
                  <a:lnTo>
                    <a:pt x="6128099" y="2893799"/>
                  </a:lnTo>
                  <a:lnTo>
                    <a:pt x="0" y="28937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A00C3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body" idx="1"/>
          </p:nvPr>
        </p:nvSpPr>
        <p:spPr>
          <a:xfrm>
            <a:off x="570774" y="2590031"/>
            <a:ext cx="5892165" cy="34342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091055">
              <a:lnSpc>
                <a:spcPct val="100000"/>
              </a:lnSpc>
              <a:spcBef>
                <a:spcPts val="100"/>
              </a:spcBef>
            </a:pPr>
            <a:r>
              <a:rPr dirty="0"/>
              <a:t>Thread</a:t>
            </a:r>
            <a:r>
              <a:rPr spc="-75" dirty="0"/>
              <a:t> </a:t>
            </a:r>
            <a:r>
              <a:rPr spc="-35" dirty="0"/>
              <a:t>‘A’</a:t>
            </a:r>
            <a:r>
              <a:rPr spc="-105" dirty="0"/>
              <a:t> </a:t>
            </a:r>
            <a:r>
              <a:rPr dirty="0"/>
              <a:t>is</a:t>
            </a:r>
            <a:r>
              <a:rPr spc="-40" dirty="0"/>
              <a:t> </a:t>
            </a:r>
            <a:r>
              <a:rPr dirty="0"/>
              <a:t>continuously</a:t>
            </a:r>
            <a:r>
              <a:rPr spc="-40" dirty="0"/>
              <a:t> </a:t>
            </a:r>
            <a:r>
              <a:rPr dirty="0"/>
              <a:t>polling</a:t>
            </a:r>
            <a:r>
              <a:rPr spc="-40" dirty="0"/>
              <a:t> </a:t>
            </a:r>
            <a:r>
              <a:rPr spc="-50" dirty="0"/>
              <a:t>f </a:t>
            </a:r>
            <a:r>
              <a:rPr dirty="0"/>
              <a:t>to</a:t>
            </a:r>
            <a:r>
              <a:rPr spc="-25" dirty="0"/>
              <a:t> </a:t>
            </a:r>
            <a:r>
              <a:rPr dirty="0"/>
              <a:t>check</a:t>
            </a:r>
            <a:r>
              <a:rPr spc="-25" dirty="0"/>
              <a:t> </a:t>
            </a:r>
            <a:r>
              <a:rPr dirty="0"/>
              <a:t>if</a:t>
            </a:r>
            <a:r>
              <a:rPr spc="-25" dirty="0"/>
              <a:t> </a:t>
            </a:r>
            <a:r>
              <a:rPr dirty="0"/>
              <a:t>it</a:t>
            </a:r>
            <a:r>
              <a:rPr spc="-25" dirty="0"/>
              <a:t> </a:t>
            </a:r>
            <a:r>
              <a:rPr dirty="0"/>
              <a:t>becomes</a:t>
            </a:r>
            <a:r>
              <a:rPr spc="-20" dirty="0"/>
              <a:t> </a:t>
            </a:r>
            <a:r>
              <a:rPr spc="-10" dirty="0"/>
              <a:t>true.</a:t>
            </a:r>
          </a:p>
          <a:p>
            <a:pPr>
              <a:lnSpc>
                <a:spcPct val="100000"/>
              </a:lnSpc>
              <a:spcBef>
                <a:spcPts val="220"/>
              </a:spcBef>
            </a:pPr>
            <a:endParaRPr spc="-10" dirty="0"/>
          </a:p>
          <a:p>
            <a:pPr marL="12700" marR="229870">
              <a:lnSpc>
                <a:spcPct val="100000"/>
              </a:lnSpc>
            </a:pP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Polling</a:t>
            </a:r>
            <a:r>
              <a:rPr sz="1500" b="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means</a:t>
            </a:r>
            <a:r>
              <a:rPr sz="1500" b="0" spc="-3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980000"/>
                </a:solidFill>
              </a:rPr>
              <a:t>repeatedly</a:t>
            </a:r>
            <a:r>
              <a:rPr sz="1500" spc="-30" dirty="0">
                <a:solidFill>
                  <a:srgbClr val="980000"/>
                </a:solidFill>
              </a:rPr>
              <a:t> </a:t>
            </a:r>
            <a:r>
              <a:rPr sz="1500" dirty="0">
                <a:solidFill>
                  <a:srgbClr val="980000"/>
                </a:solidFill>
              </a:rPr>
              <a:t>checking</a:t>
            </a:r>
            <a:r>
              <a:rPr sz="1500" spc="-35" dirty="0">
                <a:solidFill>
                  <a:srgbClr val="980000"/>
                </a:solidFill>
              </a:rPr>
              <a:t> </a:t>
            </a:r>
            <a:r>
              <a:rPr sz="1500" dirty="0">
                <a:solidFill>
                  <a:srgbClr val="980000"/>
                </a:solidFill>
              </a:rPr>
              <a:t>a</a:t>
            </a:r>
            <a:r>
              <a:rPr sz="1500" spc="-30" dirty="0">
                <a:solidFill>
                  <a:srgbClr val="980000"/>
                </a:solidFill>
              </a:rPr>
              <a:t> </a:t>
            </a:r>
            <a:r>
              <a:rPr sz="1500" dirty="0">
                <a:solidFill>
                  <a:srgbClr val="980000"/>
                </a:solidFill>
              </a:rPr>
              <a:t>condition</a:t>
            </a:r>
            <a:r>
              <a:rPr sz="1500" spc="-35" dirty="0">
                <a:solidFill>
                  <a:srgbClr val="980000"/>
                </a:solidFill>
              </a:rPr>
              <a:t> </a:t>
            </a:r>
            <a:r>
              <a:rPr sz="1500" dirty="0">
                <a:solidFill>
                  <a:srgbClr val="980000"/>
                </a:solidFill>
              </a:rPr>
              <a:t>in</a:t>
            </a:r>
            <a:r>
              <a:rPr sz="1500" spc="-30" dirty="0">
                <a:solidFill>
                  <a:srgbClr val="980000"/>
                </a:solidFill>
              </a:rPr>
              <a:t> </a:t>
            </a:r>
            <a:r>
              <a:rPr sz="1500" dirty="0">
                <a:solidFill>
                  <a:srgbClr val="980000"/>
                </a:solidFill>
              </a:rPr>
              <a:t>a</a:t>
            </a:r>
            <a:r>
              <a:rPr sz="1500" spc="-35" dirty="0">
                <a:solidFill>
                  <a:srgbClr val="980000"/>
                </a:solidFill>
              </a:rPr>
              <a:t> </a:t>
            </a:r>
            <a:r>
              <a:rPr sz="1500" dirty="0">
                <a:solidFill>
                  <a:srgbClr val="980000"/>
                </a:solidFill>
              </a:rPr>
              <a:t>loop</a:t>
            </a:r>
            <a:r>
              <a:rPr sz="1500" spc="5" dirty="0">
                <a:solidFill>
                  <a:srgbClr val="980000"/>
                </a:solidFill>
              </a:rPr>
              <a:t> </a:t>
            </a:r>
            <a:r>
              <a:rPr sz="1500" b="0" spc="-10" dirty="0">
                <a:solidFill>
                  <a:srgbClr val="980000"/>
                </a:solidFill>
                <a:latin typeface="Arial MT"/>
                <a:cs typeface="Arial MT"/>
              </a:rPr>
              <a:t>without performing</a:t>
            </a:r>
            <a:r>
              <a:rPr sz="1500" b="0" spc="-4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any</a:t>
            </a:r>
            <a:r>
              <a:rPr sz="1500" b="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other</a:t>
            </a:r>
            <a:r>
              <a:rPr sz="1500" b="0" spc="-4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useful</a:t>
            </a:r>
            <a:r>
              <a:rPr sz="1500" b="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task</a:t>
            </a:r>
            <a:r>
              <a:rPr sz="1500" b="0" spc="-4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until</a:t>
            </a:r>
            <a:r>
              <a:rPr sz="1500" b="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the</a:t>
            </a:r>
            <a:r>
              <a:rPr sz="1500" b="0" spc="-4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spc="-10" dirty="0">
                <a:solidFill>
                  <a:srgbClr val="980000"/>
                </a:solidFill>
                <a:latin typeface="Arial MT"/>
                <a:cs typeface="Arial MT"/>
              </a:rPr>
              <a:t>condition</a:t>
            </a:r>
            <a:r>
              <a:rPr sz="1500" b="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becomes</a:t>
            </a:r>
            <a:r>
              <a:rPr sz="1500" b="0" spc="-4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spc="-10" dirty="0">
                <a:solidFill>
                  <a:srgbClr val="980000"/>
                </a:solidFill>
                <a:latin typeface="Arial MT"/>
                <a:cs typeface="Arial MT"/>
              </a:rPr>
              <a:t>true.</a:t>
            </a:r>
            <a:endParaRPr sz="15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75"/>
              </a:spcBef>
            </a:pPr>
            <a:endParaRPr sz="1500" dirty="0">
              <a:latin typeface="Arial MT"/>
              <a:cs typeface="Arial MT"/>
            </a:endParaRPr>
          </a:p>
          <a:p>
            <a:pPr marL="12700" marR="5080">
              <a:lnSpc>
                <a:spcPct val="100000"/>
              </a:lnSpc>
            </a:pP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It</a:t>
            </a:r>
            <a:r>
              <a:rPr sz="1500" b="0" spc="-6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means</a:t>
            </a:r>
            <a:r>
              <a:rPr sz="1500" b="0" spc="-3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980000"/>
                </a:solidFill>
              </a:rPr>
              <a:t>Thread</a:t>
            </a:r>
            <a:r>
              <a:rPr sz="1500" spc="-80" dirty="0">
                <a:solidFill>
                  <a:srgbClr val="980000"/>
                </a:solidFill>
              </a:rPr>
              <a:t> </a:t>
            </a:r>
            <a:r>
              <a:rPr sz="1500" dirty="0">
                <a:solidFill>
                  <a:srgbClr val="980000"/>
                </a:solidFill>
              </a:rPr>
              <a:t>A</a:t>
            </a:r>
            <a:r>
              <a:rPr sz="1500" spc="-25" dirty="0">
                <a:solidFill>
                  <a:srgbClr val="980000"/>
                </a:solidFill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is</a:t>
            </a:r>
            <a:r>
              <a:rPr sz="1500" b="0" spc="-3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repeatedly</a:t>
            </a:r>
            <a:r>
              <a:rPr sz="1500" b="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looking</a:t>
            </a:r>
            <a:r>
              <a:rPr sz="1500" b="0" spc="-3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at</a:t>
            </a:r>
            <a:r>
              <a:rPr sz="1500" b="0" spc="-3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the</a:t>
            </a:r>
            <a:r>
              <a:rPr sz="1500" b="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value</a:t>
            </a:r>
            <a:r>
              <a:rPr sz="1500" b="0" spc="-3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of</a:t>
            </a:r>
            <a:r>
              <a:rPr sz="1500" b="0" spc="-1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980000"/>
                </a:solidFill>
                <a:latin typeface="Courier New"/>
                <a:cs typeface="Courier New"/>
              </a:rPr>
              <a:t>f</a:t>
            </a:r>
            <a:r>
              <a:rPr sz="1500" b="0" spc="-484" dirty="0">
                <a:solidFill>
                  <a:srgbClr val="980000"/>
                </a:solidFill>
                <a:latin typeface="Courier New"/>
                <a:cs typeface="Courier New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in</a:t>
            </a:r>
            <a:r>
              <a:rPr sz="1500" b="0" spc="-3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a</a:t>
            </a:r>
            <a:r>
              <a:rPr sz="1500" b="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loop</a:t>
            </a:r>
            <a:r>
              <a:rPr sz="1500" b="0" spc="-3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spc="-25" dirty="0">
                <a:solidFill>
                  <a:srgbClr val="980000"/>
                </a:solidFill>
                <a:latin typeface="Arial MT"/>
                <a:cs typeface="Arial MT"/>
              </a:rPr>
              <a:t>(or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similar</a:t>
            </a:r>
            <a:r>
              <a:rPr sz="1500" b="0" spc="-4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construct)</a:t>
            </a:r>
            <a:r>
              <a:rPr sz="1500" b="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to</a:t>
            </a:r>
            <a:r>
              <a:rPr sz="1500" b="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see</a:t>
            </a:r>
            <a:r>
              <a:rPr sz="1500" b="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if</a:t>
            </a:r>
            <a:r>
              <a:rPr sz="1500" b="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it</a:t>
            </a:r>
            <a:r>
              <a:rPr sz="1500" b="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has</a:t>
            </a:r>
            <a:r>
              <a:rPr sz="1500" b="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changed</a:t>
            </a:r>
            <a:r>
              <a:rPr sz="1500" b="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to</a:t>
            </a:r>
            <a:r>
              <a:rPr sz="1500" b="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980000"/>
                </a:solidFill>
                <a:latin typeface="Courier New"/>
                <a:cs typeface="Courier New"/>
              </a:rPr>
              <a:t>true</a:t>
            </a:r>
            <a:r>
              <a:rPr sz="1500" b="0" spc="-10" dirty="0">
                <a:solidFill>
                  <a:srgbClr val="980000"/>
                </a:solidFill>
                <a:latin typeface="Arial MT"/>
                <a:cs typeface="Arial MT"/>
              </a:rPr>
              <a:t>.</a:t>
            </a:r>
            <a:endParaRPr sz="15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75"/>
              </a:spcBef>
            </a:pPr>
            <a:endParaRPr sz="1500" dirty="0">
              <a:latin typeface="Arial MT"/>
              <a:cs typeface="Arial MT"/>
            </a:endParaRPr>
          </a:p>
          <a:p>
            <a:pPr marL="466725" marR="324485" indent="-340995" algn="just">
              <a:lnSpc>
                <a:spcPct val="100000"/>
              </a:lnSpc>
              <a:buFont typeface="Arial MT"/>
              <a:buChar char="●"/>
              <a:tabLst>
                <a:tab pos="469900" algn="l"/>
              </a:tabLst>
            </a:pPr>
            <a:r>
              <a:rPr sz="1500" dirty="0">
                <a:solidFill>
                  <a:srgbClr val="980000"/>
                </a:solidFill>
              </a:rPr>
              <a:t>CPU</a:t>
            </a:r>
            <a:r>
              <a:rPr sz="1500" spc="-45" dirty="0">
                <a:solidFill>
                  <a:srgbClr val="980000"/>
                </a:solidFill>
              </a:rPr>
              <a:t> </a:t>
            </a:r>
            <a:r>
              <a:rPr sz="1500" spc="-10" dirty="0">
                <a:solidFill>
                  <a:srgbClr val="980000"/>
                </a:solidFill>
              </a:rPr>
              <a:t>Waste</a:t>
            </a:r>
            <a:r>
              <a:rPr sz="1500" b="0" spc="-10" dirty="0">
                <a:solidFill>
                  <a:srgbClr val="980000"/>
                </a:solidFill>
                <a:latin typeface="Arial MT"/>
                <a:cs typeface="Arial MT"/>
              </a:rPr>
              <a:t>:</a:t>
            </a:r>
            <a:r>
              <a:rPr sz="1500" b="0" spc="-4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Polling</a:t>
            </a:r>
            <a:r>
              <a:rPr sz="1500" b="0" spc="-4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keeps</a:t>
            </a:r>
            <a:r>
              <a:rPr sz="1500" b="0" spc="-4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the</a:t>
            </a:r>
            <a:r>
              <a:rPr sz="1500" b="0" spc="-4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CPU</a:t>
            </a:r>
            <a:r>
              <a:rPr sz="1500" b="0" spc="-4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busy</a:t>
            </a:r>
            <a:r>
              <a:rPr sz="1500" b="0" spc="-4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in</a:t>
            </a:r>
            <a:r>
              <a:rPr sz="1500" b="0" spc="-4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an</a:t>
            </a:r>
            <a:r>
              <a:rPr sz="1500" b="0" spc="-4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spc="-10" dirty="0">
                <a:solidFill>
                  <a:srgbClr val="980000"/>
                </a:solidFill>
                <a:latin typeface="Arial MT"/>
                <a:cs typeface="Arial MT"/>
              </a:rPr>
              <a:t>unnecessary 	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loop,</a:t>
            </a:r>
            <a:r>
              <a:rPr sz="1500" b="0" spc="-5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spc="-10" dirty="0">
                <a:solidFill>
                  <a:srgbClr val="980000"/>
                </a:solidFill>
                <a:latin typeface="Arial MT"/>
                <a:cs typeface="Arial MT"/>
              </a:rPr>
              <a:t>consuming</a:t>
            </a:r>
            <a:r>
              <a:rPr sz="1500" b="0" spc="-5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spc="-10" dirty="0">
                <a:solidFill>
                  <a:srgbClr val="980000"/>
                </a:solidFill>
                <a:latin typeface="Arial MT"/>
                <a:cs typeface="Arial MT"/>
              </a:rPr>
              <a:t>processing</a:t>
            </a:r>
            <a:r>
              <a:rPr sz="1500" b="0" spc="-5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power</a:t>
            </a:r>
            <a:r>
              <a:rPr sz="1500" b="0" spc="-5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without</a:t>
            </a:r>
            <a:r>
              <a:rPr sz="1500" b="0" spc="-5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doing</a:t>
            </a:r>
            <a:r>
              <a:rPr sz="1500" b="0" spc="-5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spc="-10" dirty="0">
                <a:solidFill>
                  <a:srgbClr val="980000"/>
                </a:solidFill>
                <a:latin typeface="Arial MT"/>
                <a:cs typeface="Arial MT"/>
              </a:rPr>
              <a:t>meaningful 	work.</a:t>
            </a:r>
            <a:endParaRPr sz="1500" dirty="0">
              <a:latin typeface="Arial MT"/>
              <a:cs typeface="Arial MT"/>
            </a:endParaRPr>
          </a:p>
          <a:p>
            <a:pPr marL="466725" marR="74295" indent="-340995" algn="just">
              <a:lnSpc>
                <a:spcPct val="100000"/>
              </a:lnSpc>
              <a:buFont typeface="Arial MT"/>
              <a:buChar char="●"/>
              <a:tabLst>
                <a:tab pos="469900" algn="l"/>
              </a:tabLst>
            </a:pPr>
            <a:r>
              <a:rPr sz="1500" dirty="0">
                <a:solidFill>
                  <a:srgbClr val="980000"/>
                </a:solidFill>
              </a:rPr>
              <a:t>Inefficiency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:</a:t>
            </a:r>
            <a:r>
              <a:rPr sz="1500" b="0" spc="-5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Instead</a:t>
            </a:r>
            <a:r>
              <a:rPr sz="1500" b="0" spc="-5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of</a:t>
            </a:r>
            <a:r>
              <a:rPr sz="1500" b="0" spc="-5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sleeping</a:t>
            </a:r>
            <a:r>
              <a:rPr sz="1500" b="0" spc="-4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or</a:t>
            </a:r>
            <a:r>
              <a:rPr sz="1500" b="0" spc="-5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yielding</a:t>
            </a:r>
            <a:r>
              <a:rPr sz="1500" b="0" spc="-5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to</a:t>
            </a:r>
            <a:r>
              <a:rPr sz="1500" b="0" spc="-4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let</a:t>
            </a:r>
            <a:r>
              <a:rPr sz="1500" b="0" spc="-5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other</a:t>
            </a:r>
            <a:r>
              <a:rPr sz="1500" b="0" spc="-5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spc="-10" dirty="0">
                <a:solidFill>
                  <a:srgbClr val="980000"/>
                </a:solidFill>
                <a:latin typeface="Arial MT"/>
                <a:cs typeface="Arial MT"/>
              </a:rPr>
              <a:t>threads 	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or</a:t>
            </a:r>
            <a:r>
              <a:rPr sz="1500" b="0" spc="-7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processes</a:t>
            </a:r>
            <a:r>
              <a:rPr sz="1500" b="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use</a:t>
            </a:r>
            <a:r>
              <a:rPr sz="1500" b="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the</a:t>
            </a:r>
            <a:r>
              <a:rPr sz="1500" b="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CPU,</a:t>
            </a:r>
            <a:r>
              <a:rPr sz="1500" b="0" spc="-5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spc="-20" dirty="0">
                <a:solidFill>
                  <a:srgbClr val="980000"/>
                </a:solidFill>
                <a:latin typeface="Arial MT"/>
                <a:cs typeface="Arial MT"/>
              </a:rPr>
              <a:t>Thread</a:t>
            </a:r>
            <a:r>
              <a:rPr sz="1500" b="0" spc="-8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A</a:t>
            </a:r>
            <a:r>
              <a:rPr sz="1500" b="0" spc="-10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constantly</a:t>
            </a:r>
            <a:r>
              <a:rPr sz="1500" b="0" spc="-3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runs</a:t>
            </a:r>
            <a:r>
              <a:rPr sz="1500" b="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dirty="0">
                <a:solidFill>
                  <a:srgbClr val="980000"/>
                </a:solidFill>
                <a:latin typeface="Arial MT"/>
                <a:cs typeface="Arial MT"/>
              </a:rPr>
              <a:t>the</a:t>
            </a:r>
            <a:r>
              <a:rPr sz="1500" b="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500" b="0" spc="-10" dirty="0">
                <a:solidFill>
                  <a:srgbClr val="980000"/>
                </a:solidFill>
                <a:latin typeface="Arial MT"/>
                <a:cs typeface="Arial MT"/>
              </a:rPr>
              <a:t>check.</a:t>
            </a:r>
            <a:endParaRPr sz="1500" dirty="0">
              <a:latin typeface="Arial MT"/>
              <a:cs typeface="Arial MT"/>
            </a:endParaRPr>
          </a:p>
        </p:txBody>
      </p:sp>
      <p:sp>
        <p:nvSpPr>
          <p:cNvPr id="9" name="object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516324" y="6359511"/>
            <a:ext cx="201041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dirty="0">
                <a:latin typeface="Arial MT"/>
                <a:cs typeface="Arial MT"/>
              </a:rPr>
              <a:t>Image</a:t>
            </a:r>
            <a:r>
              <a:rPr sz="800" spc="20" dirty="0">
                <a:latin typeface="Arial MT"/>
                <a:cs typeface="Arial MT"/>
              </a:rPr>
              <a:t> </a:t>
            </a:r>
            <a:r>
              <a:rPr sz="800" dirty="0">
                <a:latin typeface="Arial MT"/>
                <a:cs typeface="Arial MT"/>
              </a:rPr>
              <a:t>credit</a:t>
            </a:r>
            <a:r>
              <a:rPr sz="800" spc="20" dirty="0">
                <a:latin typeface="Arial MT"/>
                <a:cs typeface="Arial MT"/>
              </a:rPr>
              <a:t> </a:t>
            </a:r>
            <a:r>
              <a:rPr sz="800" dirty="0">
                <a:latin typeface="Arial MT"/>
                <a:cs typeface="Arial MT"/>
              </a:rPr>
              <a:t>-</a:t>
            </a:r>
            <a:r>
              <a:rPr sz="800" spc="25" dirty="0">
                <a:latin typeface="Arial MT"/>
                <a:cs typeface="Arial MT"/>
              </a:rPr>
              <a:t> </a:t>
            </a:r>
            <a:r>
              <a:rPr sz="800" spc="-20" dirty="0">
                <a:latin typeface="Arial MT"/>
                <a:cs typeface="Arial MT"/>
                <a:hlinkClick r:id="rId4"/>
              </a:rPr>
              <a:t>http://www.robert-</a:t>
            </a:r>
            <a:r>
              <a:rPr sz="800" spc="-10" dirty="0">
                <a:latin typeface="Arial MT"/>
                <a:cs typeface="Arial MT"/>
                <a:hlinkClick r:id="rId4"/>
              </a:rPr>
              <a:t>puskas.info/</a:t>
            </a:r>
            <a:endParaRPr sz="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188547"/>
            <a:ext cx="40252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0375" y="1543538"/>
            <a:ext cx="4377690" cy="1316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Condition</a:t>
            </a:r>
            <a:r>
              <a:rPr sz="18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Variables</a:t>
            </a:r>
            <a:endParaRPr sz="1800" dirty="0">
              <a:latin typeface="Georgia"/>
              <a:cs typeface="Georgia"/>
            </a:endParaRPr>
          </a:p>
          <a:p>
            <a:pPr marL="172720" marR="5080">
              <a:lnSpc>
                <a:spcPct val="100000"/>
              </a:lnSpc>
              <a:spcBef>
                <a:spcPts val="1885"/>
              </a:spcBef>
            </a:pP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Thread</a:t>
            </a:r>
            <a:r>
              <a:rPr sz="1700" b="1" spc="-6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spc="-35" dirty="0">
                <a:solidFill>
                  <a:srgbClr val="0F2044"/>
                </a:solidFill>
                <a:latin typeface="Arial"/>
                <a:cs typeface="Arial"/>
              </a:rPr>
              <a:t>‘A’</a:t>
            </a:r>
            <a:r>
              <a:rPr sz="1700" b="1" spc="-10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polls</a:t>
            </a:r>
            <a:r>
              <a:rPr sz="1700" b="1" spc="-4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f</a:t>
            </a:r>
            <a:r>
              <a:rPr sz="1700" b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spc="-20" dirty="0">
                <a:solidFill>
                  <a:srgbClr val="0F2044"/>
                </a:solidFill>
                <a:latin typeface="Arial"/>
                <a:cs typeface="Arial"/>
              </a:rPr>
              <a:t>continuously,</a:t>
            </a:r>
            <a:r>
              <a:rPr sz="1700" b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but</a:t>
            </a:r>
            <a:r>
              <a:rPr sz="1700" b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spc="-20" dirty="0">
                <a:solidFill>
                  <a:srgbClr val="0F2044"/>
                </a:solidFill>
                <a:latin typeface="Arial"/>
                <a:cs typeface="Arial"/>
              </a:rPr>
              <a:t>some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sleeping</a:t>
            </a:r>
            <a:r>
              <a:rPr sz="1700" b="1" spc="-9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periods</a:t>
            </a:r>
            <a:r>
              <a:rPr sz="1700" b="1" spc="-9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are</a:t>
            </a:r>
            <a:r>
              <a:rPr sz="1700" b="1" spc="-8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inserted</a:t>
            </a:r>
            <a:r>
              <a:rPr sz="1700" b="1" spc="-9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spc="-10" dirty="0">
                <a:solidFill>
                  <a:srgbClr val="0F2044"/>
                </a:solidFill>
                <a:latin typeface="Arial"/>
                <a:cs typeface="Arial"/>
              </a:rPr>
              <a:t>between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asserts</a:t>
            </a:r>
            <a:r>
              <a:rPr sz="1700" b="1" spc="-5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to</a:t>
            </a:r>
            <a:r>
              <a:rPr sz="1700" b="1" spc="-5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free</a:t>
            </a:r>
            <a:r>
              <a:rPr sz="1700" b="1" spc="-5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computing</a:t>
            </a:r>
            <a:r>
              <a:rPr sz="1700" b="1" spc="-5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spc="-10" dirty="0">
                <a:solidFill>
                  <a:srgbClr val="0F2044"/>
                </a:solidFill>
                <a:latin typeface="Arial"/>
                <a:cs typeface="Arial"/>
              </a:rPr>
              <a:t>resources.</a:t>
            </a:r>
            <a:endParaRPr sz="17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70774" y="2984068"/>
            <a:ext cx="4260215" cy="37215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6350">
              <a:lnSpc>
                <a:spcPct val="100000"/>
              </a:lnSpc>
              <a:spcBef>
                <a:spcPts val="100"/>
              </a:spcBef>
              <a:spcAft>
                <a:spcPts val="1200"/>
              </a:spcAft>
            </a:pP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17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problem</a:t>
            </a:r>
            <a:r>
              <a:rPr sz="17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with</a:t>
            </a:r>
            <a:r>
              <a:rPr sz="17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such</a:t>
            </a:r>
            <a:r>
              <a:rPr sz="17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an</a:t>
            </a:r>
            <a:r>
              <a:rPr sz="17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approach</a:t>
            </a:r>
            <a:r>
              <a:rPr sz="17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is</a:t>
            </a:r>
            <a:r>
              <a:rPr sz="17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that</a:t>
            </a:r>
            <a:r>
              <a:rPr sz="17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25" dirty="0">
                <a:solidFill>
                  <a:srgbClr val="0F2044"/>
                </a:solidFill>
                <a:latin typeface="Arial MT"/>
                <a:cs typeface="Arial MT"/>
              </a:rPr>
              <a:t>it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is</a:t>
            </a:r>
            <a:r>
              <a:rPr sz="17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really</a:t>
            </a:r>
            <a:r>
              <a:rPr sz="17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hard</a:t>
            </a:r>
            <a:r>
              <a:rPr sz="17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17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guess</a:t>
            </a:r>
            <a:r>
              <a:rPr sz="17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how</a:t>
            </a:r>
            <a:r>
              <a:rPr sz="17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much</a:t>
            </a:r>
            <a:r>
              <a:rPr sz="17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time</a:t>
            </a:r>
            <a:r>
              <a:rPr sz="17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25" dirty="0">
                <a:solidFill>
                  <a:srgbClr val="0F2044"/>
                </a:solidFill>
                <a:latin typeface="Arial MT"/>
                <a:cs typeface="Arial MT"/>
              </a:rPr>
              <a:t>is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needed</a:t>
            </a:r>
            <a:r>
              <a:rPr sz="1700" spc="-9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between</a:t>
            </a:r>
            <a:r>
              <a:rPr sz="1700" spc="-9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asserts.</a:t>
            </a:r>
            <a:endParaRPr sz="1700" dirty="0">
              <a:latin typeface="Arial MT"/>
              <a:cs typeface="Arial MT"/>
            </a:endParaRPr>
          </a:p>
          <a:p>
            <a:pPr marL="12700" marR="17780">
              <a:lnSpc>
                <a:spcPct val="100000"/>
              </a:lnSpc>
              <a:spcAft>
                <a:spcPts val="1200"/>
              </a:spcAft>
            </a:pP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If</a:t>
            </a:r>
            <a:r>
              <a:rPr sz="17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17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b="1" i="1" dirty="0">
                <a:solidFill>
                  <a:srgbClr val="0F2044"/>
                </a:solidFill>
                <a:latin typeface="Arial"/>
                <a:cs typeface="Arial"/>
              </a:rPr>
              <a:t>time</a:t>
            </a:r>
            <a:r>
              <a:rPr sz="1700" b="1" i="1" spc="-4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i="1" dirty="0">
                <a:solidFill>
                  <a:srgbClr val="0F2044"/>
                </a:solidFill>
                <a:latin typeface="Arial"/>
                <a:cs typeface="Arial"/>
              </a:rPr>
              <a:t>is</a:t>
            </a:r>
            <a:r>
              <a:rPr sz="1700" b="1" i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i="1" dirty="0">
                <a:solidFill>
                  <a:srgbClr val="0F2044"/>
                </a:solidFill>
                <a:latin typeface="Arial"/>
                <a:cs typeface="Arial"/>
              </a:rPr>
              <a:t>too</a:t>
            </a:r>
            <a:r>
              <a:rPr sz="1700" b="1" i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i="1" dirty="0">
                <a:solidFill>
                  <a:srgbClr val="0F2044"/>
                </a:solidFill>
                <a:latin typeface="Arial"/>
                <a:cs typeface="Arial"/>
              </a:rPr>
              <a:t>short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,</a:t>
            </a:r>
            <a:r>
              <a:rPr sz="17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than</a:t>
            </a:r>
            <a:r>
              <a:rPr sz="17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17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actual</a:t>
            </a:r>
            <a:r>
              <a:rPr sz="17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20" dirty="0">
                <a:solidFill>
                  <a:srgbClr val="0F2044"/>
                </a:solidFill>
                <a:latin typeface="Arial MT"/>
                <a:cs typeface="Arial MT"/>
              </a:rPr>
              <a:t>gain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is</a:t>
            </a:r>
            <a:r>
              <a:rPr sz="17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17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going</a:t>
            </a:r>
            <a:r>
              <a:rPr sz="17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17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sleep</a:t>
            </a:r>
            <a:r>
              <a:rPr sz="17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periodically</a:t>
            </a:r>
            <a:r>
              <a:rPr sz="17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is</a:t>
            </a:r>
            <a:r>
              <a:rPr sz="17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quite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minimal</a:t>
            </a:r>
            <a:r>
              <a:rPr sz="17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because</a:t>
            </a:r>
            <a:r>
              <a:rPr sz="17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17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17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extra</a:t>
            </a:r>
            <a:r>
              <a:rPr sz="17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resource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consumed</a:t>
            </a:r>
            <a:r>
              <a:rPr sz="17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by</a:t>
            </a:r>
            <a:r>
              <a:rPr sz="17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17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context</a:t>
            </a:r>
            <a:r>
              <a:rPr sz="17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switches themselves.</a:t>
            </a:r>
            <a:endParaRPr sz="1700" dirty="0">
              <a:latin typeface="Arial MT"/>
              <a:cs typeface="Arial MT"/>
            </a:endParaRPr>
          </a:p>
          <a:p>
            <a:pPr marL="12700" marR="5080">
              <a:lnSpc>
                <a:spcPct val="100000"/>
              </a:lnSpc>
            </a:pP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If</a:t>
            </a:r>
            <a:r>
              <a:rPr sz="17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17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b="1" i="1" dirty="0">
                <a:solidFill>
                  <a:srgbClr val="0F2044"/>
                </a:solidFill>
                <a:latin typeface="Arial"/>
                <a:cs typeface="Arial"/>
              </a:rPr>
              <a:t>time</a:t>
            </a:r>
            <a:r>
              <a:rPr sz="1700" b="1" i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i="1" dirty="0">
                <a:solidFill>
                  <a:srgbClr val="0F2044"/>
                </a:solidFill>
                <a:latin typeface="Arial"/>
                <a:cs typeface="Arial"/>
              </a:rPr>
              <a:t>is</a:t>
            </a:r>
            <a:r>
              <a:rPr sz="1700" b="1" i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i="1" dirty="0">
                <a:solidFill>
                  <a:srgbClr val="0F2044"/>
                </a:solidFill>
                <a:latin typeface="Arial"/>
                <a:cs typeface="Arial"/>
              </a:rPr>
              <a:t>too</a:t>
            </a:r>
            <a:r>
              <a:rPr sz="1700" b="1" i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i="1" dirty="0">
                <a:solidFill>
                  <a:srgbClr val="0F2044"/>
                </a:solidFill>
                <a:latin typeface="Arial"/>
                <a:cs typeface="Arial"/>
              </a:rPr>
              <a:t>long</a:t>
            </a:r>
            <a:r>
              <a:rPr sz="1700" b="1" i="1" spc="-2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on</a:t>
            </a:r>
            <a:r>
              <a:rPr sz="17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17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other</a:t>
            </a:r>
            <a:r>
              <a:rPr sz="17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hand,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than</a:t>
            </a:r>
            <a:r>
              <a:rPr sz="17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there</a:t>
            </a:r>
            <a:r>
              <a:rPr sz="17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is</a:t>
            </a:r>
            <a:r>
              <a:rPr sz="17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a</a:t>
            </a:r>
            <a:r>
              <a:rPr sz="17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high</a:t>
            </a:r>
            <a:r>
              <a:rPr sz="17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chance</a:t>
            </a:r>
            <a:r>
              <a:rPr sz="17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that</a:t>
            </a:r>
            <a:r>
              <a:rPr sz="17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17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waiting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thread</a:t>
            </a:r>
            <a:r>
              <a:rPr sz="17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will</a:t>
            </a:r>
            <a:r>
              <a:rPr sz="17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waste</a:t>
            </a:r>
            <a:r>
              <a:rPr sz="17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huge</a:t>
            </a:r>
            <a:r>
              <a:rPr sz="17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amounts</a:t>
            </a:r>
            <a:r>
              <a:rPr sz="17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17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time</a:t>
            </a:r>
            <a:r>
              <a:rPr sz="17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25" dirty="0">
                <a:solidFill>
                  <a:srgbClr val="0F2044"/>
                </a:solidFill>
                <a:latin typeface="Arial MT"/>
                <a:cs typeface="Arial MT"/>
              </a:rPr>
              <a:t>if</a:t>
            </a:r>
            <a:r>
              <a:rPr sz="1700" spc="50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1700" spc="-6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condition</a:t>
            </a:r>
            <a:r>
              <a:rPr sz="17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becomes</a:t>
            </a:r>
            <a:r>
              <a:rPr sz="1700" spc="-6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true</a:t>
            </a:r>
            <a:r>
              <a:rPr sz="1700" spc="-6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quite</a:t>
            </a:r>
            <a:r>
              <a:rPr sz="17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early</a:t>
            </a:r>
            <a:r>
              <a:rPr sz="1700" spc="-6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in</a:t>
            </a:r>
            <a:r>
              <a:rPr sz="17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25" dirty="0">
                <a:solidFill>
                  <a:srgbClr val="0F2044"/>
                </a:solidFill>
                <a:latin typeface="Arial MT"/>
                <a:cs typeface="Arial MT"/>
              </a:rPr>
              <a:t>the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wait</a:t>
            </a:r>
            <a:r>
              <a:rPr sz="17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period.</a:t>
            </a:r>
            <a:endParaRPr sz="1700" dirty="0">
              <a:latin typeface="Arial MT"/>
              <a:cs typeface="Arial MT"/>
            </a:endParaRPr>
          </a:p>
        </p:txBody>
      </p:sp>
      <p:grpSp>
        <p:nvGrpSpPr>
          <p:cNvPr id="6" name="object 6" descr="A diagram showing Thread A checking a flag and sleeping for 50ms between checks until Thread B sets the flag to true."/>
          <p:cNvGrpSpPr/>
          <p:nvPr/>
        </p:nvGrpSpPr>
        <p:grpSpPr>
          <a:xfrm>
            <a:off x="5138749" y="1262524"/>
            <a:ext cx="6706234" cy="5038090"/>
            <a:chOff x="5138749" y="1262524"/>
            <a:chExt cx="6706234" cy="5038090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647596" y="1777692"/>
              <a:ext cx="5776954" cy="405145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143512" y="1267287"/>
              <a:ext cx="6696709" cy="5028565"/>
            </a:xfrm>
            <a:custGeom>
              <a:avLst/>
              <a:gdLst/>
              <a:ahLst/>
              <a:cxnLst/>
              <a:rect l="l" t="t" r="r" b="b"/>
              <a:pathLst>
                <a:path w="6696709" h="5028565">
                  <a:moveTo>
                    <a:pt x="0" y="0"/>
                  </a:moveTo>
                  <a:lnTo>
                    <a:pt x="6696634" y="0"/>
                  </a:lnTo>
                  <a:lnTo>
                    <a:pt x="6696634" y="5028025"/>
                  </a:lnTo>
                  <a:lnTo>
                    <a:pt x="0" y="502802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516324" y="6359511"/>
            <a:ext cx="201041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dirty="0">
                <a:latin typeface="Arial MT"/>
                <a:cs typeface="Arial MT"/>
              </a:rPr>
              <a:t>Image</a:t>
            </a:r>
            <a:r>
              <a:rPr sz="800" spc="20" dirty="0">
                <a:latin typeface="Arial MT"/>
                <a:cs typeface="Arial MT"/>
              </a:rPr>
              <a:t> </a:t>
            </a:r>
            <a:r>
              <a:rPr sz="800" dirty="0">
                <a:latin typeface="Arial MT"/>
                <a:cs typeface="Arial MT"/>
              </a:rPr>
              <a:t>credit</a:t>
            </a:r>
            <a:r>
              <a:rPr sz="800" spc="20" dirty="0">
                <a:latin typeface="Arial MT"/>
                <a:cs typeface="Arial MT"/>
              </a:rPr>
              <a:t> </a:t>
            </a:r>
            <a:r>
              <a:rPr sz="800" dirty="0">
                <a:latin typeface="Arial MT"/>
                <a:cs typeface="Arial MT"/>
              </a:rPr>
              <a:t>-</a:t>
            </a:r>
            <a:r>
              <a:rPr sz="800" spc="25" dirty="0">
                <a:latin typeface="Arial MT"/>
                <a:cs typeface="Arial MT"/>
              </a:rPr>
              <a:t> </a:t>
            </a:r>
            <a:r>
              <a:rPr sz="800" spc="-20" dirty="0">
                <a:latin typeface="Arial MT"/>
                <a:cs typeface="Arial MT"/>
                <a:hlinkClick r:id="rId4"/>
              </a:rPr>
              <a:t>http://www.robert-</a:t>
            </a:r>
            <a:r>
              <a:rPr sz="800" spc="-10" dirty="0">
                <a:latin typeface="Arial MT"/>
                <a:cs typeface="Arial MT"/>
                <a:hlinkClick r:id="rId4"/>
              </a:rPr>
              <a:t>puskas.info/</a:t>
            </a:r>
            <a:endParaRPr sz="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  <a:p>
            <a:pPr marL="12700">
              <a:lnSpc>
                <a:spcPts val="2060"/>
              </a:lnSpc>
            </a:pPr>
            <a:r>
              <a:rPr sz="1800" spc="-10" dirty="0"/>
              <a:t>Condition</a:t>
            </a:r>
            <a:r>
              <a:rPr sz="1800" spc="-35" dirty="0"/>
              <a:t> </a:t>
            </a:r>
            <a:r>
              <a:rPr sz="1800" spc="-10" dirty="0"/>
              <a:t>Variables</a:t>
            </a:r>
            <a:endParaRPr sz="1800"/>
          </a:p>
        </p:txBody>
      </p:sp>
      <p:sp>
        <p:nvSpPr>
          <p:cNvPr id="4" name="object 4"/>
          <p:cNvSpPr txBox="1"/>
          <p:nvPr/>
        </p:nvSpPr>
        <p:spPr>
          <a:xfrm>
            <a:off x="570774" y="3276339"/>
            <a:ext cx="3956685" cy="1061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Thread</a:t>
            </a:r>
            <a:r>
              <a:rPr sz="1700" b="1" spc="-10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spc="-35" dirty="0">
                <a:solidFill>
                  <a:srgbClr val="0F2044"/>
                </a:solidFill>
                <a:latin typeface="Arial"/>
                <a:cs typeface="Arial"/>
              </a:rPr>
              <a:t>‘A’</a:t>
            </a:r>
            <a:r>
              <a:rPr sz="1700" b="1" spc="-10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simply</a:t>
            </a:r>
            <a:r>
              <a:rPr sz="1700" b="1" spc="-6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sleeps</a:t>
            </a:r>
            <a:r>
              <a:rPr sz="1700" b="1" spc="-5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until</a:t>
            </a:r>
            <a:r>
              <a:rPr sz="1700" b="1" spc="-6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spc="-50" dirty="0">
                <a:solidFill>
                  <a:srgbClr val="0F2044"/>
                </a:solidFill>
                <a:latin typeface="Arial"/>
                <a:cs typeface="Arial"/>
              </a:rPr>
              <a:t>f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becomes</a:t>
            </a:r>
            <a:r>
              <a:rPr sz="1700" b="1" spc="-7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true.</a:t>
            </a:r>
            <a:r>
              <a:rPr sz="1700" b="1" spc="-7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Computing</a:t>
            </a:r>
            <a:r>
              <a:rPr sz="1700" b="1" spc="-7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spc="-10" dirty="0">
                <a:solidFill>
                  <a:srgbClr val="0F2044"/>
                </a:solidFill>
                <a:latin typeface="Arial"/>
                <a:cs typeface="Arial"/>
              </a:rPr>
              <a:t>resources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are</a:t>
            </a:r>
            <a:r>
              <a:rPr sz="1700" b="1" spc="-4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free</a:t>
            </a:r>
            <a:r>
              <a:rPr sz="1700" b="1" spc="-4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to</a:t>
            </a:r>
            <a:r>
              <a:rPr sz="1700" b="1" spc="-4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be</a:t>
            </a:r>
            <a:r>
              <a:rPr sz="1700" b="1" spc="-4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utilized</a:t>
            </a:r>
            <a:r>
              <a:rPr sz="1700" b="1" spc="-4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by</a:t>
            </a:r>
            <a:r>
              <a:rPr sz="1700" b="1" spc="-4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other</a:t>
            </a:r>
            <a:r>
              <a:rPr sz="1700" b="1" spc="-4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tasks</a:t>
            </a:r>
            <a:r>
              <a:rPr sz="1700" b="1" spc="-4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spc="-25" dirty="0">
                <a:solidFill>
                  <a:srgbClr val="0F2044"/>
                </a:solidFill>
                <a:latin typeface="Arial"/>
                <a:cs typeface="Arial"/>
              </a:rPr>
              <a:t>in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the</a:t>
            </a:r>
            <a:r>
              <a:rPr sz="17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spc="-10" dirty="0">
                <a:solidFill>
                  <a:srgbClr val="0F2044"/>
                </a:solidFill>
                <a:latin typeface="Arial"/>
                <a:cs typeface="Arial"/>
              </a:rPr>
              <a:t>meantime.</a:t>
            </a:r>
            <a:endParaRPr sz="1700" dirty="0">
              <a:latin typeface="Arial"/>
              <a:cs typeface="Arial"/>
            </a:endParaRPr>
          </a:p>
        </p:txBody>
      </p:sp>
      <p:grpSp>
        <p:nvGrpSpPr>
          <p:cNvPr id="5" name="object 5" descr="A diagram showing Thread A using a &quot;wait_until&quot; command to sleep until Thread B completes a task and sets a flag to true."/>
          <p:cNvGrpSpPr/>
          <p:nvPr/>
        </p:nvGrpSpPr>
        <p:grpSpPr>
          <a:xfrm>
            <a:off x="5110224" y="1240399"/>
            <a:ext cx="6736080" cy="5059680"/>
            <a:chOff x="5110224" y="1240399"/>
            <a:chExt cx="6736080" cy="5059680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621275" y="1757796"/>
              <a:ext cx="5802453" cy="4069321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5114987" y="1245162"/>
              <a:ext cx="6726555" cy="5050155"/>
            </a:xfrm>
            <a:custGeom>
              <a:avLst/>
              <a:gdLst/>
              <a:ahLst/>
              <a:cxnLst/>
              <a:rect l="l" t="t" r="r" b="b"/>
              <a:pathLst>
                <a:path w="6726555" h="5050155">
                  <a:moveTo>
                    <a:pt x="0" y="0"/>
                  </a:moveTo>
                  <a:lnTo>
                    <a:pt x="6726150" y="0"/>
                  </a:lnTo>
                  <a:lnTo>
                    <a:pt x="6726150" y="5050150"/>
                  </a:lnTo>
                  <a:lnTo>
                    <a:pt x="0" y="5050150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516324" y="6359511"/>
            <a:ext cx="201041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dirty="0">
                <a:latin typeface="Arial MT"/>
                <a:cs typeface="Arial MT"/>
              </a:rPr>
              <a:t>Image</a:t>
            </a:r>
            <a:r>
              <a:rPr sz="800" spc="20" dirty="0">
                <a:latin typeface="Arial MT"/>
                <a:cs typeface="Arial MT"/>
              </a:rPr>
              <a:t> </a:t>
            </a:r>
            <a:r>
              <a:rPr sz="800" dirty="0">
                <a:latin typeface="Arial MT"/>
                <a:cs typeface="Arial MT"/>
              </a:rPr>
              <a:t>credit</a:t>
            </a:r>
            <a:r>
              <a:rPr sz="800" spc="20" dirty="0">
                <a:latin typeface="Arial MT"/>
                <a:cs typeface="Arial MT"/>
              </a:rPr>
              <a:t> </a:t>
            </a:r>
            <a:r>
              <a:rPr sz="800" dirty="0">
                <a:latin typeface="Arial MT"/>
                <a:cs typeface="Arial MT"/>
              </a:rPr>
              <a:t>-</a:t>
            </a:r>
            <a:r>
              <a:rPr sz="800" spc="25" dirty="0">
                <a:latin typeface="Arial MT"/>
                <a:cs typeface="Arial MT"/>
              </a:rPr>
              <a:t> </a:t>
            </a:r>
            <a:r>
              <a:rPr sz="800" spc="-20" dirty="0">
                <a:latin typeface="Arial MT"/>
                <a:cs typeface="Arial MT"/>
                <a:hlinkClick r:id="rId4"/>
              </a:rPr>
              <a:t>http://www.robert-</a:t>
            </a:r>
            <a:r>
              <a:rPr sz="800" spc="-10" dirty="0">
                <a:latin typeface="Arial MT"/>
                <a:cs typeface="Arial MT"/>
                <a:hlinkClick r:id="rId4"/>
              </a:rPr>
              <a:t>puskas.info/</a:t>
            </a:r>
            <a:endParaRPr sz="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  <a:p>
            <a:pPr marL="12700">
              <a:lnSpc>
                <a:spcPts val="2060"/>
              </a:lnSpc>
            </a:pPr>
            <a:r>
              <a:rPr sz="1800" spc="-10" dirty="0"/>
              <a:t>Condition</a:t>
            </a:r>
            <a:r>
              <a:rPr sz="1800" spc="-35" dirty="0"/>
              <a:t> </a:t>
            </a:r>
            <a:r>
              <a:rPr sz="1800" spc="-10" dirty="0"/>
              <a:t>Variables</a:t>
            </a:r>
            <a:endParaRPr sz="1800"/>
          </a:p>
        </p:txBody>
      </p:sp>
      <p:sp>
        <p:nvSpPr>
          <p:cNvPr id="4" name="object 4"/>
          <p:cNvSpPr txBox="1"/>
          <p:nvPr/>
        </p:nvSpPr>
        <p:spPr>
          <a:xfrm>
            <a:off x="570774" y="3276339"/>
            <a:ext cx="3740785" cy="543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Utilizing</a:t>
            </a:r>
            <a:r>
              <a:rPr sz="1700" b="1" spc="-7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a</a:t>
            </a:r>
            <a:r>
              <a:rPr sz="1700" b="1" spc="-6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spc="-10" dirty="0">
                <a:solidFill>
                  <a:srgbClr val="0F2044"/>
                </a:solidFill>
                <a:latin typeface="Arial"/>
                <a:cs typeface="Arial"/>
              </a:rPr>
              <a:t>std::condition_variable</a:t>
            </a:r>
            <a:r>
              <a:rPr sz="1700" b="1" spc="-6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spc="-25" dirty="0">
                <a:solidFill>
                  <a:srgbClr val="0F2044"/>
                </a:solidFill>
                <a:latin typeface="Arial"/>
                <a:cs typeface="Arial"/>
              </a:rPr>
              <a:t>to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wait</a:t>
            </a:r>
            <a:r>
              <a:rPr sz="1700" b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for</a:t>
            </a:r>
            <a:r>
              <a:rPr sz="17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some</a:t>
            </a:r>
            <a:r>
              <a:rPr sz="17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spc="-10" dirty="0">
                <a:solidFill>
                  <a:srgbClr val="0F2044"/>
                </a:solidFill>
                <a:latin typeface="Arial"/>
                <a:cs typeface="Arial"/>
              </a:rPr>
              <a:t>condition</a:t>
            </a:r>
            <a:r>
              <a:rPr sz="1700" b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to</a:t>
            </a:r>
            <a:r>
              <a:rPr sz="17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be</a:t>
            </a:r>
            <a:r>
              <a:rPr sz="17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spc="-20" dirty="0">
                <a:solidFill>
                  <a:srgbClr val="0F2044"/>
                </a:solidFill>
                <a:latin typeface="Arial"/>
                <a:cs typeface="Arial"/>
              </a:rPr>
              <a:t>met.</a:t>
            </a:r>
            <a:endParaRPr sz="1700" dirty="0">
              <a:latin typeface="Arial"/>
              <a:cs typeface="Arial"/>
            </a:endParaRPr>
          </a:p>
        </p:txBody>
      </p:sp>
      <p:grpSp>
        <p:nvGrpSpPr>
          <p:cNvPr id="5" name="object 5" descr="A technical flow diagram of C++ synchronization using std::unique_lock and std::condition_variable to coordinate work between two threads."/>
          <p:cNvGrpSpPr/>
          <p:nvPr/>
        </p:nvGrpSpPr>
        <p:grpSpPr>
          <a:xfrm>
            <a:off x="5034050" y="1240399"/>
            <a:ext cx="6736080" cy="5059680"/>
            <a:chOff x="5034050" y="1240399"/>
            <a:chExt cx="6736080" cy="5059680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545098" y="1757796"/>
              <a:ext cx="5802430" cy="4069321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5038812" y="1245162"/>
              <a:ext cx="6726555" cy="5050155"/>
            </a:xfrm>
            <a:custGeom>
              <a:avLst/>
              <a:gdLst/>
              <a:ahLst/>
              <a:cxnLst/>
              <a:rect l="l" t="t" r="r" b="b"/>
              <a:pathLst>
                <a:path w="6726555" h="5050155">
                  <a:moveTo>
                    <a:pt x="0" y="0"/>
                  </a:moveTo>
                  <a:lnTo>
                    <a:pt x="6726124" y="0"/>
                  </a:lnTo>
                  <a:lnTo>
                    <a:pt x="6726124" y="5050150"/>
                  </a:lnTo>
                  <a:lnTo>
                    <a:pt x="0" y="5050150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516324" y="6359511"/>
            <a:ext cx="201041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dirty="0">
                <a:latin typeface="Arial MT"/>
                <a:cs typeface="Arial MT"/>
              </a:rPr>
              <a:t>Image</a:t>
            </a:r>
            <a:r>
              <a:rPr sz="800" spc="20" dirty="0">
                <a:latin typeface="Arial MT"/>
                <a:cs typeface="Arial MT"/>
              </a:rPr>
              <a:t> </a:t>
            </a:r>
            <a:r>
              <a:rPr sz="800" dirty="0">
                <a:latin typeface="Arial MT"/>
                <a:cs typeface="Arial MT"/>
              </a:rPr>
              <a:t>credit</a:t>
            </a:r>
            <a:r>
              <a:rPr sz="800" spc="20" dirty="0">
                <a:latin typeface="Arial MT"/>
                <a:cs typeface="Arial MT"/>
              </a:rPr>
              <a:t> </a:t>
            </a:r>
            <a:r>
              <a:rPr sz="800" dirty="0">
                <a:latin typeface="Arial MT"/>
                <a:cs typeface="Arial MT"/>
              </a:rPr>
              <a:t>-</a:t>
            </a:r>
            <a:r>
              <a:rPr sz="800" spc="25" dirty="0">
                <a:latin typeface="Arial MT"/>
                <a:cs typeface="Arial MT"/>
              </a:rPr>
              <a:t> </a:t>
            </a:r>
            <a:r>
              <a:rPr sz="800" spc="-20" dirty="0">
                <a:latin typeface="Arial MT"/>
                <a:cs typeface="Arial MT"/>
                <a:hlinkClick r:id="rId4"/>
              </a:rPr>
              <a:t>http://www.robert-</a:t>
            </a:r>
            <a:r>
              <a:rPr sz="800" spc="-10" dirty="0">
                <a:latin typeface="Arial MT"/>
                <a:cs typeface="Arial MT"/>
                <a:hlinkClick r:id="rId4"/>
              </a:rPr>
              <a:t>puskas.info/</a:t>
            </a:r>
            <a:endParaRPr sz="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  <a:p>
            <a:pPr marL="12700">
              <a:lnSpc>
                <a:spcPts val="2060"/>
              </a:lnSpc>
            </a:pPr>
            <a:r>
              <a:rPr sz="1800" spc="-10" dirty="0"/>
              <a:t>Condition</a:t>
            </a:r>
            <a:r>
              <a:rPr sz="1800" spc="-35" dirty="0"/>
              <a:t> </a:t>
            </a:r>
            <a:r>
              <a:rPr sz="1800" spc="-10" dirty="0"/>
              <a:t>Variables</a:t>
            </a:r>
            <a:endParaRPr sz="1800"/>
          </a:p>
        </p:txBody>
      </p:sp>
      <p:sp>
        <p:nvSpPr>
          <p:cNvPr id="4" name="object 4"/>
          <p:cNvSpPr txBox="1"/>
          <p:nvPr/>
        </p:nvSpPr>
        <p:spPr>
          <a:xfrm>
            <a:off x="570774" y="3276339"/>
            <a:ext cx="3037205" cy="543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A</a:t>
            </a:r>
            <a:r>
              <a:rPr sz="1700" b="1" spc="-10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usual</a:t>
            </a:r>
            <a:r>
              <a:rPr sz="1700" b="1" spc="-5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workflow</a:t>
            </a:r>
            <a:r>
              <a:rPr sz="1700" b="1" spc="-5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that</a:t>
            </a:r>
            <a:r>
              <a:rPr sz="1700" b="1" spc="-5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spc="-10" dirty="0">
                <a:solidFill>
                  <a:srgbClr val="0F2044"/>
                </a:solidFill>
                <a:latin typeface="Arial"/>
                <a:cs typeface="Arial"/>
              </a:rPr>
              <a:t>utilizes condition</a:t>
            </a:r>
            <a:r>
              <a:rPr sz="1700" b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700" b="1" spc="-10" dirty="0">
                <a:solidFill>
                  <a:srgbClr val="0F2044"/>
                </a:solidFill>
                <a:latin typeface="Arial"/>
                <a:cs typeface="Arial"/>
              </a:rPr>
              <a:t>variables.</a:t>
            </a:r>
            <a:endParaRPr sz="1700" dirty="0">
              <a:latin typeface="Arial"/>
              <a:cs typeface="Arial"/>
            </a:endParaRPr>
          </a:p>
        </p:txBody>
      </p:sp>
      <p:grpSp>
        <p:nvGrpSpPr>
          <p:cNvPr id="5" name="object 5" descr="A high-level overview showing two threads using a mutex and condition variable to validate and invalidate a shared condition."/>
          <p:cNvGrpSpPr/>
          <p:nvPr/>
        </p:nvGrpSpPr>
        <p:grpSpPr>
          <a:xfrm>
            <a:off x="5048775" y="1251449"/>
            <a:ext cx="6721475" cy="5048885"/>
            <a:chOff x="5048775" y="1251449"/>
            <a:chExt cx="6721475" cy="5048885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558723" y="2325167"/>
              <a:ext cx="5789709" cy="3344603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5053537" y="1256212"/>
              <a:ext cx="6711950" cy="5039360"/>
            </a:xfrm>
            <a:custGeom>
              <a:avLst/>
              <a:gdLst/>
              <a:ahLst/>
              <a:cxnLst/>
              <a:rect l="l" t="t" r="r" b="b"/>
              <a:pathLst>
                <a:path w="6711950" h="5039360">
                  <a:moveTo>
                    <a:pt x="0" y="0"/>
                  </a:moveTo>
                  <a:lnTo>
                    <a:pt x="6711399" y="0"/>
                  </a:lnTo>
                  <a:lnTo>
                    <a:pt x="6711399" y="5039099"/>
                  </a:lnTo>
                  <a:lnTo>
                    <a:pt x="0" y="50390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516324" y="6359511"/>
            <a:ext cx="201041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dirty="0">
                <a:latin typeface="Arial MT"/>
                <a:cs typeface="Arial MT"/>
              </a:rPr>
              <a:t>Image</a:t>
            </a:r>
            <a:r>
              <a:rPr sz="800" spc="20" dirty="0">
                <a:latin typeface="Arial MT"/>
                <a:cs typeface="Arial MT"/>
              </a:rPr>
              <a:t> </a:t>
            </a:r>
            <a:r>
              <a:rPr sz="800" dirty="0">
                <a:latin typeface="Arial MT"/>
                <a:cs typeface="Arial MT"/>
              </a:rPr>
              <a:t>credit</a:t>
            </a:r>
            <a:r>
              <a:rPr sz="800" spc="20" dirty="0">
                <a:latin typeface="Arial MT"/>
                <a:cs typeface="Arial MT"/>
              </a:rPr>
              <a:t> </a:t>
            </a:r>
            <a:r>
              <a:rPr sz="800" dirty="0">
                <a:latin typeface="Arial MT"/>
                <a:cs typeface="Arial MT"/>
              </a:rPr>
              <a:t>-</a:t>
            </a:r>
            <a:r>
              <a:rPr sz="800" spc="25" dirty="0">
                <a:latin typeface="Arial MT"/>
                <a:cs typeface="Arial MT"/>
              </a:rPr>
              <a:t> </a:t>
            </a:r>
            <a:r>
              <a:rPr sz="800" spc="-20" dirty="0">
                <a:latin typeface="Arial MT"/>
                <a:cs typeface="Arial MT"/>
                <a:hlinkClick r:id="rId4"/>
              </a:rPr>
              <a:t>http://www.robert-</a:t>
            </a:r>
            <a:r>
              <a:rPr sz="800" spc="-10" dirty="0">
                <a:latin typeface="Arial MT"/>
                <a:cs typeface="Arial MT"/>
                <a:hlinkClick r:id="rId4"/>
              </a:rPr>
              <a:t>puskas.info/</a:t>
            </a:r>
            <a:endParaRPr sz="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188547"/>
            <a:ext cx="40252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95050" y="1543538"/>
            <a:ext cx="3994150" cy="493724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94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Semaphores</a:t>
            </a:r>
            <a:endParaRPr sz="1800" dirty="0">
              <a:latin typeface="Georgia"/>
              <a:cs typeface="Georgia"/>
            </a:endParaRPr>
          </a:p>
          <a:p>
            <a:pPr marL="469900" marR="481330" indent="-367030">
              <a:lnSpc>
                <a:spcPct val="100000"/>
              </a:lnSpc>
              <a:spcBef>
                <a:spcPts val="1780"/>
              </a:spcBef>
              <a:spcAft>
                <a:spcPts val="1200"/>
              </a:spcAft>
              <a:buChar char="●"/>
              <a:tabLst>
                <a:tab pos="469900" algn="l"/>
              </a:tabLst>
            </a:pPr>
            <a:r>
              <a:rPr sz="1800" dirty="0">
                <a:latin typeface="Arial MT"/>
                <a:cs typeface="Arial MT"/>
              </a:rPr>
              <a:t>A</a:t>
            </a:r>
            <a:r>
              <a:rPr sz="1800" spc="-114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counter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that </a:t>
            </a:r>
            <a:r>
              <a:rPr sz="1800" dirty="0">
                <a:latin typeface="Arial MT"/>
                <a:cs typeface="Arial MT"/>
              </a:rPr>
              <a:t>controls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access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shared resources.</a:t>
            </a:r>
            <a:endParaRPr sz="1800" dirty="0">
              <a:latin typeface="Arial MT"/>
              <a:cs typeface="Arial MT"/>
            </a:endParaRPr>
          </a:p>
          <a:p>
            <a:pPr marL="469900" marR="100330" indent="-367030">
              <a:lnSpc>
                <a:spcPct val="100000"/>
              </a:lnSpc>
              <a:spcAft>
                <a:spcPts val="1200"/>
              </a:spcAft>
              <a:buChar char="●"/>
              <a:tabLst>
                <a:tab pos="469900" algn="l"/>
              </a:tabLst>
            </a:pPr>
            <a:r>
              <a:rPr sz="1800" dirty="0">
                <a:latin typeface="Arial MT"/>
                <a:cs typeface="Arial MT"/>
              </a:rPr>
              <a:t>It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limit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number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threads </a:t>
            </a:r>
            <a:r>
              <a:rPr sz="1800" dirty="0">
                <a:latin typeface="Arial MT"/>
                <a:cs typeface="Arial MT"/>
              </a:rPr>
              <a:t>accessing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resource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(e.g.,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only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50" dirty="0">
                <a:latin typeface="Arial MT"/>
                <a:cs typeface="Arial MT"/>
              </a:rPr>
              <a:t>3 </a:t>
            </a:r>
            <a:r>
              <a:rPr sz="1800" dirty="0">
                <a:latin typeface="Arial MT"/>
                <a:cs typeface="Arial MT"/>
              </a:rPr>
              <a:t>threads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can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enter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critical section).</a:t>
            </a:r>
            <a:endParaRPr sz="1800" dirty="0">
              <a:latin typeface="Arial MT"/>
              <a:cs typeface="Arial MT"/>
            </a:endParaRPr>
          </a:p>
          <a:p>
            <a:pPr marL="469900" marR="5080" indent="-367030">
              <a:lnSpc>
                <a:spcPct val="100000"/>
              </a:lnSpc>
              <a:spcAft>
                <a:spcPts val="1800"/>
              </a:spcAft>
              <a:buChar char="●"/>
              <a:tabLst>
                <a:tab pos="469900" algn="l"/>
              </a:tabLst>
            </a:pPr>
            <a:r>
              <a:rPr sz="1800" dirty="0">
                <a:latin typeface="Arial MT"/>
                <a:cs typeface="Arial MT"/>
              </a:rPr>
              <a:t>Functions: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sem_wait</a:t>
            </a:r>
            <a:r>
              <a:rPr sz="1800" b="1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spc="-10" dirty="0">
                <a:latin typeface="Arial MT"/>
                <a:cs typeface="Arial MT"/>
              </a:rPr>
              <a:t>(decrement)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sem_post</a:t>
            </a:r>
            <a:r>
              <a:rPr sz="1800" b="1" spc="-56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spc="-10" dirty="0">
                <a:latin typeface="Arial MT"/>
                <a:cs typeface="Arial MT"/>
              </a:rPr>
              <a:t>(increment).</a:t>
            </a:r>
            <a:endParaRPr sz="1800" dirty="0">
              <a:latin typeface="Arial MT"/>
              <a:cs typeface="Arial MT"/>
            </a:endParaRPr>
          </a:p>
          <a:p>
            <a:pPr marL="12700" marR="217804">
              <a:lnSpc>
                <a:spcPct val="100000"/>
              </a:lnSpc>
              <a:spcBef>
                <a:spcPts val="5"/>
              </a:spcBef>
            </a:pPr>
            <a:r>
              <a:rPr sz="1800" dirty="0">
                <a:latin typeface="Arial MT"/>
                <a:cs typeface="Arial MT"/>
              </a:rPr>
              <a:t>A</a:t>
            </a:r>
            <a:r>
              <a:rPr sz="1800" spc="-1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parking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5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spaces.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Each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car </a:t>
            </a:r>
            <a:r>
              <a:rPr sz="1800" dirty="0">
                <a:latin typeface="Arial MT"/>
                <a:cs typeface="Arial MT"/>
              </a:rPr>
              <a:t>thread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checks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(spots </a:t>
            </a:r>
            <a:r>
              <a:rPr sz="1800" dirty="0">
                <a:latin typeface="Arial MT"/>
                <a:cs typeface="Arial MT"/>
              </a:rPr>
              <a:t>available).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If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spot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free,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thread </a:t>
            </a:r>
            <a:r>
              <a:rPr sz="1800" dirty="0">
                <a:latin typeface="Arial MT"/>
                <a:cs typeface="Arial MT"/>
              </a:rPr>
              <a:t>parks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(decrement).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When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car </a:t>
            </a:r>
            <a:r>
              <a:rPr sz="1800" dirty="0">
                <a:latin typeface="Arial MT"/>
                <a:cs typeface="Arial MT"/>
              </a:rPr>
              <a:t>leaves,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increments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semaphore.</a:t>
            </a:r>
            <a:endParaRPr sz="1800" dirty="0">
              <a:latin typeface="Arial MT"/>
              <a:cs typeface="Arial MT"/>
            </a:endParaRPr>
          </a:p>
        </p:txBody>
      </p:sp>
      <p:grpSp>
        <p:nvGrpSpPr>
          <p:cNvPr id="4" name="object 4" descr="An illustration of a semaphore managing access for four threads to a shared resource with seven available slots."/>
          <p:cNvGrpSpPr/>
          <p:nvPr/>
        </p:nvGrpSpPr>
        <p:grpSpPr>
          <a:xfrm>
            <a:off x="4934875" y="1862799"/>
            <a:ext cx="6949440" cy="4460875"/>
            <a:chOff x="4934875" y="1862799"/>
            <a:chExt cx="6949440" cy="446087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05141" y="2594321"/>
              <a:ext cx="5928491" cy="3419981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4939637" y="1867562"/>
              <a:ext cx="6939915" cy="4451350"/>
            </a:xfrm>
            <a:custGeom>
              <a:avLst/>
              <a:gdLst/>
              <a:ahLst/>
              <a:cxnLst/>
              <a:rect l="l" t="t" r="r" b="b"/>
              <a:pathLst>
                <a:path w="6939915" h="4451350">
                  <a:moveTo>
                    <a:pt x="0" y="0"/>
                  </a:moveTo>
                  <a:lnTo>
                    <a:pt x="6939547" y="0"/>
                  </a:lnTo>
                  <a:lnTo>
                    <a:pt x="6939547" y="4450750"/>
                  </a:lnTo>
                  <a:lnTo>
                    <a:pt x="0" y="4450750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516324" y="6435711"/>
            <a:ext cx="173482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dirty="0">
                <a:latin typeface="Arial MT"/>
                <a:cs typeface="Arial MT"/>
              </a:rPr>
              <a:t>Image</a:t>
            </a:r>
            <a:r>
              <a:rPr sz="800" spc="-35" dirty="0">
                <a:latin typeface="Arial MT"/>
                <a:cs typeface="Arial MT"/>
              </a:rPr>
              <a:t> </a:t>
            </a:r>
            <a:r>
              <a:rPr sz="800" dirty="0">
                <a:latin typeface="Arial MT"/>
                <a:cs typeface="Arial MT"/>
              </a:rPr>
              <a:t>credit</a:t>
            </a:r>
            <a:r>
              <a:rPr sz="800" spc="-35" dirty="0">
                <a:latin typeface="Arial MT"/>
                <a:cs typeface="Arial MT"/>
              </a:rPr>
              <a:t> </a:t>
            </a:r>
            <a:r>
              <a:rPr sz="800" dirty="0">
                <a:latin typeface="Arial MT"/>
                <a:cs typeface="Arial MT"/>
              </a:rPr>
              <a:t>-</a:t>
            </a:r>
            <a:r>
              <a:rPr sz="800" spc="-30" dirty="0">
                <a:latin typeface="Arial MT"/>
                <a:cs typeface="Arial MT"/>
              </a:rPr>
              <a:t> </a:t>
            </a:r>
            <a:r>
              <a:rPr sz="800" spc="-10" dirty="0">
                <a:latin typeface="Arial MT"/>
                <a:cs typeface="Arial MT"/>
                <a:hlinkClick r:id="rId3"/>
              </a:rPr>
              <a:t>https://www.scaler.com/</a:t>
            </a:r>
            <a:endParaRPr sz="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188547"/>
            <a:ext cx="40252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0375" y="1543538"/>
            <a:ext cx="4945380" cy="32343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Semaphores</a:t>
            </a:r>
            <a:endParaRPr sz="1800" dirty="0">
              <a:latin typeface="Georgia"/>
              <a:cs typeface="Georgia"/>
            </a:endParaRPr>
          </a:p>
          <a:p>
            <a:pPr marL="73025" marR="520065">
              <a:lnSpc>
                <a:spcPct val="114999"/>
              </a:lnSpc>
              <a:spcBef>
                <a:spcPts val="1455"/>
              </a:spcBef>
            </a:pPr>
            <a:r>
              <a:rPr sz="1800" dirty="0">
                <a:latin typeface="Arial MT"/>
                <a:cs typeface="Arial MT"/>
              </a:rPr>
              <a:t>A</a:t>
            </a:r>
            <a:r>
              <a:rPr sz="1800" spc="-1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usually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implemented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an </a:t>
            </a:r>
            <a:r>
              <a:rPr sz="1800" dirty="0">
                <a:latin typeface="Arial MT"/>
                <a:cs typeface="Arial MT"/>
              </a:rPr>
              <a:t>integer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two</a:t>
            </a:r>
            <a:r>
              <a:rPr sz="1800" spc="-10" dirty="0">
                <a:latin typeface="Arial MT"/>
                <a:cs typeface="Arial MT"/>
              </a:rPr>
              <a:t> operations:</a:t>
            </a:r>
            <a:endParaRPr sz="1800" dirty="0">
              <a:latin typeface="Arial MT"/>
              <a:cs typeface="Arial MT"/>
            </a:endParaRPr>
          </a:p>
          <a:p>
            <a:pPr marL="528955" marR="5080" indent="-418465" algn="just">
              <a:lnSpc>
                <a:spcPct val="114999"/>
              </a:lnSpc>
              <a:spcBef>
                <a:spcPts val="600"/>
              </a:spcBef>
              <a:spcAft>
                <a:spcPts val="1200"/>
              </a:spcAft>
              <a:buClr>
                <a:srgbClr val="000000"/>
              </a:buClr>
              <a:buFont typeface="Arial MT"/>
              <a:buAutoNum type="arabicPeriod"/>
              <a:tabLst>
                <a:tab pos="530225" algn="l"/>
              </a:tabLst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Increment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(post</a:t>
            </a:r>
            <a:r>
              <a:rPr sz="1800" b="1" spc="-1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or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signal):</a:t>
            </a:r>
            <a:r>
              <a:rPr sz="1800" b="1" spc="-4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increment 	</a:t>
            </a:r>
            <a:r>
              <a:rPr sz="1800" dirty="0">
                <a:latin typeface="Arial MT"/>
                <a:cs typeface="Arial MT"/>
              </a:rPr>
              <a:t>operation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increase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value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50" dirty="0">
                <a:latin typeface="Arial MT"/>
                <a:cs typeface="Arial MT"/>
              </a:rPr>
              <a:t>a 	</a:t>
            </a:r>
            <a:r>
              <a:rPr sz="1800" spc="-10" dirty="0">
                <a:latin typeface="Arial MT"/>
                <a:cs typeface="Arial MT"/>
              </a:rPr>
              <a:t>semaphore.</a:t>
            </a:r>
            <a:endParaRPr sz="1800" dirty="0">
              <a:latin typeface="Arial MT"/>
              <a:cs typeface="Arial MT"/>
            </a:endParaRPr>
          </a:p>
          <a:p>
            <a:pPr marL="530225" marR="128905" indent="-419734">
              <a:lnSpc>
                <a:spcPct val="114999"/>
              </a:lnSpc>
              <a:buClr>
                <a:srgbClr val="000000"/>
              </a:buClr>
              <a:buFont typeface="Arial MT"/>
              <a:buAutoNum type="arabicPeriod"/>
              <a:tabLst>
                <a:tab pos="530225" algn="l"/>
              </a:tabLst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Decrement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(wait</a:t>
            </a:r>
            <a:r>
              <a:rPr sz="1800" b="1" spc="-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or</a:t>
            </a:r>
            <a:r>
              <a:rPr sz="1800" b="1" spc="-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acquire):</a:t>
            </a:r>
            <a:r>
              <a:rPr sz="1800" b="1" spc="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decrement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operation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used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decrement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reduce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value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semaphore.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71250" y="4953000"/>
            <a:ext cx="4951730" cy="1602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999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A</a:t>
            </a:r>
            <a:r>
              <a:rPr sz="1800" spc="-1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resource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indicated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'available'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when</a:t>
            </a:r>
            <a:r>
              <a:rPr sz="1800" spc="-25" dirty="0">
                <a:latin typeface="Arial MT"/>
                <a:cs typeface="Arial MT"/>
              </a:rPr>
              <a:t> the </a:t>
            </a:r>
            <a:r>
              <a:rPr sz="1800" dirty="0">
                <a:latin typeface="Arial MT"/>
                <a:cs typeface="Arial MT"/>
              </a:rPr>
              <a:t>value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Linux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positive.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other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hand,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resource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indicated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'busy'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or </a:t>
            </a:r>
            <a:r>
              <a:rPr sz="1800" dirty="0">
                <a:latin typeface="Arial MT"/>
                <a:cs typeface="Arial MT"/>
              </a:rPr>
              <a:t>'blocked'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when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value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is </a:t>
            </a:r>
            <a:r>
              <a:rPr sz="1800" spc="-10" dirty="0">
                <a:latin typeface="Arial MT"/>
                <a:cs typeface="Arial MT"/>
              </a:rPr>
              <a:t>negative.</a:t>
            </a:r>
            <a:endParaRPr sz="1800" dirty="0">
              <a:latin typeface="Arial MT"/>
              <a:cs typeface="Arial MT"/>
            </a:endParaRPr>
          </a:p>
        </p:txBody>
      </p:sp>
      <p:grpSp>
        <p:nvGrpSpPr>
          <p:cNvPr id="6" name="object 6" descr="A state machine diagram showing a semaphore transitioning between &quot;Available&quot; and &quot;Unavailable&quot; states based on acquire and release counts."/>
          <p:cNvGrpSpPr/>
          <p:nvPr/>
        </p:nvGrpSpPr>
        <p:grpSpPr>
          <a:xfrm>
            <a:off x="5714100" y="2659300"/>
            <a:ext cx="6341745" cy="2462530"/>
            <a:chOff x="5714100" y="2659300"/>
            <a:chExt cx="6341745" cy="246253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723625" y="2793723"/>
              <a:ext cx="6314309" cy="2318426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718862" y="2664062"/>
              <a:ext cx="6332220" cy="2453005"/>
            </a:xfrm>
            <a:custGeom>
              <a:avLst/>
              <a:gdLst/>
              <a:ahLst/>
              <a:cxnLst/>
              <a:rect l="l" t="t" r="r" b="b"/>
              <a:pathLst>
                <a:path w="6332220" h="2453004">
                  <a:moveTo>
                    <a:pt x="0" y="0"/>
                  </a:moveTo>
                  <a:lnTo>
                    <a:pt x="6331649" y="0"/>
                  </a:lnTo>
                  <a:lnTo>
                    <a:pt x="6331649" y="2452850"/>
                  </a:lnTo>
                  <a:lnTo>
                    <a:pt x="0" y="2452850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494200" y="5451236"/>
            <a:ext cx="178562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dirty="0">
                <a:latin typeface="Arial MT"/>
                <a:cs typeface="Arial MT"/>
              </a:rPr>
              <a:t>Image</a:t>
            </a:r>
            <a:r>
              <a:rPr sz="800" spc="-35" dirty="0">
                <a:latin typeface="Arial MT"/>
                <a:cs typeface="Arial MT"/>
              </a:rPr>
              <a:t> </a:t>
            </a:r>
            <a:r>
              <a:rPr sz="800" dirty="0">
                <a:latin typeface="Arial MT"/>
                <a:cs typeface="Arial MT"/>
              </a:rPr>
              <a:t>credit</a:t>
            </a:r>
            <a:r>
              <a:rPr sz="800" spc="-35" dirty="0">
                <a:latin typeface="Arial MT"/>
                <a:cs typeface="Arial MT"/>
              </a:rPr>
              <a:t> </a:t>
            </a:r>
            <a:r>
              <a:rPr sz="800" dirty="0">
                <a:latin typeface="Arial MT"/>
                <a:cs typeface="Arial MT"/>
              </a:rPr>
              <a:t>-</a:t>
            </a:r>
            <a:r>
              <a:rPr sz="800" spc="-30" dirty="0">
                <a:latin typeface="Arial MT"/>
                <a:cs typeface="Arial MT"/>
              </a:rPr>
              <a:t> </a:t>
            </a:r>
            <a:r>
              <a:rPr sz="800" spc="-10" dirty="0">
                <a:latin typeface="Arial MT"/>
                <a:cs typeface="Arial MT"/>
                <a:hlinkClick r:id="rId3"/>
              </a:rPr>
              <a:t>https://www.guru99.com/</a:t>
            </a:r>
            <a:endParaRPr sz="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  <a:p>
            <a:pPr marL="12700">
              <a:lnSpc>
                <a:spcPts val="2060"/>
              </a:lnSpc>
            </a:pPr>
            <a:r>
              <a:rPr sz="1800" spc="-10" dirty="0"/>
              <a:t>Semaphores</a:t>
            </a:r>
            <a:endParaRPr sz="1800"/>
          </a:p>
        </p:txBody>
      </p:sp>
      <p:sp>
        <p:nvSpPr>
          <p:cNvPr id="6" name="object 6"/>
          <p:cNvSpPr txBox="1"/>
          <p:nvPr/>
        </p:nvSpPr>
        <p:spPr>
          <a:xfrm>
            <a:off x="471225" y="2287181"/>
            <a:ext cx="4024629" cy="33624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983615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Semaphore</a:t>
            </a:r>
            <a:r>
              <a:rPr sz="1800" b="1" spc="-5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Declaration</a:t>
            </a:r>
            <a:r>
              <a:rPr sz="1800" b="1" spc="-5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25" dirty="0">
                <a:solidFill>
                  <a:srgbClr val="980000"/>
                </a:solidFill>
                <a:latin typeface="Arial"/>
                <a:cs typeface="Arial"/>
              </a:rPr>
              <a:t>and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Initialization</a:t>
            </a:r>
            <a:endParaRPr sz="18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90"/>
              </a:spcBef>
            </a:pPr>
            <a:endParaRPr sz="1800" dirty="0">
              <a:latin typeface="Arial"/>
              <a:cs typeface="Arial"/>
            </a:endParaRPr>
          </a:p>
          <a:p>
            <a:pPr marL="469900" marR="154305" indent="-36703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SEM_NAME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6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This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defines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0" dirty="0">
                <a:latin typeface="Arial MT"/>
                <a:cs typeface="Arial MT"/>
              </a:rPr>
              <a:t> unique </a:t>
            </a:r>
            <a:r>
              <a:rPr sz="1800" dirty="0">
                <a:latin typeface="Arial MT"/>
                <a:cs typeface="Arial MT"/>
              </a:rPr>
              <a:t>name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semaphore,</a:t>
            </a:r>
            <a:endParaRPr sz="1800" dirty="0">
              <a:latin typeface="Arial MT"/>
              <a:cs typeface="Arial MT"/>
            </a:endParaRPr>
          </a:p>
          <a:p>
            <a:pPr marL="469900" marR="117475">
              <a:lnSpc>
                <a:spcPct val="100000"/>
              </a:lnSpc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/parking_lot</a:t>
            </a:r>
            <a:r>
              <a:rPr sz="1800" dirty="0">
                <a:latin typeface="Arial MT"/>
                <a:cs typeface="Arial MT"/>
              </a:rPr>
              <a:t>.</a:t>
            </a:r>
            <a:r>
              <a:rPr sz="1800" spc="-6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Named </a:t>
            </a:r>
            <a:r>
              <a:rPr sz="1800" dirty="0">
                <a:latin typeface="Arial MT"/>
                <a:cs typeface="Arial MT"/>
              </a:rPr>
              <a:t>semaphores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are </a:t>
            </a:r>
            <a:r>
              <a:rPr sz="1800" spc="-10" dirty="0">
                <a:latin typeface="Arial MT"/>
                <a:cs typeface="Arial MT"/>
              </a:rPr>
              <a:t>system-</a:t>
            </a:r>
            <a:r>
              <a:rPr sz="1800" dirty="0">
                <a:latin typeface="Arial MT"/>
                <a:cs typeface="Arial MT"/>
              </a:rPr>
              <a:t>wide </a:t>
            </a:r>
            <a:r>
              <a:rPr sz="1800" spc="-25" dirty="0">
                <a:latin typeface="Arial MT"/>
                <a:cs typeface="Arial MT"/>
              </a:rPr>
              <a:t>and </a:t>
            </a:r>
            <a:r>
              <a:rPr sz="1800" dirty="0">
                <a:latin typeface="Arial MT"/>
                <a:cs typeface="Arial MT"/>
              </a:rPr>
              <a:t>identified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their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name.</a:t>
            </a:r>
            <a:endParaRPr sz="18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90"/>
              </a:spcBef>
            </a:pPr>
            <a:endParaRPr sz="1800" dirty="0">
              <a:latin typeface="Arial MT"/>
              <a:cs typeface="Arial MT"/>
            </a:endParaRPr>
          </a:p>
          <a:p>
            <a:pPr marL="468630" marR="5080" indent="-365760" algn="just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sem_t</a:t>
            </a:r>
            <a:r>
              <a:rPr sz="1800" b="1" spc="1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*parking_lot</a:t>
            </a:r>
            <a:r>
              <a:rPr sz="1800" spc="-10" dirty="0">
                <a:latin typeface="Arial MT"/>
                <a:cs typeface="Arial MT"/>
              </a:rPr>
              <a:t>:</a:t>
            </a:r>
            <a:r>
              <a:rPr sz="1800" spc="-9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9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pointer 	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object,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which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will 	</a:t>
            </a:r>
            <a:r>
              <a:rPr sz="1800" dirty="0">
                <a:latin typeface="Arial MT"/>
                <a:cs typeface="Arial MT"/>
              </a:rPr>
              <a:t>be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initialized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main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function.</a:t>
            </a:r>
            <a:endParaRPr sz="1800" dirty="0">
              <a:latin typeface="Arial MT"/>
              <a:cs typeface="Arial MT"/>
            </a:endParaRPr>
          </a:p>
        </p:txBody>
      </p:sp>
      <p:grpSp>
        <p:nvGrpSpPr>
          <p:cNvPr id="3" name="object 3" descr="A snippet of C code showing the global definitions: #define PARKING_SPOTS 5 and #define SEM_NAME &quot;/parking_lot&quot;."/>
          <p:cNvGrpSpPr/>
          <p:nvPr/>
        </p:nvGrpSpPr>
        <p:grpSpPr>
          <a:xfrm>
            <a:off x="5029662" y="1515925"/>
            <a:ext cx="6787515" cy="4681220"/>
            <a:chOff x="5029662" y="1515925"/>
            <a:chExt cx="6787515" cy="468122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152125" y="1515925"/>
              <a:ext cx="6550725" cy="468087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5043949" y="2886999"/>
              <a:ext cx="6758940" cy="696595"/>
            </a:xfrm>
            <a:custGeom>
              <a:avLst/>
              <a:gdLst/>
              <a:ahLst/>
              <a:cxnLst/>
              <a:rect l="l" t="t" r="r" b="b"/>
              <a:pathLst>
                <a:path w="6758940" h="696595">
                  <a:moveTo>
                    <a:pt x="0" y="0"/>
                  </a:moveTo>
                  <a:lnTo>
                    <a:pt x="6758399" y="0"/>
                  </a:lnTo>
                  <a:lnTo>
                    <a:pt x="6758399" y="695999"/>
                  </a:lnTo>
                  <a:lnTo>
                    <a:pt x="0" y="6959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  <a:p>
            <a:pPr marL="12700">
              <a:lnSpc>
                <a:spcPts val="2060"/>
              </a:lnSpc>
            </a:pPr>
            <a:r>
              <a:rPr sz="1800" spc="-10" dirty="0"/>
              <a:t>Semaphores</a:t>
            </a:r>
            <a:endParaRPr sz="1800"/>
          </a:p>
        </p:txBody>
      </p:sp>
      <p:sp>
        <p:nvSpPr>
          <p:cNvPr id="6" name="object 6"/>
          <p:cNvSpPr txBox="1"/>
          <p:nvPr/>
        </p:nvSpPr>
        <p:spPr>
          <a:xfrm>
            <a:off x="471225" y="2515781"/>
            <a:ext cx="4300855" cy="1866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Thread</a:t>
            </a:r>
            <a:r>
              <a:rPr sz="1800" b="1" spc="-6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Function:</a:t>
            </a:r>
            <a:r>
              <a:rPr sz="1800" b="1" spc="-4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25" dirty="0">
                <a:solidFill>
                  <a:srgbClr val="980000"/>
                </a:solidFill>
                <a:latin typeface="Courier New"/>
                <a:cs typeface="Courier New"/>
              </a:rPr>
              <a:t>car</a:t>
            </a:r>
            <a:endParaRPr sz="1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520"/>
              </a:spcBef>
            </a:pPr>
            <a:r>
              <a:rPr sz="1800" b="1" dirty="0">
                <a:latin typeface="Arial"/>
                <a:cs typeface="Arial"/>
              </a:rPr>
              <a:t>Thread</a:t>
            </a:r>
            <a:r>
              <a:rPr sz="1800" b="1" spc="-8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Argument</a:t>
            </a:r>
            <a:r>
              <a:rPr sz="1800" b="1" spc="-1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(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arg</a:t>
            </a:r>
            <a:r>
              <a:rPr sz="1800" b="1" spc="-10" dirty="0">
                <a:latin typeface="Arial"/>
                <a:cs typeface="Arial"/>
              </a:rPr>
              <a:t>):</a:t>
            </a:r>
            <a:endParaRPr sz="1800" dirty="0">
              <a:latin typeface="Arial"/>
              <a:cs typeface="Arial"/>
            </a:endParaRPr>
          </a:p>
          <a:p>
            <a:pPr marL="12700" marR="5080">
              <a:lnSpc>
                <a:spcPct val="114999"/>
              </a:lnSpc>
              <a:spcBef>
                <a:spcPts val="1200"/>
              </a:spcBef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arg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represents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car's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unique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ID, </a:t>
            </a:r>
            <a:r>
              <a:rPr sz="1800" dirty="0">
                <a:latin typeface="Arial MT"/>
                <a:cs typeface="Arial MT"/>
              </a:rPr>
              <a:t>passed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when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creating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thread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main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function.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It’s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cast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long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display.</a:t>
            </a:r>
            <a:endParaRPr sz="1800" dirty="0">
              <a:latin typeface="Arial MT"/>
              <a:cs typeface="Arial MT"/>
            </a:endParaRPr>
          </a:p>
        </p:txBody>
      </p:sp>
      <p:grpSp>
        <p:nvGrpSpPr>
          <p:cNvPr id="3" name="object 3" descr="A C function named car that simulates a thread’s behavior: it prints an arrival message, calls sem_wait to secure a parking spot, sleeps for 2 seconds, prints a leaving message, and calls sem_post to release the spot."/>
          <p:cNvGrpSpPr/>
          <p:nvPr/>
        </p:nvGrpSpPr>
        <p:grpSpPr>
          <a:xfrm>
            <a:off x="5029662" y="1515925"/>
            <a:ext cx="6787515" cy="4681220"/>
            <a:chOff x="5029662" y="1515925"/>
            <a:chExt cx="6787515" cy="468122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52125" y="1515925"/>
              <a:ext cx="6550725" cy="468087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5043949" y="3953800"/>
              <a:ext cx="6758940" cy="2118995"/>
            </a:xfrm>
            <a:custGeom>
              <a:avLst/>
              <a:gdLst/>
              <a:ahLst/>
              <a:cxnLst/>
              <a:rect l="l" t="t" r="r" b="b"/>
              <a:pathLst>
                <a:path w="6758940" h="2118995">
                  <a:moveTo>
                    <a:pt x="0" y="0"/>
                  </a:moveTo>
                  <a:lnTo>
                    <a:pt x="6758399" y="0"/>
                  </a:lnTo>
                  <a:lnTo>
                    <a:pt x="6758399" y="2118899"/>
                  </a:lnTo>
                  <a:lnTo>
                    <a:pt x="0" y="21188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  <a:p>
            <a:pPr marL="12700">
              <a:lnSpc>
                <a:spcPts val="2060"/>
              </a:lnSpc>
            </a:pPr>
            <a:r>
              <a:rPr sz="1800" spc="-10" dirty="0"/>
              <a:t>Semaphores</a:t>
            </a:r>
            <a:endParaRPr sz="1800"/>
          </a:p>
        </p:txBody>
      </p:sp>
      <p:sp>
        <p:nvSpPr>
          <p:cNvPr id="6" name="object 6"/>
          <p:cNvSpPr txBox="1"/>
          <p:nvPr/>
        </p:nvSpPr>
        <p:spPr>
          <a:xfrm>
            <a:off x="471225" y="2515781"/>
            <a:ext cx="4304030" cy="24974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Thread</a:t>
            </a:r>
            <a:r>
              <a:rPr sz="1800" b="1" spc="-6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Function:</a:t>
            </a:r>
            <a:r>
              <a:rPr sz="1800" b="1" spc="-4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25" dirty="0">
                <a:solidFill>
                  <a:srgbClr val="980000"/>
                </a:solidFill>
                <a:latin typeface="Courier New"/>
                <a:cs typeface="Courier New"/>
              </a:rPr>
              <a:t>car</a:t>
            </a:r>
            <a:endParaRPr sz="1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520"/>
              </a:spcBef>
            </a:pPr>
            <a:r>
              <a:rPr sz="1800" b="1" dirty="0">
                <a:latin typeface="Arial"/>
                <a:cs typeface="Arial"/>
              </a:rPr>
              <a:t>Arrival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of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the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Car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(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sem_wait</a:t>
            </a:r>
            <a:r>
              <a:rPr sz="1800" b="1" spc="-10" dirty="0">
                <a:latin typeface="Arial"/>
                <a:cs typeface="Arial"/>
              </a:rPr>
              <a:t>)</a:t>
            </a:r>
            <a:r>
              <a:rPr sz="1800" spc="-10" dirty="0">
                <a:latin typeface="Arial MT"/>
                <a:cs typeface="Arial MT"/>
              </a:rPr>
              <a:t>:</a:t>
            </a:r>
            <a:endParaRPr sz="1800" dirty="0">
              <a:latin typeface="Arial MT"/>
              <a:cs typeface="Arial MT"/>
            </a:endParaRPr>
          </a:p>
          <a:p>
            <a:pPr marL="12700" marR="5080">
              <a:lnSpc>
                <a:spcPct val="114999"/>
              </a:lnSpc>
              <a:spcBef>
                <a:spcPts val="1200"/>
              </a:spcBef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sem_wait(parking_lot)</a:t>
            </a:r>
            <a:r>
              <a:rPr sz="1800" b="1" spc="-48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spc="-10" dirty="0">
                <a:latin typeface="Arial MT"/>
                <a:cs typeface="Arial MT"/>
              </a:rPr>
              <a:t>decreases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value,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representing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car </a:t>
            </a:r>
            <a:r>
              <a:rPr sz="1800" dirty="0">
                <a:latin typeface="Arial MT"/>
                <a:cs typeface="Arial MT"/>
              </a:rPr>
              <a:t>taking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parking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spot.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If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all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spots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taken </a:t>
            </a:r>
            <a:r>
              <a:rPr sz="1800" dirty="0">
                <a:latin typeface="Arial MT"/>
                <a:cs typeface="Arial MT"/>
              </a:rPr>
              <a:t>(semaphore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value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0),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call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blocks </a:t>
            </a:r>
            <a:r>
              <a:rPr sz="1800" dirty="0">
                <a:latin typeface="Arial MT"/>
                <a:cs typeface="Arial MT"/>
              </a:rPr>
              <a:t>until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spot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10" dirty="0">
                <a:latin typeface="Arial MT"/>
                <a:cs typeface="Arial MT"/>
              </a:rPr>
              <a:t> available.</a:t>
            </a:r>
            <a:endParaRPr sz="1800" dirty="0">
              <a:latin typeface="Arial MT"/>
              <a:cs typeface="Arial MT"/>
            </a:endParaRPr>
          </a:p>
        </p:txBody>
      </p:sp>
      <p:grpSp>
        <p:nvGrpSp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029662" y="1515925"/>
            <a:ext cx="6787515" cy="4681220"/>
            <a:chOff x="5029662" y="1515925"/>
            <a:chExt cx="6787515" cy="468122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52125" y="1515925"/>
              <a:ext cx="6550725" cy="468087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5043949" y="3953800"/>
              <a:ext cx="6758940" cy="2118995"/>
            </a:xfrm>
            <a:custGeom>
              <a:avLst/>
              <a:gdLst/>
              <a:ahLst/>
              <a:cxnLst/>
              <a:rect l="l" t="t" r="r" b="b"/>
              <a:pathLst>
                <a:path w="6758940" h="2118995">
                  <a:moveTo>
                    <a:pt x="0" y="0"/>
                  </a:moveTo>
                  <a:lnTo>
                    <a:pt x="6758399" y="0"/>
                  </a:lnTo>
                  <a:lnTo>
                    <a:pt x="6758399" y="2118899"/>
                  </a:lnTo>
                  <a:lnTo>
                    <a:pt x="0" y="21188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  <a:p>
            <a:pPr marL="12700">
              <a:lnSpc>
                <a:spcPts val="2060"/>
              </a:lnSpc>
            </a:pPr>
            <a:r>
              <a:rPr sz="1800" spc="-10" dirty="0"/>
              <a:t>Semaphores</a:t>
            </a:r>
            <a:endParaRPr sz="1800"/>
          </a:p>
        </p:txBody>
      </p:sp>
      <p:sp>
        <p:nvSpPr>
          <p:cNvPr id="6" name="object 6"/>
          <p:cNvSpPr txBox="1"/>
          <p:nvPr/>
        </p:nvSpPr>
        <p:spPr>
          <a:xfrm>
            <a:off x="471225" y="2515781"/>
            <a:ext cx="4001135" cy="1866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Thread</a:t>
            </a:r>
            <a:r>
              <a:rPr sz="1800" b="1" spc="-6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Function:</a:t>
            </a:r>
            <a:r>
              <a:rPr sz="1800" b="1" spc="-4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25" dirty="0">
                <a:solidFill>
                  <a:srgbClr val="980000"/>
                </a:solidFill>
                <a:latin typeface="Courier New"/>
                <a:cs typeface="Courier New"/>
              </a:rPr>
              <a:t>car</a:t>
            </a:r>
            <a:endParaRPr sz="1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520"/>
              </a:spcBef>
            </a:pPr>
            <a:r>
              <a:rPr sz="1800" b="1" dirty="0">
                <a:latin typeface="Arial"/>
                <a:cs typeface="Arial"/>
              </a:rPr>
              <a:t>Parking</a:t>
            </a:r>
            <a:r>
              <a:rPr sz="1800" b="1" spc="-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(</a:t>
            </a:r>
            <a:r>
              <a:rPr sz="1800" b="1" spc="-10" dirty="0" err="1">
                <a:solidFill>
                  <a:srgbClr val="188037"/>
                </a:solidFill>
                <a:latin typeface="Courier New"/>
                <a:cs typeface="Courier New"/>
              </a:rPr>
              <a:t>printf</a:t>
            </a:r>
            <a:r>
              <a:rPr sz="1800" b="1" spc="-58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latin typeface="Arial"/>
                <a:cs typeface="Arial"/>
              </a:rPr>
              <a:t>and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sleep</a:t>
            </a:r>
            <a:r>
              <a:rPr sz="1800" b="1" spc="-10" dirty="0">
                <a:latin typeface="Arial"/>
                <a:cs typeface="Arial"/>
              </a:rPr>
              <a:t>)</a:t>
            </a:r>
            <a:r>
              <a:rPr sz="1800" spc="-10" dirty="0">
                <a:latin typeface="Arial MT"/>
                <a:cs typeface="Arial MT"/>
              </a:rPr>
              <a:t>:</a:t>
            </a:r>
            <a:endParaRPr sz="1800" dirty="0">
              <a:latin typeface="Arial MT"/>
              <a:cs typeface="Arial MT"/>
            </a:endParaRPr>
          </a:p>
          <a:p>
            <a:pPr marL="12700" marR="5080">
              <a:lnSpc>
                <a:spcPct val="114999"/>
              </a:lnSpc>
              <a:spcBef>
                <a:spcPts val="1200"/>
              </a:spcBef>
            </a:pPr>
            <a:r>
              <a:rPr sz="1800" dirty="0">
                <a:latin typeface="Arial MT"/>
                <a:cs typeface="Arial MT"/>
              </a:rPr>
              <a:t>Simulates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car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parking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printing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50" dirty="0">
                <a:latin typeface="Arial MT"/>
                <a:cs typeface="Arial MT"/>
              </a:rPr>
              <a:t>a </a:t>
            </a:r>
            <a:r>
              <a:rPr sz="1800" dirty="0">
                <a:latin typeface="Arial MT"/>
                <a:cs typeface="Arial MT"/>
              </a:rPr>
              <a:t>message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sleeping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2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seconds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to </a:t>
            </a:r>
            <a:r>
              <a:rPr sz="1800" dirty="0">
                <a:latin typeface="Arial MT"/>
                <a:cs typeface="Arial MT"/>
              </a:rPr>
              <a:t>represent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duration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parking.</a:t>
            </a:r>
            <a:endParaRPr sz="1800" dirty="0">
              <a:latin typeface="Arial MT"/>
              <a:cs typeface="Arial MT"/>
            </a:endParaRPr>
          </a:p>
        </p:txBody>
      </p:sp>
      <p:grpSp>
        <p:nvGrpSp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029662" y="1515925"/>
            <a:ext cx="6787515" cy="4681220"/>
            <a:chOff x="5029662" y="1515925"/>
            <a:chExt cx="6787515" cy="468122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52125" y="1515925"/>
              <a:ext cx="6550725" cy="468087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5043949" y="3953800"/>
              <a:ext cx="6758940" cy="2118995"/>
            </a:xfrm>
            <a:custGeom>
              <a:avLst/>
              <a:gdLst/>
              <a:ahLst/>
              <a:cxnLst/>
              <a:rect l="l" t="t" r="r" b="b"/>
              <a:pathLst>
                <a:path w="6758940" h="2118995">
                  <a:moveTo>
                    <a:pt x="0" y="0"/>
                  </a:moveTo>
                  <a:lnTo>
                    <a:pt x="6758399" y="0"/>
                  </a:lnTo>
                  <a:lnTo>
                    <a:pt x="6758399" y="2118899"/>
                  </a:lnTo>
                  <a:lnTo>
                    <a:pt x="0" y="21188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  <a:p>
            <a:pPr marL="12700">
              <a:lnSpc>
                <a:spcPts val="2060"/>
              </a:lnSpc>
            </a:pPr>
            <a:r>
              <a:rPr sz="1800" spc="-10" dirty="0"/>
              <a:t>Semaphores</a:t>
            </a:r>
            <a:endParaRPr sz="1800"/>
          </a:p>
        </p:txBody>
      </p:sp>
      <p:sp>
        <p:nvSpPr>
          <p:cNvPr id="6" name="object 6"/>
          <p:cNvSpPr txBox="1"/>
          <p:nvPr/>
        </p:nvSpPr>
        <p:spPr>
          <a:xfrm>
            <a:off x="471225" y="2515781"/>
            <a:ext cx="4329430" cy="18923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Thread</a:t>
            </a:r>
            <a:r>
              <a:rPr sz="1800" b="1" spc="-6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Function:</a:t>
            </a:r>
            <a:r>
              <a:rPr sz="1800" b="1" spc="-4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25" dirty="0">
                <a:solidFill>
                  <a:srgbClr val="980000"/>
                </a:solidFill>
                <a:latin typeface="Courier New"/>
                <a:cs typeface="Courier New"/>
              </a:rPr>
              <a:t>car</a:t>
            </a:r>
            <a:endParaRPr sz="1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720"/>
              </a:spcBef>
            </a:pPr>
            <a:r>
              <a:rPr sz="1800" b="1" dirty="0">
                <a:latin typeface="Arial"/>
                <a:cs typeface="Arial"/>
              </a:rPr>
              <a:t>Leaving</a:t>
            </a:r>
            <a:r>
              <a:rPr sz="1800" b="1" spc="-4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the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Parking</a:t>
            </a:r>
            <a:r>
              <a:rPr sz="1800" b="1" spc="-3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Spot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(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sem_post</a:t>
            </a:r>
            <a:r>
              <a:rPr sz="1800" b="1" spc="-10" dirty="0">
                <a:latin typeface="Arial"/>
                <a:cs typeface="Arial"/>
              </a:rPr>
              <a:t>)</a:t>
            </a:r>
            <a:r>
              <a:rPr sz="1800" spc="-10" dirty="0">
                <a:latin typeface="Arial MT"/>
                <a:cs typeface="Arial MT"/>
              </a:rPr>
              <a:t>:</a:t>
            </a:r>
            <a:endParaRPr sz="1800" dirty="0">
              <a:latin typeface="Arial MT"/>
              <a:cs typeface="Arial MT"/>
            </a:endParaRPr>
          </a:p>
          <a:p>
            <a:pPr marL="12700" marR="5080">
              <a:lnSpc>
                <a:spcPct val="114999"/>
              </a:lnSpc>
              <a:spcBef>
                <a:spcPts val="1200"/>
              </a:spcBef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sem_post(parking_lot)</a:t>
            </a:r>
            <a:r>
              <a:rPr sz="1800" b="1" spc="-53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increases</a:t>
            </a:r>
            <a:r>
              <a:rPr sz="1800" spc="5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value,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indicating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car</a:t>
            </a:r>
            <a:r>
              <a:rPr sz="1800" spc="-25" dirty="0">
                <a:latin typeface="Arial MT"/>
                <a:cs typeface="Arial MT"/>
              </a:rPr>
              <a:t> has </a:t>
            </a:r>
            <a:r>
              <a:rPr sz="1800" dirty="0">
                <a:latin typeface="Arial MT"/>
                <a:cs typeface="Arial MT"/>
              </a:rPr>
              <a:t>left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spot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now</a:t>
            </a:r>
            <a:r>
              <a:rPr sz="1800" spc="-10" dirty="0">
                <a:latin typeface="Arial MT"/>
                <a:cs typeface="Arial MT"/>
              </a:rPr>
              <a:t> available.</a:t>
            </a:r>
            <a:endParaRPr sz="1800" dirty="0">
              <a:latin typeface="Arial MT"/>
              <a:cs typeface="Arial MT"/>
            </a:endParaRPr>
          </a:p>
        </p:txBody>
      </p:sp>
      <p:grpSp>
        <p:nvGrpSp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029662" y="1515925"/>
            <a:ext cx="6787515" cy="4681220"/>
            <a:chOff x="5029662" y="1515925"/>
            <a:chExt cx="6787515" cy="468122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52125" y="1515925"/>
              <a:ext cx="6550725" cy="468087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5043949" y="3953800"/>
              <a:ext cx="6758940" cy="2118995"/>
            </a:xfrm>
            <a:custGeom>
              <a:avLst/>
              <a:gdLst/>
              <a:ahLst/>
              <a:cxnLst/>
              <a:rect l="l" t="t" r="r" b="b"/>
              <a:pathLst>
                <a:path w="6758940" h="2118995">
                  <a:moveTo>
                    <a:pt x="0" y="0"/>
                  </a:moveTo>
                  <a:lnTo>
                    <a:pt x="6758399" y="0"/>
                  </a:lnTo>
                  <a:lnTo>
                    <a:pt x="6758399" y="2118899"/>
                  </a:lnTo>
                  <a:lnTo>
                    <a:pt x="0" y="21188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188547"/>
            <a:ext cx="40252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0374" y="1543538"/>
            <a:ext cx="4237825" cy="521232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Semaphores</a:t>
            </a:r>
            <a:endParaRPr sz="1800" dirty="0">
              <a:latin typeface="Georgia"/>
              <a:cs typeface="Georgia"/>
            </a:endParaRPr>
          </a:p>
          <a:p>
            <a:pPr marL="73025">
              <a:lnSpc>
                <a:spcPct val="100000"/>
              </a:lnSpc>
              <a:spcBef>
                <a:spcPts val="1895"/>
              </a:spcBef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Semaphore</a:t>
            </a:r>
            <a:r>
              <a:rPr sz="1800" b="1" spc="-4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Creation</a:t>
            </a:r>
            <a:endParaRPr sz="1800" dirty="0">
              <a:latin typeface="Arial"/>
              <a:cs typeface="Arial"/>
            </a:endParaRPr>
          </a:p>
          <a:p>
            <a:pPr marL="73025">
              <a:lnSpc>
                <a:spcPct val="100000"/>
              </a:lnSpc>
              <a:spcBef>
                <a:spcPts val="1525"/>
              </a:spcBef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sem_open</a:t>
            </a:r>
            <a:r>
              <a:rPr sz="1800" spc="-10" dirty="0">
                <a:latin typeface="Arial MT"/>
                <a:cs typeface="Arial MT"/>
              </a:rPr>
              <a:t>:</a:t>
            </a:r>
            <a:endParaRPr sz="1800" dirty="0">
              <a:latin typeface="Arial MT"/>
              <a:cs typeface="Arial MT"/>
            </a:endParaRPr>
          </a:p>
          <a:p>
            <a:pPr marL="530225" indent="-366395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har char="●"/>
              <a:tabLst>
                <a:tab pos="530225" algn="l"/>
              </a:tabLst>
            </a:pPr>
            <a:r>
              <a:rPr sz="1800" dirty="0">
                <a:latin typeface="Arial MT"/>
                <a:cs typeface="Arial MT"/>
              </a:rPr>
              <a:t>Creates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named</a:t>
            </a:r>
            <a:r>
              <a:rPr sz="1800" b="1" spc="-10" dirty="0">
                <a:latin typeface="Arial"/>
                <a:cs typeface="Arial"/>
              </a:rPr>
              <a:t> semaphore</a:t>
            </a:r>
            <a:endParaRPr sz="1800" dirty="0">
              <a:latin typeface="Arial"/>
              <a:cs typeface="Arial"/>
            </a:endParaRPr>
          </a:p>
          <a:p>
            <a:pPr marL="530225">
              <a:lnSpc>
                <a:spcPct val="100000"/>
              </a:lnSpc>
              <a:spcBef>
                <a:spcPts val="325"/>
              </a:spcBef>
              <a:spcAft>
                <a:spcPts val="600"/>
              </a:spcAft>
            </a:pPr>
            <a:r>
              <a:rPr sz="1800" dirty="0">
                <a:latin typeface="Arial MT"/>
                <a:cs typeface="Arial MT"/>
              </a:rPr>
              <a:t>identified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SEM_NAME</a:t>
            </a:r>
            <a:r>
              <a:rPr sz="1800" spc="-10" dirty="0">
                <a:latin typeface="Arial MT"/>
                <a:cs typeface="Arial MT"/>
              </a:rPr>
              <a:t>.</a:t>
            </a:r>
            <a:endParaRPr sz="1800" dirty="0">
              <a:latin typeface="Arial MT"/>
              <a:cs typeface="Arial MT"/>
            </a:endParaRPr>
          </a:p>
          <a:p>
            <a:pPr marL="530225" marR="55880" indent="-367030">
              <a:lnSpc>
                <a:spcPct val="114999"/>
              </a:lnSpc>
              <a:spcAft>
                <a:spcPts val="600"/>
              </a:spcAft>
              <a:buChar char="●"/>
              <a:tabLst>
                <a:tab pos="530225" algn="l"/>
              </a:tabLst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flags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O_CREAT</a:t>
            </a:r>
            <a:r>
              <a:rPr sz="1800" b="1" spc="-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|</a:t>
            </a:r>
            <a:r>
              <a:rPr sz="1800" b="1" spc="-1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O_EXCL </a:t>
            </a:r>
            <a:r>
              <a:rPr sz="1800" dirty="0">
                <a:latin typeface="Arial MT"/>
                <a:cs typeface="Arial MT"/>
              </a:rPr>
              <a:t>ensure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created </a:t>
            </a:r>
            <a:r>
              <a:rPr sz="1800" dirty="0">
                <a:latin typeface="Arial MT"/>
                <a:cs typeface="Arial MT"/>
              </a:rPr>
              <a:t>fresh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reused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from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previous runs.</a:t>
            </a:r>
            <a:endParaRPr sz="1800" dirty="0">
              <a:latin typeface="Arial MT"/>
              <a:cs typeface="Arial MT"/>
            </a:endParaRPr>
          </a:p>
          <a:p>
            <a:pPr marL="530225" marR="40640" indent="-367030">
              <a:lnSpc>
                <a:spcPct val="114999"/>
              </a:lnSpc>
              <a:spcAft>
                <a:spcPts val="600"/>
              </a:spcAft>
              <a:buClr>
                <a:srgbClr val="000000"/>
              </a:buClr>
              <a:buFont typeface="Arial MT"/>
              <a:buChar char="●"/>
              <a:tabLst>
                <a:tab pos="530225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0644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Sets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permissions</a:t>
            </a:r>
            <a:r>
              <a:rPr sz="1800" spc="-10" dirty="0">
                <a:latin typeface="Arial MT"/>
                <a:cs typeface="Arial MT"/>
              </a:rPr>
              <a:t> (read/write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owner,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read-only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others).</a:t>
            </a:r>
            <a:endParaRPr sz="1800" dirty="0">
              <a:latin typeface="Arial MT"/>
              <a:cs typeface="Arial MT"/>
            </a:endParaRPr>
          </a:p>
          <a:p>
            <a:pPr marL="530225" marR="5080" indent="-367030">
              <a:lnSpc>
                <a:spcPct val="114999"/>
              </a:lnSpc>
              <a:buClr>
                <a:srgbClr val="000000"/>
              </a:buClr>
              <a:buFont typeface="Arial MT"/>
              <a:buChar char="●"/>
              <a:tabLst>
                <a:tab pos="530225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PARKING_SPOTS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Initializes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value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5,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representing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5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available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parking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spots.</a:t>
            </a:r>
            <a:endParaRPr sz="1800" dirty="0">
              <a:latin typeface="Arial MT"/>
              <a:cs typeface="Arial MT"/>
            </a:endParaRPr>
          </a:p>
        </p:txBody>
      </p:sp>
      <p:grpSp>
        <p:nvGrpSpPr>
          <p:cNvPr id="4" name="object 4" descr="The beginning of the main function where a named semaphore is initialized using sem_open with flags O_CREAT | O_EXCL and an initial value of PARKING_SPOTS."/>
          <p:cNvGrpSpPr/>
          <p:nvPr/>
        </p:nvGrpSpPr>
        <p:grpSpPr>
          <a:xfrm>
            <a:off x="4953000" y="1752600"/>
            <a:ext cx="6931025" cy="4980305"/>
            <a:chOff x="5029662" y="1725550"/>
            <a:chExt cx="6931025" cy="498030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63500" y="1725550"/>
              <a:ext cx="6897025" cy="498005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043949" y="2429800"/>
              <a:ext cx="6758940" cy="1297940"/>
            </a:xfrm>
            <a:custGeom>
              <a:avLst/>
              <a:gdLst/>
              <a:ahLst/>
              <a:cxnLst/>
              <a:rect l="l" t="t" r="r" b="b"/>
              <a:pathLst>
                <a:path w="6758940" h="1297939">
                  <a:moveTo>
                    <a:pt x="0" y="0"/>
                  </a:moveTo>
                  <a:lnTo>
                    <a:pt x="6758399" y="0"/>
                  </a:lnTo>
                  <a:lnTo>
                    <a:pt x="6758399" y="1297799"/>
                  </a:lnTo>
                  <a:lnTo>
                    <a:pt x="0" y="12977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188547"/>
            <a:ext cx="40252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</p:txBody>
      </p:sp>
      <p:sp>
        <p:nvSp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410375" y="1543538"/>
            <a:ext cx="2320290" cy="1282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Semaphores</a:t>
            </a:r>
            <a:endParaRPr sz="1800">
              <a:latin typeface="Georgia"/>
              <a:cs typeface="Georgia"/>
            </a:endParaRPr>
          </a:p>
          <a:p>
            <a:pPr marL="73025">
              <a:lnSpc>
                <a:spcPct val="100000"/>
              </a:lnSpc>
              <a:spcBef>
                <a:spcPts val="1895"/>
              </a:spcBef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Semaphore</a:t>
            </a:r>
            <a:r>
              <a:rPr sz="1800" b="1" spc="-4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Creation</a:t>
            </a:r>
            <a:endParaRPr sz="1800">
              <a:latin typeface="Arial"/>
              <a:cs typeface="Arial"/>
            </a:endParaRPr>
          </a:p>
          <a:p>
            <a:pPr marL="73025">
              <a:lnSpc>
                <a:spcPct val="100000"/>
              </a:lnSpc>
              <a:spcBef>
                <a:spcPts val="1525"/>
              </a:spcBef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sem_open</a:t>
            </a:r>
            <a:endParaRPr sz="1800">
              <a:latin typeface="Courier New"/>
              <a:cs typeface="Courier New"/>
            </a:endParaRPr>
          </a:p>
        </p:txBody>
      </p:sp>
      <p:sp>
        <p:nvSp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61749" y="2953169"/>
            <a:ext cx="1002030" cy="1287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marR="5080" indent="-367030">
              <a:lnSpc>
                <a:spcPct val="114999"/>
              </a:lnSpc>
              <a:spcBef>
                <a:spcPts val="100"/>
              </a:spcBef>
              <a:buChar char="●"/>
              <a:tabLst>
                <a:tab pos="379095" algn="l"/>
              </a:tabLst>
            </a:pPr>
            <a:r>
              <a:rPr sz="1800" spc="-10" dirty="0">
                <a:latin typeface="Arial MT"/>
                <a:cs typeface="Arial MT"/>
              </a:rPr>
              <a:t>Creat identif</a:t>
            </a:r>
            <a:endParaRPr sz="1800">
              <a:latin typeface="Arial MT"/>
              <a:cs typeface="Arial MT"/>
            </a:endParaRPr>
          </a:p>
          <a:p>
            <a:pPr marL="379095" marR="43180" indent="-367030">
              <a:lnSpc>
                <a:spcPct val="114999"/>
              </a:lnSpc>
              <a:buChar char="●"/>
              <a:tabLst>
                <a:tab pos="379095" algn="l"/>
              </a:tabLst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fl </a:t>
            </a:r>
            <a:r>
              <a:rPr sz="1800" spc="-10" dirty="0">
                <a:latin typeface="Arial MT"/>
                <a:cs typeface="Arial MT"/>
              </a:rPr>
              <a:t>ensur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928425" y="4256189"/>
            <a:ext cx="7239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fresh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50" dirty="0">
                <a:latin typeface="Arial MT"/>
                <a:cs typeface="Arial MT"/>
              </a:rPr>
              <a:t>a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61749" y="4530509"/>
            <a:ext cx="1014730" cy="1287780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marL="379095">
              <a:lnSpc>
                <a:spcPct val="100000"/>
              </a:lnSpc>
              <a:spcBef>
                <a:spcPts val="420"/>
              </a:spcBef>
            </a:pPr>
            <a:r>
              <a:rPr sz="1800" spc="-10" dirty="0">
                <a:latin typeface="Arial MT"/>
                <a:cs typeface="Arial MT"/>
              </a:rPr>
              <a:t>runs.</a:t>
            </a:r>
            <a:endParaRPr sz="1800" dirty="0">
              <a:latin typeface="Arial MT"/>
              <a:cs typeface="Arial MT"/>
            </a:endParaRPr>
          </a:p>
          <a:p>
            <a:pPr marL="379095" indent="-366395">
              <a:lnSpc>
                <a:spcPct val="100000"/>
              </a:lnSpc>
              <a:spcBef>
                <a:spcPts val="325"/>
              </a:spcBef>
              <a:buClr>
                <a:srgbClr val="000000"/>
              </a:buClr>
              <a:buFont typeface="Arial MT"/>
              <a:buChar char="●"/>
              <a:tabLst>
                <a:tab pos="379095" algn="l"/>
              </a:tabLst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0644</a:t>
            </a:r>
            <a:r>
              <a:rPr sz="1800" spc="-10" dirty="0">
                <a:latin typeface="Arial MT"/>
                <a:cs typeface="Arial MT"/>
              </a:rPr>
              <a:t>:</a:t>
            </a:r>
            <a:endParaRPr sz="1800" dirty="0">
              <a:latin typeface="Arial MT"/>
              <a:cs typeface="Arial MT"/>
            </a:endParaRPr>
          </a:p>
          <a:p>
            <a:pPr marL="379095">
              <a:lnSpc>
                <a:spcPct val="100000"/>
              </a:lnSpc>
              <a:spcBef>
                <a:spcPts val="325"/>
              </a:spcBef>
            </a:pP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ow</a:t>
            </a:r>
            <a:endParaRPr sz="1800" dirty="0">
              <a:latin typeface="Arial MT"/>
              <a:cs typeface="Arial MT"/>
            </a:endParaRPr>
          </a:p>
          <a:p>
            <a:pPr marL="379095" indent="-366395">
              <a:lnSpc>
                <a:spcPct val="100000"/>
              </a:lnSpc>
              <a:spcBef>
                <a:spcPts val="325"/>
              </a:spcBef>
              <a:buClr>
                <a:srgbClr val="000000"/>
              </a:buClr>
              <a:buFont typeface="Arial MT"/>
              <a:buChar char="●"/>
              <a:tabLst>
                <a:tab pos="379095" algn="l"/>
              </a:tabLst>
            </a:pPr>
            <a:r>
              <a:rPr sz="1800" b="1" spc="-20" dirty="0">
                <a:solidFill>
                  <a:srgbClr val="188037"/>
                </a:solidFill>
                <a:latin typeface="Courier New"/>
                <a:cs typeface="Courier New"/>
              </a:rPr>
              <a:t>PARK</a:t>
            </a:r>
            <a:endParaRPr sz="1800" b="1" dirty="0">
              <a:latin typeface="Courier New"/>
              <a:cs typeface="Courier New"/>
            </a:endParaRPr>
          </a:p>
        </p:txBody>
      </p:sp>
      <p:sp>
        <p:nvSpPr>
          <p:cNvPr id="7" name="object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489765" y="2560803"/>
            <a:ext cx="3009900" cy="326072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1440">
              <a:lnSpc>
                <a:spcPts val="1989"/>
              </a:lnSpc>
            </a:pPr>
            <a:r>
              <a:rPr sz="1800" spc="-50" dirty="0">
                <a:latin typeface="Arial MT"/>
                <a:cs typeface="Arial MT"/>
              </a:rPr>
              <a:t>:</a:t>
            </a:r>
            <a:endParaRPr sz="1800">
              <a:latin typeface="Arial MT"/>
              <a:cs typeface="Arial MT"/>
            </a:endParaRPr>
          </a:p>
          <a:p>
            <a:pPr marL="10160">
              <a:lnSpc>
                <a:spcPct val="100000"/>
              </a:lnSpc>
              <a:spcBef>
                <a:spcPts val="1520"/>
              </a:spcBef>
            </a:pPr>
            <a:r>
              <a:rPr sz="1800" dirty="0">
                <a:latin typeface="Arial MT"/>
                <a:cs typeface="Arial MT"/>
              </a:rPr>
              <a:t>es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named</a:t>
            </a:r>
            <a:r>
              <a:rPr sz="1800" b="1" spc="-10" dirty="0">
                <a:latin typeface="Arial"/>
                <a:cs typeface="Arial"/>
              </a:rPr>
              <a:t> semaphore</a:t>
            </a:r>
            <a:endParaRPr sz="1800">
              <a:latin typeface="Arial"/>
              <a:cs typeface="Arial"/>
            </a:endParaRPr>
          </a:p>
          <a:p>
            <a:pPr marL="60960">
              <a:lnSpc>
                <a:spcPct val="100000"/>
              </a:lnSpc>
              <a:spcBef>
                <a:spcPts val="325"/>
              </a:spcBef>
            </a:pPr>
            <a:r>
              <a:rPr sz="1800" dirty="0">
                <a:latin typeface="Arial MT"/>
                <a:cs typeface="Arial MT"/>
              </a:rPr>
              <a:t>ied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by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188037"/>
                </a:solidFill>
                <a:latin typeface="Courier New"/>
                <a:cs typeface="Courier New"/>
              </a:rPr>
              <a:t>SEM_NAME</a:t>
            </a:r>
            <a:r>
              <a:rPr sz="1800" spc="-10" dirty="0">
                <a:latin typeface="Arial MT"/>
                <a:cs typeface="Arial MT"/>
              </a:rPr>
              <a:t>.</a:t>
            </a:r>
            <a:endParaRPr sz="1800">
              <a:latin typeface="Arial MT"/>
              <a:cs typeface="Arial MT"/>
            </a:endParaRPr>
          </a:p>
          <a:p>
            <a:pPr marL="22225">
              <a:lnSpc>
                <a:spcPct val="100000"/>
              </a:lnSpc>
              <a:spcBef>
                <a:spcPts val="325"/>
              </a:spcBef>
            </a:pPr>
            <a:r>
              <a:rPr sz="1800" dirty="0">
                <a:latin typeface="Arial MT"/>
                <a:cs typeface="Arial MT"/>
              </a:rPr>
              <a:t>ags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88037"/>
                </a:solidFill>
                <a:latin typeface="Courier New"/>
                <a:cs typeface="Courier New"/>
              </a:rPr>
              <a:t>O_CREAT</a:t>
            </a:r>
            <a:r>
              <a:rPr sz="1800" spc="-1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188037"/>
                </a:solidFill>
                <a:latin typeface="Courier New"/>
                <a:cs typeface="Courier New"/>
              </a:rPr>
              <a:t>|</a:t>
            </a:r>
            <a:r>
              <a:rPr sz="1800" spc="-1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spc="-10" dirty="0">
                <a:solidFill>
                  <a:srgbClr val="188037"/>
                </a:solidFill>
                <a:latin typeface="Courier New"/>
                <a:cs typeface="Courier New"/>
              </a:rPr>
              <a:t>O_EXCL</a:t>
            </a:r>
            <a:endParaRPr sz="1800">
              <a:latin typeface="Courier New"/>
              <a:cs typeface="Courier New"/>
            </a:endParaRPr>
          </a:p>
          <a:p>
            <a:pPr marL="149225" marR="7620" indent="-127000">
              <a:lnSpc>
                <a:spcPct val="114999"/>
              </a:lnSpc>
            </a:pPr>
            <a:r>
              <a:rPr sz="1800" dirty="0">
                <a:latin typeface="Arial MT"/>
                <a:cs typeface="Arial MT"/>
              </a:rPr>
              <a:t>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created </a:t>
            </a:r>
            <a:r>
              <a:rPr sz="1800" dirty="0">
                <a:latin typeface="Arial MT"/>
                <a:cs typeface="Arial MT"/>
              </a:rPr>
              <a:t>nd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reused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from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previous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15"/>
              </a:spcBef>
            </a:pPr>
            <a:endParaRPr sz="1800">
              <a:latin typeface="Arial MT"/>
              <a:cs typeface="Arial MT"/>
            </a:endParaRPr>
          </a:p>
          <a:p>
            <a:pPr marL="73660" indent="52705">
              <a:lnSpc>
                <a:spcPct val="114999"/>
              </a:lnSpc>
            </a:pPr>
            <a:r>
              <a:rPr sz="1800" dirty="0">
                <a:latin typeface="Arial MT"/>
                <a:cs typeface="Arial MT"/>
              </a:rPr>
              <a:t>Sets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permissions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(read/write </a:t>
            </a:r>
            <a:r>
              <a:rPr sz="1800" dirty="0">
                <a:latin typeface="Arial MT"/>
                <a:cs typeface="Arial MT"/>
              </a:rPr>
              <a:t>ner,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read-only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others).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325"/>
              </a:spcBef>
            </a:pPr>
            <a:r>
              <a:rPr sz="1800" dirty="0">
                <a:solidFill>
                  <a:srgbClr val="188037"/>
                </a:solidFill>
                <a:latin typeface="Courier New"/>
                <a:cs typeface="Courier New"/>
              </a:rPr>
              <a:t>ING_SPOTS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Initializes</a:t>
            </a:r>
            <a:r>
              <a:rPr sz="1800" spc="-25" dirty="0">
                <a:latin typeface="Arial MT"/>
                <a:cs typeface="Arial MT"/>
              </a:rPr>
              <a:t> the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8" name="object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928425" y="5792380"/>
            <a:ext cx="3620135" cy="6565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999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value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5,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representing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5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available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parking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spots.</a:t>
            </a:r>
            <a:endParaRPr sz="1800">
              <a:latin typeface="Arial MT"/>
              <a:cs typeface="Arial MT"/>
            </a:endParaRPr>
          </a:p>
        </p:txBody>
      </p:sp>
      <p:grpSp>
        <p:nvGrpSpPr>
          <p:cNvPr id="9" name="object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602712" y="1725550"/>
            <a:ext cx="10358120" cy="4980305"/>
            <a:chOff x="1602712" y="1725550"/>
            <a:chExt cx="10358120" cy="4980305"/>
          </a:xfrm>
        </p:grpSpPr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63500" y="1725550"/>
              <a:ext cx="6897025" cy="4980050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5043950" y="2429800"/>
              <a:ext cx="6758940" cy="1297940"/>
            </a:xfrm>
            <a:custGeom>
              <a:avLst/>
              <a:gdLst/>
              <a:ahLst/>
              <a:cxnLst/>
              <a:rect l="l" t="t" r="r" b="b"/>
              <a:pathLst>
                <a:path w="6758940" h="1297939">
                  <a:moveTo>
                    <a:pt x="0" y="0"/>
                  </a:moveTo>
                  <a:lnTo>
                    <a:pt x="6758399" y="0"/>
                  </a:lnTo>
                  <a:lnTo>
                    <a:pt x="6758399" y="1297799"/>
                  </a:lnTo>
                  <a:lnTo>
                    <a:pt x="0" y="12977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607475" y="2621525"/>
              <a:ext cx="9144000" cy="3163570"/>
            </a:xfrm>
            <a:custGeom>
              <a:avLst/>
              <a:gdLst/>
              <a:ahLst/>
              <a:cxnLst/>
              <a:rect l="l" t="t" r="r" b="b"/>
              <a:pathLst>
                <a:path w="9144000" h="3163570">
                  <a:moveTo>
                    <a:pt x="9143999" y="3163499"/>
                  </a:moveTo>
                  <a:lnTo>
                    <a:pt x="0" y="3163499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3163499"/>
                  </a:lnTo>
                  <a:close/>
                </a:path>
              </a:pathLst>
            </a:custGeom>
            <a:solidFill>
              <a:srgbClr val="FFF1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607475" y="2621525"/>
              <a:ext cx="9144000" cy="3163570"/>
            </a:xfrm>
            <a:custGeom>
              <a:avLst/>
              <a:gdLst/>
              <a:ahLst/>
              <a:cxnLst/>
              <a:rect l="l" t="t" r="r" b="b"/>
              <a:pathLst>
                <a:path w="9144000" h="3163570">
                  <a:moveTo>
                    <a:pt x="0" y="0"/>
                  </a:moveTo>
                  <a:lnTo>
                    <a:pt x="9143999" y="0"/>
                  </a:lnTo>
                  <a:lnTo>
                    <a:pt x="9143999" y="3163499"/>
                  </a:lnTo>
                  <a:lnTo>
                    <a:pt x="0" y="31634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2185725" y="3134006"/>
            <a:ext cx="724344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sem_open</a:t>
            </a:r>
            <a:r>
              <a:rPr sz="1800" b="1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function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create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open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named</a:t>
            </a:r>
            <a:r>
              <a:rPr sz="1800" spc="-10" dirty="0">
                <a:latin typeface="Arial MT"/>
                <a:cs typeface="Arial MT"/>
              </a:rPr>
              <a:t> semaphore.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typical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call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looks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like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this: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276249" y="3956966"/>
            <a:ext cx="7821295" cy="1122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indent="-36639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Arial MT"/>
              <a:buChar char="●"/>
              <a:tabLst>
                <a:tab pos="379095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name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7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name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(e.g.,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/semaphore_name</a:t>
            </a:r>
            <a:r>
              <a:rPr sz="1800" spc="-10" dirty="0">
                <a:latin typeface="Arial MT"/>
                <a:cs typeface="Arial MT"/>
              </a:rPr>
              <a:t>).</a:t>
            </a:r>
            <a:endParaRPr sz="1800" dirty="0">
              <a:latin typeface="Arial MT"/>
              <a:cs typeface="Arial MT"/>
            </a:endParaRPr>
          </a:p>
          <a:p>
            <a:pPr marL="379095" indent="-366395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pos="379095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oflag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Flags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control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how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created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opened.</a:t>
            </a:r>
            <a:endParaRPr sz="1800" dirty="0">
              <a:latin typeface="Arial MT"/>
              <a:cs typeface="Arial MT"/>
            </a:endParaRPr>
          </a:p>
          <a:p>
            <a:pPr marL="379095" indent="-366395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pos="379095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mode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permissions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(optional;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when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creating).</a:t>
            </a:r>
            <a:endParaRPr sz="1800" dirty="0">
              <a:latin typeface="Arial MT"/>
              <a:cs typeface="Arial MT"/>
            </a:endParaRPr>
          </a:p>
          <a:p>
            <a:pPr marL="379095" indent="-366395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pos="379095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value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Initial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value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(optional;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used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when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creating).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188547"/>
            <a:ext cx="40252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0375" y="1543538"/>
            <a:ext cx="12706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Semaphores</a:t>
            </a:r>
            <a:endParaRPr sz="1800">
              <a:latin typeface="Georgia"/>
              <a:cs typeface="Georgia"/>
            </a:endParaRPr>
          </a:p>
        </p:txBody>
      </p:sp>
      <p:sp>
        <p:nvSp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471225" y="2058581"/>
            <a:ext cx="178435" cy="767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0" dirty="0">
                <a:solidFill>
                  <a:srgbClr val="980000"/>
                </a:solidFill>
                <a:latin typeface="Arial"/>
                <a:cs typeface="Arial"/>
              </a:rPr>
              <a:t>S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520"/>
              </a:spcBef>
            </a:pPr>
            <a:r>
              <a:rPr sz="1800" b="1" spc="-50" dirty="0">
                <a:solidFill>
                  <a:srgbClr val="188037"/>
                </a:solidFill>
                <a:latin typeface="Courier New"/>
                <a:cs typeface="Courier New"/>
              </a:rPr>
              <a:t>s</a:t>
            </a:r>
            <a:endParaRPr sz="1800">
              <a:latin typeface="Courier New"/>
              <a:cs typeface="Courier New"/>
            </a:endParaRPr>
          </a:p>
        </p:txBody>
      </p:sp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74449" y="2092935"/>
            <a:ext cx="3961129" cy="43459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1594">
              <a:lnSpc>
                <a:spcPts val="1989"/>
              </a:lnSpc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emaphore</a:t>
            </a:r>
            <a:r>
              <a:rPr sz="1800" b="1" spc="-4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Creation</a:t>
            </a:r>
            <a:endParaRPr sz="1800">
              <a:latin typeface="Arial"/>
              <a:cs typeface="Arial"/>
            </a:endParaRPr>
          </a:p>
          <a:p>
            <a:pPr marL="46355">
              <a:lnSpc>
                <a:spcPct val="100000"/>
              </a:lnSpc>
              <a:spcBef>
                <a:spcPts val="1520"/>
              </a:spcBef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em_open</a:t>
            </a:r>
            <a:r>
              <a:rPr sz="1800" spc="-10" dirty="0">
                <a:latin typeface="Arial MT"/>
                <a:cs typeface="Arial MT"/>
              </a:rPr>
              <a:t>: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525"/>
              </a:spcBef>
              <a:tabLst>
                <a:tab pos="366395" algn="l"/>
              </a:tabLst>
            </a:pPr>
            <a:r>
              <a:rPr sz="1800" spc="-770" dirty="0">
                <a:latin typeface="Arial MT"/>
                <a:cs typeface="Arial MT"/>
              </a:rPr>
              <a:t>●</a:t>
            </a:r>
            <a:r>
              <a:rPr sz="1800" dirty="0">
                <a:latin typeface="Arial MT"/>
                <a:cs typeface="Arial MT"/>
              </a:rPr>
              <a:t>	Creates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named</a:t>
            </a:r>
            <a:r>
              <a:rPr sz="1800" b="1" spc="-10" dirty="0">
                <a:latin typeface="Arial"/>
                <a:cs typeface="Arial"/>
              </a:rPr>
              <a:t> semaphore</a:t>
            </a:r>
            <a:endParaRPr sz="1800">
              <a:latin typeface="Arial"/>
              <a:cs typeface="Arial"/>
            </a:endParaRPr>
          </a:p>
          <a:p>
            <a:pPr marL="366395">
              <a:lnSpc>
                <a:spcPct val="100000"/>
              </a:lnSpc>
              <a:spcBef>
                <a:spcPts val="325"/>
              </a:spcBef>
            </a:pPr>
            <a:r>
              <a:rPr sz="1800" dirty="0">
                <a:latin typeface="Arial MT"/>
                <a:cs typeface="Arial MT"/>
              </a:rPr>
              <a:t>identified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188037"/>
                </a:solidFill>
                <a:latin typeface="Courier New"/>
                <a:cs typeface="Courier New"/>
              </a:rPr>
              <a:t>SEM_NAME</a:t>
            </a:r>
            <a:r>
              <a:rPr sz="1800" spc="-10" dirty="0">
                <a:latin typeface="Arial MT"/>
                <a:cs typeface="Arial MT"/>
              </a:rPr>
              <a:t>.</a:t>
            </a:r>
            <a:endParaRPr sz="1800">
              <a:latin typeface="Arial MT"/>
              <a:cs typeface="Arial MT"/>
            </a:endParaRPr>
          </a:p>
          <a:p>
            <a:pPr marL="366395" marR="43180" indent="-367030">
              <a:lnSpc>
                <a:spcPct val="114999"/>
              </a:lnSpc>
              <a:tabLst>
                <a:tab pos="366395" algn="l"/>
              </a:tabLst>
            </a:pPr>
            <a:r>
              <a:rPr sz="1800" spc="-770" dirty="0">
                <a:latin typeface="Arial MT"/>
                <a:cs typeface="Arial MT"/>
              </a:rPr>
              <a:t>●</a:t>
            </a:r>
            <a:r>
              <a:rPr sz="1800" dirty="0">
                <a:latin typeface="Arial MT"/>
                <a:cs typeface="Arial MT"/>
              </a:rPr>
              <a:t>	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flags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88037"/>
                </a:solidFill>
                <a:latin typeface="Courier New"/>
                <a:cs typeface="Courier New"/>
              </a:rPr>
              <a:t>O_CREAT</a:t>
            </a:r>
            <a:r>
              <a:rPr sz="1800" spc="-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188037"/>
                </a:solidFill>
                <a:latin typeface="Courier New"/>
                <a:cs typeface="Courier New"/>
              </a:rPr>
              <a:t>|</a:t>
            </a:r>
            <a:r>
              <a:rPr sz="1800" spc="-1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spc="-10" dirty="0">
                <a:solidFill>
                  <a:srgbClr val="188037"/>
                </a:solidFill>
                <a:latin typeface="Courier New"/>
                <a:cs typeface="Courier New"/>
              </a:rPr>
              <a:t>O_EXCL </a:t>
            </a:r>
            <a:r>
              <a:rPr sz="1800" dirty="0">
                <a:latin typeface="Arial MT"/>
                <a:cs typeface="Arial MT"/>
              </a:rPr>
              <a:t>ensure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created </a:t>
            </a:r>
            <a:r>
              <a:rPr sz="1800" dirty="0">
                <a:latin typeface="Arial MT"/>
                <a:cs typeface="Arial MT"/>
              </a:rPr>
              <a:t>fresh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reused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from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previous runs.</a:t>
            </a:r>
            <a:endParaRPr sz="1800">
              <a:latin typeface="Arial MT"/>
              <a:cs typeface="Arial MT"/>
            </a:endParaRPr>
          </a:p>
          <a:p>
            <a:pPr marL="366395" marR="27940" indent="-367030">
              <a:lnSpc>
                <a:spcPct val="114999"/>
              </a:lnSpc>
              <a:tabLst>
                <a:tab pos="366395" algn="l"/>
              </a:tabLst>
            </a:pPr>
            <a:r>
              <a:rPr sz="1800" spc="-770" dirty="0">
                <a:latin typeface="Arial MT"/>
                <a:cs typeface="Arial MT"/>
              </a:rPr>
              <a:t>●</a:t>
            </a:r>
            <a:r>
              <a:rPr sz="1800" dirty="0">
                <a:latin typeface="Arial MT"/>
                <a:cs typeface="Arial MT"/>
              </a:rPr>
              <a:t>	</a:t>
            </a:r>
            <a:r>
              <a:rPr sz="1800" dirty="0">
                <a:solidFill>
                  <a:srgbClr val="188037"/>
                </a:solidFill>
                <a:latin typeface="Courier New"/>
                <a:cs typeface="Courier New"/>
              </a:rPr>
              <a:t>0644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Sets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permissions</a:t>
            </a:r>
            <a:r>
              <a:rPr sz="1800" spc="-10" dirty="0">
                <a:latin typeface="Arial MT"/>
                <a:cs typeface="Arial MT"/>
              </a:rPr>
              <a:t> (read/write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owner,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read-only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others).</a:t>
            </a:r>
            <a:endParaRPr sz="1800">
              <a:latin typeface="Arial MT"/>
              <a:cs typeface="Arial MT"/>
            </a:endParaRPr>
          </a:p>
          <a:p>
            <a:pPr marL="366395" indent="-367030">
              <a:lnSpc>
                <a:spcPct val="114999"/>
              </a:lnSpc>
              <a:tabLst>
                <a:tab pos="366395" algn="l"/>
              </a:tabLst>
            </a:pPr>
            <a:r>
              <a:rPr sz="1800" spc="-770" dirty="0">
                <a:latin typeface="Arial MT"/>
                <a:cs typeface="Arial MT"/>
              </a:rPr>
              <a:t>●</a:t>
            </a:r>
            <a:r>
              <a:rPr sz="1800" dirty="0">
                <a:latin typeface="Arial MT"/>
                <a:cs typeface="Arial MT"/>
              </a:rPr>
              <a:t>	</a:t>
            </a:r>
            <a:r>
              <a:rPr sz="1800" dirty="0">
                <a:solidFill>
                  <a:srgbClr val="188037"/>
                </a:solidFill>
                <a:latin typeface="Courier New"/>
                <a:cs typeface="Courier New"/>
              </a:rPr>
              <a:t>PARKING_SPOTS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Initializes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value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5,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representing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5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available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parking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spots.</a:t>
            </a:r>
            <a:endParaRPr sz="1800">
              <a:latin typeface="Arial MT"/>
              <a:cs typeface="Arial MT"/>
            </a:endParaRPr>
          </a:p>
        </p:txBody>
      </p:sp>
      <p:grpSp>
        <p:nvGrp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58912" y="1725550"/>
            <a:ext cx="11301730" cy="4980305"/>
            <a:chOff x="658912" y="1725550"/>
            <a:chExt cx="11301730" cy="4980305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63500" y="1725550"/>
              <a:ext cx="6897025" cy="498005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043949" y="2429800"/>
              <a:ext cx="6758940" cy="1297940"/>
            </a:xfrm>
            <a:custGeom>
              <a:avLst/>
              <a:gdLst/>
              <a:ahLst/>
              <a:cxnLst/>
              <a:rect l="l" t="t" r="r" b="b"/>
              <a:pathLst>
                <a:path w="6758940" h="1297939">
                  <a:moveTo>
                    <a:pt x="0" y="0"/>
                  </a:moveTo>
                  <a:lnTo>
                    <a:pt x="6758399" y="0"/>
                  </a:lnTo>
                  <a:lnTo>
                    <a:pt x="6758399" y="1297799"/>
                  </a:lnTo>
                  <a:lnTo>
                    <a:pt x="0" y="12977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63674" y="1994700"/>
              <a:ext cx="10818495" cy="4593590"/>
            </a:xfrm>
            <a:custGeom>
              <a:avLst/>
              <a:gdLst/>
              <a:ahLst/>
              <a:cxnLst/>
              <a:rect l="l" t="t" r="r" b="b"/>
              <a:pathLst>
                <a:path w="10818495" h="4593590">
                  <a:moveTo>
                    <a:pt x="10817999" y="4592999"/>
                  </a:moveTo>
                  <a:lnTo>
                    <a:pt x="0" y="4592999"/>
                  </a:lnTo>
                  <a:lnTo>
                    <a:pt x="0" y="0"/>
                  </a:lnTo>
                  <a:lnTo>
                    <a:pt x="10817999" y="0"/>
                  </a:lnTo>
                  <a:lnTo>
                    <a:pt x="10817999" y="4592999"/>
                  </a:lnTo>
                  <a:close/>
                </a:path>
              </a:pathLst>
            </a:custGeom>
            <a:solidFill>
              <a:srgbClr val="C9DA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63674" y="1994700"/>
              <a:ext cx="10818495" cy="4593590"/>
            </a:xfrm>
            <a:custGeom>
              <a:avLst/>
              <a:gdLst/>
              <a:ahLst/>
              <a:cxnLst/>
              <a:rect l="l" t="t" r="r" b="b"/>
              <a:pathLst>
                <a:path w="10818495" h="4593590">
                  <a:moveTo>
                    <a:pt x="0" y="0"/>
                  </a:moveTo>
                  <a:lnTo>
                    <a:pt x="10817999" y="0"/>
                  </a:lnTo>
                  <a:lnTo>
                    <a:pt x="10817999" y="4592999"/>
                  </a:lnTo>
                  <a:lnTo>
                    <a:pt x="0" y="45929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1112775" y="2146389"/>
            <a:ext cx="2169795" cy="284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O_CREAT</a:t>
            </a:r>
            <a:r>
              <a:rPr sz="1700" b="1" spc="-11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b="1" spc="-10" dirty="0">
                <a:solidFill>
                  <a:srgbClr val="188037"/>
                </a:solidFill>
                <a:latin typeface="Courier New"/>
                <a:cs typeface="Courier New"/>
              </a:rPr>
              <a:t>(Create)</a:t>
            </a:r>
            <a:r>
              <a:rPr sz="1700" b="1" spc="-10" dirty="0">
                <a:latin typeface="Arial"/>
                <a:cs typeface="Arial"/>
              </a:rPr>
              <a:t>:</a:t>
            </a:r>
            <a:endParaRPr sz="1700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211030" y="2557869"/>
            <a:ext cx="9766935" cy="621665"/>
          </a:xfrm>
          <a:prstGeom prst="rect">
            <a:avLst/>
          </a:prstGeom>
        </p:spPr>
        <p:txBody>
          <a:bodyPr vert="horz" wrap="square" lIns="0" tIns="51435" rIns="0" bIns="0" rtlCol="0">
            <a:spAutoFit/>
          </a:bodyPr>
          <a:lstStyle/>
          <a:p>
            <a:pPr marL="371475" indent="-358775">
              <a:lnSpc>
                <a:spcPct val="100000"/>
              </a:lnSpc>
              <a:spcBef>
                <a:spcPts val="405"/>
              </a:spcBef>
              <a:buFont typeface="Arial MT"/>
              <a:buChar char="●"/>
              <a:tabLst>
                <a:tab pos="371475" algn="l"/>
              </a:tabLst>
            </a:pPr>
            <a:r>
              <a:rPr sz="1700" b="1" dirty="0">
                <a:latin typeface="Arial"/>
                <a:cs typeface="Arial"/>
              </a:rPr>
              <a:t>Purpose</a:t>
            </a:r>
            <a:r>
              <a:rPr sz="1700" dirty="0">
                <a:latin typeface="Arial MT"/>
                <a:cs typeface="Arial MT"/>
              </a:rPr>
              <a:t>: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Creates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semaphore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if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it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doesn’t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already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exist.</a:t>
            </a:r>
            <a:endParaRPr sz="1700">
              <a:latin typeface="Arial MT"/>
              <a:cs typeface="Arial MT"/>
            </a:endParaRPr>
          </a:p>
          <a:p>
            <a:pPr marL="371475" indent="-358775">
              <a:lnSpc>
                <a:spcPct val="100000"/>
              </a:lnSpc>
              <a:spcBef>
                <a:spcPts val="305"/>
              </a:spcBef>
              <a:buFont typeface="Arial MT"/>
              <a:buChar char="●"/>
              <a:tabLst>
                <a:tab pos="371475" algn="l"/>
              </a:tabLst>
            </a:pPr>
            <a:r>
              <a:rPr sz="1700" b="1" dirty="0">
                <a:latin typeface="Arial"/>
                <a:cs typeface="Arial"/>
              </a:rPr>
              <a:t>Use</a:t>
            </a:r>
            <a:r>
              <a:rPr sz="1700" b="1" spc="-5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Case</a:t>
            </a:r>
            <a:r>
              <a:rPr sz="1700" dirty="0">
                <a:latin typeface="Arial MT"/>
                <a:cs typeface="Arial MT"/>
              </a:rPr>
              <a:t>: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Needed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when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you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want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to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ensure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semaphore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created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if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it's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not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already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available.</a:t>
            </a:r>
            <a:endParaRPr sz="17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112775" y="3345014"/>
            <a:ext cx="9557385" cy="28276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O_EXCL</a:t>
            </a:r>
            <a:r>
              <a:rPr sz="1700" b="1" spc="-9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b="1" spc="-10" dirty="0">
                <a:solidFill>
                  <a:srgbClr val="188037"/>
                </a:solidFill>
                <a:latin typeface="Courier New"/>
                <a:cs typeface="Courier New"/>
              </a:rPr>
              <a:t>(Exclusive)</a:t>
            </a:r>
            <a:r>
              <a:rPr sz="1700" b="1" spc="-10" dirty="0">
                <a:latin typeface="Arial"/>
                <a:cs typeface="Arial"/>
              </a:rPr>
              <a:t>:</a:t>
            </a:r>
            <a:endParaRPr sz="1700" dirty="0">
              <a:latin typeface="Arial"/>
              <a:cs typeface="Arial"/>
            </a:endParaRPr>
          </a:p>
          <a:p>
            <a:pPr marL="469265" indent="-358775">
              <a:lnSpc>
                <a:spcPct val="100000"/>
              </a:lnSpc>
              <a:spcBef>
                <a:spcPts val="1505"/>
              </a:spcBef>
              <a:buFont typeface="Arial MT"/>
              <a:buChar char="●"/>
              <a:tabLst>
                <a:tab pos="469265" algn="l"/>
              </a:tabLst>
            </a:pPr>
            <a:r>
              <a:rPr sz="1700" b="1" dirty="0">
                <a:latin typeface="Arial"/>
                <a:cs typeface="Arial"/>
              </a:rPr>
              <a:t>Purpose</a:t>
            </a:r>
            <a:r>
              <a:rPr sz="1700" dirty="0">
                <a:latin typeface="Arial MT"/>
                <a:cs typeface="Arial MT"/>
              </a:rPr>
              <a:t>:</a:t>
            </a:r>
            <a:r>
              <a:rPr sz="1700" spc="-8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Ensures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that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sem_open</a:t>
            </a:r>
            <a:r>
              <a:rPr sz="1700" b="1"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will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fail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if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semaphore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b="1" dirty="0">
                <a:latin typeface="Arial"/>
                <a:cs typeface="Arial"/>
              </a:rPr>
              <a:t>already</a:t>
            </a:r>
            <a:r>
              <a:rPr sz="1700" b="1" spc="-45" dirty="0">
                <a:latin typeface="Arial"/>
                <a:cs typeface="Arial"/>
              </a:rPr>
              <a:t> </a:t>
            </a:r>
            <a:r>
              <a:rPr sz="1700" b="1" spc="-10" dirty="0">
                <a:latin typeface="Arial"/>
                <a:cs typeface="Arial"/>
              </a:rPr>
              <a:t>exists</a:t>
            </a:r>
            <a:r>
              <a:rPr sz="1700" spc="-10" dirty="0">
                <a:latin typeface="Arial MT"/>
                <a:cs typeface="Arial MT"/>
              </a:rPr>
              <a:t>.</a:t>
            </a:r>
            <a:endParaRPr sz="1700" dirty="0">
              <a:latin typeface="Arial MT"/>
              <a:cs typeface="Arial MT"/>
            </a:endParaRPr>
          </a:p>
          <a:p>
            <a:pPr marL="469900" marR="5080" indent="-359410">
              <a:lnSpc>
                <a:spcPct val="114999"/>
              </a:lnSpc>
              <a:buFont typeface="Arial MT"/>
              <a:buChar char="●"/>
              <a:tabLst>
                <a:tab pos="469900" algn="l"/>
              </a:tabLst>
            </a:pPr>
            <a:r>
              <a:rPr sz="1700" b="1" dirty="0">
                <a:latin typeface="Arial"/>
                <a:cs typeface="Arial"/>
              </a:rPr>
              <a:t>Use</a:t>
            </a:r>
            <a:r>
              <a:rPr sz="1700" b="1" spc="-5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Case</a:t>
            </a:r>
            <a:r>
              <a:rPr sz="1700" dirty="0">
                <a:latin typeface="Arial MT"/>
                <a:cs typeface="Arial MT"/>
              </a:rPr>
              <a:t>: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Prevents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accidental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reuse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of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an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existing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semaphore.</a:t>
            </a:r>
            <a:r>
              <a:rPr sz="1700" spc="-8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This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useful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for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avoiding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spc="-20" dirty="0">
                <a:latin typeface="Arial MT"/>
                <a:cs typeface="Arial MT"/>
              </a:rPr>
              <a:t>race </a:t>
            </a:r>
            <a:r>
              <a:rPr sz="1700" dirty="0">
                <a:latin typeface="Arial MT"/>
                <a:cs typeface="Arial MT"/>
              </a:rPr>
              <a:t>conditions</a:t>
            </a:r>
            <a:r>
              <a:rPr sz="1700" spc="-8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during</a:t>
            </a:r>
            <a:r>
              <a:rPr sz="1700" spc="-8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initialization.</a:t>
            </a:r>
            <a:endParaRPr sz="17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505"/>
              </a:spcBef>
            </a:pPr>
            <a:r>
              <a:rPr sz="1700" b="1" spc="-10" dirty="0">
                <a:latin typeface="Arial"/>
                <a:cs typeface="Arial"/>
              </a:rPr>
              <a:t>Combined</a:t>
            </a:r>
            <a:r>
              <a:rPr sz="1700" b="1" spc="-3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(</a:t>
            </a: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O_CREAT</a:t>
            </a:r>
            <a:r>
              <a:rPr sz="1700" b="1" spc="-6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|</a:t>
            </a:r>
            <a:r>
              <a:rPr sz="1700" b="1" spc="-6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b="1" spc="-10" dirty="0">
                <a:solidFill>
                  <a:srgbClr val="188037"/>
                </a:solidFill>
                <a:latin typeface="Courier New"/>
                <a:cs typeface="Courier New"/>
              </a:rPr>
              <a:t>O_EXCL</a:t>
            </a:r>
            <a:r>
              <a:rPr sz="1700" b="1" spc="-10" dirty="0">
                <a:latin typeface="Arial"/>
                <a:cs typeface="Arial"/>
              </a:rPr>
              <a:t>):</a:t>
            </a:r>
            <a:endParaRPr sz="1700" dirty="0">
              <a:latin typeface="Arial"/>
              <a:cs typeface="Arial"/>
            </a:endParaRPr>
          </a:p>
          <a:p>
            <a:pPr marL="469265" indent="-358775">
              <a:lnSpc>
                <a:spcPct val="100000"/>
              </a:lnSpc>
              <a:spcBef>
                <a:spcPts val="1505"/>
              </a:spcBef>
              <a:buChar char="●"/>
              <a:tabLst>
                <a:tab pos="469265" algn="l"/>
              </a:tabLst>
            </a:pPr>
            <a:r>
              <a:rPr sz="1700" spc="-35" dirty="0">
                <a:latin typeface="Arial MT"/>
                <a:cs typeface="Arial MT"/>
              </a:rPr>
              <a:t>Together,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these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flags:</a:t>
            </a:r>
            <a:endParaRPr sz="1700" dirty="0">
              <a:latin typeface="Arial MT"/>
              <a:cs typeface="Arial MT"/>
            </a:endParaRPr>
          </a:p>
          <a:p>
            <a:pPr marL="926465" lvl="1" indent="-358775">
              <a:lnSpc>
                <a:spcPct val="100000"/>
              </a:lnSpc>
              <a:spcBef>
                <a:spcPts val="309"/>
              </a:spcBef>
              <a:buChar char="○"/>
              <a:tabLst>
                <a:tab pos="926465" algn="l"/>
              </a:tabLst>
            </a:pPr>
            <a:r>
              <a:rPr sz="1700" dirty="0">
                <a:latin typeface="Arial MT"/>
                <a:cs typeface="Arial MT"/>
              </a:rPr>
              <a:t>Create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semaphore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b="1" dirty="0">
                <a:latin typeface="Arial"/>
                <a:cs typeface="Arial"/>
              </a:rPr>
              <a:t>only</a:t>
            </a:r>
            <a:r>
              <a:rPr sz="1700" b="1" spc="-3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if</a:t>
            </a:r>
            <a:r>
              <a:rPr sz="1700" b="1" spc="-4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it</a:t>
            </a:r>
            <a:r>
              <a:rPr sz="1700" b="1" spc="-3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does</a:t>
            </a:r>
            <a:r>
              <a:rPr sz="1700" b="1" spc="-3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not</a:t>
            </a:r>
            <a:r>
              <a:rPr sz="1700" b="1" spc="-35" dirty="0">
                <a:latin typeface="Arial"/>
                <a:cs typeface="Arial"/>
              </a:rPr>
              <a:t> </a:t>
            </a:r>
            <a:r>
              <a:rPr sz="1700" b="1" spc="-10" dirty="0">
                <a:latin typeface="Arial"/>
                <a:cs typeface="Arial"/>
              </a:rPr>
              <a:t>exist</a:t>
            </a:r>
            <a:r>
              <a:rPr sz="1700" spc="-10" dirty="0">
                <a:latin typeface="Arial MT"/>
                <a:cs typeface="Arial MT"/>
              </a:rPr>
              <a:t>.</a:t>
            </a:r>
            <a:endParaRPr sz="1700" dirty="0">
              <a:latin typeface="Arial MT"/>
              <a:cs typeface="Arial MT"/>
            </a:endParaRPr>
          </a:p>
          <a:p>
            <a:pPr marL="926465" lvl="1" indent="-358775">
              <a:lnSpc>
                <a:spcPct val="100000"/>
              </a:lnSpc>
              <a:spcBef>
                <a:spcPts val="305"/>
              </a:spcBef>
              <a:buChar char="○"/>
              <a:tabLst>
                <a:tab pos="926465" algn="l"/>
              </a:tabLst>
            </a:pPr>
            <a:r>
              <a:rPr sz="1700" dirty="0">
                <a:latin typeface="Arial MT"/>
                <a:cs typeface="Arial MT"/>
              </a:rPr>
              <a:t>Fail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with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an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error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(</a:t>
            </a: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EEXIST</a:t>
            </a:r>
            <a:r>
              <a:rPr sz="1700" dirty="0">
                <a:latin typeface="Arial MT"/>
                <a:cs typeface="Arial MT"/>
              </a:rPr>
              <a:t>)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if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semaphore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already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exists.</a:t>
            </a:r>
            <a:endParaRPr sz="17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188547"/>
            <a:ext cx="40252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0375" y="1543538"/>
            <a:ext cx="12706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Semaphores</a:t>
            </a:r>
            <a:endParaRPr sz="1800">
              <a:latin typeface="Georgia"/>
              <a:cs typeface="Georgia"/>
            </a:endParaRPr>
          </a:p>
        </p:txBody>
      </p:sp>
      <p:sp>
        <p:nvSp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471225" y="2058581"/>
            <a:ext cx="178435" cy="767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0" dirty="0">
                <a:solidFill>
                  <a:srgbClr val="980000"/>
                </a:solidFill>
                <a:latin typeface="Arial"/>
                <a:cs typeface="Arial"/>
              </a:rPr>
              <a:t>S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520"/>
              </a:spcBef>
            </a:pPr>
            <a:r>
              <a:rPr sz="1800" b="1" spc="-50" dirty="0">
                <a:solidFill>
                  <a:srgbClr val="188037"/>
                </a:solidFill>
                <a:latin typeface="Courier New"/>
                <a:cs typeface="Courier New"/>
              </a:rPr>
              <a:t>s</a:t>
            </a:r>
            <a:endParaRPr sz="1800">
              <a:latin typeface="Courier New"/>
              <a:cs typeface="Courier New"/>
            </a:endParaRPr>
          </a:p>
        </p:txBody>
      </p:sp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61749" y="2994317"/>
            <a:ext cx="1638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770" dirty="0">
                <a:latin typeface="Arial MT"/>
                <a:cs typeface="Arial MT"/>
              </a:rPr>
              <a:t>●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61749" y="3625253"/>
            <a:ext cx="1638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770" dirty="0">
                <a:latin typeface="Arial MT"/>
                <a:cs typeface="Arial MT"/>
              </a:rPr>
              <a:t>●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7" name="object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61749" y="4887124"/>
            <a:ext cx="1638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770" dirty="0">
                <a:latin typeface="Arial MT"/>
                <a:cs typeface="Arial MT"/>
              </a:rPr>
              <a:t>●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8" name="object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61749" y="5518060"/>
            <a:ext cx="1638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770" dirty="0">
                <a:latin typeface="Arial MT"/>
                <a:cs typeface="Arial MT"/>
              </a:rPr>
              <a:t>●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9" name="object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21085" y="2092935"/>
            <a:ext cx="3914775" cy="43459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5240">
              <a:lnSpc>
                <a:spcPts val="1989"/>
              </a:lnSpc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emaphore</a:t>
            </a:r>
            <a:r>
              <a:rPr sz="1800" b="1" spc="-4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Creation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520"/>
              </a:spcBef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em_open</a:t>
            </a:r>
            <a:r>
              <a:rPr sz="1800" spc="-10" dirty="0">
                <a:latin typeface="Arial MT"/>
                <a:cs typeface="Arial MT"/>
              </a:rPr>
              <a:t>:</a:t>
            </a:r>
            <a:endParaRPr sz="1800">
              <a:latin typeface="Arial MT"/>
              <a:cs typeface="Arial MT"/>
            </a:endParaRPr>
          </a:p>
          <a:p>
            <a:pPr marL="320040">
              <a:lnSpc>
                <a:spcPct val="100000"/>
              </a:lnSpc>
              <a:spcBef>
                <a:spcPts val="1525"/>
              </a:spcBef>
            </a:pPr>
            <a:r>
              <a:rPr sz="1800" dirty="0">
                <a:latin typeface="Arial MT"/>
                <a:cs typeface="Arial MT"/>
              </a:rPr>
              <a:t>Creates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named</a:t>
            </a:r>
            <a:r>
              <a:rPr sz="1800" b="1" spc="-10" dirty="0">
                <a:latin typeface="Arial"/>
                <a:cs typeface="Arial"/>
              </a:rPr>
              <a:t> semaphore</a:t>
            </a:r>
            <a:endParaRPr sz="1800">
              <a:latin typeface="Arial"/>
              <a:cs typeface="Arial"/>
            </a:endParaRPr>
          </a:p>
          <a:p>
            <a:pPr marL="320040">
              <a:lnSpc>
                <a:spcPct val="100000"/>
              </a:lnSpc>
              <a:spcBef>
                <a:spcPts val="325"/>
              </a:spcBef>
            </a:pPr>
            <a:r>
              <a:rPr sz="1800" dirty="0">
                <a:latin typeface="Arial MT"/>
                <a:cs typeface="Arial MT"/>
              </a:rPr>
              <a:t>identified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188037"/>
                </a:solidFill>
                <a:latin typeface="Courier New"/>
                <a:cs typeface="Courier New"/>
              </a:rPr>
              <a:t>SEM_NAME</a:t>
            </a:r>
            <a:r>
              <a:rPr sz="1800" spc="-10" dirty="0">
                <a:latin typeface="Arial MT"/>
                <a:cs typeface="Arial MT"/>
              </a:rPr>
              <a:t>.</a:t>
            </a:r>
            <a:endParaRPr sz="1800">
              <a:latin typeface="Arial MT"/>
              <a:cs typeface="Arial MT"/>
            </a:endParaRPr>
          </a:p>
          <a:p>
            <a:pPr marL="320040" marR="43180">
              <a:lnSpc>
                <a:spcPct val="114999"/>
              </a:lnSpc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flags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88037"/>
                </a:solidFill>
                <a:latin typeface="Courier New"/>
                <a:cs typeface="Courier New"/>
              </a:rPr>
              <a:t>O_CREAT</a:t>
            </a:r>
            <a:r>
              <a:rPr sz="1800" spc="-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188037"/>
                </a:solidFill>
                <a:latin typeface="Courier New"/>
                <a:cs typeface="Courier New"/>
              </a:rPr>
              <a:t>|</a:t>
            </a:r>
            <a:r>
              <a:rPr sz="1800" spc="-1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spc="-10" dirty="0">
                <a:solidFill>
                  <a:srgbClr val="188037"/>
                </a:solidFill>
                <a:latin typeface="Courier New"/>
                <a:cs typeface="Courier New"/>
              </a:rPr>
              <a:t>O_EXCL </a:t>
            </a:r>
            <a:r>
              <a:rPr sz="1800" dirty="0">
                <a:latin typeface="Arial MT"/>
                <a:cs typeface="Arial MT"/>
              </a:rPr>
              <a:t>ensure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created </a:t>
            </a:r>
            <a:r>
              <a:rPr sz="1800" dirty="0">
                <a:latin typeface="Arial MT"/>
                <a:cs typeface="Arial MT"/>
              </a:rPr>
              <a:t>fresh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reused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from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previous runs.</a:t>
            </a:r>
            <a:endParaRPr sz="1800">
              <a:latin typeface="Arial MT"/>
              <a:cs typeface="Arial MT"/>
            </a:endParaRPr>
          </a:p>
          <a:p>
            <a:pPr marL="320040" marR="27940">
              <a:lnSpc>
                <a:spcPct val="114999"/>
              </a:lnSpc>
            </a:pPr>
            <a:r>
              <a:rPr sz="1800" dirty="0">
                <a:solidFill>
                  <a:srgbClr val="188037"/>
                </a:solidFill>
                <a:latin typeface="Courier New"/>
                <a:cs typeface="Courier New"/>
              </a:rPr>
              <a:t>0644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Sets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permissions</a:t>
            </a:r>
            <a:r>
              <a:rPr sz="1800" spc="-10" dirty="0">
                <a:latin typeface="Arial MT"/>
                <a:cs typeface="Arial MT"/>
              </a:rPr>
              <a:t> (read/write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owner,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read-only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others).</a:t>
            </a:r>
            <a:endParaRPr sz="1800">
              <a:latin typeface="Arial MT"/>
              <a:cs typeface="Arial MT"/>
            </a:endParaRPr>
          </a:p>
          <a:p>
            <a:pPr marL="320040">
              <a:lnSpc>
                <a:spcPct val="114999"/>
              </a:lnSpc>
            </a:pPr>
            <a:r>
              <a:rPr sz="1800" dirty="0">
                <a:solidFill>
                  <a:srgbClr val="188037"/>
                </a:solidFill>
                <a:latin typeface="Courier New"/>
                <a:cs typeface="Courier New"/>
              </a:rPr>
              <a:t>PARKING_SPOTS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Initializes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value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5,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representing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5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available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parking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spots.</a:t>
            </a:r>
            <a:endParaRPr sz="1800">
              <a:latin typeface="Arial MT"/>
              <a:cs typeface="Arial MT"/>
            </a:endParaRPr>
          </a:p>
        </p:txBody>
      </p:sp>
      <p:grpSp>
        <p:nvGrpSpPr>
          <p:cNvPr id="10" name="object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92087" y="1725550"/>
            <a:ext cx="11268710" cy="4980305"/>
            <a:chOff x="692087" y="1725550"/>
            <a:chExt cx="11268710" cy="4980305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63500" y="1725550"/>
              <a:ext cx="6897025" cy="4980050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5043950" y="2429800"/>
              <a:ext cx="6758940" cy="1297940"/>
            </a:xfrm>
            <a:custGeom>
              <a:avLst/>
              <a:gdLst/>
              <a:ahLst/>
              <a:cxnLst/>
              <a:rect l="l" t="t" r="r" b="b"/>
              <a:pathLst>
                <a:path w="6758940" h="1297939">
                  <a:moveTo>
                    <a:pt x="0" y="0"/>
                  </a:moveTo>
                  <a:lnTo>
                    <a:pt x="6758399" y="0"/>
                  </a:lnTo>
                  <a:lnTo>
                    <a:pt x="6758399" y="1297799"/>
                  </a:lnTo>
                  <a:lnTo>
                    <a:pt x="0" y="12977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96850" y="1872325"/>
              <a:ext cx="10541635" cy="4715510"/>
            </a:xfrm>
            <a:custGeom>
              <a:avLst/>
              <a:gdLst/>
              <a:ahLst/>
              <a:cxnLst/>
              <a:rect l="l" t="t" r="r" b="b"/>
              <a:pathLst>
                <a:path w="10541635" h="4715509">
                  <a:moveTo>
                    <a:pt x="10541399" y="4715399"/>
                  </a:moveTo>
                  <a:lnTo>
                    <a:pt x="0" y="4715399"/>
                  </a:lnTo>
                  <a:lnTo>
                    <a:pt x="0" y="0"/>
                  </a:lnTo>
                  <a:lnTo>
                    <a:pt x="10541399" y="0"/>
                  </a:lnTo>
                  <a:lnTo>
                    <a:pt x="10541399" y="4715399"/>
                  </a:lnTo>
                  <a:close/>
                </a:path>
              </a:pathLst>
            </a:custGeom>
            <a:solidFill>
              <a:srgbClr val="D9D1E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696850" y="1872325"/>
              <a:ext cx="10541635" cy="4715510"/>
            </a:xfrm>
            <a:custGeom>
              <a:avLst/>
              <a:gdLst/>
              <a:ahLst/>
              <a:cxnLst/>
              <a:rect l="l" t="t" r="r" b="b"/>
              <a:pathLst>
                <a:path w="10541635" h="4715509">
                  <a:moveTo>
                    <a:pt x="0" y="0"/>
                  </a:moveTo>
                  <a:lnTo>
                    <a:pt x="10541399" y="0"/>
                  </a:lnTo>
                  <a:lnTo>
                    <a:pt x="10541399" y="4715399"/>
                  </a:lnTo>
                  <a:lnTo>
                    <a:pt x="0" y="47153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1577350" y="2060847"/>
            <a:ext cx="8688070" cy="28422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0644</a:t>
            </a:r>
            <a:r>
              <a:rPr sz="1600" b="1" spc="-49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10" dirty="0">
                <a:latin typeface="Arial"/>
                <a:cs typeface="Arial"/>
              </a:rPr>
              <a:t>(Mode)</a:t>
            </a:r>
            <a:endParaRPr sz="16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485"/>
              </a:spcBef>
            </a:pPr>
            <a:r>
              <a:rPr sz="1600" b="1" spc="-10" dirty="0">
                <a:latin typeface="Arial"/>
                <a:cs typeface="Arial"/>
              </a:rPr>
              <a:t>Purpose:</a:t>
            </a:r>
            <a:endParaRPr sz="1600" dirty="0">
              <a:latin typeface="Arial"/>
              <a:cs typeface="Arial"/>
            </a:endParaRPr>
          </a:p>
          <a:p>
            <a:pPr marL="469265" indent="-351155">
              <a:lnSpc>
                <a:spcPct val="100000"/>
              </a:lnSpc>
              <a:spcBef>
                <a:spcPts val="1490"/>
              </a:spcBef>
              <a:buChar char="●"/>
              <a:tabLst>
                <a:tab pos="469265" algn="l"/>
              </a:tabLst>
            </a:pP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b="1" dirty="0">
                <a:latin typeface="Arial"/>
                <a:cs typeface="Arial"/>
              </a:rPr>
              <a:t>mode</a:t>
            </a:r>
            <a:r>
              <a:rPr sz="1600" b="1" spc="-25" dirty="0">
                <a:latin typeface="Arial"/>
                <a:cs typeface="Arial"/>
              </a:rPr>
              <a:t> </a:t>
            </a:r>
            <a:r>
              <a:rPr sz="1600" dirty="0">
                <a:latin typeface="Arial MT"/>
                <a:cs typeface="Arial MT"/>
              </a:rPr>
              <a:t>specifies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b="1" dirty="0">
                <a:latin typeface="Arial"/>
                <a:cs typeface="Arial"/>
              </a:rPr>
              <a:t>permissions</a:t>
            </a:r>
            <a:r>
              <a:rPr sz="1600" b="1" spc="-25" dirty="0">
                <a:latin typeface="Arial"/>
                <a:cs typeface="Arial"/>
              </a:rPr>
              <a:t> </a:t>
            </a:r>
            <a:r>
              <a:rPr sz="1600" dirty="0">
                <a:latin typeface="Arial MT"/>
                <a:cs typeface="Arial MT"/>
              </a:rPr>
              <a:t>for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semaphore,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similar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file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permissions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in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Unix.</a:t>
            </a:r>
            <a:endParaRPr sz="16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485"/>
              </a:spcBef>
            </a:pP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0644</a:t>
            </a:r>
            <a:r>
              <a:rPr sz="1600" b="1" spc="-49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10" dirty="0">
                <a:latin typeface="Arial"/>
                <a:cs typeface="Arial"/>
              </a:rPr>
              <a:t>Breakdown:</a:t>
            </a:r>
            <a:endParaRPr sz="1600" dirty="0">
              <a:latin typeface="Arial"/>
              <a:cs typeface="Arial"/>
            </a:endParaRPr>
          </a:p>
          <a:p>
            <a:pPr marL="469265" indent="-351155">
              <a:lnSpc>
                <a:spcPct val="100000"/>
              </a:lnSpc>
              <a:spcBef>
                <a:spcPts val="1490"/>
              </a:spcBef>
              <a:buChar char="●"/>
              <a:tabLst>
                <a:tab pos="469265" algn="l"/>
              </a:tabLst>
            </a:pP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mode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in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b="1" dirty="0">
                <a:latin typeface="Arial"/>
                <a:cs typeface="Arial"/>
              </a:rPr>
              <a:t>octal</a:t>
            </a:r>
            <a:r>
              <a:rPr sz="1600" b="1" spc="-15" dirty="0">
                <a:latin typeface="Arial"/>
                <a:cs typeface="Arial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defines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b="1" spc="-10" dirty="0">
                <a:latin typeface="Arial"/>
                <a:cs typeface="Arial"/>
              </a:rPr>
              <a:t>read/write</a:t>
            </a:r>
            <a:r>
              <a:rPr sz="1600" b="1" spc="-20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permissions</a:t>
            </a:r>
            <a:r>
              <a:rPr sz="1600" spc="-10" dirty="0">
                <a:latin typeface="Arial MT"/>
                <a:cs typeface="Arial MT"/>
              </a:rPr>
              <a:t>:</a:t>
            </a:r>
            <a:endParaRPr sz="1600" dirty="0">
              <a:latin typeface="Arial MT"/>
              <a:cs typeface="Arial MT"/>
            </a:endParaRPr>
          </a:p>
          <a:p>
            <a:pPr marL="926465" lvl="1" indent="-351155">
              <a:lnSpc>
                <a:spcPct val="100000"/>
              </a:lnSpc>
              <a:spcBef>
                <a:spcPts val="290"/>
              </a:spcBef>
              <a:buClr>
                <a:srgbClr val="000000"/>
              </a:buClr>
              <a:buFont typeface="Arial MT"/>
              <a:buChar char="○"/>
              <a:tabLst>
                <a:tab pos="926465" algn="l"/>
              </a:tabLst>
            </a:pP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6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(owner):</a:t>
            </a:r>
            <a:r>
              <a:rPr sz="1600" spc="-8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Read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(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4</a:t>
            </a:r>
            <a:r>
              <a:rPr sz="1600" dirty="0">
                <a:latin typeface="Arial MT"/>
                <a:cs typeface="Arial MT"/>
              </a:rPr>
              <a:t>)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+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Write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(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2</a:t>
            </a:r>
            <a:r>
              <a:rPr sz="1600" spc="-20" dirty="0">
                <a:latin typeface="Arial MT"/>
                <a:cs typeface="Arial MT"/>
              </a:rPr>
              <a:t>).</a:t>
            </a:r>
            <a:endParaRPr sz="1600" dirty="0">
              <a:latin typeface="Arial MT"/>
              <a:cs typeface="Arial MT"/>
            </a:endParaRPr>
          </a:p>
          <a:p>
            <a:pPr marL="926465" lvl="1" indent="-351155">
              <a:lnSpc>
                <a:spcPct val="100000"/>
              </a:lnSpc>
              <a:spcBef>
                <a:spcPts val="285"/>
              </a:spcBef>
              <a:buClr>
                <a:srgbClr val="000000"/>
              </a:buClr>
              <a:buFont typeface="Arial MT"/>
              <a:buChar char="○"/>
              <a:tabLst>
                <a:tab pos="926465" algn="l"/>
              </a:tabLst>
            </a:pP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4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(group):</a:t>
            </a:r>
            <a:r>
              <a:rPr sz="1600" spc="-8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Read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(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4</a:t>
            </a:r>
            <a:r>
              <a:rPr sz="1600" spc="-20" dirty="0">
                <a:latin typeface="Arial MT"/>
                <a:cs typeface="Arial MT"/>
              </a:rPr>
              <a:t>).</a:t>
            </a:r>
            <a:endParaRPr sz="1600" dirty="0">
              <a:latin typeface="Arial MT"/>
              <a:cs typeface="Arial MT"/>
            </a:endParaRPr>
          </a:p>
          <a:p>
            <a:pPr marL="926465" lvl="1" indent="-351155">
              <a:lnSpc>
                <a:spcPct val="100000"/>
              </a:lnSpc>
              <a:spcBef>
                <a:spcPts val="290"/>
              </a:spcBef>
              <a:buClr>
                <a:srgbClr val="000000"/>
              </a:buClr>
              <a:buFont typeface="Arial MT"/>
              <a:buChar char="○"/>
              <a:tabLst>
                <a:tab pos="926465" algn="l"/>
              </a:tabLst>
            </a:pP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4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(others):</a:t>
            </a:r>
            <a:r>
              <a:rPr sz="1600" spc="-8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Read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(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4</a:t>
            </a:r>
            <a:r>
              <a:rPr sz="1600" spc="-20" dirty="0">
                <a:latin typeface="Arial MT"/>
                <a:cs typeface="Arial MT"/>
              </a:rPr>
              <a:t>).</a:t>
            </a:r>
            <a:endParaRPr sz="1600" dirty="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577350" y="5066174"/>
            <a:ext cx="249555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dirty="0">
                <a:latin typeface="Arial"/>
                <a:cs typeface="Arial"/>
              </a:rPr>
              <a:t>Explanation</a:t>
            </a:r>
            <a:r>
              <a:rPr sz="1600" b="1" spc="-5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for</a:t>
            </a:r>
            <a:r>
              <a:rPr sz="1600" b="1" spc="-45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Students:</a:t>
            </a:r>
            <a:endParaRPr sz="16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683246" y="5462414"/>
            <a:ext cx="6483350" cy="866775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363855" indent="-351155">
              <a:lnSpc>
                <a:spcPct val="100000"/>
              </a:lnSpc>
              <a:spcBef>
                <a:spcPts val="385"/>
              </a:spcBef>
              <a:buFont typeface="Arial MT"/>
              <a:buChar char="●"/>
              <a:tabLst>
                <a:tab pos="363855" algn="l"/>
              </a:tabLst>
            </a:pPr>
            <a:r>
              <a:rPr sz="1600" b="1" dirty="0">
                <a:latin typeface="Arial"/>
                <a:cs typeface="Arial"/>
              </a:rPr>
              <a:t>Owner</a:t>
            </a:r>
            <a:r>
              <a:rPr sz="1600" b="1" spc="-35" dirty="0">
                <a:latin typeface="Arial"/>
                <a:cs typeface="Arial"/>
              </a:rPr>
              <a:t> </a:t>
            </a:r>
            <a:r>
              <a:rPr sz="1600" dirty="0">
                <a:latin typeface="Arial MT"/>
                <a:cs typeface="Arial MT"/>
              </a:rPr>
              <a:t>(creator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semaphore)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has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b="1" dirty="0">
                <a:latin typeface="Arial"/>
                <a:cs typeface="Arial"/>
              </a:rPr>
              <a:t>read</a:t>
            </a:r>
            <a:r>
              <a:rPr sz="1600" b="1" spc="-35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and</a:t>
            </a:r>
            <a:r>
              <a:rPr sz="1600" b="1" spc="-3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write</a:t>
            </a:r>
            <a:r>
              <a:rPr sz="1600" b="1" spc="-25" dirty="0">
                <a:latin typeface="Arial"/>
                <a:cs typeface="Arial"/>
              </a:rPr>
              <a:t> </a:t>
            </a:r>
            <a:r>
              <a:rPr sz="1600" spc="-10" dirty="0">
                <a:latin typeface="Arial MT"/>
                <a:cs typeface="Arial MT"/>
              </a:rPr>
              <a:t>permissions.</a:t>
            </a:r>
            <a:endParaRPr sz="1600">
              <a:latin typeface="Arial MT"/>
              <a:cs typeface="Arial MT"/>
            </a:endParaRPr>
          </a:p>
          <a:p>
            <a:pPr marL="363855" indent="-351155">
              <a:lnSpc>
                <a:spcPct val="100000"/>
              </a:lnSpc>
              <a:spcBef>
                <a:spcPts val="290"/>
              </a:spcBef>
              <a:buFont typeface="Arial MT"/>
              <a:buChar char="●"/>
              <a:tabLst>
                <a:tab pos="363855" algn="l"/>
              </a:tabLst>
            </a:pPr>
            <a:r>
              <a:rPr sz="1600" b="1" dirty="0">
                <a:latin typeface="Arial"/>
                <a:cs typeface="Arial"/>
              </a:rPr>
              <a:t>Group</a:t>
            </a:r>
            <a:r>
              <a:rPr sz="1600" b="1" spc="-25" dirty="0">
                <a:latin typeface="Arial"/>
                <a:cs typeface="Arial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b="1" dirty="0">
                <a:latin typeface="Arial"/>
                <a:cs typeface="Arial"/>
              </a:rPr>
              <a:t>others</a:t>
            </a:r>
            <a:r>
              <a:rPr sz="1600" b="1" spc="-25" dirty="0">
                <a:latin typeface="Arial"/>
                <a:cs typeface="Arial"/>
              </a:rPr>
              <a:t> </a:t>
            </a:r>
            <a:r>
              <a:rPr sz="1600" dirty="0">
                <a:latin typeface="Arial MT"/>
                <a:cs typeface="Arial MT"/>
              </a:rPr>
              <a:t>have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b="1" spc="-10" dirty="0">
                <a:latin typeface="Arial"/>
                <a:cs typeface="Arial"/>
              </a:rPr>
              <a:t>read-</a:t>
            </a:r>
            <a:r>
              <a:rPr sz="1600" b="1" dirty="0">
                <a:latin typeface="Arial"/>
                <a:cs typeface="Arial"/>
              </a:rPr>
              <a:t>only</a:t>
            </a:r>
            <a:r>
              <a:rPr sz="1600" b="1" spc="-25" dirty="0">
                <a:latin typeface="Arial"/>
                <a:cs typeface="Arial"/>
              </a:rPr>
              <a:t> </a:t>
            </a:r>
            <a:r>
              <a:rPr sz="1600" spc="-10" dirty="0">
                <a:latin typeface="Arial MT"/>
                <a:cs typeface="Arial MT"/>
              </a:rPr>
              <a:t>permissions.</a:t>
            </a:r>
            <a:endParaRPr sz="1600">
              <a:latin typeface="Arial MT"/>
              <a:cs typeface="Arial MT"/>
            </a:endParaRPr>
          </a:p>
          <a:p>
            <a:pPr marL="363855" indent="-351155">
              <a:lnSpc>
                <a:spcPct val="100000"/>
              </a:lnSpc>
              <a:spcBef>
                <a:spcPts val="290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 MT"/>
                <a:cs typeface="Arial MT"/>
              </a:rPr>
              <a:t>This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typical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setting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for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shared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semaphores.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188547"/>
            <a:ext cx="40252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0375" y="1543538"/>
            <a:ext cx="4314190" cy="2910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Semaphores</a:t>
            </a:r>
            <a:endParaRPr sz="1800" dirty="0">
              <a:latin typeface="Georgia"/>
              <a:cs typeface="Georgia"/>
            </a:endParaRPr>
          </a:p>
          <a:p>
            <a:pPr marL="73025">
              <a:lnSpc>
                <a:spcPct val="100000"/>
              </a:lnSpc>
              <a:spcBef>
                <a:spcPts val="1895"/>
              </a:spcBef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Semaphore</a:t>
            </a:r>
            <a:r>
              <a:rPr sz="1800" b="1" spc="-4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Creation</a:t>
            </a:r>
            <a:endParaRPr sz="18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135"/>
              </a:spcBef>
            </a:pPr>
            <a:endParaRPr sz="1800" dirty="0">
              <a:latin typeface="Arial"/>
              <a:cs typeface="Arial"/>
            </a:endParaRPr>
          </a:p>
          <a:p>
            <a:pPr marL="73025">
              <a:lnSpc>
                <a:spcPct val="100000"/>
              </a:lnSpc>
            </a:pPr>
            <a:r>
              <a:rPr sz="1800" b="1" dirty="0">
                <a:latin typeface="Arial"/>
                <a:cs typeface="Arial"/>
              </a:rPr>
              <a:t>Error</a:t>
            </a:r>
            <a:r>
              <a:rPr sz="1800" b="1" spc="-3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Handling</a:t>
            </a:r>
            <a:r>
              <a:rPr sz="1800" spc="-10" dirty="0">
                <a:latin typeface="Arial MT"/>
                <a:cs typeface="Arial MT"/>
              </a:rPr>
              <a:t>:</a:t>
            </a:r>
            <a:endParaRPr sz="1800" dirty="0">
              <a:latin typeface="Arial MT"/>
              <a:cs typeface="Arial MT"/>
            </a:endParaRPr>
          </a:p>
          <a:p>
            <a:pPr marL="530225" marR="5080" indent="-367030">
              <a:lnSpc>
                <a:spcPct val="114999"/>
              </a:lnSpc>
              <a:spcBef>
                <a:spcPts val="1200"/>
              </a:spcBef>
              <a:buChar char="●"/>
              <a:tabLst>
                <a:tab pos="530225" algn="l"/>
              </a:tabLst>
            </a:pPr>
            <a:r>
              <a:rPr sz="1800" dirty="0">
                <a:latin typeface="Arial MT"/>
                <a:cs typeface="Arial MT"/>
              </a:rPr>
              <a:t>If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cannot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created </a:t>
            </a:r>
            <a:r>
              <a:rPr sz="1800" dirty="0">
                <a:latin typeface="Arial MT"/>
                <a:cs typeface="Arial MT"/>
              </a:rPr>
              <a:t>(e.g.,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naming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conflict),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sem_open </a:t>
            </a:r>
            <a:r>
              <a:rPr sz="1800" dirty="0">
                <a:latin typeface="Arial MT"/>
                <a:cs typeface="Arial MT"/>
              </a:rPr>
              <a:t>returns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SEM_FAILED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program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exits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error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message.</a:t>
            </a:r>
            <a:endParaRPr sz="1800" dirty="0">
              <a:latin typeface="Arial MT"/>
              <a:cs typeface="Arial MT"/>
            </a:endParaRPr>
          </a:p>
        </p:txBody>
      </p:sp>
      <p:grpSp>
        <p:nvGrpSp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029662" y="1725550"/>
            <a:ext cx="6931025" cy="4980305"/>
            <a:chOff x="5029662" y="1725550"/>
            <a:chExt cx="6931025" cy="498030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63500" y="1725550"/>
              <a:ext cx="6897025" cy="498005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043949" y="2429800"/>
              <a:ext cx="6758940" cy="1297940"/>
            </a:xfrm>
            <a:custGeom>
              <a:avLst/>
              <a:gdLst/>
              <a:ahLst/>
              <a:cxnLst/>
              <a:rect l="l" t="t" r="r" b="b"/>
              <a:pathLst>
                <a:path w="6758940" h="1297939">
                  <a:moveTo>
                    <a:pt x="0" y="0"/>
                  </a:moveTo>
                  <a:lnTo>
                    <a:pt x="6758399" y="0"/>
                  </a:lnTo>
                  <a:lnTo>
                    <a:pt x="6758399" y="1297799"/>
                  </a:lnTo>
                  <a:lnTo>
                    <a:pt x="0" y="12977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188547"/>
            <a:ext cx="40252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0375" y="1449482"/>
            <a:ext cx="4297045" cy="50793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40"/>
              </a:spcBef>
            </a:pPr>
            <a:r>
              <a:rPr sz="1800" spc="-10" dirty="0">
                <a:solidFill>
                  <a:srgbClr val="0F2044"/>
                </a:solidFill>
                <a:latin typeface="Georgia"/>
                <a:cs typeface="Georgia"/>
              </a:rPr>
              <a:t>Semaphores</a:t>
            </a:r>
            <a:endParaRPr sz="1800" dirty="0">
              <a:latin typeface="Georgia"/>
              <a:cs typeface="Georgia"/>
            </a:endParaRPr>
          </a:p>
          <a:p>
            <a:pPr marL="73025">
              <a:lnSpc>
                <a:spcPct val="100000"/>
              </a:lnSpc>
              <a:spcBef>
                <a:spcPts val="700"/>
              </a:spcBef>
            </a:pP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Thread</a:t>
            </a:r>
            <a:r>
              <a:rPr sz="1700" b="1" spc="-7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Creation</a:t>
            </a:r>
            <a:r>
              <a:rPr sz="1700" b="1" spc="-6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dirty="0">
                <a:solidFill>
                  <a:srgbClr val="980000"/>
                </a:solidFill>
                <a:latin typeface="Arial"/>
                <a:cs typeface="Arial"/>
              </a:rPr>
              <a:t>&amp;</a:t>
            </a:r>
            <a:r>
              <a:rPr sz="1700" b="1" spc="-7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700" b="1" spc="-10" dirty="0">
                <a:solidFill>
                  <a:srgbClr val="980000"/>
                </a:solidFill>
                <a:latin typeface="Arial"/>
                <a:cs typeface="Arial"/>
              </a:rPr>
              <a:t>Joining</a:t>
            </a:r>
            <a:endParaRPr sz="1700" dirty="0">
              <a:latin typeface="Arial"/>
              <a:cs typeface="Arial"/>
            </a:endParaRPr>
          </a:p>
          <a:p>
            <a:pPr marL="73025" marR="39370">
              <a:lnSpc>
                <a:spcPct val="114999"/>
              </a:lnSpc>
              <a:spcBef>
                <a:spcPts val="1200"/>
              </a:spcBef>
            </a:pPr>
            <a:r>
              <a:rPr sz="1700" dirty="0">
                <a:latin typeface="Arial MT"/>
                <a:cs typeface="Arial MT"/>
              </a:rPr>
              <a:t>Creates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10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threads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(</a:t>
            </a: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cars</a:t>
            </a:r>
            <a:r>
              <a:rPr sz="1700" dirty="0">
                <a:latin typeface="Arial MT"/>
                <a:cs typeface="Arial MT"/>
              </a:rPr>
              <a:t>),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each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simulating </a:t>
            </a:r>
            <a:r>
              <a:rPr sz="1700" dirty="0">
                <a:latin typeface="Arial MT"/>
                <a:cs typeface="Arial MT"/>
              </a:rPr>
              <a:t>a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car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attempting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to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park.</a:t>
            </a:r>
            <a:endParaRPr sz="1700" dirty="0">
              <a:latin typeface="Arial MT"/>
              <a:cs typeface="Arial MT"/>
            </a:endParaRPr>
          </a:p>
          <a:p>
            <a:pPr marL="301625">
              <a:lnSpc>
                <a:spcPct val="100000"/>
              </a:lnSpc>
              <a:spcBef>
                <a:spcPts val="1505"/>
              </a:spcBef>
            </a:pPr>
            <a:r>
              <a:rPr sz="1700" b="1" spc="-10" dirty="0">
                <a:solidFill>
                  <a:srgbClr val="188037"/>
                </a:solidFill>
                <a:latin typeface="Courier New"/>
                <a:cs typeface="Courier New"/>
              </a:rPr>
              <a:t>pthread_create</a:t>
            </a:r>
            <a:r>
              <a:rPr sz="1700" spc="-10" dirty="0">
                <a:latin typeface="Arial MT"/>
                <a:cs typeface="Arial MT"/>
              </a:rPr>
              <a:t>:</a:t>
            </a:r>
            <a:endParaRPr sz="1700" dirty="0">
              <a:latin typeface="Arial MT"/>
              <a:cs typeface="Arial MT"/>
            </a:endParaRPr>
          </a:p>
          <a:p>
            <a:pPr marL="530225" marR="22860" indent="-359410">
              <a:lnSpc>
                <a:spcPct val="114999"/>
              </a:lnSpc>
              <a:spcBef>
                <a:spcPts val="1200"/>
              </a:spcBef>
              <a:buChar char="●"/>
              <a:tabLst>
                <a:tab pos="530225" algn="l"/>
              </a:tabLst>
            </a:pPr>
            <a:r>
              <a:rPr sz="1700" spc="-30" dirty="0">
                <a:latin typeface="Arial MT"/>
                <a:cs typeface="Arial MT"/>
              </a:rPr>
              <a:t>Takes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car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thread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(</a:t>
            </a: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car</a:t>
            </a:r>
            <a:r>
              <a:rPr sz="1700" dirty="0">
                <a:latin typeface="Arial MT"/>
                <a:cs typeface="Arial MT"/>
              </a:rPr>
              <a:t>)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as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entry function.</a:t>
            </a:r>
            <a:endParaRPr sz="1700" dirty="0">
              <a:latin typeface="Arial MT"/>
              <a:cs typeface="Arial MT"/>
            </a:endParaRPr>
          </a:p>
          <a:p>
            <a:pPr marL="530225" indent="-358775">
              <a:lnSpc>
                <a:spcPct val="100000"/>
              </a:lnSpc>
              <a:spcBef>
                <a:spcPts val="305"/>
              </a:spcBef>
              <a:buChar char="●"/>
              <a:tabLst>
                <a:tab pos="530225" algn="l"/>
              </a:tabLst>
            </a:pPr>
            <a:r>
              <a:rPr sz="1700" dirty="0">
                <a:latin typeface="Arial MT"/>
                <a:cs typeface="Arial MT"/>
              </a:rPr>
              <a:t>Passes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car's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unique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ID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(</a:t>
            </a: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i</a:t>
            </a:r>
            <a:r>
              <a:rPr sz="1700" dirty="0">
                <a:latin typeface="Arial MT"/>
                <a:cs typeface="Arial MT"/>
              </a:rPr>
              <a:t>,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cast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as</a:t>
            </a:r>
            <a:endParaRPr sz="1700" dirty="0">
              <a:latin typeface="Arial MT"/>
              <a:cs typeface="Arial MT"/>
            </a:endParaRPr>
          </a:p>
          <a:p>
            <a:pPr marL="530225">
              <a:lnSpc>
                <a:spcPct val="100000"/>
              </a:lnSpc>
              <a:spcBef>
                <a:spcPts val="305"/>
              </a:spcBef>
            </a:pP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void*</a:t>
            </a:r>
            <a:r>
              <a:rPr sz="1700" dirty="0">
                <a:latin typeface="Arial MT"/>
                <a:cs typeface="Arial MT"/>
              </a:rPr>
              <a:t>)</a:t>
            </a:r>
            <a:r>
              <a:rPr sz="1700" b="1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to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distinguish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between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threads.</a:t>
            </a:r>
            <a:endParaRPr sz="1700" dirty="0">
              <a:latin typeface="Arial MT"/>
              <a:cs typeface="Arial MT"/>
            </a:endParaRPr>
          </a:p>
          <a:p>
            <a:pPr marL="73025" marR="230504">
              <a:lnSpc>
                <a:spcPct val="114999"/>
              </a:lnSpc>
              <a:spcBef>
                <a:spcPts val="1200"/>
              </a:spcBef>
            </a:pPr>
            <a:r>
              <a:rPr sz="1700" dirty="0">
                <a:latin typeface="Arial MT"/>
                <a:cs typeface="Arial MT"/>
              </a:rPr>
              <a:t>Ensures</a:t>
            </a:r>
            <a:r>
              <a:rPr sz="1700" spc="-7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main</a:t>
            </a:r>
            <a:r>
              <a:rPr sz="1700"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function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waits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for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all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10 </a:t>
            </a:r>
            <a:r>
              <a:rPr sz="1700" dirty="0">
                <a:latin typeface="Arial MT"/>
                <a:cs typeface="Arial MT"/>
              </a:rPr>
              <a:t>threads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(cars)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to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complete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before proceeding.</a:t>
            </a:r>
            <a:endParaRPr sz="1700" dirty="0">
              <a:latin typeface="Arial MT"/>
              <a:cs typeface="Arial MT"/>
            </a:endParaRPr>
          </a:p>
          <a:p>
            <a:pPr marL="73025" marR="161925">
              <a:lnSpc>
                <a:spcPct val="114999"/>
              </a:lnSpc>
              <a:spcBef>
                <a:spcPts val="1200"/>
              </a:spcBef>
            </a:pPr>
            <a:r>
              <a:rPr sz="1700" dirty="0">
                <a:latin typeface="Arial MT"/>
                <a:cs typeface="Arial MT"/>
              </a:rPr>
              <a:t>Prevents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program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from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exiting </a:t>
            </a:r>
            <a:r>
              <a:rPr sz="1700" dirty="0">
                <a:latin typeface="Arial MT"/>
                <a:cs typeface="Arial MT"/>
              </a:rPr>
              <a:t>prematurely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while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threads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are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still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running.</a:t>
            </a:r>
            <a:endParaRPr sz="1700" dirty="0">
              <a:latin typeface="Arial MT"/>
              <a:cs typeface="Arial MT"/>
            </a:endParaRPr>
          </a:p>
        </p:txBody>
      </p:sp>
      <p:grpSp>
        <p:nvGrpSpPr>
          <p:cNvPr id="4" name="object 4" descr="Two for loops in the main function: the first creates 10 &quot;car&quot; threads using pthread_create, and the second waits for all 10 threads to finish using pthread_join."/>
          <p:cNvGrpSpPr/>
          <p:nvPr/>
        </p:nvGrpSpPr>
        <p:grpSpPr>
          <a:xfrm>
            <a:off x="5029662" y="1725550"/>
            <a:ext cx="6931025" cy="4980305"/>
            <a:chOff x="5029662" y="1725550"/>
            <a:chExt cx="6931025" cy="498030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63500" y="1725550"/>
              <a:ext cx="6897025" cy="498005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043949" y="3725199"/>
              <a:ext cx="6758940" cy="1540510"/>
            </a:xfrm>
            <a:custGeom>
              <a:avLst/>
              <a:gdLst/>
              <a:ahLst/>
              <a:cxnLst/>
              <a:rect l="l" t="t" r="r" b="b"/>
              <a:pathLst>
                <a:path w="6758940" h="1540510">
                  <a:moveTo>
                    <a:pt x="0" y="0"/>
                  </a:moveTo>
                  <a:lnTo>
                    <a:pt x="6758399" y="0"/>
                  </a:lnTo>
                  <a:lnTo>
                    <a:pt x="6758399" y="1539899"/>
                  </a:lnTo>
                  <a:lnTo>
                    <a:pt x="0" y="15398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100"/>
              </a:spcBef>
            </a:pPr>
            <a:r>
              <a:rPr spc="-10" dirty="0"/>
              <a:t>Synchronization</a:t>
            </a:r>
            <a:r>
              <a:rPr spc="-110" dirty="0"/>
              <a:t> </a:t>
            </a:r>
            <a:r>
              <a:rPr spc="-10" dirty="0"/>
              <a:t>Mechanism</a:t>
            </a:r>
          </a:p>
          <a:p>
            <a:pPr marL="12700">
              <a:lnSpc>
                <a:spcPts val="2060"/>
              </a:lnSpc>
            </a:pPr>
            <a:r>
              <a:rPr sz="1800" spc="-10" dirty="0"/>
              <a:t>Semaphores</a:t>
            </a:r>
            <a:endParaRPr sz="1800"/>
          </a:p>
        </p:txBody>
      </p:sp>
      <p:sp>
        <p:nvSpPr>
          <p:cNvPr id="3" name="object 3"/>
          <p:cNvSpPr txBox="1"/>
          <p:nvPr/>
        </p:nvSpPr>
        <p:spPr>
          <a:xfrm>
            <a:off x="471225" y="2363381"/>
            <a:ext cx="4318635" cy="3749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Semaphore</a:t>
            </a:r>
            <a:r>
              <a:rPr sz="1800" b="1" spc="-4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Cleanup</a:t>
            </a:r>
            <a:endParaRPr sz="18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520"/>
              </a:spcBef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sem_close</a:t>
            </a:r>
            <a:r>
              <a:rPr sz="1800" spc="-10" dirty="0">
                <a:latin typeface="Arial MT"/>
                <a:cs typeface="Arial MT"/>
              </a:rPr>
              <a:t>:</a:t>
            </a:r>
            <a:endParaRPr sz="1800" dirty="0">
              <a:latin typeface="Arial MT"/>
              <a:cs typeface="Arial MT"/>
            </a:endParaRPr>
          </a:p>
          <a:p>
            <a:pPr marL="469900" marR="120650" indent="-367030">
              <a:lnSpc>
                <a:spcPct val="114999"/>
              </a:lnSpc>
              <a:spcBef>
                <a:spcPts val="1200"/>
              </a:spcBef>
              <a:buChar char="●"/>
              <a:tabLst>
                <a:tab pos="469900" algn="l"/>
              </a:tabLst>
            </a:pPr>
            <a:r>
              <a:rPr sz="1800" dirty="0">
                <a:latin typeface="Arial MT"/>
                <a:cs typeface="Arial MT"/>
              </a:rPr>
              <a:t>Closes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semaphore,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releasing</a:t>
            </a:r>
            <a:r>
              <a:rPr sz="1800" spc="-25" dirty="0">
                <a:latin typeface="Arial MT"/>
                <a:cs typeface="Arial MT"/>
              </a:rPr>
              <a:t> the </a:t>
            </a:r>
            <a:r>
              <a:rPr sz="1800" dirty="0">
                <a:latin typeface="Arial MT"/>
                <a:cs typeface="Arial MT"/>
              </a:rPr>
              <a:t>process-specific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reference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it.</a:t>
            </a:r>
            <a:endParaRPr sz="18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525"/>
              </a:spcBef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sem_unlink</a:t>
            </a:r>
            <a:r>
              <a:rPr sz="1800" spc="-10" dirty="0">
                <a:latin typeface="Arial MT"/>
                <a:cs typeface="Arial MT"/>
              </a:rPr>
              <a:t>:</a:t>
            </a:r>
            <a:endParaRPr sz="1800" dirty="0">
              <a:latin typeface="Arial MT"/>
              <a:cs typeface="Arial MT"/>
            </a:endParaRPr>
          </a:p>
          <a:p>
            <a:pPr marL="469900" marR="5080" indent="-367030">
              <a:lnSpc>
                <a:spcPct val="114999"/>
              </a:lnSpc>
              <a:spcBef>
                <a:spcPts val="1200"/>
              </a:spcBef>
              <a:buChar char="●"/>
              <a:tabLst>
                <a:tab pos="469900" algn="l"/>
              </a:tabLst>
            </a:pPr>
            <a:r>
              <a:rPr sz="1800" dirty="0">
                <a:latin typeface="Arial MT"/>
                <a:cs typeface="Arial MT"/>
              </a:rPr>
              <a:t>Removes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named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semaphore </a:t>
            </a:r>
            <a:r>
              <a:rPr sz="1800" b="1" dirty="0">
                <a:latin typeface="Arial MT"/>
                <a:cs typeface="Arial MT"/>
              </a:rPr>
              <a:t>(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/parking_lot</a:t>
            </a:r>
            <a:r>
              <a:rPr sz="1800" dirty="0">
                <a:latin typeface="Arial MT"/>
                <a:cs typeface="Arial MT"/>
              </a:rPr>
              <a:t>)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from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system, </a:t>
            </a:r>
            <a:r>
              <a:rPr sz="1800" dirty="0">
                <a:latin typeface="Arial MT"/>
                <a:cs typeface="Arial MT"/>
              </a:rPr>
              <a:t>ensuring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lingering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system-</a:t>
            </a:r>
            <a:r>
              <a:rPr sz="1800" spc="-20" dirty="0">
                <a:latin typeface="Arial MT"/>
                <a:cs typeface="Arial MT"/>
              </a:rPr>
              <a:t>wide </a:t>
            </a:r>
            <a:r>
              <a:rPr sz="1800" dirty="0">
                <a:latin typeface="Arial MT"/>
                <a:cs typeface="Arial MT"/>
              </a:rPr>
              <a:t>semaphore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remains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after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program exits.</a:t>
            </a:r>
            <a:endParaRPr sz="1800" dirty="0">
              <a:latin typeface="Arial MT"/>
              <a:cs typeface="Arial MT"/>
            </a:endParaRPr>
          </a:p>
        </p:txBody>
      </p:sp>
      <p:grpSp>
        <p:nvGrpSpPr>
          <p:cNvPr id="4" name="object 4" descr="The cleanup section at the end of the main function, showing the semaphore being closed with sem_close and removed from the system with sem_unlink."/>
          <p:cNvGrpSpPr/>
          <p:nvPr/>
        </p:nvGrpSpPr>
        <p:grpSpPr>
          <a:xfrm>
            <a:off x="5029662" y="1725550"/>
            <a:ext cx="6931025" cy="4980305"/>
            <a:chOff x="5029662" y="1725550"/>
            <a:chExt cx="6931025" cy="498030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63500" y="1725550"/>
              <a:ext cx="6897025" cy="498005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043949" y="5243050"/>
              <a:ext cx="6758940" cy="796290"/>
            </a:xfrm>
            <a:custGeom>
              <a:avLst/>
              <a:gdLst/>
              <a:ahLst/>
              <a:cxnLst/>
              <a:rect l="l" t="t" r="r" b="b"/>
              <a:pathLst>
                <a:path w="6758940" h="796289">
                  <a:moveTo>
                    <a:pt x="0" y="0"/>
                  </a:moveTo>
                  <a:lnTo>
                    <a:pt x="6758399" y="0"/>
                  </a:lnTo>
                  <a:lnTo>
                    <a:pt x="6758399" y="796199"/>
                  </a:lnTo>
                  <a:lnTo>
                    <a:pt x="0" y="7961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2761ec8-7198-4440-bea0-e9dd2af28b51}" enabled="1" method="Standard" siteId="{73e15cf5-5dbb-46af-a862-753916269d7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</TotalTime>
  <Words>4615</Words>
  <Application>Microsoft Office PowerPoint</Application>
  <PresentationFormat>Widescreen</PresentationFormat>
  <Paragraphs>506</Paragraphs>
  <Slides>36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Aptos</vt:lpstr>
      <vt:lpstr>Arial</vt:lpstr>
      <vt:lpstr>Arial MT</vt:lpstr>
      <vt:lpstr>Courier New</vt:lpstr>
      <vt:lpstr>Georgia</vt:lpstr>
      <vt:lpstr>Roboto</vt:lpstr>
      <vt:lpstr>Office Theme</vt:lpstr>
      <vt:lpstr>CSC 362: System Programming</vt:lpstr>
      <vt:lpstr>Status Check</vt:lpstr>
      <vt:lpstr>Synchronization Mechanism</vt:lpstr>
      <vt:lpstr>Synchronization Mechanism</vt:lpstr>
      <vt:lpstr>Synchronization Mechanism</vt:lpstr>
      <vt:lpstr>Synchronization Mechanism</vt:lpstr>
      <vt:lpstr>Synchronization Mechanism Dekker’s Algorithm</vt:lpstr>
      <vt:lpstr>Synchronization Mechanism Dekker’s Algorithm</vt:lpstr>
      <vt:lpstr>Synchronization Mechanism</vt:lpstr>
      <vt:lpstr>Synchronization Mechanism Dekker’s Algorithm</vt:lpstr>
      <vt:lpstr>Synchronization Mechanism Dekker’s Algorithm</vt:lpstr>
      <vt:lpstr>Synchronization Mechanism</vt:lpstr>
      <vt:lpstr>Why Dekker Fails on Modern Systems</vt:lpstr>
      <vt:lpstr>Dekker’s Algorithm assumes strict memory visibility between threads.</vt:lpstr>
      <vt:lpstr>Why Dekker Fails on Modern Systems</vt:lpstr>
      <vt:lpstr>Synchronization Mechanism</vt:lpstr>
      <vt:lpstr>Synchronization Mechanism Condition Variables</vt:lpstr>
      <vt:lpstr>Synchronization Mechanism</vt:lpstr>
      <vt:lpstr>Synchronization Mechanism</vt:lpstr>
      <vt:lpstr>Synchronization Mechanism Condition Variables</vt:lpstr>
      <vt:lpstr>Synchronization Mechanism Condition Variables</vt:lpstr>
      <vt:lpstr>Synchronization Mechanism Condition Variables</vt:lpstr>
      <vt:lpstr>Synchronization Mechanism</vt:lpstr>
      <vt:lpstr>Synchronization Mechanism</vt:lpstr>
      <vt:lpstr>Synchronization Mechanism Semaphores</vt:lpstr>
      <vt:lpstr>Synchronization Mechanism Semaphores</vt:lpstr>
      <vt:lpstr>Synchronization Mechanism Semaphores</vt:lpstr>
      <vt:lpstr>Synchronization Mechanism Semaphores</vt:lpstr>
      <vt:lpstr>Synchronization Mechanism Semaphores</vt:lpstr>
      <vt:lpstr>Synchronization Mechanism</vt:lpstr>
      <vt:lpstr>Synchronization Mechanism</vt:lpstr>
      <vt:lpstr>Synchronization Mechanism</vt:lpstr>
      <vt:lpstr>Synchronization Mechanism</vt:lpstr>
      <vt:lpstr>Synchronization Mechanism</vt:lpstr>
      <vt:lpstr>Synchronization Mechanism</vt:lpstr>
      <vt:lpstr>Synchronization Mechanism Semaphores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CSC362 - Lecture 19.pptx</dc:title>
  <cp:lastModifiedBy>Richard Johnson</cp:lastModifiedBy>
  <cp:revision>71</cp:revision>
  <dcterms:created xsi:type="dcterms:W3CDTF">2026-01-14T01:01:34Z</dcterms:created>
  <dcterms:modified xsi:type="dcterms:W3CDTF">2026-04-06T15:00:50Z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2026-01-14T00:00:00Z</vt:filetime>
  </property>
  <property fmtid="{D5CDD505-2E9C-101B-9397-08002B2CF9AE}" pid="3" name="Creator">
    <vt:lpwstr>Google</vt:lpwstr>
  </property>
  <property fmtid="{D5CDD505-2E9C-101B-9397-08002B2CF9AE}" pid="4" name="LastSaved">
    <vt:filetime>2026-01-14T00:00:00Z</vt:filetime>
  </property>
</Properties>
</file>