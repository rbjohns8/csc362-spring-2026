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52" autoAdjust="0"/>
  </p:normalViewPr>
  <p:slideViewPr>
    <p:cSldViewPr>
      <p:cViewPr varScale="1">
        <p:scale>
          <a:sx n="65" d="100"/>
          <a:sy n="65" d="100"/>
        </p:scale>
        <p:origin x="61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774D5-E2BF-4344-8F5A-68FE912A6DF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B03A4-493F-4AC4-BFB4-4B706537A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10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Figure:</a:t>
            </a:r>
          </a:p>
          <a:p>
            <a:r>
              <a:rPr lang="en-US" dirty="0"/>
              <a:t>A sequence diagram illustrating the logic of Dekker’s Algorithm, </a:t>
            </a:r>
          </a:p>
          <a:p>
            <a:r>
              <a:rPr lang="en-US" dirty="0"/>
              <a:t>showing Task 1 and Task 2 setting flags and </a:t>
            </a:r>
          </a:p>
          <a:p>
            <a:r>
              <a:rPr lang="en-US" dirty="0"/>
              <a:t>a turn variable to manage access to a critical section.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B03A4-493F-4AC4-BFB4-4B706537AA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37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Figure: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humorous cartoon of two stick figures;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one is frustrated at a computer while the other sits on the floor with a phone,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"waiting for my turn to print" in a literal interpretation of process waiting.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B03A4-493F-4AC4-BFB4-4B706537AA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06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See example:</a:t>
            </a:r>
          </a:p>
          <a:p>
            <a:r>
              <a:rPr lang="en-US" dirty="0" err="1"/>
              <a:t>dekkers_algorithm.c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B03A4-493F-4AC4-BFB4-4B706537AA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0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See example:</a:t>
            </a:r>
          </a:p>
          <a:p>
            <a:r>
              <a:rPr lang="en-US" dirty="0" err="1"/>
              <a:t>semaphore.c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B03A4-493F-4AC4-BFB4-4B706537AA2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1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0375" y="1188547"/>
            <a:ext cx="4025265" cy="655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F20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F20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10375" y="1543538"/>
            <a:ext cx="5362679" cy="47192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188547"/>
            <a:ext cx="5370830" cy="655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0774" y="2590031"/>
            <a:ext cx="5892165" cy="3380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F20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usy_wait" TargetMode="External"/><Relationship Id="rId2" Type="http://schemas.openxmlformats.org/officeDocument/2006/relationships/hyperlink" Target="https://en.wikipedia.org/wiki/Critical_sec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ritical_sec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hyperlink" Target="https://en.wikipedia.org/wiki/Busy_wai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obert-puskas.info/2019/03/overview-cpp-concurrency-pt2.html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bert-puskas.info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bert-puskas.info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bert-puskas.info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bert-puskas.info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bert-puskas.info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bert-puskas.info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aler.com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uru99.com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363120" y="3585985"/>
            <a:ext cx="1465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Lecture</a:t>
            </a:r>
            <a:r>
              <a:rPr sz="24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F2044"/>
                </a:solidFill>
                <a:latin typeface="Arial MT"/>
                <a:cs typeface="Arial MT"/>
              </a:rPr>
              <a:t>19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2A578-A902-46B5-50ED-1F33AC8D9E56}"/>
              </a:ext>
            </a:extLst>
          </p:cNvPr>
          <p:cNvSpPr txBox="1"/>
          <p:nvPr/>
        </p:nvSpPr>
        <p:spPr>
          <a:xfrm>
            <a:off x="3098244" y="4267200"/>
            <a:ext cx="6094324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1823430"/>
            <a:ext cx="5931535" cy="425767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69265" indent="-343535">
              <a:lnSpc>
                <a:spcPct val="100000"/>
              </a:lnSpc>
              <a:spcBef>
                <a:spcPts val="1000"/>
              </a:spcBef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Threads</a:t>
            </a:r>
            <a:r>
              <a:rPr sz="15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vs</a:t>
            </a:r>
            <a:r>
              <a:rPr sz="15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Processes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900"/>
              </a:spcBef>
              <a:buChar char="●"/>
              <a:tabLst>
                <a:tab pos="469265" algn="l"/>
              </a:tabLst>
            </a:pPr>
            <a:r>
              <a:rPr sz="1500" spc="-20" dirty="0">
                <a:solidFill>
                  <a:srgbClr val="0F2044"/>
                </a:solidFill>
                <a:latin typeface="Arial MT"/>
                <a:cs typeface="Arial MT"/>
              </a:rPr>
              <a:t>Multi-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threaded</a:t>
            </a:r>
            <a:r>
              <a:rPr sz="15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Programs</a:t>
            </a:r>
            <a:r>
              <a:rPr sz="15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5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endParaRPr sz="1500">
              <a:latin typeface="Arial MT"/>
              <a:cs typeface="Arial MT"/>
            </a:endParaRPr>
          </a:p>
          <a:p>
            <a:pPr marL="926465" lvl="1" indent="-343535">
              <a:lnSpc>
                <a:spcPct val="100000"/>
              </a:lnSpc>
              <a:spcBef>
                <a:spcPts val="900"/>
              </a:spcBef>
              <a:buChar char="○"/>
              <a:tabLst>
                <a:tab pos="926465" algn="l"/>
              </a:tabLst>
            </a:pP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pthread_create,</a:t>
            </a:r>
            <a:r>
              <a:rPr sz="15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pthread_join,</a:t>
            </a:r>
            <a:r>
              <a:rPr sz="15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pthread_exit,</a:t>
            </a:r>
            <a:r>
              <a:rPr sz="15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pthread_cancel</a:t>
            </a:r>
            <a:endParaRPr sz="15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40"/>
              </a:spcBef>
              <a:buClr>
                <a:srgbClr val="0F2044"/>
              </a:buClr>
              <a:buFont typeface="Arial MT"/>
              <a:buChar char="○"/>
            </a:pP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>
              <a:latin typeface="Georgia"/>
              <a:cs typeface="Georgia"/>
            </a:endParaRPr>
          </a:p>
          <a:p>
            <a:pPr marL="431800" indent="-343535">
              <a:lnSpc>
                <a:spcPct val="100000"/>
              </a:lnSpc>
              <a:spcBef>
                <a:spcPts val="2055"/>
              </a:spcBef>
              <a:buChar char="●"/>
              <a:tabLst>
                <a:tab pos="431800" algn="l"/>
              </a:tabLst>
            </a:pP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Synchronization</a:t>
            </a:r>
            <a:r>
              <a:rPr sz="15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Mechanism</a:t>
            </a:r>
            <a:endParaRPr sz="1500">
              <a:latin typeface="Arial MT"/>
              <a:cs typeface="Arial MT"/>
            </a:endParaRPr>
          </a:p>
          <a:p>
            <a:pPr marL="889000" lvl="1" indent="-343535">
              <a:lnSpc>
                <a:spcPct val="100000"/>
              </a:lnSpc>
              <a:spcBef>
                <a:spcPts val="900"/>
              </a:spcBef>
              <a:buChar char="○"/>
              <a:tabLst>
                <a:tab pos="889000" algn="l"/>
              </a:tabLst>
            </a:pP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Dekker’s</a:t>
            </a:r>
            <a:r>
              <a:rPr sz="15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Algorithm</a:t>
            </a:r>
            <a:endParaRPr sz="1500">
              <a:latin typeface="Arial MT"/>
              <a:cs typeface="Arial MT"/>
            </a:endParaRPr>
          </a:p>
          <a:p>
            <a:pPr marL="1346200" lvl="2" indent="-343535">
              <a:lnSpc>
                <a:spcPct val="100000"/>
              </a:lnSpc>
              <a:spcBef>
                <a:spcPts val="900"/>
              </a:spcBef>
              <a:buChar char="■"/>
              <a:tabLst>
                <a:tab pos="1346200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Busy</a:t>
            </a:r>
            <a:r>
              <a:rPr sz="15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waiting,</a:t>
            </a:r>
            <a:r>
              <a:rPr sz="15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flags,</a:t>
            </a:r>
            <a:r>
              <a:rPr sz="15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limitations</a:t>
            </a:r>
            <a:endParaRPr sz="1500">
              <a:latin typeface="Arial MT"/>
              <a:cs typeface="Arial MT"/>
            </a:endParaRPr>
          </a:p>
          <a:p>
            <a:pPr marL="889000" lvl="1" indent="-343535">
              <a:lnSpc>
                <a:spcPct val="100000"/>
              </a:lnSpc>
              <a:spcBef>
                <a:spcPts val="900"/>
              </a:spcBef>
              <a:buChar char="○"/>
              <a:tabLst>
                <a:tab pos="889000" algn="l"/>
              </a:tabLst>
            </a:pP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Condition</a:t>
            </a:r>
            <a:r>
              <a:rPr sz="15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Variables</a:t>
            </a:r>
            <a:endParaRPr sz="1500">
              <a:latin typeface="Arial MT"/>
              <a:cs typeface="Arial MT"/>
            </a:endParaRPr>
          </a:p>
          <a:p>
            <a:pPr marL="1346200" lvl="2" indent="-343535">
              <a:lnSpc>
                <a:spcPct val="100000"/>
              </a:lnSpc>
              <a:spcBef>
                <a:spcPts val="900"/>
              </a:spcBef>
              <a:buChar char="■"/>
              <a:tabLst>
                <a:tab pos="1346200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wait,</a:t>
            </a:r>
            <a:r>
              <a:rPr sz="15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signal</a:t>
            </a:r>
            <a:endParaRPr sz="1500">
              <a:latin typeface="Arial MT"/>
              <a:cs typeface="Arial MT"/>
            </a:endParaRPr>
          </a:p>
          <a:p>
            <a:pPr marL="889000" lvl="1" indent="-343535">
              <a:lnSpc>
                <a:spcPct val="100000"/>
              </a:lnSpc>
              <a:spcBef>
                <a:spcPts val="900"/>
              </a:spcBef>
              <a:buChar char="○"/>
              <a:tabLst>
                <a:tab pos="889000" algn="l"/>
              </a:tabLst>
            </a:pP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Semaphores</a:t>
            </a:r>
            <a:endParaRPr sz="1500">
              <a:latin typeface="Arial MT"/>
              <a:cs typeface="Arial MT"/>
            </a:endParaRPr>
          </a:p>
          <a:p>
            <a:pPr marL="1346200" lvl="2" indent="-343535">
              <a:lnSpc>
                <a:spcPct val="100000"/>
              </a:lnSpc>
              <a:spcBef>
                <a:spcPts val="900"/>
              </a:spcBef>
              <a:buChar char="■"/>
              <a:tabLst>
                <a:tab pos="1346200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counters,</a:t>
            </a:r>
            <a:r>
              <a:rPr sz="1500" spc="-7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0F2044"/>
                </a:solidFill>
                <a:latin typeface="Arial"/>
                <a:cs typeface="Arial"/>
              </a:rPr>
              <a:t>sem_wait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sz="1500"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0F2044"/>
                </a:solidFill>
                <a:latin typeface="Arial"/>
                <a:cs typeface="Arial"/>
              </a:rPr>
              <a:t>sem_post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1992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Dekker’s</a:t>
            </a:r>
            <a:r>
              <a:rPr sz="18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Algorithm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050" y="2043855"/>
            <a:ext cx="4293870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01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Dekker’s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algorithm was the </a:t>
            </a:r>
            <a:r>
              <a:rPr sz="1800" spc="-10" dirty="0">
                <a:latin typeface="Arial MT"/>
                <a:cs typeface="Arial MT"/>
              </a:rPr>
              <a:t>first probably-</a:t>
            </a:r>
            <a:r>
              <a:rPr sz="1800" dirty="0">
                <a:latin typeface="Arial MT"/>
                <a:cs typeface="Arial MT"/>
              </a:rPr>
              <a:t>correct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solution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critical </a:t>
            </a:r>
            <a:r>
              <a:rPr sz="1800" dirty="0">
                <a:latin typeface="Arial MT"/>
                <a:cs typeface="Arial MT"/>
              </a:rPr>
              <a:t>section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problem.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share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single-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10" dirty="0">
                <a:latin typeface="Arial MT"/>
                <a:cs typeface="Arial MT"/>
              </a:rPr>
              <a:t> without </a:t>
            </a:r>
            <a:r>
              <a:rPr sz="1800" dirty="0">
                <a:latin typeface="Arial MT"/>
                <a:cs typeface="Arial MT"/>
              </a:rPr>
              <a:t>conflict,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spc="-10" dirty="0">
                <a:latin typeface="Arial MT"/>
                <a:cs typeface="Arial MT"/>
              </a:rPr>
              <a:t>communication.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earliest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solutions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mutual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exclusion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alternate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without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relying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modern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primitives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like </a:t>
            </a:r>
            <a:r>
              <a:rPr sz="1800" spc="-10" dirty="0">
                <a:latin typeface="Arial MT"/>
                <a:cs typeface="Arial MT"/>
              </a:rPr>
              <a:t>semaphores.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5" name="object 5" descr="A sequence diagram illustrating the logic of Dekker’s Algorithm, showing Task 1 and Task 2 setting flags and a turn variable to manage access to a critical section."/>
          <p:cNvGrpSpPr/>
          <p:nvPr/>
        </p:nvGrpSpPr>
        <p:grpSpPr>
          <a:xfrm>
            <a:off x="4946450" y="2130724"/>
            <a:ext cx="6843395" cy="3215640"/>
            <a:chOff x="4946450" y="2130724"/>
            <a:chExt cx="6843395" cy="32156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5975" y="2140249"/>
              <a:ext cx="6824300" cy="31961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51212" y="2135487"/>
              <a:ext cx="6833870" cy="3206115"/>
            </a:xfrm>
            <a:custGeom>
              <a:avLst/>
              <a:gdLst/>
              <a:ahLst/>
              <a:cxnLst/>
              <a:rect l="l" t="t" r="r" b="b"/>
              <a:pathLst>
                <a:path w="6833870" h="3206115">
                  <a:moveTo>
                    <a:pt x="0" y="0"/>
                  </a:moveTo>
                  <a:lnTo>
                    <a:pt x="6833825" y="0"/>
                  </a:lnTo>
                  <a:lnTo>
                    <a:pt x="6833825" y="3205724"/>
                  </a:lnTo>
                  <a:lnTo>
                    <a:pt x="0" y="32057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6324" y="5521311"/>
            <a:ext cx="18522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https://jakob.engbloms.se/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5050" y="1543538"/>
            <a:ext cx="4761865" cy="49782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Dekker’s</a:t>
            </a:r>
            <a:r>
              <a:rPr sz="18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Algorithm</a:t>
            </a:r>
            <a:endParaRPr sz="1800" dirty="0">
              <a:latin typeface="Georgia"/>
              <a:cs typeface="Georgia"/>
            </a:endParaRPr>
          </a:p>
          <a:p>
            <a:pPr marL="12700" marR="397510">
              <a:lnSpc>
                <a:spcPct val="100000"/>
              </a:lnSpc>
              <a:spcBef>
                <a:spcPts val="1780"/>
              </a:spcBef>
            </a:pP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If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two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processes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attempt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enter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</a:t>
            </a:r>
            <a:r>
              <a:rPr sz="1800" spc="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688C"/>
                </a:solidFill>
                <a:latin typeface="Arial MT"/>
                <a:cs typeface="Arial MT"/>
                <a:hlinkClick r:id="rId2"/>
              </a:rPr>
              <a:t>critical</a:t>
            </a:r>
            <a:r>
              <a:rPr sz="1800" spc="-10" dirty="0">
                <a:solidFill>
                  <a:srgbClr val="00688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88C"/>
                </a:solidFill>
                <a:latin typeface="Arial MT"/>
                <a:cs typeface="Arial MT"/>
                <a:hlinkClick r:id="rId2"/>
              </a:rPr>
              <a:t>section</a:t>
            </a:r>
            <a:r>
              <a:rPr sz="1800" spc="-25" dirty="0">
                <a:solidFill>
                  <a:srgbClr val="00688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at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same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time,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algorithm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will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allow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only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in,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based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whose </a:t>
            </a:r>
            <a:r>
              <a:rPr sz="1800" b="1" spc="-10" dirty="0">
                <a:solidFill>
                  <a:srgbClr val="202122"/>
                </a:solidFill>
                <a:latin typeface="Courier New"/>
                <a:cs typeface="Courier New"/>
              </a:rPr>
              <a:t>turn</a:t>
            </a:r>
            <a:r>
              <a:rPr sz="1800" spc="-580" dirty="0">
                <a:solidFill>
                  <a:srgbClr val="20212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it</a:t>
            </a:r>
            <a:r>
              <a:rPr sz="1800" spc="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is.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819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If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already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critical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section,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other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will</a:t>
            </a:r>
            <a:r>
              <a:rPr sz="1800" spc="-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A00C30"/>
                </a:solidFill>
                <a:latin typeface="Arial"/>
                <a:cs typeface="Arial"/>
                <a:hlinkClick r:id="rId3"/>
              </a:rPr>
              <a:t>busy</a:t>
            </a:r>
            <a:r>
              <a:rPr sz="1800" b="1" spc="-15" dirty="0">
                <a:solidFill>
                  <a:srgbClr val="A00C30"/>
                </a:solidFill>
                <a:latin typeface="Arial"/>
                <a:cs typeface="Arial"/>
                <a:hlinkClick r:id="rId3"/>
              </a:rPr>
              <a:t> </a:t>
            </a:r>
            <a:r>
              <a:rPr sz="1800" b="1" dirty="0">
                <a:solidFill>
                  <a:srgbClr val="A00C30"/>
                </a:solidFill>
                <a:latin typeface="Arial"/>
                <a:cs typeface="Arial"/>
                <a:hlinkClick r:id="rId3"/>
              </a:rPr>
              <a:t>wait</a:t>
            </a:r>
            <a:r>
              <a:rPr sz="1800" b="1" spc="-1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first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to</a:t>
            </a:r>
            <a:r>
              <a:rPr sz="1800" spc="-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exit.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This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done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by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use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two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flags, </a:t>
            </a:r>
            <a:r>
              <a:rPr sz="1800" b="1" spc="-10" dirty="0">
                <a:solidFill>
                  <a:srgbClr val="202122"/>
                </a:solidFill>
                <a:latin typeface="Courier New"/>
                <a:cs typeface="Courier New"/>
              </a:rPr>
              <a:t>wants_to_enter[0]</a:t>
            </a:r>
            <a:r>
              <a:rPr sz="1800" spc="-500" dirty="0">
                <a:solidFill>
                  <a:srgbClr val="202122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and </a:t>
            </a:r>
            <a:r>
              <a:rPr sz="1800" b="1" dirty="0">
                <a:solidFill>
                  <a:srgbClr val="202122"/>
                </a:solidFill>
                <a:latin typeface="Courier New"/>
                <a:cs typeface="Courier New"/>
              </a:rPr>
              <a:t>wants_to_enter[1]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,</a:t>
            </a:r>
            <a:r>
              <a:rPr sz="1800" b="1" spc="-6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which</a:t>
            </a:r>
            <a:r>
              <a:rPr sz="1800" spc="-5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indicate</a:t>
            </a:r>
            <a:r>
              <a:rPr sz="1800" spc="-5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an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intention</a:t>
            </a:r>
            <a:r>
              <a:rPr sz="1800" spc="-3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enter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critical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section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part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processes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0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1,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respectively,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02122"/>
                </a:solidFill>
                <a:latin typeface="Arial MT"/>
                <a:cs typeface="Arial MT"/>
              </a:rPr>
              <a:t>a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variable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202122"/>
                </a:solidFill>
                <a:latin typeface="Courier New"/>
                <a:cs typeface="Courier New"/>
              </a:rPr>
              <a:t>turn</a:t>
            </a:r>
            <a:r>
              <a:rPr sz="1800" spc="-585" dirty="0">
                <a:solidFill>
                  <a:srgbClr val="20212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that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indicates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who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has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priority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between</a:t>
            </a:r>
            <a:r>
              <a:rPr sz="1800" spc="-3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two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processes.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6" name="object 6" descr="A detailed flowchart of Dekker's Algorithm for two processes, using decision diamonds and notes to explain how processes check flags and turns to avoid conflict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6800" y="914400"/>
            <a:ext cx="7315200" cy="59435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5050" y="1543538"/>
            <a:ext cx="4761865" cy="49782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Dekker’s</a:t>
            </a:r>
            <a:r>
              <a:rPr sz="18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Algorithm</a:t>
            </a:r>
            <a:endParaRPr sz="1800" dirty="0">
              <a:latin typeface="Georgia"/>
              <a:cs typeface="Georgia"/>
            </a:endParaRPr>
          </a:p>
          <a:p>
            <a:pPr marL="12700" marR="397510">
              <a:lnSpc>
                <a:spcPct val="100000"/>
              </a:lnSpc>
              <a:spcBef>
                <a:spcPts val="1780"/>
              </a:spcBef>
            </a:pP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If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two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processes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attempt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enter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</a:t>
            </a:r>
            <a:r>
              <a:rPr sz="1800" spc="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688C"/>
                </a:solidFill>
                <a:latin typeface="Arial MT"/>
                <a:cs typeface="Arial MT"/>
                <a:hlinkClick r:id="rId3"/>
              </a:rPr>
              <a:t>critical</a:t>
            </a:r>
            <a:r>
              <a:rPr sz="1800" spc="-10" dirty="0">
                <a:solidFill>
                  <a:srgbClr val="00688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688C"/>
                </a:solidFill>
                <a:latin typeface="Arial MT"/>
                <a:cs typeface="Arial MT"/>
                <a:hlinkClick r:id="rId3"/>
              </a:rPr>
              <a:t>section</a:t>
            </a:r>
            <a:r>
              <a:rPr sz="1800" spc="-25" dirty="0">
                <a:solidFill>
                  <a:srgbClr val="00688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at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same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time,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algorithm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will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allow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only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in,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based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whose </a:t>
            </a:r>
            <a:r>
              <a:rPr sz="1800" b="1" spc="-10" dirty="0">
                <a:solidFill>
                  <a:srgbClr val="202122"/>
                </a:solidFill>
                <a:latin typeface="Courier New"/>
                <a:cs typeface="Courier New"/>
              </a:rPr>
              <a:t>turn</a:t>
            </a:r>
            <a:r>
              <a:rPr sz="1800" spc="-580" dirty="0">
                <a:solidFill>
                  <a:srgbClr val="20212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it</a:t>
            </a:r>
            <a:r>
              <a:rPr sz="1800" spc="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is.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819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If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already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critical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section,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other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will</a:t>
            </a:r>
            <a:r>
              <a:rPr sz="1800" spc="-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A00C30"/>
                </a:solidFill>
                <a:latin typeface="Arial"/>
                <a:cs typeface="Arial"/>
                <a:hlinkClick r:id="rId4"/>
              </a:rPr>
              <a:t>busy</a:t>
            </a:r>
            <a:r>
              <a:rPr sz="1800" b="1" spc="-15" dirty="0">
                <a:solidFill>
                  <a:srgbClr val="A00C30"/>
                </a:solidFill>
                <a:latin typeface="Arial"/>
                <a:cs typeface="Arial"/>
                <a:hlinkClick r:id="rId4"/>
              </a:rPr>
              <a:t> </a:t>
            </a:r>
            <a:r>
              <a:rPr sz="1800" b="1" dirty="0">
                <a:solidFill>
                  <a:srgbClr val="A00C30"/>
                </a:solidFill>
                <a:latin typeface="Arial"/>
                <a:cs typeface="Arial"/>
                <a:hlinkClick r:id="rId4"/>
              </a:rPr>
              <a:t>wait</a:t>
            </a:r>
            <a:r>
              <a:rPr sz="1800" b="1" spc="-1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first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to</a:t>
            </a:r>
            <a:r>
              <a:rPr sz="1800" spc="-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exit.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This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done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by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use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two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flags, </a:t>
            </a:r>
            <a:r>
              <a:rPr sz="1800" b="1" spc="-10" dirty="0">
                <a:solidFill>
                  <a:srgbClr val="202122"/>
                </a:solidFill>
                <a:latin typeface="Courier New"/>
                <a:cs typeface="Courier New"/>
              </a:rPr>
              <a:t>wants_to_enter[0]</a:t>
            </a:r>
            <a:r>
              <a:rPr sz="1800" b="1" spc="-500" dirty="0">
                <a:solidFill>
                  <a:srgbClr val="202122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and </a:t>
            </a:r>
            <a:r>
              <a:rPr sz="1800" b="1" dirty="0" err="1">
                <a:solidFill>
                  <a:srgbClr val="202122"/>
                </a:solidFill>
                <a:latin typeface="Courier New"/>
                <a:cs typeface="Courier New"/>
              </a:rPr>
              <a:t>wants_to_enter</a:t>
            </a:r>
            <a:r>
              <a:rPr sz="1800" b="1" dirty="0">
                <a:solidFill>
                  <a:srgbClr val="202122"/>
                </a:solidFill>
                <a:latin typeface="Courier New"/>
                <a:cs typeface="Courier New"/>
              </a:rPr>
              <a:t>[1]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,</a:t>
            </a:r>
            <a:r>
              <a:rPr sz="1800" spc="-6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which</a:t>
            </a:r>
            <a:r>
              <a:rPr sz="1800" spc="-5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indicate</a:t>
            </a:r>
            <a:r>
              <a:rPr sz="1800" spc="-5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an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intention</a:t>
            </a:r>
            <a:r>
              <a:rPr sz="1800" spc="-3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enter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critical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section</a:t>
            </a:r>
            <a:r>
              <a:rPr sz="1800" spc="-2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on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part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processes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0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1,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respectively,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02122"/>
                </a:solidFill>
                <a:latin typeface="Arial MT"/>
                <a:cs typeface="Arial MT"/>
              </a:rPr>
              <a:t>a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variable</a:t>
            </a:r>
            <a:r>
              <a:rPr sz="1800" spc="-1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202122"/>
                </a:solidFill>
                <a:latin typeface="Courier New"/>
                <a:cs typeface="Courier New"/>
              </a:rPr>
              <a:t>turn</a:t>
            </a:r>
            <a:r>
              <a:rPr sz="1800" spc="-585" dirty="0">
                <a:solidFill>
                  <a:srgbClr val="20212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that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indicates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who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has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 priority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between</a:t>
            </a:r>
            <a:r>
              <a:rPr sz="1800" spc="-35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02122"/>
                </a:solidFill>
                <a:latin typeface="Arial MT"/>
                <a:cs typeface="Arial MT"/>
              </a:rPr>
              <a:t>two</a:t>
            </a:r>
            <a:r>
              <a:rPr sz="1800" spc="-20" dirty="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02122"/>
                </a:solidFill>
                <a:latin typeface="Arial MT"/>
                <a:cs typeface="Arial MT"/>
              </a:rPr>
              <a:t>processes.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8199" y="1619125"/>
            <a:ext cx="6216650" cy="877569"/>
          </a:xfrm>
          <a:prstGeom prst="rect">
            <a:avLst/>
          </a:prstGeom>
          <a:ln w="19049">
            <a:solidFill>
              <a:srgbClr val="98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090" marR="286385">
              <a:lnSpc>
                <a:spcPct val="100000"/>
              </a:lnSpc>
              <a:spcBef>
                <a:spcPts val="615"/>
              </a:spcBef>
            </a:pP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busy</a:t>
            </a:r>
            <a:r>
              <a:rPr sz="1500" b="1" spc="-4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waiting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is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a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980000"/>
                </a:solidFill>
                <a:latin typeface="Roboto"/>
                <a:cs typeface="Roboto"/>
              </a:rPr>
              <a:t>technique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in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which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a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process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repeatedly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checks</a:t>
            </a:r>
            <a:r>
              <a:rPr sz="1500" b="1" spc="-3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980000"/>
                </a:solidFill>
                <a:latin typeface="Roboto"/>
                <a:cs typeface="Roboto"/>
              </a:rPr>
              <a:t>to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see</a:t>
            </a:r>
            <a:r>
              <a:rPr sz="1500" b="1" spc="-2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if</a:t>
            </a:r>
            <a:r>
              <a:rPr sz="1500" b="1" spc="-2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a</a:t>
            </a:r>
            <a:r>
              <a:rPr sz="1500" b="1" spc="-2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980000"/>
                </a:solidFill>
                <a:latin typeface="Roboto"/>
                <a:cs typeface="Roboto"/>
              </a:rPr>
              <a:t>condition</a:t>
            </a:r>
            <a:r>
              <a:rPr sz="1500" b="1" spc="-2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is</a:t>
            </a:r>
            <a:r>
              <a:rPr sz="1500" b="1" spc="-2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true,</a:t>
            </a:r>
            <a:r>
              <a:rPr sz="1500" b="1" spc="-2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such</a:t>
            </a:r>
            <a:r>
              <a:rPr sz="1500" b="1" spc="-2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as</a:t>
            </a:r>
            <a:r>
              <a:rPr sz="1500" b="1" spc="-2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whether</a:t>
            </a:r>
            <a:r>
              <a:rPr sz="1500" b="1" spc="-2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keyboard</a:t>
            </a:r>
            <a:r>
              <a:rPr sz="1500" b="1" spc="-2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spc="-10" dirty="0">
                <a:solidFill>
                  <a:srgbClr val="980000"/>
                </a:solidFill>
                <a:latin typeface="Roboto"/>
                <a:cs typeface="Roboto"/>
              </a:rPr>
              <a:t>input</a:t>
            </a:r>
            <a:r>
              <a:rPr sz="1500" b="1" spc="-2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or</a:t>
            </a:r>
            <a:r>
              <a:rPr sz="1500" b="1" spc="-2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a</a:t>
            </a:r>
            <a:r>
              <a:rPr sz="1500" b="1" spc="-25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dirty="0">
                <a:solidFill>
                  <a:srgbClr val="980000"/>
                </a:solidFill>
                <a:latin typeface="Roboto"/>
                <a:cs typeface="Roboto"/>
              </a:rPr>
              <a:t>lock</a:t>
            </a:r>
            <a:r>
              <a:rPr sz="1500" b="1" spc="-20" dirty="0">
                <a:solidFill>
                  <a:srgbClr val="980000"/>
                </a:solidFill>
                <a:latin typeface="Roboto"/>
                <a:cs typeface="Roboto"/>
              </a:rPr>
              <a:t> </a:t>
            </a:r>
            <a:r>
              <a:rPr sz="1500" b="1" spc="-25" dirty="0">
                <a:solidFill>
                  <a:srgbClr val="980000"/>
                </a:solidFill>
                <a:latin typeface="Roboto"/>
                <a:cs typeface="Roboto"/>
              </a:rPr>
              <a:t>is </a:t>
            </a:r>
            <a:r>
              <a:rPr sz="1500" b="1" spc="-10" dirty="0">
                <a:solidFill>
                  <a:srgbClr val="980000"/>
                </a:solidFill>
                <a:latin typeface="Roboto"/>
                <a:cs typeface="Roboto"/>
              </a:rPr>
              <a:t>available.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6" name="object 6" descr="A humorous cartoon of two stick figures; one is frustrated at a computer while the other sits on the floor with a phone, &quot;waiting for my turn to print&quot; in a literal interpretation of process waiting.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5688" y="2678913"/>
            <a:ext cx="5844252" cy="3283287"/>
          </a:xfrm>
          <a:prstGeom prst="rect">
            <a:avLst/>
          </a:prstGeom>
        </p:spPr>
      </p:pic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278324" y="6130911"/>
            <a:ext cx="12763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https://dev.to/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050" y="1543538"/>
            <a:ext cx="4434205" cy="500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Dekker’s</a:t>
            </a:r>
            <a:r>
              <a:rPr sz="18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Algorithm</a:t>
            </a:r>
            <a:endParaRPr sz="1800" dirty="0">
              <a:latin typeface="Georgia"/>
              <a:cs typeface="Georgia"/>
            </a:endParaRPr>
          </a:p>
          <a:p>
            <a:pPr marL="469265" indent="-351155">
              <a:lnSpc>
                <a:spcPct val="100000"/>
              </a:lnSpc>
              <a:spcBef>
                <a:spcPts val="178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flag[2]</a:t>
            </a:r>
            <a:r>
              <a:rPr sz="1600" b="1" spc="-10" dirty="0">
                <a:latin typeface="Arial MT"/>
                <a:cs typeface="Arial MT"/>
              </a:rPr>
              <a:t>:</a:t>
            </a:r>
            <a:endParaRPr sz="1600" b="1" dirty="0">
              <a:latin typeface="Arial MT"/>
              <a:cs typeface="Arial MT"/>
            </a:endParaRPr>
          </a:p>
          <a:p>
            <a:pPr marL="927100" marR="74930" lvl="1" indent="-351790">
              <a:lnSpc>
                <a:spcPct val="114999"/>
              </a:lnSpc>
              <a:buClr>
                <a:srgbClr val="000000"/>
              </a:buClr>
              <a:buFont typeface="Arial MT"/>
              <a:buChar char="○"/>
              <a:tabLst>
                <a:tab pos="927100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flag[0]</a:t>
            </a:r>
            <a:r>
              <a:rPr sz="1600" b="1" spc="-10" dirty="0">
                <a:latin typeface="Arial MT"/>
                <a:cs typeface="Arial MT"/>
              </a:rPr>
              <a:t>:</a:t>
            </a:r>
            <a:r>
              <a:rPr sz="1600" b="1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Indicates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whether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1 </a:t>
            </a:r>
            <a:r>
              <a:rPr sz="1600" dirty="0">
                <a:latin typeface="Arial MT"/>
                <a:cs typeface="Arial MT"/>
              </a:rPr>
              <a:t>wants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enter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critical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section.</a:t>
            </a:r>
            <a:endParaRPr sz="1600" dirty="0">
              <a:latin typeface="Arial MT"/>
              <a:cs typeface="Arial MT"/>
            </a:endParaRPr>
          </a:p>
          <a:p>
            <a:pPr marL="927100" marR="74930" lvl="1" indent="-351790">
              <a:lnSpc>
                <a:spcPct val="114999"/>
              </a:lnSpc>
              <a:buClr>
                <a:srgbClr val="000000"/>
              </a:buClr>
              <a:buFont typeface="Arial MT"/>
              <a:buChar char="○"/>
              <a:tabLst>
                <a:tab pos="927100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flag[1]</a:t>
            </a:r>
            <a:r>
              <a:rPr sz="1600" b="1" spc="-10" dirty="0">
                <a:latin typeface="Arial MT"/>
                <a:cs typeface="Arial MT"/>
              </a:rPr>
              <a:t>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Indicates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whether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2 </a:t>
            </a:r>
            <a:r>
              <a:rPr sz="1600" dirty="0">
                <a:latin typeface="Arial MT"/>
                <a:cs typeface="Arial MT"/>
              </a:rPr>
              <a:t>wants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enter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critical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section.</a:t>
            </a:r>
            <a:endParaRPr sz="16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turn</a:t>
            </a:r>
            <a:r>
              <a:rPr sz="1600" b="1" spc="-10" dirty="0">
                <a:latin typeface="Arial MT"/>
                <a:cs typeface="Arial MT"/>
              </a:rPr>
              <a:t>:</a:t>
            </a:r>
            <a:endParaRPr sz="1600" b="1" dirty="0">
              <a:latin typeface="Arial MT"/>
              <a:cs typeface="Arial MT"/>
            </a:endParaRPr>
          </a:p>
          <a:p>
            <a:pPr marL="927100" marR="45085" lvl="1" indent="-351790">
              <a:lnSpc>
                <a:spcPct val="114999"/>
              </a:lnSpc>
              <a:buChar char="○"/>
              <a:tabLst>
                <a:tab pos="927100" algn="l"/>
              </a:tabLst>
            </a:pPr>
            <a:r>
              <a:rPr sz="1600" dirty="0">
                <a:latin typeface="Arial MT"/>
                <a:cs typeface="Arial MT"/>
              </a:rPr>
              <a:t>Keeps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track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whose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turn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enter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critical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section.</a:t>
            </a:r>
            <a:endParaRPr sz="1600" dirty="0">
              <a:latin typeface="Arial MT"/>
              <a:cs typeface="Arial MT"/>
            </a:endParaRPr>
          </a:p>
          <a:p>
            <a:pPr marL="927100" marR="484505" lvl="1" indent="-351790">
              <a:lnSpc>
                <a:spcPct val="114999"/>
              </a:lnSpc>
              <a:buChar char="○"/>
              <a:tabLst>
                <a:tab pos="927100" algn="l"/>
              </a:tabLst>
            </a:pPr>
            <a:r>
              <a:rPr sz="1600" dirty="0">
                <a:latin typeface="Arial MT"/>
                <a:cs typeface="Arial MT"/>
              </a:rPr>
              <a:t>Prevents</a:t>
            </a:r>
            <a:r>
              <a:rPr sz="1600" spc="-10" dirty="0">
                <a:latin typeface="Arial MT"/>
                <a:cs typeface="Arial MT"/>
              </a:rPr>
              <a:t> starvation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10" dirty="0">
                <a:latin typeface="Arial MT"/>
                <a:cs typeface="Arial MT"/>
              </a:rPr>
              <a:t> alternating access.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600" b="1" spc="-10" dirty="0">
                <a:latin typeface="Arial"/>
                <a:cs typeface="Arial"/>
              </a:rPr>
              <a:t>Volatile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 marL="469900" marR="5080" indent="-35179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volatile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keyword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ensures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variables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always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and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optimized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away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compiler,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they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threads.</a:t>
            </a:r>
            <a:endParaRPr sz="1600" dirty="0">
              <a:latin typeface="Arial MT"/>
              <a:cs typeface="Arial MT"/>
            </a:endParaRPr>
          </a:p>
        </p:txBody>
      </p:sp>
      <p:grpSp>
        <p:nvGrpSpPr>
          <p:cNvPr id="4" name="object 4" descr="A code snippet in C highlighting the global initialization of a volatile boolean array flag[2] and a volatile integer turn for thread synchronization."/>
          <p:cNvGrpSpPr/>
          <p:nvPr/>
        </p:nvGrpSpPr>
        <p:grpSpPr>
          <a:xfrm>
            <a:off x="5029662" y="1410591"/>
            <a:ext cx="6914515" cy="5142865"/>
            <a:chOff x="5029662" y="1410591"/>
            <a:chExt cx="6914515" cy="51428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0625" y="1410591"/>
              <a:ext cx="6623050" cy="51426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1439199"/>
              <a:ext cx="6758940" cy="696595"/>
            </a:xfrm>
            <a:custGeom>
              <a:avLst/>
              <a:gdLst/>
              <a:ahLst/>
              <a:cxnLst/>
              <a:rect l="l" t="t" r="r" b="b"/>
              <a:pathLst>
                <a:path w="6758940" h="696594">
                  <a:moveTo>
                    <a:pt x="0" y="0"/>
                  </a:moveTo>
                  <a:lnTo>
                    <a:pt x="6758399" y="0"/>
                  </a:lnTo>
                  <a:lnTo>
                    <a:pt x="6758399" y="695999"/>
                  </a:lnTo>
                  <a:lnTo>
                    <a:pt x="0" y="6959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Dekker’s</a:t>
            </a:r>
            <a:r>
              <a:rPr sz="1800" spc="-30" dirty="0"/>
              <a:t> </a:t>
            </a:r>
            <a:r>
              <a:rPr sz="1800" spc="-10" dirty="0"/>
              <a:t>Algorithm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395050" y="2196763"/>
            <a:ext cx="4316730" cy="2795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340610" algn="ctr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700" b="1" spc="-5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980000"/>
                </a:solidFill>
                <a:latin typeface="Arial"/>
                <a:cs typeface="Arial"/>
              </a:rPr>
              <a:t>1</a:t>
            </a:r>
            <a:r>
              <a:rPr sz="1700" b="1" spc="-5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980000"/>
                </a:solidFill>
                <a:latin typeface="Arial"/>
                <a:cs typeface="Arial"/>
              </a:rPr>
              <a:t>Behavior</a:t>
            </a:r>
            <a:r>
              <a:rPr sz="1700" spc="-10" dirty="0">
                <a:solidFill>
                  <a:srgbClr val="980000"/>
                </a:solidFill>
                <a:latin typeface="Arial MT"/>
                <a:cs typeface="Arial MT"/>
              </a:rPr>
              <a:t>:</a:t>
            </a:r>
            <a:endParaRPr sz="1700" dirty="0">
              <a:latin typeface="Arial MT"/>
              <a:cs typeface="Arial MT"/>
            </a:endParaRPr>
          </a:p>
          <a:p>
            <a:pPr marR="2372360" algn="ctr">
              <a:lnSpc>
                <a:spcPct val="100000"/>
              </a:lnSpc>
              <a:spcBef>
                <a:spcPts val="1500"/>
              </a:spcBef>
            </a:pPr>
            <a:r>
              <a:rPr sz="1800" b="1" dirty="0">
                <a:latin typeface="Arial"/>
                <a:cs typeface="Arial"/>
              </a:rPr>
              <a:t>flag[0]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true;</a:t>
            </a:r>
            <a:endParaRPr sz="1800" dirty="0">
              <a:latin typeface="Arial"/>
              <a:cs typeface="Arial"/>
            </a:endParaRPr>
          </a:p>
          <a:p>
            <a:pPr marL="468630" marR="5080" indent="-365760" algn="just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b="1" spc="-65" dirty="0">
                <a:solidFill>
                  <a:srgbClr val="188037"/>
                </a:solidFill>
                <a:latin typeface="Courier New"/>
                <a:cs typeface="Courier New"/>
              </a:rPr>
              <a:t>flag[0]</a:t>
            </a:r>
            <a:r>
              <a:rPr sz="1800" spc="-20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b="1" spc="-120" dirty="0">
                <a:solidFill>
                  <a:srgbClr val="188037"/>
                </a:solidFill>
                <a:latin typeface="Courier New"/>
                <a:cs typeface="Courier New"/>
              </a:rPr>
              <a:t>true</a:t>
            </a:r>
            <a:r>
              <a:rPr sz="1800" spc="-1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latin typeface="Arial MT"/>
                <a:cs typeface="Arial MT"/>
              </a:rPr>
              <a:t>to 	</a:t>
            </a:r>
            <a:r>
              <a:rPr sz="1800" dirty="0">
                <a:latin typeface="Arial MT"/>
                <a:cs typeface="Arial MT"/>
              </a:rPr>
              <a:t>signal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critical 	section.</a:t>
            </a:r>
            <a:endParaRPr sz="1800" dirty="0">
              <a:latin typeface="Arial MT"/>
              <a:cs typeface="Arial MT"/>
            </a:endParaRPr>
          </a:p>
          <a:p>
            <a:pPr marL="469900" marR="126364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Notifies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(via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flag[0]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20" dirty="0">
                <a:latin typeface="Arial MT"/>
                <a:cs typeface="Arial MT"/>
              </a:rPr>
              <a:t> that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interested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critical section.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 descr="A code snippet in C highlighting the logic within thread1, showing it setting its flag, busy-waiting on the other thread’s turn, and then entering its work section."/>
          <p:cNvGrpSpPr/>
          <p:nvPr/>
        </p:nvGrpSpPr>
        <p:grpSpPr>
          <a:xfrm>
            <a:off x="5029662" y="1410591"/>
            <a:ext cx="6914515" cy="5142865"/>
            <a:chOff x="5029662" y="1410591"/>
            <a:chExt cx="6914515" cy="5142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0625" y="1410591"/>
              <a:ext cx="6623050" cy="51426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2505999"/>
              <a:ext cx="6758940" cy="1144270"/>
            </a:xfrm>
            <a:custGeom>
              <a:avLst/>
              <a:gdLst/>
              <a:ahLst/>
              <a:cxnLst/>
              <a:rect l="l" t="t" r="r" b="b"/>
              <a:pathLst>
                <a:path w="6758940" h="1144270">
                  <a:moveTo>
                    <a:pt x="0" y="0"/>
                  </a:moveTo>
                  <a:lnTo>
                    <a:pt x="6758399" y="0"/>
                  </a:lnTo>
                  <a:lnTo>
                    <a:pt x="6758399" y="1144199"/>
                  </a:lnTo>
                  <a:lnTo>
                    <a:pt x="0" y="114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Dekker’s</a:t>
            </a:r>
            <a:r>
              <a:rPr sz="1800" spc="-30" dirty="0"/>
              <a:t> </a:t>
            </a:r>
            <a:r>
              <a:rPr sz="1800" spc="-10" dirty="0"/>
              <a:t>Algorithm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395050" y="2196763"/>
            <a:ext cx="4319905" cy="263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700" b="1" spc="-5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980000"/>
                </a:solidFill>
                <a:latin typeface="Arial"/>
                <a:cs typeface="Arial"/>
              </a:rPr>
              <a:t>1</a:t>
            </a:r>
            <a:r>
              <a:rPr sz="1700" b="1" spc="-5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980000"/>
                </a:solidFill>
                <a:latin typeface="Arial"/>
                <a:cs typeface="Arial"/>
              </a:rPr>
              <a:t>Behavior</a:t>
            </a:r>
            <a:r>
              <a:rPr sz="1700" spc="-10" dirty="0">
                <a:solidFill>
                  <a:srgbClr val="980000"/>
                </a:solidFill>
                <a:latin typeface="Arial MT"/>
                <a:cs typeface="Arial MT"/>
              </a:rPr>
              <a:t>:</a:t>
            </a:r>
            <a:endParaRPr sz="1700" dirty="0">
              <a:latin typeface="Arial MT"/>
              <a:cs typeface="Arial MT"/>
            </a:endParaRPr>
          </a:p>
          <a:p>
            <a:pPr marL="241300" marR="1329055" indent="-228600">
              <a:lnSpc>
                <a:spcPts val="3679"/>
              </a:lnSpc>
              <a:spcBef>
                <a:spcPts val="355"/>
              </a:spcBef>
            </a:pPr>
            <a:r>
              <a:rPr sz="1800" b="1" dirty="0">
                <a:latin typeface="Arial"/>
                <a:cs typeface="Arial"/>
              </a:rPr>
              <a:t>while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(flag[1]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&amp;&amp;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turn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1); </a:t>
            </a:r>
            <a:r>
              <a:rPr sz="1800" b="1" spc="-10" dirty="0">
                <a:latin typeface="Arial"/>
                <a:cs typeface="Arial"/>
              </a:rPr>
              <a:t>Condition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469900" marR="315595" indent="-367030">
              <a:lnSpc>
                <a:spcPct val="114999"/>
              </a:lnSpc>
              <a:spcBef>
                <a:spcPts val="830"/>
              </a:spcBef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flag[1]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Thread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2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 MT"/>
                <a:cs typeface="Arial MT"/>
              </a:rPr>
              <a:t>also </a:t>
            </a:r>
            <a:r>
              <a:rPr sz="1800" dirty="0">
                <a:latin typeface="Arial MT"/>
                <a:cs typeface="Arial MT"/>
              </a:rPr>
              <a:t>wants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critical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section.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turn</a:t>
            </a:r>
            <a:r>
              <a:rPr sz="1800" b="1" spc="-3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==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1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it’s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Thread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2's </a:t>
            </a:r>
            <a:r>
              <a:rPr sz="1800" b="1" dirty="0">
                <a:latin typeface="Arial"/>
                <a:cs typeface="Arial"/>
              </a:rPr>
              <a:t>turn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critical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section.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662" y="1410591"/>
            <a:ext cx="6914515" cy="5142865"/>
            <a:chOff x="5029662" y="1410591"/>
            <a:chExt cx="6914515" cy="5142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0625" y="1410591"/>
              <a:ext cx="6623050" cy="51426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2505999"/>
              <a:ext cx="6758940" cy="1144270"/>
            </a:xfrm>
            <a:custGeom>
              <a:avLst/>
              <a:gdLst/>
              <a:ahLst/>
              <a:cxnLst/>
              <a:rect l="l" t="t" r="r" b="b"/>
              <a:pathLst>
                <a:path w="6758940" h="1144270">
                  <a:moveTo>
                    <a:pt x="0" y="0"/>
                  </a:moveTo>
                  <a:lnTo>
                    <a:pt x="6758399" y="0"/>
                  </a:lnTo>
                  <a:lnTo>
                    <a:pt x="6758399" y="1144199"/>
                  </a:lnTo>
                  <a:lnTo>
                    <a:pt x="0" y="114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050" y="1543538"/>
            <a:ext cx="4434205" cy="441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Dekker’s</a:t>
            </a:r>
            <a:r>
              <a:rPr sz="18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Algorithm</a:t>
            </a:r>
            <a:endParaRPr sz="1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8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1</a:t>
            </a:r>
            <a:r>
              <a:rPr sz="1800" b="1" spc="-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Behavior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spc="-10" dirty="0">
                <a:latin typeface="Arial"/>
                <a:cs typeface="Arial"/>
              </a:rPr>
              <a:t>Behavior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flag[1]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true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(Thread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dirty="0">
                <a:latin typeface="Arial MT"/>
                <a:cs typeface="Arial MT"/>
              </a:rPr>
              <a:t>interested)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turn</a:t>
            </a:r>
            <a:r>
              <a:rPr sz="1800" b="1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==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1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(it's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2's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turn),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 </a:t>
            </a:r>
            <a:r>
              <a:rPr sz="1800" b="1" dirty="0">
                <a:latin typeface="Arial"/>
                <a:cs typeface="Arial"/>
              </a:rPr>
              <a:t>waits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5" dirty="0">
                <a:latin typeface="Arial"/>
                <a:cs typeface="Arial"/>
              </a:rPr>
              <a:t> the </a:t>
            </a:r>
            <a:r>
              <a:rPr sz="1800" b="1" spc="-10" dirty="0">
                <a:latin typeface="Arial"/>
                <a:cs typeface="Arial"/>
              </a:rPr>
              <a:t>loop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loop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continues</a:t>
            </a:r>
            <a:r>
              <a:rPr sz="1800" spc="-10" dirty="0">
                <a:latin typeface="Arial MT"/>
                <a:cs typeface="Arial MT"/>
              </a:rPr>
              <a:t> until:</a:t>
            </a:r>
            <a:endParaRPr sz="1800" dirty="0">
              <a:latin typeface="Arial MT"/>
              <a:cs typeface="Arial MT"/>
            </a:endParaRPr>
          </a:p>
          <a:p>
            <a:pPr marL="927100" marR="267335" lvl="1" indent="-367030">
              <a:lnSpc>
                <a:spcPct val="114999"/>
              </a:lnSpc>
              <a:buClr>
                <a:srgbClr val="000000"/>
              </a:buClr>
              <a:buFont typeface="Arial MT"/>
              <a:buChar char="○"/>
              <a:tabLst>
                <a:tab pos="9271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flag[1]</a:t>
            </a:r>
            <a:r>
              <a:rPr sz="1800" b="1" spc="-3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==</a:t>
            </a:r>
            <a:r>
              <a:rPr sz="1800" b="1" spc="-3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false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2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longer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enter.</a:t>
            </a:r>
            <a:endParaRPr sz="1800" dirty="0">
              <a:latin typeface="Arial MT"/>
              <a:cs typeface="Arial MT"/>
            </a:endParaRPr>
          </a:p>
          <a:p>
            <a:pPr marL="927100" marR="236854" lvl="1" indent="-367030">
              <a:lnSpc>
                <a:spcPct val="114999"/>
              </a:lnSpc>
              <a:buClr>
                <a:srgbClr val="000000"/>
              </a:buClr>
              <a:buFont typeface="Arial MT"/>
              <a:buChar char="○"/>
              <a:tabLst>
                <a:tab pos="9271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turn</a:t>
            </a:r>
            <a:r>
              <a:rPr sz="1800" b="1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!=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1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becomes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Thread </a:t>
            </a:r>
            <a:r>
              <a:rPr sz="1800" dirty="0">
                <a:latin typeface="Arial MT"/>
                <a:cs typeface="Arial MT"/>
              </a:rPr>
              <a:t>1’s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turn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proceed.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662" y="1410591"/>
            <a:ext cx="6914515" cy="5142865"/>
            <a:chOff x="5029662" y="1410591"/>
            <a:chExt cx="6914515" cy="5142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0625" y="1410591"/>
              <a:ext cx="6623050" cy="51426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2505999"/>
              <a:ext cx="6758940" cy="1144270"/>
            </a:xfrm>
            <a:custGeom>
              <a:avLst/>
              <a:gdLst/>
              <a:ahLst/>
              <a:cxnLst/>
              <a:rect l="l" t="t" r="r" b="b"/>
              <a:pathLst>
                <a:path w="6758940" h="1144270">
                  <a:moveTo>
                    <a:pt x="0" y="0"/>
                  </a:moveTo>
                  <a:lnTo>
                    <a:pt x="6758399" y="0"/>
                  </a:lnTo>
                  <a:lnTo>
                    <a:pt x="6758399" y="1144199"/>
                  </a:lnTo>
                  <a:lnTo>
                    <a:pt x="0" y="114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Dekker’s</a:t>
            </a:r>
            <a:r>
              <a:rPr sz="1800" spc="-30" dirty="0"/>
              <a:t> </a:t>
            </a:r>
            <a:r>
              <a:rPr sz="1800" spc="-10" dirty="0"/>
              <a:t>Algorithm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395050" y="2196255"/>
            <a:ext cx="4262755" cy="186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1</a:t>
            </a:r>
            <a:r>
              <a:rPr sz="1800" b="1" spc="-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Behavior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b="1" dirty="0">
                <a:latin typeface="Arial"/>
                <a:cs typeface="Arial"/>
              </a:rPr>
              <a:t>Purpose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not </a:t>
            </a: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critical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if: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 is also </a:t>
            </a:r>
            <a:r>
              <a:rPr sz="1800" spc="-10" dirty="0">
                <a:latin typeface="Arial MT"/>
                <a:cs typeface="Arial MT"/>
              </a:rPr>
              <a:t>interested,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2's</a:t>
            </a:r>
            <a:r>
              <a:rPr sz="1800" spc="-10" dirty="0">
                <a:latin typeface="Arial MT"/>
                <a:cs typeface="Arial MT"/>
              </a:rPr>
              <a:t> turn.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662" y="1410591"/>
            <a:ext cx="6914515" cy="5142865"/>
            <a:chOff x="5029662" y="1410591"/>
            <a:chExt cx="6914515" cy="5142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0625" y="1410591"/>
              <a:ext cx="6623050" cy="51426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2505999"/>
              <a:ext cx="6758940" cy="1144270"/>
            </a:xfrm>
            <a:custGeom>
              <a:avLst/>
              <a:gdLst/>
              <a:ahLst/>
              <a:cxnLst/>
              <a:rect l="l" t="t" r="r" b="b"/>
              <a:pathLst>
                <a:path w="6758940" h="1144270">
                  <a:moveTo>
                    <a:pt x="0" y="0"/>
                  </a:moveTo>
                  <a:lnTo>
                    <a:pt x="6758399" y="0"/>
                  </a:lnTo>
                  <a:lnTo>
                    <a:pt x="6758399" y="1144199"/>
                  </a:lnTo>
                  <a:lnTo>
                    <a:pt x="0" y="1144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Dekker’s</a:t>
            </a:r>
            <a:r>
              <a:rPr sz="1800" spc="-30" dirty="0"/>
              <a:t> </a:t>
            </a:r>
            <a:r>
              <a:rPr sz="1800" spc="-10" dirty="0"/>
              <a:t>Algorithm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395050" y="2196255"/>
            <a:ext cx="4400550" cy="374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2</a:t>
            </a:r>
            <a:r>
              <a:rPr sz="1800" b="1" spc="-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Behavior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spc="-10" dirty="0">
                <a:latin typeface="Arial MT"/>
                <a:cs typeface="Arial MT"/>
              </a:rPr>
              <a:t>Similarly,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sets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flag[1]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true</a:t>
            </a:r>
            <a:endParaRPr sz="1800" b="1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access.</a:t>
            </a:r>
            <a:endParaRPr sz="1800" dirty="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latin typeface="Arial MT"/>
                <a:cs typeface="Arial MT"/>
              </a:rPr>
              <a:t>Waits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until:</a:t>
            </a:r>
            <a:endParaRPr sz="1800" dirty="0">
              <a:latin typeface="Arial MT"/>
              <a:cs typeface="Arial MT"/>
            </a:endParaRPr>
          </a:p>
          <a:p>
            <a:pPr marL="469900" marR="74803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flag[0]</a:t>
            </a:r>
            <a:r>
              <a:rPr sz="18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==</a:t>
            </a:r>
            <a:r>
              <a:rPr sz="1800" b="1" spc="-3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false</a:t>
            </a:r>
            <a:r>
              <a:rPr sz="1800" dirty="0">
                <a:latin typeface="Arial MT"/>
                <a:cs typeface="Arial MT"/>
              </a:rPr>
              <a:t>),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or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2's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turn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turn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!=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0</a:t>
            </a:r>
            <a:r>
              <a:rPr sz="1800" spc="-25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turn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50" dirty="0">
                <a:solidFill>
                  <a:srgbClr val="188037"/>
                </a:solidFill>
                <a:latin typeface="Courier New"/>
                <a:cs typeface="Courier New"/>
              </a:rPr>
              <a:t>0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chance,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clears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flag[1]</a:t>
            </a:r>
            <a:r>
              <a:rPr sz="1800" b="1" spc="-10" dirty="0">
                <a:latin typeface="Arial MT"/>
                <a:cs typeface="Arial MT"/>
              </a:rPr>
              <a:t>.</a:t>
            </a:r>
            <a:endParaRPr sz="1800" b="1" dirty="0">
              <a:latin typeface="Arial MT"/>
              <a:cs typeface="Arial MT"/>
            </a:endParaRPr>
          </a:p>
        </p:txBody>
      </p:sp>
      <p:grpSp>
        <p:nvGrpSpPr>
          <p:cNvPr id="4" name="object 4" descr="A code snippet in C highlighting the logic within thread2, showing it setting its flag to true and busy-waiting while the other thread has the turn."/>
          <p:cNvGrpSpPr/>
          <p:nvPr/>
        </p:nvGrpSpPr>
        <p:grpSpPr>
          <a:xfrm>
            <a:off x="5029662" y="1410591"/>
            <a:ext cx="6914515" cy="5142865"/>
            <a:chOff x="5029662" y="1410591"/>
            <a:chExt cx="6914515" cy="5142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0625" y="1410591"/>
              <a:ext cx="6623050" cy="51426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4487199"/>
              <a:ext cx="6758940" cy="1364615"/>
            </a:xfrm>
            <a:custGeom>
              <a:avLst/>
              <a:gdLst/>
              <a:ahLst/>
              <a:cxnLst/>
              <a:rect l="l" t="t" r="r" b="b"/>
              <a:pathLst>
                <a:path w="6758940" h="1364614">
                  <a:moveTo>
                    <a:pt x="0" y="0"/>
                  </a:moveTo>
                  <a:lnTo>
                    <a:pt x="6758399" y="0"/>
                  </a:lnTo>
                  <a:lnTo>
                    <a:pt x="6758399" y="1364099"/>
                  </a:lnTo>
                  <a:lnTo>
                    <a:pt x="0" y="1364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3358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Dekker’s</a:t>
            </a:r>
            <a:r>
              <a:rPr sz="18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Algorithm</a:t>
            </a:r>
            <a:r>
              <a:rPr sz="1800" spc="-2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F2044"/>
                </a:solidFill>
                <a:latin typeface="Georgia"/>
                <a:cs typeface="Georgia"/>
              </a:rPr>
              <a:t>-</a:t>
            </a:r>
            <a:r>
              <a:rPr sz="1800" spc="-2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Limitations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024" y="1979975"/>
            <a:ext cx="4633595" cy="4552315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sz="1500" b="1" spc="-10" dirty="0">
                <a:latin typeface="Arial"/>
                <a:cs typeface="Arial"/>
              </a:rPr>
              <a:t>Complexity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and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Inefficiency</a:t>
            </a:r>
            <a:endParaRPr sz="1500">
              <a:latin typeface="Arial"/>
              <a:cs typeface="Arial"/>
            </a:endParaRPr>
          </a:p>
          <a:p>
            <a:pPr marL="542290" indent="-343535">
              <a:lnSpc>
                <a:spcPct val="100000"/>
              </a:lnSpc>
              <a:spcBef>
                <a:spcPts val="1470"/>
              </a:spcBef>
              <a:buFont typeface="Arial MT"/>
              <a:buChar char="●"/>
              <a:tabLst>
                <a:tab pos="542290" algn="l"/>
              </a:tabLst>
            </a:pPr>
            <a:r>
              <a:rPr sz="1500" b="1" dirty="0">
                <a:latin typeface="Arial"/>
                <a:cs typeface="Arial"/>
              </a:rPr>
              <a:t>Manual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Implementation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  <a:p>
            <a:pPr marL="1000125" marR="386715" lvl="1" indent="-344170">
              <a:lnSpc>
                <a:spcPct val="114999"/>
              </a:lnSpc>
              <a:buChar char="○"/>
              <a:tabLst>
                <a:tab pos="1000125" algn="l"/>
              </a:tabLst>
            </a:pPr>
            <a:r>
              <a:rPr sz="1500" spc="-10" dirty="0">
                <a:latin typeface="Arial MT"/>
                <a:cs typeface="Arial MT"/>
              </a:rPr>
              <a:t>Dekker's</a:t>
            </a:r>
            <a:r>
              <a:rPr sz="1500" spc="-9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Algorithm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challenging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to </a:t>
            </a:r>
            <a:r>
              <a:rPr sz="1500" spc="-10" dirty="0">
                <a:latin typeface="Arial MT"/>
                <a:cs typeface="Arial MT"/>
              </a:rPr>
              <a:t>implement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correctly,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requires </a:t>
            </a:r>
            <a:r>
              <a:rPr sz="1500" dirty="0">
                <a:latin typeface="Arial MT"/>
                <a:cs typeface="Arial MT"/>
              </a:rPr>
              <a:t>meticulous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handling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multiple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shared </a:t>
            </a:r>
            <a:r>
              <a:rPr sz="1500" dirty="0">
                <a:latin typeface="Arial MT"/>
                <a:cs typeface="Arial MT"/>
              </a:rPr>
              <a:t>flags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conditions.</a:t>
            </a:r>
            <a:endParaRPr sz="1500">
              <a:latin typeface="Arial MT"/>
              <a:cs typeface="Arial MT"/>
            </a:endParaRPr>
          </a:p>
          <a:p>
            <a:pPr marL="542290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542290" algn="l"/>
              </a:tabLst>
            </a:pPr>
            <a:r>
              <a:rPr sz="1500" b="1" dirty="0">
                <a:latin typeface="Arial"/>
                <a:cs typeface="Arial"/>
              </a:rPr>
              <a:t>Busy</a:t>
            </a:r>
            <a:r>
              <a:rPr sz="1500" b="1" spc="-6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Waiting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  <a:p>
            <a:pPr marL="1000125" marR="356235" lvl="1" indent="-344170">
              <a:lnSpc>
                <a:spcPct val="114999"/>
              </a:lnSpc>
              <a:buChar char="○"/>
              <a:tabLst>
                <a:tab pos="1000125" algn="l"/>
              </a:tabLst>
            </a:pP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algorithm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b="1" dirty="0">
                <a:latin typeface="Arial"/>
                <a:cs typeface="Arial"/>
              </a:rPr>
              <a:t>busy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waiting </a:t>
            </a:r>
            <a:r>
              <a:rPr sz="1500" spc="-10" dirty="0">
                <a:latin typeface="Arial MT"/>
                <a:cs typeface="Arial MT"/>
              </a:rPr>
              <a:t>(spinning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loops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check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conditions), </a:t>
            </a:r>
            <a:r>
              <a:rPr sz="1500" dirty="0">
                <a:latin typeface="Arial MT"/>
                <a:cs typeface="Arial MT"/>
              </a:rPr>
              <a:t>wasting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CPU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cycles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while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waiting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for </a:t>
            </a:r>
            <a:r>
              <a:rPr sz="1500" dirty="0">
                <a:latin typeface="Arial MT"/>
                <a:cs typeface="Arial MT"/>
              </a:rPr>
              <a:t>access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critical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section.</a:t>
            </a:r>
            <a:endParaRPr sz="1500">
              <a:latin typeface="Arial MT"/>
              <a:cs typeface="Arial MT"/>
            </a:endParaRPr>
          </a:p>
          <a:p>
            <a:pPr marL="542290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542290" algn="l"/>
              </a:tabLst>
            </a:pPr>
            <a:r>
              <a:rPr sz="1500" b="1" dirty="0">
                <a:latin typeface="Arial"/>
                <a:cs typeface="Arial"/>
              </a:rPr>
              <a:t>Modern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Solutions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  <a:p>
            <a:pPr marL="1000125" marR="102235" lvl="1" indent="-344170">
              <a:lnSpc>
                <a:spcPct val="114999"/>
              </a:lnSpc>
              <a:buChar char="○"/>
              <a:tabLst>
                <a:tab pos="1000125" algn="l"/>
              </a:tabLst>
            </a:pPr>
            <a:r>
              <a:rPr sz="1500" dirty="0">
                <a:latin typeface="Arial MT"/>
                <a:cs typeface="Arial MT"/>
              </a:rPr>
              <a:t>Mutexes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semaphores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provide </a:t>
            </a:r>
            <a:r>
              <a:rPr sz="1500" dirty="0">
                <a:latin typeface="Arial MT"/>
                <a:cs typeface="Arial MT"/>
              </a:rPr>
              <a:t>blocking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mechanisms,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allowing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threads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to </a:t>
            </a:r>
            <a:r>
              <a:rPr sz="1500" dirty="0">
                <a:latin typeface="Arial MT"/>
                <a:cs typeface="Arial MT"/>
              </a:rPr>
              <a:t>sleep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until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access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available,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conserving </a:t>
            </a:r>
            <a:r>
              <a:rPr sz="1500" dirty="0">
                <a:latin typeface="Arial MT"/>
                <a:cs typeface="Arial MT"/>
              </a:rPr>
              <a:t>CPU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resources.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6100" y="1979975"/>
            <a:ext cx="3430270" cy="4552315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sz="1500" b="1" dirty="0">
                <a:latin typeface="Arial"/>
                <a:cs typeface="Arial"/>
              </a:rPr>
              <a:t>Limited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Scalability</a:t>
            </a:r>
            <a:endParaRPr sz="1500">
              <a:latin typeface="Arial"/>
              <a:cs typeface="Arial"/>
            </a:endParaRPr>
          </a:p>
          <a:p>
            <a:pPr marL="542290" indent="-343535">
              <a:lnSpc>
                <a:spcPct val="100000"/>
              </a:lnSpc>
              <a:spcBef>
                <a:spcPts val="1470"/>
              </a:spcBef>
              <a:buFont typeface="Arial MT"/>
              <a:buChar char="●"/>
              <a:tabLst>
                <a:tab pos="542290" algn="l"/>
              </a:tabLst>
            </a:pPr>
            <a:r>
              <a:rPr sz="1500" b="1" spc="-40" dirty="0">
                <a:latin typeface="Arial"/>
                <a:cs typeface="Arial"/>
              </a:rPr>
              <a:t>Two-</a:t>
            </a:r>
            <a:r>
              <a:rPr sz="1500" b="1" dirty="0">
                <a:latin typeface="Arial"/>
                <a:cs typeface="Arial"/>
              </a:rPr>
              <a:t>Thread </a:t>
            </a:r>
            <a:r>
              <a:rPr sz="1500" b="1" spc="-10" dirty="0">
                <a:latin typeface="Arial"/>
                <a:cs typeface="Arial"/>
              </a:rPr>
              <a:t>Limit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  <a:p>
            <a:pPr marL="1000125" marR="422909" lvl="1" indent="-344170">
              <a:lnSpc>
                <a:spcPct val="114999"/>
              </a:lnSpc>
              <a:buChar char="○"/>
              <a:tabLst>
                <a:tab pos="1000125" algn="l"/>
              </a:tabLst>
            </a:pPr>
            <a:r>
              <a:rPr sz="1500" spc="-10" dirty="0">
                <a:latin typeface="Arial MT"/>
                <a:cs typeface="Arial MT"/>
              </a:rPr>
              <a:t>Dekker's</a:t>
            </a:r>
            <a:r>
              <a:rPr sz="1500" spc="-9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Algorithm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only </a:t>
            </a:r>
            <a:r>
              <a:rPr sz="1500" dirty="0">
                <a:latin typeface="Arial MT"/>
                <a:cs typeface="Arial MT"/>
              </a:rPr>
              <a:t>works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b="1" dirty="0">
                <a:latin typeface="Arial"/>
                <a:cs typeface="Arial"/>
              </a:rPr>
              <a:t>two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threads</a:t>
            </a:r>
            <a:r>
              <a:rPr sz="1500" spc="-10" dirty="0">
                <a:latin typeface="Arial MT"/>
                <a:cs typeface="Arial MT"/>
              </a:rPr>
              <a:t>. Extending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more </a:t>
            </a:r>
            <a:r>
              <a:rPr sz="1500" dirty="0">
                <a:latin typeface="Arial MT"/>
                <a:cs typeface="Arial MT"/>
              </a:rPr>
              <a:t>threads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significantly </a:t>
            </a:r>
            <a:r>
              <a:rPr sz="1500" dirty="0">
                <a:latin typeface="Arial MT"/>
                <a:cs typeface="Arial MT"/>
              </a:rPr>
              <a:t>increases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complexity, </a:t>
            </a:r>
            <a:r>
              <a:rPr sz="1500" dirty="0">
                <a:latin typeface="Arial MT"/>
                <a:cs typeface="Arial MT"/>
              </a:rPr>
              <a:t>making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impractical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for </a:t>
            </a:r>
            <a:r>
              <a:rPr sz="1500" spc="-20" dirty="0">
                <a:latin typeface="Arial MT"/>
                <a:cs typeface="Arial MT"/>
              </a:rPr>
              <a:t>multi-</a:t>
            </a:r>
            <a:r>
              <a:rPr sz="1500" spc="-10" dirty="0">
                <a:latin typeface="Arial MT"/>
                <a:cs typeface="Arial MT"/>
              </a:rPr>
              <a:t>threaded environments.</a:t>
            </a:r>
            <a:endParaRPr sz="1500">
              <a:latin typeface="Arial MT"/>
              <a:cs typeface="Arial MT"/>
            </a:endParaRPr>
          </a:p>
          <a:p>
            <a:pPr marL="542290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542290" algn="l"/>
              </a:tabLst>
            </a:pPr>
            <a:r>
              <a:rPr sz="1500" b="1" dirty="0">
                <a:latin typeface="Arial"/>
                <a:cs typeface="Arial"/>
              </a:rPr>
              <a:t>Modern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Solutions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  <a:p>
            <a:pPr marL="1000125" marR="274955" lvl="1" indent="-344170">
              <a:lnSpc>
                <a:spcPct val="114999"/>
              </a:lnSpc>
              <a:buChar char="○"/>
              <a:tabLst>
                <a:tab pos="1000125" algn="l"/>
              </a:tabLst>
            </a:pPr>
            <a:r>
              <a:rPr sz="1500" dirty="0">
                <a:latin typeface="Arial MT"/>
                <a:cs typeface="Arial MT"/>
              </a:rPr>
              <a:t>Mutexes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more </a:t>
            </a:r>
            <a:r>
              <a:rPr sz="1500" spc="-10" dirty="0">
                <a:latin typeface="Arial MT"/>
                <a:cs typeface="Arial MT"/>
              </a:rPr>
              <a:t>advanced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algorithms,</a:t>
            </a:r>
            <a:r>
              <a:rPr sz="1500" spc="-20" dirty="0">
                <a:latin typeface="Arial MT"/>
                <a:cs typeface="Arial MT"/>
              </a:rPr>
              <a:t> like </a:t>
            </a:r>
            <a:r>
              <a:rPr sz="1500" spc="-10" dirty="0">
                <a:latin typeface="Arial MT"/>
                <a:cs typeface="Arial MT"/>
              </a:rPr>
              <a:t>Peterson's</a:t>
            </a:r>
            <a:r>
              <a:rPr sz="1500" spc="-9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Algorithm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or </a:t>
            </a:r>
            <a:r>
              <a:rPr sz="1500" spc="-10" dirty="0">
                <a:latin typeface="Arial MT"/>
                <a:cs typeface="Arial MT"/>
              </a:rPr>
              <a:t>semaphores,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scale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better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multiple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threads.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06874" y="1979975"/>
            <a:ext cx="3430270" cy="4552315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615"/>
              </a:spcBef>
            </a:pPr>
            <a:r>
              <a:rPr sz="1500" b="1" dirty="0">
                <a:latin typeface="Arial"/>
                <a:cs typeface="Arial"/>
              </a:rPr>
              <a:t>Lack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of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Fairness</a:t>
            </a:r>
            <a:endParaRPr sz="1500">
              <a:latin typeface="Arial"/>
              <a:cs typeface="Arial"/>
            </a:endParaRPr>
          </a:p>
          <a:p>
            <a:pPr marL="542290" indent="-343535">
              <a:lnSpc>
                <a:spcPct val="100000"/>
              </a:lnSpc>
              <a:spcBef>
                <a:spcPts val="1470"/>
              </a:spcBef>
              <a:buFont typeface="Arial MT"/>
              <a:buChar char="●"/>
              <a:tabLst>
                <a:tab pos="542290" algn="l"/>
              </a:tabLst>
            </a:pPr>
            <a:r>
              <a:rPr sz="1500" b="1" spc="-10" dirty="0">
                <a:latin typeface="Arial"/>
                <a:cs typeface="Arial"/>
              </a:rPr>
              <a:t>Starvation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spc="-20" dirty="0">
                <a:latin typeface="Arial"/>
                <a:cs typeface="Arial"/>
              </a:rPr>
              <a:t>Risk</a:t>
            </a:r>
            <a:r>
              <a:rPr sz="1500" spc="-20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  <a:p>
            <a:pPr marL="1000125" marR="222250" lvl="1" indent="-344170">
              <a:lnSpc>
                <a:spcPct val="114999"/>
              </a:lnSpc>
              <a:buChar char="○"/>
              <a:tabLst>
                <a:tab pos="1000125" algn="l"/>
              </a:tabLst>
            </a:pPr>
            <a:r>
              <a:rPr sz="1500" spc="-10" dirty="0">
                <a:latin typeface="Arial MT"/>
                <a:cs typeface="Arial MT"/>
              </a:rPr>
              <a:t>Dekker’s</a:t>
            </a:r>
            <a:r>
              <a:rPr sz="1500" spc="-9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Algorithm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does </a:t>
            </a:r>
            <a:r>
              <a:rPr sz="1500" dirty="0">
                <a:latin typeface="Arial MT"/>
                <a:cs typeface="Arial MT"/>
              </a:rPr>
              <a:t>not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guarantee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fairness,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as </a:t>
            </a:r>
            <a:r>
              <a:rPr sz="1500" dirty="0">
                <a:latin typeface="Arial MT"/>
                <a:cs typeface="Arial MT"/>
              </a:rPr>
              <a:t>one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thread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may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dominate </a:t>
            </a:r>
            <a:r>
              <a:rPr sz="1500" dirty="0">
                <a:latin typeface="Arial MT"/>
                <a:cs typeface="Arial MT"/>
              </a:rPr>
              <a:t>access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critical </a:t>
            </a:r>
            <a:r>
              <a:rPr sz="1500" dirty="0">
                <a:latin typeface="Arial MT"/>
                <a:cs typeface="Arial MT"/>
              </a:rPr>
              <a:t>section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under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certain conditions,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causing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the </a:t>
            </a:r>
            <a:r>
              <a:rPr sz="1500" dirty="0">
                <a:latin typeface="Arial MT"/>
                <a:cs typeface="Arial MT"/>
              </a:rPr>
              <a:t>other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starve.</a:t>
            </a:r>
            <a:endParaRPr sz="1500">
              <a:latin typeface="Arial MT"/>
              <a:cs typeface="Arial MT"/>
            </a:endParaRPr>
          </a:p>
          <a:p>
            <a:pPr marL="542290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542290" algn="l"/>
              </a:tabLst>
            </a:pPr>
            <a:r>
              <a:rPr sz="1500" b="1" dirty="0">
                <a:latin typeface="Arial"/>
                <a:cs typeface="Arial"/>
              </a:rPr>
              <a:t>Modern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Solutions</a:t>
            </a:r>
            <a:r>
              <a:rPr sz="1500" spc="-10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  <a:p>
            <a:pPr marL="1000125" marR="241935" lvl="1" indent="-344170">
              <a:lnSpc>
                <a:spcPct val="114999"/>
              </a:lnSpc>
              <a:buChar char="○"/>
              <a:tabLst>
                <a:tab pos="1000125" algn="l"/>
              </a:tabLst>
            </a:pPr>
            <a:r>
              <a:rPr sz="1500" dirty="0">
                <a:latin typeface="Arial MT"/>
                <a:cs typeface="Arial MT"/>
              </a:rPr>
              <a:t>Many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modern synchronization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primitives </a:t>
            </a:r>
            <a:r>
              <a:rPr sz="1500" dirty="0">
                <a:latin typeface="Arial MT"/>
                <a:cs typeface="Arial MT"/>
              </a:rPr>
              <a:t>ensure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fairness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by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using </a:t>
            </a:r>
            <a:r>
              <a:rPr sz="1500" dirty="0">
                <a:latin typeface="Arial MT"/>
                <a:cs typeface="Arial MT"/>
              </a:rPr>
              <a:t>mechanisms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like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b="1" spc="-10" dirty="0">
                <a:latin typeface="Arial"/>
                <a:cs typeface="Arial"/>
              </a:rPr>
              <a:t>priority </a:t>
            </a:r>
            <a:r>
              <a:rPr sz="1500" b="1" dirty="0">
                <a:latin typeface="Arial"/>
                <a:cs typeface="Arial"/>
              </a:rPr>
              <a:t>queues</a:t>
            </a:r>
            <a:r>
              <a:rPr sz="1500" b="1" spc="-10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or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b="1" spc="-10" dirty="0">
                <a:latin typeface="Arial"/>
                <a:cs typeface="Arial"/>
              </a:rPr>
              <a:t>round-robin scheduling</a:t>
            </a:r>
            <a:r>
              <a:rPr sz="1500" spc="-10" dirty="0">
                <a:latin typeface="Arial MT"/>
                <a:cs typeface="Arial MT"/>
              </a:rPr>
              <a:t>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Dekker</a:t>
            </a:r>
            <a:r>
              <a:rPr spc="-70" dirty="0"/>
              <a:t> </a:t>
            </a:r>
            <a:r>
              <a:rPr dirty="0"/>
              <a:t>Fails</a:t>
            </a:r>
            <a:r>
              <a:rPr spc="-75" dirty="0"/>
              <a:t> </a:t>
            </a:r>
            <a:r>
              <a:rPr dirty="0"/>
              <a:t>on</a:t>
            </a:r>
            <a:r>
              <a:rPr spc="-70" dirty="0"/>
              <a:t> </a:t>
            </a:r>
            <a:r>
              <a:rPr dirty="0"/>
              <a:t>Modern</a:t>
            </a:r>
            <a:r>
              <a:rPr spc="-7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875" y="2125174"/>
            <a:ext cx="5048250" cy="412051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85090" marR="868044">
              <a:lnSpc>
                <a:spcPct val="114999"/>
              </a:lnSpc>
              <a:spcBef>
                <a:spcPts val="275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Modern</a:t>
            </a:r>
            <a:r>
              <a:rPr sz="1800" b="1" spc="-5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compilers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and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CPUs</a:t>
            </a:r>
            <a:r>
              <a:rPr sz="18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reorder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instructions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to</a:t>
            </a:r>
            <a:r>
              <a:rPr sz="18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optimize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  <a:p>
            <a:pPr marL="542925" marR="117475" indent="-367030">
              <a:lnSpc>
                <a:spcPct val="114999"/>
              </a:lnSpc>
              <a:spcBef>
                <a:spcPts val="1205"/>
              </a:spcBef>
              <a:buFont typeface="Arial MT"/>
              <a:buChar char="●"/>
              <a:tabLst>
                <a:tab pos="542925" algn="l"/>
              </a:tabLst>
            </a:pPr>
            <a:r>
              <a:rPr sz="1800" b="1" dirty="0">
                <a:latin typeface="Arial"/>
                <a:cs typeface="Arial"/>
              </a:rPr>
              <a:t>Compilers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often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reorder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instructions </a:t>
            </a:r>
            <a:r>
              <a:rPr sz="1800" dirty="0">
                <a:latin typeface="Arial MT"/>
                <a:cs typeface="Arial MT"/>
              </a:rPr>
              <a:t>during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optimization.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believes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don’t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depend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each </a:t>
            </a:r>
            <a:r>
              <a:rPr sz="1800" dirty="0">
                <a:latin typeface="Arial MT"/>
                <a:cs typeface="Arial MT"/>
              </a:rPr>
              <a:t>other,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swap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improve performance.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542925" marR="394335" indent="-367030">
              <a:lnSpc>
                <a:spcPct val="114999"/>
              </a:lnSpc>
              <a:buFont typeface="Arial MT"/>
              <a:buChar char="●"/>
              <a:tabLst>
                <a:tab pos="542925" algn="l"/>
              </a:tabLst>
            </a:pPr>
            <a:r>
              <a:rPr sz="1800" b="1" dirty="0">
                <a:latin typeface="Arial"/>
                <a:cs typeface="Arial"/>
              </a:rPr>
              <a:t>CPUs </a:t>
            </a:r>
            <a:r>
              <a:rPr sz="1800" dirty="0">
                <a:latin typeface="Arial MT"/>
                <a:cs typeface="Arial MT"/>
              </a:rPr>
              <a:t>also perform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20" dirty="0">
                <a:latin typeface="Arial"/>
                <a:cs typeface="Arial"/>
              </a:rPr>
              <a:t>out-of-order </a:t>
            </a:r>
            <a:r>
              <a:rPr sz="1800" b="1" dirty="0">
                <a:latin typeface="Arial"/>
                <a:cs typeface="Arial"/>
              </a:rPr>
              <a:t>execution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internally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reordering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memory </a:t>
            </a:r>
            <a:r>
              <a:rPr sz="1800" dirty="0">
                <a:latin typeface="Arial MT"/>
                <a:cs typeface="Arial MT"/>
              </a:rPr>
              <a:t>loads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utilize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CPU </a:t>
            </a:r>
            <a:r>
              <a:rPr sz="1800" dirty="0">
                <a:latin typeface="Arial MT"/>
                <a:cs typeface="Arial MT"/>
              </a:rPr>
              <a:t>pipelines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subsystems.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 descr="A close-up code fragment showing two variable assignments: flag = 1; and turn = 2;."/>
          <p:cNvGrpSpPr/>
          <p:nvPr/>
        </p:nvGrpSpPr>
        <p:grpSpPr>
          <a:xfrm>
            <a:off x="6722999" y="2590816"/>
            <a:ext cx="3314700" cy="1200150"/>
            <a:chOff x="6722999" y="2590816"/>
            <a:chExt cx="3314700" cy="1200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2524" y="2600341"/>
              <a:ext cx="3295649" cy="11810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27762" y="2595578"/>
              <a:ext cx="3305175" cy="1190625"/>
            </a:xfrm>
            <a:custGeom>
              <a:avLst/>
              <a:gdLst/>
              <a:ahLst/>
              <a:cxnLst/>
              <a:rect l="l" t="t" r="r" b="b"/>
              <a:pathLst>
                <a:path w="3305175" h="1190625">
                  <a:moveTo>
                    <a:pt x="0" y="0"/>
                  </a:moveTo>
                  <a:lnTo>
                    <a:pt x="3305174" y="0"/>
                  </a:lnTo>
                  <a:lnTo>
                    <a:pt x="3305174" y="1190624"/>
                  </a:lnTo>
                  <a:lnTo>
                    <a:pt x="0" y="11906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20125" y="4271230"/>
            <a:ext cx="47205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might </a:t>
            </a:r>
            <a:r>
              <a:rPr sz="1800" b="1" dirty="0">
                <a:latin typeface="Arial"/>
                <a:cs typeface="Arial"/>
              </a:rPr>
              <a:t>write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turn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800" b="1" spc="-3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2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Arial"/>
                <a:cs typeface="Arial"/>
              </a:rPr>
              <a:t>before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flag</a:t>
            </a:r>
            <a:endParaRPr sz="1800">
              <a:latin typeface="Courier New"/>
              <a:cs typeface="Courier New"/>
            </a:endParaRPr>
          </a:p>
          <a:p>
            <a:pPr marL="12700" marR="162560">
              <a:lnSpc>
                <a:spcPct val="100000"/>
              </a:lnSpc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8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1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thinks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faster,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though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lists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them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around.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375" y="1435436"/>
            <a:ext cx="53708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Why</a:t>
            </a:r>
            <a:r>
              <a:rPr sz="2500" spc="-7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Dekker</a:t>
            </a:r>
            <a:r>
              <a:rPr sz="2500" spc="-7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Fails</a:t>
            </a:r>
            <a:r>
              <a:rPr sz="2500" spc="-7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on</a:t>
            </a:r>
            <a:r>
              <a:rPr sz="2500" spc="-7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Modern</a:t>
            </a:r>
            <a:r>
              <a:rPr sz="2500" spc="-7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0F2044"/>
                </a:solidFill>
                <a:latin typeface="Georgia"/>
                <a:cs typeface="Georgia"/>
              </a:rPr>
              <a:t>Systems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875" y="2125174"/>
            <a:ext cx="5250180" cy="413766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85090" marR="552450">
              <a:lnSpc>
                <a:spcPct val="114999"/>
              </a:lnSpc>
              <a:spcBef>
                <a:spcPts val="320"/>
              </a:spcBef>
            </a:pP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Memory</a:t>
            </a:r>
            <a:r>
              <a:rPr sz="16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operations</a:t>
            </a:r>
            <a:r>
              <a:rPr sz="16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may</a:t>
            </a:r>
            <a:r>
              <a:rPr sz="16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not</a:t>
            </a:r>
            <a:r>
              <a:rPr sz="16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happen</a:t>
            </a:r>
            <a:r>
              <a:rPr sz="16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in</a:t>
            </a:r>
            <a:r>
              <a:rPr sz="16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980000"/>
                </a:solidFill>
                <a:latin typeface="Arial"/>
                <a:cs typeface="Arial"/>
              </a:rPr>
              <a:t>program order.</a:t>
            </a:r>
            <a:endParaRPr sz="1600" dirty="0">
              <a:latin typeface="Arial"/>
              <a:cs typeface="Arial"/>
            </a:endParaRPr>
          </a:p>
          <a:p>
            <a:pPr marL="542925" marR="283845" indent="-351790">
              <a:lnSpc>
                <a:spcPct val="114999"/>
              </a:lnSpc>
              <a:spcBef>
                <a:spcPts val="1200"/>
              </a:spcBef>
              <a:buChar char="●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Even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though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code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appears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sequential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the </a:t>
            </a:r>
            <a:r>
              <a:rPr sz="1600" dirty="0">
                <a:latin typeface="Arial MT"/>
                <a:cs typeface="Arial MT"/>
              </a:rPr>
              <a:t>actual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order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which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memory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writes/reads </a:t>
            </a:r>
            <a:r>
              <a:rPr sz="1600" b="1" dirty="0">
                <a:latin typeface="Arial"/>
                <a:cs typeface="Arial"/>
              </a:rPr>
              <a:t>become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visible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other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threads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vary.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 MT"/>
              <a:buChar char="●"/>
            </a:pPr>
            <a:endParaRPr sz="1600" dirty="0">
              <a:latin typeface="Arial MT"/>
              <a:cs typeface="Arial MT"/>
            </a:endParaRPr>
          </a:p>
          <a:p>
            <a:pPr marL="542925" marR="103505" indent="-351790">
              <a:lnSpc>
                <a:spcPct val="114999"/>
              </a:lnSpc>
              <a:buChar char="●"/>
              <a:tabLst>
                <a:tab pos="542925" algn="l"/>
              </a:tabLst>
            </a:pPr>
            <a:r>
              <a:rPr sz="1600" dirty="0">
                <a:latin typeface="Arial MT"/>
                <a:cs typeface="Arial MT"/>
              </a:rPr>
              <a:t>Especially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problematic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latin typeface="Arial"/>
                <a:cs typeface="Arial"/>
              </a:rPr>
              <a:t>multi-</a:t>
            </a:r>
            <a:r>
              <a:rPr sz="1600" b="1" dirty="0">
                <a:latin typeface="Arial"/>
                <a:cs typeface="Arial"/>
              </a:rPr>
              <a:t>core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systems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one </a:t>
            </a:r>
            <a:r>
              <a:rPr sz="1600" dirty="0">
                <a:latin typeface="Arial MT"/>
                <a:cs typeface="Arial MT"/>
              </a:rPr>
              <a:t>core’s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writes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cached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and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delayed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spc="-10" dirty="0">
                <a:latin typeface="Arial MT"/>
                <a:cs typeface="Arial MT"/>
              </a:rPr>
              <a:t>before </a:t>
            </a:r>
            <a:r>
              <a:rPr sz="1600" dirty="0">
                <a:latin typeface="Arial MT"/>
                <a:cs typeface="Arial MT"/>
              </a:rPr>
              <a:t>being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visible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others.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1600" dirty="0">
              <a:latin typeface="Arial MT"/>
              <a:cs typeface="Arial MT"/>
            </a:endParaRPr>
          </a:p>
          <a:p>
            <a:pPr marL="85090" marR="327025">
              <a:lnSpc>
                <a:spcPct val="114999"/>
              </a:lnSpc>
              <a:spcBef>
                <a:spcPts val="5"/>
              </a:spcBef>
            </a:pPr>
            <a:r>
              <a:rPr sz="1600" b="1" dirty="0">
                <a:latin typeface="Arial"/>
                <a:cs typeface="Arial"/>
              </a:rPr>
              <a:t>This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means</a:t>
            </a:r>
            <a:r>
              <a:rPr sz="1600" spc="-10" dirty="0">
                <a:latin typeface="Arial MT"/>
                <a:cs typeface="Arial MT"/>
              </a:rPr>
              <a:t>: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14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might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stale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values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—</a:t>
            </a:r>
            <a:r>
              <a:rPr sz="1600" spc="-25" dirty="0">
                <a:latin typeface="Arial MT"/>
                <a:cs typeface="Arial MT"/>
              </a:rPr>
              <a:t> it </a:t>
            </a:r>
            <a:r>
              <a:rPr sz="1600" dirty="0">
                <a:latin typeface="Arial MT"/>
                <a:cs typeface="Arial MT"/>
              </a:rPr>
              <a:t>sees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turn</a:t>
            </a:r>
            <a:r>
              <a:rPr sz="1600" b="1" spc="-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6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2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yet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flag</a:t>
            </a:r>
            <a:r>
              <a:rPr sz="16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600" b="1" spc="-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1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because</a:t>
            </a:r>
            <a:r>
              <a:rPr sz="1600" spc="-20" dirty="0">
                <a:latin typeface="Arial MT"/>
                <a:cs typeface="Arial MT"/>
              </a:rPr>
              <a:t> that </a:t>
            </a:r>
            <a:r>
              <a:rPr sz="1600" dirty="0">
                <a:latin typeface="Arial MT"/>
                <a:cs typeface="Arial MT"/>
              </a:rPr>
              <a:t>write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still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sitting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CPU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cache.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5400" y="1217575"/>
            <a:ext cx="5917565" cy="5270500"/>
          </a:xfrm>
          <a:custGeom>
            <a:avLst/>
            <a:gdLst/>
            <a:ahLst/>
            <a:cxnLst/>
            <a:rect l="l" t="t" r="r" b="b"/>
            <a:pathLst>
              <a:path w="5917565" h="5270500">
                <a:moveTo>
                  <a:pt x="0" y="0"/>
                </a:moveTo>
                <a:lnTo>
                  <a:pt x="5917499" y="0"/>
                </a:lnTo>
                <a:lnTo>
                  <a:pt x="5917499" y="5270399"/>
                </a:lnTo>
                <a:lnTo>
                  <a:pt x="0" y="5270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78425" y="1245896"/>
            <a:ext cx="5075555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Dekker’s</a:t>
            </a:r>
            <a:r>
              <a:rPr sz="1600" b="1" spc="-9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980000"/>
                </a:solidFill>
                <a:latin typeface="Arial"/>
                <a:cs typeface="Arial"/>
              </a:rPr>
              <a:t>Algorithm</a:t>
            </a:r>
            <a:r>
              <a:rPr sz="16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assumes</a:t>
            </a:r>
            <a:r>
              <a:rPr sz="16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strict</a:t>
            </a:r>
            <a:r>
              <a:rPr sz="16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memory</a:t>
            </a:r>
            <a:r>
              <a:rPr sz="16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980000"/>
                </a:solidFill>
                <a:latin typeface="Arial"/>
                <a:cs typeface="Arial"/>
              </a:rPr>
              <a:t>visibility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between</a:t>
            </a:r>
            <a:r>
              <a:rPr sz="1600" b="1" spc="-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980000"/>
                </a:solidFill>
                <a:latin typeface="Arial"/>
                <a:cs typeface="Arial"/>
              </a:rPr>
              <a:t>threads.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8425" y="1995704"/>
            <a:ext cx="5588000" cy="434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Dekker's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Algorithm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relies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on: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Arial MT"/>
              <a:buChar char="●"/>
            </a:pPr>
            <a:endParaRPr sz="1600">
              <a:latin typeface="Arial MT"/>
              <a:cs typeface="Arial MT"/>
            </a:endParaRPr>
          </a:p>
          <a:p>
            <a:pPr marL="926465" lvl="1" indent="-397510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thread’s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writes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variables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seen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290"/>
              </a:spcBef>
            </a:pPr>
            <a:r>
              <a:rPr sz="1600" b="1" spc="-10" dirty="0">
                <a:latin typeface="Arial"/>
                <a:cs typeface="Arial"/>
              </a:rPr>
              <a:t>immediately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other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threads.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600">
              <a:latin typeface="Arial MT"/>
              <a:cs typeface="Arial MT"/>
            </a:endParaRPr>
          </a:p>
          <a:p>
            <a:pPr marL="927100" marR="103505" lvl="1" indent="-398145">
              <a:lnSpc>
                <a:spcPct val="114999"/>
              </a:lnSpc>
              <a:buAutoNum type="arabicPeriod" startAt="2"/>
              <a:tabLst>
                <a:tab pos="927100" algn="l"/>
              </a:tabLst>
            </a:pP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operations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occurring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exactly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order written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70"/>
              </a:spcBef>
              <a:buFont typeface="Arial MT"/>
              <a:buAutoNum type="arabicPeriod" startAt="2"/>
            </a:pPr>
            <a:endParaRPr sz="1600">
              <a:latin typeface="Arial MT"/>
              <a:cs typeface="Arial MT"/>
            </a:endParaRPr>
          </a:p>
          <a:p>
            <a:pPr marL="469900" marR="53340" indent="-35179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These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assumptions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were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valid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for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older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single-</a:t>
            </a:r>
            <a:r>
              <a:rPr sz="1600" b="1" dirty="0">
                <a:latin typeface="Arial"/>
                <a:cs typeface="Arial"/>
              </a:rPr>
              <a:t>core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or </a:t>
            </a:r>
            <a:r>
              <a:rPr sz="1600" b="1" dirty="0">
                <a:latin typeface="Arial"/>
                <a:cs typeface="Arial"/>
              </a:rPr>
              <a:t>simpler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CPU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models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but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break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on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modern architectures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65"/>
              </a:spcBef>
            </a:pPr>
            <a:endParaRPr sz="1600">
              <a:latin typeface="Arial MT"/>
              <a:cs typeface="Arial MT"/>
            </a:endParaRPr>
          </a:p>
          <a:p>
            <a:pPr marL="12700" marR="9525">
              <a:lnSpc>
                <a:spcPct val="114999"/>
              </a:lnSpc>
            </a:pPr>
            <a:r>
              <a:rPr sz="1600" dirty="0">
                <a:latin typeface="Arial MT"/>
                <a:cs typeface="Arial MT"/>
              </a:rPr>
              <a:t>Without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enforcing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visibility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(e.g.,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atomics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memory </a:t>
            </a:r>
            <a:r>
              <a:rPr sz="1600" dirty="0">
                <a:latin typeface="Arial MT"/>
                <a:cs typeface="Arial MT"/>
              </a:rPr>
              <a:t>fences),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both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threads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could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believe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it’s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their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turn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enter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critical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section.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53708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5" dirty="0"/>
              <a:t> </a:t>
            </a:r>
            <a:r>
              <a:rPr dirty="0"/>
              <a:t>Dekker</a:t>
            </a:r>
            <a:r>
              <a:rPr spc="-70" dirty="0"/>
              <a:t> </a:t>
            </a:r>
            <a:r>
              <a:rPr dirty="0"/>
              <a:t>Fails</a:t>
            </a:r>
            <a:r>
              <a:rPr spc="-75" dirty="0"/>
              <a:t> </a:t>
            </a:r>
            <a:r>
              <a:rPr dirty="0"/>
              <a:t>on</a:t>
            </a:r>
            <a:r>
              <a:rPr spc="-70" dirty="0"/>
              <a:t> </a:t>
            </a:r>
            <a:r>
              <a:rPr dirty="0"/>
              <a:t>Modern</a:t>
            </a:r>
            <a:r>
              <a:rPr spc="-7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474" y="1972774"/>
            <a:ext cx="5464810" cy="4704080"/>
          </a:xfrm>
          <a:custGeom>
            <a:avLst/>
            <a:gdLst/>
            <a:ahLst/>
            <a:cxnLst/>
            <a:rect l="l" t="t" r="r" b="b"/>
            <a:pathLst>
              <a:path w="5464810" h="4704080">
                <a:moveTo>
                  <a:pt x="0" y="0"/>
                </a:moveTo>
                <a:lnTo>
                  <a:pt x="5464199" y="0"/>
                </a:lnTo>
                <a:lnTo>
                  <a:pt x="5464199" y="4703999"/>
                </a:lnTo>
                <a:lnTo>
                  <a:pt x="0" y="4703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0375" y="1543538"/>
            <a:ext cx="5155565" cy="499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F2044"/>
                </a:solidFill>
                <a:latin typeface="Georgia"/>
                <a:cs typeface="Georgia"/>
              </a:rPr>
              <a:t>Race</a:t>
            </a:r>
            <a:r>
              <a:rPr sz="1800" spc="-4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Conditions</a:t>
            </a:r>
            <a:r>
              <a:rPr sz="1800" spc="-4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F2044"/>
                </a:solidFill>
                <a:latin typeface="Georgia"/>
                <a:cs typeface="Georgia"/>
              </a:rPr>
              <a:t>May</a:t>
            </a:r>
            <a:r>
              <a:rPr sz="1800" spc="-4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F2044"/>
                </a:solidFill>
                <a:latin typeface="Georgia"/>
                <a:cs typeface="Georgia"/>
              </a:rPr>
              <a:t>Still</a:t>
            </a:r>
            <a:r>
              <a:rPr sz="1800" spc="-4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Georgia"/>
                <a:cs typeface="Georgia"/>
              </a:rPr>
              <a:t>Occur</a:t>
            </a:r>
            <a:endParaRPr sz="1800" dirty="0">
              <a:latin typeface="Georgia"/>
              <a:cs typeface="Georgia"/>
            </a:endParaRPr>
          </a:p>
          <a:p>
            <a:pPr marL="45720" marR="163195">
              <a:lnSpc>
                <a:spcPct val="114999"/>
              </a:lnSpc>
              <a:spcBef>
                <a:spcPts val="1440"/>
              </a:spcBef>
            </a:pP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r>
              <a:rPr sz="1600" b="1" spc="-8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write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by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one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(e.g.,</a:t>
            </a:r>
            <a:r>
              <a:rPr sz="1600" b="1" spc="-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Courier New"/>
                <a:cs typeface="Courier New"/>
              </a:rPr>
              <a:t>flag1</a:t>
            </a:r>
            <a:r>
              <a:rPr sz="1600" b="1" spc="-50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980000"/>
                </a:solidFill>
                <a:latin typeface="Courier New"/>
                <a:cs typeface="Courier New"/>
              </a:rPr>
              <a:t>=</a:t>
            </a:r>
            <a:r>
              <a:rPr sz="1600" b="1" spc="-50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980000"/>
                </a:solidFill>
                <a:latin typeface="Courier New"/>
                <a:cs typeface="Courier New"/>
              </a:rPr>
              <a:t>1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)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may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not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be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seen</a:t>
            </a:r>
            <a:r>
              <a:rPr sz="16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in</a:t>
            </a:r>
            <a:r>
              <a:rPr sz="16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time</a:t>
            </a:r>
            <a:r>
              <a:rPr sz="16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by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another</a:t>
            </a:r>
            <a:r>
              <a:rPr sz="16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980000"/>
                </a:solidFill>
                <a:latin typeface="Arial"/>
                <a:cs typeface="Arial"/>
              </a:rPr>
              <a:t>thread.</a:t>
            </a:r>
            <a:endParaRPr sz="1600" dirty="0">
              <a:latin typeface="Arial"/>
              <a:cs typeface="Arial"/>
            </a:endParaRPr>
          </a:p>
          <a:p>
            <a:pPr marL="502920" marR="5080" indent="-351790">
              <a:lnSpc>
                <a:spcPct val="114999"/>
              </a:lnSpc>
              <a:spcBef>
                <a:spcPts val="1200"/>
              </a:spcBef>
              <a:buChar char="●"/>
              <a:tabLst>
                <a:tab pos="502920" algn="l"/>
              </a:tabLst>
            </a:pP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latin typeface="Arial"/>
                <a:cs typeface="Arial"/>
              </a:rPr>
              <a:t>multi-</a:t>
            </a:r>
            <a:r>
              <a:rPr sz="1600" b="1" dirty="0">
                <a:latin typeface="Arial"/>
                <a:cs typeface="Arial"/>
              </a:rPr>
              <a:t>core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CPU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core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cache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memory separately.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 MT"/>
              <a:buChar char="●"/>
            </a:pPr>
            <a:endParaRPr sz="1600" dirty="0">
              <a:latin typeface="Arial MT"/>
              <a:cs typeface="Arial MT"/>
            </a:endParaRPr>
          </a:p>
          <a:p>
            <a:pPr marL="502920" marR="93980" indent="-351790">
              <a:lnSpc>
                <a:spcPct val="114999"/>
              </a:lnSpc>
              <a:buChar char="●"/>
              <a:tabLst>
                <a:tab pos="502920" algn="l"/>
              </a:tabLst>
            </a:pPr>
            <a:r>
              <a:rPr sz="1600" dirty="0">
                <a:latin typeface="Arial MT"/>
                <a:cs typeface="Arial MT"/>
              </a:rPr>
              <a:t>When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Thread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writes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flag1</a:t>
            </a:r>
            <a:r>
              <a:rPr sz="16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=</a:t>
            </a:r>
            <a:r>
              <a:rPr sz="16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1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write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may </a:t>
            </a:r>
            <a:r>
              <a:rPr sz="1600" b="1" dirty="0">
                <a:latin typeface="Arial"/>
                <a:cs typeface="Arial"/>
              </a:rPr>
              <a:t>stay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its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local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cache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short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5" dirty="0">
                <a:latin typeface="Arial"/>
                <a:cs typeface="Arial"/>
              </a:rPr>
              <a:t>not </a:t>
            </a:r>
            <a:r>
              <a:rPr sz="1600" b="1" spc="-10" dirty="0">
                <a:latin typeface="Arial"/>
                <a:cs typeface="Arial"/>
              </a:rPr>
              <a:t>immediately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reach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main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memory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Arial MT"/>
              <a:buChar char="●"/>
            </a:pPr>
            <a:endParaRPr sz="1600" dirty="0">
              <a:latin typeface="Arial MT"/>
              <a:cs typeface="Arial MT"/>
            </a:endParaRPr>
          </a:p>
          <a:p>
            <a:pPr marL="502920" marR="83820" indent="-351790">
              <a:lnSpc>
                <a:spcPct val="114999"/>
              </a:lnSpc>
              <a:spcBef>
                <a:spcPts val="5"/>
              </a:spcBef>
              <a:buChar char="●"/>
              <a:tabLst>
                <a:tab pos="502920" algn="l"/>
              </a:tabLst>
            </a:pPr>
            <a:r>
              <a:rPr sz="1600" dirty="0">
                <a:latin typeface="Arial MT"/>
                <a:cs typeface="Arial MT"/>
              </a:rPr>
              <a:t>Meanwhile,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Thread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2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different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core, </a:t>
            </a:r>
            <a:r>
              <a:rPr sz="1600" dirty="0">
                <a:latin typeface="Arial MT"/>
                <a:cs typeface="Arial MT"/>
              </a:rPr>
              <a:t>may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read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old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value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flag1</a:t>
            </a:r>
            <a:r>
              <a:rPr sz="16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==</a:t>
            </a:r>
            <a:r>
              <a:rPr sz="16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because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it </a:t>
            </a:r>
            <a:r>
              <a:rPr sz="1600" dirty="0">
                <a:latin typeface="Arial MT"/>
                <a:cs typeface="Arial MT"/>
              </a:rPr>
              <a:t>hasn't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seen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update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yet.</a:t>
            </a:r>
            <a:endParaRPr sz="1600" dirty="0">
              <a:latin typeface="Arial MT"/>
              <a:cs typeface="Arial MT"/>
            </a:endParaRPr>
          </a:p>
          <a:p>
            <a:pPr marL="45720" marR="212725">
              <a:lnSpc>
                <a:spcPct val="114999"/>
              </a:lnSpc>
              <a:spcBef>
                <a:spcPts val="1200"/>
              </a:spcBef>
            </a:pPr>
            <a:r>
              <a:rPr sz="1600" b="1" dirty="0">
                <a:latin typeface="Arial"/>
                <a:cs typeface="Arial"/>
              </a:rPr>
              <a:t>This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breaks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synchronization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logic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because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threads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"/>
                <a:cs typeface="Arial"/>
              </a:rPr>
              <a:t>immediate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visibility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shared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flags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to </a:t>
            </a:r>
            <a:r>
              <a:rPr sz="1600" dirty="0">
                <a:latin typeface="Arial MT"/>
                <a:cs typeface="Arial MT"/>
              </a:rPr>
              <a:t>coordinate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access.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53974" y="1973775"/>
            <a:ext cx="6090920" cy="4575175"/>
          </a:xfrm>
          <a:custGeom>
            <a:avLst/>
            <a:gdLst/>
            <a:ahLst/>
            <a:cxnLst/>
            <a:rect l="l" t="t" r="r" b="b"/>
            <a:pathLst>
              <a:path w="6090920" h="4575175">
                <a:moveTo>
                  <a:pt x="0" y="0"/>
                </a:moveTo>
                <a:lnTo>
                  <a:pt x="6090299" y="0"/>
                </a:lnTo>
                <a:lnTo>
                  <a:pt x="6090299" y="4574699"/>
                </a:lnTo>
                <a:lnTo>
                  <a:pt x="0" y="4574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26999" y="2002096"/>
            <a:ext cx="5811520" cy="440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895">
              <a:lnSpc>
                <a:spcPct val="114999"/>
              </a:lnSpc>
              <a:spcBef>
                <a:spcPts val="100"/>
              </a:spcBef>
            </a:pP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Conditions</a:t>
            </a:r>
            <a:r>
              <a:rPr sz="1600" b="1" spc="-5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like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Courier New"/>
                <a:cs typeface="Courier New"/>
              </a:rPr>
              <a:t>while</a:t>
            </a:r>
            <a:r>
              <a:rPr sz="1600" b="1" spc="-5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980000"/>
                </a:solidFill>
                <a:latin typeface="Courier New"/>
                <a:cs typeface="Courier New"/>
              </a:rPr>
              <a:t>(flag2</a:t>
            </a:r>
            <a:r>
              <a:rPr sz="1600" b="1" spc="-5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980000"/>
                </a:solidFill>
                <a:latin typeface="Courier New"/>
                <a:cs typeface="Courier New"/>
              </a:rPr>
              <a:t>&amp;&amp;</a:t>
            </a:r>
            <a:r>
              <a:rPr sz="1600" b="1" spc="-5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980000"/>
                </a:solidFill>
                <a:latin typeface="Courier New"/>
                <a:cs typeface="Courier New"/>
              </a:rPr>
              <a:t>turn</a:t>
            </a:r>
            <a:r>
              <a:rPr sz="1600" b="1" spc="-5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980000"/>
                </a:solidFill>
                <a:latin typeface="Courier New"/>
                <a:cs typeface="Courier New"/>
              </a:rPr>
              <a:t>==</a:t>
            </a:r>
            <a:r>
              <a:rPr sz="1600" b="1" spc="-5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980000"/>
                </a:solidFill>
                <a:latin typeface="Courier New"/>
                <a:cs typeface="Courier New"/>
              </a:rPr>
              <a:t>2)</a:t>
            </a:r>
            <a:r>
              <a:rPr sz="1600" b="1" spc="-520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may</a:t>
            </a:r>
            <a:r>
              <a:rPr sz="16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fail</a:t>
            </a:r>
            <a:r>
              <a:rPr sz="1600" b="1" spc="-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to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detect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980000"/>
                </a:solidFill>
                <a:latin typeface="Arial"/>
                <a:cs typeface="Arial"/>
              </a:rPr>
              <a:t>true</a:t>
            </a:r>
            <a:r>
              <a:rPr sz="16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980000"/>
                </a:solidFill>
                <a:latin typeface="Arial"/>
                <a:cs typeface="Arial"/>
              </a:rPr>
              <a:t>state.</a:t>
            </a:r>
            <a:endParaRPr sz="1600">
              <a:latin typeface="Arial"/>
              <a:cs typeface="Arial"/>
            </a:endParaRPr>
          </a:p>
          <a:p>
            <a:pPr marL="469900" marR="8890" indent="-35179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These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spc="-20" dirty="0">
                <a:latin typeface="Arial"/>
                <a:cs typeface="Arial"/>
              </a:rPr>
              <a:t>while-</a:t>
            </a:r>
            <a:r>
              <a:rPr sz="1600" b="1" dirty="0">
                <a:latin typeface="Arial"/>
                <a:cs typeface="Arial"/>
              </a:rPr>
              <a:t>loops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are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guard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conditions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—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they’re </a:t>
            </a:r>
            <a:r>
              <a:rPr sz="1600" dirty="0">
                <a:latin typeface="Arial MT"/>
                <a:cs typeface="Arial MT"/>
              </a:rPr>
              <a:t>supposed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block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until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it’s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safe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enter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critical section.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Arial MT"/>
              <a:buChar char="●"/>
            </a:pPr>
            <a:endParaRPr sz="1600">
              <a:latin typeface="Arial MT"/>
              <a:cs typeface="Arial MT"/>
            </a:endParaRPr>
          </a:p>
          <a:p>
            <a:pPr marL="469900" marR="5080" indent="-35179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If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"/>
                <a:cs typeface="Arial"/>
              </a:rPr>
              <a:t>instruction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reordering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or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delayed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visibility </a:t>
            </a:r>
            <a:r>
              <a:rPr sz="1600" dirty="0">
                <a:latin typeface="Arial MT"/>
                <a:cs typeface="Arial MT"/>
              </a:rPr>
              <a:t>causes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one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miss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update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other,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condition </a:t>
            </a:r>
            <a:r>
              <a:rPr sz="1600" b="1" dirty="0">
                <a:latin typeface="Arial"/>
                <a:cs typeface="Arial"/>
              </a:rPr>
              <a:t>fails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block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even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though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should.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1600" b="1" dirty="0">
                <a:latin typeface="Arial"/>
                <a:cs typeface="Arial"/>
              </a:rPr>
              <a:t>This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leads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to:</a:t>
            </a:r>
            <a:endParaRPr sz="1600">
              <a:latin typeface="Arial"/>
              <a:cs typeface="Arial"/>
            </a:endParaRPr>
          </a:p>
          <a:p>
            <a:pPr marL="469265" indent="-351155">
              <a:lnSpc>
                <a:spcPct val="100000"/>
              </a:lnSpc>
              <a:spcBef>
                <a:spcPts val="14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Threads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skipping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wait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Arial MT"/>
              <a:buChar char="●"/>
            </a:pPr>
            <a:endParaRPr sz="1600">
              <a:latin typeface="Arial MT"/>
              <a:cs typeface="Arial MT"/>
            </a:endParaRPr>
          </a:p>
          <a:p>
            <a:pPr marL="469900" marR="398145" indent="-35179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sz="1600" b="1" dirty="0">
                <a:latin typeface="Arial"/>
                <a:cs typeface="Arial"/>
              </a:rPr>
              <a:t>Both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thinking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it's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their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turn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due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stale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reordered values.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5292090" cy="449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Condition</a:t>
            </a:r>
            <a:r>
              <a:rPr sz="18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Variables</a:t>
            </a:r>
            <a:endParaRPr sz="1800">
              <a:latin typeface="Georgia"/>
              <a:cs typeface="Georgia"/>
            </a:endParaRPr>
          </a:p>
          <a:p>
            <a:pPr marL="454025" marR="587375" indent="-367030">
              <a:lnSpc>
                <a:spcPct val="100000"/>
              </a:lnSpc>
              <a:spcBef>
                <a:spcPts val="1780"/>
              </a:spcBef>
              <a:buChar char="●"/>
              <a:tabLst>
                <a:tab pos="45402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condition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variable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synchronization </a:t>
            </a:r>
            <a:r>
              <a:rPr sz="1800" dirty="0">
                <a:latin typeface="Arial MT"/>
                <a:cs typeface="Arial MT"/>
              </a:rPr>
              <a:t>primitive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wait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specific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condition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become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true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before proceeding.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454025" marR="5080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454025" algn="l"/>
              </a:tabLst>
            </a:pP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conjunction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mutex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avoid busy-</a:t>
            </a:r>
            <a:r>
              <a:rPr sz="1800" dirty="0">
                <a:latin typeface="Arial MT"/>
                <a:cs typeface="Arial MT"/>
              </a:rPr>
              <a:t>waiting,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repeatedly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checks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condition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loop,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wasting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cycles.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454025" indent="-366395">
              <a:lnSpc>
                <a:spcPct val="100000"/>
              </a:lnSpc>
              <a:spcBef>
                <a:spcPts val="5"/>
              </a:spcBef>
              <a:buChar char="●"/>
              <a:tabLst>
                <a:tab pos="454025" algn="l"/>
              </a:tabLst>
            </a:pPr>
            <a:r>
              <a:rPr sz="1800" dirty="0">
                <a:latin typeface="Arial MT"/>
                <a:cs typeface="Arial MT"/>
              </a:rPr>
              <a:t>Threads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can:</a:t>
            </a:r>
            <a:endParaRPr sz="1800">
              <a:latin typeface="Arial MT"/>
              <a:cs typeface="Arial MT"/>
            </a:endParaRPr>
          </a:p>
          <a:p>
            <a:pPr marL="911225" lvl="1" indent="-419100">
              <a:lnSpc>
                <a:spcPct val="100000"/>
              </a:lnSpc>
              <a:buFont typeface="Arial MT"/>
              <a:buAutoNum type="arabicPeriod"/>
              <a:tabLst>
                <a:tab pos="911225" algn="l"/>
              </a:tabLst>
            </a:pPr>
            <a:r>
              <a:rPr sz="1800" b="1" dirty="0">
                <a:latin typeface="Arial"/>
                <a:cs typeface="Arial"/>
              </a:rPr>
              <a:t>Wait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condition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another</a:t>
            </a:r>
            <a:endParaRPr sz="1800">
              <a:latin typeface="Arial MT"/>
              <a:cs typeface="Arial MT"/>
            </a:endParaRPr>
          </a:p>
          <a:p>
            <a:pPr marL="911225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signals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condition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met.</a:t>
            </a:r>
            <a:endParaRPr sz="1800">
              <a:latin typeface="Arial MT"/>
              <a:cs typeface="Arial MT"/>
            </a:endParaRPr>
          </a:p>
          <a:p>
            <a:pPr marL="911225" marR="295275" lvl="1" indent="-419734">
              <a:lnSpc>
                <a:spcPct val="114999"/>
              </a:lnSpc>
              <a:buFont typeface="Arial MT"/>
              <a:buAutoNum type="arabicPeriod" startAt="2"/>
              <a:tabLst>
                <a:tab pos="911225" algn="l"/>
              </a:tabLst>
            </a:pPr>
            <a:r>
              <a:rPr sz="1800" b="1" dirty="0">
                <a:latin typeface="Arial"/>
                <a:cs typeface="Arial"/>
              </a:rPr>
              <a:t>Signal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condition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wake</a:t>
            </a:r>
            <a:r>
              <a:rPr sz="1800" spc="-25" dirty="0">
                <a:latin typeface="Arial MT"/>
                <a:cs typeface="Arial MT"/>
              </a:rPr>
              <a:t> up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waiting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threads.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567950" y="3043099"/>
            <a:ext cx="4624070" cy="129349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Recommended</a:t>
            </a:r>
            <a:r>
              <a:rPr sz="18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reading:</a:t>
            </a:r>
            <a:endParaRPr sz="1800">
              <a:latin typeface="Arial MT"/>
              <a:cs typeface="Arial MT"/>
            </a:endParaRPr>
          </a:p>
          <a:p>
            <a:pPr marL="85725" marR="184785">
              <a:lnSpc>
                <a:spcPct val="100000"/>
              </a:lnSpc>
            </a:pPr>
            <a:r>
              <a:rPr sz="1800" u="heavy" spc="-10" dirty="0">
                <a:solidFill>
                  <a:srgbClr val="00688C"/>
                </a:solidFill>
                <a:uFill>
                  <a:solidFill>
                    <a:srgbClr val="00688C"/>
                  </a:solidFill>
                </a:uFill>
                <a:latin typeface="Arial MT"/>
                <a:cs typeface="Arial MT"/>
                <a:hlinkClick r:id="rId2"/>
              </a:rPr>
              <a:t>http://www.robert-puskas.info/2019/03/over</a:t>
            </a:r>
            <a:r>
              <a:rPr sz="1800" spc="-10" dirty="0">
                <a:solidFill>
                  <a:srgbClr val="00688C"/>
                </a:solidFill>
                <a:latin typeface="Arial MT"/>
                <a:cs typeface="Arial MT"/>
              </a:rPr>
              <a:t> </a:t>
            </a:r>
            <a:r>
              <a:rPr sz="1800" u="heavy" spc="-10" dirty="0">
                <a:solidFill>
                  <a:srgbClr val="00688C"/>
                </a:solidFill>
                <a:uFill>
                  <a:solidFill>
                    <a:srgbClr val="00688C"/>
                  </a:solidFill>
                </a:uFill>
                <a:latin typeface="Arial MT"/>
                <a:cs typeface="Arial MT"/>
                <a:hlinkClick r:id="rId2"/>
              </a:rPr>
              <a:t>view-cpp-concurrency-pt2.html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Condition</a:t>
            </a:r>
            <a:r>
              <a:rPr sz="1800" spc="-35" dirty="0"/>
              <a:t> </a:t>
            </a:r>
            <a:r>
              <a:rPr sz="1800" spc="-10" dirty="0"/>
              <a:t>Variables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70774" y="2590031"/>
            <a:ext cx="393509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33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Thread</a:t>
            </a:r>
            <a:r>
              <a:rPr sz="1800" b="1" spc="-7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0F2044"/>
                </a:solidFill>
                <a:latin typeface="Arial"/>
                <a:cs typeface="Arial"/>
              </a:rPr>
              <a:t>‘A’</a:t>
            </a:r>
            <a:r>
              <a:rPr sz="1800" b="1" spc="-10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is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continuously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polling</a:t>
            </a:r>
            <a:r>
              <a:rPr sz="18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F2044"/>
                </a:solidFill>
                <a:latin typeface="Arial"/>
                <a:cs typeface="Arial"/>
              </a:rPr>
              <a:t>f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check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if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it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becomes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true.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This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most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way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wait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a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particular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condition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become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true,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which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can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be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implemented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a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simple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loop.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Thread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‘A’</a:t>
            </a:r>
            <a:r>
              <a:rPr sz="1800" spc="-7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polls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f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continuously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until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it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becomes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true,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which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resource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hungry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operation.</a:t>
            </a:r>
            <a:endParaRPr sz="1800">
              <a:latin typeface="Arial MT"/>
              <a:cs typeface="Arial MT"/>
            </a:endParaRPr>
          </a:p>
          <a:p>
            <a:pPr marL="12700" marR="118110">
              <a:lnSpc>
                <a:spcPct val="100000"/>
              </a:lnSpc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Because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that,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this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approach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also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called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busy-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wait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A diagram of two threads, A and B, where Thread A repeatedly runs assertions on a boolean flag while Thread B eventually sets the flag to true.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019675" y="1317824"/>
            <a:ext cx="6678295" cy="5016500"/>
            <a:chOff x="5019675" y="1317824"/>
            <a:chExt cx="6678295" cy="5016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6407" y="1830851"/>
              <a:ext cx="5752498" cy="40343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24437" y="1322587"/>
              <a:ext cx="6668770" cy="5006975"/>
            </a:xfrm>
            <a:custGeom>
              <a:avLst/>
              <a:gdLst/>
              <a:ahLst/>
              <a:cxnLst/>
              <a:rect l="l" t="t" r="r" b="b"/>
              <a:pathLst>
                <a:path w="6668770" h="5006975">
                  <a:moveTo>
                    <a:pt x="0" y="0"/>
                  </a:moveTo>
                  <a:lnTo>
                    <a:pt x="6668325" y="0"/>
                  </a:lnTo>
                  <a:lnTo>
                    <a:pt x="6668325" y="5006774"/>
                  </a:lnTo>
                  <a:lnTo>
                    <a:pt x="0" y="50067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6324" y="6359511"/>
            <a:ext cx="20104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  <a:hlinkClick r:id="rId3"/>
              </a:rPr>
              <a:t>http://www.robert-</a:t>
            </a:r>
            <a:r>
              <a:rPr sz="800" spc="-10" dirty="0">
                <a:latin typeface="Arial MT"/>
                <a:cs typeface="Arial MT"/>
                <a:hlinkClick r:id="rId3"/>
              </a:rPr>
              <a:t>puskas.info/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203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Condition</a:t>
            </a:r>
            <a:r>
              <a:rPr sz="18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Variables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A5F2E3-2B30-7AE8-C458-6F45DF137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4437" y="1322587"/>
            <a:ext cx="6668770" cy="5006975"/>
            <a:chOff x="5024437" y="1322587"/>
            <a:chExt cx="6668770" cy="5006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6407" y="1830851"/>
              <a:ext cx="5752498" cy="40343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4437" y="1322587"/>
              <a:ext cx="6668770" cy="5006975"/>
            </a:xfrm>
            <a:custGeom>
              <a:avLst/>
              <a:gdLst/>
              <a:ahLst/>
              <a:cxnLst/>
              <a:rect l="l" t="t" r="r" b="b"/>
              <a:pathLst>
                <a:path w="6668770" h="5006975">
                  <a:moveTo>
                    <a:pt x="0" y="0"/>
                  </a:moveTo>
                  <a:lnTo>
                    <a:pt x="6668325" y="0"/>
                  </a:lnTo>
                  <a:lnTo>
                    <a:pt x="6668325" y="5006774"/>
                  </a:lnTo>
                  <a:lnTo>
                    <a:pt x="0" y="50067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6ABFB1-0E05-FA5B-6723-7026AC77F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7749" y="3364350"/>
            <a:ext cx="6128385" cy="2894330"/>
            <a:chOff x="497749" y="3364350"/>
            <a:chExt cx="6128385" cy="2894330"/>
          </a:xfrm>
        </p:grpSpPr>
        <p:sp>
          <p:nvSpPr>
            <p:cNvPr id="7" name="object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97749" y="3364350"/>
              <a:ext cx="6128385" cy="2894330"/>
            </a:xfrm>
            <a:custGeom>
              <a:avLst/>
              <a:gdLst/>
              <a:ahLst/>
              <a:cxnLst/>
              <a:rect l="l" t="t" r="r" b="b"/>
              <a:pathLst>
                <a:path w="6128384" h="2894329">
                  <a:moveTo>
                    <a:pt x="6128099" y="2893799"/>
                  </a:moveTo>
                  <a:lnTo>
                    <a:pt x="0" y="2893799"/>
                  </a:lnTo>
                  <a:lnTo>
                    <a:pt x="0" y="0"/>
                  </a:lnTo>
                  <a:lnTo>
                    <a:pt x="6128099" y="0"/>
                  </a:lnTo>
                  <a:lnTo>
                    <a:pt x="6128099" y="2893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7749" y="3364350"/>
              <a:ext cx="6128385" cy="2894330"/>
            </a:xfrm>
            <a:custGeom>
              <a:avLst/>
              <a:gdLst/>
              <a:ahLst/>
              <a:cxnLst/>
              <a:rect l="l" t="t" r="r" b="b"/>
              <a:pathLst>
                <a:path w="6128384" h="2894329">
                  <a:moveTo>
                    <a:pt x="0" y="0"/>
                  </a:moveTo>
                  <a:lnTo>
                    <a:pt x="6128099" y="0"/>
                  </a:lnTo>
                  <a:lnTo>
                    <a:pt x="6128099" y="2893799"/>
                  </a:lnTo>
                  <a:lnTo>
                    <a:pt x="0" y="2893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A00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570774" y="2590031"/>
            <a:ext cx="5892165" cy="34342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91055">
              <a:lnSpc>
                <a:spcPct val="100000"/>
              </a:lnSpc>
              <a:spcBef>
                <a:spcPts val="100"/>
              </a:spcBef>
            </a:pPr>
            <a:r>
              <a:rPr dirty="0"/>
              <a:t>Thread</a:t>
            </a:r>
            <a:r>
              <a:rPr spc="-75" dirty="0"/>
              <a:t> </a:t>
            </a:r>
            <a:r>
              <a:rPr spc="-35" dirty="0"/>
              <a:t>‘A’</a:t>
            </a:r>
            <a:r>
              <a:rPr spc="-10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continuously</a:t>
            </a:r>
            <a:r>
              <a:rPr spc="-40" dirty="0"/>
              <a:t> </a:t>
            </a:r>
            <a:r>
              <a:rPr dirty="0"/>
              <a:t>polling</a:t>
            </a:r>
            <a:r>
              <a:rPr spc="-40" dirty="0"/>
              <a:t> </a:t>
            </a:r>
            <a:r>
              <a:rPr spc="-50" dirty="0"/>
              <a:t>f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check</a:t>
            </a:r>
            <a:r>
              <a:rPr spc="-25" dirty="0"/>
              <a:t> </a:t>
            </a:r>
            <a:r>
              <a:rPr dirty="0"/>
              <a:t>if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dirty="0"/>
              <a:t>becomes</a:t>
            </a:r>
            <a:r>
              <a:rPr spc="-20" dirty="0"/>
              <a:t> </a:t>
            </a:r>
            <a:r>
              <a:rPr spc="-10" dirty="0"/>
              <a:t>true.</a:t>
            </a: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pc="-10" dirty="0"/>
          </a:p>
          <a:p>
            <a:pPr marL="12700" marR="229870">
              <a:lnSpc>
                <a:spcPct val="100000"/>
              </a:lnSpc>
            </a:pP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Polling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means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980000"/>
                </a:solidFill>
              </a:rPr>
              <a:t>repeatedly</a:t>
            </a:r>
            <a:r>
              <a:rPr sz="1500" spc="-30" dirty="0">
                <a:solidFill>
                  <a:srgbClr val="980000"/>
                </a:solidFill>
              </a:rPr>
              <a:t> </a:t>
            </a:r>
            <a:r>
              <a:rPr sz="1500" dirty="0">
                <a:solidFill>
                  <a:srgbClr val="980000"/>
                </a:solidFill>
              </a:rPr>
              <a:t>checking</a:t>
            </a:r>
            <a:r>
              <a:rPr sz="1500" spc="-35" dirty="0">
                <a:solidFill>
                  <a:srgbClr val="980000"/>
                </a:solidFill>
              </a:rPr>
              <a:t> </a:t>
            </a:r>
            <a:r>
              <a:rPr sz="1500" dirty="0">
                <a:solidFill>
                  <a:srgbClr val="980000"/>
                </a:solidFill>
              </a:rPr>
              <a:t>a</a:t>
            </a:r>
            <a:r>
              <a:rPr sz="1500" spc="-30" dirty="0">
                <a:solidFill>
                  <a:srgbClr val="980000"/>
                </a:solidFill>
              </a:rPr>
              <a:t> </a:t>
            </a:r>
            <a:r>
              <a:rPr sz="1500" dirty="0">
                <a:solidFill>
                  <a:srgbClr val="980000"/>
                </a:solidFill>
              </a:rPr>
              <a:t>condition</a:t>
            </a:r>
            <a:r>
              <a:rPr sz="1500" spc="-35" dirty="0">
                <a:solidFill>
                  <a:srgbClr val="980000"/>
                </a:solidFill>
              </a:rPr>
              <a:t> </a:t>
            </a:r>
            <a:r>
              <a:rPr sz="1500" dirty="0">
                <a:solidFill>
                  <a:srgbClr val="980000"/>
                </a:solidFill>
              </a:rPr>
              <a:t>in</a:t>
            </a:r>
            <a:r>
              <a:rPr sz="1500" spc="-30" dirty="0">
                <a:solidFill>
                  <a:srgbClr val="980000"/>
                </a:solidFill>
              </a:rPr>
              <a:t> </a:t>
            </a:r>
            <a:r>
              <a:rPr sz="1500" dirty="0">
                <a:solidFill>
                  <a:srgbClr val="980000"/>
                </a:solidFill>
              </a:rPr>
              <a:t>a</a:t>
            </a:r>
            <a:r>
              <a:rPr sz="1500" spc="-35" dirty="0">
                <a:solidFill>
                  <a:srgbClr val="980000"/>
                </a:solidFill>
              </a:rPr>
              <a:t> </a:t>
            </a:r>
            <a:r>
              <a:rPr sz="1500" dirty="0">
                <a:solidFill>
                  <a:srgbClr val="980000"/>
                </a:solidFill>
              </a:rPr>
              <a:t>loop</a:t>
            </a:r>
            <a:r>
              <a:rPr sz="1500" spc="5" dirty="0">
                <a:solidFill>
                  <a:srgbClr val="980000"/>
                </a:solidFill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without performing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any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other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useful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task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until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condition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becomes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true.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It</a:t>
            </a:r>
            <a:r>
              <a:rPr sz="1500" b="0" spc="-6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means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80000"/>
                </a:solidFill>
              </a:rPr>
              <a:t>Thread</a:t>
            </a:r>
            <a:r>
              <a:rPr sz="1500" spc="-80" dirty="0">
                <a:solidFill>
                  <a:srgbClr val="980000"/>
                </a:solidFill>
              </a:rPr>
              <a:t> </a:t>
            </a:r>
            <a:r>
              <a:rPr sz="1500" dirty="0">
                <a:solidFill>
                  <a:srgbClr val="980000"/>
                </a:solidFill>
              </a:rPr>
              <a:t>A</a:t>
            </a:r>
            <a:r>
              <a:rPr sz="1500" spc="-25" dirty="0">
                <a:solidFill>
                  <a:srgbClr val="980000"/>
                </a:solidFill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is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repeatedly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looking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at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value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of</a:t>
            </a:r>
            <a:r>
              <a:rPr sz="1500" b="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80000"/>
                </a:solidFill>
                <a:latin typeface="Courier New"/>
                <a:cs typeface="Courier New"/>
              </a:rPr>
              <a:t>f</a:t>
            </a:r>
            <a:r>
              <a:rPr sz="1500" b="0" spc="-484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in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a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loop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25" dirty="0">
                <a:solidFill>
                  <a:srgbClr val="980000"/>
                </a:solidFill>
                <a:latin typeface="Arial MT"/>
                <a:cs typeface="Arial MT"/>
              </a:rPr>
              <a:t>(or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similar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construct)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to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see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if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it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has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changed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to</a:t>
            </a:r>
            <a:r>
              <a:rPr sz="1500" b="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980000"/>
                </a:solidFill>
                <a:latin typeface="Courier New"/>
                <a:cs typeface="Courier New"/>
              </a:rPr>
              <a:t>true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.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 dirty="0">
              <a:latin typeface="Arial MT"/>
              <a:cs typeface="Arial MT"/>
            </a:endParaRPr>
          </a:p>
          <a:p>
            <a:pPr marL="466725" marR="324485" indent="-340995" algn="just">
              <a:lnSpc>
                <a:spcPct val="100000"/>
              </a:lnSpc>
              <a:buFont typeface="Arial MT"/>
              <a:buChar char="●"/>
              <a:tabLst>
                <a:tab pos="469900" algn="l"/>
              </a:tabLst>
            </a:pPr>
            <a:r>
              <a:rPr sz="1500" dirty="0">
                <a:solidFill>
                  <a:srgbClr val="980000"/>
                </a:solidFill>
              </a:rPr>
              <a:t>CPU</a:t>
            </a:r>
            <a:r>
              <a:rPr sz="1500" spc="-45" dirty="0">
                <a:solidFill>
                  <a:srgbClr val="980000"/>
                </a:solidFill>
              </a:rPr>
              <a:t> </a:t>
            </a:r>
            <a:r>
              <a:rPr sz="1500" spc="-10" dirty="0">
                <a:solidFill>
                  <a:srgbClr val="980000"/>
                </a:solidFill>
              </a:rPr>
              <a:t>Waste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:</a:t>
            </a:r>
            <a:r>
              <a:rPr sz="1500" b="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Polling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keeps</a:t>
            </a:r>
            <a:r>
              <a:rPr sz="1500" b="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CPU</a:t>
            </a:r>
            <a:r>
              <a:rPr sz="1500" b="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busy</a:t>
            </a:r>
            <a:r>
              <a:rPr sz="1500" b="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in</a:t>
            </a:r>
            <a:r>
              <a:rPr sz="1500" b="0" spc="-4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an</a:t>
            </a:r>
            <a:r>
              <a:rPr sz="1500" b="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unnecessary 	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loop,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consuming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processing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power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without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doing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meaningful 	work.</a:t>
            </a:r>
            <a:endParaRPr sz="1500" dirty="0">
              <a:latin typeface="Arial MT"/>
              <a:cs typeface="Arial MT"/>
            </a:endParaRPr>
          </a:p>
          <a:p>
            <a:pPr marL="466725" marR="74295" indent="-340995" algn="just">
              <a:lnSpc>
                <a:spcPct val="100000"/>
              </a:lnSpc>
              <a:buFont typeface="Arial MT"/>
              <a:buChar char="●"/>
              <a:tabLst>
                <a:tab pos="469900" algn="l"/>
              </a:tabLst>
            </a:pPr>
            <a:r>
              <a:rPr sz="1500" dirty="0">
                <a:solidFill>
                  <a:srgbClr val="980000"/>
                </a:solidFill>
              </a:rPr>
              <a:t>Inefficiency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: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Instead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of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sleeping</a:t>
            </a:r>
            <a:r>
              <a:rPr sz="1500" b="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or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yielding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to</a:t>
            </a:r>
            <a:r>
              <a:rPr sz="1500" b="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let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other</a:t>
            </a:r>
            <a:r>
              <a:rPr sz="1500" b="0" spc="-5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threads 	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or</a:t>
            </a:r>
            <a:r>
              <a:rPr sz="1500" b="0" spc="-7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processes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use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CPU,</a:t>
            </a:r>
            <a:r>
              <a:rPr sz="1500" b="0" spc="-5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20" dirty="0">
                <a:solidFill>
                  <a:srgbClr val="980000"/>
                </a:solidFill>
                <a:latin typeface="Arial MT"/>
                <a:cs typeface="Arial MT"/>
              </a:rPr>
              <a:t>Thread</a:t>
            </a:r>
            <a:r>
              <a:rPr sz="1500" b="0" spc="-8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A</a:t>
            </a:r>
            <a:r>
              <a:rPr sz="1500" b="0" spc="-10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constantly</a:t>
            </a:r>
            <a:r>
              <a:rPr sz="1500" b="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runs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500" b="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500" b="0" spc="-10" dirty="0">
                <a:solidFill>
                  <a:srgbClr val="980000"/>
                </a:solidFill>
                <a:latin typeface="Arial MT"/>
                <a:cs typeface="Arial MT"/>
              </a:rPr>
              <a:t>check.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6324" y="6359511"/>
            <a:ext cx="20104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  <a:hlinkClick r:id="rId3"/>
              </a:rPr>
              <a:t>http://www.robert-</a:t>
            </a:r>
            <a:r>
              <a:rPr sz="800" spc="-10" dirty="0">
                <a:latin typeface="Arial MT"/>
                <a:cs typeface="Arial MT"/>
                <a:hlinkClick r:id="rId3"/>
              </a:rPr>
              <a:t>puskas.info/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4377690" cy="131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Condition</a:t>
            </a:r>
            <a:r>
              <a:rPr sz="18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Variables</a:t>
            </a:r>
            <a:endParaRPr sz="1800">
              <a:latin typeface="Georgia"/>
              <a:cs typeface="Georgia"/>
            </a:endParaRPr>
          </a:p>
          <a:p>
            <a:pPr marL="172720" marR="5080">
              <a:lnSpc>
                <a:spcPct val="100000"/>
              </a:lnSpc>
              <a:spcBef>
                <a:spcPts val="1885"/>
              </a:spcBef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Thread</a:t>
            </a:r>
            <a:r>
              <a:rPr sz="1700" b="1" spc="-6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‘A’</a:t>
            </a:r>
            <a:r>
              <a:rPr sz="1700" b="1" spc="-10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polls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f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F2044"/>
                </a:solidFill>
                <a:latin typeface="Arial"/>
                <a:cs typeface="Arial"/>
              </a:rPr>
              <a:t>continuously,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but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F2044"/>
                </a:solidFill>
                <a:latin typeface="Arial"/>
                <a:cs typeface="Arial"/>
              </a:rPr>
              <a:t>some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sleeping</a:t>
            </a:r>
            <a:r>
              <a:rPr sz="1700" b="1" spc="-9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periods</a:t>
            </a:r>
            <a:r>
              <a:rPr sz="1700" b="1" spc="-9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are</a:t>
            </a:r>
            <a:r>
              <a:rPr sz="1700" b="1" spc="-8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inserted</a:t>
            </a:r>
            <a:r>
              <a:rPr sz="1700" b="1" spc="-9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between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asserts</a:t>
            </a:r>
            <a:r>
              <a:rPr sz="1700" b="1" spc="-5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free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computing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resources.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774" y="3093458"/>
            <a:ext cx="4260215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problem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such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an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approach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that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it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really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hard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guess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how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much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time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is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needed</a:t>
            </a:r>
            <a:r>
              <a:rPr sz="1700" spc="-9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between</a:t>
            </a:r>
            <a:r>
              <a:rPr sz="1700" spc="-9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asserts.</a:t>
            </a:r>
            <a:endParaRPr sz="1700">
              <a:latin typeface="Arial MT"/>
              <a:cs typeface="Arial MT"/>
            </a:endParaRPr>
          </a:p>
          <a:p>
            <a:pPr marL="12700" marR="17780">
              <a:lnSpc>
                <a:spcPct val="100000"/>
              </a:lnSpc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If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b="1" i="1" dirty="0">
                <a:solidFill>
                  <a:srgbClr val="0F2044"/>
                </a:solidFill>
                <a:latin typeface="Arial"/>
                <a:cs typeface="Arial"/>
              </a:rPr>
              <a:t>time</a:t>
            </a:r>
            <a:r>
              <a:rPr sz="1700" b="1" i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i="1" dirty="0">
                <a:solidFill>
                  <a:srgbClr val="0F2044"/>
                </a:solidFill>
                <a:latin typeface="Arial"/>
                <a:cs typeface="Arial"/>
              </a:rPr>
              <a:t>is</a:t>
            </a:r>
            <a:r>
              <a:rPr sz="1700" b="1" i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i="1" dirty="0">
                <a:solidFill>
                  <a:srgbClr val="0F2044"/>
                </a:solidFill>
                <a:latin typeface="Arial"/>
                <a:cs typeface="Arial"/>
              </a:rPr>
              <a:t>too</a:t>
            </a:r>
            <a:r>
              <a:rPr sz="1700" b="1" i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i="1" dirty="0">
                <a:solidFill>
                  <a:srgbClr val="0F2044"/>
                </a:solidFill>
                <a:latin typeface="Arial"/>
                <a:cs typeface="Arial"/>
              </a:rPr>
              <a:t>short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than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actual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gain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going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sleep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periodically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quite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minimal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because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extra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resource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consumed</a:t>
            </a:r>
            <a:r>
              <a:rPr sz="17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by</a:t>
            </a:r>
            <a:r>
              <a:rPr sz="17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context</a:t>
            </a:r>
            <a:r>
              <a:rPr sz="17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switches themselves.</a:t>
            </a:r>
            <a:endParaRPr sz="17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If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b="1" i="1" dirty="0">
                <a:solidFill>
                  <a:srgbClr val="0F2044"/>
                </a:solidFill>
                <a:latin typeface="Arial"/>
                <a:cs typeface="Arial"/>
              </a:rPr>
              <a:t>time</a:t>
            </a:r>
            <a:r>
              <a:rPr sz="1700" b="1" i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i="1" dirty="0">
                <a:solidFill>
                  <a:srgbClr val="0F2044"/>
                </a:solidFill>
                <a:latin typeface="Arial"/>
                <a:cs typeface="Arial"/>
              </a:rPr>
              <a:t>is</a:t>
            </a:r>
            <a:r>
              <a:rPr sz="1700" b="1" i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i="1" dirty="0">
                <a:solidFill>
                  <a:srgbClr val="0F2044"/>
                </a:solidFill>
                <a:latin typeface="Arial"/>
                <a:cs typeface="Arial"/>
              </a:rPr>
              <a:t>too</a:t>
            </a:r>
            <a:r>
              <a:rPr sz="1700" b="1" i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i="1" dirty="0">
                <a:solidFill>
                  <a:srgbClr val="0F2044"/>
                </a:solidFill>
                <a:latin typeface="Arial"/>
                <a:cs typeface="Arial"/>
              </a:rPr>
              <a:t>long</a:t>
            </a:r>
            <a:r>
              <a:rPr sz="1700" b="1" i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on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other</a:t>
            </a:r>
            <a:r>
              <a:rPr sz="17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hand,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than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there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high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chance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that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waiting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thread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will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waste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huge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amounts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time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if</a:t>
            </a:r>
            <a:r>
              <a:rPr sz="1700" spc="5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condition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becomes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true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quite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early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the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wait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period.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" name="object 6" descr="A diagram showing Thread A checking a flag and sleeping for 50ms between checks until Thread B sets the flag to true."/>
          <p:cNvGrpSpPr/>
          <p:nvPr/>
        </p:nvGrpSpPr>
        <p:grpSpPr>
          <a:xfrm>
            <a:off x="5138749" y="1262524"/>
            <a:ext cx="6706234" cy="5038090"/>
            <a:chOff x="5138749" y="1262524"/>
            <a:chExt cx="6706234" cy="50380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7596" y="1777692"/>
              <a:ext cx="5776954" cy="40514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43512" y="1267287"/>
              <a:ext cx="6696709" cy="5028565"/>
            </a:xfrm>
            <a:custGeom>
              <a:avLst/>
              <a:gdLst/>
              <a:ahLst/>
              <a:cxnLst/>
              <a:rect l="l" t="t" r="r" b="b"/>
              <a:pathLst>
                <a:path w="6696709" h="5028565">
                  <a:moveTo>
                    <a:pt x="0" y="0"/>
                  </a:moveTo>
                  <a:lnTo>
                    <a:pt x="6696634" y="0"/>
                  </a:lnTo>
                  <a:lnTo>
                    <a:pt x="6696634" y="5028025"/>
                  </a:lnTo>
                  <a:lnTo>
                    <a:pt x="0" y="50280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6324" y="6359511"/>
            <a:ext cx="20104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  <a:hlinkClick r:id="rId3"/>
              </a:rPr>
              <a:t>http://www.robert-</a:t>
            </a:r>
            <a:r>
              <a:rPr sz="800" spc="-10" dirty="0">
                <a:latin typeface="Arial MT"/>
                <a:cs typeface="Arial MT"/>
                <a:hlinkClick r:id="rId3"/>
              </a:rPr>
              <a:t>puskas.info/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Condition</a:t>
            </a:r>
            <a:r>
              <a:rPr sz="1800" spc="-35" dirty="0"/>
              <a:t> </a:t>
            </a:r>
            <a:r>
              <a:rPr sz="1800" spc="-10" dirty="0"/>
              <a:t>Variables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570774" y="3276339"/>
            <a:ext cx="395668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Thread</a:t>
            </a:r>
            <a:r>
              <a:rPr sz="1700" b="1" spc="-10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‘A’</a:t>
            </a:r>
            <a:r>
              <a:rPr sz="1700" b="1" spc="-10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simply</a:t>
            </a:r>
            <a:r>
              <a:rPr sz="1700" b="1" spc="-6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sleeps</a:t>
            </a:r>
            <a:r>
              <a:rPr sz="1700" b="1" spc="-5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until</a:t>
            </a:r>
            <a:r>
              <a:rPr sz="1700" b="1" spc="-6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f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becomes</a:t>
            </a:r>
            <a:r>
              <a:rPr sz="1700" b="1" spc="-7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true.</a:t>
            </a:r>
            <a:r>
              <a:rPr sz="1700" b="1" spc="-7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Computing</a:t>
            </a:r>
            <a:r>
              <a:rPr sz="1700" b="1" spc="-7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resources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are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free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be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utilized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by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other</a:t>
            </a:r>
            <a:r>
              <a:rPr sz="17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tasks</a:t>
            </a:r>
            <a:r>
              <a:rPr sz="17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0F2044"/>
                </a:solidFill>
                <a:latin typeface="Arial"/>
                <a:cs typeface="Arial"/>
              </a:rPr>
              <a:t>in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7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meantime.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 descr="A diagram showing Thread A using a &quot;wait_until&quot; command to sleep until Thread B completes a task and sets a flag to true."/>
          <p:cNvGrpSpPr/>
          <p:nvPr/>
        </p:nvGrpSpPr>
        <p:grpSpPr>
          <a:xfrm>
            <a:off x="5110224" y="1240399"/>
            <a:ext cx="6736080" cy="5059680"/>
            <a:chOff x="5110224" y="1240399"/>
            <a:chExt cx="6736080" cy="50596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1275" y="1757796"/>
              <a:ext cx="5802453" cy="40693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14987" y="1245162"/>
              <a:ext cx="6726555" cy="5050155"/>
            </a:xfrm>
            <a:custGeom>
              <a:avLst/>
              <a:gdLst/>
              <a:ahLst/>
              <a:cxnLst/>
              <a:rect l="l" t="t" r="r" b="b"/>
              <a:pathLst>
                <a:path w="6726555" h="5050155">
                  <a:moveTo>
                    <a:pt x="0" y="0"/>
                  </a:moveTo>
                  <a:lnTo>
                    <a:pt x="6726150" y="0"/>
                  </a:lnTo>
                  <a:lnTo>
                    <a:pt x="6726150" y="5050150"/>
                  </a:lnTo>
                  <a:lnTo>
                    <a:pt x="0" y="50501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6324" y="6359511"/>
            <a:ext cx="20104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  <a:hlinkClick r:id="rId3"/>
              </a:rPr>
              <a:t>http://www.robert-</a:t>
            </a:r>
            <a:r>
              <a:rPr sz="800" spc="-10" dirty="0">
                <a:latin typeface="Arial MT"/>
                <a:cs typeface="Arial MT"/>
                <a:hlinkClick r:id="rId3"/>
              </a:rPr>
              <a:t>puskas.info/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Condition</a:t>
            </a:r>
            <a:r>
              <a:rPr sz="1800" spc="-35" dirty="0"/>
              <a:t> </a:t>
            </a:r>
            <a:r>
              <a:rPr sz="1800" spc="-10" dirty="0"/>
              <a:t>Variables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570774" y="3276339"/>
            <a:ext cx="374078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Utilizing</a:t>
            </a:r>
            <a:r>
              <a:rPr sz="1700" b="1" spc="-7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700" b="1" spc="-6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std::condition_variable</a:t>
            </a:r>
            <a:r>
              <a:rPr sz="1700" b="1" spc="-6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0F2044"/>
                </a:solidFill>
                <a:latin typeface="Arial"/>
                <a:cs typeface="Arial"/>
              </a:rPr>
              <a:t>to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wait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for</a:t>
            </a:r>
            <a:r>
              <a:rPr sz="17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some</a:t>
            </a:r>
            <a:r>
              <a:rPr sz="17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condition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to</a:t>
            </a:r>
            <a:r>
              <a:rPr sz="17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be</a:t>
            </a:r>
            <a:r>
              <a:rPr sz="17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0F2044"/>
                </a:solidFill>
                <a:latin typeface="Arial"/>
                <a:cs typeface="Arial"/>
              </a:rPr>
              <a:t>met.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 descr="A technical flow diagram of C++ synchronization using std::unique_lock and std::condition_variable to coordinate work between two threads."/>
          <p:cNvGrpSpPr/>
          <p:nvPr/>
        </p:nvGrpSpPr>
        <p:grpSpPr>
          <a:xfrm>
            <a:off x="5034050" y="1240399"/>
            <a:ext cx="6736080" cy="5059680"/>
            <a:chOff x="5034050" y="1240399"/>
            <a:chExt cx="6736080" cy="50596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5098" y="1757796"/>
              <a:ext cx="5802430" cy="40693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38812" y="1245162"/>
              <a:ext cx="6726555" cy="5050155"/>
            </a:xfrm>
            <a:custGeom>
              <a:avLst/>
              <a:gdLst/>
              <a:ahLst/>
              <a:cxnLst/>
              <a:rect l="l" t="t" r="r" b="b"/>
              <a:pathLst>
                <a:path w="6726555" h="5050155">
                  <a:moveTo>
                    <a:pt x="0" y="0"/>
                  </a:moveTo>
                  <a:lnTo>
                    <a:pt x="6726124" y="0"/>
                  </a:lnTo>
                  <a:lnTo>
                    <a:pt x="6726124" y="5050150"/>
                  </a:lnTo>
                  <a:lnTo>
                    <a:pt x="0" y="50501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6324" y="6359511"/>
            <a:ext cx="20104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  <a:hlinkClick r:id="rId3"/>
              </a:rPr>
              <a:t>http://www.robert-</a:t>
            </a:r>
            <a:r>
              <a:rPr sz="800" spc="-10" dirty="0">
                <a:latin typeface="Arial MT"/>
                <a:cs typeface="Arial MT"/>
                <a:hlinkClick r:id="rId3"/>
              </a:rPr>
              <a:t>puskas.info/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Condition</a:t>
            </a:r>
            <a:r>
              <a:rPr sz="1800" spc="-35" dirty="0"/>
              <a:t> </a:t>
            </a:r>
            <a:r>
              <a:rPr sz="1800" spc="-10" dirty="0"/>
              <a:t>Variables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570774" y="3276339"/>
            <a:ext cx="30372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A</a:t>
            </a:r>
            <a:r>
              <a:rPr sz="1700" b="1" spc="-10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usual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workflow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F2044"/>
                </a:solidFill>
                <a:latin typeface="Arial"/>
                <a:cs typeface="Arial"/>
              </a:rPr>
              <a:t>that</a:t>
            </a:r>
            <a:r>
              <a:rPr sz="1700" b="1" spc="-5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utilizes condition</a:t>
            </a:r>
            <a:r>
              <a:rPr sz="17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F2044"/>
                </a:solidFill>
                <a:latin typeface="Arial"/>
                <a:cs typeface="Arial"/>
              </a:rPr>
              <a:t>variables.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 descr="A high-level overview showing two threads using a mutex and condition variable to validate and invalidate a shared condition."/>
          <p:cNvGrpSpPr/>
          <p:nvPr/>
        </p:nvGrpSpPr>
        <p:grpSpPr>
          <a:xfrm>
            <a:off x="5048775" y="1251449"/>
            <a:ext cx="6721475" cy="5048885"/>
            <a:chOff x="5048775" y="1251449"/>
            <a:chExt cx="6721475" cy="50488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8723" y="2325167"/>
              <a:ext cx="5789709" cy="33446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53537" y="1256212"/>
              <a:ext cx="6711950" cy="5039360"/>
            </a:xfrm>
            <a:custGeom>
              <a:avLst/>
              <a:gdLst/>
              <a:ahLst/>
              <a:cxnLst/>
              <a:rect l="l" t="t" r="r" b="b"/>
              <a:pathLst>
                <a:path w="6711950" h="5039360">
                  <a:moveTo>
                    <a:pt x="0" y="0"/>
                  </a:moveTo>
                  <a:lnTo>
                    <a:pt x="6711399" y="0"/>
                  </a:lnTo>
                  <a:lnTo>
                    <a:pt x="6711399" y="5039099"/>
                  </a:lnTo>
                  <a:lnTo>
                    <a:pt x="0" y="5039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6324" y="6359511"/>
            <a:ext cx="20104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  <a:hlinkClick r:id="rId3"/>
              </a:rPr>
              <a:t>http://www.robert-</a:t>
            </a:r>
            <a:r>
              <a:rPr sz="800" spc="-10" dirty="0">
                <a:latin typeface="Arial MT"/>
                <a:cs typeface="Arial MT"/>
                <a:hlinkClick r:id="rId3"/>
              </a:rPr>
              <a:t>puskas.info/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050" y="1543538"/>
            <a:ext cx="3994150" cy="49782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Semaphores</a:t>
            </a:r>
            <a:endParaRPr sz="1800" dirty="0">
              <a:latin typeface="Georgia"/>
              <a:cs typeface="Georgia"/>
            </a:endParaRPr>
          </a:p>
          <a:p>
            <a:pPr marL="469900" marR="481330" indent="-367030">
              <a:lnSpc>
                <a:spcPct val="100000"/>
              </a:lnSpc>
              <a:spcBef>
                <a:spcPts val="178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counter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that </a:t>
            </a:r>
            <a:r>
              <a:rPr sz="1800" dirty="0">
                <a:latin typeface="Arial MT"/>
                <a:cs typeface="Arial MT"/>
              </a:rPr>
              <a:t>controls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shared resources.</a:t>
            </a:r>
            <a:endParaRPr sz="1800" dirty="0">
              <a:latin typeface="Arial MT"/>
              <a:cs typeface="Arial MT"/>
            </a:endParaRPr>
          </a:p>
          <a:p>
            <a:pPr marL="469900" marR="100330" indent="-36703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limit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threads </a:t>
            </a:r>
            <a:r>
              <a:rPr sz="1800" dirty="0">
                <a:latin typeface="Arial MT"/>
                <a:cs typeface="Arial MT"/>
              </a:rPr>
              <a:t>accessing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3 </a:t>
            </a:r>
            <a:r>
              <a:rPr sz="1800" dirty="0">
                <a:latin typeface="Arial MT"/>
                <a:cs typeface="Arial MT"/>
              </a:rPr>
              <a:t>threads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critical section).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Functions: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sem_wait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(decrement)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sem_post</a:t>
            </a:r>
            <a:r>
              <a:rPr sz="1800" b="1" spc="-56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(increment).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217804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spaces.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car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(spots </a:t>
            </a:r>
            <a:r>
              <a:rPr sz="1800" dirty="0">
                <a:latin typeface="Arial MT"/>
                <a:cs typeface="Arial MT"/>
              </a:rPr>
              <a:t>available).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free,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thread </a:t>
            </a:r>
            <a:r>
              <a:rPr sz="1800" dirty="0">
                <a:latin typeface="Arial MT"/>
                <a:cs typeface="Arial MT"/>
              </a:rPr>
              <a:t>parks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(decrement).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car </a:t>
            </a:r>
            <a:r>
              <a:rPr sz="1800" dirty="0">
                <a:latin typeface="Arial MT"/>
                <a:cs typeface="Arial MT"/>
              </a:rPr>
              <a:t>leaves,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increments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semaphore.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 descr="An illustration of a semaphore managing access for four threads to a shared resource with seven available slots."/>
          <p:cNvGrpSpPr/>
          <p:nvPr/>
        </p:nvGrpSpPr>
        <p:grpSpPr>
          <a:xfrm>
            <a:off x="4934875" y="1862799"/>
            <a:ext cx="6949440" cy="4460875"/>
            <a:chOff x="4934875" y="1862799"/>
            <a:chExt cx="6949440" cy="4460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5141" y="2594321"/>
              <a:ext cx="5928491" cy="34199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39637" y="1867562"/>
              <a:ext cx="6939915" cy="4451350"/>
            </a:xfrm>
            <a:custGeom>
              <a:avLst/>
              <a:gdLst/>
              <a:ahLst/>
              <a:cxnLst/>
              <a:rect l="l" t="t" r="r" b="b"/>
              <a:pathLst>
                <a:path w="6939915" h="4451350">
                  <a:moveTo>
                    <a:pt x="0" y="0"/>
                  </a:moveTo>
                  <a:lnTo>
                    <a:pt x="6939547" y="0"/>
                  </a:lnTo>
                  <a:lnTo>
                    <a:pt x="6939547" y="4450750"/>
                  </a:lnTo>
                  <a:lnTo>
                    <a:pt x="0" y="44507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16324" y="6435711"/>
            <a:ext cx="17348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  <a:hlinkClick r:id="rId3"/>
              </a:rPr>
              <a:t>https://www.scaler.com/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4945380" cy="3249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Semaphores</a:t>
            </a:r>
            <a:endParaRPr sz="1800">
              <a:latin typeface="Georgia"/>
              <a:cs typeface="Georgia"/>
            </a:endParaRPr>
          </a:p>
          <a:p>
            <a:pPr marL="73025" marR="520065">
              <a:lnSpc>
                <a:spcPct val="114999"/>
              </a:lnSpc>
              <a:spcBef>
                <a:spcPts val="1455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usually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implemented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 </a:t>
            </a:r>
            <a:r>
              <a:rPr sz="1800" dirty="0">
                <a:latin typeface="Arial MT"/>
                <a:cs typeface="Arial MT"/>
              </a:rPr>
              <a:t>integer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10" dirty="0">
                <a:latin typeface="Arial MT"/>
                <a:cs typeface="Arial MT"/>
              </a:rPr>
              <a:t> operations:</a:t>
            </a:r>
            <a:endParaRPr sz="1800">
              <a:latin typeface="Arial MT"/>
              <a:cs typeface="Arial MT"/>
            </a:endParaRPr>
          </a:p>
          <a:p>
            <a:pPr marL="528955" marR="5080" indent="-418465" algn="just">
              <a:lnSpc>
                <a:spcPct val="114999"/>
              </a:lnSpc>
              <a:spcBef>
                <a:spcPts val="1900"/>
              </a:spcBef>
              <a:buClr>
                <a:srgbClr val="000000"/>
              </a:buClr>
              <a:buFont typeface="Arial MT"/>
              <a:buAutoNum type="arabicPeriod"/>
              <a:tabLst>
                <a:tab pos="530225" algn="l"/>
              </a:tabLst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Increment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(post</a:t>
            </a:r>
            <a:r>
              <a:rPr sz="1800" b="1" spc="-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or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signal):</a:t>
            </a:r>
            <a:r>
              <a:rPr sz="18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increment 	</a:t>
            </a:r>
            <a:r>
              <a:rPr sz="1800" dirty="0">
                <a:latin typeface="Arial MT"/>
                <a:cs typeface="Arial MT"/>
              </a:rPr>
              <a:t>operation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increase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	</a:t>
            </a:r>
            <a:r>
              <a:rPr sz="1800" spc="-10" dirty="0">
                <a:latin typeface="Arial MT"/>
                <a:cs typeface="Arial MT"/>
              </a:rPr>
              <a:t>semaphore.</a:t>
            </a:r>
            <a:endParaRPr sz="1800">
              <a:latin typeface="Arial MT"/>
              <a:cs typeface="Arial MT"/>
            </a:endParaRPr>
          </a:p>
          <a:p>
            <a:pPr marL="530225" marR="128905" indent="-419734">
              <a:lnSpc>
                <a:spcPct val="114999"/>
              </a:lnSpc>
              <a:buClr>
                <a:srgbClr val="000000"/>
              </a:buClr>
              <a:buFont typeface="Arial MT"/>
              <a:buAutoNum type="arabicPeriod"/>
              <a:tabLst>
                <a:tab pos="530225" algn="l"/>
              </a:tabLst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Decrement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(wait</a:t>
            </a:r>
            <a:r>
              <a:rPr sz="1800" b="1" spc="-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or</a:t>
            </a:r>
            <a:r>
              <a:rPr sz="1800" b="1" spc="-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acquire):</a:t>
            </a:r>
            <a:r>
              <a:rPr sz="1800" b="1" spc="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decrement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decrement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semaphore.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250" y="4894752"/>
            <a:ext cx="4951730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indicated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'available'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the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Linux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positive.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hand,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indicated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'busy'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or </a:t>
            </a:r>
            <a:r>
              <a:rPr sz="1800" dirty="0">
                <a:latin typeface="Arial MT"/>
                <a:cs typeface="Arial MT"/>
              </a:rPr>
              <a:t>'blocked'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spc="-10" dirty="0">
                <a:latin typeface="Arial MT"/>
                <a:cs typeface="Arial MT"/>
              </a:rPr>
              <a:t>negative.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 descr="A state machine diagram showing a semaphore transitioning between &quot;Available&quot; and &quot;Unavailable&quot; states based on acquire and release counts."/>
          <p:cNvGrpSpPr/>
          <p:nvPr/>
        </p:nvGrpSpPr>
        <p:grpSpPr>
          <a:xfrm>
            <a:off x="5714100" y="2659300"/>
            <a:ext cx="6341745" cy="2462530"/>
            <a:chOff x="5714100" y="2659300"/>
            <a:chExt cx="6341745" cy="24625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3625" y="2793723"/>
              <a:ext cx="6314309" cy="23184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18862" y="2664062"/>
              <a:ext cx="6332220" cy="2453005"/>
            </a:xfrm>
            <a:custGeom>
              <a:avLst/>
              <a:gdLst/>
              <a:ahLst/>
              <a:cxnLst/>
              <a:rect l="l" t="t" r="r" b="b"/>
              <a:pathLst>
                <a:path w="6332220" h="2453004">
                  <a:moveTo>
                    <a:pt x="0" y="0"/>
                  </a:moveTo>
                  <a:lnTo>
                    <a:pt x="6331649" y="0"/>
                  </a:lnTo>
                  <a:lnTo>
                    <a:pt x="6331649" y="2452850"/>
                  </a:lnTo>
                  <a:lnTo>
                    <a:pt x="0" y="24528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494200" y="5451236"/>
            <a:ext cx="17856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Image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credit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-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  <a:hlinkClick r:id="rId3"/>
              </a:rPr>
              <a:t>https://www.guru99.com/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Semaphores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471225" y="2287181"/>
            <a:ext cx="4024629" cy="3362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836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Semaphore</a:t>
            </a:r>
            <a:r>
              <a:rPr sz="1800" b="1" spc="-5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Declaration</a:t>
            </a:r>
            <a:r>
              <a:rPr sz="1800" b="1" spc="-5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and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Initialization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469900" marR="154305" indent="-367030">
              <a:lnSpc>
                <a:spcPct val="100000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SEM_NAME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unique </a:t>
            </a:r>
            <a:r>
              <a:rPr sz="1800" dirty="0">
                <a:latin typeface="Arial MT"/>
                <a:cs typeface="Arial MT"/>
              </a:rPr>
              <a:t>name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semaphore,</a:t>
            </a:r>
            <a:endParaRPr sz="1800" dirty="0">
              <a:latin typeface="Arial MT"/>
              <a:cs typeface="Arial MT"/>
            </a:endParaRPr>
          </a:p>
          <a:p>
            <a:pPr marL="469900" marR="117475">
              <a:lnSpc>
                <a:spcPct val="100000"/>
              </a:lnSpc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/parking_lot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Named </a:t>
            </a:r>
            <a:r>
              <a:rPr sz="1800" dirty="0">
                <a:latin typeface="Arial MT"/>
                <a:cs typeface="Arial MT"/>
              </a:rPr>
              <a:t>semaphores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 </a:t>
            </a:r>
            <a:r>
              <a:rPr sz="1800" spc="-10" dirty="0">
                <a:latin typeface="Arial MT"/>
                <a:cs typeface="Arial MT"/>
              </a:rPr>
              <a:t>system-</a:t>
            </a:r>
            <a:r>
              <a:rPr sz="1800" dirty="0">
                <a:latin typeface="Arial MT"/>
                <a:cs typeface="Arial MT"/>
              </a:rPr>
              <a:t>wide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identified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name.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468630" marR="5080" indent="-365760" algn="just">
              <a:lnSpc>
                <a:spcPct val="100000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sem_t</a:t>
            </a:r>
            <a:r>
              <a:rPr sz="1800" b="1" spc="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*parking_lot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pointer 	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will 	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function.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3" name="object 3" descr="A snippet of C code showing the global definitions: #define PARKING_SPOTS 5 and #define SEM_NAME &quot;/parking_lot&quot;."/>
          <p:cNvGrpSpPr/>
          <p:nvPr/>
        </p:nvGrpSpPr>
        <p:grpSpPr>
          <a:xfrm>
            <a:off x="5029662" y="1515925"/>
            <a:ext cx="6787515" cy="4681220"/>
            <a:chOff x="5029662" y="1515925"/>
            <a:chExt cx="6787515" cy="46812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2125" y="1515925"/>
              <a:ext cx="6550725" cy="46808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43949" y="2886999"/>
              <a:ext cx="6758940" cy="696595"/>
            </a:xfrm>
            <a:custGeom>
              <a:avLst/>
              <a:gdLst/>
              <a:ahLst/>
              <a:cxnLst/>
              <a:rect l="l" t="t" r="r" b="b"/>
              <a:pathLst>
                <a:path w="6758940" h="696595">
                  <a:moveTo>
                    <a:pt x="0" y="0"/>
                  </a:moveTo>
                  <a:lnTo>
                    <a:pt x="6758399" y="0"/>
                  </a:lnTo>
                  <a:lnTo>
                    <a:pt x="6758399" y="695999"/>
                  </a:lnTo>
                  <a:lnTo>
                    <a:pt x="0" y="6959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Semaphores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471225" y="2515781"/>
            <a:ext cx="4300855" cy="186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800" b="1" spc="-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Function: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80000"/>
                </a:solidFill>
                <a:latin typeface="Courier New"/>
                <a:cs typeface="Courier New"/>
              </a:rPr>
              <a:t>car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dirty="0">
                <a:latin typeface="Arial"/>
                <a:cs typeface="Arial"/>
              </a:rPr>
              <a:t>Thread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Argument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arg</a:t>
            </a:r>
            <a:r>
              <a:rPr sz="1800" b="1" spc="-10" dirty="0">
                <a:latin typeface="Arial"/>
                <a:cs typeface="Arial"/>
              </a:rPr>
              <a:t>):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arg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car's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unique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ID, </a:t>
            </a:r>
            <a:r>
              <a:rPr sz="1800" dirty="0">
                <a:latin typeface="Arial MT"/>
                <a:cs typeface="Arial MT"/>
              </a:rPr>
              <a:t>passed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main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It’s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long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display.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3" name="object 3" descr="A C function named car that simulates a thread’s behavior: it prints an arrival message, calls sem_wait to secure a parking spot, sleeps for 2 seconds, prints a leaving message, and calls sem_post to release the spot."/>
          <p:cNvGrpSpPr/>
          <p:nvPr/>
        </p:nvGrpSpPr>
        <p:grpSpPr>
          <a:xfrm>
            <a:off x="5029662" y="1515925"/>
            <a:ext cx="6787515" cy="4681220"/>
            <a:chOff x="5029662" y="1515925"/>
            <a:chExt cx="6787515" cy="4681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2125" y="1515925"/>
              <a:ext cx="6550725" cy="46808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43949" y="3953800"/>
              <a:ext cx="6758940" cy="2118995"/>
            </a:xfrm>
            <a:custGeom>
              <a:avLst/>
              <a:gdLst/>
              <a:ahLst/>
              <a:cxnLst/>
              <a:rect l="l" t="t" r="r" b="b"/>
              <a:pathLst>
                <a:path w="6758940" h="2118995">
                  <a:moveTo>
                    <a:pt x="0" y="0"/>
                  </a:moveTo>
                  <a:lnTo>
                    <a:pt x="6758399" y="0"/>
                  </a:lnTo>
                  <a:lnTo>
                    <a:pt x="6758399" y="2118899"/>
                  </a:lnTo>
                  <a:lnTo>
                    <a:pt x="0" y="211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Semaphores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471225" y="2515781"/>
            <a:ext cx="4304030" cy="2497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800" b="1" spc="-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Function: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80000"/>
                </a:solidFill>
                <a:latin typeface="Courier New"/>
                <a:cs typeface="Courier New"/>
              </a:rPr>
              <a:t>car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dirty="0">
                <a:latin typeface="Arial"/>
                <a:cs typeface="Arial"/>
              </a:rPr>
              <a:t>Arrival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sem_wait</a:t>
            </a:r>
            <a:r>
              <a:rPr sz="1800" b="1" spc="-10" dirty="0">
                <a:latin typeface="Arial"/>
                <a:cs typeface="Arial"/>
              </a:rPr>
              <a:t>)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sem_wait(parking_lot)</a:t>
            </a:r>
            <a:r>
              <a:rPr sz="1800" b="1" spc="-4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decreases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car </a:t>
            </a:r>
            <a:r>
              <a:rPr sz="1800" dirty="0">
                <a:latin typeface="Arial MT"/>
                <a:cs typeface="Arial MT"/>
              </a:rPr>
              <a:t>taking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spot.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spots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taken </a:t>
            </a:r>
            <a:r>
              <a:rPr sz="1800" dirty="0">
                <a:latin typeface="Arial MT"/>
                <a:cs typeface="Arial MT"/>
              </a:rPr>
              <a:t>(semaphore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0),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blocks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available.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662" y="1515925"/>
            <a:ext cx="6787515" cy="4681220"/>
            <a:chOff x="5029662" y="1515925"/>
            <a:chExt cx="6787515" cy="4681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2125" y="1515925"/>
              <a:ext cx="6550725" cy="46808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43949" y="3953800"/>
              <a:ext cx="6758940" cy="2118995"/>
            </a:xfrm>
            <a:custGeom>
              <a:avLst/>
              <a:gdLst/>
              <a:ahLst/>
              <a:cxnLst/>
              <a:rect l="l" t="t" r="r" b="b"/>
              <a:pathLst>
                <a:path w="6758940" h="2118995">
                  <a:moveTo>
                    <a:pt x="0" y="0"/>
                  </a:moveTo>
                  <a:lnTo>
                    <a:pt x="6758399" y="0"/>
                  </a:lnTo>
                  <a:lnTo>
                    <a:pt x="6758399" y="2118899"/>
                  </a:lnTo>
                  <a:lnTo>
                    <a:pt x="0" y="211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Semaphores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471225" y="2515781"/>
            <a:ext cx="4001135" cy="186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800" b="1" spc="-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Function: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80000"/>
                </a:solidFill>
                <a:latin typeface="Courier New"/>
                <a:cs typeface="Courier New"/>
              </a:rPr>
              <a:t>car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dirty="0">
                <a:latin typeface="Arial"/>
                <a:cs typeface="Arial"/>
              </a:rPr>
              <a:t>Parking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printf</a:t>
            </a:r>
            <a:r>
              <a:rPr sz="1800" b="1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Arial"/>
                <a:cs typeface="Arial"/>
              </a:rPr>
              <a:t>and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sleep</a:t>
            </a:r>
            <a:r>
              <a:rPr sz="1800" b="1" spc="-10" dirty="0">
                <a:latin typeface="Arial"/>
                <a:cs typeface="Arial"/>
              </a:rPr>
              <a:t>)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Simulates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printing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dirty="0">
                <a:latin typeface="Arial MT"/>
                <a:cs typeface="Arial MT"/>
              </a:rPr>
              <a:t>message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sleeping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seconds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represent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duration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parking.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662" y="1515925"/>
            <a:ext cx="6787515" cy="4681220"/>
            <a:chOff x="5029662" y="1515925"/>
            <a:chExt cx="6787515" cy="4681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2125" y="1515925"/>
              <a:ext cx="6550725" cy="46808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43949" y="3953800"/>
              <a:ext cx="6758940" cy="2118995"/>
            </a:xfrm>
            <a:custGeom>
              <a:avLst/>
              <a:gdLst/>
              <a:ahLst/>
              <a:cxnLst/>
              <a:rect l="l" t="t" r="r" b="b"/>
              <a:pathLst>
                <a:path w="6758940" h="2118995">
                  <a:moveTo>
                    <a:pt x="0" y="0"/>
                  </a:moveTo>
                  <a:lnTo>
                    <a:pt x="6758399" y="0"/>
                  </a:lnTo>
                  <a:lnTo>
                    <a:pt x="6758399" y="2118899"/>
                  </a:lnTo>
                  <a:lnTo>
                    <a:pt x="0" y="211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Semaphores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471225" y="2515781"/>
            <a:ext cx="4329430" cy="189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800" b="1" spc="-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Function: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80000"/>
                </a:solidFill>
                <a:latin typeface="Courier New"/>
                <a:cs typeface="Courier New"/>
              </a:rPr>
              <a:t>car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1800" b="1" dirty="0">
                <a:latin typeface="Arial"/>
                <a:cs typeface="Arial"/>
              </a:rPr>
              <a:t>Leaving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Parking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Spot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sem_post</a:t>
            </a:r>
            <a:r>
              <a:rPr sz="1800" b="1" spc="-10" dirty="0">
                <a:latin typeface="Arial"/>
                <a:cs typeface="Arial"/>
              </a:rPr>
              <a:t>)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sem_post(parking_lot)</a:t>
            </a:r>
            <a:r>
              <a:rPr sz="1800" b="1" spc="-53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increases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indicating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</a:t>
            </a:r>
            <a:r>
              <a:rPr sz="1800" spc="-25" dirty="0">
                <a:latin typeface="Arial MT"/>
                <a:cs typeface="Arial MT"/>
              </a:rPr>
              <a:t> has </a:t>
            </a:r>
            <a:r>
              <a:rPr sz="1800" dirty="0">
                <a:latin typeface="Arial MT"/>
                <a:cs typeface="Arial MT"/>
              </a:rPr>
              <a:t>left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now</a:t>
            </a:r>
            <a:r>
              <a:rPr sz="1800" spc="-10" dirty="0">
                <a:latin typeface="Arial MT"/>
                <a:cs typeface="Arial MT"/>
              </a:rPr>
              <a:t> available.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662" y="1515925"/>
            <a:ext cx="6787515" cy="4681220"/>
            <a:chOff x="5029662" y="1515925"/>
            <a:chExt cx="6787515" cy="4681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2125" y="1515925"/>
              <a:ext cx="6550725" cy="46808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43949" y="3953800"/>
              <a:ext cx="6758940" cy="2118995"/>
            </a:xfrm>
            <a:custGeom>
              <a:avLst/>
              <a:gdLst/>
              <a:ahLst/>
              <a:cxnLst/>
              <a:rect l="l" t="t" r="r" b="b"/>
              <a:pathLst>
                <a:path w="6758940" h="2118995">
                  <a:moveTo>
                    <a:pt x="0" y="0"/>
                  </a:moveTo>
                  <a:lnTo>
                    <a:pt x="6758399" y="0"/>
                  </a:lnTo>
                  <a:lnTo>
                    <a:pt x="6758399" y="2118899"/>
                  </a:lnTo>
                  <a:lnTo>
                    <a:pt x="0" y="211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4137660" cy="490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Semaphores</a:t>
            </a:r>
            <a:endParaRPr sz="1800" dirty="0">
              <a:latin typeface="Georgia"/>
              <a:cs typeface="Georgia"/>
            </a:endParaRPr>
          </a:p>
          <a:p>
            <a:pPr marL="73025">
              <a:lnSpc>
                <a:spcPct val="100000"/>
              </a:lnSpc>
              <a:spcBef>
                <a:spcPts val="1895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Semaphore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Creation</a:t>
            </a:r>
            <a:endParaRPr sz="1800" dirty="0">
              <a:latin typeface="Arial"/>
              <a:cs typeface="Arial"/>
            </a:endParaRPr>
          </a:p>
          <a:p>
            <a:pPr marL="73025">
              <a:lnSpc>
                <a:spcPct val="100000"/>
              </a:lnSpc>
              <a:spcBef>
                <a:spcPts val="1525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sem_open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53022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530225" algn="l"/>
              </a:tabLst>
            </a:pPr>
            <a:r>
              <a:rPr sz="1800" dirty="0">
                <a:latin typeface="Arial MT"/>
                <a:cs typeface="Arial MT"/>
              </a:rPr>
              <a:t>Creates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named</a:t>
            </a:r>
            <a:r>
              <a:rPr sz="1800" b="1" spc="-10" dirty="0">
                <a:latin typeface="Arial"/>
                <a:cs typeface="Arial"/>
              </a:rPr>
              <a:t> semaphore</a:t>
            </a:r>
            <a:endParaRPr sz="1800" dirty="0">
              <a:latin typeface="Arial"/>
              <a:cs typeface="Arial"/>
            </a:endParaRPr>
          </a:p>
          <a:p>
            <a:pPr marL="53022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identified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SEM_NAME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530225" marR="55880" indent="-367030">
              <a:lnSpc>
                <a:spcPct val="114999"/>
              </a:lnSpc>
              <a:buChar char="●"/>
              <a:tabLst>
                <a:tab pos="53022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O_CREAT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|</a:t>
            </a:r>
            <a:r>
              <a:rPr sz="1800" b="1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O_EXCL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created </a:t>
            </a:r>
            <a:r>
              <a:rPr sz="1800" dirty="0">
                <a:latin typeface="Arial MT"/>
                <a:cs typeface="Arial MT"/>
              </a:rPr>
              <a:t>fresh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previous runs.</a:t>
            </a:r>
            <a:endParaRPr sz="1800" dirty="0">
              <a:latin typeface="Arial MT"/>
              <a:cs typeface="Arial MT"/>
            </a:endParaRPr>
          </a:p>
          <a:p>
            <a:pPr marL="530225" marR="40640" indent="-36703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530225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0644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permissions</a:t>
            </a:r>
            <a:r>
              <a:rPr sz="1800" spc="-10" dirty="0">
                <a:latin typeface="Arial MT"/>
                <a:cs typeface="Arial MT"/>
              </a:rPr>
              <a:t> (read/write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owner,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read-only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others).</a:t>
            </a:r>
            <a:endParaRPr sz="1800" dirty="0">
              <a:latin typeface="Arial MT"/>
              <a:cs typeface="Arial MT"/>
            </a:endParaRPr>
          </a:p>
          <a:p>
            <a:pPr marL="530225" marR="5080" indent="-36703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530225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PARKING_SPOTS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representing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spots.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 descr="The beginning of the main function where a named semaphore is initialized using sem_open with flags O_CREAT | O_EXCL and an initial value of PARKING_SPOTS."/>
          <p:cNvGrpSpPr/>
          <p:nvPr/>
        </p:nvGrpSpPr>
        <p:grpSpPr>
          <a:xfrm>
            <a:off x="4953000" y="1752600"/>
            <a:ext cx="6931025" cy="4980305"/>
            <a:chOff x="5029662" y="1725550"/>
            <a:chExt cx="6931025" cy="4980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3500" y="1725550"/>
              <a:ext cx="6897025" cy="49800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2429800"/>
              <a:ext cx="6758940" cy="1297940"/>
            </a:xfrm>
            <a:custGeom>
              <a:avLst/>
              <a:gdLst/>
              <a:ahLst/>
              <a:cxnLst/>
              <a:rect l="l" t="t" r="r" b="b"/>
              <a:pathLst>
                <a:path w="6758940" h="1297939">
                  <a:moveTo>
                    <a:pt x="0" y="0"/>
                  </a:moveTo>
                  <a:lnTo>
                    <a:pt x="6758399" y="0"/>
                  </a:lnTo>
                  <a:lnTo>
                    <a:pt x="6758399" y="1297799"/>
                  </a:lnTo>
                  <a:lnTo>
                    <a:pt x="0" y="129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0375" y="1543538"/>
            <a:ext cx="2320290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Semaphores</a:t>
            </a:r>
            <a:endParaRPr sz="1800">
              <a:latin typeface="Georgia"/>
              <a:cs typeface="Georgia"/>
            </a:endParaRPr>
          </a:p>
          <a:p>
            <a:pPr marL="73025">
              <a:lnSpc>
                <a:spcPct val="100000"/>
              </a:lnSpc>
              <a:spcBef>
                <a:spcPts val="1895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Semaphore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Creation</a:t>
            </a:r>
            <a:endParaRPr sz="1800">
              <a:latin typeface="Arial"/>
              <a:cs typeface="Arial"/>
            </a:endParaRPr>
          </a:p>
          <a:p>
            <a:pPr marL="73025">
              <a:lnSpc>
                <a:spcPct val="100000"/>
              </a:lnSpc>
              <a:spcBef>
                <a:spcPts val="1525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sem_open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1749" y="2953169"/>
            <a:ext cx="100203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10" dirty="0">
                <a:latin typeface="Arial MT"/>
                <a:cs typeface="Arial MT"/>
              </a:rPr>
              <a:t>Creat identif</a:t>
            </a:r>
            <a:endParaRPr sz="1800">
              <a:latin typeface="Arial MT"/>
              <a:cs typeface="Arial MT"/>
            </a:endParaRPr>
          </a:p>
          <a:p>
            <a:pPr marL="379095" marR="431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fl </a:t>
            </a:r>
            <a:r>
              <a:rPr sz="1800" spc="-10" dirty="0">
                <a:latin typeface="Arial MT"/>
                <a:cs typeface="Arial MT"/>
              </a:rPr>
              <a:t>ensur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28425" y="4256189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fresh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1749" y="4530509"/>
            <a:ext cx="101473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420"/>
              </a:spcBef>
            </a:pPr>
            <a:r>
              <a:rPr sz="1800" spc="-10" dirty="0">
                <a:latin typeface="Arial MT"/>
                <a:cs typeface="Arial MT"/>
              </a:rPr>
              <a:t>runs.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0644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37909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ow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PARK</a:t>
            </a:r>
            <a:endParaRPr sz="1800" b="1" dirty="0">
              <a:latin typeface="Courier New"/>
              <a:cs typeface="Courier New"/>
            </a:endParaRPr>
          </a:p>
        </p:txBody>
      </p: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89765" y="2560803"/>
            <a:ext cx="3009900" cy="3260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989"/>
              </a:lnSpc>
            </a:pPr>
            <a:r>
              <a:rPr sz="1800" spc="-5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10160">
              <a:lnSpc>
                <a:spcPct val="100000"/>
              </a:lnSpc>
              <a:spcBef>
                <a:spcPts val="1520"/>
              </a:spcBef>
            </a:pP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named</a:t>
            </a:r>
            <a:r>
              <a:rPr sz="1800" b="1" spc="-10" dirty="0">
                <a:latin typeface="Arial"/>
                <a:cs typeface="Arial"/>
              </a:rPr>
              <a:t> semaphore</a:t>
            </a:r>
            <a:endParaRPr sz="1800">
              <a:latin typeface="Arial"/>
              <a:cs typeface="Arial"/>
            </a:endParaRPr>
          </a:p>
          <a:p>
            <a:pPr marL="6096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ied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88037"/>
                </a:solidFill>
                <a:latin typeface="Courier New"/>
                <a:cs typeface="Courier New"/>
              </a:rPr>
              <a:t>SEM_NAME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2222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ags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O_CREAT</a:t>
            </a:r>
            <a:r>
              <a:rPr sz="1800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|</a:t>
            </a:r>
            <a:r>
              <a:rPr sz="1800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88037"/>
                </a:solidFill>
                <a:latin typeface="Courier New"/>
                <a:cs typeface="Courier New"/>
              </a:rPr>
              <a:t>O_EXCL</a:t>
            </a:r>
            <a:endParaRPr sz="1800">
              <a:latin typeface="Courier New"/>
              <a:cs typeface="Courier New"/>
            </a:endParaRPr>
          </a:p>
          <a:p>
            <a:pPr marL="149225" marR="7620" indent="-127000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created </a:t>
            </a:r>
            <a:r>
              <a:rPr sz="1800" dirty="0">
                <a:latin typeface="Arial MT"/>
                <a:cs typeface="Arial MT"/>
              </a:rPr>
              <a:t>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reused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previous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>
              <a:latin typeface="Arial MT"/>
              <a:cs typeface="Arial MT"/>
            </a:endParaRPr>
          </a:p>
          <a:p>
            <a:pPr marL="73660" indent="52705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Sets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permissions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(read/write </a:t>
            </a:r>
            <a:r>
              <a:rPr sz="1800" dirty="0">
                <a:latin typeface="Arial MT"/>
                <a:cs typeface="Arial MT"/>
              </a:rPr>
              <a:t>ner,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read-only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others).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ING_SPOTS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Initializes</a:t>
            </a:r>
            <a:r>
              <a:rPr sz="1800" spc="-25" dirty="0">
                <a:latin typeface="Arial MT"/>
                <a:cs typeface="Arial MT"/>
              </a:rPr>
              <a:t> the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28425" y="5792380"/>
            <a:ext cx="362013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representing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spots.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02712" y="1725550"/>
            <a:ext cx="10358120" cy="4980305"/>
            <a:chOff x="1602712" y="1725550"/>
            <a:chExt cx="10358120" cy="49803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3500" y="1725550"/>
              <a:ext cx="6897025" cy="49800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43950" y="2429800"/>
              <a:ext cx="6758940" cy="1297940"/>
            </a:xfrm>
            <a:custGeom>
              <a:avLst/>
              <a:gdLst/>
              <a:ahLst/>
              <a:cxnLst/>
              <a:rect l="l" t="t" r="r" b="b"/>
              <a:pathLst>
                <a:path w="6758940" h="1297939">
                  <a:moveTo>
                    <a:pt x="0" y="0"/>
                  </a:moveTo>
                  <a:lnTo>
                    <a:pt x="6758399" y="0"/>
                  </a:lnTo>
                  <a:lnTo>
                    <a:pt x="6758399" y="1297799"/>
                  </a:lnTo>
                  <a:lnTo>
                    <a:pt x="0" y="129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07475" y="2621525"/>
              <a:ext cx="9144000" cy="3163570"/>
            </a:xfrm>
            <a:custGeom>
              <a:avLst/>
              <a:gdLst/>
              <a:ahLst/>
              <a:cxnLst/>
              <a:rect l="l" t="t" r="r" b="b"/>
              <a:pathLst>
                <a:path w="9144000" h="3163570">
                  <a:moveTo>
                    <a:pt x="9143999" y="3163499"/>
                  </a:moveTo>
                  <a:lnTo>
                    <a:pt x="0" y="31634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31634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07475" y="2621525"/>
              <a:ext cx="9144000" cy="3163570"/>
            </a:xfrm>
            <a:custGeom>
              <a:avLst/>
              <a:gdLst/>
              <a:ahLst/>
              <a:cxnLst/>
              <a:rect l="l" t="t" r="r" b="b"/>
              <a:pathLst>
                <a:path w="9144000" h="3163570">
                  <a:moveTo>
                    <a:pt x="0" y="0"/>
                  </a:moveTo>
                  <a:lnTo>
                    <a:pt x="9143999" y="0"/>
                  </a:lnTo>
                  <a:lnTo>
                    <a:pt x="9143999" y="3163499"/>
                  </a:lnTo>
                  <a:lnTo>
                    <a:pt x="0" y="316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185725" y="3134006"/>
            <a:ext cx="7243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sem_open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named</a:t>
            </a:r>
            <a:r>
              <a:rPr sz="1800" spc="-10" dirty="0">
                <a:latin typeface="Arial MT"/>
                <a:cs typeface="Arial MT"/>
              </a:rPr>
              <a:t> semaphore.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typical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looks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this: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6249" y="3956966"/>
            <a:ext cx="78212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/semaphore_name</a:t>
            </a:r>
            <a:r>
              <a:rPr sz="1800" spc="-10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oflag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opened.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mode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permissions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(optional;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creating).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value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(optional;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creating).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Semaphores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1225" y="2058581"/>
            <a:ext cx="178435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980000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spc="-50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74449" y="2092935"/>
            <a:ext cx="3961129" cy="4345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1989"/>
              </a:lnSpc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emaphore</a:t>
            </a:r>
            <a:r>
              <a:rPr sz="18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Creation</a:t>
            </a:r>
            <a:endParaRPr sz="18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152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em_open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tabLst>
                <a:tab pos="366395" algn="l"/>
              </a:tabLst>
            </a:pPr>
            <a:r>
              <a:rPr sz="1800" spc="-770" dirty="0">
                <a:latin typeface="Arial MT"/>
                <a:cs typeface="Arial MT"/>
              </a:rPr>
              <a:t>●</a:t>
            </a:r>
            <a:r>
              <a:rPr sz="1800" dirty="0">
                <a:latin typeface="Arial MT"/>
                <a:cs typeface="Arial MT"/>
              </a:rPr>
              <a:t>	Creates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named</a:t>
            </a:r>
            <a:r>
              <a:rPr sz="1800" b="1" spc="-10" dirty="0">
                <a:latin typeface="Arial"/>
                <a:cs typeface="Arial"/>
              </a:rPr>
              <a:t> semaphore</a:t>
            </a:r>
            <a:endParaRPr sz="1800">
              <a:latin typeface="Arial"/>
              <a:cs typeface="Arial"/>
            </a:endParaRPr>
          </a:p>
          <a:p>
            <a:pPr marL="36639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identified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88037"/>
                </a:solidFill>
                <a:latin typeface="Courier New"/>
                <a:cs typeface="Courier New"/>
              </a:rPr>
              <a:t>SEM_NAME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66395" marR="43180" indent="-367030">
              <a:lnSpc>
                <a:spcPct val="114999"/>
              </a:lnSpc>
              <a:tabLst>
                <a:tab pos="366395" algn="l"/>
              </a:tabLst>
            </a:pPr>
            <a:r>
              <a:rPr sz="1800" spc="-770" dirty="0">
                <a:latin typeface="Arial MT"/>
                <a:cs typeface="Arial MT"/>
              </a:rPr>
              <a:t>●</a:t>
            </a:r>
            <a:r>
              <a:rPr sz="1800" dirty="0">
                <a:latin typeface="Arial MT"/>
                <a:cs typeface="Arial MT"/>
              </a:rPr>
              <a:t>	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O_CREAT</a:t>
            </a:r>
            <a:r>
              <a:rPr sz="1800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|</a:t>
            </a:r>
            <a:r>
              <a:rPr sz="1800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88037"/>
                </a:solidFill>
                <a:latin typeface="Courier New"/>
                <a:cs typeface="Courier New"/>
              </a:rPr>
              <a:t>O_EXCL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created </a:t>
            </a:r>
            <a:r>
              <a:rPr sz="1800" dirty="0">
                <a:latin typeface="Arial MT"/>
                <a:cs typeface="Arial MT"/>
              </a:rPr>
              <a:t>fresh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previous runs.</a:t>
            </a:r>
            <a:endParaRPr sz="1800">
              <a:latin typeface="Arial MT"/>
              <a:cs typeface="Arial MT"/>
            </a:endParaRPr>
          </a:p>
          <a:p>
            <a:pPr marL="366395" marR="27940" indent="-367030">
              <a:lnSpc>
                <a:spcPct val="114999"/>
              </a:lnSpc>
              <a:tabLst>
                <a:tab pos="366395" algn="l"/>
              </a:tabLst>
            </a:pPr>
            <a:r>
              <a:rPr sz="1800" spc="-770" dirty="0">
                <a:latin typeface="Arial MT"/>
                <a:cs typeface="Arial MT"/>
              </a:rPr>
              <a:t>●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0644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permissions</a:t>
            </a:r>
            <a:r>
              <a:rPr sz="1800" spc="-10" dirty="0">
                <a:latin typeface="Arial MT"/>
                <a:cs typeface="Arial MT"/>
              </a:rPr>
              <a:t> (read/write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owner,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read-only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others).</a:t>
            </a:r>
            <a:endParaRPr sz="1800">
              <a:latin typeface="Arial MT"/>
              <a:cs typeface="Arial MT"/>
            </a:endParaRPr>
          </a:p>
          <a:p>
            <a:pPr marL="366395" indent="-367030">
              <a:lnSpc>
                <a:spcPct val="114999"/>
              </a:lnSpc>
              <a:tabLst>
                <a:tab pos="366395" algn="l"/>
              </a:tabLst>
            </a:pPr>
            <a:r>
              <a:rPr sz="1800" spc="-770" dirty="0">
                <a:latin typeface="Arial MT"/>
                <a:cs typeface="Arial MT"/>
              </a:rPr>
              <a:t>●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PARKING_SPOTS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representing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spots.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8912" y="1725550"/>
            <a:ext cx="11301730" cy="4980305"/>
            <a:chOff x="658912" y="1725550"/>
            <a:chExt cx="11301730" cy="49803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3500" y="1725550"/>
              <a:ext cx="6897025" cy="49800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43949" y="2429800"/>
              <a:ext cx="6758940" cy="1297940"/>
            </a:xfrm>
            <a:custGeom>
              <a:avLst/>
              <a:gdLst/>
              <a:ahLst/>
              <a:cxnLst/>
              <a:rect l="l" t="t" r="r" b="b"/>
              <a:pathLst>
                <a:path w="6758940" h="1297939">
                  <a:moveTo>
                    <a:pt x="0" y="0"/>
                  </a:moveTo>
                  <a:lnTo>
                    <a:pt x="6758399" y="0"/>
                  </a:lnTo>
                  <a:lnTo>
                    <a:pt x="6758399" y="1297799"/>
                  </a:lnTo>
                  <a:lnTo>
                    <a:pt x="0" y="129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3674" y="1994700"/>
              <a:ext cx="10818495" cy="4593590"/>
            </a:xfrm>
            <a:custGeom>
              <a:avLst/>
              <a:gdLst/>
              <a:ahLst/>
              <a:cxnLst/>
              <a:rect l="l" t="t" r="r" b="b"/>
              <a:pathLst>
                <a:path w="10818495" h="4593590">
                  <a:moveTo>
                    <a:pt x="10817999" y="4592999"/>
                  </a:moveTo>
                  <a:lnTo>
                    <a:pt x="0" y="4592999"/>
                  </a:lnTo>
                  <a:lnTo>
                    <a:pt x="0" y="0"/>
                  </a:lnTo>
                  <a:lnTo>
                    <a:pt x="10817999" y="0"/>
                  </a:lnTo>
                  <a:lnTo>
                    <a:pt x="10817999" y="45929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3674" y="1994700"/>
              <a:ext cx="10818495" cy="4593590"/>
            </a:xfrm>
            <a:custGeom>
              <a:avLst/>
              <a:gdLst/>
              <a:ahLst/>
              <a:cxnLst/>
              <a:rect l="l" t="t" r="r" b="b"/>
              <a:pathLst>
                <a:path w="10818495" h="4593590">
                  <a:moveTo>
                    <a:pt x="0" y="0"/>
                  </a:moveTo>
                  <a:lnTo>
                    <a:pt x="10817999" y="0"/>
                  </a:lnTo>
                  <a:lnTo>
                    <a:pt x="10817999" y="4592999"/>
                  </a:lnTo>
                  <a:lnTo>
                    <a:pt x="0" y="4592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12775" y="2146389"/>
            <a:ext cx="21697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O_CREAT</a:t>
            </a:r>
            <a:r>
              <a:rPr sz="1700" b="1" spc="-11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(Create)</a:t>
            </a:r>
            <a:r>
              <a:rPr sz="1700" b="1" spc="-1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1030" y="2557869"/>
            <a:ext cx="9766935" cy="62166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405"/>
              </a:spcBef>
              <a:buFont typeface="Arial MT"/>
              <a:buChar char="●"/>
              <a:tabLst>
                <a:tab pos="371475" algn="l"/>
              </a:tabLst>
            </a:pPr>
            <a:r>
              <a:rPr sz="1700" b="1" dirty="0">
                <a:latin typeface="Arial"/>
                <a:cs typeface="Arial"/>
              </a:rPr>
              <a:t>Purpose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Creates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semaphore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if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doesn’t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already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exist.</a:t>
            </a:r>
            <a:endParaRPr sz="1700">
              <a:latin typeface="Arial MT"/>
              <a:cs typeface="Arial MT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371475" algn="l"/>
              </a:tabLst>
            </a:pPr>
            <a:r>
              <a:rPr sz="1700" b="1" dirty="0">
                <a:latin typeface="Arial"/>
                <a:cs typeface="Arial"/>
              </a:rPr>
              <a:t>Use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Case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Needed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when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you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want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ensure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semaphore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created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if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it's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already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available.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2775" y="3345014"/>
            <a:ext cx="9557385" cy="282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O_EXCL</a:t>
            </a:r>
            <a:r>
              <a:rPr sz="1700" b="1" spc="-9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(Exclusive)</a:t>
            </a:r>
            <a:r>
              <a:rPr sz="1700" b="1" spc="-10" dirty="0">
                <a:latin typeface="Arial"/>
                <a:cs typeface="Arial"/>
              </a:rPr>
              <a:t>:</a:t>
            </a:r>
            <a:endParaRPr sz="1700" dirty="0">
              <a:latin typeface="Arial"/>
              <a:cs typeface="Arial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Arial MT"/>
              <a:buChar char="●"/>
              <a:tabLst>
                <a:tab pos="469265" algn="l"/>
              </a:tabLst>
            </a:pPr>
            <a:r>
              <a:rPr sz="1700" b="1" dirty="0">
                <a:latin typeface="Arial"/>
                <a:cs typeface="Arial"/>
              </a:rPr>
              <a:t>Purpose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Ensures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sem_open</a:t>
            </a:r>
            <a:r>
              <a:rPr sz="17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will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fail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if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semaphore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already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exists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  <a:p>
            <a:pPr marL="469900" marR="5080" indent="-35941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sz="1700" b="1" dirty="0">
                <a:latin typeface="Arial"/>
                <a:cs typeface="Arial"/>
              </a:rPr>
              <a:t>Use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Case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Prevents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accidental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reuse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existing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semaphore.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This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useful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avoiding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race </a:t>
            </a:r>
            <a:r>
              <a:rPr sz="1700" dirty="0">
                <a:latin typeface="Arial MT"/>
                <a:cs typeface="Arial MT"/>
              </a:rPr>
              <a:t>conditions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during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initialization.</a:t>
            </a:r>
            <a:endParaRPr sz="1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Arial"/>
                <a:cs typeface="Arial"/>
              </a:rPr>
              <a:t>Combined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(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O_CREAT</a:t>
            </a:r>
            <a:r>
              <a:rPr sz="1700" b="1" spc="-6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|</a:t>
            </a:r>
            <a:r>
              <a:rPr sz="1700" b="1" spc="-6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O_EXCL</a:t>
            </a:r>
            <a:r>
              <a:rPr sz="1700" b="1" spc="-10" dirty="0">
                <a:latin typeface="Arial"/>
                <a:cs typeface="Arial"/>
              </a:rPr>
              <a:t>):</a:t>
            </a:r>
            <a:endParaRPr sz="1700" dirty="0">
              <a:latin typeface="Arial"/>
              <a:cs typeface="Arial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Char char="●"/>
              <a:tabLst>
                <a:tab pos="469265" algn="l"/>
              </a:tabLst>
            </a:pPr>
            <a:r>
              <a:rPr sz="1700" spc="-35" dirty="0">
                <a:latin typeface="Arial MT"/>
                <a:cs typeface="Arial MT"/>
              </a:rPr>
              <a:t>Together,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these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flags:</a:t>
            </a:r>
            <a:endParaRPr sz="1700" dirty="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309"/>
              </a:spcBef>
              <a:buChar char="○"/>
              <a:tabLst>
                <a:tab pos="926465" algn="l"/>
              </a:tabLst>
            </a:pPr>
            <a:r>
              <a:rPr sz="1700" dirty="0">
                <a:latin typeface="Arial MT"/>
                <a:cs typeface="Arial MT"/>
              </a:rPr>
              <a:t>Create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semaphore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only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if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it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does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not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exist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305"/>
              </a:spcBef>
              <a:buChar char="○"/>
              <a:tabLst>
                <a:tab pos="926465" algn="l"/>
              </a:tabLst>
            </a:pPr>
            <a:r>
              <a:rPr sz="1700" dirty="0">
                <a:latin typeface="Arial MT"/>
                <a:cs typeface="Arial MT"/>
              </a:rPr>
              <a:t>Fail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error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EEXIST</a:t>
            </a:r>
            <a:r>
              <a:rPr sz="1700" dirty="0">
                <a:latin typeface="Arial MT"/>
                <a:cs typeface="Arial MT"/>
              </a:rPr>
              <a:t>)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if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semaphore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already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exists.</a:t>
            </a:r>
            <a:endParaRPr sz="17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Semaphores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1225" y="2058581"/>
            <a:ext cx="178435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980000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spc="-50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1749" y="2994317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1749" y="3625253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1749" y="4887124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61749" y="5518060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70" dirty="0"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21085" y="2092935"/>
            <a:ext cx="3914775" cy="4345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989"/>
              </a:lnSpc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emaphore</a:t>
            </a:r>
            <a:r>
              <a:rPr sz="18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Creation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em_open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32004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latin typeface="Arial MT"/>
                <a:cs typeface="Arial MT"/>
              </a:rPr>
              <a:t>Creates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named</a:t>
            </a:r>
            <a:r>
              <a:rPr sz="1800" b="1" spc="-10" dirty="0">
                <a:latin typeface="Arial"/>
                <a:cs typeface="Arial"/>
              </a:rPr>
              <a:t> semaphore</a:t>
            </a:r>
            <a:endParaRPr sz="1800">
              <a:latin typeface="Arial"/>
              <a:cs typeface="Arial"/>
            </a:endParaRPr>
          </a:p>
          <a:p>
            <a:pPr marL="320040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latin typeface="Arial MT"/>
                <a:cs typeface="Arial MT"/>
              </a:rPr>
              <a:t>identified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88037"/>
                </a:solidFill>
                <a:latin typeface="Courier New"/>
                <a:cs typeface="Courier New"/>
              </a:rPr>
              <a:t>SEM_NAME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20040" marR="43180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O_CREAT</a:t>
            </a:r>
            <a:r>
              <a:rPr sz="1800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|</a:t>
            </a:r>
            <a:r>
              <a:rPr sz="1800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88037"/>
                </a:solidFill>
                <a:latin typeface="Courier New"/>
                <a:cs typeface="Courier New"/>
              </a:rPr>
              <a:t>O_EXCL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created </a:t>
            </a:r>
            <a:r>
              <a:rPr sz="1800" dirty="0">
                <a:latin typeface="Arial MT"/>
                <a:cs typeface="Arial MT"/>
              </a:rPr>
              <a:t>fresh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previous runs.</a:t>
            </a:r>
            <a:endParaRPr sz="1800">
              <a:latin typeface="Arial MT"/>
              <a:cs typeface="Arial MT"/>
            </a:endParaRPr>
          </a:p>
          <a:p>
            <a:pPr marL="320040" marR="27940">
              <a:lnSpc>
                <a:spcPct val="114999"/>
              </a:lnSpc>
            </a:pP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0644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permissions</a:t>
            </a:r>
            <a:r>
              <a:rPr sz="1800" spc="-10" dirty="0">
                <a:latin typeface="Arial MT"/>
                <a:cs typeface="Arial MT"/>
              </a:rPr>
              <a:t> (read/write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owner,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read-only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others).</a:t>
            </a:r>
            <a:endParaRPr sz="1800">
              <a:latin typeface="Arial MT"/>
              <a:cs typeface="Arial MT"/>
            </a:endParaRPr>
          </a:p>
          <a:p>
            <a:pPr marL="320040">
              <a:lnSpc>
                <a:spcPct val="114999"/>
              </a:lnSpc>
            </a:pPr>
            <a:r>
              <a:rPr sz="1800" dirty="0">
                <a:solidFill>
                  <a:srgbClr val="188037"/>
                </a:solidFill>
                <a:latin typeface="Courier New"/>
                <a:cs typeface="Courier New"/>
              </a:rPr>
              <a:t>PARKING_SPOTS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Initializes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representing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available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spots.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92087" y="1725550"/>
            <a:ext cx="11268710" cy="4980305"/>
            <a:chOff x="692087" y="1725550"/>
            <a:chExt cx="11268710" cy="498030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3500" y="1725550"/>
              <a:ext cx="6897025" cy="49800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43950" y="2429800"/>
              <a:ext cx="6758940" cy="1297940"/>
            </a:xfrm>
            <a:custGeom>
              <a:avLst/>
              <a:gdLst/>
              <a:ahLst/>
              <a:cxnLst/>
              <a:rect l="l" t="t" r="r" b="b"/>
              <a:pathLst>
                <a:path w="6758940" h="1297939">
                  <a:moveTo>
                    <a:pt x="0" y="0"/>
                  </a:moveTo>
                  <a:lnTo>
                    <a:pt x="6758399" y="0"/>
                  </a:lnTo>
                  <a:lnTo>
                    <a:pt x="6758399" y="1297799"/>
                  </a:lnTo>
                  <a:lnTo>
                    <a:pt x="0" y="129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6850" y="1872325"/>
              <a:ext cx="10541635" cy="4715510"/>
            </a:xfrm>
            <a:custGeom>
              <a:avLst/>
              <a:gdLst/>
              <a:ahLst/>
              <a:cxnLst/>
              <a:rect l="l" t="t" r="r" b="b"/>
              <a:pathLst>
                <a:path w="10541635" h="4715509">
                  <a:moveTo>
                    <a:pt x="10541399" y="4715399"/>
                  </a:moveTo>
                  <a:lnTo>
                    <a:pt x="0" y="4715399"/>
                  </a:lnTo>
                  <a:lnTo>
                    <a:pt x="0" y="0"/>
                  </a:lnTo>
                  <a:lnTo>
                    <a:pt x="10541399" y="0"/>
                  </a:lnTo>
                  <a:lnTo>
                    <a:pt x="10541399" y="47153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6850" y="1872325"/>
              <a:ext cx="10541635" cy="4715510"/>
            </a:xfrm>
            <a:custGeom>
              <a:avLst/>
              <a:gdLst/>
              <a:ahLst/>
              <a:cxnLst/>
              <a:rect l="l" t="t" r="r" b="b"/>
              <a:pathLst>
                <a:path w="10541635" h="4715509">
                  <a:moveTo>
                    <a:pt x="0" y="0"/>
                  </a:moveTo>
                  <a:lnTo>
                    <a:pt x="10541399" y="0"/>
                  </a:lnTo>
                  <a:lnTo>
                    <a:pt x="10541399" y="4715399"/>
                  </a:lnTo>
                  <a:lnTo>
                    <a:pt x="0" y="4715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77350" y="2060847"/>
            <a:ext cx="8688070" cy="284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0644</a:t>
            </a:r>
            <a:r>
              <a:rPr sz="1600" b="1" spc="-49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latin typeface="Arial"/>
                <a:cs typeface="Arial"/>
              </a:rPr>
              <a:t>(Mode)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600" b="1" spc="-10" dirty="0">
                <a:latin typeface="Arial"/>
                <a:cs typeface="Arial"/>
              </a:rPr>
              <a:t>Purpose:</a:t>
            </a:r>
            <a:endParaRPr sz="1600" dirty="0">
              <a:latin typeface="Arial"/>
              <a:cs typeface="Arial"/>
            </a:endParaRPr>
          </a:p>
          <a:p>
            <a:pPr marL="469265" indent="-351155">
              <a:lnSpc>
                <a:spcPct val="100000"/>
              </a:lnSpc>
              <a:spcBef>
                <a:spcPts val="14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mode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specifies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permissions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semaphore,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similar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permissions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Unix.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0644</a:t>
            </a:r>
            <a:r>
              <a:rPr sz="1600" b="1" spc="-49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latin typeface="Arial"/>
                <a:cs typeface="Arial"/>
              </a:rPr>
              <a:t>Breakdown:</a:t>
            </a:r>
            <a:endParaRPr sz="1600" dirty="0">
              <a:latin typeface="Arial"/>
              <a:cs typeface="Arial"/>
            </a:endParaRPr>
          </a:p>
          <a:p>
            <a:pPr marL="469265" indent="-351155">
              <a:lnSpc>
                <a:spcPct val="100000"/>
              </a:lnSpc>
              <a:spcBef>
                <a:spcPts val="14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octal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defines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"/>
                <a:cs typeface="Arial"/>
              </a:rPr>
              <a:t>read/write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permissions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Font typeface="Arial MT"/>
              <a:buChar char="○"/>
              <a:tabLst>
                <a:tab pos="9264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6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(owner):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4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+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Write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(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2</a:t>
            </a:r>
            <a:r>
              <a:rPr sz="1600" spc="-20" dirty="0">
                <a:latin typeface="Arial MT"/>
                <a:cs typeface="Arial MT"/>
              </a:rPr>
              <a:t>).</a:t>
            </a:r>
            <a:endParaRPr sz="1600" dirty="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Font typeface="Arial MT"/>
              <a:buChar char="○"/>
              <a:tabLst>
                <a:tab pos="9264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4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(group):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(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4</a:t>
            </a:r>
            <a:r>
              <a:rPr sz="1600" spc="-20" dirty="0">
                <a:latin typeface="Arial MT"/>
                <a:cs typeface="Arial MT"/>
              </a:rPr>
              <a:t>).</a:t>
            </a:r>
            <a:endParaRPr sz="1600" dirty="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Font typeface="Arial MT"/>
              <a:buChar char="○"/>
              <a:tabLst>
                <a:tab pos="926465" algn="l"/>
              </a:tabLst>
            </a:pP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4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(others):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(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4</a:t>
            </a:r>
            <a:r>
              <a:rPr sz="1600" spc="-20" dirty="0">
                <a:latin typeface="Arial MT"/>
                <a:cs typeface="Arial MT"/>
              </a:rPr>
              <a:t>).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7350" y="5066174"/>
            <a:ext cx="249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Explanation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for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Students: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3246" y="5462414"/>
            <a:ext cx="6483350" cy="8667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Font typeface="Arial MT"/>
              <a:buChar char="●"/>
              <a:tabLst>
                <a:tab pos="363855" algn="l"/>
              </a:tabLst>
            </a:pPr>
            <a:r>
              <a:rPr sz="1600" b="1" dirty="0">
                <a:latin typeface="Arial"/>
                <a:cs typeface="Arial"/>
              </a:rPr>
              <a:t>Owner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(creator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semaphore)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read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and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write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 MT"/>
                <a:cs typeface="Arial MT"/>
              </a:rPr>
              <a:t>permissions.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363855" algn="l"/>
              </a:tabLst>
            </a:pPr>
            <a:r>
              <a:rPr sz="1600" b="1" dirty="0">
                <a:latin typeface="Arial"/>
                <a:cs typeface="Arial"/>
              </a:rPr>
              <a:t>Group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others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have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"/>
                <a:cs typeface="Arial"/>
              </a:rPr>
              <a:t>read-</a:t>
            </a:r>
            <a:r>
              <a:rPr sz="1600" b="1" dirty="0">
                <a:latin typeface="Arial"/>
                <a:cs typeface="Arial"/>
              </a:rPr>
              <a:t>only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 MT"/>
                <a:cs typeface="Arial MT"/>
              </a:rPr>
              <a:t>permissions.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typical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setting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semaphores.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543538"/>
            <a:ext cx="4314190" cy="2910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Semaphores</a:t>
            </a:r>
            <a:endParaRPr sz="1800" dirty="0">
              <a:latin typeface="Georgia"/>
              <a:cs typeface="Georgia"/>
            </a:endParaRPr>
          </a:p>
          <a:p>
            <a:pPr marL="73025">
              <a:lnSpc>
                <a:spcPct val="100000"/>
              </a:lnSpc>
              <a:spcBef>
                <a:spcPts val="1895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Semaphore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Creation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800" dirty="0">
              <a:latin typeface="Arial"/>
              <a:cs typeface="Arial"/>
            </a:endParaRPr>
          </a:p>
          <a:p>
            <a:pPr marL="7302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Error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Handling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530225" marR="50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53022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created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conflict),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sem_open </a:t>
            </a:r>
            <a:r>
              <a:rPr sz="1800" dirty="0">
                <a:latin typeface="Arial MT"/>
                <a:cs typeface="Arial MT"/>
              </a:rPr>
              <a:t>returns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SEM_FAILED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message.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29662" y="1725550"/>
            <a:ext cx="6931025" cy="4980305"/>
            <a:chOff x="5029662" y="1725550"/>
            <a:chExt cx="6931025" cy="4980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3500" y="1725550"/>
              <a:ext cx="6897025" cy="49800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2429800"/>
              <a:ext cx="6758940" cy="1297940"/>
            </a:xfrm>
            <a:custGeom>
              <a:avLst/>
              <a:gdLst/>
              <a:ahLst/>
              <a:cxnLst/>
              <a:rect l="l" t="t" r="r" b="b"/>
              <a:pathLst>
                <a:path w="6758940" h="1297939">
                  <a:moveTo>
                    <a:pt x="0" y="0"/>
                  </a:moveTo>
                  <a:lnTo>
                    <a:pt x="6758399" y="0"/>
                  </a:lnTo>
                  <a:lnTo>
                    <a:pt x="6758399" y="1297799"/>
                  </a:lnTo>
                  <a:lnTo>
                    <a:pt x="0" y="1297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88547"/>
            <a:ext cx="4025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449482"/>
            <a:ext cx="4297045" cy="507936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spc="-10" dirty="0">
                <a:solidFill>
                  <a:srgbClr val="0F2044"/>
                </a:solidFill>
                <a:latin typeface="Georgia"/>
                <a:cs typeface="Georgia"/>
              </a:rPr>
              <a:t>Semaphores</a:t>
            </a:r>
            <a:endParaRPr sz="1800" dirty="0">
              <a:latin typeface="Georgia"/>
              <a:cs typeface="Georgia"/>
            </a:endParaRPr>
          </a:p>
          <a:p>
            <a:pPr marL="73025">
              <a:lnSpc>
                <a:spcPct val="100000"/>
              </a:lnSpc>
              <a:spcBef>
                <a:spcPts val="700"/>
              </a:spcBef>
            </a:pPr>
            <a:r>
              <a:rPr sz="1700" b="1" dirty="0">
                <a:solidFill>
                  <a:srgbClr val="980000"/>
                </a:solidFill>
                <a:latin typeface="Arial"/>
                <a:cs typeface="Arial"/>
              </a:rPr>
              <a:t>Thread</a:t>
            </a:r>
            <a:r>
              <a:rPr sz="1700" b="1" spc="-7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980000"/>
                </a:solidFill>
                <a:latin typeface="Arial"/>
                <a:cs typeface="Arial"/>
              </a:rPr>
              <a:t>Creation</a:t>
            </a:r>
            <a:r>
              <a:rPr sz="1700" b="1" spc="-6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980000"/>
                </a:solidFill>
                <a:latin typeface="Arial"/>
                <a:cs typeface="Arial"/>
              </a:rPr>
              <a:t>&amp;</a:t>
            </a:r>
            <a:r>
              <a:rPr sz="1700" b="1" spc="-7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980000"/>
                </a:solidFill>
                <a:latin typeface="Arial"/>
                <a:cs typeface="Arial"/>
              </a:rPr>
              <a:t>Joining</a:t>
            </a:r>
            <a:endParaRPr sz="1700" dirty="0">
              <a:latin typeface="Arial"/>
              <a:cs typeface="Arial"/>
            </a:endParaRPr>
          </a:p>
          <a:p>
            <a:pPr marL="73025" marR="39370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Creates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10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threads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cars</a:t>
            </a:r>
            <a:r>
              <a:rPr sz="1700" dirty="0">
                <a:latin typeface="Arial MT"/>
                <a:cs typeface="Arial MT"/>
              </a:rPr>
              <a:t>),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each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simulating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car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attempting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park.</a:t>
            </a:r>
            <a:endParaRPr sz="1700" dirty="0">
              <a:latin typeface="Arial MT"/>
              <a:cs typeface="Arial MT"/>
            </a:endParaRPr>
          </a:p>
          <a:p>
            <a:pPr marL="301625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pthread_create</a:t>
            </a:r>
            <a:r>
              <a:rPr sz="1700" spc="-10" dirty="0">
                <a:latin typeface="Arial MT"/>
                <a:cs typeface="Arial MT"/>
              </a:rPr>
              <a:t>:</a:t>
            </a:r>
            <a:endParaRPr sz="1700" dirty="0">
              <a:latin typeface="Arial MT"/>
              <a:cs typeface="Arial MT"/>
            </a:endParaRPr>
          </a:p>
          <a:p>
            <a:pPr marL="530225" marR="22860" indent="-359410">
              <a:lnSpc>
                <a:spcPct val="114999"/>
              </a:lnSpc>
              <a:spcBef>
                <a:spcPts val="1200"/>
              </a:spcBef>
              <a:buChar char="●"/>
              <a:tabLst>
                <a:tab pos="530225" algn="l"/>
              </a:tabLst>
            </a:pPr>
            <a:r>
              <a:rPr sz="1700" spc="-30" dirty="0">
                <a:latin typeface="Arial MT"/>
                <a:cs typeface="Arial MT"/>
              </a:rPr>
              <a:t>Takes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thread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car</a:t>
            </a:r>
            <a:r>
              <a:rPr sz="1700" dirty="0">
                <a:latin typeface="Arial MT"/>
                <a:cs typeface="Arial MT"/>
              </a:rPr>
              <a:t>)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entry function.</a:t>
            </a:r>
            <a:endParaRPr sz="1700" dirty="0">
              <a:latin typeface="Arial MT"/>
              <a:cs typeface="Arial MT"/>
            </a:endParaRPr>
          </a:p>
          <a:p>
            <a:pPr marL="530225" indent="-358775">
              <a:lnSpc>
                <a:spcPct val="100000"/>
              </a:lnSpc>
              <a:spcBef>
                <a:spcPts val="305"/>
              </a:spcBef>
              <a:buChar char="●"/>
              <a:tabLst>
                <a:tab pos="530225" algn="l"/>
              </a:tabLst>
            </a:pPr>
            <a:r>
              <a:rPr sz="1700" dirty="0">
                <a:latin typeface="Arial MT"/>
                <a:cs typeface="Arial MT"/>
              </a:rPr>
              <a:t>Passes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car's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unique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i</a:t>
            </a:r>
            <a:r>
              <a:rPr sz="1700" dirty="0">
                <a:latin typeface="Arial MT"/>
                <a:cs typeface="Arial MT"/>
              </a:rPr>
              <a:t>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cast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as</a:t>
            </a:r>
            <a:endParaRPr sz="1700" dirty="0">
              <a:latin typeface="Arial MT"/>
              <a:cs typeface="Arial MT"/>
            </a:endParaRPr>
          </a:p>
          <a:p>
            <a:pPr marL="530225">
              <a:lnSpc>
                <a:spcPct val="100000"/>
              </a:lnSpc>
              <a:spcBef>
                <a:spcPts val="305"/>
              </a:spcBef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void*</a:t>
            </a:r>
            <a:r>
              <a:rPr sz="1700" dirty="0">
                <a:latin typeface="Arial MT"/>
                <a:cs typeface="Arial MT"/>
              </a:rPr>
              <a:t>)</a:t>
            </a:r>
            <a:r>
              <a:rPr sz="1700" b="1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distinguish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between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threads.</a:t>
            </a:r>
            <a:endParaRPr sz="1700" dirty="0">
              <a:latin typeface="Arial MT"/>
              <a:cs typeface="Arial MT"/>
            </a:endParaRPr>
          </a:p>
          <a:p>
            <a:pPr marL="73025" marR="230504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Ensures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main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function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waits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10 </a:t>
            </a:r>
            <a:r>
              <a:rPr sz="1700" dirty="0">
                <a:latin typeface="Arial MT"/>
                <a:cs typeface="Arial MT"/>
              </a:rPr>
              <a:t>threads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(cars)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complete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before proceeding.</a:t>
            </a:r>
            <a:endParaRPr sz="1700" dirty="0">
              <a:latin typeface="Arial MT"/>
              <a:cs typeface="Arial MT"/>
            </a:endParaRPr>
          </a:p>
          <a:p>
            <a:pPr marL="73025" marR="161925">
              <a:lnSpc>
                <a:spcPct val="114999"/>
              </a:lnSpc>
              <a:spcBef>
                <a:spcPts val="1200"/>
              </a:spcBef>
            </a:pPr>
            <a:r>
              <a:rPr sz="1700" dirty="0">
                <a:latin typeface="Arial MT"/>
                <a:cs typeface="Arial MT"/>
              </a:rPr>
              <a:t>Prevents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program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exiting </a:t>
            </a:r>
            <a:r>
              <a:rPr sz="1700" dirty="0">
                <a:latin typeface="Arial MT"/>
                <a:cs typeface="Arial MT"/>
              </a:rPr>
              <a:t>prematurely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while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threads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still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running.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4" name="object 4" descr="Two for loops in the main function: the first creates 10 &quot;car&quot; threads using pthread_create, and the second waits for all 10 threads to finish using pthread_join."/>
          <p:cNvGrpSpPr/>
          <p:nvPr/>
        </p:nvGrpSpPr>
        <p:grpSpPr>
          <a:xfrm>
            <a:off x="5029662" y="1725550"/>
            <a:ext cx="6931025" cy="4980305"/>
            <a:chOff x="5029662" y="1725550"/>
            <a:chExt cx="6931025" cy="4980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3500" y="1725550"/>
              <a:ext cx="6897025" cy="49800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3725199"/>
              <a:ext cx="6758940" cy="1540510"/>
            </a:xfrm>
            <a:custGeom>
              <a:avLst/>
              <a:gdLst/>
              <a:ahLst/>
              <a:cxnLst/>
              <a:rect l="l" t="t" r="r" b="b"/>
              <a:pathLst>
                <a:path w="6758940" h="1540510">
                  <a:moveTo>
                    <a:pt x="0" y="0"/>
                  </a:moveTo>
                  <a:lnTo>
                    <a:pt x="6758399" y="0"/>
                  </a:lnTo>
                  <a:lnTo>
                    <a:pt x="6758399" y="1539899"/>
                  </a:lnTo>
                  <a:lnTo>
                    <a:pt x="0" y="1539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spc="-10" dirty="0"/>
              <a:t>Synchronization</a:t>
            </a:r>
            <a:r>
              <a:rPr spc="-110" dirty="0"/>
              <a:t> </a:t>
            </a:r>
            <a:r>
              <a:rPr spc="-10" dirty="0"/>
              <a:t>Mechanism</a:t>
            </a:r>
          </a:p>
          <a:p>
            <a:pPr marL="12700">
              <a:lnSpc>
                <a:spcPts val="2060"/>
              </a:lnSpc>
            </a:pPr>
            <a:r>
              <a:rPr sz="1800" spc="-10" dirty="0"/>
              <a:t>Semaphores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471225" y="2363381"/>
            <a:ext cx="4318635" cy="374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Semaphore</a:t>
            </a:r>
            <a:r>
              <a:rPr sz="1800" b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Cleanup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sem_close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469900" marR="12065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Closes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semaphore,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releasing</a:t>
            </a:r>
            <a:r>
              <a:rPr sz="1800" spc="-25" dirty="0">
                <a:latin typeface="Arial MT"/>
                <a:cs typeface="Arial MT"/>
              </a:rPr>
              <a:t> the </a:t>
            </a:r>
            <a:r>
              <a:rPr sz="1800" dirty="0">
                <a:latin typeface="Arial MT"/>
                <a:cs typeface="Arial MT"/>
              </a:rPr>
              <a:t>process-specific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reference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sem_unlink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Removes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semaphore </a:t>
            </a:r>
            <a:r>
              <a:rPr sz="1800" b="1" dirty="0">
                <a:latin typeface="Arial MT"/>
                <a:cs typeface="Arial MT"/>
              </a:rPr>
              <a:t>(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/parking_lot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system, </a:t>
            </a:r>
            <a:r>
              <a:rPr sz="1800" dirty="0">
                <a:latin typeface="Arial MT"/>
                <a:cs typeface="Arial MT"/>
              </a:rPr>
              <a:t>ensuring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lingering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system-</a:t>
            </a:r>
            <a:r>
              <a:rPr sz="1800" spc="-20" dirty="0">
                <a:latin typeface="Arial MT"/>
                <a:cs typeface="Arial MT"/>
              </a:rPr>
              <a:t>wide </a:t>
            </a:r>
            <a:r>
              <a:rPr sz="1800" dirty="0">
                <a:latin typeface="Arial MT"/>
                <a:cs typeface="Arial MT"/>
              </a:rPr>
              <a:t>semaphore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remains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 exits.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 descr="The cleanup section at the end of the main function, showing the semaphore being closed with sem_close and removed from the system with sem_unlink."/>
          <p:cNvGrpSpPr/>
          <p:nvPr/>
        </p:nvGrpSpPr>
        <p:grpSpPr>
          <a:xfrm>
            <a:off x="5029662" y="1725550"/>
            <a:ext cx="6931025" cy="4980305"/>
            <a:chOff x="5029662" y="1725550"/>
            <a:chExt cx="6931025" cy="4980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3500" y="1725550"/>
              <a:ext cx="6897025" cy="49800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43949" y="5243050"/>
              <a:ext cx="6758940" cy="796290"/>
            </a:xfrm>
            <a:custGeom>
              <a:avLst/>
              <a:gdLst/>
              <a:ahLst/>
              <a:cxnLst/>
              <a:rect l="l" t="t" r="r" b="b"/>
              <a:pathLst>
                <a:path w="6758940" h="796289">
                  <a:moveTo>
                    <a:pt x="0" y="0"/>
                  </a:moveTo>
                  <a:lnTo>
                    <a:pt x="6758399" y="0"/>
                  </a:lnTo>
                  <a:lnTo>
                    <a:pt x="6758399" y="796199"/>
                  </a:lnTo>
                  <a:lnTo>
                    <a:pt x="0" y="796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3335</Words>
  <Application>Microsoft Office PowerPoint</Application>
  <PresentationFormat>Widescreen</PresentationFormat>
  <Paragraphs>364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Arial</vt:lpstr>
      <vt:lpstr>Arial MT</vt:lpstr>
      <vt:lpstr>Courier New</vt:lpstr>
      <vt:lpstr>Georgia</vt:lpstr>
      <vt:lpstr>Roboto</vt:lpstr>
      <vt:lpstr>Office Theme</vt:lpstr>
      <vt:lpstr>CSC 362: System Programming</vt:lpstr>
      <vt:lpstr>Status Check</vt:lpstr>
      <vt:lpstr>Synchronization Mechanism</vt:lpstr>
      <vt:lpstr>Synchronization Mechanism</vt:lpstr>
      <vt:lpstr>Synchronization Mechanism</vt:lpstr>
      <vt:lpstr>Synchronization Mechanism</vt:lpstr>
      <vt:lpstr>Synchronization Mechanism Dekker’s Algorithm</vt:lpstr>
      <vt:lpstr>Synchronization Mechanism Dekker’s Algorithm</vt:lpstr>
      <vt:lpstr>Synchronization Mechanism</vt:lpstr>
      <vt:lpstr>Synchronization Mechanism Dekker’s Algorithm</vt:lpstr>
      <vt:lpstr>Synchronization Mechanism Dekker’s Algorithm</vt:lpstr>
      <vt:lpstr>Synchronization Mechanism</vt:lpstr>
      <vt:lpstr>Why Dekker Fails on Modern Systems</vt:lpstr>
      <vt:lpstr>Dekker’s Algorithm assumes strict memory visibility between threads.</vt:lpstr>
      <vt:lpstr>Why Dekker Fails on Modern Systems</vt:lpstr>
      <vt:lpstr>Synchronization Mechanism</vt:lpstr>
      <vt:lpstr>Synchronization Mechanism Condition Variables</vt:lpstr>
      <vt:lpstr>Synchronization Mechanism</vt:lpstr>
      <vt:lpstr>Synchronization Mechanism</vt:lpstr>
      <vt:lpstr>Synchronization Mechanism Condition Variables</vt:lpstr>
      <vt:lpstr>Synchronization Mechanism Condition Variables</vt:lpstr>
      <vt:lpstr>Synchronization Mechanism Condition Variables</vt:lpstr>
      <vt:lpstr>Synchronization Mechanism</vt:lpstr>
      <vt:lpstr>Synchronization Mechanism</vt:lpstr>
      <vt:lpstr>Synchronization Mechanism Semaphores</vt:lpstr>
      <vt:lpstr>Synchronization Mechanism Semaphores</vt:lpstr>
      <vt:lpstr>Synchronization Mechanism Semaphores</vt:lpstr>
      <vt:lpstr>Synchronization Mechanism Semaphores</vt:lpstr>
      <vt:lpstr>Synchronization Mechanism Semaphores</vt:lpstr>
      <vt:lpstr>Synchronization Mechanism</vt:lpstr>
      <vt:lpstr>Synchronization Mechanism</vt:lpstr>
      <vt:lpstr>Synchronization Mechanism</vt:lpstr>
      <vt:lpstr>Synchronization Mechanism</vt:lpstr>
      <vt:lpstr>Synchronization Mechanism</vt:lpstr>
      <vt:lpstr>Synchronization Mechanism</vt:lpstr>
      <vt:lpstr>Synchronization Mechanism Semaphores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19.pptx</dc:title>
  <cp:lastModifiedBy>Richard Johnson</cp:lastModifiedBy>
  <cp:revision>28</cp:revision>
  <dcterms:created xsi:type="dcterms:W3CDTF">2026-01-14T01:01:34Z</dcterms:created>
  <dcterms:modified xsi:type="dcterms:W3CDTF">2026-04-05T03:31:58Z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