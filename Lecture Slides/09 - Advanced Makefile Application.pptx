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129" autoAdjust="0"/>
  </p:normalViewPr>
  <p:slideViewPr>
    <p:cSldViewPr>
      <p:cViewPr varScale="1">
        <p:scale>
          <a:sx n="63" d="100"/>
          <a:sy n="63" d="100"/>
        </p:scale>
        <p:origin x="135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E76BB-6DFD-43A7-9965-39C518A808E1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24179-4E93-4618-9AF6-FDCFB02CA5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33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See example:</a:t>
            </a:r>
          </a:p>
          <a:p>
            <a:r>
              <a:rPr lang="en-US" dirty="0"/>
              <a:t>Phony Target directory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24179-4E93-4618-9AF6-FDCFB02CA55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707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See example:</a:t>
            </a:r>
          </a:p>
          <a:p>
            <a:r>
              <a:rPr lang="en-US" dirty="0"/>
              <a:t>Phony Target directory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24179-4E93-4618-9AF6-FDCFB02CA55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692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See example:</a:t>
            </a:r>
          </a:p>
          <a:p>
            <a:r>
              <a:rPr lang="en-US" dirty="0"/>
              <a:t>Automatic Variables directory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24179-4E93-4618-9AF6-FDCFB02CA55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35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24179-4E93-4618-9AF6-FDCFB02CA55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90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See example:</a:t>
            </a:r>
          </a:p>
          <a:p>
            <a:r>
              <a:rPr lang="en-US" dirty="0"/>
              <a:t>Pattern Rules directory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24179-4E93-4618-9AF6-FDCFB02CA55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893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See example:</a:t>
            </a:r>
          </a:p>
          <a:p>
            <a:r>
              <a:rPr lang="en-US" dirty="0"/>
              <a:t>Conditional Directives directory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24179-4E93-4618-9AF6-FDCFB02CA55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4977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u="sng" dirty="0"/>
              <a:t>See example:</a:t>
            </a:r>
          </a:p>
          <a:p>
            <a:r>
              <a:rPr lang="en-US"/>
              <a:t>Recursive Make directory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C24179-4E93-4618-9AF6-FDCFB02CA55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98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33945"/>
            <a:ext cx="12192000" cy="10090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375" y="1689861"/>
            <a:ext cx="3161029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8650" y="2373321"/>
            <a:ext cx="6504940" cy="4128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2183" y="2702546"/>
            <a:ext cx="866203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CSC</a:t>
            </a:r>
            <a:r>
              <a:rPr sz="4900" spc="-85" dirty="0"/>
              <a:t> </a:t>
            </a:r>
            <a:r>
              <a:rPr sz="4900" dirty="0"/>
              <a:t>362:</a:t>
            </a:r>
            <a:r>
              <a:rPr sz="4900" spc="-85" dirty="0"/>
              <a:t> </a:t>
            </a:r>
            <a:r>
              <a:rPr sz="4900" dirty="0"/>
              <a:t>System</a:t>
            </a:r>
            <a:r>
              <a:rPr sz="4900" spc="-90" dirty="0"/>
              <a:t> </a:t>
            </a:r>
            <a:r>
              <a:rPr sz="4900" spc="-10" dirty="0"/>
              <a:t>Programming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5447878" y="3585985"/>
            <a:ext cx="1296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Lecture</a:t>
            </a:r>
            <a:r>
              <a:rPr sz="2400" spc="-1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50" dirty="0">
                <a:solidFill>
                  <a:srgbClr val="0F2044"/>
                </a:solidFill>
                <a:latin typeface="Arial MT"/>
                <a:cs typeface="Arial MT"/>
              </a:rPr>
              <a:t>9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18174" y="4145624"/>
            <a:ext cx="9054465" cy="31115"/>
          </a:xfrm>
          <a:custGeom>
            <a:avLst/>
            <a:gdLst/>
            <a:ahLst/>
            <a:cxnLst/>
            <a:rect l="l" t="t" r="r" b="b"/>
            <a:pathLst>
              <a:path w="9054465" h="31114">
                <a:moveTo>
                  <a:pt x="0" y="0"/>
                </a:moveTo>
                <a:lnTo>
                  <a:pt x="9053999" y="30899"/>
                </a:lnTo>
              </a:path>
            </a:pathLst>
          </a:custGeom>
          <a:ln w="9524">
            <a:solidFill>
              <a:srgbClr val="0F20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1898AB-56AD-9B82-6719-73AA5AC59EF1}"/>
              </a:ext>
            </a:extLst>
          </p:cNvPr>
          <p:cNvSpPr txBox="1"/>
          <p:nvPr/>
        </p:nvSpPr>
        <p:spPr>
          <a:xfrm>
            <a:off x="3098244" y="4267200"/>
            <a:ext cx="6094324" cy="67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dirty="0"/>
              <a:t>Original slides by: Amitabha Dey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dirty="0"/>
              <a:t>Adapted by: Dr. Richard Johnson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03401" y="5437645"/>
            <a:ext cx="57823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617855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Department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Computer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Science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University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North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Carolina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at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Greensboro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295400"/>
            <a:ext cx="183451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Status</a:t>
            </a:r>
            <a:r>
              <a:rPr spc="-30" dirty="0"/>
              <a:t> </a:t>
            </a:r>
            <a:r>
              <a:rPr spc="-10" dirty="0"/>
              <a:t>Check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325" y="1690460"/>
            <a:ext cx="5867400" cy="47879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469265" indent="-366395">
              <a:lnSpc>
                <a:spcPct val="100000"/>
              </a:lnSpc>
              <a:spcBef>
                <a:spcPts val="118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Compiling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Multi-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File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Projects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&amp;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Dependency</a:t>
            </a:r>
            <a:r>
              <a:rPr sz="18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Tracking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1080"/>
              </a:spcBef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Basics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Makefiles</a:t>
            </a:r>
            <a:endParaRPr sz="1800">
              <a:latin typeface="Arial MT"/>
              <a:cs typeface="Arial MT"/>
            </a:endParaRPr>
          </a:p>
          <a:p>
            <a:pPr marL="926465" lvl="1" indent="-366395">
              <a:lnSpc>
                <a:spcPct val="100000"/>
              </a:lnSpc>
              <a:spcBef>
                <a:spcPts val="1080"/>
              </a:spcBef>
              <a:buChar char="○"/>
              <a:tabLst>
                <a:tab pos="926465" algn="l"/>
              </a:tabLst>
            </a:pP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Targets,</a:t>
            </a:r>
            <a:r>
              <a:rPr sz="1800" spc="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Dependency,</a:t>
            </a:r>
            <a:r>
              <a:rPr sz="1800" spc="-8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Actions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15"/>
              </a:spcBef>
              <a:buFont typeface="Arial MT"/>
              <a:buChar char="○"/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What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we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will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cover</a:t>
            </a:r>
            <a:r>
              <a:rPr sz="2500" spc="-3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spc="-20" dirty="0">
                <a:solidFill>
                  <a:srgbClr val="0F2044"/>
                </a:solidFill>
                <a:latin typeface="Georgia"/>
                <a:cs typeface="Georgia"/>
              </a:rPr>
              <a:t>today</a:t>
            </a:r>
            <a:endParaRPr sz="2500">
              <a:latin typeface="Georgia"/>
              <a:cs typeface="Georgia"/>
            </a:endParaRPr>
          </a:p>
          <a:p>
            <a:pPr marL="469265" indent="-358775">
              <a:lnSpc>
                <a:spcPct val="100000"/>
              </a:lnSpc>
              <a:spcBef>
                <a:spcPts val="2085"/>
              </a:spcBef>
              <a:buChar char="●"/>
              <a:tabLst>
                <a:tab pos="46926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Advanced</a:t>
            </a:r>
            <a:r>
              <a:rPr sz="17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Makefile</a:t>
            </a:r>
            <a:r>
              <a:rPr sz="1700" spc="-10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Application</a:t>
            </a:r>
            <a:endParaRPr sz="170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1019"/>
              </a:spcBef>
              <a:buChar char="○"/>
              <a:tabLst>
                <a:tab pos="92646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Common</a:t>
            </a:r>
            <a:r>
              <a:rPr sz="1700" spc="-10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Variables</a:t>
            </a:r>
            <a:endParaRPr sz="170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1019"/>
              </a:spcBef>
              <a:buChar char="○"/>
              <a:tabLst>
                <a:tab pos="92646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Phony</a:t>
            </a:r>
            <a:r>
              <a:rPr sz="1700" spc="-8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Targets</a:t>
            </a:r>
            <a:endParaRPr sz="170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1019"/>
              </a:spcBef>
              <a:buChar char="○"/>
              <a:tabLst>
                <a:tab pos="92646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Pattern</a:t>
            </a:r>
            <a:r>
              <a:rPr sz="1700" spc="-9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Rules</a:t>
            </a:r>
            <a:endParaRPr sz="170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1019"/>
              </a:spcBef>
              <a:buChar char="○"/>
              <a:tabLst>
                <a:tab pos="926465" algn="l"/>
              </a:tabLst>
            </a:pPr>
            <a:r>
              <a:rPr sz="1700" dirty="0">
                <a:solidFill>
                  <a:srgbClr val="0F2044"/>
                </a:solidFill>
                <a:latin typeface="Arial MT"/>
                <a:cs typeface="Arial MT"/>
              </a:rPr>
              <a:t>Automatic</a:t>
            </a:r>
            <a:r>
              <a:rPr sz="1700" spc="-8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Variables</a:t>
            </a:r>
            <a:endParaRPr sz="170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1019"/>
              </a:spcBef>
              <a:buChar char="○"/>
              <a:tabLst>
                <a:tab pos="926465" algn="l"/>
              </a:tabLst>
            </a:pP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Conditional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Directives</a:t>
            </a:r>
            <a:endParaRPr sz="170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1019"/>
              </a:spcBef>
              <a:buChar char="○"/>
              <a:tabLst>
                <a:tab pos="926465" algn="l"/>
              </a:tabLst>
            </a:pPr>
            <a:r>
              <a:rPr sz="1700" spc="-10" dirty="0">
                <a:solidFill>
                  <a:srgbClr val="0F2044"/>
                </a:solidFill>
                <a:latin typeface="Arial MT"/>
                <a:cs typeface="Arial MT"/>
              </a:rPr>
              <a:t>Recursive</a:t>
            </a:r>
            <a:r>
              <a:rPr sz="17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0F2044"/>
                </a:solidFill>
                <a:latin typeface="Arial MT"/>
                <a:cs typeface="Arial MT"/>
              </a:rPr>
              <a:t>Make</a:t>
            </a:r>
            <a:endParaRPr sz="170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2518" y="2216065"/>
            <a:ext cx="3208348" cy="2743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</a:t>
            </a:r>
            <a:r>
              <a:rPr spc="-30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650" y="2367733"/>
            <a:ext cx="6198235" cy="2386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0995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Makefiles,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variables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CC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CFLAGS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commonly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define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compiler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flags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allowing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you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 </a:t>
            </a:r>
            <a:r>
              <a:rPr sz="1800" dirty="0">
                <a:latin typeface="Arial MT"/>
                <a:cs typeface="Arial MT"/>
              </a:rPr>
              <a:t>customize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how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compiled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making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build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-10" dirty="0">
                <a:latin typeface="Arial MT"/>
                <a:cs typeface="Arial MT"/>
              </a:rPr>
              <a:t> flexible.</a:t>
            </a:r>
            <a:endParaRPr sz="1800" dirty="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variables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way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simplifies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Makefile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makes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easy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modify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compilation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options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without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changing </a:t>
            </a:r>
            <a:r>
              <a:rPr sz="1800" dirty="0">
                <a:latin typeface="Arial MT"/>
                <a:cs typeface="Arial MT"/>
              </a:rPr>
              <a:t>each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individual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rule.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06000" y="2127550"/>
            <a:ext cx="3170670" cy="36483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143000"/>
            <a:ext cx="316102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Common</a:t>
            </a:r>
            <a:r>
              <a:rPr spc="-30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4" y="1829254"/>
            <a:ext cx="4695025" cy="48458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6530">
              <a:lnSpc>
                <a:spcPct val="114999"/>
              </a:lnSpc>
              <a:spcBef>
                <a:spcPts val="100"/>
              </a:spcBef>
            </a:pP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CC</a:t>
            </a:r>
            <a:r>
              <a:rPr dirty="0">
                <a:latin typeface="Arial MT"/>
                <a:cs typeface="Arial MT"/>
              </a:rPr>
              <a:t>: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This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variable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specifies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b="1" dirty="0">
                <a:latin typeface="Arial"/>
                <a:cs typeface="Arial"/>
              </a:rPr>
              <a:t>compiler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use. Typically,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it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set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(GNU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Compiler </a:t>
            </a:r>
            <a:r>
              <a:rPr dirty="0">
                <a:latin typeface="Arial MT"/>
                <a:cs typeface="Arial MT"/>
              </a:rPr>
              <a:t>Collection)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for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compiling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programs,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but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could </a:t>
            </a:r>
            <a:r>
              <a:rPr dirty="0">
                <a:latin typeface="Arial MT"/>
                <a:cs typeface="Arial MT"/>
              </a:rPr>
              <a:t>be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changed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another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compiler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(e.g.,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clang</a:t>
            </a:r>
            <a:r>
              <a:rPr dirty="0">
                <a:latin typeface="Arial MT"/>
                <a:cs typeface="Arial MT"/>
              </a:rPr>
              <a:t>)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if </a:t>
            </a:r>
            <a:r>
              <a:rPr spc="-10" dirty="0">
                <a:latin typeface="Arial MT"/>
                <a:cs typeface="Arial MT"/>
              </a:rPr>
              <a:t>necessary.</a:t>
            </a:r>
            <a:endParaRPr dirty="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CFLAGS</a:t>
            </a:r>
            <a:r>
              <a:rPr dirty="0">
                <a:latin typeface="Arial MT"/>
                <a:cs typeface="Arial MT"/>
              </a:rPr>
              <a:t>: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This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variable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contains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b="1" dirty="0">
                <a:latin typeface="Arial"/>
                <a:cs typeface="Arial"/>
              </a:rPr>
              <a:t>compiler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flags</a:t>
            </a:r>
            <a:r>
              <a:rPr spc="-10" dirty="0">
                <a:latin typeface="Arial MT"/>
                <a:cs typeface="Arial MT"/>
              </a:rPr>
              <a:t>, </a:t>
            </a:r>
            <a:r>
              <a:rPr dirty="0">
                <a:latin typeface="Arial MT"/>
                <a:cs typeface="Arial MT"/>
              </a:rPr>
              <a:t>which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are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options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passed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compiler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modify </a:t>
            </a:r>
            <a:r>
              <a:rPr dirty="0">
                <a:latin typeface="Arial MT"/>
                <a:cs typeface="Arial MT"/>
              </a:rPr>
              <a:t>its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behavior.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this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case:</a:t>
            </a:r>
            <a:endParaRPr dirty="0">
              <a:latin typeface="Arial MT"/>
              <a:cs typeface="Arial MT"/>
            </a:endParaRPr>
          </a:p>
          <a:p>
            <a:pPr marL="469900" marR="140335" indent="-344170">
              <a:lnSpc>
                <a:spcPct val="114999"/>
              </a:lnSpc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Wall</a:t>
            </a:r>
            <a:r>
              <a:rPr dirty="0">
                <a:latin typeface="Arial MT"/>
                <a:cs typeface="Arial MT"/>
              </a:rPr>
              <a:t>: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Enables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b="1" dirty="0">
                <a:latin typeface="Arial"/>
                <a:cs typeface="Arial"/>
              </a:rPr>
              <a:t>all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warnings</a:t>
            </a:r>
            <a:r>
              <a:rPr dirty="0">
                <a:latin typeface="Arial MT"/>
                <a:cs typeface="Arial MT"/>
              </a:rPr>
              <a:t>.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This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flag </a:t>
            </a:r>
            <a:r>
              <a:rPr dirty="0">
                <a:latin typeface="Arial MT"/>
                <a:cs typeface="Arial MT"/>
              </a:rPr>
              <a:t>helps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catch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potential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issues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code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that </a:t>
            </a:r>
            <a:r>
              <a:rPr dirty="0">
                <a:latin typeface="Arial MT"/>
                <a:cs typeface="Arial MT"/>
              </a:rPr>
              <a:t>could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lead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bugs.</a:t>
            </a:r>
            <a:endParaRPr dirty="0">
              <a:latin typeface="Arial MT"/>
              <a:cs typeface="Arial MT"/>
            </a:endParaRPr>
          </a:p>
          <a:p>
            <a:pPr marL="469900" marR="133985" indent="-344170">
              <a:lnSpc>
                <a:spcPct val="114999"/>
              </a:lnSpc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g</a:t>
            </a:r>
            <a:r>
              <a:rPr dirty="0">
                <a:latin typeface="Arial MT"/>
                <a:cs typeface="Arial MT"/>
              </a:rPr>
              <a:t>: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Includes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b="1" dirty="0">
                <a:latin typeface="Arial"/>
                <a:cs typeface="Arial"/>
              </a:rPr>
              <a:t>debugging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information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the </a:t>
            </a:r>
            <a:r>
              <a:rPr dirty="0">
                <a:latin typeface="Arial MT"/>
                <a:cs typeface="Arial MT"/>
              </a:rPr>
              <a:t>compiled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binary.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This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flag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useful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for </a:t>
            </a:r>
            <a:r>
              <a:rPr spc="-10" dirty="0">
                <a:latin typeface="Arial MT"/>
                <a:cs typeface="Arial MT"/>
              </a:rPr>
              <a:t>debugging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with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tools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like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gdb</a:t>
            </a:r>
            <a:r>
              <a:rPr spc="-20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4" name="object 4" descr="A basic Makefile for a C project defining compiler variables (CC, CFLAGS), targets for main.o and util.o, a linking target for myprogram, and a .PHONY clean target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0425" y="1792450"/>
            <a:ext cx="6915375" cy="48000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Phony</a:t>
            </a:r>
            <a:r>
              <a:rPr spc="-25" dirty="0"/>
              <a:t> </a:t>
            </a:r>
            <a:r>
              <a:rPr spc="-10" dirty="0"/>
              <a:t>Targets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650" y="2373321"/>
            <a:ext cx="7452350" cy="4122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3500">
              <a:lnSpc>
                <a:spcPct val="114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Phony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targets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Makefiles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are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targets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that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do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not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represent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actual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files. </a:t>
            </a:r>
            <a:r>
              <a:rPr dirty="0">
                <a:latin typeface="Arial MT"/>
                <a:cs typeface="Arial MT"/>
              </a:rPr>
              <a:t>They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are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commonly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used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for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performing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actions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such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as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cleaning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up </a:t>
            </a:r>
            <a:r>
              <a:rPr dirty="0">
                <a:latin typeface="Arial MT"/>
                <a:cs typeface="Arial MT"/>
              </a:rPr>
              <a:t>directories,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running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tests,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or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other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administrative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tasks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that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don’t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produce </a:t>
            </a:r>
            <a:r>
              <a:rPr dirty="0">
                <a:latin typeface="Arial MT"/>
                <a:cs typeface="Arial MT"/>
              </a:rPr>
              <a:t>or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depend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on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files.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Phony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targets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ensure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that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Makefile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doesn’t </a:t>
            </a:r>
            <a:r>
              <a:rPr dirty="0">
                <a:latin typeface="Arial MT"/>
                <a:cs typeface="Arial MT"/>
              </a:rPr>
              <a:t>mistakenly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treat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these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targets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that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need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built,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preventing </a:t>
            </a:r>
            <a:r>
              <a:rPr dirty="0">
                <a:latin typeface="Arial MT"/>
                <a:cs typeface="Arial MT"/>
              </a:rPr>
              <a:t>conflicts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if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with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same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name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target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exists.</a:t>
            </a:r>
            <a:endParaRPr dirty="0">
              <a:latin typeface="Arial MT"/>
              <a:cs typeface="Arial MT"/>
            </a:endParaRPr>
          </a:p>
          <a:p>
            <a:pPr marL="12700">
              <a:lnSpc>
                <a:spcPct val="114000"/>
              </a:lnSpc>
              <a:spcBef>
                <a:spcPts val="1485"/>
              </a:spcBef>
            </a:pPr>
            <a:r>
              <a:rPr b="1" spc="-10" dirty="0">
                <a:latin typeface="Arial"/>
                <a:cs typeface="Arial"/>
              </a:rPr>
              <a:t>Importance:</a:t>
            </a:r>
            <a:endParaRPr dirty="0">
              <a:latin typeface="Arial"/>
              <a:cs typeface="Arial"/>
            </a:endParaRPr>
          </a:p>
          <a:p>
            <a:pPr marL="12700" marR="5080">
              <a:lnSpc>
                <a:spcPct val="114000"/>
              </a:lnSpc>
              <a:spcBef>
                <a:spcPts val="600"/>
              </a:spcBef>
            </a:pPr>
            <a:r>
              <a:rPr dirty="0">
                <a:latin typeface="Arial MT"/>
                <a:cs typeface="Arial MT"/>
              </a:rPr>
              <a:t>Phony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targets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are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crucial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because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if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with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same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name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target </a:t>
            </a:r>
            <a:r>
              <a:rPr dirty="0">
                <a:latin typeface="Arial MT"/>
                <a:cs typeface="Arial MT"/>
              </a:rPr>
              <a:t>(e.g.,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clean</a:t>
            </a:r>
            <a:r>
              <a:rPr dirty="0">
                <a:latin typeface="Arial MT"/>
                <a:cs typeface="Arial MT"/>
              </a:rPr>
              <a:t>)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accidentally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created,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Makefile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will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treat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that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as</a:t>
            </a:r>
            <a:endParaRPr dirty="0">
              <a:latin typeface="Arial MT"/>
              <a:cs typeface="Arial MT"/>
            </a:endParaRPr>
          </a:p>
          <a:p>
            <a:pPr marL="12700" marR="295910">
              <a:lnSpc>
                <a:spcPct val="114000"/>
              </a:lnSpc>
            </a:pPr>
            <a:r>
              <a:rPr spc="-20" dirty="0">
                <a:latin typeface="Arial MT"/>
                <a:cs typeface="Arial MT"/>
              </a:rPr>
              <a:t>up-to-</a:t>
            </a:r>
            <a:r>
              <a:rPr dirty="0">
                <a:latin typeface="Arial MT"/>
                <a:cs typeface="Arial MT"/>
              </a:rPr>
              <a:t>date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skip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rule.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By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declaring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target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as </a:t>
            </a:r>
            <a:r>
              <a:rPr b="1" dirty="0">
                <a:latin typeface="Arial"/>
                <a:cs typeface="Arial"/>
              </a:rPr>
              <a:t>.PHONY</a:t>
            </a:r>
            <a:r>
              <a:rPr dirty="0">
                <a:latin typeface="Arial MT"/>
                <a:cs typeface="Arial MT"/>
              </a:rPr>
              <a:t>,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you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tell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make</a:t>
            </a:r>
            <a:r>
              <a:rPr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always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execute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rule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regardless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whether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with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the </a:t>
            </a:r>
            <a:r>
              <a:rPr dirty="0">
                <a:latin typeface="Arial MT"/>
                <a:cs typeface="Arial MT"/>
              </a:rPr>
              <a:t>same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name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exists.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05800" y="1886362"/>
            <a:ext cx="3170670" cy="36483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295400"/>
            <a:ext cx="316102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Phony</a:t>
            </a:r>
            <a:r>
              <a:rPr spc="-25" dirty="0"/>
              <a:t> </a:t>
            </a:r>
            <a:r>
              <a:rPr spc="-10" dirty="0"/>
              <a:t>Targets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1978860"/>
            <a:ext cx="4999825" cy="451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151130" indent="-351790" algn="just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63855" algn="l"/>
                <a:tab pos="365760" algn="l"/>
              </a:tabLst>
            </a:pPr>
            <a:r>
              <a:rPr b="1" dirty="0">
                <a:latin typeface="Courier New"/>
                <a:cs typeface="Courier New"/>
              </a:rPr>
              <a:t>	</a:t>
            </a:r>
            <a:r>
              <a:rPr b="1" spc="-160" dirty="0">
                <a:solidFill>
                  <a:srgbClr val="188037"/>
                </a:solidFill>
                <a:latin typeface="Courier New"/>
                <a:cs typeface="Courier New"/>
              </a:rPr>
              <a:t>all</a:t>
            </a:r>
            <a:r>
              <a:rPr b="1" spc="-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dirty="0">
                <a:latin typeface="Arial"/>
                <a:cs typeface="Arial"/>
              </a:rPr>
              <a:t>target</a:t>
            </a:r>
            <a:r>
              <a:rPr dirty="0">
                <a:latin typeface="Arial MT"/>
                <a:cs typeface="Arial MT"/>
              </a:rPr>
              <a:t>:</a:t>
            </a:r>
            <a:r>
              <a:rPr spc="-1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This</a:t>
            </a:r>
            <a:r>
              <a:rPr spc="-114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1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default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target</a:t>
            </a:r>
            <a:r>
              <a:rPr spc="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that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will </a:t>
            </a:r>
            <a:r>
              <a:rPr dirty="0">
                <a:latin typeface="Arial MT"/>
                <a:cs typeface="Arial MT"/>
              </a:rPr>
              <a:t>build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entire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project.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It’s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marked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as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phony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ensure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that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not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confused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with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any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file </a:t>
            </a:r>
            <a:r>
              <a:rPr dirty="0">
                <a:latin typeface="Arial MT"/>
                <a:cs typeface="Arial MT"/>
              </a:rPr>
              <a:t>named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all</a:t>
            </a:r>
            <a:r>
              <a:rPr spc="-20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  <a:p>
            <a:pPr marL="363855" marR="5080">
              <a:lnSpc>
                <a:spcPct val="114999"/>
              </a:lnSpc>
              <a:spcBef>
                <a:spcPts val="1200"/>
              </a:spcBef>
            </a:pP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myprogram</a:t>
            </a:r>
            <a:r>
              <a:rPr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dirty="0">
                <a:latin typeface="Arial"/>
                <a:cs typeface="Arial"/>
              </a:rPr>
              <a:t>target</a:t>
            </a:r>
            <a:r>
              <a:rPr dirty="0">
                <a:latin typeface="Arial MT"/>
                <a:cs typeface="Arial MT"/>
              </a:rPr>
              <a:t>:</a:t>
            </a:r>
            <a:r>
              <a:rPr spc="-7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This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target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builds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final </a:t>
            </a:r>
            <a:r>
              <a:rPr dirty="0">
                <a:latin typeface="Arial MT"/>
                <a:cs typeface="Arial MT"/>
              </a:rPr>
              <a:t>executable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by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linking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object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files.</a:t>
            </a:r>
            <a:endParaRPr dirty="0">
              <a:latin typeface="Arial MT"/>
              <a:cs typeface="Arial MT"/>
            </a:endParaRPr>
          </a:p>
          <a:p>
            <a:pPr marL="363855" marR="15240" indent="-351790">
              <a:lnSpc>
                <a:spcPct val="114999"/>
              </a:lnSpc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Font typeface="Arial"/>
              <a:buChar char="●"/>
              <a:tabLst>
                <a:tab pos="363855" algn="l"/>
              </a:tabLst>
            </a:pP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clean</a:t>
            </a:r>
            <a:r>
              <a:rPr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latin typeface="Arial"/>
                <a:cs typeface="Arial"/>
              </a:rPr>
              <a:t>target</a:t>
            </a:r>
            <a:r>
              <a:rPr spc="-10" dirty="0">
                <a:latin typeface="Arial MT"/>
                <a:cs typeface="Arial MT"/>
              </a:rPr>
              <a:t>:</a:t>
            </a:r>
            <a:r>
              <a:rPr spc="-10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1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phony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target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that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removes</a:t>
            </a:r>
            <a:r>
              <a:rPr spc="-25" dirty="0">
                <a:latin typeface="Arial MT"/>
                <a:cs typeface="Arial MT"/>
              </a:rPr>
              <a:t> all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object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compiled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executable. </a:t>
            </a:r>
            <a:r>
              <a:rPr dirty="0">
                <a:latin typeface="Arial MT"/>
                <a:cs typeface="Arial MT"/>
              </a:rPr>
              <a:t>Declaring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it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as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b="1" dirty="0">
                <a:latin typeface="Arial"/>
                <a:cs typeface="Arial"/>
              </a:rPr>
              <a:t>.PHONY</a:t>
            </a:r>
            <a:r>
              <a:rPr b="1" spc="-15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ensures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that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even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if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-50" dirty="0">
                <a:latin typeface="Arial MT"/>
                <a:cs typeface="Arial MT"/>
              </a:rPr>
              <a:t>a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named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clean</a:t>
            </a:r>
            <a:r>
              <a:rPr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exists,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rule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still </a:t>
            </a:r>
            <a:r>
              <a:rPr spc="-10" dirty="0">
                <a:latin typeface="Arial MT"/>
                <a:cs typeface="Arial MT"/>
              </a:rPr>
              <a:t>executed.</a:t>
            </a:r>
            <a:endParaRPr dirty="0">
              <a:latin typeface="Arial MT"/>
              <a:cs typeface="Arial MT"/>
            </a:endParaRPr>
          </a:p>
          <a:p>
            <a:pPr marL="363855" marR="145415" indent="-351790">
              <a:lnSpc>
                <a:spcPct val="114999"/>
              </a:lnSpc>
              <a:buClr>
                <a:srgbClr val="000000"/>
              </a:buClr>
              <a:buFont typeface="Arial"/>
              <a:buChar char="●"/>
              <a:tabLst>
                <a:tab pos="363855" algn="l"/>
              </a:tabLst>
            </a:pP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run</a:t>
            </a:r>
            <a:r>
              <a:rPr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latin typeface="Arial"/>
                <a:cs typeface="Arial"/>
              </a:rPr>
              <a:t>target</a:t>
            </a:r>
            <a:r>
              <a:rPr spc="-10" dirty="0">
                <a:latin typeface="Arial MT"/>
                <a:cs typeface="Arial MT"/>
              </a:rPr>
              <a:t>:</a:t>
            </a:r>
            <a:r>
              <a:rPr spc="-10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1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phony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target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that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executes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the </a:t>
            </a:r>
            <a:r>
              <a:rPr dirty="0">
                <a:latin typeface="Arial MT"/>
                <a:cs typeface="Arial MT"/>
              </a:rPr>
              <a:t>compiled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program.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4" name="object 4" descr="A Makefile similar to the first, but including a .PHONY declaration for all, clean, and run targets, plus a run command to execute the compiled program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73901" y="1239403"/>
            <a:ext cx="6310399" cy="54194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Phony</a:t>
            </a:r>
            <a:r>
              <a:rPr spc="-25" dirty="0"/>
              <a:t> </a:t>
            </a:r>
            <a:r>
              <a:rPr spc="-10" dirty="0"/>
              <a:t>Targets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7649" y="3384749"/>
            <a:ext cx="3550920" cy="1261110"/>
          </a:xfrm>
          <a:prstGeom prst="rect">
            <a:avLst/>
          </a:prstGeom>
          <a:ln w="9524">
            <a:solidFill>
              <a:srgbClr val="0F2044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60"/>
              </a:spcBef>
            </a:pPr>
            <a:endParaRPr sz="1800">
              <a:latin typeface="Times New Roman"/>
              <a:cs typeface="Times New Roman"/>
            </a:endParaRPr>
          </a:p>
          <a:p>
            <a:pPr marL="1457325" marR="304165" indent="-114808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Phony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Targets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Makefiles </a:t>
            </a:r>
            <a:r>
              <a:rPr sz="1800" b="1" spc="-20" dirty="0">
                <a:latin typeface="Arial"/>
                <a:cs typeface="Arial"/>
              </a:rPr>
              <a:t>Demo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73901" y="1239403"/>
            <a:ext cx="6310399" cy="54194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47800"/>
            <a:ext cx="316102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Automatic</a:t>
            </a:r>
            <a:r>
              <a:rPr spc="-75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650" y="2141608"/>
            <a:ext cx="6690350" cy="44115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>
                <a:latin typeface="Arial MT"/>
                <a:cs typeface="Arial MT"/>
              </a:rPr>
              <a:t>Makefiles</a:t>
            </a:r>
            <a:r>
              <a:rPr spc="-7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provide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several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automatic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variables</a:t>
            </a:r>
            <a:r>
              <a:rPr spc="-7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that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simplify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build </a:t>
            </a:r>
            <a:r>
              <a:rPr dirty="0">
                <a:latin typeface="Arial MT"/>
                <a:cs typeface="Arial MT"/>
              </a:rPr>
              <a:t>rules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by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referring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target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its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prerequisites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dynamically. </a:t>
            </a:r>
            <a:r>
              <a:rPr dirty="0">
                <a:latin typeface="Arial MT"/>
                <a:cs typeface="Arial MT"/>
              </a:rPr>
              <a:t>These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variables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are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especially</a:t>
            </a:r>
            <a:r>
              <a:rPr spc="-7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useful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when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managing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complex </a:t>
            </a:r>
            <a:r>
              <a:rPr dirty="0">
                <a:latin typeface="Arial MT"/>
                <a:cs typeface="Arial MT"/>
              </a:rPr>
              <a:t>projects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with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multiple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files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dependencies.</a:t>
            </a:r>
            <a:endParaRPr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b="1" spc="-10" dirty="0">
                <a:latin typeface="Arial"/>
                <a:cs typeface="Arial"/>
              </a:rPr>
              <a:t>Automatic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Variables</a:t>
            </a:r>
            <a:endParaRPr dirty="0">
              <a:latin typeface="Arial"/>
              <a:cs typeface="Arial"/>
            </a:endParaRPr>
          </a:p>
          <a:p>
            <a:pPr marL="469265" indent="-408305">
              <a:lnSpc>
                <a:spcPct val="100000"/>
              </a:lnSpc>
              <a:spcBef>
                <a:spcPts val="1505"/>
              </a:spcBef>
              <a:spcAft>
                <a:spcPts val="600"/>
              </a:spcAft>
              <a:buClr>
                <a:srgbClr val="000000"/>
              </a:buClr>
              <a:buFont typeface="Arial"/>
              <a:buAutoNum type="arabicPeriod"/>
              <a:tabLst>
                <a:tab pos="469265" algn="l"/>
              </a:tabLst>
            </a:pP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$@</a:t>
            </a:r>
            <a:r>
              <a:rPr dirty="0">
                <a:latin typeface="Arial MT"/>
                <a:cs typeface="Arial MT"/>
              </a:rPr>
              <a:t>:</a:t>
            </a:r>
            <a:r>
              <a:rPr spc="-7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name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b="1" spc="-10" dirty="0">
                <a:latin typeface="Arial"/>
                <a:cs typeface="Arial"/>
              </a:rPr>
              <a:t>target</a:t>
            </a:r>
            <a:r>
              <a:rPr spc="-10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  <a:p>
            <a:pPr marL="469265" indent="-408305">
              <a:lnSpc>
                <a:spcPct val="100000"/>
              </a:lnSpc>
              <a:spcBef>
                <a:spcPts val="305"/>
              </a:spcBef>
              <a:spcAft>
                <a:spcPts val="600"/>
              </a:spcAft>
              <a:buClr>
                <a:srgbClr val="000000"/>
              </a:buClr>
              <a:buFont typeface="Arial"/>
              <a:buAutoNum type="arabicPeriod"/>
              <a:tabLst>
                <a:tab pos="469265" algn="l"/>
              </a:tabLst>
            </a:pP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$&lt;</a:t>
            </a:r>
            <a:r>
              <a:rPr dirty="0">
                <a:latin typeface="Arial MT"/>
                <a:cs typeface="Arial MT"/>
              </a:rPr>
              <a:t>: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first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b="1" spc="-10" dirty="0">
                <a:latin typeface="Arial"/>
                <a:cs typeface="Arial"/>
              </a:rPr>
              <a:t>prerequisite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(often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source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file).</a:t>
            </a:r>
            <a:endParaRPr dirty="0">
              <a:latin typeface="Arial MT"/>
              <a:cs typeface="Arial MT"/>
            </a:endParaRPr>
          </a:p>
          <a:p>
            <a:pPr marL="469265" indent="-408305">
              <a:lnSpc>
                <a:spcPct val="100000"/>
              </a:lnSpc>
              <a:spcBef>
                <a:spcPts val="309"/>
              </a:spcBef>
              <a:buClr>
                <a:srgbClr val="000000"/>
              </a:buClr>
              <a:buFont typeface="Arial"/>
              <a:buAutoNum type="arabicPeriod"/>
              <a:tabLst>
                <a:tab pos="469265" algn="l"/>
              </a:tabLst>
            </a:pP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$^</a:t>
            </a:r>
            <a:r>
              <a:rPr spc="-10" dirty="0">
                <a:latin typeface="Arial MT"/>
                <a:cs typeface="Arial MT"/>
              </a:rPr>
              <a:t>:</a:t>
            </a:r>
            <a:r>
              <a:rPr spc="-1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All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b="1" spc="-10" dirty="0">
                <a:latin typeface="Arial"/>
                <a:cs typeface="Arial"/>
              </a:rPr>
              <a:t>prerequisites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(all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dependencies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target).</a:t>
            </a:r>
            <a:endParaRPr dirty="0">
              <a:latin typeface="Arial MT"/>
              <a:cs typeface="Arial MT"/>
            </a:endParaRPr>
          </a:p>
          <a:p>
            <a:pPr marL="12700" marR="429259">
              <a:lnSpc>
                <a:spcPct val="114999"/>
              </a:lnSpc>
              <a:spcBef>
                <a:spcPts val="1200"/>
              </a:spcBef>
            </a:pPr>
            <a:r>
              <a:rPr dirty="0">
                <a:latin typeface="Arial MT"/>
                <a:cs typeface="Arial MT"/>
              </a:rPr>
              <a:t>These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variables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save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time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effort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writing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Makefiles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by </a:t>
            </a:r>
            <a:r>
              <a:rPr dirty="0">
                <a:latin typeface="Arial MT"/>
                <a:cs typeface="Arial MT"/>
              </a:rPr>
              <a:t>automatically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referencing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files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based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on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target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its </a:t>
            </a:r>
            <a:r>
              <a:rPr spc="-10" dirty="0">
                <a:latin typeface="Arial MT"/>
                <a:cs typeface="Arial MT"/>
              </a:rPr>
              <a:t>dependencies.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Below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in-</a:t>
            </a:r>
            <a:r>
              <a:rPr dirty="0">
                <a:latin typeface="Arial MT"/>
                <a:cs typeface="Arial MT"/>
              </a:rPr>
              <a:t>depth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explanation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each, </a:t>
            </a:r>
            <a:r>
              <a:rPr dirty="0">
                <a:latin typeface="Arial MT"/>
                <a:cs typeface="Arial MT"/>
              </a:rPr>
              <a:t>followed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by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code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examples.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06000" y="2127550"/>
            <a:ext cx="3170670" cy="36483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47800"/>
            <a:ext cx="316102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Automatic</a:t>
            </a:r>
            <a:r>
              <a:rPr spc="-75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650" y="2166820"/>
            <a:ext cx="4914265" cy="3998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100"/>
              </a:spcBef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$@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Target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14000"/>
              </a:lnSpc>
              <a:spcBef>
                <a:spcPts val="1520"/>
              </a:spcBef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$@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refers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target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rule.</a:t>
            </a:r>
            <a:endParaRPr sz="1800" dirty="0">
              <a:latin typeface="Arial MT"/>
              <a:cs typeface="Arial MT"/>
            </a:endParaRPr>
          </a:p>
          <a:p>
            <a:pPr marL="12700" marR="145415">
              <a:lnSpc>
                <a:spcPct val="114000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target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expected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 </a:t>
            </a:r>
            <a:r>
              <a:rPr sz="1800" spc="-10" dirty="0">
                <a:latin typeface="Arial MT"/>
                <a:cs typeface="Arial MT"/>
              </a:rPr>
              <a:t>produce.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14000"/>
              </a:lnSpc>
              <a:spcBef>
                <a:spcPts val="1525"/>
              </a:spcBef>
            </a:pPr>
            <a:r>
              <a:rPr sz="1800" b="1" spc="-10" dirty="0">
                <a:latin typeface="Arial"/>
                <a:cs typeface="Arial"/>
              </a:rPr>
              <a:t>Target</a:t>
            </a:r>
            <a:r>
              <a:rPr sz="1800" spc="-10" dirty="0">
                <a:latin typeface="Arial MT"/>
                <a:cs typeface="Arial MT"/>
              </a:rPr>
              <a:t>: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myprogram</a:t>
            </a:r>
            <a:endParaRPr sz="1800" b="1" dirty="0">
              <a:latin typeface="Courier New"/>
              <a:cs typeface="Courier New"/>
            </a:endParaRPr>
          </a:p>
          <a:p>
            <a:pPr marL="12700">
              <a:lnSpc>
                <a:spcPct val="114000"/>
              </a:lnSpc>
              <a:spcBef>
                <a:spcPts val="1525"/>
              </a:spcBef>
            </a:pPr>
            <a:r>
              <a:rPr sz="1800" b="1" spc="-10" dirty="0">
                <a:latin typeface="Arial"/>
                <a:cs typeface="Arial"/>
              </a:rPr>
              <a:t>Command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14000"/>
              </a:lnSpc>
              <a:spcBef>
                <a:spcPts val="1525"/>
              </a:spcBef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sz="1800" b="1" spc="-3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o</a:t>
            </a:r>
            <a:r>
              <a:rPr sz="1800" b="1" spc="-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$@</a:t>
            </a:r>
            <a:r>
              <a:rPr sz="1800" b="1" spc="-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$^</a:t>
            </a:r>
            <a:r>
              <a:rPr sz="1800" b="1" spc="-5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will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14000"/>
              </a:lnSpc>
              <a:spcBef>
                <a:spcPts val="325"/>
              </a:spcBef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sz="1800" b="1" spc="-3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o</a:t>
            </a:r>
            <a:r>
              <a:rPr sz="1800" b="1" spc="-2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myprogram</a:t>
            </a:r>
            <a:r>
              <a:rPr sz="1800" b="1" spc="-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z="1800" b="1" spc="-2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foo.o</a:t>
            </a:r>
            <a:r>
              <a:rPr sz="1800" b="1" spc="-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bar.o</a:t>
            </a:r>
            <a:endParaRPr sz="1800" b="1" dirty="0">
              <a:latin typeface="Courier New"/>
              <a:cs typeface="Courier New"/>
            </a:endParaRPr>
          </a:p>
          <a:p>
            <a:pPr marL="469265" indent="-366395">
              <a:lnSpc>
                <a:spcPct val="114000"/>
              </a:lnSpc>
              <a:spcBef>
                <a:spcPts val="152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$@</a:t>
            </a:r>
            <a:r>
              <a:rPr sz="1800" spc="-59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target,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becomes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myprogram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 descr="A snippet of a Makefile showing the all target and a myprogram target that uses automatic variables $@ (target name) and $^ (all prerequisites) to link main.o, foo.o, and bar.o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0150" y="2470900"/>
            <a:ext cx="5944999" cy="19867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47800"/>
            <a:ext cx="316102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Automatic</a:t>
            </a:r>
            <a:r>
              <a:rPr spc="-75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650" y="2166820"/>
            <a:ext cx="5620385" cy="4352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100"/>
              </a:spcBef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$&lt;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First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Prerequisite</a:t>
            </a:r>
            <a:endParaRPr sz="1800" dirty="0">
              <a:latin typeface="Arial"/>
              <a:cs typeface="Arial"/>
            </a:endParaRPr>
          </a:p>
          <a:p>
            <a:pPr marL="12700" marR="139065">
              <a:lnSpc>
                <a:spcPct val="114000"/>
              </a:lnSpc>
              <a:spcBef>
                <a:spcPts val="1200"/>
              </a:spcBef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$&lt;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refers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first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prerequisite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rule.</a:t>
            </a:r>
            <a:r>
              <a:rPr sz="1800" spc="-20" dirty="0">
                <a:latin typeface="Arial MT"/>
                <a:cs typeface="Arial MT"/>
              </a:rPr>
              <a:t> It's </a:t>
            </a:r>
            <a:r>
              <a:rPr sz="1800" dirty="0">
                <a:latin typeface="Arial MT"/>
                <a:cs typeface="Arial MT"/>
              </a:rPr>
              <a:t>commonly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pattern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rules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handle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source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files.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14000"/>
              </a:lnSpc>
              <a:spcBef>
                <a:spcPts val="1525"/>
              </a:spcBef>
            </a:pPr>
            <a:r>
              <a:rPr sz="1800" b="1" spc="-25" dirty="0">
                <a:latin typeface="Arial"/>
                <a:cs typeface="Arial"/>
              </a:rPr>
              <a:t>Target</a:t>
            </a:r>
            <a:r>
              <a:rPr sz="1800" spc="-25" dirty="0">
                <a:latin typeface="Arial MT"/>
                <a:cs typeface="Arial MT"/>
              </a:rPr>
              <a:t>: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.o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z="1800" spc="-10" dirty="0">
                <a:latin typeface="Arial MT"/>
                <a:cs typeface="Arial MT"/>
              </a:rPr>
              <a:t>)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14000"/>
              </a:lnSpc>
              <a:spcBef>
                <a:spcPts val="1520"/>
              </a:spcBef>
            </a:pPr>
            <a:r>
              <a:rPr sz="1800" b="1" spc="-10" dirty="0">
                <a:latin typeface="Arial"/>
                <a:cs typeface="Arial"/>
              </a:rPr>
              <a:t>Prerequisite</a:t>
            </a:r>
            <a:r>
              <a:rPr sz="1800" spc="-10" dirty="0">
                <a:latin typeface="Arial MT"/>
                <a:cs typeface="Arial MT"/>
              </a:rPr>
              <a:t>: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.c</a:t>
            </a:r>
            <a:r>
              <a:rPr sz="1800" b="1" spc="-57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file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main.c</a:t>
            </a:r>
            <a:r>
              <a:rPr sz="1800" spc="-10" dirty="0">
                <a:latin typeface="Arial MT"/>
                <a:cs typeface="Arial MT"/>
              </a:rPr>
              <a:t>)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$&lt;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refers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first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prerequisite,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main.c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14000"/>
              </a:lnSpc>
              <a:spcBef>
                <a:spcPts val="325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$@</a:t>
            </a:r>
            <a:r>
              <a:rPr sz="1800" spc="-59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refers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target,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14000"/>
              </a:lnSpc>
              <a:spcBef>
                <a:spcPts val="1525"/>
              </a:spcBef>
            </a:pPr>
            <a:r>
              <a:rPr sz="1800" b="1" spc="-10" dirty="0">
                <a:latin typeface="Arial"/>
                <a:cs typeface="Arial"/>
              </a:rPr>
              <a:t>Command</a:t>
            </a:r>
            <a:r>
              <a:rPr sz="1800" spc="-10" dirty="0"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14000"/>
              </a:lnSpc>
              <a:spcBef>
                <a:spcPts val="1525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expands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14000"/>
              </a:lnSpc>
              <a:spcBef>
                <a:spcPts val="320"/>
              </a:spcBef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sz="1800" b="1" spc="-2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c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main.c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 -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o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 main.o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 descr="A Makefile pattern rule snippet: %.o: %.c showing a command to compile C source files into object files using $@ and the first prerequisite $&lt;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1800" y="2667000"/>
            <a:ext cx="4210649" cy="1389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371600"/>
            <a:ext cx="316102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Automatic</a:t>
            </a:r>
            <a:r>
              <a:rPr spc="-75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650" y="2091127"/>
            <a:ext cx="5699750" cy="443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100"/>
              </a:spcBef>
            </a:pP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$^</a:t>
            </a:r>
            <a:r>
              <a:rPr b="1" dirty="0">
                <a:latin typeface="Arial"/>
                <a:cs typeface="Arial"/>
              </a:rPr>
              <a:t>:</a:t>
            </a:r>
            <a:r>
              <a:rPr b="1" spc="-9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All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Prerequisites</a:t>
            </a:r>
            <a:endParaRPr dirty="0">
              <a:latin typeface="Arial"/>
              <a:cs typeface="Arial"/>
            </a:endParaRPr>
          </a:p>
          <a:p>
            <a:pPr marL="12700" marR="5080">
              <a:lnSpc>
                <a:spcPct val="114000"/>
              </a:lnSpc>
              <a:spcBef>
                <a:spcPts val="1200"/>
              </a:spcBef>
            </a:pP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$^</a:t>
            </a:r>
            <a:r>
              <a:rPr spc="-5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refers</a:t>
            </a:r>
            <a:r>
              <a:rPr spc="-8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b="1" dirty="0">
                <a:latin typeface="Arial"/>
                <a:cs typeface="Arial"/>
              </a:rPr>
              <a:t>all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prerequisites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listed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rule. </a:t>
            </a:r>
            <a:r>
              <a:rPr dirty="0">
                <a:latin typeface="Arial MT"/>
                <a:cs typeface="Arial MT"/>
              </a:rPr>
              <a:t>This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useful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when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you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need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pass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all </a:t>
            </a:r>
            <a:r>
              <a:rPr dirty="0">
                <a:latin typeface="Arial MT"/>
                <a:cs typeface="Arial MT"/>
              </a:rPr>
              <a:t>dependencies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(e.g.,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object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files)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command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spc="-50" dirty="0">
                <a:latin typeface="Arial MT"/>
                <a:cs typeface="Arial MT"/>
              </a:rPr>
              <a:t>a </a:t>
            </a:r>
            <a:r>
              <a:rPr dirty="0">
                <a:latin typeface="Arial MT"/>
                <a:cs typeface="Arial MT"/>
              </a:rPr>
              <a:t>single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step.</a:t>
            </a:r>
            <a:endParaRPr dirty="0">
              <a:latin typeface="Arial MT"/>
              <a:cs typeface="Arial MT"/>
            </a:endParaRPr>
          </a:p>
          <a:p>
            <a:pPr marL="12700">
              <a:lnSpc>
                <a:spcPct val="114000"/>
              </a:lnSpc>
              <a:spcBef>
                <a:spcPts val="1505"/>
              </a:spcBef>
            </a:pPr>
            <a:r>
              <a:rPr b="1" spc="-20" dirty="0">
                <a:latin typeface="Arial"/>
                <a:cs typeface="Arial"/>
              </a:rPr>
              <a:t>Target</a:t>
            </a:r>
            <a:r>
              <a:rPr spc="-20" dirty="0">
                <a:latin typeface="Arial MT"/>
                <a:cs typeface="Arial MT"/>
              </a:rPr>
              <a:t>: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myprogram</a:t>
            </a:r>
            <a:endParaRPr b="1" dirty="0">
              <a:latin typeface="Courier New"/>
              <a:cs typeface="Courier New"/>
            </a:endParaRPr>
          </a:p>
          <a:p>
            <a:pPr marL="12700">
              <a:lnSpc>
                <a:spcPct val="114000"/>
              </a:lnSpc>
              <a:spcBef>
                <a:spcPts val="1505"/>
              </a:spcBef>
            </a:pPr>
            <a:r>
              <a:rPr b="1" spc="-10" dirty="0">
                <a:latin typeface="Arial"/>
                <a:cs typeface="Arial"/>
              </a:rPr>
              <a:t>Prerequisites</a:t>
            </a:r>
            <a:r>
              <a:rPr spc="-10" dirty="0">
                <a:latin typeface="Arial MT"/>
                <a:cs typeface="Arial MT"/>
              </a:rPr>
              <a:t>: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b="1" spc="-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foo.o</a:t>
            </a:r>
            <a:r>
              <a:rPr b="1" spc="-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bar.o</a:t>
            </a:r>
            <a:endParaRPr b="1" dirty="0">
              <a:latin typeface="Courier New"/>
              <a:cs typeface="Courier New"/>
            </a:endParaRPr>
          </a:p>
          <a:p>
            <a:pPr marL="469265" indent="-358775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$@</a:t>
            </a:r>
            <a:r>
              <a:rPr spc="-5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refers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myprogram</a:t>
            </a:r>
            <a:r>
              <a:rPr spc="-10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  <a:p>
            <a:pPr marL="469900" marR="252095" indent="-359410">
              <a:lnSpc>
                <a:spcPct val="114000"/>
              </a:lnSpc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$^</a:t>
            </a:r>
            <a:r>
              <a:rPr spc="-5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refers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all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prerequisites: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b="1" spc="-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foo.o bar.o</a:t>
            </a:r>
            <a:r>
              <a:rPr spc="-10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  <a:p>
            <a:pPr marL="469265" indent="-358775">
              <a:lnSpc>
                <a:spcPct val="114000"/>
              </a:lnSpc>
              <a:spcBef>
                <a:spcPts val="305"/>
              </a:spcBef>
              <a:buChar char="●"/>
              <a:tabLst>
                <a:tab pos="469265" algn="l"/>
              </a:tabLst>
            </a:pPr>
            <a:r>
              <a:rPr dirty="0">
                <a:latin typeface="Arial MT"/>
                <a:cs typeface="Arial MT"/>
              </a:rPr>
              <a:t>The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command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expands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to</a:t>
            </a:r>
            <a:endParaRPr dirty="0">
              <a:latin typeface="Arial MT"/>
              <a:cs typeface="Arial MT"/>
            </a:endParaRPr>
          </a:p>
          <a:p>
            <a:pPr marL="469900">
              <a:lnSpc>
                <a:spcPct val="114000"/>
              </a:lnSpc>
              <a:spcBef>
                <a:spcPts val="309"/>
              </a:spcBef>
            </a:pP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b="1" spc="-7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spc="-25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o</a:t>
            </a:r>
            <a:r>
              <a:rPr b="1" spc="-7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myprogram</a:t>
            </a:r>
            <a:r>
              <a:rPr b="1" spc="-7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b="1" spc="-7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foo.o</a:t>
            </a:r>
            <a:r>
              <a:rPr b="1" spc="-7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bar.o</a:t>
            </a:r>
            <a:r>
              <a:rPr spc="-10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4" name="object 4" descr="A Makefile snippet for myprogram linking three object files (main.o, foo.o, bar.o) using the gcc -o $@ $^ command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0" y="2600325"/>
            <a:ext cx="5512200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Automatic</a:t>
            </a:r>
            <a:r>
              <a:rPr spc="-75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7649" y="3384749"/>
            <a:ext cx="3550920" cy="1261110"/>
          </a:xfrm>
          <a:prstGeom prst="rect">
            <a:avLst/>
          </a:prstGeom>
          <a:ln w="9524">
            <a:solidFill>
              <a:srgbClr val="0F2044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60"/>
              </a:spcBef>
            </a:pPr>
            <a:endParaRPr sz="1800">
              <a:latin typeface="Times New Roman"/>
              <a:cs typeface="Times New Roman"/>
            </a:endParaRPr>
          </a:p>
          <a:p>
            <a:pPr marL="911225" marR="542925" indent="-36258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Automatic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Variables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in </a:t>
            </a:r>
            <a:r>
              <a:rPr sz="1800" b="1" dirty="0">
                <a:latin typeface="Arial"/>
                <a:cs typeface="Arial"/>
              </a:rPr>
              <a:t>Makefiles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Demo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" name="object 2" descr="A Makefile using pattern rules and automatic variables to compile and link a program with main.o, foo.o, and bar.o, featuring a clean target that removes all .o files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1100" y="940727"/>
            <a:ext cx="5112748" cy="5655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Pattern</a:t>
            </a:r>
            <a:r>
              <a:rPr spc="-120" dirty="0"/>
              <a:t> </a:t>
            </a:r>
            <a:r>
              <a:rPr spc="-10" dirty="0"/>
              <a:t>Rules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650" y="2220921"/>
            <a:ext cx="7452350" cy="43515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>
                <a:latin typeface="Arial MT"/>
                <a:cs typeface="Arial MT"/>
              </a:rPr>
              <a:t>A</a:t>
            </a:r>
            <a:r>
              <a:rPr spc="-105" dirty="0">
                <a:latin typeface="Arial MT"/>
                <a:cs typeface="Arial MT"/>
              </a:rPr>
              <a:t> </a:t>
            </a:r>
            <a:r>
              <a:rPr b="1" dirty="0">
                <a:latin typeface="Arial"/>
                <a:cs typeface="Arial"/>
              </a:rPr>
              <a:t>pattern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rule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Makefiles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used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specify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how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build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that </a:t>
            </a:r>
            <a:r>
              <a:rPr dirty="0">
                <a:latin typeface="Arial MT"/>
                <a:cs typeface="Arial MT"/>
              </a:rPr>
              <a:t>match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specific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pattern,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typically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based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on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extensions.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This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allows </a:t>
            </a:r>
            <a:r>
              <a:rPr dirty="0">
                <a:latin typeface="Arial MT"/>
                <a:cs typeface="Arial MT"/>
              </a:rPr>
              <a:t>you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apply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same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build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command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multiple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without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having</a:t>
            </a:r>
            <a:r>
              <a:rPr spc="-25" dirty="0">
                <a:latin typeface="Arial MT"/>
                <a:cs typeface="Arial MT"/>
              </a:rPr>
              <a:t> to </a:t>
            </a:r>
            <a:r>
              <a:rPr dirty="0">
                <a:latin typeface="Arial MT"/>
                <a:cs typeface="Arial MT"/>
              </a:rPr>
              <a:t>manually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specify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each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one.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It's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especially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useful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for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compiling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source </a:t>
            </a:r>
            <a:r>
              <a:rPr dirty="0">
                <a:latin typeface="Arial MT"/>
                <a:cs typeface="Arial MT"/>
              </a:rPr>
              <a:t>files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large</a:t>
            </a:r>
            <a:r>
              <a:rPr spc="-10" dirty="0">
                <a:latin typeface="Arial MT"/>
                <a:cs typeface="Arial MT"/>
              </a:rPr>
              <a:t> projects.</a:t>
            </a:r>
            <a:endParaRPr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%</a:t>
            </a:r>
            <a:r>
              <a:rPr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dirty="0">
                <a:latin typeface="Arial"/>
                <a:cs typeface="Arial"/>
              </a:rPr>
              <a:t>as</a:t>
            </a:r>
            <a:r>
              <a:rPr b="1" spc="-1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Wildcard</a:t>
            </a:r>
            <a:endParaRPr dirty="0">
              <a:latin typeface="Arial"/>
              <a:cs typeface="Arial"/>
            </a:endParaRPr>
          </a:p>
          <a:p>
            <a:pPr marL="12700" marR="152400">
              <a:lnSpc>
                <a:spcPct val="114999"/>
              </a:lnSpc>
              <a:spcBef>
                <a:spcPts val="1200"/>
              </a:spcBef>
            </a:pPr>
            <a:r>
              <a:rPr dirty="0">
                <a:latin typeface="Arial MT"/>
                <a:cs typeface="Arial MT"/>
              </a:rPr>
              <a:t>The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%</a:t>
            </a:r>
            <a:r>
              <a:rPr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symbol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pattern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rules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acts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b="1" dirty="0">
                <a:latin typeface="Arial"/>
                <a:cs typeface="Arial"/>
              </a:rPr>
              <a:t>wildcard</a:t>
            </a:r>
            <a:r>
              <a:rPr dirty="0">
                <a:latin typeface="Arial MT"/>
                <a:cs typeface="Arial MT"/>
              </a:rPr>
              <a:t>,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matching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any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string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characters.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It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enables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single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rule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apply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multiple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files</a:t>
            </a:r>
            <a:r>
              <a:rPr spc="-20" dirty="0">
                <a:latin typeface="Arial MT"/>
                <a:cs typeface="Arial MT"/>
              </a:rPr>
              <a:t> that </a:t>
            </a:r>
            <a:r>
              <a:rPr dirty="0">
                <a:latin typeface="Arial MT"/>
                <a:cs typeface="Arial MT"/>
              </a:rPr>
              <a:t>share</a:t>
            </a:r>
            <a:r>
              <a:rPr spc="-7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common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pattern,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such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compiling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all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.c</a:t>
            </a:r>
            <a:r>
              <a:rPr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files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into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.o</a:t>
            </a:r>
            <a:r>
              <a:rPr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latin typeface="Arial MT"/>
                <a:cs typeface="Arial MT"/>
              </a:rPr>
              <a:t>files.</a:t>
            </a:r>
            <a:endParaRPr dirty="0">
              <a:latin typeface="Arial MT"/>
              <a:cs typeface="Arial MT"/>
            </a:endParaRPr>
          </a:p>
          <a:p>
            <a:pPr marL="12700" marR="308610">
              <a:lnSpc>
                <a:spcPct val="114999"/>
              </a:lnSpc>
              <a:spcBef>
                <a:spcPts val="1200"/>
              </a:spcBef>
            </a:pPr>
            <a:r>
              <a:rPr dirty="0">
                <a:latin typeface="Arial MT"/>
                <a:cs typeface="Arial MT"/>
              </a:rPr>
              <a:t>Pattern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rules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are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often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used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Makefiles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automate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process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of </a:t>
            </a:r>
            <a:r>
              <a:rPr dirty="0">
                <a:latin typeface="Arial MT"/>
                <a:cs typeface="Arial MT"/>
              </a:rPr>
              <a:t>compiling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multiple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source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into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object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without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having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list </a:t>
            </a:r>
            <a:r>
              <a:rPr dirty="0">
                <a:latin typeface="Arial MT"/>
                <a:cs typeface="Arial MT"/>
              </a:rPr>
              <a:t>each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individually.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5530" y="2127550"/>
            <a:ext cx="3170670" cy="364839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0375" y="1143000"/>
            <a:ext cx="316102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Pattern</a:t>
            </a:r>
            <a:r>
              <a:rPr spc="-120" dirty="0"/>
              <a:t> </a:t>
            </a:r>
            <a:r>
              <a:rPr spc="-10" dirty="0"/>
              <a:t>Rules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50" y="1863544"/>
            <a:ext cx="5852150" cy="47534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14000"/>
              </a:lnSpc>
              <a:spcBef>
                <a:spcPts val="100"/>
              </a:spcBef>
            </a:pPr>
            <a:r>
              <a:rPr b="1" dirty="0">
                <a:latin typeface="Arial"/>
                <a:cs typeface="Arial"/>
              </a:rPr>
              <a:t>Pattern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Rule</a:t>
            </a:r>
            <a:r>
              <a:rPr dirty="0">
                <a:latin typeface="Arial MT"/>
                <a:cs typeface="Arial MT"/>
              </a:rPr>
              <a:t>: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%.o:</a:t>
            </a:r>
            <a:r>
              <a:rPr b="1" spc="-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spc="-25" dirty="0">
                <a:solidFill>
                  <a:srgbClr val="188037"/>
                </a:solidFill>
                <a:latin typeface="Courier New"/>
                <a:cs typeface="Courier New"/>
              </a:rPr>
              <a:t>%.c</a:t>
            </a:r>
            <a:endParaRPr b="1" dirty="0">
              <a:latin typeface="Courier New"/>
              <a:cs typeface="Courier New"/>
            </a:endParaRPr>
          </a:p>
          <a:p>
            <a:pPr marL="469265" indent="-343535">
              <a:lnSpc>
                <a:spcPct val="114000"/>
              </a:lnSpc>
              <a:spcBef>
                <a:spcPts val="1470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%</a:t>
            </a:r>
            <a:r>
              <a:rPr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matches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any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string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characters.</a:t>
            </a:r>
            <a:endParaRPr dirty="0">
              <a:latin typeface="Arial MT"/>
              <a:cs typeface="Arial MT"/>
            </a:endParaRPr>
          </a:p>
          <a:p>
            <a:pPr marL="469265" indent="-343535">
              <a:lnSpc>
                <a:spcPct val="114000"/>
              </a:lnSpc>
              <a:spcBef>
                <a:spcPts val="27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$&lt;</a:t>
            </a:r>
            <a:r>
              <a:rPr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refers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.c</a:t>
            </a:r>
            <a:r>
              <a:rPr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(first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prerequisite),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b="1" spc="-25" dirty="0">
                <a:solidFill>
                  <a:srgbClr val="188037"/>
                </a:solidFill>
                <a:latin typeface="Courier New"/>
                <a:cs typeface="Courier New"/>
              </a:rPr>
              <a:t>$@</a:t>
            </a:r>
            <a:endParaRPr b="1" dirty="0">
              <a:latin typeface="Courier New"/>
              <a:cs typeface="Courier New"/>
            </a:endParaRPr>
          </a:p>
          <a:p>
            <a:pPr marL="469900">
              <a:lnSpc>
                <a:spcPct val="114000"/>
              </a:lnSpc>
              <a:spcBef>
                <a:spcPts val="270"/>
              </a:spcBef>
            </a:pPr>
            <a:r>
              <a:rPr dirty="0">
                <a:latin typeface="Arial MT"/>
                <a:cs typeface="Arial MT"/>
              </a:rPr>
              <a:t>refers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.o</a:t>
            </a:r>
            <a:r>
              <a:rPr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(target).</a:t>
            </a:r>
            <a:endParaRPr dirty="0">
              <a:latin typeface="Arial MT"/>
              <a:cs typeface="Arial MT"/>
            </a:endParaRPr>
          </a:p>
          <a:p>
            <a:pPr marL="12700">
              <a:lnSpc>
                <a:spcPct val="114000"/>
              </a:lnSpc>
              <a:spcBef>
                <a:spcPts val="1470"/>
              </a:spcBef>
            </a:pPr>
            <a:r>
              <a:rPr b="1" spc="-10" dirty="0">
                <a:latin typeface="Arial"/>
                <a:cs typeface="Arial"/>
              </a:rPr>
              <a:t>Explanation:</a:t>
            </a:r>
            <a:endParaRPr dirty="0">
              <a:latin typeface="Arial"/>
              <a:cs typeface="Arial"/>
            </a:endParaRPr>
          </a:p>
          <a:p>
            <a:pPr marL="469265" indent="-343535">
              <a:lnSpc>
                <a:spcPct val="114000"/>
              </a:lnSpc>
              <a:spcBef>
                <a:spcPts val="1470"/>
              </a:spcBef>
              <a:buChar char="●"/>
              <a:tabLst>
                <a:tab pos="469265" algn="l"/>
              </a:tabLst>
            </a:pPr>
            <a:r>
              <a:rPr dirty="0">
                <a:latin typeface="Arial MT"/>
                <a:cs typeface="Arial MT"/>
              </a:rPr>
              <a:t>The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target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myprogram</a:t>
            </a:r>
            <a:r>
              <a:rPr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depends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on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main.o</a:t>
            </a:r>
            <a:r>
              <a:rPr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pc="-25" dirty="0">
                <a:latin typeface="Arial MT"/>
                <a:cs typeface="Arial MT"/>
              </a:rPr>
              <a:t>and</a:t>
            </a:r>
            <a:endParaRPr dirty="0">
              <a:latin typeface="Arial MT"/>
              <a:cs typeface="Arial MT"/>
            </a:endParaRPr>
          </a:p>
          <a:p>
            <a:pPr marL="469900">
              <a:lnSpc>
                <a:spcPct val="114000"/>
              </a:lnSpc>
              <a:spcBef>
                <a:spcPts val="270"/>
              </a:spcBef>
              <a:spcAft>
                <a:spcPts val="600"/>
              </a:spcAft>
            </a:pP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util.o</a:t>
            </a:r>
            <a:r>
              <a:rPr spc="-10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  <a:p>
            <a:pPr marL="469900" marR="14604" indent="-344170">
              <a:lnSpc>
                <a:spcPct val="114000"/>
              </a:lnSpc>
              <a:buChar char="●"/>
              <a:tabLst>
                <a:tab pos="469900" algn="l"/>
              </a:tabLst>
            </a:pPr>
            <a:r>
              <a:rPr dirty="0">
                <a:latin typeface="Arial MT"/>
                <a:cs typeface="Arial MT"/>
              </a:rPr>
              <a:t>The</a:t>
            </a:r>
            <a:r>
              <a:rPr spc="-8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pattern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rule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%.o:</a:t>
            </a:r>
            <a:r>
              <a:rPr b="1" spc="-6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%.c</a:t>
            </a:r>
            <a:r>
              <a:rPr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compiles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any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.c</a:t>
            </a:r>
            <a:r>
              <a:rPr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into </a:t>
            </a:r>
            <a:r>
              <a:rPr dirty="0">
                <a:latin typeface="Arial MT"/>
                <a:cs typeface="Arial MT"/>
              </a:rPr>
              <a:t>its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corresponding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.o</a:t>
            </a:r>
            <a:r>
              <a:rPr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latin typeface="Arial MT"/>
                <a:cs typeface="Arial MT"/>
              </a:rPr>
              <a:t>file.</a:t>
            </a:r>
            <a:endParaRPr dirty="0">
              <a:latin typeface="Arial MT"/>
              <a:cs typeface="Arial MT"/>
            </a:endParaRPr>
          </a:p>
          <a:p>
            <a:pPr marL="926465" lvl="1" indent="-343535">
              <a:lnSpc>
                <a:spcPct val="114000"/>
              </a:lnSpc>
              <a:spcBef>
                <a:spcPts val="270"/>
              </a:spcBef>
              <a:buClr>
                <a:srgbClr val="000000"/>
              </a:buClr>
              <a:buFont typeface="Arial MT"/>
              <a:buChar char="○"/>
              <a:tabLst>
                <a:tab pos="926465" algn="l"/>
              </a:tabLst>
            </a:pP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gcc</a:t>
            </a:r>
            <a:r>
              <a:rPr b="1" spc="-4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c</a:t>
            </a:r>
            <a:r>
              <a:rPr b="1" spc="-3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$&lt;</a:t>
            </a:r>
            <a:r>
              <a:rPr b="1" spc="-2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o</a:t>
            </a:r>
            <a:r>
              <a:rPr b="1" spc="-3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$@</a:t>
            </a:r>
            <a:r>
              <a:rPr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used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compile,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where:</a:t>
            </a:r>
            <a:endParaRPr dirty="0">
              <a:latin typeface="Arial MT"/>
              <a:cs typeface="Arial MT"/>
            </a:endParaRPr>
          </a:p>
          <a:p>
            <a:pPr marL="1383665" lvl="2" indent="-343535">
              <a:lnSpc>
                <a:spcPct val="114000"/>
              </a:lnSpc>
              <a:spcBef>
                <a:spcPts val="270"/>
              </a:spcBef>
              <a:buClr>
                <a:srgbClr val="000000"/>
              </a:buClr>
              <a:buFont typeface="Arial MT"/>
              <a:buChar char="■"/>
              <a:tabLst>
                <a:tab pos="1383665" algn="l"/>
              </a:tabLst>
            </a:pP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$&lt;</a:t>
            </a:r>
            <a:r>
              <a:rPr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.c</a:t>
            </a:r>
            <a:r>
              <a:rPr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latin typeface="Arial MT"/>
                <a:cs typeface="Arial MT"/>
              </a:rPr>
              <a:t>file.</a:t>
            </a:r>
            <a:endParaRPr dirty="0">
              <a:latin typeface="Arial MT"/>
              <a:cs typeface="Arial MT"/>
            </a:endParaRPr>
          </a:p>
          <a:p>
            <a:pPr marL="1383665" lvl="2" indent="-343535">
              <a:lnSpc>
                <a:spcPct val="114000"/>
              </a:lnSpc>
              <a:spcBef>
                <a:spcPts val="270"/>
              </a:spcBef>
              <a:buClr>
                <a:srgbClr val="000000"/>
              </a:buClr>
              <a:buFont typeface="Arial MT"/>
              <a:buChar char="■"/>
              <a:tabLst>
                <a:tab pos="1383665" algn="l"/>
              </a:tabLst>
            </a:pP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$@</a:t>
            </a:r>
            <a:r>
              <a:rPr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.o</a:t>
            </a:r>
            <a:r>
              <a:rPr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pc="-10" dirty="0">
                <a:latin typeface="Arial MT"/>
                <a:cs typeface="Arial MT"/>
              </a:rPr>
              <a:t>file.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2" name="object 2" descr="A Makefile similar to the previous one, but specifically tailored for a project with main.o and util.o object files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0801" y="1040303"/>
            <a:ext cx="5110199" cy="56529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Pattern</a:t>
            </a:r>
            <a:r>
              <a:rPr spc="-120" dirty="0"/>
              <a:t> </a:t>
            </a:r>
            <a:r>
              <a:rPr spc="-10" dirty="0"/>
              <a:t>Rules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7649" y="3384749"/>
            <a:ext cx="3550920" cy="1261110"/>
          </a:xfrm>
          <a:prstGeom prst="rect">
            <a:avLst/>
          </a:prstGeom>
          <a:ln w="9524">
            <a:solidFill>
              <a:srgbClr val="0F2044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60"/>
              </a:spcBef>
            </a:pPr>
            <a:endParaRPr sz="1800">
              <a:latin typeface="Times New Roman"/>
              <a:cs typeface="Times New Roman"/>
            </a:endParaRPr>
          </a:p>
          <a:p>
            <a:pPr marL="1457325" marR="353695" indent="-1099185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Pattern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Rules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Makefiles </a:t>
            </a:r>
            <a:r>
              <a:rPr sz="1800" b="1" spc="-20" dirty="0">
                <a:latin typeface="Arial"/>
                <a:cs typeface="Arial"/>
              </a:rPr>
              <a:t>Demo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0801" y="1040303"/>
            <a:ext cx="5110199" cy="565299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295400"/>
            <a:ext cx="316102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Conditional</a:t>
            </a:r>
            <a:r>
              <a:rPr spc="-85" dirty="0"/>
              <a:t> </a:t>
            </a:r>
            <a:r>
              <a:rPr spc="-10" dirty="0"/>
              <a:t>Directives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650" y="1976065"/>
            <a:ext cx="6614150" cy="45838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000"/>
              </a:lnSpc>
              <a:spcBef>
                <a:spcPts val="100"/>
              </a:spcBef>
            </a:pPr>
            <a:r>
              <a:rPr b="1" spc="-10" dirty="0">
                <a:latin typeface="Arial"/>
                <a:cs typeface="Arial"/>
              </a:rPr>
              <a:t>Conditional</a:t>
            </a:r>
            <a:r>
              <a:rPr b="1" spc="-5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directives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Makefiles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allow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you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control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the </a:t>
            </a:r>
            <a:r>
              <a:rPr dirty="0">
                <a:latin typeface="Arial MT"/>
                <a:cs typeface="Arial MT"/>
              </a:rPr>
              <a:t>behavior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build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process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based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on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certain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conditions.</a:t>
            </a:r>
            <a:r>
              <a:rPr spc="-8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This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is </a:t>
            </a:r>
            <a:r>
              <a:rPr dirty="0">
                <a:latin typeface="Arial MT"/>
                <a:cs typeface="Arial MT"/>
              </a:rPr>
              <a:t>particularly</a:t>
            </a:r>
            <a:r>
              <a:rPr spc="-8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useful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when</a:t>
            </a:r>
            <a:r>
              <a:rPr spc="-8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handling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cross-</a:t>
            </a:r>
            <a:r>
              <a:rPr dirty="0">
                <a:latin typeface="Arial MT"/>
                <a:cs typeface="Arial MT"/>
              </a:rPr>
              <a:t>platform</a:t>
            </a:r>
            <a:r>
              <a:rPr spc="-8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builds,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where different</a:t>
            </a:r>
            <a:r>
              <a:rPr spc="-7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operating</a:t>
            </a:r>
            <a:r>
              <a:rPr spc="-7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systems</a:t>
            </a:r>
            <a:r>
              <a:rPr spc="-7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or</a:t>
            </a:r>
            <a:r>
              <a:rPr spc="-7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configurations</a:t>
            </a:r>
            <a:r>
              <a:rPr spc="-7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may</a:t>
            </a:r>
            <a:r>
              <a:rPr spc="-7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require</a:t>
            </a:r>
            <a:r>
              <a:rPr spc="-7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different commands,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compiler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flags,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or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file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extensions.</a:t>
            </a:r>
            <a:endParaRPr dirty="0">
              <a:latin typeface="Arial MT"/>
              <a:cs typeface="Arial MT"/>
            </a:endParaRPr>
          </a:p>
          <a:p>
            <a:pPr marL="12700">
              <a:lnSpc>
                <a:spcPct val="114000"/>
              </a:lnSpc>
              <a:spcBef>
                <a:spcPts val="1505"/>
              </a:spcBef>
            </a:pPr>
            <a:r>
              <a:rPr dirty="0">
                <a:latin typeface="Arial MT"/>
                <a:cs typeface="Arial MT"/>
              </a:rPr>
              <a:t>Make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uses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following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conditional</a:t>
            </a:r>
            <a:r>
              <a:rPr spc="-5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statements:</a:t>
            </a:r>
            <a:endParaRPr dirty="0">
              <a:latin typeface="Arial MT"/>
              <a:cs typeface="Arial MT"/>
            </a:endParaRPr>
          </a:p>
          <a:p>
            <a:pPr marL="469265" indent="-358775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ifeq</a:t>
            </a:r>
            <a:r>
              <a:rPr spc="-10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(arg1,</a:t>
            </a:r>
            <a:r>
              <a:rPr b="1" spc="-7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arg2)</a:t>
            </a:r>
            <a:r>
              <a:rPr b="1" spc="-10" dirty="0">
                <a:latin typeface="Arial MT"/>
                <a:cs typeface="Arial MT"/>
              </a:rPr>
              <a:t>:</a:t>
            </a:r>
            <a:r>
              <a:rPr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True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if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arg1</a:t>
            </a:r>
            <a:r>
              <a:rPr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equal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arg2</a:t>
            </a:r>
            <a:r>
              <a:rPr spc="-10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  <a:p>
            <a:pPr marL="469265" indent="-358775">
              <a:lnSpc>
                <a:spcPct val="114000"/>
              </a:lnSpc>
              <a:spcBef>
                <a:spcPts val="305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ifneq</a:t>
            </a:r>
            <a:r>
              <a:rPr spc="-10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(arg1,</a:t>
            </a:r>
            <a:r>
              <a:rPr b="1" spc="-7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arg2)</a:t>
            </a:r>
            <a:r>
              <a:rPr b="1" spc="-10" dirty="0">
                <a:latin typeface="Arial MT"/>
                <a:cs typeface="Arial MT"/>
              </a:rPr>
              <a:t>:</a:t>
            </a:r>
            <a:r>
              <a:rPr b="1" spc="-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True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if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arg1</a:t>
            </a:r>
            <a:r>
              <a:rPr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not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equal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arg2</a:t>
            </a:r>
            <a:r>
              <a:rPr spc="-10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  <a:p>
            <a:pPr marL="469265" indent="-358775">
              <a:lnSpc>
                <a:spcPct val="114000"/>
              </a:lnSpc>
              <a:spcBef>
                <a:spcPts val="309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ifdef</a:t>
            </a:r>
            <a:r>
              <a:rPr spc="-10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var</a:t>
            </a:r>
            <a:r>
              <a:rPr b="1" dirty="0">
                <a:latin typeface="Arial MT"/>
                <a:cs typeface="Arial MT"/>
              </a:rPr>
              <a:t>:</a:t>
            </a:r>
            <a:r>
              <a:rPr b="1" spc="-6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True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if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var</a:t>
            </a:r>
            <a:r>
              <a:rPr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defined.</a:t>
            </a:r>
            <a:endParaRPr dirty="0">
              <a:latin typeface="Arial MT"/>
              <a:cs typeface="Arial MT"/>
            </a:endParaRPr>
          </a:p>
          <a:p>
            <a:pPr marL="469265" indent="-358775">
              <a:lnSpc>
                <a:spcPct val="114000"/>
              </a:lnSpc>
              <a:spcBef>
                <a:spcPts val="305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ifndef</a:t>
            </a:r>
            <a:r>
              <a:rPr spc="-10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var</a:t>
            </a:r>
            <a:r>
              <a:rPr b="1" dirty="0">
                <a:latin typeface="Arial MT"/>
                <a:cs typeface="Arial MT"/>
              </a:rPr>
              <a:t>:</a:t>
            </a:r>
            <a:r>
              <a:rPr spc="-6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True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if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var</a:t>
            </a:r>
            <a:r>
              <a:rPr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not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defined.</a:t>
            </a:r>
            <a:endParaRPr dirty="0">
              <a:latin typeface="Arial MT"/>
              <a:cs typeface="Arial MT"/>
            </a:endParaRPr>
          </a:p>
          <a:p>
            <a:pPr marL="469900" marR="532130" indent="-359410">
              <a:lnSpc>
                <a:spcPct val="114000"/>
              </a:lnSpc>
              <a:buChar char="●"/>
              <a:tabLst>
                <a:tab pos="469900" algn="l"/>
              </a:tabLst>
            </a:pPr>
            <a:r>
              <a:rPr spc="-45" dirty="0">
                <a:latin typeface="Arial MT"/>
                <a:cs typeface="Arial MT"/>
              </a:rPr>
              <a:t>You</a:t>
            </a:r>
            <a:r>
              <a:rPr spc="-7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can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also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use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else</a:t>
            </a:r>
            <a:r>
              <a:rPr dirty="0">
                <a:latin typeface="Arial MT"/>
                <a:cs typeface="Arial MT"/>
              </a:rPr>
              <a:t>,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endif</a:t>
            </a:r>
            <a:r>
              <a:rPr dirty="0">
                <a:latin typeface="Arial MT"/>
                <a:cs typeface="Arial MT"/>
              </a:rPr>
              <a:t>,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40" dirty="0">
                <a:latin typeface="Arial MT"/>
                <a:cs typeface="Arial MT"/>
              </a:rPr>
              <a:t> </a:t>
            </a:r>
            <a:r>
              <a:rPr b="1" dirty="0">
                <a:solidFill>
                  <a:srgbClr val="188037"/>
                </a:solidFill>
                <a:latin typeface="Courier New"/>
                <a:cs typeface="Courier New"/>
              </a:rPr>
              <a:t>else</a:t>
            </a:r>
            <a:r>
              <a:rPr b="1" spc="-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if</a:t>
            </a:r>
            <a:r>
              <a:rPr b="1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for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-20" dirty="0">
                <a:latin typeface="Arial MT"/>
                <a:cs typeface="Arial MT"/>
              </a:rPr>
              <a:t>more </a:t>
            </a:r>
            <a:r>
              <a:rPr dirty="0">
                <a:latin typeface="Arial MT"/>
                <a:cs typeface="Arial MT"/>
              </a:rPr>
              <a:t>complex</a:t>
            </a:r>
            <a:r>
              <a:rPr spc="-7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branching.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30730" y="2127550"/>
            <a:ext cx="3170670" cy="364839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Conditional</a:t>
            </a:r>
            <a:r>
              <a:rPr spc="-85" dirty="0"/>
              <a:t> </a:t>
            </a:r>
            <a:r>
              <a:rPr spc="-10" dirty="0"/>
              <a:t>Directives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8650" y="2408881"/>
            <a:ext cx="5551805" cy="40902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Detecting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the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OS</a:t>
            </a:r>
            <a:r>
              <a:rPr sz="1800" spc="-25" dirty="0">
                <a:latin typeface="Arial MT"/>
                <a:cs typeface="Arial MT"/>
              </a:rPr>
              <a:t>:</a:t>
            </a:r>
            <a:endParaRPr sz="1800" dirty="0">
              <a:latin typeface="Arial MT"/>
              <a:cs typeface="Arial MT"/>
            </a:endParaRPr>
          </a:p>
          <a:p>
            <a:pPr marL="468630" marR="5080" indent="-365760" algn="just">
              <a:lnSpc>
                <a:spcPct val="114999"/>
              </a:lnSpc>
              <a:spcBef>
                <a:spcPts val="1200"/>
              </a:spcBef>
              <a:spcAft>
                <a:spcPts val="600"/>
              </a:spcAft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ifeq</a:t>
            </a:r>
            <a:r>
              <a:rPr sz="1800" b="1" spc="-27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($(OS),</a:t>
            </a:r>
            <a:r>
              <a:rPr sz="1800" b="1" spc="-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Darwin)</a:t>
            </a:r>
            <a:r>
              <a:rPr sz="1800" b="1" dirty="0">
                <a:latin typeface="Arial MT"/>
                <a:cs typeface="Arial MT"/>
              </a:rPr>
              <a:t>:</a:t>
            </a:r>
            <a:r>
              <a:rPr sz="1800" b="1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variable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b="1" spc="-330" dirty="0">
                <a:solidFill>
                  <a:srgbClr val="188037"/>
                </a:solidFill>
                <a:latin typeface="Courier New"/>
                <a:cs typeface="Courier New"/>
              </a:rPr>
              <a:t>OS</a:t>
            </a:r>
            <a:r>
              <a:rPr sz="1800" spc="6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set 	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operating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system.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 </a:t>
            </a:r>
            <a:r>
              <a:rPr sz="1800" b="1" dirty="0">
                <a:latin typeface="Arial"/>
                <a:cs typeface="Arial"/>
              </a:rPr>
              <a:t>macOS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is 	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Darwin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  <a:p>
            <a:pPr marL="468630" marR="143510" indent="-365760" algn="just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If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macOS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architecture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flag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800" b="1" spc="-20" dirty="0">
                <a:solidFill>
                  <a:srgbClr val="188037"/>
                </a:solidFill>
                <a:latin typeface="Courier New"/>
                <a:cs typeface="Courier New"/>
              </a:rPr>
              <a:t>arch </a:t>
            </a:r>
            <a:r>
              <a:rPr sz="1800" spc="-20" dirty="0">
                <a:solidFill>
                  <a:srgbClr val="188037"/>
                </a:solidFill>
                <a:latin typeface="Courier New"/>
                <a:cs typeface="Courier New"/>
              </a:rPr>
              <a:t>	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arm64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added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CFLAGS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extension</a:t>
            </a:r>
            <a:endParaRPr sz="1800" dirty="0">
              <a:latin typeface="Arial MT"/>
              <a:cs typeface="Arial MT"/>
            </a:endParaRPr>
          </a:p>
          <a:p>
            <a:pPr marL="469900" marR="1857375" algn="just">
              <a:lnSpc>
                <a:spcPct val="114999"/>
              </a:lnSpc>
              <a:spcAft>
                <a:spcPts val="600"/>
              </a:spcAft>
            </a:pPr>
            <a:r>
              <a:rPr sz="1800" spc="-120" dirty="0">
                <a:solidFill>
                  <a:srgbClr val="188037"/>
                </a:solidFill>
                <a:latin typeface="Courier New"/>
                <a:cs typeface="Courier New"/>
              </a:rPr>
              <a:t>.</a:t>
            </a:r>
            <a:r>
              <a:rPr sz="1800" b="1" spc="-120" dirty="0">
                <a:solidFill>
                  <a:srgbClr val="188037"/>
                </a:solidFill>
                <a:latin typeface="Courier New"/>
                <a:cs typeface="Courier New"/>
              </a:rPr>
              <a:t>app</a:t>
            </a:r>
            <a:r>
              <a:rPr sz="1800" spc="-16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used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8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executable 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myprogram.app</a:t>
            </a:r>
            <a:r>
              <a:rPr sz="1800" spc="-10" dirty="0">
                <a:latin typeface="Arial MT"/>
                <a:cs typeface="Arial MT"/>
              </a:rPr>
              <a:t>).</a:t>
            </a:r>
            <a:endParaRPr sz="1800" dirty="0">
              <a:latin typeface="Arial MT"/>
              <a:cs typeface="Arial MT"/>
            </a:endParaRPr>
          </a:p>
          <a:p>
            <a:pPr marL="469900" marR="226695" indent="-36703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Linux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(any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where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OS</a:t>
            </a:r>
            <a:r>
              <a:rPr sz="1800" b="1" spc="-1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188037"/>
                </a:solidFill>
                <a:latin typeface="Courier New"/>
                <a:cs typeface="Courier New"/>
              </a:rPr>
              <a:t>!=</a:t>
            </a:r>
            <a:r>
              <a:rPr sz="1800" b="1" spc="-1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Darwin</a:t>
            </a:r>
            <a:r>
              <a:rPr sz="1800" spc="-10" dirty="0">
                <a:latin typeface="Arial MT"/>
                <a:cs typeface="Arial MT"/>
              </a:rPr>
              <a:t>), </a:t>
            </a:r>
            <a:r>
              <a:rPr sz="1800" dirty="0">
                <a:latin typeface="Arial MT"/>
                <a:cs typeface="Arial MT"/>
              </a:rPr>
              <a:t>we add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-lpthread</a:t>
            </a:r>
            <a:r>
              <a:rPr sz="1800" spc="-57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CFLAGS</a:t>
            </a:r>
            <a:r>
              <a:rPr sz="1800" spc="-57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link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pthread</a:t>
            </a:r>
            <a:r>
              <a:rPr sz="1800" spc="-59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Arial MT"/>
                <a:cs typeface="Arial MT"/>
              </a:rPr>
              <a:t>library,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executable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no </a:t>
            </a:r>
            <a:r>
              <a:rPr sz="1800" dirty="0">
                <a:latin typeface="Arial MT"/>
                <a:cs typeface="Arial MT"/>
              </a:rPr>
              <a:t>extension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myprogram</a:t>
            </a:r>
            <a:r>
              <a:rPr sz="1800" spc="-10" dirty="0">
                <a:latin typeface="Arial MT"/>
                <a:cs typeface="Arial MT"/>
              </a:rPr>
              <a:t>).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 descr="An advanced Makefile featuring an ifeq conditional block to detect the operating system (Darwin/macOS vs. Linux) and adjust CFLAGS and file extensions (EXT) accordingly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36300" y="1379500"/>
            <a:ext cx="5525675" cy="505202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Conditional</a:t>
            </a:r>
            <a:r>
              <a:rPr spc="-85" dirty="0"/>
              <a:t> </a:t>
            </a:r>
            <a:r>
              <a:rPr spc="-10" dirty="0"/>
              <a:t>Directives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7649" y="3384749"/>
            <a:ext cx="3550920" cy="1261110"/>
          </a:xfrm>
          <a:prstGeom prst="rect">
            <a:avLst/>
          </a:prstGeom>
          <a:ln w="9524">
            <a:solidFill>
              <a:srgbClr val="0F2044"/>
            </a:solidFill>
          </a:ln>
        </p:spPr>
        <p:txBody>
          <a:bodyPr vert="horz" wrap="square" lIns="0" tIns="838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60"/>
              </a:spcBef>
            </a:pPr>
            <a:endParaRPr sz="1800">
              <a:latin typeface="Times New Roman"/>
              <a:cs typeface="Times New Roman"/>
            </a:endParaRPr>
          </a:p>
          <a:p>
            <a:pPr marL="911225" marR="430530" indent="-476250">
              <a:lnSpc>
                <a:spcPct val="100000"/>
              </a:lnSpc>
            </a:pPr>
            <a:r>
              <a:rPr sz="1800" b="1" spc="-10" dirty="0">
                <a:latin typeface="Arial"/>
                <a:cs typeface="Arial"/>
              </a:rPr>
              <a:t>Conditional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Directives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in </a:t>
            </a:r>
            <a:r>
              <a:rPr sz="1800" b="1" dirty="0">
                <a:latin typeface="Arial"/>
                <a:cs typeface="Arial"/>
              </a:rPr>
              <a:t>Makefiles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Demo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6300" y="1379500"/>
            <a:ext cx="5525675" cy="505202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600200"/>
            <a:ext cx="316102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Recursive</a:t>
            </a:r>
            <a:r>
              <a:rPr spc="-65" dirty="0"/>
              <a:t> </a:t>
            </a:r>
            <a:r>
              <a:rPr spc="-20" dirty="0"/>
              <a:t>Make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48650" y="2300600"/>
            <a:ext cx="7528550" cy="417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244">
              <a:lnSpc>
                <a:spcPct val="114000"/>
              </a:lnSpc>
              <a:spcBef>
                <a:spcPts val="100"/>
              </a:spcBef>
            </a:pPr>
            <a:r>
              <a:rPr sz="1800" dirty="0"/>
              <a:t>In</a:t>
            </a:r>
            <a:r>
              <a:rPr sz="1800" spc="-35" dirty="0"/>
              <a:t> </a:t>
            </a:r>
            <a:r>
              <a:rPr sz="1800" dirty="0"/>
              <a:t>large</a:t>
            </a:r>
            <a:r>
              <a:rPr sz="1800" spc="-35" dirty="0"/>
              <a:t> </a:t>
            </a:r>
            <a:r>
              <a:rPr sz="1800" dirty="0"/>
              <a:t>projects,</a:t>
            </a:r>
            <a:r>
              <a:rPr sz="1800" spc="-30" dirty="0"/>
              <a:t> </a:t>
            </a:r>
            <a:r>
              <a:rPr sz="1800" dirty="0"/>
              <a:t>it's</a:t>
            </a:r>
            <a:r>
              <a:rPr sz="1800" spc="-35" dirty="0"/>
              <a:t> </a:t>
            </a:r>
            <a:r>
              <a:rPr sz="1800" dirty="0"/>
              <a:t>often</a:t>
            </a:r>
            <a:r>
              <a:rPr sz="1800" spc="-35" dirty="0"/>
              <a:t> </a:t>
            </a:r>
            <a:r>
              <a:rPr sz="1800" dirty="0"/>
              <a:t>useful</a:t>
            </a:r>
            <a:r>
              <a:rPr sz="1800" spc="-30" dirty="0"/>
              <a:t> </a:t>
            </a:r>
            <a:r>
              <a:rPr sz="1800" dirty="0"/>
              <a:t>to</a:t>
            </a:r>
            <a:r>
              <a:rPr sz="1800" spc="-35" dirty="0"/>
              <a:t> </a:t>
            </a:r>
            <a:r>
              <a:rPr sz="1800" dirty="0"/>
              <a:t>split</a:t>
            </a:r>
            <a:r>
              <a:rPr sz="1800" spc="-35" dirty="0"/>
              <a:t> </a:t>
            </a:r>
            <a:r>
              <a:rPr sz="1800" dirty="0"/>
              <a:t>the</a:t>
            </a:r>
            <a:r>
              <a:rPr sz="1800" spc="-30" dirty="0"/>
              <a:t> </a:t>
            </a:r>
            <a:r>
              <a:rPr sz="1800" dirty="0"/>
              <a:t>build</a:t>
            </a:r>
            <a:r>
              <a:rPr sz="1800" spc="-35" dirty="0"/>
              <a:t> </a:t>
            </a:r>
            <a:r>
              <a:rPr sz="1800" dirty="0"/>
              <a:t>process</a:t>
            </a:r>
            <a:r>
              <a:rPr sz="1800" spc="-35" dirty="0"/>
              <a:t> </a:t>
            </a:r>
            <a:r>
              <a:rPr sz="1800" spc="-10" dirty="0"/>
              <a:t>across </a:t>
            </a:r>
            <a:r>
              <a:rPr sz="1800" dirty="0"/>
              <a:t>multiple</a:t>
            </a:r>
            <a:r>
              <a:rPr sz="1800" spc="-15" dirty="0"/>
              <a:t> </a:t>
            </a:r>
            <a:r>
              <a:rPr sz="1800" dirty="0"/>
              <a:t>directories</a:t>
            </a:r>
            <a:r>
              <a:rPr sz="1800" spc="-15" dirty="0"/>
              <a:t> </a:t>
            </a:r>
            <a:r>
              <a:rPr sz="1800" dirty="0"/>
              <a:t>and</a:t>
            </a:r>
            <a:r>
              <a:rPr sz="1800" spc="-15" dirty="0"/>
              <a:t> </a:t>
            </a:r>
            <a:r>
              <a:rPr sz="1800" dirty="0"/>
              <a:t>use</a:t>
            </a:r>
            <a:r>
              <a:rPr sz="1800" spc="-15" dirty="0"/>
              <a:t> </a:t>
            </a:r>
            <a:r>
              <a:rPr sz="1800" spc="-10" dirty="0"/>
              <a:t>different </a:t>
            </a:r>
            <a:r>
              <a:rPr sz="1800" dirty="0"/>
              <a:t>Makefiles</a:t>
            </a:r>
            <a:r>
              <a:rPr sz="1800" spc="-15" dirty="0"/>
              <a:t> </a:t>
            </a:r>
            <a:r>
              <a:rPr sz="1800" dirty="0"/>
              <a:t>in</a:t>
            </a:r>
            <a:r>
              <a:rPr sz="1800" spc="-15" dirty="0"/>
              <a:t> </a:t>
            </a:r>
            <a:r>
              <a:rPr sz="1800" dirty="0"/>
              <a:t>each</a:t>
            </a:r>
            <a:r>
              <a:rPr sz="1800" spc="-15" dirty="0"/>
              <a:t> </a:t>
            </a:r>
            <a:r>
              <a:rPr sz="1800" spc="-20" dirty="0"/>
              <a:t>directory.</a:t>
            </a:r>
            <a:r>
              <a:rPr sz="1800" spc="-40" dirty="0"/>
              <a:t> </a:t>
            </a:r>
            <a:r>
              <a:rPr sz="1800" spc="-20" dirty="0"/>
              <a:t>This </a:t>
            </a:r>
            <a:r>
              <a:rPr sz="1800" dirty="0"/>
              <a:t>modular</a:t>
            </a:r>
            <a:r>
              <a:rPr sz="1800" spc="-30" dirty="0"/>
              <a:t> </a:t>
            </a:r>
            <a:r>
              <a:rPr sz="1800" dirty="0"/>
              <a:t>approach</a:t>
            </a:r>
            <a:r>
              <a:rPr sz="1800" spc="-30" dirty="0"/>
              <a:t> </a:t>
            </a:r>
            <a:r>
              <a:rPr sz="1800" dirty="0"/>
              <a:t>helps</a:t>
            </a:r>
            <a:r>
              <a:rPr sz="1800" spc="-30" dirty="0"/>
              <a:t> </a:t>
            </a:r>
            <a:r>
              <a:rPr sz="1800" dirty="0"/>
              <a:t>keep</a:t>
            </a:r>
            <a:r>
              <a:rPr sz="1800" spc="-30" dirty="0"/>
              <a:t> </a:t>
            </a:r>
            <a:r>
              <a:rPr sz="1800" dirty="0"/>
              <a:t>the</a:t>
            </a:r>
            <a:r>
              <a:rPr sz="1800" spc="-30" dirty="0"/>
              <a:t> </a:t>
            </a:r>
            <a:r>
              <a:rPr sz="1800" dirty="0"/>
              <a:t>build</a:t>
            </a:r>
            <a:r>
              <a:rPr sz="1800" spc="-25" dirty="0"/>
              <a:t> </a:t>
            </a:r>
            <a:r>
              <a:rPr sz="1800" dirty="0"/>
              <a:t>system</a:t>
            </a:r>
            <a:r>
              <a:rPr sz="1800" spc="-30" dirty="0"/>
              <a:t> </a:t>
            </a:r>
            <a:r>
              <a:rPr sz="1800" dirty="0"/>
              <a:t>organized</a:t>
            </a:r>
            <a:r>
              <a:rPr sz="1800" spc="-30" dirty="0"/>
              <a:t> </a:t>
            </a:r>
            <a:r>
              <a:rPr sz="1800" spc="-25" dirty="0"/>
              <a:t>and </a:t>
            </a:r>
            <a:r>
              <a:rPr sz="1800" dirty="0"/>
              <a:t>manageable.</a:t>
            </a:r>
            <a:r>
              <a:rPr sz="1800" spc="-25" dirty="0"/>
              <a:t> </a:t>
            </a:r>
            <a:r>
              <a:rPr sz="1800" dirty="0"/>
              <a:t>Each</a:t>
            </a:r>
            <a:r>
              <a:rPr sz="1800" spc="-20" dirty="0"/>
              <a:t> </a:t>
            </a:r>
            <a:r>
              <a:rPr sz="1800" dirty="0"/>
              <a:t>subdirectory</a:t>
            </a:r>
            <a:r>
              <a:rPr sz="1800" spc="-25" dirty="0"/>
              <a:t> </a:t>
            </a:r>
            <a:r>
              <a:rPr sz="1800" dirty="0"/>
              <a:t>has</a:t>
            </a:r>
            <a:r>
              <a:rPr sz="1800" spc="-20" dirty="0"/>
              <a:t> </a:t>
            </a:r>
            <a:r>
              <a:rPr sz="1800" dirty="0"/>
              <a:t>its</a:t>
            </a:r>
            <a:r>
              <a:rPr sz="1800" spc="-25" dirty="0"/>
              <a:t> </a:t>
            </a:r>
            <a:r>
              <a:rPr sz="1800" dirty="0"/>
              <a:t>own</a:t>
            </a:r>
            <a:r>
              <a:rPr sz="1800" spc="-20" dirty="0"/>
              <a:t> </a:t>
            </a:r>
            <a:r>
              <a:rPr sz="1800" dirty="0"/>
              <a:t>Makefile,</a:t>
            </a:r>
            <a:r>
              <a:rPr sz="1800" spc="-25" dirty="0"/>
              <a:t> </a:t>
            </a:r>
            <a:r>
              <a:rPr sz="1800" dirty="0"/>
              <a:t>and</a:t>
            </a:r>
            <a:r>
              <a:rPr sz="1800" spc="-20" dirty="0"/>
              <a:t> </a:t>
            </a:r>
            <a:r>
              <a:rPr sz="1800" dirty="0"/>
              <a:t>the</a:t>
            </a:r>
            <a:r>
              <a:rPr sz="1800" spc="-25" dirty="0"/>
              <a:t> </a:t>
            </a:r>
            <a:r>
              <a:rPr sz="1800" spc="-20" dirty="0"/>
              <a:t>root </a:t>
            </a:r>
            <a:r>
              <a:rPr sz="1800" dirty="0"/>
              <a:t>directory</a:t>
            </a:r>
            <a:r>
              <a:rPr sz="1800" spc="-35" dirty="0"/>
              <a:t> </a:t>
            </a:r>
            <a:r>
              <a:rPr sz="1800" dirty="0"/>
              <a:t>has</a:t>
            </a:r>
            <a:r>
              <a:rPr sz="1800" spc="-30" dirty="0"/>
              <a:t> </a:t>
            </a:r>
            <a:r>
              <a:rPr sz="1800" dirty="0"/>
              <a:t>a</a:t>
            </a:r>
            <a:r>
              <a:rPr sz="1800" spc="-30" dirty="0"/>
              <a:t> </a:t>
            </a:r>
            <a:r>
              <a:rPr sz="1800" dirty="0"/>
              <a:t>"master"</a:t>
            </a:r>
            <a:r>
              <a:rPr sz="1800" spc="-30" dirty="0"/>
              <a:t> </a:t>
            </a:r>
            <a:r>
              <a:rPr sz="1800" dirty="0"/>
              <a:t>Makefile</a:t>
            </a:r>
            <a:r>
              <a:rPr sz="1800" spc="-30" dirty="0"/>
              <a:t> </a:t>
            </a:r>
            <a:r>
              <a:rPr sz="1800" dirty="0"/>
              <a:t>that</a:t>
            </a:r>
            <a:r>
              <a:rPr sz="1800" spc="-30" dirty="0"/>
              <a:t> </a:t>
            </a:r>
            <a:r>
              <a:rPr sz="1800" dirty="0"/>
              <a:t>controls</a:t>
            </a:r>
            <a:r>
              <a:rPr sz="1800" spc="-30" dirty="0"/>
              <a:t> </a:t>
            </a:r>
            <a:r>
              <a:rPr sz="1800" dirty="0"/>
              <a:t>the</a:t>
            </a:r>
            <a:r>
              <a:rPr sz="1800" spc="-30" dirty="0"/>
              <a:t> </a:t>
            </a:r>
            <a:r>
              <a:rPr sz="1800" dirty="0"/>
              <a:t>overall</a:t>
            </a:r>
            <a:r>
              <a:rPr sz="1800" spc="-30" dirty="0"/>
              <a:t> </a:t>
            </a:r>
            <a:r>
              <a:rPr sz="1800" dirty="0"/>
              <a:t>build</a:t>
            </a:r>
            <a:r>
              <a:rPr sz="1800" spc="-35" dirty="0"/>
              <a:t> </a:t>
            </a:r>
            <a:r>
              <a:rPr sz="1800" spc="-10" dirty="0"/>
              <a:t>process.</a:t>
            </a:r>
          </a:p>
          <a:p>
            <a:pPr marL="12700" marR="5080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</a:pPr>
            <a:r>
              <a:rPr sz="1800" spc="-80" dirty="0"/>
              <a:t>To</a:t>
            </a:r>
            <a:r>
              <a:rPr sz="1800" spc="-35" dirty="0"/>
              <a:t> </a:t>
            </a:r>
            <a:r>
              <a:rPr sz="1800" dirty="0"/>
              <a:t>build</a:t>
            </a:r>
            <a:r>
              <a:rPr sz="1800" spc="-20" dirty="0"/>
              <a:t> </a:t>
            </a:r>
            <a:r>
              <a:rPr sz="1800" dirty="0"/>
              <a:t>in</a:t>
            </a:r>
            <a:r>
              <a:rPr sz="1800" spc="-15" dirty="0"/>
              <a:t> </a:t>
            </a:r>
            <a:r>
              <a:rPr sz="1800" dirty="0"/>
              <a:t>subdirectories,</a:t>
            </a:r>
            <a:r>
              <a:rPr sz="1800" spc="-15" dirty="0"/>
              <a:t> </a:t>
            </a:r>
            <a:r>
              <a:rPr sz="1800" dirty="0"/>
              <a:t>you</a:t>
            </a:r>
            <a:r>
              <a:rPr sz="1800" spc="-15" dirty="0"/>
              <a:t> </a:t>
            </a:r>
            <a:r>
              <a:rPr sz="1800" dirty="0"/>
              <a:t>can</a:t>
            </a:r>
            <a:r>
              <a:rPr sz="1800" spc="-15" dirty="0"/>
              <a:t> </a:t>
            </a:r>
            <a:r>
              <a:rPr sz="1800" dirty="0"/>
              <a:t>use</a:t>
            </a:r>
            <a:r>
              <a:rPr sz="1800" spc="15" dirty="0"/>
              <a:t> </a:t>
            </a:r>
            <a:r>
              <a:rPr sz="1800" b="1" spc="-20" dirty="0">
                <a:solidFill>
                  <a:srgbClr val="188037"/>
                </a:solidFill>
                <a:latin typeface="Courier New"/>
                <a:cs typeface="Courier New"/>
              </a:rPr>
              <a:t>$(MAKE)</a:t>
            </a:r>
            <a:r>
              <a:rPr sz="18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/>
              <a:t>to</a:t>
            </a:r>
            <a:r>
              <a:rPr sz="1800" spc="-15" dirty="0"/>
              <a:t> </a:t>
            </a:r>
            <a:r>
              <a:rPr sz="1800" dirty="0"/>
              <a:t>invoke</a:t>
            </a:r>
            <a:r>
              <a:rPr sz="1800" spc="-10" dirty="0"/>
              <a:t> </a:t>
            </a:r>
            <a:r>
              <a:rPr sz="1800" b="1" spc="-20" dirty="0">
                <a:solidFill>
                  <a:srgbClr val="188037"/>
                </a:solidFill>
                <a:latin typeface="Courier New"/>
                <a:cs typeface="Courier New"/>
              </a:rPr>
              <a:t>make</a:t>
            </a:r>
            <a:r>
              <a:rPr sz="18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/>
              <a:t>in</a:t>
            </a:r>
            <a:r>
              <a:rPr sz="1800" spc="-10" dirty="0"/>
              <a:t> </a:t>
            </a:r>
            <a:r>
              <a:rPr sz="1800" spc="-20" dirty="0"/>
              <a:t>each </a:t>
            </a:r>
            <a:r>
              <a:rPr sz="1800" spc="-10" dirty="0"/>
              <a:t>subdirectory.</a:t>
            </a:r>
            <a:r>
              <a:rPr sz="1800" spc="-50" dirty="0"/>
              <a:t> </a:t>
            </a:r>
            <a:r>
              <a:rPr sz="1800" dirty="0"/>
              <a:t>This</a:t>
            </a:r>
            <a:r>
              <a:rPr sz="1800" spc="-20" dirty="0"/>
              <a:t> </a:t>
            </a:r>
            <a:r>
              <a:rPr sz="1800" dirty="0"/>
              <a:t>ensures</a:t>
            </a:r>
            <a:r>
              <a:rPr sz="1800" spc="-20" dirty="0"/>
              <a:t> </a:t>
            </a:r>
            <a:r>
              <a:rPr sz="1800" dirty="0"/>
              <a:t>that</a:t>
            </a:r>
            <a:r>
              <a:rPr sz="1800" spc="-20" dirty="0"/>
              <a:t> </a:t>
            </a:r>
            <a:r>
              <a:rPr sz="1800" dirty="0"/>
              <a:t>the</a:t>
            </a:r>
            <a:r>
              <a:rPr sz="1800" spc="-20" dirty="0"/>
              <a:t> </a:t>
            </a:r>
            <a:r>
              <a:rPr sz="1800" dirty="0"/>
              <a:t>sub-Makefiles</a:t>
            </a:r>
            <a:r>
              <a:rPr sz="1800" spc="-15" dirty="0"/>
              <a:t> </a:t>
            </a:r>
            <a:r>
              <a:rPr sz="1800" dirty="0"/>
              <a:t>are</a:t>
            </a:r>
            <a:r>
              <a:rPr sz="1800" spc="-20" dirty="0"/>
              <a:t> </a:t>
            </a:r>
            <a:r>
              <a:rPr sz="1800" dirty="0"/>
              <a:t>processed</a:t>
            </a:r>
            <a:r>
              <a:rPr sz="1800" spc="-20" dirty="0"/>
              <a:t> </a:t>
            </a:r>
            <a:r>
              <a:rPr sz="1800" dirty="0"/>
              <a:t>in</a:t>
            </a:r>
            <a:r>
              <a:rPr sz="1800" spc="-20" dirty="0"/>
              <a:t> </a:t>
            </a:r>
            <a:r>
              <a:rPr sz="1800" spc="-25" dirty="0"/>
              <a:t>the </a:t>
            </a:r>
            <a:r>
              <a:rPr sz="1800" dirty="0"/>
              <a:t>context</a:t>
            </a:r>
            <a:r>
              <a:rPr sz="1800" spc="-55" dirty="0"/>
              <a:t> </a:t>
            </a:r>
            <a:r>
              <a:rPr sz="1800" dirty="0"/>
              <a:t>of</a:t>
            </a:r>
            <a:r>
              <a:rPr sz="1800" spc="-50" dirty="0"/>
              <a:t> </a:t>
            </a:r>
            <a:r>
              <a:rPr sz="1800" dirty="0"/>
              <a:t>the</a:t>
            </a:r>
            <a:r>
              <a:rPr sz="1800" spc="-50" dirty="0"/>
              <a:t> </a:t>
            </a:r>
            <a:r>
              <a:rPr sz="1800" dirty="0"/>
              <a:t>current</a:t>
            </a:r>
            <a:r>
              <a:rPr sz="1800" spc="-50" dirty="0"/>
              <a:t> </a:t>
            </a:r>
            <a:r>
              <a:rPr sz="1800" dirty="0"/>
              <a:t>make</a:t>
            </a:r>
            <a:r>
              <a:rPr sz="1800" spc="-50" dirty="0"/>
              <a:t> </a:t>
            </a:r>
            <a:r>
              <a:rPr sz="1800" spc="-10" dirty="0"/>
              <a:t>process.</a:t>
            </a:r>
          </a:p>
          <a:p>
            <a:pPr marL="469265" indent="-351155">
              <a:lnSpc>
                <a:spcPct val="114000"/>
              </a:lnSpc>
              <a:spcAft>
                <a:spcPts val="600"/>
              </a:spcAft>
              <a:buClr>
                <a:srgbClr val="000000"/>
              </a:buClr>
              <a:buFont typeface="Arial"/>
              <a:buChar char="●"/>
              <a:tabLst>
                <a:tab pos="469265" algn="l"/>
              </a:tabLst>
            </a:pP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$(MAKE)</a:t>
            </a:r>
            <a:r>
              <a:rPr sz="1800" spc="-10" dirty="0"/>
              <a:t>:</a:t>
            </a:r>
            <a:r>
              <a:rPr sz="1800" spc="-25" dirty="0"/>
              <a:t> </a:t>
            </a:r>
            <a:r>
              <a:rPr sz="1800" dirty="0"/>
              <a:t>Used</a:t>
            </a:r>
            <a:r>
              <a:rPr sz="1800" spc="-10" dirty="0"/>
              <a:t> </a:t>
            </a:r>
            <a:r>
              <a:rPr sz="1800" dirty="0"/>
              <a:t>to</a:t>
            </a:r>
            <a:r>
              <a:rPr sz="1800" spc="-15" dirty="0"/>
              <a:t> </a:t>
            </a:r>
            <a:r>
              <a:rPr sz="1800" dirty="0"/>
              <a:t>call</a:t>
            </a:r>
            <a:r>
              <a:rPr sz="1800" spc="-5" dirty="0"/>
              <a:t> </a:t>
            </a:r>
            <a:r>
              <a:rPr sz="1800" b="1" spc="-20" dirty="0">
                <a:solidFill>
                  <a:srgbClr val="188037"/>
                </a:solidFill>
                <a:latin typeface="Courier New"/>
                <a:cs typeface="Courier New"/>
              </a:rPr>
              <a:t>make</a:t>
            </a:r>
            <a:r>
              <a:rPr sz="18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/>
              <a:t>recursively</a:t>
            </a:r>
            <a:r>
              <a:rPr sz="1800" spc="-10" dirty="0"/>
              <a:t> </a:t>
            </a:r>
            <a:r>
              <a:rPr sz="1800" dirty="0"/>
              <a:t>in</a:t>
            </a:r>
            <a:r>
              <a:rPr sz="1800" spc="-15" dirty="0"/>
              <a:t> </a:t>
            </a:r>
            <a:r>
              <a:rPr sz="1800" spc="-10" dirty="0"/>
              <a:t>subdirectories.</a:t>
            </a:r>
          </a:p>
          <a:p>
            <a:pPr marL="927100" marR="140335" lvl="1" indent="-351790">
              <a:lnSpc>
                <a:spcPct val="114000"/>
              </a:lnSpc>
              <a:buChar char="○"/>
              <a:tabLst>
                <a:tab pos="927100" algn="l"/>
              </a:tabLst>
            </a:pPr>
            <a:r>
              <a:rPr dirty="0">
                <a:latin typeface="Arial MT"/>
                <a:cs typeface="Arial MT"/>
              </a:rPr>
              <a:t>It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better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than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calling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make</a:t>
            </a:r>
            <a:r>
              <a:rPr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>
                <a:latin typeface="Arial MT"/>
                <a:cs typeface="Arial MT"/>
              </a:rPr>
              <a:t>directly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because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b="1" spc="-10" dirty="0">
                <a:solidFill>
                  <a:srgbClr val="188037"/>
                </a:solidFill>
                <a:latin typeface="Courier New"/>
                <a:cs typeface="Courier New"/>
              </a:rPr>
              <a:t>$(MAKE) </a:t>
            </a:r>
            <a:r>
              <a:rPr dirty="0">
                <a:latin typeface="Arial MT"/>
                <a:cs typeface="Arial MT"/>
              </a:rPr>
              <a:t>preserves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flags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and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environment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variables</a:t>
            </a:r>
            <a:r>
              <a:rPr spc="-2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passed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to</a:t>
            </a:r>
            <a:r>
              <a:rPr spc="-25" dirty="0">
                <a:latin typeface="Arial MT"/>
                <a:cs typeface="Arial MT"/>
              </a:rPr>
              <a:t> the </a:t>
            </a:r>
            <a:r>
              <a:rPr spc="-10" dirty="0">
                <a:latin typeface="Arial MT"/>
                <a:cs typeface="Arial MT"/>
              </a:rPr>
              <a:t>top-</a:t>
            </a:r>
            <a:r>
              <a:rPr dirty="0">
                <a:latin typeface="Arial MT"/>
                <a:cs typeface="Arial MT"/>
              </a:rPr>
              <a:t>level </a:t>
            </a:r>
            <a:r>
              <a:rPr b="1" spc="-20" dirty="0">
                <a:solidFill>
                  <a:srgbClr val="188037"/>
                </a:solidFill>
                <a:latin typeface="Courier New"/>
                <a:cs typeface="Courier New"/>
              </a:rPr>
              <a:t>make</a:t>
            </a:r>
            <a:r>
              <a:rPr spc="-20" dirty="0">
                <a:latin typeface="Arial MT"/>
                <a:cs typeface="Arial MT"/>
              </a:rPr>
              <a:t>.</a:t>
            </a:r>
            <a:endParaRPr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5530" y="2127550"/>
            <a:ext cx="3170670" cy="364839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600200"/>
            <a:ext cx="3161029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Recursive</a:t>
            </a:r>
            <a:r>
              <a:rPr spc="-65" dirty="0"/>
              <a:t> </a:t>
            </a:r>
            <a:r>
              <a:rPr spc="-20" dirty="0"/>
              <a:t>Make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7649" y="3384749"/>
            <a:ext cx="3550920" cy="1261110"/>
          </a:xfrm>
          <a:prstGeom prst="rect">
            <a:avLst/>
          </a:prstGeom>
          <a:ln w="9524">
            <a:solidFill>
              <a:srgbClr val="0F2044"/>
            </a:solidFill>
          </a:ln>
        </p:spPr>
        <p:txBody>
          <a:bodyPr vert="horz" wrap="square" lIns="0" tIns="22097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39"/>
              </a:spcBef>
            </a:pPr>
            <a:endParaRPr sz="1800">
              <a:latin typeface="Times New Roman"/>
              <a:cs typeface="Times New Roman"/>
            </a:endParaRPr>
          </a:p>
          <a:p>
            <a:pPr marL="561340">
              <a:lnSpc>
                <a:spcPct val="100000"/>
              </a:lnSpc>
            </a:pPr>
            <a:r>
              <a:rPr sz="1800" b="1" dirty="0">
                <a:latin typeface="Arial"/>
                <a:cs typeface="Arial"/>
              </a:rPr>
              <a:t>Recursive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Make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Demo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79425" y="1915264"/>
            <a:ext cx="1789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Root</a:t>
            </a:r>
            <a:r>
              <a:rPr sz="2000" b="1" spc="-5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F2044"/>
                </a:solidFill>
                <a:latin typeface="Arial"/>
                <a:cs typeface="Arial"/>
              </a:rPr>
              <a:t>Directory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3" name="object 3" descr="A &quot;Root Makefile&quot; demonstrating recursive Make, where the all and clean targets call $(MAKE) -C on separate lib and src subdirectories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6400" y="2389753"/>
            <a:ext cx="6501448" cy="30855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1501</Words>
  <Application>Microsoft Office PowerPoint</Application>
  <PresentationFormat>Widescreen</PresentationFormat>
  <Paragraphs>143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Arial MT</vt:lpstr>
      <vt:lpstr>Courier New</vt:lpstr>
      <vt:lpstr>Georgia</vt:lpstr>
      <vt:lpstr>Times New Roman</vt:lpstr>
      <vt:lpstr>Office Theme</vt:lpstr>
      <vt:lpstr>CSC 362: System Programming</vt:lpstr>
      <vt:lpstr>Status Check</vt:lpstr>
      <vt:lpstr>Common Variables</vt:lpstr>
      <vt:lpstr>Common Variables</vt:lpstr>
      <vt:lpstr>Phony Targets</vt:lpstr>
      <vt:lpstr>Phony Targets</vt:lpstr>
      <vt:lpstr>Phony Targets</vt:lpstr>
      <vt:lpstr>Automatic Variables</vt:lpstr>
      <vt:lpstr>Automatic Variables</vt:lpstr>
      <vt:lpstr>Automatic Variables</vt:lpstr>
      <vt:lpstr>Automatic Variables</vt:lpstr>
      <vt:lpstr>Automatic Variables</vt:lpstr>
      <vt:lpstr>Pattern Rules</vt:lpstr>
      <vt:lpstr>Pattern Rules</vt:lpstr>
      <vt:lpstr>Pattern Rules</vt:lpstr>
      <vt:lpstr>Conditional Directives</vt:lpstr>
      <vt:lpstr>Conditional Directives</vt:lpstr>
      <vt:lpstr>Conditional Directives</vt:lpstr>
      <vt:lpstr>Recursive Make</vt:lpstr>
      <vt:lpstr>Recursive Make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CSC362 - Lecture 9.pptx</dc:title>
  <cp:lastModifiedBy>Richard Johnson</cp:lastModifiedBy>
  <cp:revision>38</cp:revision>
  <dcterms:created xsi:type="dcterms:W3CDTF">2026-01-14T00:58:59Z</dcterms:created>
  <dcterms:modified xsi:type="dcterms:W3CDTF">2026-02-13T01:04:37Z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2026-01-14T00:00:00Z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2026-01-14T00:00:00Z</vt:filetime>
  </property>
</Properties>
</file>