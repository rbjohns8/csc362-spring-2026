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3.jpg" ContentType="image/jp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62" r:id="rId2"/>
  </p:sldMasterIdLst>
  <p:notesMasterIdLst>
    <p:notesMasterId r:id="rId33"/>
  </p:notesMasterIdLst>
  <p:sldIdLst>
    <p:sldId id="256" r:id="rId3"/>
    <p:sldId id="285"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72387" autoAdjust="0"/>
  </p:normalViewPr>
  <p:slideViewPr>
    <p:cSldViewPr snapToGrid="0">
      <p:cViewPr varScale="1">
        <p:scale>
          <a:sx n="57" d="100"/>
          <a:sy n="57" d="100"/>
        </p:scale>
        <p:origin x="1589" y="48"/>
      </p:cViewPr>
      <p:guideLst/>
    </p:cSldViewPr>
  </p:slideViewPr>
  <p:outlineViewPr>
    <p:cViewPr>
      <p:scale>
        <a:sx n="33" d="100"/>
        <a:sy n="33" d="100"/>
      </p:scale>
      <p:origin x="0" y="-4800"/>
    </p:cViewPr>
  </p:outlineViewPr>
  <p:notesTextViewPr>
    <p:cViewPr>
      <p:scale>
        <a:sx n="1" d="1"/>
        <a:sy n="1" d="1"/>
      </p:scale>
      <p:origin x="0" y="-2621"/>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Mnemonics for OSI Model:</a:t>
            </a:r>
          </a:p>
          <a:p>
            <a:pPr marL="171450" lvl="0" indent="-171450" algn="l" rtl="0">
              <a:spcBef>
                <a:spcPts val="0"/>
              </a:spcBef>
              <a:spcAft>
                <a:spcPts val="0"/>
              </a:spcAft>
            </a:pPr>
            <a:r>
              <a:rPr lang="en-US" dirty="0"/>
              <a:t>"All People Seem To Need Data Processing"</a:t>
            </a:r>
          </a:p>
          <a:p>
            <a:pPr marL="171450" lvl="0" indent="-171450" algn="l" rtl="0">
              <a:spcBef>
                <a:spcPts val="0"/>
              </a:spcBef>
              <a:spcAft>
                <a:spcPts val="0"/>
              </a:spcAft>
            </a:pPr>
            <a:r>
              <a:rPr lang="en-US" dirty="0"/>
              <a:t>"Please Do Not Throw Sausage Pizza Away"</a:t>
            </a:r>
          </a:p>
          <a:p>
            <a:pPr marL="171450" lvl="0" indent="-171450" algn="l" rtl="0">
              <a:spcBef>
                <a:spcPts val="0"/>
              </a:spcBef>
              <a:spcAft>
                <a:spcPts val="0"/>
              </a:spcAft>
            </a:pPr>
            <a:r>
              <a:rPr lang="en-US" dirty="0"/>
              <a:t>"Please Do Not Teach Sales People Anything"</a:t>
            </a:r>
          </a:p>
          <a:p>
            <a:pPr marL="0" lvl="0" indent="0" algn="l" rtl="0">
              <a:spcBef>
                <a:spcPts val="0"/>
              </a:spcBef>
              <a:spcAft>
                <a:spcPts val="0"/>
              </a:spcAft>
              <a:buNone/>
            </a:pPr>
            <a:endParaRPr lang="en-US" dirty="0"/>
          </a:p>
          <a:p>
            <a:pPr marL="0" lvl="0" indent="0" algn="l" rtl="0">
              <a:spcBef>
                <a:spcPts val="0"/>
              </a:spcBef>
              <a:spcAft>
                <a:spcPts val="0"/>
              </a:spcAft>
              <a:buNone/>
            </a:pPr>
            <a:r>
              <a:rPr lang="en-US"/>
              <a:t>OSI: </a:t>
            </a:r>
            <a:r>
              <a:rPr lang="en-US" sz="1100">
                <a:solidFill>
                  <a:schemeClr val="dk2"/>
                </a:solidFill>
              </a:rPr>
              <a:t>Open Systems Interconnection</a:t>
            </a:r>
          </a:p>
          <a:p>
            <a:pPr marL="0" lvl="0" indent="0" algn="l" rtl="0">
              <a:spcBef>
                <a:spcPts val="0"/>
              </a:spcBef>
              <a:spcAft>
                <a:spcPts val="0"/>
              </a:spcAft>
              <a:buNone/>
            </a:pPr>
            <a:endParaRPr lang="en-US" dirty="0"/>
          </a:p>
        </p:txBody>
      </p:sp>
      <p:sp>
        <p:nvSpPr>
          <p:cNvPr id="91" name="Google Shape;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290318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6d962a05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Fundamentals of Sockets and Client-Server Model</a:t>
            </a:r>
          </a:p>
          <a:p>
            <a:pPr marL="0" lvl="0" indent="0" algn="l" rtl="0">
              <a:spcBef>
                <a:spcPts val="0"/>
              </a:spcBef>
              <a:spcAft>
                <a:spcPts val="0"/>
              </a:spcAft>
              <a:buNone/>
            </a:pPr>
            <a:endParaRPr lang="en-US"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Goal</a:t>
            </a:r>
            <a:r>
              <a:rPr lang="en-US" dirty="0"/>
              <a:t>: The primary objective is to learn how to build client/server applications that communicate via sockets.</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What is a Socket?</a:t>
            </a:r>
            <a:r>
              <a:rPr lang="en-US" dirty="0"/>
              <a:t>: </a:t>
            </a:r>
          </a:p>
          <a:p>
            <a:pPr marL="171450" lvl="0" indent="-171450" algn="l" rtl="0">
              <a:spcBef>
                <a:spcPts val="0"/>
              </a:spcBef>
              <a:spcAft>
                <a:spcPts val="0"/>
              </a:spcAft>
            </a:pPr>
            <a:r>
              <a:rPr lang="en-US" dirty="0"/>
              <a:t>Sockets are software endpoints used for sending or receiving data over a network. </a:t>
            </a:r>
          </a:p>
          <a:p>
            <a:pPr marL="171450" lvl="0" indent="-171450" algn="l" rtl="0">
              <a:spcBef>
                <a:spcPts val="0"/>
              </a:spcBef>
              <a:spcAft>
                <a:spcPts val="0"/>
              </a:spcAft>
            </a:pPr>
            <a:r>
              <a:rPr lang="en-US" dirty="0"/>
              <a:t>They allow applications to establish connections and exchange data across networks like the internet.</a:t>
            </a:r>
          </a:p>
          <a:p>
            <a:pPr marL="171450" lvl="0" indent="-171450" algn="l" rtl="0">
              <a:spcBef>
                <a:spcPts val="0"/>
              </a:spcBef>
              <a:spcAft>
                <a:spcPts val="0"/>
              </a:spcAft>
            </a:pPr>
            <a:r>
              <a:rPr lang="en-US" dirty="0"/>
              <a:t>Relies on client-server model.</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TCP Connection Concept</a:t>
            </a:r>
          </a:p>
          <a:p>
            <a:pPr marL="0" lvl="0" indent="0" algn="l" rtl="0">
              <a:spcBef>
                <a:spcPts val="0"/>
              </a:spcBef>
              <a:spcAft>
                <a:spcPts val="0"/>
              </a:spcAft>
              <a:buNone/>
            </a:pPr>
            <a:r>
              <a:rPr lang="en-US" dirty="0"/>
              <a:t>A diagram showing the high-level relationship between a client process and a server process using sockets over time.</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This diagram illustrates the temporal flow of a connection-oriented communication.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 the left is the </a:t>
            </a:r>
            <a:r>
              <a:rPr lang="en-US" b="1" dirty="0"/>
              <a:t>Client process</a:t>
            </a:r>
            <a:r>
              <a:rPr lang="en-US" dirty="0"/>
              <a:t> with a single </a:t>
            </a:r>
            <a:r>
              <a:rPr lang="en-US" b="1" dirty="0"/>
              <a:t>Client socket</a:t>
            </a:r>
            <a:r>
              <a:rPr lang="en-US" dirty="0"/>
              <a:t>. </a:t>
            </a:r>
          </a:p>
          <a:p>
            <a:pPr marL="0" lvl="0" indent="0" algn="l" rtl="0">
              <a:spcBef>
                <a:spcPts val="0"/>
              </a:spcBef>
              <a:spcAft>
                <a:spcPts val="0"/>
              </a:spcAft>
              <a:buNone/>
            </a:pPr>
            <a:r>
              <a:rPr lang="en-US" dirty="0"/>
              <a:t>On the right, the </a:t>
            </a:r>
            <a:r>
              <a:rPr lang="en-US" b="1" dirty="0"/>
              <a:t>Server process</a:t>
            </a:r>
            <a:r>
              <a:rPr lang="en-US" dirty="0"/>
              <a:t> is shown with two distinct stages: a </a:t>
            </a:r>
            <a:r>
              <a:rPr lang="en-US" b="1" dirty="0"/>
              <a:t>Welcoming socket</a:t>
            </a:r>
            <a:r>
              <a:rPr lang="en-US" dirty="0"/>
              <a:t> and a </a:t>
            </a:r>
            <a:r>
              <a:rPr lang="en-US" b="1" dirty="0"/>
              <a:t>Connection socket</a:t>
            </a:r>
            <a:r>
              <a:rPr lang="en-US" dirty="0"/>
              <a:t>. </a:t>
            </a:r>
          </a:p>
          <a:p>
            <a:pPr marL="0" lvl="0" indent="0" algn="l" rtl="0">
              <a:spcBef>
                <a:spcPts val="0"/>
              </a:spcBef>
              <a:spcAft>
                <a:spcPts val="0"/>
              </a:spcAft>
              <a:buNone/>
            </a:pPr>
            <a:r>
              <a:rPr lang="en-US" dirty="0"/>
              <a:t>An arrow labeled </a:t>
            </a:r>
            <a:r>
              <a:rPr lang="en-US" b="1" dirty="0"/>
              <a:t>Three-way handshake</a:t>
            </a:r>
            <a:r>
              <a:rPr lang="en-US" dirty="0"/>
              <a:t> connects the client socket to the server's welcoming socket. </a:t>
            </a:r>
          </a:p>
          <a:p>
            <a:pPr marL="0" lvl="0" indent="0" algn="l" rtl="0">
              <a:spcBef>
                <a:spcPts val="0"/>
              </a:spcBef>
              <a:spcAft>
                <a:spcPts val="0"/>
              </a:spcAft>
              <a:buNone/>
            </a:pPr>
            <a:r>
              <a:rPr lang="en-US" dirty="0"/>
              <a:t>Once established, the server transitions to a dedicated Connection socket.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lower half shows horizontal blue arrows labeled </a:t>
            </a:r>
            <a:r>
              <a:rPr lang="en-US" b="1" dirty="0"/>
              <a:t>bytes</a:t>
            </a:r>
            <a:r>
              <a:rPr lang="en-US" dirty="0"/>
              <a:t> moving back and forth between the client and the specific connection socket, </a:t>
            </a:r>
          </a:p>
          <a:p>
            <a:pPr marL="0" lvl="0" indent="0" algn="l" rtl="0">
              <a:spcBef>
                <a:spcPts val="0"/>
              </a:spcBef>
              <a:spcAft>
                <a:spcPts val="0"/>
              </a:spcAft>
              <a:buNone/>
            </a:pPr>
            <a:r>
              <a:rPr lang="en-US" dirty="0"/>
              <a:t>representing data transfer. A vertical arrow on the far right indicates the downward progression of </a:t>
            </a:r>
            <a:r>
              <a:rPr lang="en-US" b="1" dirty="0"/>
              <a:t>Time</a:t>
            </a:r>
            <a:r>
              <a:rPr lang="en-US" dirty="0"/>
              <a:t>.</a:t>
            </a:r>
            <a:endParaRPr dirty="0"/>
          </a:p>
        </p:txBody>
      </p:sp>
      <p:sp>
        <p:nvSpPr>
          <p:cNvPr id="98" name="Google Shape;98;g2c6d962a054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c898648f3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Fundamentals of Sockets and Client-Server Model</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Client-Server Roles</a:t>
            </a:r>
            <a:r>
              <a:rPr lang="en-US" dirty="0"/>
              <a:t>:</a:t>
            </a:r>
          </a:p>
          <a:p>
            <a:pPr marL="171450" lvl="0" indent="-171450" algn="l" rtl="0">
              <a:spcBef>
                <a:spcPts val="0"/>
              </a:spcBef>
              <a:spcAft>
                <a:spcPts val="0"/>
              </a:spcAft>
            </a:pPr>
            <a:r>
              <a:rPr lang="en-US" b="1" dirty="0"/>
              <a:t>Server</a:t>
            </a:r>
            <a:r>
              <a:rPr lang="en-US" dirty="0"/>
              <a:t>: Acts as a listener for incoming connection requests.</a:t>
            </a:r>
          </a:p>
          <a:p>
            <a:pPr marL="171450" lvl="0" indent="-171450" algn="l" rtl="0">
              <a:spcBef>
                <a:spcPts val="0"/>
              </a:spcBef>
              <a:spcAft>
                <a:spcPts val="0"/>
              </a:spcAft>
            </a:pPr>
            <a:r>
              <a:rPr lang="en-US" b="1" dirty="0"/>
              <a:t>Client</a:t>
            </a:r>
            <a:r>
              <a:rPr lang="en-US" dirty="0"/>
              <a:t>: Initiates the connection.</a:t>
            </a:r>
          </a:p>
          <a:p>
            <a:pPr marL="171450" lvl="0" indent="-171450" algn="l" rtl="0">
              <a:spcBef>
                <a:spcPts val="0"/>
              </a:spcBef>
              <a:spcAft>
                <a:spcPts val="0"/>
              </a:spcAft>
            </a:pPr>
            <a:r>
              <a:rPr lang="en-US" dirty="0"/>
              <a:t>Once connected, both can send and receive data bidirectionally.</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Interaction Dynamics</a:t>
            </a:r>
            <a:r>
              <a:rPr lang="en-US" dirty="0"/>
              <a:t>:</a:t>
            </a:r>
          </a:p>
          <a:p>
            <a:pPr marL="171450" lvl="0" indent="-171450" algn="l" rtl="0">
              <a:spcBef>
                <a:spcPts val="0"/>
              </a:spcBef>
              <a:spcAft>
                <a:spcPts val="0"/>
              </a:spcAft>
            </a:pPr>
            <a:r>
              <a:rPr lang="en-US" dirty="0"/>
              <a:t>Clients usually talk to one server at a time, </a:t>
            </a:r>
            <a:br>
              <a:rPr lang="en-US" dirty="0"/>
            </a:br>
            <a:r>
              <a:rPr lang="en-US" dirty="0"/>
              <a:t>but servers often communicate with multiple clients simultaneously.</a:t>
            </a:r>
          </a:p>
          <a:p>
            <a:pPr marL="171450" lvl="0" indent="-171450" algn="l" rtl="0">
              <a:spcBef>
                <a:spcPts val="0"/>
              </a:spcBef>
              <a:spcAft>
                <a:spcPts val="0"/>
              </a:spcAft>
            </a:pPr>
            <a:r>
              <a:rPr lang="en-US" dirty="0"/>
              <a:t>Clients must know the server's address, </a:t>
            </a:r>
            <a:br>
              <a:rPr lang="en-US" dirty="0"/>
            </a:br>
            <a:r>
              <a:rPr lang="en-US" dirty="0"/>
              <a:t>but the server does not need to know the client's identity before the connection is made.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Socket API Lifecycle</a:t>
            </a:r>
          </a:p>
          <a:p>
            <a:pPr marL="0" lvl="0" indent="0" algn="l" rtl="0">
              <a:spcBef>
                <a:spcPts val="0"/>
              </a:spcBef>
              <a:spcAft>
                <a:spcPts val="0"/>
              </a:spcAft>
              <a:buNone/>
            </a:pPr>
            <a:r>
              <a:rPr lang="en-US" dirty="0"/>
              <a:t>A flow chart of the Socket API function calls for both Client and Server from initialization to closure.</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 detailed sequence of system calls for network communication.</a:t>
            </a:r>
            <a:endParaRPr lang="en-US" b="0" dirty="0"/>
          </a:p>
          <a:p>
            <a:pPr marL="171450" lvl="0" indent="-171450" algn="l" rtl="0">
              <a:spcBef>
                <a:spcPts val="0"/>
              </a:spcBef>
              <a:spcAft>
                <a:spcPts val="0"/>
              </a:spcAft>
            </a:pPr>
            <a:r>
              <a:rPr lang="en-US" b="1" dirty="0"/>
              <a:t>Server Side:</a:t>
            </a:r>
            <a:r>
              <a:rPr lang="en-US" dirty="0"/>
              <a:t> </a:t>
            </a:r>
            <a:br>
              <a:rPr lang="en-US" dirty="0"/>
            </a:br>
            <a:r>
              <a:rPr lang="en-US" dirty="0"/>
              <a:t>Starts with </a:t>
            </a:r>
            <a:r>
              <a:rPr lang="en-US" sz="1100" b="0" i="0" u="none" strike="noStrike" cap="none" dirty="0">
                <a:solidFill>
                  <a:srgbClr val="000000"/>
                </a:solidFill>
                <a:latin typeface="Arial"/>
                <a:ea typeface="Arial"/>
                <a:cs typeface="Arial"/>
                <a:sym typeface="Arial"/>
              </a:rPr>
              <a:t>socket</a:t>
            </a:r>
            <a:r>
              <a:rPr lang="en-US" dirty="0"/>
              <a:t> → </a:t>
            </a:r>
            <a:r>
              <a:rPr lang="en-US" sz="1100" b="0" i="0" u="none" strike="noStrike" cap="none" dirty="0">
                <a:solidFill>
                  <a:srgbClr val="000000"/>
                </a:solidFill>
                <a:latin typeface="Arial"/>
                <a:ea typeface="Arial"/>
                <a:cs typeface="Arial"/>
                <a:sym typeface="Arial"/>
              </a:rPr>
              <a:t>bind</a:t>
            </a:r>
            <a:r>
              <a:rPr lang="en-US" dirty="0"/>
              <a:t> → </a:t>
            </a:r>
            <a:r>
              <a:rPr lang="en-US" sz="1100" b="0" i="0" u="none" strike="noStrike" cap="none" dirty="0">
                <a:solidFill>
                  <a:srgbClr val="000000"/>
                </a:solidFill>
                <a:latin typeface="Arial"/>
                <a:ea typeface="Arial"/>
                <a:cs typeface="Arial"/>
                <a:sym typeface="Arial"/>
              </a:rPr>
              <a:t>listen</a:t>
            </a:r>
            <a:r>
              <a:rPr lang="en-US" dirty="0"/>
              <a:t> (bracketed as </a:t>
            </a:r>
            <a:r>
              <a:rPr lang="en-US" b="1" dirty="0"/>
              <a:t>Open Listen</a:t>
            </a:r>
            <a:r>
              <a:rPr lang="en-US" dirty="0"/>
              <a:t>). </a:t>
            </a:r>
            <a:br>
              <a:rPr lang="en-US" dirty="0"/>
            </a:br>
            <a:r>
              <a:rPr lang="en-US" dirty="0"/>
              <a:t>It then moves to </a:t>
            </a:r>
            <a:r>
              <a:rPr lang="en-US" sz="1100" b="0" i="0" u="none" strike="noStrike" cap="none" dirty="0">
                <a:solidFill>
                  <a:srgbClr val="000000"/>
                </a:solidFill>
                <a:latin typeface="Arial"/>
                <a:ea typeface="Arial"/>
                <a:cs typeface="Arial"/>
                <a:sym typeface="Arial"/>
              </a:rPr>
              <a:t>accept</a:t>
            </a:r>
            <a:r>
              <a:rPr lang="en-US" dirty="0"/>
              <a:t>, where it blocks until a </a:t>
            </a:r>
            <a:r>
              <a:rPr lang="en-US" b="1" dirty="0"/>
              <a:t>Connection request</a:t>
            </a:r>
            <a:r>
              <a:rPr lang="en-US" dirty="0"/>
              <a:t> is received.</a:t>
            </a:r>
          </a:p>
          <a:p>
            <a:pPr marL="171450" lvl="0" indent="-171450" algn="l" rtl="0">
              <a:spcBef>
                <a:spcPts val="0"/>
              </a:spcBef>
              <a:spcAft>
                <a:spcPts val="0"/>
              </a:spcAft>
            </a:pPr>
            <a:r>
              <a:rPr lang="en-US" b="1" dirty="0"/>
              <a:t>Client Side:</a:t>
            </a:r>
            <a:r>
              <a:rPr lang="en-US" dirty="0"/>
              <a:t> </a:t>
            </a:r>
            <a:br>
              <a:rPr lang="en-US" dirty="0"/>
            </a:br>
            <a:r>
              <a:rPr lang="en-US" dirty="0"/>
              <a:t>Starts with </a:t>
            </a:r>
            <a:r>
              <a:rPr lang="en-US" sz="1100" b="0" i="0" u="none" strike="noStrike" cap="none" dirty="0">
                <a:solidFill>
                  <a:srgbClr val="000000"/>
                </a:solidFill>
                <a:latin typeface="Arial"/>
                <a:ea typeface="Arial"/>
                <a:cs typeface="Arial"/>
                <a:sym typeface="Arial"/>
              </a:rPr>
              <a:t>socket</a:t>
            </a:r>
            <a:r>
              <a:rPr lang="en-US" dirty="0"/>
              <a:t> (bracketed as </a:t>
            </a:r>
            <a:r>
              <a:rPr lang="en-US" b="1" dirty="0"/>
              <a:t>Open Client</a:t>
            </a:r>
            <a:r>
              <a:rPr lang="en-US" dirty="0"/>
              <a:t>) and moves to </a:t>
            </a:r>
            <a:r>
              <a:rPr lang="en-US" sz="1100" b="0" i="0" u="none" strike="noStrike" cap="none" dirty="0">
                <a:solidFill>
                  <a:srgbClr val="000000"/>
                </a:solidFill>
                <a:latin typeface="Arial"/>
                <a:ea typeface="Arial"/>
                <a:cs typeface="Arial"/>
                <a:sym typeface="Arial"/>
              </a:rPr>
              <a:t>connect</a:t>
            </a:r>
            <a:r>
              <a:rPr lang="en-US" dirty="0"/>
              <a:t>.</a:t>
            </a:r>
          </a:p>
          <a:p>
            <a:pPr marL="171450" lvl="0" indent="-171450" algn="l" rtl="0">
              <a:spcBef>
                <a:spcPts val="0"/>
              </a:spcBef>
              <a:spcAft>
                <a:spcPts val="0"/>
              </a:spcAft>
            </a:pPr>
            <a:r>
              <a:rPr lang="en-US" b="1" dirty="0"/>
              <a:t>Data Exchange:</a:t>
            </a:r>
            <a:r>
              <a:rPr lang="en-US" dirty="0"/>
              <a:t> </a:t>
            </a:r>
            <a:br>
              <a:rPr lang="en-US" dirty="0"/>
            </a:br>
            <a:r>
              <a:rPr lang="en-US" dirty="0"/>
              <a:t>A yellow box labeled </a:t>
            </a:r>
            <a:r>
              <a:rPr lang="en-US" b="1" dirty="0"/>
              <a:t>Client/Server Session</a:t>
            </a:r>
            <a:r>
              <a:rPr lang="en-US" dirty="0"/>
              <a:t> shows a loop where the client </a:t>
            </a:r>
            <a:r>
              <a:rPr lang="en-US" sz="1100" b="0" i="0" u="none" strike="noStrike" cap="none" dirty="0">
                <a:solidFill>
                  <a:srgbClr val="000000"/>
                </a:solidFill>
                <a:latin typeface="Arial"/>
                <a:ea typeface="Arial"/>
                <a:cs typeface="Arial"/>
                <a:sym typeface="Arial"/>
              </a:rPr>
              <a:t>write</a:t>
            </a:r>
            <a:r>
              <a:rPr lang="en-US" dirty="0"/>
              <a:t>s and the server </a:t>
            </a:r>
            <a:r>
              <a:rPr lang="en-US" sz="1100" b="0" i="0" u="none" strike="noStrike" cap="none" dirty="0">
                <a:solidFill>
                  <a:srgbClr val="000000"/>
                </a:solidFill>
                <a:latin typeface="Arial"/>
                <a:ea typeface="Arial"/>
                <a:cs typeface="Arial"/>
                <a:sym typeface="Arial"/>
              </a:rPr>
              <a:t>read</a:t>
            </a:r>
            <a:r>
              <a:rPr lang="en-US" dirty="0"/>
              <a:t>s, and vice versa.</a:t>
            </a:r>
          </a:p>
          <a:p>
            <a:pPr marL="171450" lvl="0" indent="-171450" algn="l" rtl="0">
              <a:spcBef>
                <a:spcPts val="0"/>
              </a:spcBef>
              <a:spcAft>
                <a:spcPts val="0"/>
              </a:spcAft>
            </a:pPr>
            <a:r>
              <a:rPr lang="en-US" b="1" dirty="0"/>
              <a:t>Termination:</a:t>
            </a:r>
            <a:r>
              <a:rPr lang="en-US" dirty="0"/>
              <a:t> </a:t>
            </a:r>
            <a:br>
              <a:rPr lang="en-US" dirty="0"/>
            </a:br>
            <a:r>
              <a:rPr lang="en-US" dirty="0"/>
              <a:t>The client calls </a:t>
            </a:r>
            <a:r>
              <a:rPr lang="en-US" sz="1100" b="0" i="0" u="none" strike="noStrike" cap="none" dirty="0">
                <a:solidFill>
                  <a:srgbClr val="000000"/>
                </a:solidFill>
                <a:latin typeface="Arial"/>
                <a:ea typeface="Arial"/>
                <a:cs typeface="Arial"/>
                <a:sym typeface="Arial"/>
              </a:rPr>
              <a:t>close</a:t>
            </a:r>
            <a:r>
              <a:rPr lang="en-US" dirty="0"/>
              <a:t>, sending an </a:t>
            </a:r>
            <a:r>
              <a:rPr lang="en-US" b="1" dirty="0"/>
              <a:t>End Of File</a:t>
            </a:r>
            <a:r>
              <a:rPr lang="en-US" dirty="0"/>
              <a:t> signal. </a:t>
            </a:r>
            <a:br>
              <a:rPr lang="en-US" dirty="0"/>
            </a:br>
            <a:r>
              <a:rPr lang="en-US" dirty="0"/>
              <a:t>The server </a:t>
            </a:r>
            <a:r>
              <a:rPr lang="en-US" sz="1100" b="0" i="0" u="none" strike="noStrike" cap="none" dirty="0">
                <a:solidFill>
                  <a:srgbClr val="000000"/>
                </a:solidFill>
                <a:latin typeface="Arial"/>
                <a:ea typeface="Arial"/>
                <a:cs typeface="Arial"/>
                <a:sym typeface="Arial"/>
              </a:rPr>
              <a:t>read</a:t>
            </a:r>
            <a:r>
              <a:rPr lang="en-US" dirty="0"/>
              <a:t>s this, calls its own </a:t>
            </a:r>
            <a:r>
              <a:rPr lang="en-US" sz="1100" b="0" i="0" u="none" strike="noStrike" cap="none" dirty="0">
                <a:solidFill>
                  <a:srgbClr val="000000"/>
                </a:solidFill>
                <a:latin typeface="Arial"/>
                <a:ea typeface="Arial"/>
                <a:cs typeface="Arial"/>
                <a:sym typeface="Arial"/>
              </a:rPr>
              <a:t>close</a:t>
            </a:r>
            <a:r>
              <a:rPr lang="en-US" dirty="0"/>
              <a:t>, and returns to the </a:t>
            </a:r>
            <a:r>
              <a:rPr lang="en-US" sz="1100" b="0" i="0" u="none" strike="noStrike" cap="none" dirty="0">
                <a:solidFill>
                  <a:srgbClr val="000000"/>
                </a:solidFill>
                <a:latin typeface="Arial"/>
                <a:ea typeface="Arial"/>
                <a:cs typeface="Arial"/>
                <a:sym typeface="Arial"/>
              </a:rPr>
              <a:t>accept</a:t>
            </a:r>
            <a:r>
              <a:rPr lang="en-US" dirty="0"/>
              <a:t> state to wait for the next client.</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i="1" u="sng" dirty="0"/>
              <a:t>For reference: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chemeClr val="dk2"/>
                </a:solidFill>
              </a:rPr>
              <a:t>The steps involved in establishing a TCP socket on the server side are as follows:</a:t>
            </a:r>
            <a:endParaRPr lang="en-US" i="1" u="sng" dirty="0"/>
          </a:p>
          <a:p>
            <a:pPr marL="171450" lvl="0" indent="-171450" algn="l" rtl="0">
              <a:spcBef>
                <a:spcPts val="0"/>
              </a:spcBef>
              <a:spcAft>
                <a:spcPts val="0"/>
              </a:spcAft>
            </a:pPr>
            <a:r>
              <a:rPr lang="en-US" sz="1100" dirty="0">
                <a:solidFill>
                  <a:schemeClr val="dk2"/>
                </a:solidFill>
              </a:rPr>
              <a:t>Create a socket with the </a:t>
            </a:r>
            <a:r>
              <a:rPr lang="en-US" sz="1100" b="1" dirty="0">
                <a:solidFill>
                  <a:schemeClr val="dk2"/>
                </a:solidFill>
              </a:rPr>
              <a:t>socket() </a:t>
            </a:r>
            <a:r>
              <a:rPr lang="en-US" sz="1100" dirty="0">
                <a:solidFill>
                  <a:schemeClr val="dk2"/>
                </a:solidFill>
              </a:rPr>
              <a:t>function;</a:t>
            </a:r>
          </a:p>
          <a:p>
            <a:pPr marL="171450" lvl="0" indent="-171450" algn="l" rtl="0">
              <a:spcBef>
                <a:spcPts val="0"/>
              </a:spcBef>
              <a:spcAft>
                <a:spcPts val="0"/>
              </a:spcAft>
            </a:pPr>
            <a:r>
              <a:rPr lang="en-US" sz="1100" dirty="0">
                <a:solidFill>
                  <a:schemeClr val="dk2"/>
                </a:solidFill>
              </a:rPr>
              <a:t>Bind the socket to an address using the </a:t>
            </a:r>
            <a:r>
              <a:rPr lang="en-US" sz="1100" b="1" dirty="0">
                <a:solidFill>
                  <a:schemeClr val="dk2"/>
                </a:solidFill>
              </a:rPr>
              <a:t>bind() </a:t>
            </a:r>
            <a:r>
              <a:rPr lang="en-US" sz="1100" dirty="0">
                <a:solidFill>
                  <a:schemeClr val="dk2"/>
                </a:solidFill>
              </a:rPr>
              <a:t>function;</a:t>
            </a:r>
          </a:p>
          <a:p>
            <a:pPr marL="171450" lvl="0" indent="-171450" algn="l" rtl="0">
              <a:spcBef>
                <a:spcPts val="0"/>
              </a:spcBef>
              <a:spcAft>
                <a:spcPts val="0"/>
              </a:spcAft>
            </a:pPr>
            <a:r>
              <a:rPr lang="en-US" sz="1100" dirty="0">
                <a:solidFill>
                  <a:schemeClr val="dk2"/>
                </a:solidFill>
              </a:rPr>
              <a:t>Listen for connections with the </a:t>
            </a:r>
            <a:r>
              <a:rPr lang="en-US" sz="1100" b="1" dirty="0">
                <a:solidFill>
                  <a:schemeClr val="dk2"/>
                </a:solidFill>
              </a:rPr>
              <a:t>listen()</a:t>
            </a:r>
            <a:r>
              <a:rPr lang="en-US" sz="1100" dirty="0">
                <a:solidFill>
                  <a:schemeClr val="dk2"/>
                </a:solidFill>
              </a:rPr>
              <a:t> function;</a:t>
            </a:r>
          </a:p>
          <a:p>
            <a:pPr marL="171450" lvl="0" indent="-171450" algn="l" rtl="0">
              <a:spcBef>
                <a:spcPts val="0"/>
              </a:spcBef>
              <a:spcAft>
                <a:spcPts val="0"/>
              </a:spcAft>
            </a:pPr>
            <a:r>
              <a:rPr lang="en-US" sz="1100" dirty="0">
                <a:solidFill>
                  <a:schemeClr val="dk2"/>
                </a:solidFill>
              </a:rPr>
              <a:t>Accept a connection with the </a:t>
            </a:r>
            <a:r>
              <a:rPr lang="en-US" sz="1100" b="1" dirty="0">
                <a:solidFill>
                  <a:schemeClr val="dk2"/>
                </a:solidFill>
              </a:rPr>
              <a:t>accept() </a:t>
            </a:r>
            <a:r>
              <a:rPr lang="en-US" sz="1100" dirty="0">
                <a:solidFill>
                  <a:schemeClr val="dk2"/>
                </a:solidFill>
              </a:rPr>
              <a:t>function system call. </a:t>
            </a:r>
            <a:br>
              <a:rPr lang="en-US" sz="1100" dirty="0">
                <a:solidFill>
                  <a:schemeClr val="dk2"/>
                </a:solidFill>
              </a:rPr>
            </a:br>
            <a:r>
              <a:rPr lang="en-US" sz="1100" dirty="0">
                <a:solidFill>
                  <a:schemeClr val="dk2"/>
                </a:solidFill>
              </a:rPr>
              <a:t>This call typically blocks until a client connects with the server.</a:t>
            </a:r>
          </a:p>
          <a:p>
            <a:pPr marL="171450" lvl="0" indent="-171450" algn="l" rtl="0">
              <a:spcBef>
                <a:spcPts val="0"/>
              </a:spcBef>
              <a:spcAft>
                <a:spcPts val="0"/>
              </a:spcAft>
            </a:pPr>
            <a:r>
              <a:rPr lang="en-US" sz="1100" dirty="0">
                <a:solidFill>
                  <a:schemeClr val="dk2"/>
                </a:solidFill>
              </a:rPr>
              <a:t>Send and receive data by means of </a:t>
            </a:r>
            <a:r>
              <a:rPr lang="en-US" sz="1100" b="1" dirty="0">
                <a:solidFill>
                  <a:schemeClr val="dk2"/>
                </a:solidFill>
              </a:rPr>
              <a:t>send() </a:t>
            </a:r>
            <a:r>
              <a:rPr lang="en-US" sz="1100" dirty="0">
                <a:solidFill>
                  <a:schemeClr val="dk2"/>
                </a:solidFill>
              </a:rPr>
              <a:t>and </a:t>
            </a:r>
            <a:r>
              <a:rPr lang="en-US" sz="1100" b="1" dirty="0">
                <a:solidFill>
                  <a:schemeClr val="dk2"/>
                </a:solidFill>
              </a:rPr>
              <a:t>receive()</a:t>
            </a:r>
            <a:r>
              <a:rPr lang="en-US" sz="1100" dirty="0">
                <a:solidFill>
                  <a:schemeClr val="dk2"/>
                </a:solidFill>
              </a:rPr>
              <a:t>.</a:t>
            </a:r>
          </a:p>
          <a:p>
            <a:pPr marL="0" lvl="0" indent="0" algn="l" rtl="0">
              <a:spcBef>
                <a:spcPts val="0"/>
              </a:spcBef>
              <a:spcAft>
                <a:spcPts val="0"/>
              </a:spcAft>
              <a:buNone/>
            </a:pPr>
            <a:endParaRPr lang="en-US" dirty="0"/>
          </a:p>
        </p:txBody>
      </p:sp>
      <p:sp>
        <p:nvSpPr>
          <p:cNvPr id="106" name="Google Shape;106;g2c898648f3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c898648f37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Fundamentals of Sockets and Client-Server Model</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1" dirty="0"/>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b="1" dirty="0"/>
              <a:t>LAN (Local Area Network)</a:t>
            </a:r>
            <a:r>
              <a:rPr lang="en-US" dirty="0"/>
              <a:t>: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Small geographical area (e.g., one building), high speed, low latency, and high security.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Client-Server Model</a:t>
            </a:r>
          </a:p>
          <a:p>
            <a:pPr marL="0" lvl="0" indent="0" algn="l" rtl="0">
              <a:spcBef>
                <a:spcPts val="0"/>
              </a:spcBef>
              <a:spcAft>
                <a:spcPts val="0"/>
              </a:spcAft>
              <a:buNone/>
            </a:pPr>
            <a:r>
              <a:rPr lang="en-US" dirty="0"/>
              <a:t>A diagram illustrating the communication flow between two clients over an Ethernet network, </a:t>
            </a:r>
          </a:p>
          <a:p>
            <a:pPr marL="0" lvl="0" indent="0" algn="l" rtl="0">
              <a:spcBef>
                <a:spcPts val="0"/>
              </a:spcBef>
              <a:spcAft>
                <a:spcPts val="0"/>
              </a:spcAft>
              <a:buNone/>
            </a:pPr>
            <a:r>
              <a:rPr lang="en-US" dirty="0"/>
              <a:t>showing the interaction between the application, transport, network, and data link layers </a:t>
            </a:r>
          </a:p>
          <a:p>
            <a:pPr marL="0" lvl="0" indent="0" algn="l" rtl="0">
              <a:spcBef>
                <a:spcPts val="0"/>
              </a:spcBef>
              <a:spcAft>
                <a:spcPts val="0"/>
              </a:spcAft>
              <a:buNone/>
            </a:pPr>
            <a:r>
              <a:rPr lang="en-US" dirty="0"/>
              <a:t>within the user process and the operating system kernel.</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The image depicts a structural model of network communication between two identical client systems connected via an </a:t>
            </a:r>
            <a:r>
              <a:rPr lang="en-US" b="1" dirty="0"/>
              <a:t>Ethernet Network</a:t>
            </a:r>
            <a:r>
              <a:rPr lang="en-US" dirty="0"/>
              <a:t>. </a:t>
            </a:r>
          </a:p>
          <a:p>
            <a:pPr marL="0" lvl="0" indent="0" algn="l" rtl="0">
              <a:spcBef>
                <a:spcPts val="0"/>
              </a:spcBef>
              <a:spcAft>
                <a:spcPts val="0"/>
              </a:spcAft>
              <a:buNone/>
            </a:pPr>
            <a:r>
              <a:rPr lang="en-US" dirty="0"/>
              <a:t>The diagram is organized vertically into layers, representing the path of data from the user level down to the physical hardware.</a:t>
            </a: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en-US" dirty="0"/>
              <a:t>At the top is the </a:t>
            </a:r>
            <a:r>
              <a:rPr lang="en-US" b="1" dirty="0"/>
              <a:t>Application Layer</a:t>
            </a:r>
            <a:r>
              <a:rPr lang="en-US" dirty="0"/>
              <a:t> containing the </a:t>
            </a:r>
            <a:r>
              <a:rPr lang="en-US" b="1" dirty="0"/>
              <a:t>User Process</a:t>
            </a:r>
            <a:r>
              <a:rPr lang="en-US" dirty="0"/>
              <a:t> (Client). </a:t>
            </a:r>
          </a:p>
          <a:p>
            <a:pPr marL="0" lvl="0" indent="0" algn="l" rtl="0">
              <a:spcBef>
                <a:spcPts val="0"/>
              </a:spcBef>
              <a:spcAft>
                <a:spcPts val="0"/>
              </a:spcAft>
              <a:buNone/>
            </a:pPr>
            <a:r>
              <a:rPr lang="en-US" dirty="0"/>
              <a:t>Below this is the </a:t>
            </a:r>
            <a:r>
              <a:rPr lang="en-US" b="1" dirty="0"/>
              <a:t>Kernel</a:t>
            </a:r>
            <a:r>
              <a:rPr lang="en-US" dirty="0"/>
              <a:t>, which houses the </a:t>
            </a:r>
            <a:r>
              <a:rPr lang="en-US" b="1" dirty="0"/>
              <a:t>Transport Layer (TCP)</a:t>
            </a:r>
            <a:r>
              <a:rPr lang="en-US" dirty="0"/>
              <a:t> and the </a:t>
            </a:r>
            <a:r>
              <a:rPr lang="en-US" b="1" dirty="0"/>
              <a:t>Network Layer (IP)</a:t>
            </a:r>
            <a:r>
              <a:rPr lang="en-US" dirty="0"/>
              <a:t>. </a:t>
            </a:r>
          </a:p>
          <a:p>
            <a:pPr marL="0" lvl="0" indent="0" algn="l" rtl="0">
              <a:spcBef>
                <a:spcPts val="0"/>
              </a:spcBef>
              <a:spcAft>
                <a:spcPts val="0"/>
              </a:spcAft>
              <a:buNone/>
            </a:pPr>
            <a:r>
              <a:rPr lang="en-US" dirty="0"/>
              <a:t>Data moves vertically from the User Process through the TCP and IP blocks to the </a:t>
            </a:r>
            <a:r>
              <a:rPr lang="en-US" b="1" dirty="0"/>
              <a:t>Data Link Layer (Ethernet Driver)</a:t>
            </a:r>
            <a:r>
              <a:rPr lang="en-US" dirty="0"/>
              <a:t>. </a:t>
            </a:r>
          </a:p>
          <a:p>
            <a:pPr marL="0" lvl="0" indent="0" algn="l" rtl="0">
              <a:spcBef>
                <a:spcPts val="0"/>
              </a:spcBef>
              <a:spcAft>
                <a:spcPts val="0"/>
              </a:spcAft>
              <a:buNone/>
            </a:pPr>
            <a:r>
              <a:rPr lang="en-US" dirty="0"/>
              <a:t>The two hosts are connected at the bottom via an </a:t>
            </a:r>
            <a:r>
              <a:rPr lang="en-US" b="1" dirty="0"/>
              <a:t>Ethernet Network</a:t>
            </a:r>
            <a:r>
              <a:rPr lang="en-US" dirty="0"/>
              <a:t> horizontal bar.</a:t>
            </a: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en-US" b="1" dirty="0">
                <a:effectLst/>
              </a:rPr>
              <a:t>Architectural Boundaries</a:t>
            </a:r>
          </a:p>
          <a:p>
            <a:pPr marL="171450" lvl="0" indent="-171450" algn="l" rtl="0">
              <a:spcBef>
                <a:spcPts val="0"/>
              </a:spcBef>
              <a:spcAft>
                <a:spcPts val="0"/>
              </a:spcAft>
            </a:pPr>
            <a:r>
              <a:rPr lang="en-US" b="1" dirty="0">
                <a:effectLst/>
              </a:rPr>
              <a:t>User Process:</a:t>
            </a:r>
            <a:r>
              <a:rPr lang="en-US" dirty="0">
                <a:effectLst/>
              </a:rPr>
              <a:t> </a:t>
            </a:r>
            <a:br>
              <a:rPr lang="en-US" dirty="0">
                <a:effectLst/>
              </a:rPr>
            </a:br>
            <a:r>
              <a:rPr lang="en-US" dirty="0">
                <a:effectLst/>
              </a:rPr>
              <a:t>The top section contains the </a:t>
            </a:r>
            <a:r>
              <a:rPr lang="en-US" b="1" dirty="0">
                <a:effectLst/>
              </a:rPr>
              <a:t>Client</a:t>
            </a:r>
            <a:r>
              <a:rPr lang="en-US" dirty="0">
                <a:effectLst/>
              </a:rPr>
              <a:t>, situated in the </a:t>
            </a:r>
            <a:r>
              <a:rPr lang="en-US" b="1" dirty="0">
                <a:effectLst/>
              </a:rPr>
              <a:t>Application Layer</a:t>
            </a:r>
            <a:r>
              <a:rPr lang="en-US" dirty="0">
                <a:effectLst/>
              </a:rPr>
              <a:t>.</a:t>
            </a:r>
          </a:p>
          <a:p>
            <a:pPr marL="171450" lvl="0" indent="-171450" algn="l" rtl="0">
              <a:spcBef>
                <a:spcPts val="0"/>
              </a:spcBef>
              <a:spcAft>
                <a:spcPts val="0"/>
              </a:spcAft>
            </a:pPr>
            <a:r>
              <a:rPr lang="en-US" b="1" dirty="0">
                <a:effectLst/>
              </a:rPr>
              <a:t>Kernel:</a:t>
            </a:r>
            <a:r>
              <a:rPr lang="en-US" dirty="0">
                <a:effectLst/>
              </a:rPr>
              <a:t> </a:t>
            </a:r>
            <a:br>
              <a:rPr lang="en-US" dirty="0">
                <a:effectLst/>
              </a:rPr>
            </a:br>
            <a:r>
              <a:rPr lang="en-US" dirty="0">
                <a:effectLst/>
              </a:rPr>
              <a:t>The middle section represents the operating system's kernel, which houses the </a:t>
            </a:r>
            <a:r>
              <a:rPr lang="en-US" b="1" dirty="0">
                <a:effectLst/>
              </a:rPr>
              <a:t>Transport Layer (TCP)</a:t>
            </a:r>
            <a:r>
              <a:rPr lang="en-US" dirty="0">
                <a:effectLst/>
              </a:rPr>
              <a:t> and the </a:t>
            </a:r>
            <a:r>
              <a:rPr lang="en-US" b="1" dirty="0">
                <a:effectLst/>
              </a:rPr>
              <a:t>Network Layer (IP)</a:t>
            </a:r>
            <a:r>
              <a:rPr lang="en-US" dirty="0">
                <a:effectLst/>
              </a:rPr>
              <a:t>.</a:t>
            </a:r>
          </a:p>
          <a:p>
            <a:pPr marL="171450" lvl="0" indent="-171450" algn="l" rtl="0">
              <a:spcBef>
                <a:spcPts val="0"/>
              </a:spcBef>
              <a:spcAft>
                <a:spcPts val="0"/>
              </a:spcAft>
            </a:pPr>
            <a:r>
              <a:rPr lang="en-US" b="1" dirty="0">
                <a:effectLst/>
              </a:rPr>
              <a:t>Hardware/Driver Level:</a:t>
            </a:r>
            <a:r>
              <a:rPr lang="en-US" dirty="0">
                <a:effectLst/>
              </a:rPr>
              <a:t> </a:t>
            </a:r>
            <a:br>
              <a:rPr lang="en-US" dirty="0">
                <a:effectLst/>
              </a:rPr>
            </a:br>
            <a:r>
              <a:rPr lang="en-US" dirty="0">
                <a:effectLst/>
              </a:rPr>
              <a:t>The bottom section contains the </a:t>
            </a:r>
            <a:r>
              <a:rPr lang="en-US" b="1" dirty="0">
                <a:effectLst/>
              </a:rPr>
              <a:t>Ethernet Driver</a:t>
            </a:r>
            <a:r>
              <a:rPr lang="en-US" dirty="0">
                <a:effectLst/>
              </a:rPr>
              <a:t>, situated in the </a:t>
            </a:r>
            <a:r>
              <a:rPr lang="en-US" b="1" dirty="0">
                <a:effectLst/>
              </a:rPr>
              <a:t>Data Link Layer</a:t>
            </a:r>
            <a:r>
              <a:rPr lang="en-US" dirty="0">
                <a:effectLst/>
              </a:rPr>
              <a:t>.</a:t>
            </a: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en-US" b="1" dirty="0">
                <a:effectLst/>
              </a:rPr>
              <a:t>Communication Workflow</a:t>
            </a:r>
            <a:endParaRPr lang="en-US" b="0" dirty="0">
              <a:effectLst/>
            </a:endParaRPr>
          </a:p>
          <a:p>
            <a:pPr marL="171450" lvl="0" indent="-171450" algn="l" rtl="0">
              <a:spcBef>
                <a:spcPts val="0"/>
              </a:spcBef>
              <a:spcAft>
                <a:spcPts val="0"/>
              </a:spcAft>
            </a:pPr>
            <a:r>
              <a:rPr lang="en-US" b="1" dirty="0">
                <a:effectLst/>
              </a:rPr>
              <a:t>Vertical Flow:</a:t>
            </a:r>
            <a:r>
              <a:rPr lang="en-US" dirty="0">
                <a:effectLst/>
              </a:rPr>
              <a:t> </a:t>
            </a:r>
            <a:br>
              <a:rPr lang="en-US" dirty="0">
                <a:effectLst/>
              </a:rPr>
            </a:br>
            <a:r>
              <a:rPr lang="en-US" dirty="0">
                <a:effectLst/>
              </a:rPr>
              <a:t>On each side of the diagram, double-headed arrows show bi-directional communication between the </a:t>
            </a:r>
            <a:r>
              <a:rPr lang="en-US" b="1" dirty="0">
                <a:effectLst/>
              </a:rPr>
              <a:t>Client</a:t>
            </a:r>
            <a:r>
              <a:rPr lang="en-US" dirty="0">
                <a:effectLst/>
              </a:rPr>
              <a:t>, </a:t>
            </a:r>
            <a:r>
              <a:rPr lang="en-US" b="1" dirty="0">
                <a:effectLst/>
              </a:rPr>
              <a:t>TCP</a:t>
            </a:r>
            <a:r>
              <a:rPr lang="en-US" dirty="0">
                <a:effectLst/>
              </a:rPr>
              <a:t>, </a:t>
            </a:r>
            <a:r>
              <a:rPr lang="en-US" b="1" dirty="0">
                <a:effectLst/>
              </a:rPr>
              <a:t>IP</a:t>
            </a:r>
            <a:r>
              <a:rPr lang="en-US" dirty="0">
                <a:effectLst/>
              </a:rPr>
              <a:t>, and the </a:t>
            </a:r>
            <a:r>
              <a:rPr lang="en-US" b="1" dirty="0">
                <a:effectLst/>
              </a:rPr>
              <a:t>Ethernet Driver</a:t>
            </a:r>
            <a:r>
              <a:rPr lang="en-US" dirty="0">
                <a:effectLst/>
              </a:rPr>
              <a:t>. </a:t>
            </a:r>
            <a:br>
              <a:rPr lang="en-US" dirty="0">
                <a:effectLst/>
              </a:rPr>
            </a:br>
            <a:r>
              <a:rPr lang="en-US" dirty="0">
                <a:effectLst/>
              </a:rPr>
              <a:t>This illustrates how data is encapsulated as it moves down the stack and decapsulated as it moves up.</a:t>
            </a:r>
          </a:p>
          <a:p>
            <a:pPr marL="171450" lvl="0" indent="-171450" algn="l" rtl="0">
              <a:spcBef>
                <a:spcPts val="0"/>
              </a:spcBef>
              <a:spcAft>
                <a:spcPts val="0"/>
              </a:spcAft>
            </a:pPr>
            <a:r>
              <a:rPr lang="en-US" b="1" dirty="0">
                <a:effectLst/>
              </a:rPr>
              <a:t>Horizontal Connectivity:</a:t>
            </a:r>
            <a:r>
              <a:rPr lang="en-US" dirty="0">
                <a:effectLst/>
              </a:rPr>
              <a:t> </a:t>
            </a:r>
            <a:br>
              <a:rPr lang="en-US" dirty="0">
                <a:effectLst/>
              </a:rPr>
            </a:br>
            <a:r>
              <a:rPr lang="en-US" dirty="0">
                <a:effectLst/>
              </a:rPr>
              <a:t>At the very bottom, both </a:t>
            </a:r>
            <a:r>
              <a:rPr lang="en-US" b="1" dirty="0">
                <a:effectLst/>
              </a:rPr>
              <a:t>Ethernet Drivers</a:t>
            </a:r>
            <a:r>
              <a:rPr lang="en-US" dirty="0">
                <a:effectLst/>
              </a:rPr>
              <a:t> are connected to a single horizontal block labeled </a:t>
            </a:r>
            <a:r>
              <a:rPr lang="en-US" b="1" dirty="0">
                <a:effectLst/>
              </a:rPr>
              <a:t>Ethernet Network</a:t>
            </a:r>
            <a:r>
              <a:rPr lang="en-US" dirty="0">
                <a:effectLst/>
              </a:rPr>
              <a:t> via double-headed arrows. </a:t>
            </a:r>
            <a:br>
              <a:rPr lang="en-US" dirty="0">
                <a:effectLst/>
              </a:rPr>
            </a:br>
            <a:r>
              <a:rPr lang="en-US" dirty="0">
                <a:effectLst/>
              </a:rPr>
              <a:t>This represents the physical or logical medium through which the two systems exchange data frames.</a:t>
            </a: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en-US" b="1" dirty="0">
                <a:effectLst/>
              </a:rPr>
              <a:t>Layer Mapping</a:t>
            </a:r>
            <a:endParaRPr lang="en-US" b="0" dirty="0">
              <a:effectLst/>
            </a:endParaRPr>
          </a:p>
          <a:p>
            <a:pPr marL="171450" lvl="0" indent="-171450" algn="l" rtl="0">
              <a:spcBef>
                <a:spcPts val="0"/>
              </a:spcBef>
              <a:spcAft>
                <a:spcPts val="0"/>
              </a:spcAft>
            </a:pPr>
            <a:r>
              <a:rPr lang="en-US" b="1" dirty="0">
                <a:effectLst/>
              </a:rPr>
              <a:t>Application Layer:</a:t>
            </a:r>
            <a:r>
              <a:rPr lang="en-US" dirty="0">
                <a:effectLst/>
              </a:rPr>
              <a:t> Where the </a:t>
            </a:r>
            <a:r>
              <a:rPr lang="en-US" b="1" dirty="0">
                <a:effectLst/>
              </a:rPr>
              <a:t>Client</a:t>
            </a:r>
            <a:r>
              <a:rPr lang="en-US" dirty="0">
                <a:effectLst/>
              </a:rPr>
              <a:t> software operates.</a:t>
            </a:r>
          </a:p>
          <a:p>
            <a:pPr marL="171450" lvl="0" indent="-171450" algn="l" rtl="0">
              <a:spcBef>
                <a:spcPts val="0"/>
              </a:spcBef>
              <a:spcAft>
                <a:spcPts val="0"/>
              </a:spcAft>
            </a:pPr>
            <a:r>
              <a:rPr lang="en-US" b="1" dirty="0">
                <a:effectLst/>
              </a:rPr>
              <a:t>Transport Layer:</a:t>
            </a:r>
            <a:r>
              <a:rPr lang="en-US" dirty="0">
                <a:effectLst/>
              </a:rPr>
              <a:t> Managed by </a:t>
            </a:r>
            <a:r>
              <a:rPr lang="en-US" b="1" dirty="0">
                <a:effectLst/>
              </a:rPr>
              <a:t>TCP</a:t>
            </a:r>
            <a:r>
              <a:rPr lang="en-US" dirty="0">
                <a:effectLst/>
              </a:rPr>
              <a:t> within the kernel.</a:t>
            </a:r>
          </a:p>
          <a:p>
            <a:pPr marL="171450" lvl="0" indent="-171450" algn="l" rtl="0">
              <a:spcBef>
                <a:spcPts val="0"/>
              </a:spcBef>
              <a:spcAft>
                <a:spcPts val="0"/>
              </a:spcAft>
            </a:pPr>
            <a:r>
              <a:rPr lang="en-US" b="1" dirty="0">
                <a:effectLst/>
              </a:rPr>
              <a:t>Network Layer:</a:t>
            </a:r>
            <a:r>
              <a:rPr lang="en-US" dirty="0">
                <a:effectLst/>
              </a:rPr>
              <a:t> Managed by </a:t>
            </a:r>
            <a:r>
              <a:rPr lang="en-US" b="1" dirty="0">
                <a:effectLst/>
              </a:rPr>
              <a:t>IP</a:t>
            </a:r>
            <a:r>
              <a:rPr lang="en-US" dirty="0">
                <a:effectLst/>
              </a:rPr>
              <a:t> within the kernel.</a:t>
            </a:r>
          </a:p>
          <a:p>
            <a:pPr marL="171450" lvl="0" indent="-171450" algn="l" rtl="0">
              <a:spcBef>
                <a:spcPts val="0"/>
              </a:spcBef>
              <a:spcAft>
                <a:spcPts val="0"/>
              </a:spcAft>
            </a:pPr>
            <a:r>
              <a:rPr lang="en-US" b="1" dirty="0">
                <a:effectLst/>
              </a:rPr>
              <a:t>Data Link Layer:</a:t>
            </a:r>
            <a:r>
              <a:rPr lang="en-US" dirty="0">
                <a:effectLst/>
              </a:rPr>
              <a:t> Managed by the </a:t>
            </a:r>
            <a:r>
              <a:rPr lang="en-US" b="1" dirty="0">
                <a:effectLst/>
              </a:rPr>
              <a:t>Ethernet Driver</a:t>
            </a:r>
            <a:r>
              <a:rPr lang="en-US" dirty="0">
                <a:effectLst/>
              </a:rPr>
              <a:t>, interfacing directly with the physical </a:t>
            </a:r>
            <a:r>
              <a:rPr lang="en-US" b="1" dirty="0">
                <a:effectLst/>
              </a:rPr>
              <a:t>Ethernet Network</a:t>
            </a:r>
            <a:r>
              <a:rPr lang="en-US" dirty="0">
                <a:effectLst/>
              </a:rPr>
              <a:t>.</a:t>
            </a:r>
          </a:p>
          <a:p>
            <a:pPr marL="0" lvl="0" indent="0" algn="l" rtl="0">
              <a:spcBef>
                <a:spcPts val="0"/>
              </a:spcBef>
              <a:spcAft>
                <a:spcPts val="0"/>
              </a:spcAft>
              <a:buNone/>
            </a:pPr>
            <a:endParaRPr lang="en-US" dirty="0"/>
          </a:p>
        </p:txBody>
      </p:sp>
      <p:sp>
        <p:nvSpPr>
          <p:cNvPr id="114" name="Google Shape;114;g2c898648f37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c898648f3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Fundamentals of Sockets and Client-Server Model</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1" dirty="0"/>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b="1" dirty="0"/>
              <a:t>WAN (Wide Area Network)</a:t>
            </a:r>
            <a:r>
              <a:rPr lang="en-US" dirty="0"/>
              <a:t>: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Large area (e.g., cities or continents), lower speeds, higher latency, and lower security.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The Internet is the largest example.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Wide Area Network Architecture</a:t>
            </a:r>
          </a:p>
          <a:p>
            <a:pPr marL="0" lvl="0" indent="0" algn="l" rtl="0">
              <a:spcBef>
                <a:spcPts val="0"/>
              </a:spcBef>
              <a:spcAft>
                <a:spcPts val="0"/>
              </a:spcAft>
              <a:buNone/>
            </a:pPr>
            <a:r>
              <a:rPr lang="en-US" dirty="0"/>
              <a:t>A high-level view of a Client and Server communicating across a WAN/Internet via multiple routers.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This diagram shows a Client and Server, </a:t>
            </a:r>
          </a:p>
          <a:p>
            <a:pPr marL="0" lvl="0" indent="0" algn="l" rtl="0">
              <a:spcBef>
                <a:spcPts val="0"/>
              </a:spcBef>
              <a:spcAft>
                <a:spcPts val="0"/>
              </a:spcAft>
              <a:buNone/>
            </a:pPr>
            <a:r>
              <a:rPr lang="en-US" dirty="0"/>
              <a:t>each consisting of an Application, Operating System, and LAN driver.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Each is connected to a local </a:t>
            </a:r>
            <a:r>
              <a:rPr lang="en-US" b="1" dirty="0"/>
              <a:t>LAN</a:t>
            </a:r>
            <a:r>
              <a:rPr lang="en-US" dirty="0"/>
              <a:t> which connects to a </a:t>
            </a:r>
            <a:r>
              <a:rPr lang="en-US" b="1" dirty="0"/>
              <a:t>Router</a:t>
            </a:r>
            <a:r>
              <a:rPr lang="en-US" dirty="0"/>
              <a:t>. </a:t>
            </a:r>
          </a:p>
          <a:p>
            <a:pPr marL="0" lvl="0" indent="0" algn="l" rtl="0">
              <a:spcBef>
                <a:spcPts val="0"/>
              </a:spcBef>
              <a:spcAft>
                <a:spcPts val="0"/>
              </a:spcAft>
              <a:buNone/>
            </a:pPr>
            <a:r>
              <a:rPr lang="en-US" dirty="0"/>
              <a:t>These local routers are connected to a cloud-shaped area labeled </a:t>
            </a:r>
            <a:r>
              <a:rPr lang="en-US" b="1" dirty="0"/>
              <a:t>WAN/Internet</a:t>
            </a:r>
            <a:r>
              <a:rPr lang="en-US" dirty="0"/>
              <a:t>, </a:t>
            </a:r>
          </a:p>
          <a:p>
            <a:pPr marL="0" lvl="0" indent="0" algn="l" rtl="0">
              <a:spcBef>
                <a:spcPts val="0"/>
              </a:spcBef>
              <a:spcAft>
                <a:spcPts val="0"/>
              </a:spcAft>
              <a:buNone/>
            </a:pPr>
            <a:r>
              <a:rPr lang="en-US" dirty="0"/>
              <a:t>which contains a series of interconnected </a:t>
            </a:r>
            <a:r>
              <a:rPr lang="en-US" b="1" dirty="0"/>
              <a:t>Routers</a:t>
            </a:r>
            <a:r>
              <a:rPr lang="en-US" dirty="0"/>
              <a:t> that handle the multi-hop path between the two end systems.</a:t>
            </a:r>
          </a:p>
          <a:p>
            <a:pPr marL="0" lvl="0" indent="0" algn="l" rtl="0">
              <a:spcBef>
                <a:spcPts val="0"/>
              </a:spcBef>
              <a:spcAft>
                <a:spcPts val="0"/>
              </a:spcAft>
              <a:buNone/>
            </a:pPr>
            <a:endParaRPr dirty="0"/>
          </a:p>
        </p:txBody>
      </p:sp>
      <p:sp>
        <p:nvSpPr>
          <p:cNvPr id="122" name="Google Shape;122;g2c898648f37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898648f3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Socket Programming Mechanics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API Placement</a:t>
            </a:r>
            <a:r>
              <a:rPr lang="en-US" dirty="0"/>
              <a:t>: </a:t>
            </a:r>
          </a:p>
          <a:p>
            <a:pPr marL="171450" lvl="0" indent="-171450" algn="l" rtl="0">
              <a:spcBef>
                <a:spcPts val="0"/>
              </a:spcBef>
              <a:spcAft>
                <a:spcPts val="0"/>
              </a:spcAft>
            </a:pPr>
            <a:r>
              <a:rPr lang="en-US" dirty="0"/>
              <a:t>The socket API resides between the Application layer and the Transport layer (TCP/UDP). </a:t>
            </a:r>
          </a:p>
          <a:p>
            <a:pPr marL="171450" lvl="0" indent="-171450" algn="l" rtl="0">
              <a:spcBef>
                <a:spcPts val="0"/>
              </a:spcBef>
              <a:spcAft>
                <a:spcPts val="0"/>
              </a:spcAft>
            </a:pPr>
            <a:r>
              <a:rPr lang="en-US" dirty="0"/>
              <a:t>It serves as an interface so applications can use transport protocols without knowing their internal complexities.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OSI Layer Mapping</a:t>
            </a:r>
          </a:p>
          <a:p>
            <a:pPr marL="0" lvl="0" indent="0" algn="l" rtl="0">
              <a:spcBef>
                <a:spcPts val="0"/>
              </a:spcBef>
              <a:spcAft>
                <a:spcPts val="0"/>
              </a:spcAft>
              <a:buNone/>
            </a:pPr>
            <a:r>
              <a:rPr lang="en-US" dirty="0"/>
              <a:t>A color-coded diagram mapping specific network protocols and interfaces to the OSI model layers.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br>
              <a:rPr lang="en-US" dirty="0"/>
            </a:br>
            <a:r>
              <a:rPr lang="en-US" dirty="0"/>
              <a:t>The diagram separates layers into two categories:</a:t>
            </a:r>
          </a:p>
          <a:p>
            <a:pPr marL="228600" lvl="0" indent="-228600" algn="l" rtl="0">
              <a:spcBef>
                <a:spcPts val="0"/>
              </a:spcBef>
              <a:spcAft>
                <a:spcPts val="0"/>
              </a:spcAft>
              <a:buFont typeface="+mj-lt"/>
              <a:buAutoNum type="arabicPeriod"/>
            </a:pPr>
            <a:r>
              <a:rPr lang="en-US" b="1" dirty="0"/>
              <a:t>Application-level layers:</a:t>
            </a:r>
            <a:r>
              <a:rPr lang="en-US" dirty="0"/>
              <a:t> </a:t>
            </a:r>
            <a:br>
              <a:rPr lang="en-US" dirty="0"/>
            </a:br>
            <a:r>
              <a:rPr lang="en-US" dirty="0"/>
              <a:t>Includes the </a:t>
            </a:r>
            <a:r>
              <a:rPr lang="en-US" b="1" dirty="0"/>
              <a:t>Application layer</a:t>
            </a:r>
            <a:r>
              <a:rPr lang="en-US" dirty="0"/>
              <a:t> and </a:t>
            </a:r>
            <a:r>
              <a:rPr lang="en-US" b="1" dirty="0"/>
              <a:t>Presentation layer</a:t>
            </a:r>
            <a:r>
              <a:rPr lang="en-US" dirty="0"/>
              <a:t> (blue).</a:t>
            </a:r>
          </a:p>
          <a:p>
            <a:pPr marL="228600" lvl="0" indent="-228600" algn="l" rtl="0">
              <a:spcBef>
                <a:spcPts val="0"/>
              </a:spcBef>
              <a:spcAft>
                <a:spcPts val="0"/>
              </a:spcAft>
              <a:buFont typeface="+mj-lt"/>
              <a:buAutoNum type="arabicPeriod"/>
            </a:pPr>
            <a:r>
              <a:rPr lang="en-US" b="1" dirty="0"/>
              <a:t>Data Communication-level layers:</a:t>
            </a:r>
            <a:r>
              <a:rPr lang="en-US" dirty="0"/>
              <a:t> </a:t>
            </a:r>
            <a:br>
              <a:rPr lang="en-US" dirty="0"/>
            </a:br>
            <a:r>
              <a:rPr lang="en-US" dirty="0"/>
              <a:t>Includes the </a:t>
            </a:r>
            <a:r>
              <a:rPr lang="en-US" b="1" dirty="0"/>
              <a:t>Transport layer</a:t>
            </a:r>
            <a:r>
              <a:rPr lang="en-US" dirty="0"/>
              <a:t> (mapped to </a:t>
            </a:r>
            <a:r>
              <a:rPr lang="en-US" b="1" dirty="0"/>
              <a:t>TCP</a:t>
            </a:r>
            <a:r>
              <a:rPr lang="en-US" dirty="0"/>
              <a:t>), </a:t>
            </a:r>
            <a:br>
              <a:rPr lang="en-US" dirty="0"/>
            </a:br>
            <a:r>
              <a:rPr lang="en-US" b="1" dirty="0"/>
              <a:t>Network layer</a:t>
            </a:r>
            <a:r>
              <a:rPr lang="en-US" dirty="0"/>
              <a:t> (mapped to </a:t>
            </a:r>
            <a:r>
              <a:rPr lang="en-US" b="1" dirty="0"/>
              <a:t>IP</a:t>
            </a:r>
            <a:r>
              <a:rPr lang="en-US" dirty="0"/>
              <a:t>), </a:t>
            </a:r>
            <a:br>
              <a:rPr lang="en-US" dirty="0"/>
            </a:br>
            <a:r>
              <a:rPr lang="en-US" b="1" dirty="0" err="1"/>
              <a:t>DataLink</a:t>
            </a:r>
            <a:r>
              <a:rPr lang="en-US" b="1" dirty="0"/>
              <a:t> layer</a:t>
            </a:r>
            <a:r>
              <a:rPr lang="en-US" dirty="0"/>
              <a:t>, and </a:t>
            </a:r>
            <a:r>
              <a:rPr lang="en-US" b="1" dirty="0"/>
              <a:t>Physical layer</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a:t>
            </a:r>
            <a:r>
              <a:rPr lang="en-US" b="1" dirty="0"/>
              <a:t>Session layer</a:t>
            </a:r>
            <a:r>
              <a:rPr lang="en-US" dirty="0"/>
              <a:t> (purple) is explicitly labeled as the </a:t>
            </a:r>
            <a:r>
              <a:rPr lang="en-US" b="1" dirty="0"/>
              <a:t>Socket</a:t>
            </a:r>
            <a:r>
              <a:rPr lang="en-US" dirty="0"/>
              <a:t>, </a:t>
            </a:r>
            <a:br>
              <a:rPr lang="en-US" dirty="0"/>
            </a:br>
            <a:r>
              <a:rPr lang="en-US" dirty="0"/>
              <a:t>acting as the interface between the application-level and data-level layers.</a:t>
            </a:r>
          </a:p>
          <a:p>
            <a:pPr marL="0" lvl="0" indent="0" algn="l" rtl="0">
              <a:spcBef>
                <a:spcPts val="0"/>
              </a:spcBef>
              <a:spcAft>
                <a:spcPts val="0"/>
              </a:spcAft>
              <a:buNone/>
            </a:pPr>
            <a:endParaRPr dirty="0"/>
          </a:p>
        </p:txBody>
      </p:sp>
      <p:sp>
        <p:nvSpPr>
          <p:cNvPr id="130" name="Google Shape;130;g2c898648f37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898648f37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Socket Programming Mechanics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i="0" u="none" strike="noStrike" cap="none" dirty="0">
                <a:solidFill>
                  <a:srgbClr val="000000"/>
                </a:solidFill>
                <a:effectLst/>
                <a:latin typeface="Arial"/>
                <a:ea typeface="Arial"/>
                <a:cs typeface="Arial"/>
                <a:sym typeface="Arial"/>
              </a:rPr>
              <a:t>Socket Requirements</a:t>
            </a:r>
            <a:r>
              <a:rPr lang="en-US" sz="1100" b="0" i="0" u="none" strike="noStrike" cap="none" dirty="0">
                <a:solidFill>
                  <a:srgbClr val="000000"/>
                </a:solidFill>
                <a:effectLst/>
                <a:latin typeface="Arial"/>
                <a:ea typeface="Arial"/>
                <a:cs typeface="Arial"/>
                <a:sym typeface="Arial"/>
              </a:rPr>
              <a:t>: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dirty="0">
                <a:solidFill>
                  <a:srgbClr val="000000"/>
                </a:solidFill>
                <a:effectLst/>
                <a:latin typeface="Arial"/>
                <a:ea typeface="Arial"/>
                <a:cs typeface="Arial"/>
                <a:sym typeface="Arial"/>
              </a:rPr>
              <a:t>Before data transfer, a socket must be opened.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dirty="0">
                <a:solidFill>
                  <a:srgbClr val="000000"/>
                </a:solidFill>
                <a:effectLst/>
                <a:latin typeface="Arial"/>
                <a:ea typeface="Arial"/>
                <a:cs typeface="Arial"/>
                <a:sym typeface="Arial"/>
              </a:rPr>
              <a:t>It defines the remote host address, remote port, local port, and the chosen protocol (UDP or TCP).</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Socket Abstraction</a:t>
            </a:r>
          </a:p>
          <a:p>
            <a:pPr marL="0" lvl="0" indent="0" algn="l" rtl="0">
              <a:spcBef>
                <a:spcPts val="0"/>
              </a:spcBef>
              <a:spcAft>
                <a:spcPts val="0"/>
              </a:spcAft>
              <a:buNone/>
            </a:pPr>
            <a:r>
              <a:rPr lang="en-US" dirty="0"/>
              <a:t>A conceptual diagram showing the Socket acting as an interface between the Application Process and the Transport Layer.</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Two identical blocks represent the Client and Server.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the top of each is the </a:t>
            </a:r>
            <a:r>
              <a:rPr lang="en-US" b="1" dirty="0"/>
              <a:t>Application Process</a:t>
            </a:r>
            <a:r>
              <a:rPr lang="en-US" dirty="0"/>
              <a:t>. </a:t>
            </a:r>
          </a:p>
          <a:p>
            <a:pPr marL="0" lvl="0" indent="0" algn="l" rtl="0">
              <a:spcBef>
                <a:spcPts val="0"/>
              </a:spcBef>
              <a:spcAft>
                <a:spcPts val="0"/>
              </a:spcAft>
              <a:buNone/>
            </a:pPr>
            <a:r>
              <a:rPr lang="en-US" dirty="0"/>
              <a:t>Below this is the </a:t>
            </a:r>
            <a:r>
              <a:rPr lang="en-US" b="1" dirty="0"/>
              <a:t>Socket</a:t>
            </a:r>
            <a:r>
              <a:rPr lang="en-US" dirty="0"/>
              <a:t> (shaded light blue), which contains sub-sections for </a:t>
            </a:r>
          </a:p>
          <a:p>
            <a:pPr marL="171450" lvl="0" indent="-171450" algn="l" rtl="0">
              <a:spcBef>
                <a:spcPts val="0"/>
              </a:spcBef>
              <a:spcAft>
                <a:spcPts val="0"/>
              </a:spcAft>
            </a:pPr>
            <a:r>
              <a:rPr lang="en-US" b="1" dirty="0"/>
              <a:t>Source Address/Port</a:t>
            </a:r>
            <a:r>
              <a:rPr lang="en-US" dirty="0"/>
              <a:t>, </a:t>
            </a:r>
          </a:p>
          <a:p>
            <a:pPr marL="171450" lvl="0" indent="-171450" algn="l" rtl="0">
              <a:spcBef>
                <a:spcPts val="0"/>
              </a:spcBef>
              <a:spcAft>
                <a:spcPts val="0"/>
              </a:spcAft>
            </a:pPr>
            <a:r>
              <a:rPr lang="en-US" dirty="0"/>
              <a:t>the protocol (</a:t>
            </a:r>
            <a:r>
              <a:rPr lang="en-US" b="1" dirty="0"/>
              <a:t>UDP/TCP</a:t>
            </a:r>
            <a:r>
              <a:rPr lang="en-US" dirty="0"/>
              <a:t>), </a:t>
            </a:r>
          </a:p>
          <a:p>
            <a:pPr marL="171450" lvl="0" indent="-171450" algn="l" rtl="0">
              <a:spcBef>
                <a:spcPts val="0"/>
              </a:spcBef>
              <a:spcAft>
                <a:spcPts val="0"/>
              </a:spcAft>
            </a:pPr>
            <a:r>
              <a:rPr lang="en-US" dirty="0"/>
              <a:t>and the </a:t>
            </a:r>
            <a:r>
              <a:rPr lang="en-US" b="1" dirty="0"/>
              <a:t>Destination Address/Port</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dotted line passes through the sockets of both hosts, representing the logical connection.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Below the socket is the </a:t>
            </a:r>
            <a:r>
              <a:rPr lang="en-US" b="1" dirty="0"/>
              <a:t>Transport/Physical Layer</a:t>
            </a:r>
            <a:r>
              <a:rPr lang="en-US" dirty="0"/>
              <a:t>, </a:t>
            </a:r>
          </a:p>
          <a:p>
            <a:pPr marL="0" lvl="0" indent="0" algn="l" rtl="0">
              <a:spcBef>
                <a:spcPts val="0"/>
              </a:spcBef>
              <a:spcAft>
                <a:spcPts val="0"/>
              </a:spcAft>
              <a:buNone/>
            </a:pPr>
            <a:r>
              <a:rPr lang="en-US" dirty="0"/>
              <a:t>with a double-headed arrow labeled </a:t>
            </a:r>
            <a:r>
              <a:rPr lang="en-US" b="1" dirty="0"/>
              <a:t>LAN/WAN</a:t>
            </a:r>
            <a:r>
              <a:rPr lang="en-US" dirty="0"/>
              <a:t> connecting the two hosts at this lower level.</a:t>
            </a:r>
          </a:p>
          <a:p>
            <a:pPr marL="0" lvl="0" indent="0" algn="l" rtl="0">
              <a:spcBef>
                <a:spcPts val="0"/>
              </a:spcBef>
              <a:spcAft>
                <a:spcPts val="0"/>
              </a:spcAft>
              <a:buNone/>
            </a:pPr>
            <a:endParaRPr dirty="0"/>
          </a:p>
        </p:txBody>
      </p:sp>
      <p:sp>
        <p:nvSpPr>
          <p:cNvPr id="138" name="Google Shape;138;g2c898648f37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c898648f37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Socket Programming Mechanics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Socket Types</a:t>
            </a:r>
            <a:r>
              <a:rPr lang="en-US" dirty="0"/>
              <a:t>:</a:t>
            </a:r>
          </a:p>
          <a:p>
            <a:pPr marL="171450" lvl="0" indent="-171450" algn="l" rtl="0">
              <a:spcBef>
                <a:spcPts val="0"/>
              </a:spcBef>
              <a:spcAft>
                <a:spcPts val="0"/>
              </a:spcAft>
            </a:pPr>
            <a:r>
              <a:rPr lang="en-US" b="1" dirty="0"/>
              <a:t>Connection Socket</a:t>
            </a:r>
            <a:r>
              <a:rPr lang="en-US" dirty="0"/>
              <a:t>: </a:t>
            </a:r>
            <a:br>
              <a:rPr lang="en-US" dirty="0"/>
            </a:br>
            <a:r>
              <a:rPr lang="en-US" dirty="0"/>
              <a:t>Used by the server strictly to listen for incoming requests (unidirectional).</a:t>
            </a:r>
          </a:p>
          <a:p>
            <a:pPr marL="171450" lvl="0" indent="-171450" algn="l" rtl="0">
              <a:spcBef>
                <a:spcPts val="0"/>
              </a:spcBef>
              <a:spcAft>
                <a:spcPts val="0"/>
              </a:spcAft>
            </a:pPr>
            <a:r>
              <a:rPr lang="en-US" b="1" dirty="0"/>
              <a:t>Data Socket</a:t>
            </a:r>
            <a:r>
              <a:rPr lang="en-US" dirty="0"/>
              <a:t>: </a:t>
            </a:r>
            <a:br>
              <a:rPr lang="en-US" dirty="0"/>
            </a:br>
            <a:r>
              <a:rPr lang="en-US" dirty="0"/>
              <a:t>Created by the server specifically to communicate with an accepted client (bidirectional).</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Multi-Client Server Sockets</a:t>
            </a:r>
          </a:p>
          <a:p>
            <a:pPr marL="0" lvl="0" indent="0" algn="l" rtl="0">
              <a:spcBef>
                <a:spcPts val="0"/>
              </a:spcBef>
              <a:spcAft>
                <a:spcPts val="0"/>
              </a:spcAft>
              <a:buNone/>
            </a:pPr>
            <a:r>
              <a:rPr lang="en-US" dirty="0"/>
              <a:t>A diagram showing a server using separate sockets to manage connections and data transfer for multiple clients.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A large box on the left represents the </a:t>
            </a:r>
            <a:r>
              <a:rPr lang="en-US" b="1" dirty="0"/>
              <a:t>Server</a:t>
            </a:r>
            <a:r>
              <a:rPr lang="en-US" dirty="0"/>
              <a:t>. </a:t>
            </a:r>
          </a:p>
          <a:p>
            <a:pPr marL="0" lvl="0" indent="0" algn="l" rtl="0">
              <a:spcBef>
                <a:spcPts val="0"/>
              </a:spcBef>
              <a:spcAft>
                <a:spcPts val="0"/>
              </a:spcAft>
              <a:buNone/>
            </a:pPr>
            <a:r>
              <a:rPr lang="en-US" dirty="0"/>
              <a:t>It contains a green </a:t>
            </a:r>
            <a:r>
              <a:rPr lang="en-US" b="1" dirty="0"/>
              <a:t>connection socket</a:t>
            </a:r>
            <a:r>
              <a:rPr lang="en-US" dirty="0"/>
              <a:t> and a purple </a:t>
            </a:r>
            <a:r>
              <a:rPr lang="en-US" b="1" dirty="0"/>
              <a:t>data socket</a:t>
            </a:r>
            <a:r>
              <a:rPr lang="en-US" dirty="0"/>
              <a:t>. </a:t>
            </a:r>
          </a:p>
          <a:p>
            <a:pPr marL="0" lvl="0" indent="0" algn="l" rtl="0">
              <a:spcBef>
                <a:spcPts val="0"/>
              </a:spcBef>
              <a:spcAft>
                <a:spcPts val="0"/>
              </a:spcAft>
              <a:buNone/>
            </a:pPr>
            <a:r>
              <a:rPr lang="en-US" dirty="0"/>
              <a:t>Two smaller boxes on the right represent </a:t>
            </a:r>
            <a:r>
              <a:rPr lang="en-US" b="1" dirty="0"/>
              <a:t>Client 1</a:t>
            </a:r>
            <a:r>
              <a:rPr lang="en-US" dirty="0"/>
              <a:t> and </a:t>
            </a:r>
            <a:r>
              <a:rPr lang="en-US" b="1" dirty="0"/>
              <a:t>Client 2</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Red arrows (labeled </a:t>
            </a:r>
            <a:r>
              <a:rPr lang="en-US" b="1" dirty="0"/>
              <a:t>connection operation</a:t>
            </a:r>
            <a:r>
              <a:rPr lang="en-US" dirty="0"/>
              <a:t>) point from both clients to the server's connection socket. </a:t>
            </a:r>
          </a:p>
          <a:p>
            <a:pPr marL="0" lvl="0" indent="0" algn="l" rtl="0">
              <a:spcBef>
                <a:spcPts val="0"/>
              </a:spcBef>
              <a:spcAft>
                <a:spcPts val="0"/>
              </a:spcAft>
              <a:buNone/>
            </a:pPr>
            <a:r>
              <a:rPr lang="en-US" dirty="0"/>
              <a:t>Blue arrows (labeled </a:t>
            </a:r>
            <a:r>
              <a:rPr lang="en-US" b="1" dirty="0"/>
              <a:t>send/receive operation</a:t>
            </a:r>
            <a:r>
              <a:rPr lang="en-US" dirty="0"/>
              <a:t>) show the actual data exchange between the clients and the server's data socket.</a:t>
            </a:r>
          </a:p>
          <a:p>
            <a:pPr marL="0" lvl="0" indent="0" algn="l" rtl="0">
              <a:spcBef>
                <a:spcPts val="0"/>
              </a:spcBef>
              <a:spcAft>
                <a:spcPts val="0"/>
              </a:spcAft>
              <a:buNone/>
            </a:pPr>
            <a:endParaRPr dirty="0"/>
          </a:p>
        </p:txBody>
      </p:sp>
      <p:sp>
        <p:nvSpPr>
          <p:cNvPr id="146" name="Google Shape;146;g2c898648f37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c898648f3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u="sng" dirty="0"/>
              <a:t>Two Transport Protocols:</a:t>
            </a:r>
            <a:r>
              <a:rPr lang="en-US" b="1" dirty="0"/>
              <a:t> UDP vs. TCP</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UDP (User Datagram Protocol)</a:t>
            </a:r>
            <a:r>
              <a:rPr lang="en-US" dirty="0"/>
              <a:t>:</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Prioritizes speed and efficiency over reliability.</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Sends "datagrams" as discrete, independent packets that may be lost or arrive out of order.</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TCP (Transmission Control Protocol)</a:t>
            </a:r>
            <a:r>
              <a:rPr lang="en-US" dirty="0"/>
              <a:t>:</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Reliable, connection-oriented "byte-stream" transfer (like a pipe).</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1" i="0" u="sng" strike="noStrike" cap="none" dirty="0">
                <a:solidFill>
                  <a:srgbClr val="000000"/>
                </a:solidFill>
                <a:effectLst/>
                <a:latin typeface="Arial"/>
                <a:ea typeface="Arial"/>
                <a:cs typeface="Arial"/>
                <a:sym typeface="Arial"/>
              </a:rPr>
              <a:t>Summary Comparison</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TCP Connection</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Handshake: </a:t>
            </a:r>
            <a:r>
              <a:rPr lang="en-US" sz="1100" b="0" i="0" u="none" strike="noStrike" cap="none" dirty="0">
                <a:solidFill>
                  <a:srgbClr val="000000"/>
                </a:solidFill>
                <a:effectLst/>
                <a:latin typeface="Arial"/>
                <a:ea typeface="Arial"/>
                <a:cs typeface="Arial"/>
                <a:sym typeface="Arial"/>
              </a:rPr>
              <a:t>3-way (SYN, SYN-ACK, ACK)</a:t>
            </a:r>
            <a:endParaRPr lang="en-US" sz="1100" b="1"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Kernel State: </a:t>
            </a:r>
            <a:r>
              <a:rPr lang="en-US" sz="1100" b="0" i="0" u="none" strike="noStrike" cap="none" dirty="0">
                <a:solidFill>
                  <a:srgbClr val="000000"/>
                </a:solidFill>
                <a:effectLst/>
                <a:latin typeface="Arial"/>
                <a:ea typeface="Arial"/>
                <a:cs typeface="Arial"/>
                <a:sym typeface="Arial"/>
              </a:rPr>
              <a:t>Maintains sequence numbers/windows</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Termination: </a:t>
            </a:r>
            <a:r>
              <a:rPr lang="en-US" sz="1100" b="0" i="0" u="none" strike="noStrike" cap="none" dirty="0">
                <a:solidFill>
                  <a:srgbClr val="000000"/>
                </a:solidFill>
                <a:effectLst/>
                <a:latin typeface="Arial"/>
                <a:ea typeface="Arial"/>
                <a:cs typeface="Arial"/>
                <a:sym typeface="Arial"/>
              </a:rPr>
              <a:t>4-way (FIN/ACK)</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Reliability: </a:t>
            </a:r>
            <a:r>
              <a:rPr lang="en-US" sz="1100" b="0" i="0" u="none" strike="noStrike" cap="none" dirty="0">
                <a:solidFill>
                  <a:srgbClr val="000000"/>
                </a:solidFill>
                <a:effectLst/>
                <a:latin typeface="Arial"/>
                <a:ea typeface="Arial"/>
                <a:cs typeface="Arial"/>
                <a:sym typeface="Arial"/>
              </a:rPr>
              <a:t>Guaranteed delivery/ordering</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UDP "Connection"</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Handshake</a:t>
            </a:r>
            <a:r>
              <a:rPr lang="en-US" sz="1100" b="0" i="0" u="none" strike="noStrike" cap="none" dirty="0">
                <a:solidFill>
                  <a:srgbClr val="000000"/>
                </a:solidFill>
                <a:effectLst/>
                <a:latin typeface="Arial"/>
                <a:ea typeface="Arial"/>
                <a:cs typeface="Arial"/>
                <a:sym typeface="Arial"/>
              </a:rPr>
              <a:t>: None</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Kernel State: </a:t>
            </a:r>
            <a:r>
              <a:rPr lang="en-US" sz="1100" b="0" i="0" u="none" strike="noStrike" cap="none" dirty="0">
                <a:solidFill>
                  <a:srgbClr val="000000"/>
                </a:solidFill>
                <a:effectLst/>
                <a:latin typeface="Arial"/>
                <a:ea typeface="Arial"/>
                <a:cs typeface="Arial"/>
                <a:sym typeface="Arial"/>
              </a:rPr>
              <a:t>None (unless filtered by connect())</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Termination: </a:t>
            </a:r>
            <a:r>
              <a:rPr lang="en-US" sz="1100" b="0" i="0" u="none" strike="noStrike" cap="none" dirty="0">
                <a:solidFill>
                  <a:srgbClr val="000000"/>
                </a:solidFill>
                <a:effectLst/>
                <a:latin typeface="Arial"/>
                <a:ea typeface="Arial"/>
                <a:cs typeface="Arial"/>
                <a:sym typeface="Arial"/>
              </a:rPr>
              <a:t>Just stop sending data</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Reliability: </a:t>
            </a:r>
            <a:r>
              <a:rPr lang="en-US" sz="1100" b="0" i="0" u="none" strike="noStrike" cap="none" dirty="0">
                <a:solidFill>
                  <a:srgbClr val="000000"/>
                </a:solidFill>
                <a:effectLst/>
                <a:latin typeface="Arial"/>
                <a:ea typeface="Arial"/>
                <a:cs typeface="Arial"/>
                <a:sym typeface="Arial"/>
              </a:rPr>
              <a:t>Best effort (packets can be lost or reordered)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Figure 1: UDP vs. TCP Handshake</a:t>
            </a:r>
          </a:p>
          <a:p>
            <a:pPr marL="0" lvl="0" indent="0" algn="l" rtl="0">
              <a:spcBef>
                <a:spcPts val="0"/>
              </a:spcBef>
              <a:spcAft>
                <a:spcPts val="0"/>
              </a:spcAft>
              <a:buNone/>
            </a:pPr>
            <a:r>
              <a:rPr lang="en-US" dirty="0"/>
              <a:t>A side-by-side comparison of communication flows for UDP and TCP protocols.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171450" lvl="0" indent="-171450" algn="l" rtl="0">
              <a:spcBef>
                <a:spcPts val="0"/>
              </a:spcBef>
              <a:spcAft>
                <a:spcPts val="0"/>
              </a:spcAft>
              <a:buFont typeface="Arial" panose="020B0604020202020204" pitchFamily="34" charset="0"/>
              <a:buChar char="•"/>
            </a:pPr>
            <a:r>
              <a:rPr lang="en-US" b="1" dirty="0"/>
              <a:t>UDP:</a:t>
            </a:r>
            <a:r>
              <a:rPr lang="en-US" dirty="0"/>
              <a:t> </a:t>
            </a:r>
            <a:br>
              <a:rPr lang="en-US" dirty="0"/>
            </a:br>
            <a:r>
              <a:rPr lang="en-US" dirty="0"/>
              <a:t>Shows a simple, direct exchange. </a:t>
            </a:r>
            <a:br>
              <a:rPr lang="en-US" dirty="0"/>
            </a:br>
            <a:r>
              <a:rPr lang="en-US" dirty="0"/>
              <a:t>The sender sends a </a:t>
            </a:r>
            <a:r>
              <a:rPr lang="en-US" b="1" dirty="0"/>
              <a:t>Request</a:t>
            </a:r>
            <a:r>
              <a:rPr lang="en-US" dirty="0"/>
              <a:t>, and the receiver sends multiple </a:t>
            </a:r>
            <a:r>
              <a:rPr lang="en-US" b="1" dirty="0"/>
              <a:t>Response</a:t>
            </a:r>
            <a:r>
              <a:rPr lang="en-US" dirty="0"/>
              <a:t> packets. </a:t>
            </a:r>
            <a:br>
              <a:rPr lang="en-US" dirty="0"/>
            </a:br>
            <a:r>
              <a:rPr lang="en-US" dirty="0"/>
              <a:t>There is no setup phase.</a:t>
            </a:r>
            <a:r>
              <a:rPr lang="en-US" b="1" dirty="0"/>
              <a:t> </a:t>
            </a:r>
          </a:p>
          <a:p>
            <a:pPr marL="171450" lvl="0" indent="-171450" algn="l" rtl="0">
              <a:spcBef>
                <a:spcPts val="0"/>
              </a:spcBef>
              <a:spcAft>
                <a:spcPts val="0"/>
              </a:spcAft>
              <a:buFont typeface="Arial" panose="020B0604020202020204" pitchFamily="34" charset="0"/>
              <a:buChar char="•"/>
            </a:pPr>
            <a:r>
              <a:rPr lang="en-US" b="1" dirty="0"/>
              <a:t>TCP:</a:t>
            </a:r>
            <a:r>
              <a:rPr lang="en-US" dirty="0"/>
              <a:t> </a:t>
            </a:r>
            <a:br>
              <a:rPr lang="en-US" dirty="0"/>
            </a:br>
            <a:r>
              <a:rPr lang="en-US" dirty="0"/>
              <a:t>Shows a connection setup phase using the </a:t>
            </a:r>
            <a:r>
              <a:rPr lang="en-US" b="1" dirty="0"/>
              <a:t>Three-Way Handshake</a:t>
            </a:r>
            <a:r>
              <a:rPr lang="en-US" dirty="0"/>
              <a:t>. </a:t>
            </a:r>
            <a:br>
              <a:rPr lang="en-US" dirty="0"/>
            </a:br>
            <a:r>
              <a:rPr lang="en-US" dirty="0"/>
              <a:t>The sender sends a </a:t>
            </a:r>
            <a:r>
              <a:rPr lang="en-US" b="1" dirty="0"/>
              <a:t>SYN</a:t>
            </a:r>
            <a:r>
              <a:rPr lang="en-US" dirty="0"/>
              <a:t>, the receiver responds with </a:t>
            </a:r>
            <a:r>
              <a:rPr lang="en-US" b="1" dirty="0"/>
              <a:t>SYN ACK</a:t>
            </a:r>
            <a:r>
              <a:rPr lang="en-US" dirty="0"/>
              <a:t>, and the sender returns an </a:t>
            </a:r>
            <a:r>
              <a:rPr lang="en-US" b="1" dirty="0"/>
              <a:t>ACK</a:t>
            </a:r>
            <a:r>
              <a:rPr lang="en-US" dirty="0"/>
              <a:t>. </a:t>
            </a:r>
            <a:br>
              <a:rPr lang="en-US" dirty="0"/>
            </a:br>
            <a:r>
              <a:rPr lang="en-US" dirty="0"/>
              <a:t>Only after this sequence do the data arrows begin.</a:t>
            </a:r>
          </a:p>
          <a:p>
            <a:pPr marL="0" lvl="0" indent="0" algn="l" rtl="0">
              <a:spcBef>
                <a:spcPts val="0"/>
              </a:spcBef>
              <a:spcAft>
                <a:spcPts val="0"/>
              </a:spcAft>
              <a:buFont typeface="Arial" panose="020B0604020202020204" pitchFamily="34" charset="0"/>
              <a:buNone/>
            </a:pPr>
            <a:endParaRPr lang="en-US" dirty="0"/>
          </a:p>
          <a:p>
            <a:pPr marL="0" lvl="0" indent="0" algn="l" rtl="0">
              <a:spcBef>
                <a:spcPts val="0"/>
              </a:spcBef>
              <a:spcAft>
                <a:spcPts val="0"/>
              </a:spcAft>
              <a:buFont typeface="Arial" panose="020B0604020202020204" pitchFamily="34" charset="0"/>
              <a:buNone/>
            </a:pPr>
            <a:r>
              <a:rPr lang="en-US" b="1" dirty="0"/>
              <a:t>Figure 2: Protocol Characteristics and Use Cases</a:t>
            </a:r>
          </a:p>
          <a:p>
            <a:pPr marL="0" lvl="0" indent="0" algn="l" rtl="0">
              <a:spcBef>
                <a:spcPts val="0"/>
              </a:spcBef>
              <a:spcAft>
                <a:spcPts val="0"/>
              </a:spcAft>
              <a:buFont typeface="Arial" panose="020B0604020202020204" pitchFamily="34" charset="0"/>
              <a:buNone/>
            </a:pPr>
            <a:r>
              <a:rPr lang="en-US" dirty="0"/>
              <a:t>An infographic comparing the reliability, speed, and typical applications of TCP versus UDP.</a:t>
            </a:r>
          </a:p>
          <a:p>
            <a:pPr marL="0" lvl="0" indent="0" algn="l" rtl="0">
              <a:spcBef>
                <a:spcPts val="0"/>
              </a:spcBef>
              <a:spcAft>
                <a:spcPts val="0"/>
              </a:spcAft>
              <a:buFont typeface="Arial" panose="020B0604020202020204" pitchFamily="34" charset="0"/>
              <a:buNone/>
            </a:pPr>
            <a:endParaRPr lang="en-US" dirty="0"/>
          </a:p>
          <a:p>
            <a:pPr marL="0" lvl="0" indent="0" algn="l" rtl="0">
              <a:spcBef>
                <a:spcPts val="0"/>
              </a:spcBef>
              <a:spcAft>
                <a:spcPts val="0"/>
              </a:spcAft>
              <a:buFont typeface="Arial" panose="020B0604020202020204" pitchFamily="34" charset="0"/>
              <a:buNone/>
            </a:pPr>
            <a:r>
              <a:rPr lang="en-US" b="1" dirty="0"/>
              <a:t>Long Description:</a:t>
            </a:r>
            <a:r>
              <a:rPr lang="en-US" dirty="0"/>
              <a:t> </a:t>
            </a:r>
          </a:p>
          <a:p>
            <a:pPr marL="171450" lvl="0" indent="-171450" algn="l" rtl="0">
              <a:spcBef>
                <a:spcPts val="0"/>
              </a:spcBef>
              <a:spcAft>
                <a:spcPts val="0"/>
              </a:spcAft>
              <a:buFont typeface="Arial" panose="020B0604020202020204" pitchFamily="34" charset="0"/>
              <a:buChar char="•"/>
            </a:pPr>
            <a:r>
              <a:rPr lang="en-US" b="1" dirty="0"/>
              <a:t>TCP:</a:t>
            </a:r>
            <a:r>
              <a:rPr lang="en-US" dirty="0"/>
              <a:t> </a:t>
            </a:r>
            <a:br>
              <a:rPr lang="en-US" dirty="0"/>
            </a:br>
            <a:r>
              <a:rPr lang="en-US" dirty="0"/>
              <a:t>Described as "Slower but more reliable transfers." </a:t>
            </a:r>
            <a:br>
              <a:rPr lang="en-US" dirty="0"/>
            </a:br>
            <a:r>
              <a:rPr lang="en-US" dirty="0"/>
              <a:t>Applications listed: </a:t>
            </a:r>
            <a:r>
              <a:rPr lang="en-US" b="1" dirty="0"/>
              <a:t>FTP, Web Browsing, Email</a:t>
            </a:r>
            <a:r>
              <a:rPr lang="en-US" dirty="0"/>
              <a:t>. </a:t>
            </a:r>
            <a:br>
              <a:rPr lang="en-US" dirty="0"/>
            </a:br>
            <a:r>
              <a:rPr lang="en-US" dirty="0"/>
              <a:t>It is visually associated with </a:t>
            </a:r>
            <a:r>
              <a:rPr lang="en-US" b="1" dirty="0"/>
              <a:t>unicast</a:t>
            </a:r>
            <a:r>
              <a:rPr lang="en-US" dirty="0"/>
              <a:t> (one-to-one)</a:t>
            </a:r>
            <a:r>
              <a:rPr lang="en-US" b="0" dirty="0"/>
              <a:t>.</a:t>
            </a:r>
          </a:p>
          <a:p>
            <a:pPr marL="171450" lvl="0" indent="-171450" algn="l" rtl="0">
              <a:spcBef>
                <a:spcPts val="0"/>
              </a:spcBef>
              <a:spcAft>
                <a:spcPts val="0"/>
              </a:spcAft>
              <a:buFont typeface="Arial" panose="020B0604020202020204" pitchFamily="34" charset="0"/>
              <a:buChar char="•"/>
            </a:pPr>
            <a:r>
              <a:rPr lang="en-US" b="1" dirty="0"/>
              <a:t>UDP:</a:t>
            </a:r>
            <a:r>
              <a:rPr lang="en-US" dirty="0"/>
              <a:t> </a:t>
            </a:r>
            <a:br>
              <a:rPr lang="en-US" dirty="0"/>
            </a:br>
            <a:r>
              <a:rPr lang="en-US" dirty="0"/>
              <a:t>Described as "Faster but not guaranteed transfers ('best effort')." </a:t>
            </a:r>
            <a:br>
              <a:rPr lang="en-US" dirty="0"/>
            </a:br>
            <a:r>
              <a:rPr lang="en-US" dirty="0"/>
              <a:t>Applications listed: </a:t>
            </a:r>
            <a:r>
              <a:rPr lang="en-US" b="1" dirty="0"/>
              <a:t>Live Streaming, Online Games, VoIP</a:t>
            </a:r>
            <a:r>
              <a:rPr lang="en-US" dirty="0"/>
              <a:t>. </a:t>
            </a:r>
            <a:br>
              <a:rPr lang="en-US" dirty="0"/>
            </a:br>
            <a:r>
              <a:rPr lang="en-US" dirty="0"/>
              <a:t>It is visually associated with </a:t>
            </a:r>
            <a:r>
              <a:rPr lang="en-US" b="1" dirty="0"/>
              <a:t>unicast, multicast</a:t>
            </a:r>
            <a:r>
              <a:rPr lang="en-US" dirty="0"/>
              <a:t>, and </a:t>
            </a:r>
            <a:r>
              <a:rPr lang="en-US" b="1" dirty="0"/>
              <a:t>broadcast</a:t>
            </a:r>
            <a:r>
              <a:rPr lang="en-US" dirty="0"/>
              <a:t> communication modes. communication.</a:t>
            </a:r>
          </a:p>
          <a:p>
            <a:pPr marL="0" lvl="0" indent="0" algn="l" rtl="0">
              <a:spcBef>
                <a:spcPts val="0"/>
              </a:spcBef>
              <a:spcAft>
                <a:spcPts val="0"/>
              </a:spcAft>
              <a:buFont typeface="Arial" panose="020B0604020202020204" pitchFamily="34" charset="0"/>
              <a:buNone/>
            </a:pPr>
            <a:endParaRPr dirty="0"/>
          </a:p>
        </p:txBody>
      </p:sp>
      <p:sp>
        <p:nvSpPr>
          <p:cNvPr id="155" name="Google Shape;155;g2c898648f3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c898648f3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UDP (User Datagram Protocol)</a:t>
            </a:r>
            <a:r>
              <a:rPr lang="en-US" dirty="0"/>
              <a:t>:</a:t>
            </a:r>
          </a:p>
          <a:p>
            <a:pPr marL="171450" lvl="0" indent="-171450" algn="l" rtl="0">
              <a:spcBef>
                <a:spcPts val="0"/>
              </a:spcBef>
              <a:spcAft>
                <a:spcPts val="0"/>
              </a:spcAft>
            </a:pPr>
            <a:r>
              <a:rPr lang="en-US" dirty="0"/>
              <a:t>UDP is </a:t>
            </a:r>
            <a:r>
              <a:rPr lang="en-US" b="1" dirty="0"/>
              <a:t>message-oriented</a:t>
            </a:r>
            <a:r>
              <a:rPr lang="en-US" dirty="0"/>
              <a:t>. </a:t>
            </a:r>
            <a:br>
              <a:rPr lang="en-US" dirty="0"/>
            </a:br>
            <a:r>
              <a:rPr lang="en-US" sz="1100" b="0" i="0" u="none" strike="noStrike" cap="none" dirty="0">
                <a:solidFill>
                  <a:srgbClr val="000000"/>
                </a:solidFill>
                <a:effectLst/>
                <a:latin typeface="Arial"/>
                <a:ea typeface="Arial"/>
                <a:cs typeface="Arial"/>
                <a:sym typeface="Arial"/>
              </a:rPr>
              <a:t>Sends "</a:t>
            </a:r>
            <a:r>
              <a:rPr lang="en-US" sz="1100" b="1" i="0" u="none" strike="noStrike" cap="none" dirty="0">
                <a:solidFill>
                  <a:srgbClr val="000000"/>
                </a:solidFill>
                <a:effectLst/>
                <a:latin typeface="Arial"/>
                <a:ea typeface="Arial"/>
                <a:cs typeface="Arial"/>
                <a:sym typeface="Arial"/>
              </a:rPr>
              <a:t>datagrams</a:t>
            </a:r>
            <a:r>
              <a:rPr lang="en-US" sz="1100" b="0" i="0" u="none" strike="noStrike" cap="none" dirty="0">
                <a:solidFill>
                  <a:srgbClr val="000000"/>
                </a:solidFill>
                <a:effectLst/>
                <a:latin typeface="Arial"/>
                <a:ea typeface="Arial"/>
                <a:cs typeface="Arial"/>
                <a:sym typeface="Arial"/>
              </a:rPr>
              <a:t>" as discrete, independent packets of data that may be lost or arrive out of order.</a:t>
            </a:r>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Connectionless: No handshake occurs; the sender must attach the destination IP and port to every packet.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The Standard Workflow (</a:t>
            </a:r>
            <a:r>
              <a:rPr lang="en-US" b="1" dirty="0" err="1"/>
              <a:t>Sendto</a:t>
            </a:r>
            <a:r>
              <a:rPr lang="en-US" b="1" dirty="0"/>
              <a:t>/</a:t>
            </a:r>
            <a:r>
              <a:rPr lang="en-US" b="1" dirty="0" err="1"/>
              <a:t>Recvfrom</a:t>
            </a:r>
            <a:r>
              <a:rPr lang="en-US" b="1" dirty="0"/>
              <a:t>)</a:t>
            </a:r>
            <a:endParaRPr lang="en-US" sz="1100" b="1"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the most common UDP implementation, the kernel acts as a simple pass-through.</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b="1" dirty="0"/>
              <a:t>Socket Creation:</a:t>
            </a:r>
            <a:r>
              <a:rPr lang="en-US" dirty="0"/>
              <a:t> </a:t>
            </a:r>
            <a:br>
              <a:rPr lang="en-US" dirty="0"/>
            </a:br>
            <a:r>
              <a:rPr lang="en-US" dirty="0"/>
              <a:t>You create a socket using </a:t>
            </a:r>
            <a:r>
              <a:rPr lang="en-US" sz="1100" b="0" i="0" u="none" strike="noStrike" cap="none" dirty="0">
                <a:solidFill>
                  <a:srgbClr val="000000"/>
                </a:solidFill>
                <a:latin typeface="Arial"/>
                <a:ea typeface="Arial"/>
                <a:cs typeface="Arial"/>
                <a:sym typeface="Arial"/>
              </a:rPr>
              <a:t>SOCK_DGRAM</a:t>
            </a:r>
            <a:r>
              <a:rPr lang="en-US" dirty="0"/>
              <a:t>.</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b="1" dirty="0"/>
              <a:t>Binding (Receiver):</a:t>
            </a:r>
            <a:r>
              <a:rPr lang="en-US" dirty="0"/>
              <a:t> </a:t>
            </a:r>
            <a:br>
              <a:rPr lang="en-US" dirty="0"/>
            </a:br>
            <a:r>
              <a:rPr lang="en-US" dirty="0"/>
              <a:t>The receiver calls </a:t>
            </a:r>
            <a:r>
              <a:rPr lang="en-US" sz="1100" b="0" i="0" u="none" strike="noStrike" cap="none" dirty="0">
                <a:solidFill>
                  <a:srgbClr val="000000"/>
                </a:solidFill>
                <a:latin typeface="Arial"/>
                <a:ea typeface="Arial"/>
                <a:cs typeface="Arial"/>
                <a:sym typeface="Arial"/>
              </a:rPr>
              <a:t>bind()</a:t>
            </a:r>
            <a:r>
              <a:rPr lang="en-US" dirty="0"/>
              <a:t> to tell the OS, "Any UDP packets arriving on Port X should be given to me.“</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b="1" dirty="0"/>
              <a:t>Data Transfer:</a:t>
            </a:r>
            <a:r>
              <a:rPr lang="en-US" dirty="0"/>
              <a:t> </a:t>
            </a:r>
            <a:br>
              <a:rPr lang="en-US" dirty="0"/>
            </a:br>
            <a:r>
              <a:rPr lang="en-US" dirty="0"/>
              <a:t>The sender uses </a:t>
            </a:r>
            <a:r>
              <a:rPr lang="en-US" sz="1100" b="0" i="0" u="none" strike="noStrike" cap="none" dirty="0" err="1">
                <a:solidFill>
                  <a:srgbClr val="000000"/>
                </a:solidFill>
                <a:latin typeface="Arial"/>
                <a:ea typeface="Arial"/>
                <a:cs typeface="Arial"/>
                <a:sym typeface="Arial"/>
              </a:rPr>
              <a:t>sendto</a:t>
            </a:r>
            <a:r>
              <a:rPr lang="en-US" sz="1100" b="0" i="0" u="none" strike="noStrike" cap="none" dirty="0">
                <a:solidFill>
                  <a:srgbClr val="000000"/>
                </a:solidFill>
                <a:latin typeface="Arial"/>
                <a:ea typeface="Arial"/>
                <a:cs typeface="Arial"/>
                <a:sym typeface="Arial"/>
              </a:rPr>
              <a:t>()</a:t>
            </a:r>
            <a:r>
              <a:rPr lang="en-US" dirty="0"/>
              <a:t>, specifying the destination IP and Port every single time.</a:t>
            </a:r>
            <a:br>
              <a:rPr lang="en-US" dirty="0"/>
            </a:br>
            <a:r>
              <a:rPr lang="en-US" dirty="0"/>
              <a:t>The receiver uses </a:t>
            </a:r>
            <a:r>
              <a:rPr lang="en-US" sz="1100" b="0" i="0" u="none" strike="noStrike" cap="none" dirty="0" err="1">
                <a:solidFill>
                  <a:srgbClr val="000000"/>
                </a:solidFill>
                <a:latin typeface="Arial"/>
                <a:ea typeface="Arial"/>
                <a:cs typeface="Arial"/>
                <a:sym typeface="Arial"/>
              </a:rPr>
              <a:t>recvfrom</a:t>
            </a:r>
            <a:r>
              <a:rPr lang="en-US" sz="1100" b="0" i="0" u="none" strike="noStrike" cap="none" dirty="0">
                <a:solidFill>
                  <a:srgbClr val="000000"/>
                </a:solidFill>
                <a:latin typeface="Arial"/>
                <a:ea typeface="Arial"/>
                <a:cs typeface="Arial"/>
                <a:sym typeface="Arial"/>
              </a:rPr>
              <a:t>()</a:t>
            </a:r>
            <a:r>
              <a:rPr lang="en-US" dirty="0"/>
              <a:t>, which provides the sender's address along with the data so the receiver knows where it came from.</a:t>
            </a: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US" b="1" dirty="0"/>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b="1" dirty="0"/>
              <a:t>User Mode vs. Kernel Mode for UDP</a:t>
            </a: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Because there is no handshake, the overhead is much lower than TCP:</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b="1" dirty="0"/>
              <a:t>User Mode:</a:t>
            </a:r>
            <a:r>
              <a:rPr lang="en-US" dirty="0"/>
              <a:t> </a:t>
            </a:r>
            <a:br>
              <a:rPr lang="en-US" dirty="0"/>
            </a:br>
            <a:r>
              <a:rPr lang="en-US" dirty="0"/>
              <a:t>The application simply drops a "datagram" (a block of data) into the socket.</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b="1" dirty="0"/>
              <a:t>Kernel Mode:</a:t>
            </a:r>
            <a:r>
              <a:rPr lang="en-US" dirty="0"/>
              <a:t> </a:t>
            </a:r>
            <a:br>
              <a:rPr lang="en-US" dirty="0"/>
            </a:br>
            <a:r>
              <a:rPr lang="en-US" dirty="0"/>
              <a:t>The kernel wraps the data in a UDP header (which is only 8 bytes) and an IP header, </a:t>
            </a:r>
            <a:br>
              <a:rPr lang="en-US" dirty="0"/>
            </a:br>
            <a:r>
              <a:rPr lang="en-US" dirty="0"/>
              <a:t>then pushes it directly to the NIC driver. </a:t>
            </a:r>
            <a:br>
              <a:rPr lang="en-US" dirty="0"/>
            </a:br>
            <a:r>
              <a:rPr lang="en-US" dirty="0"/>
              <a:t>There is no buffering for retransmission or flow control logic.</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UDP “Connection”</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Handshake</a:t>
            </a:r>
            <a:r>
              <a:rPr lang="en-US" sz="1100" b="0" i="0" u="none" strike="noStrike" cap="none" dirty="0">
                <a:solidFill>
                  <a:srgbClr val="000000"/>
                </a:solidFill>
                <a:effectLst/>
                <a:latin typeface="Arial"/>
                <a:ea typeface="Arial"/>
                <a:cs typeface="Arial"/>
                <a:sym typeface="Arial"/>
              </a:rPr>
              <a:t>: None</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Kernel State: </a:t>
            </a:r>
            <a:r>
              <a:rPr lang="en-US" sz="1100" b="0" i="0" u="none" strike="noStrike" cap="none" dirty="0">
                <a:solidFill>
                  <a:srgbClr val="000000"/>
                </a:solidFill>
                <a:effectLst/>
                <a:latin typeface="Arial"/>
                <a:ea typeface="Arial"/>
                <a:cs typeface="Arial"/>
                <a:sym typeface="Arial"/>
              </a:rPr>
              <a:t>None (unless filtered by connect())</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Termination: </a:t>
            </a:r>
            <a:r>
              <a:rPr lang="en-US" sz="1100" b="0" i="0" u="none" strike="noStrike" cap="none" dirty="0">
                <a:solidFill>
                  <a:srgbClr val="000000"/>
                </a:solidFill>
                <a:effectLst/>
                <a:latin typeface="Arial"/>
                <a:ea typeface="Arial"/>
                <a:cs typeface="Arial"/>
                <a:sym typeface="Arial"/>
              </a:rPr>
              <a:t>Just stop sending data</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Reliability: </a:t>
            </a:r>
            <a:r>
              <a:rPr lang="en-US" sz="1100" b="0" i="0" u="none" strike="noStrike" cap="none" dirty="0">
                <a:solidFill>
                  <a:srgbClr val="000000"/>
                </a:solidFill>
                <a:effectLst/>
                <a:latin typeface="Arial"/>
                <a:ea typeface="Arial"/>
                <a:cs typeface="Arial"/>
                <a:sym typeface="Arial"/>
              </a:rPr>
              <a:t>Best effort (packets can be lost or reordered)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UDP Socket Lifecycle</a:t>
            </a:r>
          </a:p>
          <a:p>
            <a:pPr marL="0" lvl="0" indent="0" algn="l" rtl="0">
              <a:spcBef>
                <a:spcPts val="0"/>
              </a:spcBef>
              <a:spcAft>
                <a:spcPts val="0"/>
              </a:spcAft>
              <a:buNone/>
            </a:pPr>
            <a:r>
              <a:rPr lang="en-US" dirty="0"/>
              <a:t>A flow chart showing the sequence of system calls for a connectionless UDP communication between a Server and a Client.</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This diagram illustrates the interaction between a Server and a Client using the User Datagram Protocol.</a:t>
            </a:r>
          </a:p>
          <a:p>
            <a:pPr marL="171450" lvl="0" indent="-171450" algn="l" rtl="0">
              <a:spcBef>
                <a:spcPts val="0"/>
              </a:spcBef>
              <a:spcAft>
                <a:spcPts val="0"/>
              </a:spcAft>
            </a:pPr>
            <a:r>
              <a:rPr lang="en-US" b="1" dirty="0"/>
              <a:t>Server Side:</a:t>
            </a:r>
            <a:r>
              <a:rPr lang="en-US" dirty="0"/>
              <a:t> </a:t>
            </a:r>
            <a:br>
              <a:rPr lang="en-US" dirty="0"/>
            </a:br>
            <a:r>
              <a:rPr lang="en-US" dirty="0"/>
              <a:t>It initializes with </a:t>
            </a:r>
            <a:r>
              <a:rPr lang="en-US" sz="1100" b="0" i="0" u="none" strike="noStrike" cap="none" dirty="0">
                <a:solidFill>
                  <a:srgbClr val="000000"/>
                </a:solidFill>
                <a:latin typeface="Arial"/>
                <a:ea typeface="Arial"/>
                <a:cs typeface="Arial"/>
                <a:sym typeface="Arial"/>
              </a:rPr>
              <a:t>socket()</a:t>
            </a:r>
            <a:r>
              <a:rPr lang="en-US" dirty="0"/>
              <a:t>, then </a:t>
            </a:r>
            <a:r>
              <a:rPr lang="en-US" sz="1100" b="0" i="0" u="none" strike="noStrike" cap="none" dirty="0">
                <a:solidFill>
                  <a:srgbClr val="000000"/>
                </a:solidFill>
                <a:latin typeface="Arial"/>
                <a:ea typeface="Arial"/>
                <a:cs typeface="Arial"/>
                <a:sym typeface="Arial"/>
              </a:rPr>
              <a:t>bind()</a:t>
            </a:r>
            <a:r>
              <a:rPr lang="en-US" dirty="0"/>
              <a:t> to a port. </a:t>
            </a:r>
            <a:br>
              <a:rPr lang="en-US" dirty="0"/>
            </a:br>
            <a:r>
              <a:rPr lang="en-US" dirty="0"/>
              <a:t>It enters a </a:t>
            </a:r>
            <a:r>
              <a:rPr lang="en-US" sz="1100" b="0" i="0" u="none" strike="noStrike" cap="none" dirty="0" err="1">
                <a:solidFill>
                  <a:srgbClr val="000000"/>
                </a:solidFill>
                <a:latin typeface="Arial"/>
                <a:ea typeface="Arial"/>
                <a:cs typeface="Arial"/>
                <a:sym typeface="Arial"/>
              </a:rPr>
              <a:t>recvfrom</a:t>
            </a:r>
            <a:r>
              <a:rPr lang="en-US" sz="1100" b="0" i="0" u="none" strike="noStrike" cap="none" dirty="0">
                <a:solidFill>
                  <a:srgbClr val="000000"/>
                </a:solidFill>
                <a:latin typeface="Arial"/>
                <a:ea typeface="Arial"/>
                <a:cs typeface="Arial"/>
                <a:sym typeface="Arial"/>
              </a:rPr>
              <a:t>()</a:t>
            </a:r>
            <a:r>
              <a:rPr lang="en-US" dirty="0"/>
              <a:t> state, which is labeled "Blocked until data received.“</a:t>
            </a:r>
          </a:p>
          <a:p>
            <a:pPr marL="171450" lvl="0" indent="-171450" algn="l" rtl="0">
              <a:spcBef>
                <a:spcPts val="0"/>
              </a:spcBef>
              <a:spcAft>
                <a:spcPts val="0"/>
              </a:spcAft>
            </a:pPr>
            <a:r>
              <a:rPr lang="en-US" b="1" dirty="0"/>
              <a:t>Client Side:</a:t>
            </a:r>
            <a:r>
              <a:rPr lang="en-US" dirty="0"/>
              <a:t> </a:t>
            </a:r>
            <a:br>
              <a:rPr lang="en-US" dirty="0"/>
            </a:br>
            <a:r>
              <a:rPr lang="en-US" dirty="0"/>
              <a:t>It starts with </a:t>
            </a:r>
            <a:r>
              <a:rPr lang="en-US" sz="1100" b="0" i="0" u="none" strike="noStrike" cap="none" dirty="0">
                <a:solidFill>
                  <a:srgbClr val="000000"/>
                </a:solidFill>
                <a:latin typeface="Arial"/>
                <a:ea typeface="Arial"/>
                <a:cs typeface="Arial"/>
                <a:sym typeface="Arial"/>
              </a:rPr>
              <a:t>socket()</a:t>
            </a:r>
            <a:r>
              <a:rPr lang="en-US" dirty="0"/>
              <a:t>. </a:t>
            </a:r>
            <a:br>
              <a:rPr lang="en-US" dirty="0"/>
            </a:br>
            <a:r>
              <a:rPr lang="en-US" dirty="0"/>
              <a:t>The </a:t>
            </a:r>
            <a:r>
              <a:rPr lang="en-US" sz="1100" b="0" i="0" u="none" strike="noStrike" cap="none" dirty="0">
                <a:solidFill>
                  <a:srgbClr val="000000"/>
                </a:solidFill>
                <a:latin typeface="Arial"/>
                <a:ea typeface="Arial"/>
                <a:cs typeface="Arial"/>
                <a:sym typeface="Arial"/>
              </a:rPr>
              <a:t>bind()</a:t>
            </a:r>
            <a:r>
              <a:rPr lang="en-US" dirty="0"/>
              <a:t> call is labeled as "Optional." </a:t>
            </a:r>
            <a:br>
              <a:rPr lang="en-US" dirty="0"/>
            </a:br>
            <a:r>
              <a:rPr lang="en-US" dirty="0"/>
              <a:t>It then executes </a:t>
            </a:r>
            <a:r>
              <a:rPr lang="en-US" sz="1100" b="0" i="0" u="none" strike="noStrike" cap="none" dirty="0" err="1">
                <a:solidFill>
                  <a:srgbClr val="000000"/>
                </a:solidFill>
                <a:latin typeface="Arial"/>
                <a:ea typeface="Arial"/>
                <a:cs typeface="Arial"/>
                <a:sym typeface="Arial"/>
              </a:rPr>
              <a:t>sendto</a:t>
            </a:r>
            <a:r>
              <a:rPr lang="en-US" sz="1100" b="0" i="0" u="none" strike="noStrike" cap="none" dirty="0">
                <a:solidFill>
                  <a:srgbClr val="000000"/>
                </a:solidFill>
                <a:latin typeface="Arial"/>
                <a:ea typeface="Arial"/>
                <a:cs typeface="Arial"/>
                <a:sym typeface="Arial"/>
              </a:rPr>
              <a:t>()</a:t>
            </a:r>
            <a:r>
              <a:rPr lang="en-US" dirty="0"/>
              <a:t> to request data.</a:t>
            </a:r>
          </a:p>
          <a:p>
            <a:pPr marL="171450" lvl="0" indent="-171450" algn="l" rtl="0">
              <a:spcBef>
                <a:spcPts val="0"/>
              </a:spcBef>
              <a:spcAft>
                <a:spcPts val="0"/>
              </a:spcAft>
            </a:pPr>
            <a:r>
              <a:rPr lang="en-US" b="1" dirty="0"/>
              <a:t>Exchange:</a:t>
            </a:r>
            <a:r>
              <a:rPr lang="en-US" dirty="0"/>
              <a:t> </a:t>
            </a:r>
            <a:br>
              <a:rPr lang="en-US" dirty="0"/>
            </a:br>
            <a:r>
              <a:rPr lang="en-US" dirty="0"/>
              <a:t>Once the server receives the request, it processes it and calls </a:t>
            </a:r>
            <a:r>
              <a:rPr lang="en-US" sz="1100" b="0" i="0" u="none" strike="noStrike" cap="none" dirty="0" err="1">
                <a:solidFill>
                  <a:srgbClr val="000000"/>
                </a:solidFill>
                <a:latin typeface="Arial"/>
                <a:ea typeface="Arial"/>
                <a:cs typeface="Arial"/>
                <a:sym typeface="Arial"/>
              </a:rPr>
              <a:t>sendto</a:t>
            </a:r>
            <a:r>
              <a:rPr lang="en-US" sz="1100" b="0" i="0" u="none" strike="noStrike" cap="none" dirty="0">
                <a:solidFill>
                  <a:srgbClr val="000000"/>
                </a:solidFill>
                <a:latin typeface="Arial"/>
                <a:ea typeface="Arial"/>
                <a:cs typeface="Arial"/>
                <a:sym typeface="Arial"/>
              </a:rPr>
              <a:t>()</a:t>
            </a:r>
            <a:r>
              <a:rPr lang="en-US" dirty="0"/>
              <a:t> to send a response back to the client. </a:t>
            </a:r>
            <a:br>
              <a:rPr lang="en-US" dirty="0"/>
            </a:br>
            <a:r>
              <a:rPr lang="en-US" dirty="0"/>
              <a:t>The client, meanwhile, has moved to a </a:t>
            </a:r>
            <a:r>
              <a:rPr lang="en-US" sz="1100" b="0" i="0" u="none" strike="noStrike" cap="none" dirty="0" err="1">
                <a:solidFill>
                  <a:srgbClr val="000000"/>
                </a:solidFill>
                <a:latin typeface="Arial"/>
                <a:ea typeface="Arial"/>
                <a:cs typeface="Arial"/>
                <a:sym typeface="Arial"/>
              </a:rPr>
              <a:t>recvfrom</a:t>
            </a:r>
            <a:r>
              <a:rPr lang="en-US" sz="1100" b="0" i="0" u="none" strike="noStrike" cap="none" dirty="0">
                <a:solidFill>
                  <a:srgbClr val="000000"/>
                </a:solidFill>
                <a:latin typeface="Arial"/>
                <a:ea typeface="Arial"/>
                <a:cs typeface="Arial"/>
                <a:sym typeface="Arial"/>
              </a:rPr>
              <a:t>()</a:t>
            </a:r>
            <a:r>
              <a:rPr lang="en-US" dirty="0"/>
              <a:t> state (also blocked until data is received).</a:t>
            </a:r>
          </a:p>
          <a:p>
            <a:pPr marL="171450" lvl="0" indent="-171450" algn="l" rtl="0">
              <a:spcBef>
                <a:spcPts val="0"/>
              </a:spcBef>
              <a:spcAft>
                <a:spcPts val="0"/>
              </a:spcAft>
            </a:pPr>
            <a:r>
              <a:rPr lang="en-US" b="1" dirty="0"/>
              <a:t>Termination:</a:t>
            </a:r>
            <a:r>
              <a:rPr lang="en-US" dirty="0"/>
              <a:t> </a:t>
            </a:r>
            <a:br>
              <a:rPr lang="en-US" dirty="0"/>
            </a:br>
            <a:r>
              <a:rPr lang="en-US" dirty="0"/>
              <a:t>Both processes finish by calling </a:t>
            </a:r>
            <a:r>
              <a:rPr lang="en-US" sz="1100" b="0" i="0" u="none" strike="noStrike" cap="none" dirty="0">
                <a:solidFill>
                  <a:srgbClr val="000000"/>
                </a:solidFill>
                <a:latin typeface="Arial"/>
                <a:ea typeface="Arial"/>
                <a:cs typeface="Arial"/>
                <a:sym typeface="Arial"/>
              </a:rPr>
              <a:t>close()</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i="1" u="sng" dirty="0"/>
              <a:t>For reference:</a:t>
            </a:r>
          </a:p>
          <a:p>
            <a:pPr marL="0" lvl="0" indent="0" algn="l" rtl="0">
              <a:spcBef>
                <a:spcPts val="0"/>
              </a:spcBef>
              <a:spcAft>
                <a:spcPts val="0"/>
              </a:spcAft>
              <a:buNone/>
            </a:pPr>
            <a:r>
              <a:rPr lang="en-US" b="1" dirty="0"/>
              <a:t>The "Protocol" Buffer vs. The "Network“</a:t>
            </a:r>
          </a:p>
          <a:p>
            <a:pPr marL="0" lvl="0" indent="0" algn="l" rtl="0">
              <a:spcBef>
                <a:spcPts val="0"/>
              </a:spcBef>
              <a:spcAft>
                <a:spcPts val="0"/>
              </a:spcAft>
              <a:buNone/>
            </a:pPr>
            <a:r>
              <a:rPr lang="en-US" dirty="0"/>
              <a:t>When you call </a:t>
            </a:r>
            <a:r>
              <a:rPr lang="en-US" sz="1100" b="0" i="0" u="none" strike="noStrike" cap="none" dirty="0" err="1">
                <a:solidFill>
                  <a:srgbClr val="000000"/>
                </a:solidFill>
                <a:latin typeface="Arial"/>
                <a:ea typeface="Arial"/>
                <a:cs typeface="Arial"/>
                <a:sym typeface="Arial"/>
              </a:rPr>
              <a:t>sendto</a:t>
            </a:r>
            <a:r>
              <a:rPr lang="en-US" sz="1100" b="0" i="0" u="none" strike="noStrike" cap="none" dirty="0">
                <a:solidFill>
                  <a:srgbClr val="000000"/>
                </a:solidFill>
                <a:latin typeface="Arial"/>
                <a:ea typeface="Arial"/>
                <a:cs typeface="Arial"/>
                <a:sym typeface="Arial"/>
              </a:rPr>
              <a:t>()</a:t>
            </a:r>
            <a:r>
              <a:rPr lang="en-US" dirty="0"/>
              <a:t>, the operating system takes the data from your application-level buffer and copies it into the </a:t>
            </a:r>
            <a:r>
              <a:rPr lang="en-US" b="1" dirty="0"/>
              <a:t>kernel's outgoing network buffer</a:t>
            </a:r>
            <a:r>
              <a:rPr lang="en-US" dirty="0"/>
              <a:t>.</a:t>
            </a:r>
          </a:p>
          <a:p>
            <a:pPr marL="171450" lvl="0" indent="-171450" algn="l" rtl="0">
              <a:spcBef>
                <a:spcPts val="0"/>
              </a:spcBef>
              <a:spcAft>
                <a:spcPts val="0"/>
              </a:spcAft>
            </a:pPr>
            <a:r>
              <a:rPr lang="en-US" b="1" dirty="0"/>
              <a:t>Completion:</a:t>
            </a:r>
            <a:r>
              <a:rPr lang="en-US" dirty="0"/>
              <a:t> </a:t>
            </a:r>
            <a:br>
              <a:rPr lang="en-US" dirty="0"/>
            </a:br>
            <a:r>
              <a:rPr lang="en-US" dirty="0"/>
              <a:t>As soon as that copy is finished, </a:t>
            </a:r>
            <a:r>
              <a:rPr lang="en-US" sz="1100" b="0" i="0" u="none" strike="noStrike" cap="none" dirty="0" err="1">
                <a:solidFill>
                  <a:srgbClr val="000000"/>
                </a:solidFill>
                <a:latin typeface="Arial"/>
                <a:ea typeface="Arial"/>
                <a:cs typeface="Arial"/>
                <a:sym typeface="Arial"/>
              </a:rPr>
              <a:t>sendto</a:t>
            </a:r>
            <a:r>
              <a:rPr lang="en-US" sz="1100" b="0" i="0" u="none" strike="noStrike" cap="none" dirty="0">
                <a:solidFill>
                  <a:srgbClr val="000000"/>
                </a:solidFill>
                <a:latin typeface="Arial"/>
                <a:ea typeface="Arial"/>
                <a:cs typeface="Arial"/>
                <a:sym typeface="Arial"/>
              </a:rPr>
              <a:t>()</a:t>
            </a:r>
            <a:r>
              <a:rPr lang="en-US" dirty="0"/>
              <a:t> returns.</a:t>
            </a:r>
          </a:p>
          <a:p>
            <a:pPr marL="171450" lvl="0" indent="-171450" algn="l" rtl="0">
              <a:spcBef>
                <a:spcPts val="0"/>
              </a:spcBef>
              <a:spcAft>
                <a:spcPts val="0"/>
              </a:spcAft>
            </a:pPr>
            <a:r>
              <a:rPr lang="en-US" b="1" dirty="0"/>
              <a:t>The UDP Reality:</a:t>
            </a:r>
            <a:r>
              <a:rPr lang="en-US" dirty="0"/>
              <a:t> </a:t>
            </a:r>
            <a:br>
              <a:rPr lang="en-US" dirty="0"/>
            </a:br>
            <a:r>
              <a:rPr lang="en-US" dirty="0"/>
              <a:t>It does </a:t>
            </a:r>
            <a:r>
              <a:rPr lang="en-US" b="1" dirty="0"/>
              <a:t>not</a:t>
            </a:r>
            <a:r>
              <a:rPr lang="en-US" dirty="0"/>
              <a:t> wait for the data to actually reach the destination, </a:t>
            </a:r>
            <a:br>
              <a:rPr lang="en-US" dirty="0"/>
            </a:br>
            <a:r>
              <a:rPr lang="en-US" dirty="0"/>
              <a:t>nor does it wait for an acknowledgment (since UDP doesn't use them). </a:t>
            </a:r>
            <a:br>
              <a:rPr lang="en-US" dirty="0"/>
            </a:br>
            <a:r>
              <a:rPr lang="en-US" dirty="0"/>
              <a:t>Because memory-to-memory copying is incredibly fast, </a:t>
            </a:r>
            <a:br>
              <a:rPr lang="en-US" dirty="0"/>
            </a:br>
            <a:r>
              <a:rPr lang="en-US" sz="1100" b="0" i="0" u="none" strike="noStrike" cap="none" dirty="0" err="1">
                <a:solidFill>
                  <a:srgbClr val="000000"/>
                </a:solidFill>
                <a:latin typeface="Arial"/>
                <a:ea typeface="Arial"/>
                <a:cs typeface="Arial"/>
                <a:sym typeface="Arial"/>
              </a:rPr>
              <a:t>sendto</a:t>
            </a:r>
            <a:r>
              <a:rPr lang="en-US" sz="1100" b="0" i="0" u="none" strike="noStrike" cap="none" dirty="0">
                <a:solidFill>
                  <a:srgbClr val="000000"/>
                </a:solidFill>
                <a:latin typeface="Arial"/>
                <a:ea typeface="Arial"/>
                <a:cs typeface="Arial"/>
                <a:sym typeface="Arial"/>
              </a:rPr>
              <a:t>()</a:t>
            </a:r>
            <a:r>
              <a:rPr lang="en-US" dirty="0"/>
              <a:t> usually returns almost instantaneously.</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When does it actually block?</a:t>
            </a:r>
          </a:p>
          <a:p>
            <a:pPr marL="0" lvl="0" indent="0" algn="l" rtl="0">
              <a:spcBef>
                <a:spcPts val="0"/>
              </a:spcBef>
              <a:spcAft>
                <a:spcPts val="0"/>
              </a:spcAft>
              <a:buNone/>
            </a:pPr>
            <a:r>
              <a:rPr lang="en-US" sz="1100" b="0" i="0" u="none" strike="noStrike" cap="none" dirty="0" err="1">
                <a:solidFill>
                  <a:srgbClr val="000000"/>
                </a:solidFill>
                <a:latin typeface="Arial"/>
                <a:ea typeface="Arial"/>
                <a:cs typeface="Arial"/>
                <a:sym typeface="Arial"/>
              </a:rPr>
              <a:t>sendto</a:t>
            </a:r>
            <a:r>
              <a:rPr lang="en-US" sz="1100" b="0" i="0" u="none" strike="noStrike" cap="none" dirty="0">
                <a:solidFill>
                  <a:srgbClr val="000000"/>
                </a:solidFill>
                <a:latin typeface="Arial"/>
                <a:ea typeface="Arial"/>
                <a:cs typeface="Arial"/>
                <a:sym typeface="Arial"/>
              </a:rPr>
              <a:t>()</a:t>
            </a:r>
            <a:r>
              <a:rPr lang="en-US" dirty="0"/>
              <a:t> will only block if the </a:t>
            </a:r>
            <a:r>
              <a:rPr lang="en-US" b="1" dirty="0"/>
              <a:t>kernel's send buffer is completely full</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happens if:</a:t>
            </a:r>
          </a:p>
          <a:p>
            <a:pPr marL="171450" lvl="0" indent="-171450" algn="l" rtl="0">
              <a:spcBef>
                <a:spcPts val="0"/>
              </a:spcBef>
              <a:spcAft>
                <a:spcPts val="0"/>
              </a:spcAft>
            </a:pPr>
            <a:r>
              <a:rPr lang="en-US" dirty="0"/>
              <a:t>You are generating data significantly faster than your local network interface card (NIC) can push bits onto the wire.</a:t>
            </a:r>
          </a:p>
          <a:p>
            <a:pPr marL="171450" lvl="0" indent="-171450" algn="l" rtl="0">
              <a:spcBef>
                <a:spcPts val="0"/>
              </a:spcBef>
              <a:spcAft>
                <a:spcPts val="0"/>
              </a:spcAft>
            </a:pPr>
            <a:r>
              <a:rPr lang="en-US" dirty="0"/>
              <a:t>The local outgoing queue is congested.</a:t>
            </a:r>
          </a:p>
          <a:p>
            <a:pPr marL="171450" lvl="0" indent="-171450" algn="l" rtl="0">
              <a:spcBef>
                <a:spcPts val="0"/>
              </a:spcBef>
              <a:spcAft>
                <a:spcPts val="0"/>
              </a:spcAft>
            </a:pPr>
            <a:r>
              <a:rPr lang="en-US" dirty="0"/>
              <a:t>If the buffer is full, the thread will sleep until there is enough room to copy your new packet into the kernel.</a:t>
            </a:r>
          </a:p>
          <a:p>
            <a:pPr marL="0" lvl="0" indent="0" algn="l" rtl="0">
              <a:spcBef>
                <a:spcPts val="0"/>
              </a:spcBef>
              <a:spcAft>
                <a:spcPts val="0"/>
              </a:spcAft>
              <a:buNone/>
            </a:pPr>
            <a:endParaRPr dirty="0"/>
          </a:p>
        </p:txBody>
      </p:sp>
      <p:sp>
        <p:nvSpPr>
          <p:cNvPr id="165" name="Google Shape;165;g2c898648f3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c898648f3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TCP</a:t>
            </a:r>
            <a:r>
              <a:rPr lang="en-US" dirty="0"/>
              <a:t> is </a:t>
            </a:r>
            <a:r>
              <a:rPr lang="en-US" b="1" dirty="0"/>
              <a:t>byte-stream oriented</a:t>
            </a:r>
            <a:r>
              <a:rPr lang="en-US" dirty="0"/>
              <a:t>. This means it treats data as a </a:t>
            </a:r>
            <a:r>
              <a:rPr lang="en-US" b="1" dirty="0"/>
              <a:t>continuous</a:t>
            </a:r>
            <a:r>
              <a:rPr lang="en-US" dirty="0"/>
              <a:t>, </a:t>
            </a:r>
          </a:p>
          <a:p>
            <a:pPr marL="0" lvl="0" indent="0" algn="l" rtl="0">
              <a:spcBef>
                <a:spcPts val="0"/>
              </a:spcBef>
              <a:spcAft>
                <a:spcPts val="0"/>
              </a:spcAft>
              <a:buNone/>
            </a:pPr>
            <a:r>
              <a:rPr lang="en-US" dirty="0"/>
              <a:t>flowing sequence of bytes with no inherent beginning or end markers provided by the protocol itself.</a:t>
            </a:r>
            <a:endParaRPr lang="en-US" sz="1100" b="1"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(i.e., uses “streams” instead of “datagrams”)</a:t>
            </a:r>
          </a:p>
          <a:p>
            <a:pPr marL="0" lvl="0" indent="0" algn="l" rtl="0">
              <a:spcBef>
                <a:spcPts val="0"/>
              </a:spcBef>
              <a:spcAft>
                <a:spcPts val="0"/>
              </a:spcAft>
              <a:buNone/>
            </a:pPr>
            <a:endParaRPr lang="en-US" sz="1100" b="1"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TCP Connection</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Handshake: </a:t>
            </a:r>
            <a:r>
              <a:rPr lang="en-US" sz="1100" b="0" i="0" u="none" strike="noStrike" cap="none" dirty="0">
                <a:solidFill>
                  <a:srgbClr val="000000"/>
                </a:solidFill>
                <a:effectLst/>
                <a:latin typeface="Arial"/>
                <a:ea typeface="Arial"/>
                <a:cs typeface="Arial"/>
                <a:sym typeface="Arial"/>
              </a:rPr>
              <a:t>3-way (SYN, SYN-ACK, ACK)</a:t>
            </a:r>
            <a:endParaRPr lang="en-US" sz="1100" b="1"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Kernel State: </a:t>
            </a:r>
            <a:r>
              <a:rPr lang="en-US" sz="1100" b="0" i="0" u="none" strike="noStrike" cap="none" dirty="0">
                <a:solidFill>
                  <a:srgbClr val="000000"/>
                </a:solidFill>
                <a:effectLst/>
                <a:latin typeface="Arial"/>
                <a:ea typeface="Arial"/>
                <a:cs typeface="Arial"/>
                <a:sym typeface="Arial"/>
              </a:rPr>
              <a:t>Maintains sequence numbers/windows</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Termination: </a:t>
            </a:r>
            <a:r>
              <a:rPr lang="en-US" sz="1100" b="0" i="0" u="none" strike="noStrike" cap="none" dirty="0">
                <a:solidFill>
                  <a:srgbClr val="000000"/>
                </a:solidFill>
                <a:effectLst/>
                <a:latin typeface="Arial"/>
                <a:ea typeface="Arial"/>
                <a:cs typeface="Arial"/>
                <a:sym typeface="Arial"/>
              </a:rPr>
              <a:t>4-way (FIN/ACK)</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Reliability: </a:t>
            </a:r>
            <a:r>
              <a:rPr lang="en-US" sz="1100" b="0" i="0" u="none" strike="noStrike" cap="none" dirty="0">
                <a:solidFill>
                  <a:srgbClr val="000000"/>
                </a:solidFill>
                <a:effectLst/>
                <a:latin typeface="Arial"/>
                <a:ea typeface="Arial"/>
                <a:cs typeface="Arial"/>
                <a:sym typeface="Arial"/>
              </a:rPr>
              <a:t>Guaranteed delivery/ordering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TCP Socket Lifecycle</a:t>
            </a:r>
          </a:p>
          <a:p>
            <a:pPr marL="0" lvl="0" indent="0" algn="l" rtl="0">
              <a:spcBef>
                <a:spcPts val="0"/>
              </a:spcBef>
              <a:spcAft>
                <a:spcPts val="0"/>
              </a:spcAft>
              <a:buNone/>
            </a:pPr>
            <a:r>
              <a:rPr lang="en-US" dirty="0"/>
              <a:t>A flow chart showing the synchronous system calls for a connection-oriented TCP communication between a Server and a Client.</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This diagram shows the complex handshake and data flow of TCP.</a:t>
            </a:r>
          </a:p>
          <a:p>
            <a:pPr marL="171450" lvl="0" indent="-171450" algn="l" rtl="0">
              <a:spcBef>
                <a:spcPts val="0"/>
              </a:spcBef>
              <a:spcAft>
                <a:spcPts val="0"/>
              </a:spcAft>
            </a:pPr>
            <a:r>
              <a:rPr lang="en-US" b="1" dirty="0"/>
              <a:t>Server Setup:</a:t>
            </a:r>
            <a:r>
              <a:rPr lang="en-US" dirty="0"/>
              <a:t> </a:t>
            </a:r>
            <a:br>
              <a:rPr lang="en-US" dirty="0"/>
            </a:br>
            <a:r>
              <a:rPr lang="en-US" sz="1100" b="0" i="0" u="none" strike="noStrike" cap="none" dirty="0">
                <a:solidFill>
                  <a:srgbClr val="000000"/>
                </a:solidFill>
                <a:latin typeface="Arial"/>
                <a:ea typeface="Arial"/>
                <a:cs typeface="Arial"/>
                <a:sym typeface="Arial"/>
              </a:rPr>
              <a:t>socket()</a:t>
            </a:r>
            <a:r>
              <a:rPr lang="en-US" dirty="0"/>
              <a:t> → </a:t>
            </a:r>
            <a:r>
              <a:rPr lang="en-US" sz="1100" b="0" i="0" u="none" strike="noStrike" cap="none" dirty="0">
                <a:solidFill>
                  <a:srgbClr val="000000"/>
                </a:solidFill>
                <a:latin typeface="Arial"/>
                <a:ea typeface="Arial"/>
                <a:cs typeface="Arial"/>
                <a:sym typeface="Arial"/>
              </a:rPr>
              <a:t>Bind()</a:t>
            </a:r>
            <a:r>
              <a:rPr lang="en-US" dirty="0"/>
              <a:t> → </a:t>
            </a:r>
            <a:r>
              <a:rPr lang="en-US" sz="1100" b="0" i="0" u="none" strike="noStrike" cap="none" dirty="0">
                <a:solidFill>
                  <a:srgbClr val="000000"/>
                </a:solidFill>
                <a:latin typeface="Arial"/>
                <a:ea typeface="Arial"/>
                <a:cs typeface="Arial"/>
                <a:sym typeface="Arial"/>
              </a:rPr>
              <a:t>Listen()</a:t>
            </a:r>
            <a:r>
              <a:rPr lang="en-US" dirty="0"/>
              <a:t> → </a:t>
            </a:r>
            <a:r>
              <a:rPr lang="en-US" sz="1100" b="0" i="0" u="none" strike="noStrike" cap="none" dirty="0">
                <a:solidFill>
                  <a:srgbClr val="000000"/>
                </a:solidFill>
                <a:latin typeface="Arial"/>
                <a:ea typeface="Arial"/>
                <a:cs typeface="Arial"/>
                <a:sym typeface="Arial"/>
              </a:rPr>
              <a:t>Accept()</a:t>
            </a:r>
            <a:r>
              <a:rPr lang="en-US" dirty="0"/>
              <a:t>. </a:t>
            </a:r>
            <a:br>
              <a:rPr lang="en-US" dirty="0"/>
            </a:br>
            <a:r>
              <a:rPr lang="en-US" dirty="0"/>
              <a:t>At </a:t>
            </a:r>
            <a:r>
              <a:rPr lang="en-US" sz="1100" b="0" i="0" u="none" strike="noStrike" cap="none" dirty="0">
                <a:solidFill>
                  <a:srgbClr val="000000"/>
                </a:solidFill>
                <a:latin typeface="Arial"/>
                <a:ea typeface="Arial"/>
                <a:cs typeface="Arial"/>
                <a:sym typeface="Arial"/>
              </a:rPr>
              <a:t>Accept()</a:t>
            </a:r>
            <a:r>
              <a:rPr lang="en-US" dirty="0"/>
              <a:t>, a note states the "Server is waiting for a client connection. </a:t>
            </a:r>
            <a:br>
              <a:rPr lang="en-US" dirty="0"/>
            </a:br>
            <a:r>
              <a:rPr lang="en-US" dirty="0"/>
              <a:t>Other processes are blocked.“</a:t>
            </a:r>
          </a:p>
          <a:p>
            <a:pPr marL="171450" lvl="0" indent="-171450" algn="l" rtl="0">
              <a:spcBef>
                <a:spcPts val="0"/>
              </a:spcBef>
              <a:spcAft>
                <a:spcPts val="0"/>
              </a:spcAft>
            </a:pPr>
            <a:r>
              <a:rPr lang="en-US" b="1" dirty="0"/>
              <a:t>Client Connection:</a:t>
            </a:r>
            <a:r>
              <a:rPr lang="en-US" dirty="0"/>
              <a:t> </a:t>
            </a:r>
            <a:br>
              <a:rPr lang="en-US" dirty="0"/>
            </a:br>
            <a:r>
              <a:rPr lang="en-US" dirty="0"/>
              <a:t>The client calls </a:t>
            </a:r>
            <a:r>
              <a:rPr lang="en-US" sz="1100" b="0" i="0" u="none" strike="noStrike" cap="none" dirty="0">
                <a:solidFill>
                  <a:srgbClr val="000000"/>
                </a:solidFill>
                <a:latin typeface="Arial"/>
                <a:ea typeface="Arial"/>
                <a:cs typeface="Arial"/>
                <a:sym typeface="Arial"/>
              </a:rPr>
              <a:t>socket()</a:t>
            </a:r>
            <a:r>
              <a:rPr lang="en-US" dirty="0"/>
              <a:t>, then </a:t>
            </a:r>
            <a:r>
              <a:rPr lang="en-US" sz="1100" b="0" i="0" u="none" strike="noStrike" cap="none" dirty="0">
                <a:solidFill>
                  <a:srgbClr val="000000"/>
                </a:solidFill>
                <a:latin typeface="Arial"/>
                <a:ea typeface="Arial"/>
                <a:cs typeface="Arial"/>
                <a:sym typeface="Arial"/>
              </a:rPr>
              <a:t>Connect()</a:t>
            </a:r>
            <a:r>
              <a:rPr lang="en-US" dirty="0"/>
              <a:t>, which triggers the server's acceptance.</a:t>
            </a:r>
          </a:p>
          <a:p>
            <a:pPr marL="171450" lvl="0" indent="-171450" algn="l" rtl="0">
              <a:spcBef>
                <a:spcPts val="0"/>
              </a:spcBef>
              <a:spcAft>
                <a:spcPts val="0"/>
              </a:spcAft>
            </a:pPr>
            <a:r>
              <a:rPr lang="en-US" b="1" dirty="0"/>
              <a:t>Data Loop:</a:t>
            </a:r>
            <a:r>
              <a:rPr lang="en-US" dirty="0"/>
              <a:t> </a:t>
            </a:r>
            <a:br>
              <a:rPr lang="en-US" dirty="0"/>
            </a:br>
            <a:r>
              <a:rPr lang="en-US" dirty="0"/>
              <a:t>The client initiates a </a:t>
            </a:r>
            <a:r>
              <a:rPr lang="en-US" sz="1100" b="0" i="0" u="none" strike="noStrike" cap="none" dirty="0">
                <a:solidFill>
                  <a:srgbClr val="000000"/>
                </a:solidFill>
                <a:latin typeface="Arial"/>
                <a:ea typeface="Arial"/>
                <a:cs typeface="Arial"/>
                <a:sym typeface="Arial"/>
              </a:rPr>
              <a:t>Write()</a:t>
            </a:r>
            <a:r>
              <a:rPr lang="en-US" dirty="0"/>
              <a:t> (request), which the server receives via </a:t>
            </a:r>
            <a:r>
              <a:rPr lang="en-US" sz="1100" b="0" i="0" u="none" strike="noStrike" cap="none" dirty="0">
                <a:solidFill>
                  <a:srgbClr val="000000"/>
                </a:solidFill>
                <a:latin typeface="Arial"/>
                <a:ea typeface="Arial"/>
                <a:cs typeface="Arial"/>
                <a:sym typeface="Arial"/>
              </a:rPr>
              <a:t>Read()</a:t>
            </a:r>
            <a:r>
              <a:rPr lang="en-US" dirty="0"/>
              <a:t>. </a:t>
            </a:r>
            <a:br>
              <a:rPr lang="en-US" dirty="0"/>
            </a:br>
            <a:r>
              <a:rPr lang="en-US" dirty="0"/>
              <a:t>The server then </a:t>
            </a:r>
            <a:r>
              <a:rPr lang="en-US" sz="1100" b="0" i="0" u="none" strike="noStrike" cap="none" dirty="0">
                <a:solidFill>
                  <a:srgbClr val="000000"/>
                </a:solidFill>
                <a:latin typeface="Arial"/>
                <a:ea typeface="Arial"/>
                <a:cs typeface="Arial"/>
                <a:sym typeface="Arial"/>
              </a:rPr>
              <a:t>Write()</a:t>
            </a:r>
            <a:r>
              <a:rPr lang="en-US" dirty="0"/>
              <a:t>s a response, which the client </a:t>
            </a:r>
            <a:r>
              <a:rPr lang="en-US" sz="1100" b="0" i="0" u="none" strike="noStrike" cap="none" dirty="0">
                <a:solidFill>
                  <a:srgbClr val="000000"/>
                </a:solidFill>
                <a:latin typeface="Arial"/>
                <a:ea typeface="Arial"/>
                <a:cs typeface="Arial"/>
                <a:sym typeface="Arial"/>
              </a:rPr>
              <a:t>Read()</a:t>
            </a:r>
            <a:r>
              <a:rPr lang="en-US" dirty="0"/>
              <a:t>s.</a:t>
            </a:r>
          </a:p>
          <a:p>
            <a:pPr marL="171450" lvl="0" indent="-171450" algn="l" rtl="0">
              <a:spcBef>
                <a:spcPts val="0"/>
              </a:spcBef>
              <a:spcAft>
                <a:spcPts val="0"/>
              </a:spcAft>
            </a:pPr>
            <a:r>
              <a:rPr lang="en-US" b="1" dirty="0"/>
              <a:t>Termination:</a:t>
            </a:r>
            <a:r>
              <a:rPr lang="en-US" dirty="0"/>
              <a:t> </a:t>
            </a:r>
            <a:br>
              <a:rPr lang="en-US" dirty="0"/>
            </a:br>
            <a:r>
              <a:rPr lang="en-US" dirty="0"/>
              <a:t>Both sides conclude with </a:t>
            </a:r>
            <a:r>
              <a:rPr lang="en-US" sz="1100" b="0" i="0" u="none" strike="noStrike" cap="none" dirty="0">
                <a:solidFill>
                  <a:srgbClr val="000000"/>
                </a:solidFill>
                <a:latin typeface="Arial"/>
                <a:ea typeface="Arial"/>
                <a:cs typeface="Arial"/>
                <a:sym typeface="Arial"/>
              </a:rPr>
              <a:t>Close()</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i="1" u="sng" dirty="0"/>
              <a:t>For reference: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chemeClr val="dk2"/>
                </a:solidFill>
              </a:rPr>
              <a:t>The steps involved in establishing a TCP socket on the server side are as follows:</a:t>
            </a:r>
            <a:endParaRPr lang="en-US" i="1" u="sng" dirty="0"/>
          </a:p>
          <a:p>
            <a:pPr marL="171450" lvl="0" indent="-171450" algn="l" rtl="0">
              <a:spcBef>
                <a:spcPts val="0"/>
              </a:spcBef>
              <a:spcAft>
                <a:spcPts val="0"/>
              </a:spcAft>
            </a:pPr>
            <a:r>
              <a:rPr lang="en-US" sz="1100" dirty="0">
                <a:solidFill>
                  <a:schemeClr val="dk2"/>
                </a:solidFill>
              </a:rPr>
              <a:t>Create a socket with the </a:t>
            </a:r>
            <a:r>
              <a:rPr lang="en-US" sz="1100" b="1" dirty="0">
                <a:solidFill>
                  <a:schemeClr val="dk2"/>
                </a:solidFill>
              </a:rPr>
              <a:t>socket() </a:t>
            </a:r>
            <a:r>
              <a:rPr lang="en-US" sz="1100" dirty="0">
                <a:solidFill>
                  <a:schemeClr val="dk2"/>
                </a:solidFill>
              </a:rPr>
              <a:t>function;</a:t>
            </a:r>
          </a:p>
          <a:p>
            <a:pPr marL="171450" lvl="0" indent="-171450" algn="l" rtl="0">
              <a:spcBef>
                <a:spcPts val="0"/>
              </a:spcBef>
              <a:spcAft>
                <a:spcPts val="0"/>
              </a:spcAft>
            </a:pPr>
            <a:r>
              <a:rPr lang="en-US" sz="1100" dirty="0">
                <a:solidFill>
                  <a:schemeClr val="dk2"/>
                </a:solidFill>
              </a:rPr>
              <a:t>Bind the socket to an address using the </a:t>
            </a:r>
            <a:r>
              <a:rPr lang="en-US" sz="1100" b="1" dirty="0">
                <a:solidFill>
                  <a:schemeClr val="dk2"/>
                </a:solidFill>
              </a:rPr>
              <a:t>bind() </a:t>
            </a:r>
            <a:r>
              <a:rPr lang="en-US" sz="1100" dirty="0">
                <a:solidFill>
                  <a:schemeClr val="dk2"/>
                </a:solidFill>
              </a:rPr>
              <a:t>function;</a:t>
            </a:r>
          </a:p>
          <a:p>
            <a:pPr marL="171450" lvl="0" indent="-171450" algn="l" rtl="0">
              <a:spcBef>
                <a:spcPts val="0"/>
              </a:spcBef>
              <a:spcAft>
                <a:spcPts val="0"/>
              </a:spcAft>
            </a:pPr>
            <a:r>
              <a:rPr lang="en-US" sz="1100" dirty="0">
                <a:solidFill>
                  <a:schemeClr val="dk2"/>
                </a:solidFill>
              </a:rPr>
              <a:t>Listen for connections with the </a:t>
            </a:r>
            <a:r>
              <a:rPr lang="en-US" sz="1100" b="1" dirty="0">
                <a:solidFill>
                  <a:schemeClr val="dk2"/>
                </a:solidFill>
              </a:rPr>
              <a:t>listen()</a:t>
            </a:r>
            <a:r>
              <a:rPr lang="en-US" sz="1100" dirty="0">
                <a:solidFill>
                  <a:schemeClr val="dk2"/>
                </a:solidFill>
              </a:rPr>
              <a:t> function;</a:t>
            </a:r>
          </a:p>
          <a:p>
            <a:pPr marL="171450" lvl="0" indent="-171450" algn="l" rtl="0">
              <a:spcBef>
                <a:spcPts val="0"/>
              </a:spcBef>
              <a:spcAft>
                <a:spcPts val="0"/>
              </a:spcAft>
            </a:pPr>
            <a:r>
              <a:rPr lang="en-US" sz="1100" dirty="0">
                <a:solidFill>
                  <a:schemeClr val="dk2"/>
                </a:solidFill>
              </a:rPr>
              <a:t>Accept a connection with the </a:t>
            </a:r>
            <a:r>
              <a:rPr lang="en-US" sz="1100" b="1" dirty="0">
                <a:solidFill>
                  <a:schemeClr val="dk2"/>
                </a:solidFill>
              </a:rPr>
              <a:t>accept() </a:t>
            </a:r>
            <a:r>
              <a:rPr lang="en-US" sz="1100" dirty="0">
                <a:solidFill>
                  <a:schemeClr val="dk2"/>
                </a:solidFill>
              </a:rPr>
              <a:t>function system call. </a:t>
            </a:r>
            <a:br>
              <a:rPr lang="en-US" sz="1100" dirty="0">
                <a:solidFill>
                  <a:schemeClr val="dk2"/>
                </a:solidFill>
              </a:rPr>
            </a:br>
            <a:r>
              <a:rPr lang="en-US" sz="1100" dirty="0">
                <a:solidFill>
                  <a:schemeClr val="dk2"/>
                </a:solidFill>
              </a:rPr>
              <a:t>This call typically blocks until a client connects with the server.</a:t>
            </a:r>
          </a:p>
          <a:p>
            <a:pPr marL="171450" lvl="0" indent="-171450" algn="l" rtl="0">
              <a:spcBef>
                <a:spcPts val="0"/>
              </a:spcBef>
              <a:spcAft>
                <a:spcPts val="0"/>
              </a:spcAft>
            </a:pPr>
            <a:r>
              <a:rPr lang="en-US" sz="1100" dirty="0">
                <a:solidFill>
                  <a:schemeClr val="dk2"/>
                </a:solidFill>
              </a:rPr>
              <a:t>Send and receive data by means of </a:t>
            </a:r>
            <a:r>
              <a:rPr lang="en-US" sz="1100" b="1" dirty="0">
                <a:solidFill>
                  <a:schemeClr val="dk2"/>
                </a:solidFill>
              </a:rPr>
              <a:t>send() </a:t>
            </a:r>
            <a:r>
              <a:rPr lang="en-US" sz="1100" dirty="0">
                <a:solidFill>
                  <a:schemeClr val="dk2"/>
                </a:solidFill>
              </a:rPr>
              <a:t>and </a:t>
            </a:r>
            <a:r>
              <a:rPr lang="en-US" sz="1100" b="1" dirty="0">
                <a:solidFill>
                  <a:schemeClr val="dk2"/>
                </a:solidFill>
              </a:rPr>
              <a:t>receive()</a:t>
            </a:r>
            <a:r>
              <a:rPr lang="en-US" sz="1100" dirty="0">
                <a:solidFill>
                  <a:schemeClr val="dk2"/>
                </a:solidFill>
              </a:rPr>
              <a:t>.</a:t>
            </a:r>
          </a:p>
          <a:p>
            <a:pPr marL="0" lvl="0" indent="0" algn="l" rtl="0">
              <a:spcBef>
                <a:spcPts val="0"/>
              </a:spcBef>
              <a:spcAft>
                <a:spcPts val="0"/>
              </a:spcAft>
              <a:buNone/>
            </a:pPr>
            <a:endParaRPr lang="en-US" dirty="0"/>
          </a:p>
        </p:txBody>
      </p:sp>
      <p:sp>
        <p:nvSpPr>
          <p:cNvPr id="172" name="Google Shape;172;g2c898648f37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c898648f3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TCP (Transmission Control Protocol)</a:t>
            </a:r>
            <a:r>
              <a:rPr lang="en-US" dirty="0"/>
              <a:t>:</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Reliable, connection-oriented "byte-stream" transfer (like a pipe).</a:t>
            </a: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Uses acknowledgments;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if a client does not receive one, it retransmits the data,</a:t>
            </a:r>
            <a:br>
              <a:rPr lang="en-US" sz="1100" b="0" i="0" u="none" strike="noStrike" cap="none" dirty="0">
                <a:solidFill>
                  <a:srgbClr val="000000"/>
                </a:solidFill>
                <a:effectLst/>
                <a:latin typeface="Arial"/>
                <a:ea typeface="Arial"/>
                <a:cs typeface="Arial"/>
                <a:sym typeface="Arial"/>
              </a:rPr>
            </a:br>
            <a:r>
              <a:rPr lang="en-US" sz="1100" dirty="0">
                <a:solidFill>
                  <a:schemeClr val="dk1"/>
                </a:solidFill>
              </a:rPr>
              <a:t>and waits for a longer period of time </a:t>
            </a:r>
            <a:r>
              <a:rPr lang="en-US" sz="1100" b="1" dirty="0">
                <a:solidFill>
                  <a:schemeClr val="dk1"/>
                </a:solidFill>
              </a:rPr>
              <a:t>(</a:t>
            </a:r>
            <a:r>
              <a:rPr lang="en-US" b="1" dirty="0"/>
              <a:t>Exponential Backoff)</a:t>
            </a:r>
            <a:r>
              <a:rPr lang="en-US" sz="1100" dirty="0">
                <a:solidFill>
                  <a:schemeClr val="dk1"/>
                </a:solidFill>
              </a:rPr>
              <a:t>.</a:t>
            </a:r>
            <a:endParaRPr lang="en-US" sz="1100" b="0" i="0" u="none" strike="noStrike" cap="none" dirty="0">
              <a:solidFill>
                <a:srgbClr val="000000"/>
              </a:solidFill>
              <a:effectLst/>
              <a:latin typeface="Arial"/>
              <a:ea typeface="Arial"/>
              <a:cs typeface="Arial"/>
              <a:sym typeface="Arial"/>
            </a:endParaRP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Requires a "welcoming socket" on a running server for the client to contact.</a:t>
            </a:r>
          </a:p>
          <a:p>
            <a:pPr marL="0" lvl="0" indent="0" algn="l" rtl="0">
              <a:spcBef>
                <a:spcPts val="0"/>
              </a:spcBef>
              <a:spcAft>
                <a:spcPts val="0"/>
              </a:spcAft>
              <a:buNone/>
            </a:pPr>
            <a:endParaRPr dirty="0"/>
          </a:p>
        </p:txBody>
      </p:sp>
      <p:sp>
        <p:nvSpPr>
          <p:cNvPr id="179" name="Google Shape;179;g2c898648f37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898648f37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r>
              <a:rPr lang="en-US" sz="1100" b="1" i="0" u="none" strike="noStrike" cap="none" dirty="0" err="1">
                <a:solidFill>
                  <a:srgbClr val="000000"/>
                </a:solidFill>
                <a:latin typeface="Arial"/>
                <a:ea typeface="Arial"/>
                <a:cs typeface="Arial"/>
                <a:sym typeface="Arial"/>
              </a:rPr>
              <a:t>in_addr</a:t>
            </a:r>
            <a:r>
              <a:rPr lang="en-US" b="1" dirty="0"/>
              <a:t> C Structure</a:t>
            </a:r>
          </a:p>
          <a:p>
            <a:pPr marL="0" lvl="0" indent="0" algn="l" rtl="0">
              <a:spcBef>
                <a:spcPts val="0"/>
              </a:spcBef>
              <a:spcAft>
                <a:spcPts val="0"/>
              </a:spcAft>
              <a:buNone/>
            </a:pPr>
            <a:r>
              <a:rPr lang="en-US" dirty="0"/>
              <a:t>Code snippet highlighting the C structure used to store a 32-bit IPv4 address.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The image shows a dark-themed code block with a red box highlighting the </a:t>
            </a:r>
            <a:r>
              <a:rPr lang="en-US" sz="1100" b="0" i="0" u="none" strike="noStrike" cap="none" dirty="0">
                <a:solidFill>
                  <a:srgbClr val="000000"/>
                </a:solidFill>
                <a:latin typeface="Arial"/>
                <a:ea typeface="Arial"/>
                <a:cs typeface="Arial"/>
                <a:sym typeface="Arial"/>
              </a:rPr>
              <a:t>struct </a:t>
            </a:r>
            <a:r>
              <a:rPr lang="en-US" sz="1100" b="0" i="0" u="none" strike="noStrike" cap="none" dirty="0" err="1">
                <a:solidFill>
                  <a:srgbClr val="000000"/>
                </a:solidFill>
                <a:latin typeface="Arial"/>
                <a:ea typeface="Arial"/>
                <a:cs typeface="Arial"/>
                <a:sym typeface="Arial"/>
              </a:rPr>
              <a:t>in_addr</a:t>
            </a:r>
            <a:r>
              <a:rPr lang="en-US" dirty="0"/>
              <a:t>. </a:t>
            </a:r>
          </a:p>
          <a:p>
            <a:pPr marL="0" lvl="0" indent="0" algn="l" rtl="0">
              <a:spcBef>
                <a:spcPts val="0"/>
              </a:spcBef>
              <a:spcAft>
                <a:spcPts val="0"/>
              </a:spcAft>
              <a:buNone/>
            </a:pPr>
            <a:r>
              <a:rPr lang="en-US" dirty="0"/>
              <a:t>It contains a single member: </a:t>
            </a:r>
            <a:r>
              <a:rPr lang="en-US" sz="1100" b="0" i="0" u="none" strike="noStrike" cap="none" dirty="0" err="1">
                <a:solidFill>
                  <a:srgbClr val="000000"/>
                </a:solidFill>
                <a:latin typeface="Arial"/>
                <a:ea typeface="Arial"/>
                <a:cs typeface="Arial"/>
                <a:sym typeface="Arial"/>
              </a:rPr>
              <a:t>in_addr_t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s_addr</a:t>
            </a:r>
            <a:r>
              <a:rPr lang="en-US" sz="1100" b="0" i="0" u="none" strike="noStrike" cap="none" dirty="0">
                <a:solidFill>
                  <a:srgbClr val="000000"/>
                </a:solidFill>
                <a:latin typeface="Arial"/>
                <a:ea typeface="Arial"/>
                <a:cs typeface="Arial"/>
                <a:sym typeface="Arial"/>
              </a:rPr>
              <a:t>;</a:t>
            </a:r>
            <a:r>
              <a:rPr lang="en-US" dirty="0"/>
              <a:t>. </a:t>
            </a:r>
          </a:p>
          <a:p>
            <a:pPr marL="0" lvl="0" indent="0" algn="l" rtl="0">
              <a:spcBef>
                <a:spcPts val="0"/>
              </a:spcBef>
              <a:spcAft>
                <a:spcPts val="0"/>
              </a:spcAft>
              <a:buNone/>
            </a:pPr>
            <a:r>
              <a:rPr lang="en-US" dirty="0"/>
              <a:t>A comment explains this is a "32 bit IPv4 network byte ordered address." </a:t>
            </a:r>
          </a:p>
          <a:p>
            <a:pPr marL="0" lvl="0" indent="0" algn="l" rtl="0">
              <a:spcBef>
                <a:spcPts val="0"/>
              </a:spcBef>
              <a:spcAft>
                <a:spcPts val="0"/>
              </a:spcAft>
              <a:buNone/>
            </a:pPr>
            <a:r>
              <a:rPr lang="en-US" dirty="0"/>
              <a:t>Below it, the </a:t>
            </a:r>
            <a:r>
              <a:rPr lang="en-US" sz="1100" b="0" i="0" u="none" strike="noStrike" cap="none" dirty="0" err="1">
                <a:solidFill>
                  <a:srgbClr val="000000"/>
                </a:solidFill>
                <a:latin typeface="Arial"/>
                <a:ea typeface="Arial"/>
                <a:cs typeface="Arial"/>
                <a:sym typeface="Arial"/>
              </a:rPr>
              <a:t>sockaddr_in</a:t>
            </a:r>
            <a:r>
              <a:rPr lang="en-US" dirty="0"/>
              <a:t> structure is visible but not highlighted.</a:t>
            </a:r>
          </a:p>
          <a:p>
            <a:pPr marL="0" lvl="0" indent="0" algn="l" rtl="0">
              <a:spcBef>
                <a:spcPts val="0"/>
              </a:spcBef>
              <a:spcAft>
                <a:spcPts val="0"/>
              </a:spcAft>
              <a:buNone/>
            </a:pPr>
            <a:endParaRPr dirty="0"/>
          </a:p>
        </p:txBody>
      </p:sp>
      <p:sp>
        <p:nvSpPr>
          <p:cNvPr id="187" name="Google Shape;187;g2c898648f37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c898648f37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Socket Address Structure (IPv4)</a:t>
            </a:r>
            <a:r>
              <a:rPr lang="en-US" dirty="0"/>
              <a:t>: </a:t>
            </a:r>
          </a:p>
          <a:p>
            <a:pPr marL="0" lvl="0" indent="0" algn="l" rtl="0">
              <a:spcBef>
                <a:spcPts val="0"/>
              </a:spcBef>
              <a:spcAft>
                <a:spcPts val="0"/>
              </a:spcAft>
              <a:buNone/>
            </a:pPr>
            <a:r>
              <a:rPr lang="en-US" dirty="0"/>
              <a:t>Defined in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netinet</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in.h</a:t>
            </a:r>
            <a:r>
              <a:rPr lang="en-US" sz="1100" b="0" i="0" u="none" strike="noStrike" cap="none" dirty="0">
                <a:solidFill>
                  <a:srgbClr val="000000"/>
                </a:solidFill>
                <a:latin typeface="Arial"/>
                <a:ea typeface="Arial"/>
                <a:cs typeface="Arial"/>
                <a:sym typeface="Arial"/>
              </a:rPr>
              <a:t>&gt;</a:t>
            </a:r>
            <a:r>
              <a:rPr lang="en-US" dirty="0"/>
              <a:t> as </a:t>
            </a:r>
            <a:r>
              <a:rPr lang="en-US" sz="1100" b="0" i="0" u="none" strike="noStrike" cap="none" dirty="0" err="1">
                <a:solidFill>
                  <a:srgbClr val="000000"/>
                </a:solidFill>
                <a:latin typeface="Arial"/>
                <a:ea typeface="Arial"/>
                <a:cs typeface="Arial"/>
                <a:sym typeface="Arial"/>
              </a:rPr>
              <a:t>sockaddr_in</a:t>
            </a:r>
            <a:r>
              <a:rPr lang="en-US" dirty="0"/>
              <a:t>.</a:t>
            </a:r>
            <a:endParaRPr lang="en-US" sz="1100" b="0" i="0" u="none" strike="noStrike" cap="none" dirty="0">
              <a:solidFill>
                <a:srgbClr val="000000"/>
              </a:solidFill>
              <a:effectLst/>
              <a:latin typeface="Arial"/>
              <a:cs typeface="Arial"/>
              <a:sym typeface="Arial"/>
            </a:endParaRP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sin_family</a:t>
            </a:r>
            <a:r>
              <a:rPr lang="en-US" sz="1100" b="0" i="0" u="none" strike="noStrike" cap="none" dirty="0">
                <a:solidFill>
                  <a:srgbClr val="000000"/>
                </a:solidFill>
                <a:effectLst/>
                <a:latin typeface="Arial"/>
                <a:ea typeface="Arial"/>
                <a:cs typeface="Arial"/>
                <a:sym typeface="Arial"/>
              </a:rPr>
              <a:t>: Address family (AF_INET for IPv4).</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sin_port</a:t>
            </a:r>
            <a:r>
              <a:rPr lang="en-US" sz="1100" b="0" i="0" u="none" strike="noStrike" cap="none" dirty="0">
                <a:solidFill>
                  <a:srgbClr val="000000"/>
                </a:solidFill>
                <a:effectLst/>
                <a:latin typeface="Arial"/>
                <a:ea typeface="Arial"/>
                <a:cs typeface="Arial"/>
                <a:sym typeface="Arial"/>
              </a:rPr>
              <a:t>: 16-bit port number to differentiate services on a host.</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sin_addr</a:t>
            </a:r>
            <a:r>
              <a:rPr lang="en-US" sz="1100" b="0" i="0" u="none" strike="noStrike" cap="none" dirty="0">
                <a:solidFill>
                  <a:srgbClr val="000000"/>
                </a:solidFill>
                <a:effectLst/>
                <a:latin typeface="Arial"/>
                <a:ea typeface="Arial"/>
                <a:cs typeface="Arial"/>
                <a:sym typeface="Arial"/>
              </a:rPr>
              <a:t>: 32-bit IPv4 address stored in network byte order.</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sz="1100" b="1" i="0" u="none" strike="noStrike" cap="none" dirty="0" err="1">
                <a:solidFill>
                  <a:srgbClr val="000000"/>
                </a:solidFill>
                <a:latin typeface="Arial"/>
                <a:ea typeface="Arial"/>
                <a:cs typeface="Arial"/>
                <a:sym typeface="Arial"/>
              </a:rPr>
              <a:t>sockaddr_in</a:t>
            </a:r>
            <a:r>
              <a:rPr lang="en-US" b="1" dirty="0"/>
              <a:t> C Structure</a:t>
            </a:r>
          </a:p>
          <a:p>
            <a:pPr marL="0" lvl="0" indent="0" algn="l" rtl="0">
              <a:spcBef>
                <a:spcPts val="0"/>
              </a:spcBef>
              <a:spcAft>
                <a:spcPts val="0"/>
              </a:spcAft>
              <a:buNone/>
            </a:pPr>
            <a:r>
              <a:rPr lang="en-US" dirty="0"/>
              <a:t>Code snippet highlighting the </a:t>
            </a:r>
            <a:r>
              <a:rPr lang="en-US" sz="1100" b="0" i="0" u="none" strike="noStrike" cap="none" dirty="0" err="1">
                <a:solidFill>
                  <a:srgbClr val="000000"/>
                </a:solidFill>
                <a:latin typeface="Arial"/>
                <a:ea typeface="Arial"/>
                <a:cs typeface="Arial"/>
                <a:sym typeface="Arial"/>
              </a:rPr>
              <a:t>sockaddr_in</a:t>
            </a:r>
            <a:r>
              <a:rPr lang="en-US" dirty="0"/>
              <a:t> C structure used for IPv4 socket addressing.</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This image highlights the larger </a:t>
            </a:r>
            <a:r>
              <a:rPr lang="en-US" sz="1100" b="0" i="0" u="none" strike="noStrike" cap="none" dirty="0">
                <a:solidFill>
                  <a:srgbClr val="000000"/>
                </a:solidFill>
                <a:latin typeface="Arial"/>
                <a:ea typeface="Arial"/>
                <a:cs typeface="Arial"/>
                <a:sym typeface="Arial"/>
              </a:rPr>
              <a:t>struct </a:t>
            </a:r>
            <a:r>
              <a:rPr lang="en-US" sz="1100" b="0" i="0" u="none" strike="noStrike" cap="none" dirty="0" err="1">
                <a:solidFill>
                  <a:srgbClr val="000000"/>
                </a:solidFill>
                <a:latin typeface="Arial"/>
                <a:ea typeface="Arial"/>
                <a:cs typeface="Arial"/>
                <a:sym typeface="Arial"/>
              </a:rPr>
              <a:t>sockaddr_in</a:t>
            </a:r>
            <a:r>
              <a:rPr lang="en-US" dirty="0"/>
              <a:t> in a red box.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includes:</a:t>
            </a:r>
          </a:p>
          <a:p>
            <a:pPr marL="171450" lvl="0" indent="-171450" algn="l" rtl="0">
              <a:spcBef>
                <a:spcPts val="0"/>
              </a:spcBef>
              <a:spcAft>
                <a:spcPts val="0"/>
              </a:spcAft>
            </a:pPr>
            <a:r>
              <a:rPr lang="en-US" sz="1100" b="1" i="0" u="none" strike="noStrike" cap="none" dirty="0">
                <a:solidFill>
                  <a:srgbClr val="000000"/>
                </a:solidFill>
                <a:latin typeface="Arial"/>
                <a:ea typeface="Arial"/>
                <a:cs typeface="Arial"/>
                <a:sym typeface="Arial"/>
              </a:rPr>
              <a:t>uint8_t </a:t>
            </a:r>
            <a:r>
              <a:rPr lang="en-US" sz="1100" b="1" i="0" u="none" strike="noStrike" cap="none" dirty="0" err="1">
                <a:solidFill>
                  <a:srgbClr val="000000"/>
                </a:solidFill>
                <a:latin typeface="Arial"/>
                <a:ea typeface="Arial"/>
                <a:cs typeface="Arial"/>
                <a:sym typeface="Arial"/>
              </a:rPr>
              <a:t>sin_len</a:t>
            </a:r>
            <a:r>
              <a:rPr lang="en-US" sz="1100" b="1" i="0" u="none" strike="noStrike" cap="none" dirty="0">
                <a:solidFill>
                  <a:srgbClr val="000000"/>
                </a:solidFill>
                <a:latin typeface="Arial"/>
                <a:ea typeface="Arial"/>
                <a:cs typeface="Arial"/>
                <a:sym typeface="Arial"/>
              </a:rPr>
              <a:t>;</a:t>
            </a:r>
            <a:r>
              <a:rPr lang="en-US" dirty="0"/>
              <a:t> (length of structure)</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sa_family_t</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sin_family</a:t>
            </a:r>
            <a:r>
              <a:rPr lang="en-US" sz="1100" b="1" i="0" u="none" strike="noStrike" cap="none" dirty="0">
                <a:solidFill>
                  <a:srgbClr val="000000"/>
                </a:solidFill>
                <a:latin typeface="Arial"/>
                <a:ea typeface="Arial"/>
                <a:cs typeface="Arial"/>
                <a:sym typeface="Arial"/>
              </a:rPr>
              <a:t>;</a:t>
            </a:r>
            <a:r>
              <a:rPr lang="en-US" b="1" dirty="0"/>
              <a:t> </a:t>
            </a:r>
            <a:r>
              <a:rPr lang="en-US" dirty="0"/>
              <a:t>(set to </a:t>
            </a:r>
            <a:r>
              <a:rPr lang="en-US" sz="1100" b="0" i="0" u="none" strike="noStrike" cap="none" dirty="0">
                <a:solidFill>
                  <a:srgbClr val="000000"/>
                </a:solidFill>
                <a:latin typeface="Arial"/>
                <a:ea typeface="Arial"/>
                <a:cs typeface="Arial"/>
                <a:sym typeface="Arial"/>
              </a:rPr>
              <a:t>AF_INET</a:t>
            </a:r>
            <a:r>
              <a:rPr lang="en-US" dirty="0"/>
              <a:t>)</a:t>
            </a:r>
          </a:p>
          <a:p>
            <a:pPr marL="171450" lvl="0" indent="-171450" algn="l" rtl="0">
              <a:spcBef>
                <a:spcPts val="0"/>
              </a:spcBef>
              <a:spcAft>
                <a:spcPts val="0"/>
              </a:spcAft>
            </a:pPr>
            <a:r>
              <a:rPr lang="en-US" sz="1100" b="1" i="0" u="none" strike="noStrike" cap="none" dirty="0" err="1">
                <a:solidFill>
                  <a:srgbClr val="000000"/>
                </a:solidFill>
                <a:latin typeface="Arial"/>
                <a:ea typeface="Arial"/>
                <a:cs typeface="Arial"/>
                <a:sym typeface="Arial"/>
              </a:rPr>
              <a:t>in_port_t</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sin_port</a:t>
            </a:r>
            <a:r>
              <a:rPr lang="en-US" sz="1100" b="1" i="0" u="none" strike="noStrike" cap="none" dirty="0">
                <a:solidFill>
                  <a:srgbClr val="000000"/>
                </a:solidFill>
                <a:latin typeface="Arial"/>
                <a:ea typeface="Arial"/>
                <a:cs typeface="Arial"/>
                <a:sym typeface="Arial"/>
              </a:rPr>
              <a:t>;</a:t>
            </a:r>
            <a:r>
              <a:rPr lang="en-US" dirty="0"/>
              <a:t> (16-bit TCP/UDP port number)</a:t>
            </a:r>
          </a:p>
          <a:p>
            <a:pPr marL="171450" lvl="0" indent="-171450" algn="l" rtl="0">
              <a:spcBef>
                <a:spcPts val="0"/>
              </a:spcBef>
              <a:spcAft>
                <a:spcPts val="0"/>
              </a:spcAft>
            </a:pPr>
            <a:r>
              <a:rPr lang="en-US" sz="1100" b="1" i="0" u="none" strike="noStrike" cap="none" dirty="0">
                <a:solidFill>
                  <a:srgbClr val="000000"/>
                </a:solidFill>
                <a:latin typeface="Arial"/>
                <a:ea typeface="Arial"/>
                <a:cs typeface="Arial"/>
                <a:sym typeface="Arial"/>
              </a:rPr>
              <a:t>struct </a:t>
            </a:r>
            <a:r>
              <a:rPr lang="en-US" sz="1100" b="1" i="0" u="none" strike="noStrike" cap="none" dirty="0" err="1">
                <a:solidFill>
                  <a:srgbClr val="000000"/>
                </a:solidFill>
                <a:latin typeface="Arial"/>
                <a:ea typeface="Arial"/>
                <a:cs typeface="Arial"/>
                <a:sym typeface="Arial"/>
              </a:rPr>
              <a:t>in_addr</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sin_addr</a:t>
            </a:r>
            <a:r>
              <a:rPr lang="en-US" sz="1100" b="1" i="0" u="none" strike="noStrike" cap="none" dirty="0">
                <a:solidFill>
                  <a:srgbClr val="000000"/>
                </a:solidFill>
                <a:latin typeface="Arial"/>
                <a:ea typeface="Arial"/>
                <a:cs typeface="Arial"/>
                <a:sym typeface="Arial"/>
              </a:rPr>
              <a:t>;</a:t>
            </a:r>
            <a:r>
              <a:rPr lang="en-US" b="1" dirty="0"/>
              <a:t> </a:t>
            </a:r>
            <a:r>
              <a:rPr lang="en-US" dirty="0"/>
              <a:t>(The 32-bit IPv4 address structure)</a:t>
            </a:r>
          </a:p>
          <a:p>
            <a:pPr marL="171450" lvl="0" indent="-171450" algn="l" rtl="0">
              <a:spcBef>
                <a:spcPts val="0"/>
              </a:spcBef>
              <a:spcAft>
                <a:spcPts val="0"/>
              </a:spcAft>
            </a:pPr>
            <a:r>
              <a:rPr lang="en-US" sz="1100" b="1" i="0" u="none" strike="noStrike" cap="none" dirty="0">
                <a:solidFill>
                  <a:srgbClr val="000000"/>
                </a:solidFill>
                <a:latin typeface="Arial"/>
                <a:ea typeface="Arial"/>
                <a:cs typeface="Arial"/>
                <a:sym typeface="Arial"/>
              </a:rPr>
              <a:t>char </a:t>
            </a:r>
            <a:r>
              <a:rPr lang="en-US" sz="1100" b="1" i="0" u="none" strike="noStrike" cap="none" dirty="0" err="1">
                <a:solidFill>
                  <a:srgbClr val="000000"/>
                </a:solidFill>
                <a:latin typeface="Arial"/>
                <a:ea typeface="Arial"/>
                <a:cs typeface="Arial"/>
                <a:sym typeface="Arial"/>
              </a:rPr>
              <a:t>sin_zero</a:t>
            </a:r>
            <a:r>
              <a:rPr lang="en-US" sz="1100" b="1" i="0" u="none" strike="noStrike" cap="none" dirty="0">
                <a:solidFill>
                  <a:srgbClr val="000000"/>
                </a:solidFill>
                <a:latin typeface="Arial"/>
                <a:ea typeface="Arial"/>
                <a:cs typeface="Arial"/>
                <a:sym typeface="Arial"/>
              </a:rPr>
              <a:t>[8];</a:t>
            </a:r>
            <a:r>
              <a:rPr lang="en-US" b="1" dirty="0"/>
              <a:t> </a:t>
            </a:r>
            <a:r>
              <a:rPr lang="en-US" dirty="0"/>
              <a:t>(Padding used to align the structure, set to zero).</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i="1" u="sng" dirty="0"/>
              <a:t>For reference:</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AF_INET </a:t>
            </a:r>
            <a:r>
              <a:rPr lang="en-US" sz="1100" b="0" i="0" u="none" strike="noStrike" cap="none" dirty="0">
                <a:solidFill>
                  <a:srgbClr val="000000"/>
                </a:solidFill>
                <a:effectLst/>
                <a:latin typeface="Arial"/>
                <a:ea typeface="Arial"/>
                <a:cs typeface="Arial"/>
                <a:sym typeface="Arial"/>
              </a:rPr>
              <a:t>is </a:t>
            </a:r>
            <a:r>
              <a:rPr lang="en-US" dirty="0"/>
              <a:t>a constant representing the address family for </a:t>
            </a:r>
            <a:r>
              <a:rPr lang="en-US" b="1" dirty="0">
                <a:effectLst/>
              </a:rPr>
              <a:t>IPv4 Internet protocols</a:t>
            </a:r>
            <a:r>
              <a:rPr lang="en-US" dirty="0"/>
              <a:t> in network socket programming</a:t>
            </a:r>
            <a:r>
              <a:rPr lang="en-US" sz="1100" b="0" i="0" u="none" strike="noStrike" cap="none" dirty="0">
                <a:solidFill>
                  <a:srgbClr val="000000"/>
                </a:solidFill>
                <a:effectLst/>
                <a:latin typeface="Arial"/>
                <a:ea typeface="Arial"/>
                <a:cs typeface="Arial"/>
                <a:sym typeface="Arial"/>
              </a:rPr>
              <a:t>.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It is used in the socket creation process to specify that communication will occur over IP addresses and ports,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typically paired with SOCK_STREAM (TCP) or SOCK_DGRAM (UDP).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It operates on 32-bit IPv4 addresses.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sin: </a:t>
            </a:r>
            <a:r>
              <a:rPr lang="en-US" dirty="0"/>
              <a:t>socket internet</a:t>
            </a:r>
          </a:p>
          <a:p>
            <a:pPr marL="0" lvl="0" indent="0" algn="l" rtl="0">
              <a:spcBef>
                <a:spcPts val="0"/>
              </a:spcBef>
              <a:spcAft>
                <a:spcPts val="0"/>
              </a:spcAft>
              <a:buNone/>
            </a:pPr>
            <a:endParaRPr dirty="0"/>
          </a:p>
        </p:txBody>
      </p:sp>
      <p:sp>
        <p:nvSpPr>
          <p:cNvPr id="196" name="Google Shape;196;g2c898648f37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c898648f37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Generic </a:t>
            </a:r>
            <a:r>
              <a:rPr lang="en-US" sz="1100" b="1" i="0" u="none" strike="noStrike" cap="none" dirty="0" err="1">
                <a:solidFill>
                  <a:srgbClr val="000000"/>
                </a:solidFill>
                <a:latin typeface="Arial"/>
                <a:ea typeface="Arial"/>
                <a:cs typeface="Arial"/>
                <a:sym typeface="Arial"/>
              </a:rPr>
              <a:t>sockaddr</a:t>
            </a:r>
            <a:r>
              <a:rPr lang="en-US" b="1" dirty="0"/>
              <a:t> Structure</a:t>
            </a:r>
          </a:p>
          <a:p>
            <a:pPr marL="0" lvl="0" indent="0" algn="l" rtl="0">
              <a:spcBef>
                <a:spcPts val="0"/>
              </a:spcBef>
              <a:spcAft>
                <a:spcPts val="0"/>
              </a:spcAft>
              <a:buNone/>
            </a:pPr>
            <a:r>
              <a:rPr lang="en-US" dirty="0"/>
              <a:t>Code snippet for the generic </a:t>
            </a:r>
            <a:r>
              <a:rPr lang="en-US" sz="1100" b="0" i="0" u="none" strike="noStrike" cap="none" dirty="0" err="1">
                <a:solidFill>
                  <a:srgbClr val="000000"/>
                </a:solidFill>
                <a:latin typeface="Arial"/>
                <a:ea typeface="Arial"/>
                <a:cs typeface="Arial"/>
                <a:sym typeface="Arial"/>
              </a:rPr>
              <a:t>sockaddr</a:t>
            </a:r>
            <a:r>
              <a:rPr lang="en-US" dirty="0"/>
              <a:t> C structure used as a template for various address families.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A simple code block showing </a:t>
            </a:r>
            <a:r>
              <a:rPr lang="en-US" sz="1100" b="0" i="0" u="none" strike="noStrike" cap="none" dirty="0">
                <a:solidFill>
                  <a:srgbClr val="000000"/>
                </a:solidFill>
                <a:latin typeface="Arial"/>
                <a:ea typeface="Arial"/>
                <a:cs typeface="Arial"/>
                <a:sym typeface="Arial"/>
              </a:rPr>
              <a:t>struct </a:t>
            </a:r>
            <a:r>
              <a:rPr lang="en-US" sz="1100" b="0" i="0" u="none" strike="noStrike" cap="none" dirty="0" err="1">
                <a:solidFill>
                  <a:srgbClr val="000000"/>
                </a:solidFill>
                <a:latin typeface="Arial"/>
                <a:ea typeface="Arial"/>
                <a:cs typeface="Arial"/>
                <a:sym typeface="Arial"/>
              </a:rPr>
              <a:t>sockaddr</a:t>
            </a:r>
            <a:r>
              <a:rPr lang="en-US" dirty="0"/>
              <a:t>. </a:t>
            </a:r>
          </a:p>
          <a:p>
            <a:pPr marL="0" lvl="0" indent="0" algn="l" rtl="0">
              <a:spcBef>
                <a:spcPts val="0"/>
              </a:spcBef>
              <a:spcAft>
                <a:spcPts val="0"/>
              </a:spcAft>
              <a:buNone/>
            </a:pPr>
            <a:r>
              <a:rPr lang="en-US" dirty="0"/>
              <a:t>It consists of </a:t>
            </a:r>
            <a:r>
              <a:rPr lang="en-US" sz="1100" b="0" i="0" u="none" strike="noStrike" cap="none" dirty="0">
                <a:solidFill>
                  <a:srgbClr val="000000"/>
                </a:solidFill>
                <a:latin typeface="Arial"/>
                <a:ea typeface="Arial"/>
                <a:cs typeface="Arial"/>
                <a:sym typeface="Arial"/>
              </a:rPr>
              <a:t>uint8_t </a:t>
            </a:r>
            <a:r>
              <a:rPr lang="en-US" sz="1100" b="0" i="0" u="none" strike="noStrike" cap="none" dirty="0" err="1">
                <a:solidFill>
                  <a:srgbClr val="000000"/>
                </a:solidFill>
                <a:latin typeface="Arial"/>
                <a:ea typeface="Arial"/>
                <a:cs typeface="Arial"/>
                <a:sym typeface="Arial"/>
              </a:rPr>
              <a:t>sa_len</a:t>
            </a:r>
            <a:r>
              <a:rPr lang="en-US" dirty="0"/>
              <a:t>, </a:t>
            </a:r>
            <a:r>
              <a:rPr lang="en-US" sz="1100" b="0" i="0" u="none" strike="noStrike" cap="none" dirty="0" err="1">
                <a:solidFill>
                  <a:srgbClr val="000000"/>
                </a:solidFill>
                <a:latin typeface="Arial"/>
                <a:ea typeface="Arial"/>
                <a:cs typeface="Arial"/>
                <a:sym typeface="Arial"/>
              </a:rPr>
              <a:t>sa_family_t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sa_family</a:t>
            </a:r>
            <a:r>
              <a:rPr lang="en-US" dirty="0"/>
              <a:t> (labeled as "address family: </a:t>
            </a:r>
            <a:r>
              <a:rPr lang="en-US" dirty="0" err="1"/>
              <a:t>AD_xxx</a:t>
            </a:r>
            <a:r>
              <a:rPr lang="en-US" dirty="0"/>
              <a:t> value"), </a:t>
            </a:r>
          </a:p>
          <a:p>
            <a:pPr marL="0" lvl="0" indent="0" algn="l" rtl="0">
              <a:spcBef>
                <a:spcPts val="0"/>
              </a:spcBef>
              <a:spcAft>
                <a:spcPts val="0"/>
              </a:spcAft>
              <a:buNone/>
            </a:pPr>
            <a:r>
              <a:rPr lang="en-US" dirty="0"/>
              <a:t>and a character array </a:t>
            </a:r>
            <a:r>
              <a:rPr lang="en-US" sz="1100" b="0" i="0" u="none" strike="noStrike" cap="none" dirty="0">
                <a:solidFill>
                  <a:srgbClr val="000000"/>
                </a:solidFill>
                <a:latin typeface="Arial"/>
                <a:ea typeface="Arial"/>
                <a:cs typeface="Arial"/>
                <a:sym typeface="Arial"/>
              </a:rPr>
              <a:t>char </a:t>
            </a:r>
            <a:r>
              <a:rPr lang="en-US" sz="1100" b="0" i="0" u="none" strike="noStrike" cap="none" dirty="0" err="1">
                <a:solidFill>
                  <a:srgbClr val="000000"/>
                </a:solidFill>
                <a:latin typeface="Arial"/>
                <a:ea typeface="Arial"/>
                <a:cs typeface="Arial"/>
                <a:sym typeface="Arial"/>
              </a:rPr>
              <a:t>sa_data</a:t>
            </a:r>
            <a:r>
              <a:rPr lang="en-US" sz="1100" b="0" i="0" u="none" strike="noStrike" cap="none" dirty="0">
                <a:solidFill>
                  <a:srgbClr val="000000"/>
                </a:solidFill>
                <a:latin typeface="Arial"/>
                <a:ea typeface="Arial"/>
                <a:cs typeface="Arial"/>
                <a:sym typeface="Arial"/>
              </a:rPr>
              <a:t>[14]</a:t>
            </a:r>
            <a:r>
              <a:rPr lang="en-US" dirty="0"/>
              <a:t> which holds the actual address data.</a:t>
            </a:r>
          </a:p>
          <a:p>
            <a:pPr marL="0" lvl="0" indent="0" algn="l" rtl="0">
              <a:spcBef>
                <a:spcPts val="0"/>
              </a:spcBef>
              <a:spcAft>
                <a:spcPts val="0"/>
              </a:spcAft>
              <a:buNone/>
            </a:pPr>
            <a:endParaRPr dirty="0"/>
          </a:p>
        </p:txBody>
      </p:sp>
      <p:sp>
        <p:nvSpPr>
          <p:cNvPr id="205" name="Google Shape;205;g2c898648f37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c898648f37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2c898648f37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c898648f37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c898648f37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c898648f37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Bit Significance in TCP</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Most and Least Significant Bits</a:t>
            </a:r>
          </a:p>
          <a:p>
            <a:pPr marL="0" lvl="0" indent="0" algn="l" rtl="0">
              <a:spcBef>
                <a:spcPts val="0"/>
              </a:spcBef>
              <a:spcAft>
                <a:spcPts val="0"/>
              </a:spcAft>
              <a:buNone/>
            </a:pPr>
            <a:r>
              <a:rPr lang="en-US" dirty="0"/>
              <a:t>Diagram identifying the Most Significant Bit (MSB) and Least Significant Bit (LSB) in a byte.</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A horizontal array of 8 cells representing a single byte containing the binary value </a:t>
            </a:r>
            <a:r>
              <a:rPr lang="en-US" sz="1100" b="0" i="0" u="none" strike="noStrike" cap="none" dirty="0">
                <a:solidFill>
                  <a:srgbClr val="000000"/>
                </a:solidFill>
                <a:latin typeface="Arial"/>
                <a:ea typeface="Arial"/>
                <a:cs typeface="Arial"/>
                <a:sym typeface="Arial"/>
              </a:rPr>
              <a:t>10110010</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leftmost cell is highlighted in orange and contains a </a:t>
            </a:r>
            <a:r>
              <a:rPr lang="en-US" sz="1100" b="0" i="0" u="none" strike="noStrike" cap="none" dirty="0">
                <a:solidFill>
                  <a:srgbClr val="000000"/>
                </a:solidFill>
                <a:latin typeface="Arial"/>
                <a:ea typeface="Arial"/>
                <a:cs typeface="Arial"/>
                <a:sym typeface="Arial"/>
              </a:rPr>
              <a:t>1</a:t>
            </a:r>
            <a:r>
              <a:rPr lang="en-US" dirty="0"/>
              <a:t>; </a:t>
            </a:r>
          </a:p>
          <a:p>
            <a:pPr marL="0" lvl="0" indent="0" algn="l" rtl="0">
              <a:spcBef>
                <a:spcPts val="0"/>
              </a:spcBef>
              <a:spcAft>
                <a:spcPts val="0"/>
              </a:spcAft>
              <a:buNone/>
            </a:pPr>
            <a:r>
              <a:rPr lang="en-US" dirty="0"/>
              <a:t>a blue arrow points to it from a box labeled </a:t>
            </a:r>
            <a:r>
              <a:rPr lang="en-US" b="1" dirty="0"/>
              <a:t>"the Most Significant Bit (MSB)"</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rightmost cell is highlighted in green and contains a </a:t>
            </a:r>
            <a:r>
              <a:rPr lang="en-US" sz="1100" b="0" i="0" u="none" strike="noStrike" cap="none" dirty="0">
                <a:solidFill>
                  <a:srgbClr val="000000"/>
                </a:solidFill>
                <a:latin typeface="Arial"/>
                <a:ea typeface="Arial"/>
                <a:cs typeface="Arial"/>
                <a:sym typeface="Arial"/>
              </a:rPr>
              <a:t>0</a:t>
            </a:r>
            <a:r>
              <a:rPr lang="en-US" dirty="0"/>
              <a:t>; </a:t>
            </a:r>
          </a:p>
          <a:p>
            <a:pPr marL="0" lvl="0" indent="0" algn="l" rtl="0">
              <a:spcBef>
                <a:spcPts val="0"/>
              </a:spcBef>
              <a:spcAft>
                <a:spcPts val="0"/>
              </a:spcAft>
              <a:buNone/>
            </a:pPr>
            <a:r>
              <a:rPr lang="en-US" dirty="0"/>
              <a:t>a blue arrow points to it from a box labeled </a:t>
            </a:r>
            <a:r>
              <a:rPr lang="en-US" b="1" dirty="0"/>
              <a:t>"the Least Significant Bit (LSB)"</a:t>
            </a:r>
            <a:r>
              <a:rPr lang="en-US" dirty="0"/>
              <a:t>.</a:t>
            </a:r>
          </a:p>
          <a:p>
            <a:pPr marL="0" lvl="0" indent="0" algn="l" rtl="0">
              <a:spcBef>
                <a:spcPts val="0"/>
              </a:spcBef>
              <a:spcAft>
                <a:spcPts val="0"/>
              </a:spcAft>
              <a:buNone/>
            </a:pPr>
            <a:endParaRPr lang="en-US" dirty="0"/>
          </a:p>
        </p:txBody>
      </p:sp>
      <p:sp>
        <p:nvSpPr>
          <p:cNvPr id="224" name="Google Shape;224;g2c898648f37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898648f37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Computer Memory:</a:t>
            </a:r>
          </a:p>
          <a:p>
            <a:pPr marL="0" lvl="0" indent="0" algn="l" rtl="0">
              <a:spcBef>
                <a:spcPts val="0"/>
              </a:spcBef>
              <a:spcAft>
                <a:spcPts val="0"/>
              </a:spcAft>
              <a:buNone/>
            </a:pPr>
            <a:r>
              <a:rPr lang="en-US" dirty="0"/>
              <a:t>Physical memory is logically organized as a </a:t>
            </a:r>
            <a:r>
              <a:rPr lang="en-US" b="1" dirty="0"/>
              <a:t>contiguous, byte-addressable sequence</a:t>
            </a:r>
            <a:r>
              <a:rPr lang="en-US" dirty="0"/>
              <a:t>, </a:t>
            </a:r>
          </a:p>
          <a:p>
            <a:pPr marL="0" lvl="0" indent="0" algn="l" rtl="0">
              <a:spcBef>
                <a:spcPts val="0"/>
              </a:spcBef>
              <a:spcAft>
                <a:spcPts val="0"/>
              </a:spcAft>
              <a:buNone/>
            </a:pPr>
            <a:r>
              <a:rPr lang="en-US" dirty="0"/>
              <a:t>where each 8-bit unit is assigned a unique numerical address.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Computer Memory Byte Array</a:t>
            </a:r>
          </a:p>
          <a:p>
            <a:pPr marL="0" lvl="0" indent="0" algn="l" rtl="0">
              <a:spcBef>
                <a:spcPts val="0"/>
              </a:spcBef>
              <a:spcAft>
                <a:spcPts val="0"/>
              </a:spcAft>
              <a:buNone/>
            </a:pPr>
            <a:r>
              <a:rPr lang="en-US" dirty="0"/>
              <a:t>Diagram representing computer memory as a consecutive array of byte-sized locations.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This image defines memory structure featuring a two-column table with "Address" and "Contents“.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Addresses are labeled A, B, C, and D in descending order, indicated by a red arrow. </a:t>
            </a:r>
          </a:p>
          <a:p>
            <a:pPr marL="0" lvl="0" indent="0" algn="l" rtl="0">
              <a:spcBef>
                <a:spcPts val="0"/>
              </a:spcBef>
              <a:spcAft>
                <a:spcPts val="0"/>
              </a:spcAft>
              <a:buNone/>
            </a:pPr>
            <a:r>
              <a:rPr lang="en-US" dirty="0"/>
              <a:t>Address A contains the value "V“.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 the right, text explains that "V is stored at address A" and that </a:t>
            </a:r>
          </a:p>
          <a:p>
            <a:pPr marL="0" lvl="0" indent="0" algn="l" rtl="0">
              <a:spcBef>
                <a:spcPts val="0"/>
              </a:spcBef>
              <a:spcAft>
                <a:spcPts val="0"/>
              </a:spcAft>
              <a:buNone/>
            </a:pPr>
            <a:r>
              <a:rPr lang="en-US" dirty="0"/>
              <a:t>"Bit string V is stored in consecutive byte-sized memory locations beginning at address A.“</a:t>
            </a:r>
          </a:p>
          <a:p>
            <a:pPr marL="0" lvl="0" indent="0" algn="l" rtl="0">
              <a:spcBef>
                <a:spcPts val="0"/>
              </a:spcBef>
              <a:spcAft>
                <a:spcPts val="0"/>
              </a:spcAft>
              <a:buNone/>
            </a:pPr>
            <a:endParaRPr lang="en-US" dirty="0"/>
          </a:p>
        </p:txBody>
      </p:sp>
      <p:sp>
        <p:nvSpPr>
          <p:cNvPr id="232" name="Google Shape;232;g2c898648f37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c898648f37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Q. </a:t>
            </a:r>
            <a:r>
              <a:rPr lang="en-US" dirty="0"/>
              <a:t>What part of the 32-bit quantity is stored at each byte address?</a:t>
            </a:r>
            <a:br>
              <a:rPr lang="en-US" dirty="0"/>
            </a:br>
            <a:r>
              <a:rPr lang="en-US" b="1" dirty="0"/>
              <a:t>A.</a:t>
            </a:r>
            <a:r>
              <a:rPr lang="en-US" dirty="0"/>
              <a:t> It depends on endianness.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32-bit Quantity Storage Challenge</a:t>
            </a:r>
          </a:p>
          <a:p>
            <a:pPr marL="0" lvl="0" indent="0" algn="l" rtl="0">
              <a:spcBef>
                <a:spcPts val="0"/>
              </a:spcBef>
              <a:spcAft>
                <a:spcPts val="0"/>
              </a:spcAft>
              <a:buNone/>
            </a:pPr>
            <a:r>
              <a:rPr lang="en-US" dirty="0"/>
              <a:t>A blank memory table asking how a 32-bit quantity is distributed across four memory addresses.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A slide with a question: </a:t>
            </a:r>
            <a:br>
              <a:rPr lang="en-US" dirty="0"/>
            </a:br>
            <a:r>
              <a:rPr lang="en-US" dirty="0"/>
              <a:t>"What part of the 32-bit quantity is stored at each address?"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shows a table with memory addresses 100, 101, 102, and 103, with the "Contents" column left blank. </a:t>
            </a:r>
          </a:p>
          <a:p>
            <a:pPr marL="0" lvl="0" indent="0" algn="l" rtl="0">
              <a:spcBef>
                <a:spcPts val="0"/>
              </a:spcBef>
              <a:spcAft>
                <a:spcPts val="0"/>
              </a:spcAft>
              <a:buNone/>
            </a:pPr>
            <a:r>
              <a:rPr lang="en-US" dirty="0"/>
              <a:t>The text states: "a 32-bit integer is stored in memory at location 100" and specifies that it is "Stored in locations: 100, 101, 102, 103.“</a:t>
            </a:r>
          </a:p>
          <a:p>
            <a:pPr marL="0" lvl="0" indent="0" algn="l" rtl="0">
              <a:spcBef>
                <a:spcPts val="0"/>
              </a:spcBef>
              <a:spcAft>
                <a:spcPts val="0"/>
              </a:spcAft>
              <a:buNone/>
            </a:pPr>
            <a:endParaRPr dirty="0"/>
          </a:p>
        </p:txBody>
      </p:sp>
      <p:sp>
        <p:nvSpPr>
          <p:cNvPr id="239" name="Google Shape;239;g2c898648f37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c898648f37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Little Endian Visualized</a:t>
            </a:r>
          </a:p>
          <a:p>
            <a:pPr marL="0" lvl="0" indent="0" algn="l" rtl="0">
              <a:spcBef>
                <a:spcPts val="0"/>
              </a:spcBef>
              <a:spcAft>
                <a:spcPts val="0"/>
              </a:spcAft>
              <a:buNone/>
            </a:pPr>
            <a:r>
              <a:rPr lang="en-US" dirty="0"/>
              <a:t>Memory table showing Little Endian storage of the hex value 12 34 56 78.</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Titled "Little Endian," this image explains "the little end" storage where the least significant byte is stored at the lowest address. </a:t>
            </a:r>
          </a:p>
          <a:p>
            <a:pPr marL="0" lvl="0" indent="0" algn="l" rtl="0">
              <a:spcBef>
                <a:spcPts val="0"/>
              </a:spcBef>
              <a:spcAft>
                <a:spcPts val="0"/>
              </a:spcAft>
              <a:buNone/>
            </a:pPr>
            <a:r>
              <a:rPr lang="en-US" dirty="0"/>
              <a:t>A 32-bit hex value </a:t>
            </a:r>
            <a:r>
              <a:rPr lang="en-US" sz="1100" b="0" i="0" u="none" strike="noStrike" cap="none" dirty="0">
                <a:solidFill>
                  <a:srgbClr val="000000"/>
                </a:solidFill>
                <a:latin typeface="Arial"/>
                <a:ea typeface="Arial"/>
                <a:cs typeface="Arial"/>
                <a:sym typeface="Arial"/>
              </a:rPr>
              <a:t>12 34 56 78</a:t>
            </a:r>
            <a:r>
              <a:rPr lang="en-US" dirty="0"/>
              <a:t> is shown.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the corresponding memory table: </a:t>
            </a:r>
          </a:p>
          <a:p>
            <a:pPr marL="0" lvl="0" indent="0" algn="l" rtl="0">
              <a:spcBef>
                <a:spcPts val="0"/>
              </a:spcBef>
              <a:spcAft>
                <a:spcPts val="0"/>
              </a:spcAft>
              <a:buNone/>
            </a:pPr>
            <a:r>
              <a:rPr lang="en-US" dirty="0"/>
              <a:t>address </a:t>
            </a:r>
          </a:p>
          <a:p>
            <a:pPr marL="0" lvl="0" indent="0" algn="l" rtl="0">
              <a:spcBef>
                <a:spcPts val="0"/>
              </a:spcBef>
              <a:spcAft>
                <a:spcPts val="0"/>
              </a:spcAft>
              <a:buNone/>
            </a:pPr>
            <a:r>
              <a:rPr lang="en-US" dirty="0"/>
              <a:t>100 contains </a:t>
            </a:r>
            <a:r>
              <a:rPr lang="en-US" sz="1100" b="0" i="0" u="none" strike="noStrike" cap="none" dirty="0">
                <a:solidFill>
                  <a:srgbClr val="000000"/>
                </a:solidFill>
                <a:latin typeface="Arial"/>
                <a:ea typeface="Arial"/>
                <a:cs typeface="Arial"/>
                <a:sym typeface="Arial"/>
              </a:rPr>
              <a:t>78</a:t>
            </a:r>
            <a:r>
              <a:rPr lang="en-US" dirty="0"/>
              <a:t>, </a:t>
            </a:r>
          </a:p>
          <a:p>
            <a:pPr marL="0" lvl="0" indent="0" algn="l" rtl="0">
              <a:spcBef>
                <a:spcPts val="0"/>
              </a:spcBef>
              <a:spcAft>
                <a:spcPts val="0"/>
              </a:spcAft>
              <a:buNone/>
            </a:pPr>
            <a:r>
              <a:rPr lang="en-US" dirty="0"/>
              <a:t>101 contains </a:t>
            </a:r>
            <a:r>
              <a:rPr lang="en-US" sz="1100" b="0" i="0" u="none" strike="noStrike" cap="none" dirty="0">
                <a:solidFill>
                  <a:srgbClr val="000000"/>
                </a:solidFill>
                <a:latin typeface="Arial"/>
                <a:ea typeface="Arial"/>
                <a:cs typeface="Arial"/>
                <a:sym typeface="Arial"/>
              </a:rPr>
              <a:t>56</a:t>
            </a:r>
            <a:r>
              <a:rPr lang="en-US" dirty="0"/>
              <a:t>, </a:t>
            </a:r>
          </a:p>
          <a:p>
            <a:pPr marL="0" lvl="0" indent="0" algn="l" rtl="0">
              <a:spcBef>
                <a:spcPts val="0"/>
              </a:spcBef>
              <a:spcAft>
                <a:spcPts val="0"/>
              </a:spcAft>
              <a:buNone/>
            </a:pPr>
            <a:r>
              <a:rPr lang="en-US" dirty="0"/>
              <a:t>102 contains </a:t>
            </a:r>
            <a:r>
              <a:rPr lang="en-US" sz="1100" b="0" i="0" u="none" strike="noStrike" cap="none" dirty="0">
                <a:solidFill>
                  <a:srgbClr val="000000"/>
                </a:solidFill>
                <a:latin typeface="Arial"/>
                <a:ea typeface="Arial"/>
                <a:cs typeface="Arial"/>
                <a:sym typeface="Arial"/>
              </a:rPr>
              <a:t>34</a:t>
            </a:r>
            <a:r>
              <a:rPr lang="en-US" dirty="0"/>
              <a:t>, and </a:t>
            </a:r>
          </a:p>
          <a:p>
            <a:pPr marL="0" lvl="0" indent="0" algn="l" rtl="0">
              <a:spcBef>
                <a:spcPts val="0"/>
              </a:spcBef>
              <a:spcAft>
                <a:spcPts val="0"/>
              </a:spcAft>
              <a:buNone/>
            </a:pPr>
            <a:r>
              <a:rPr lang="en-US" dirty="0"/>
              <a:t>103 contains </a:t>
            </a:r>
            <a:r>
              <a:rPr lang="en-US" sz="1100" b="0" i="0" u="none" strike="noStrike" cap="none" dirty="0">
                <a:solidFill>
                  <a:srgbClr val="000000"/>
                </a:solidFill>
                <a:latin typeface="Arial"/>
                <a:ea typeface="Arial"/>
                <a:cs typeface="Arial"/>
                <a:sym typeface="Arial"/>
              </a:rPr>
              <a:t>12</a:t>
            </a:r>
            <a:r>
              <a:rPr lang="en-US" dirty="0"/>
              <a:t>.</a:t>
            </a:r>
          </a:p>
          <a:p>
            <a:pPr marL="0" lvl="0" indent="0" algn="l" rtl="0">
              <a:spcBef>
                <a:spcPts val="0"/>
              </a:spcBef>
              <a:spcAft>
                <a:spcPts val="0"/>
              </a:spcAft>
              <a:buNone/>
            </a:pPr>
            <a:endParaRPr dirty="0"/>
          </a:p>
        </p:txBody>
      </p:sp>
      <p:sp>
        <p:nvSpPr>
          <p:cNvPr id="246" name="Google Shape;246;g2c898648f37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c898648f37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a:t>Big Endian Visualized</a:t>
            </a:r>
          </a:p>
          <a:p>
            <a:pPr marL="0" lvl="0" indent="0" algn="l" rtl="0">
              <a:spcBef>
                <a:spcPts val="0"/>
              </a:spcBef>
              <a:spcAft>
                <a:spcPts val="0"/>
              </a:spcAft>
              <a:buNone/>
            </a:pPr>
            <a:r>
              <a:rPr lang="en-US" dirty="0"/>
              <a:t>Memory table showing Big Endian storage of the hex value 12 34 56 78.</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Titled "Big Endian," this image explains "the big end" storage where the most significant byte is stored at the lowest address. </a:t>
            </a:r>
          </a:p>
          <a:p>
            <a:pPr marL="0" lvl="0" indent="0" algn="l" rtl="0">
              <a:spcBef>
                <a:spcPts val="0"/>
              </a:spcBef>
              <a:spcAft>
                <a:spcPts val="0"/>
              </a:spcAft>
              <a:buNone/>
            </a:pPr>
            <a:r>
              <a:rPr lang="en-US" dirty="0"/>
              <a:t>For the same 32-bit hex value </a:t>
            </a:r>
            <a:r>
              <a:rPr lang="en-US" sz="1100" b="0" i="0" u="none" strike="noStrike" cap="none" dirty="0">
                <a:solidFill>
                  <a:srgbClr val="000000"/>
                </a:solidFill>
                <a:latin typeface="Arial"/>
                <a:ea typeface="Arial"/>
                <a:cs typeface="Arial"/>
                <a:sym typeface="Arial"/>
              </a:rPr>
              <a:t>12 34 56 78.</a:t>
            </a:r>
          </a:p>
          <a:p>
            <a:pPr marL="0" lvl="0" indent="0" algn="l" rtl="0">
              <a:spcBef>
                <a:spcPts val="0"/>
              </a:spcBef>
              <a:spcAft>
                <a:spcPts val="0"/>
              </a:spcAft>
              <a:buNone/>
            </a:pPr>
            <a:endParaRPr lang="en-US" sz="1100" b="0" i="0" u="none" strike="noStrike" cap="none" dirty="0">
              <a:solidFill>
                <a:srgbClr val="000000"/>
              </a:solidFill>
              <a:latin typeface="Arial"/>
              <a:cs typeface="Arial"/>
              <a:sym typeface="Arial"/>
            </a:endParaRPr>
          </a:p>
          <a:p>
            <a:pPr marL="0" lvl="0" indent="0" algn="l" rtl="0">
              <a:spcBef>
                <a:spcPts val="0"/>
              </a:spcBef>
              <a:spcAft>
                <a:spcPts val="0"/>
              </a:spcAft>
              <a:buNone/>
            </a:pPr>
            <a:r>
              <a:rPr lang="en-US" dirty="0"/>
              <a:t>The memory table shows: </a:t>
            </a:r>
          </a:p>
          <a:p>
            <a:pPr marL="0" lvl="0" indent="0" algn="l" rtl="0">
              <a:spcBef>
                <a:spcPts val="0"/>
              </a:spcBef>
              <a:spcAft>
                <a:spcPts val="0"/>
              </a:spcAft>
              <a:buNone/>
            </a:pPr>
            <a:r>
              <a:rPr lang="en-US" dirty="0"/>
              <a:t>address </a:t>
            </a:r>
          </a:p>
          <a:p>
            <a:pPr marL="0" lvl="0" indent="0" algn="l" rtl="0">
              <a:spcBef>
                <a:spcPts val="0"/>
              </a:spcBef>
              <a:spcAft>
                <a:spcPts val="0"/>
              </a:spcAft>
              <a:buNone/>
            </a:pPr>
            <a:r>
              <a:rPr lang="en-US" dirty="0"/>
              <a:t>100 contains </a:t>
            </a:r>
            <a:r>
              <a:rPr lang="en-US" sz="1100" b="0" i="0" u="none" strike="noStrike" cap="none" dirty="0">
                <a:solidFill>
                  <a:srgbClr val="000000"/>
                </a:solidFill>
                <a:latin typeface="Arial"/>
                <a:ea typeface="Arial"/>
                <a:cs typeface="Arial"/>
                <a:sym typeface="Arial"/>
              </a:rPr>
              <a:t>12</a:t>
            </a:r>
            <a:r>
              <a:rPr lang="en-US" dirty="0"/>
              <a:t>, </a:t>
            </a:r>
          </a:p>
          <a:p>
            <a:pPr marL="0" lvl="0" indent="0" algn="l" rtl="0">
              <a:spcBef>
                <a:spcPts val="0"/>
              </a:spcBef>
              <a:spcAft>
                <a:spcPts val="0"/>
              </a:spcAft>
              <a:buNone/>
            </a:pPr>
            <a:r>
              <a:rPr lang="en-US" dirty="0"/>
              <a:t>101 contains </a:t>
            </a:r>
            <a:r>
              <a:rPr lang="en-US" sz="1100" b="0" i="0" u="none" strike="noStrike" cap="none" dirty="0">
                <a:solidFill>
                  <a:srgbClr val="000000"/>
                </a:solidFill>
                <a:latin typeface="Arial"/>
                <a:ea typeface="Arial"/>
                <a:cs typeface="Arial"/>
                <a:sym typeface="Arial"/>
              </a:rPr>
              <a:t>34</a:t>
            </a:r>
            <a:r>
              <a:rPr lang="en-US" dirty="0"/>
              <a:t>, </a:t>
            </a:r>
          </a:p>
          <a:p>
            <a:pPr marL="0" lvl="0" indent="0" algn="l" rtl="0">
              <a:spcBef>
                <a:spcPts val="0"/>
              </a:spcBef>
              <a:spcAft>
                <a:spcPts val="0"/>
              </a:spcAft>
              <a:buNone/>
            </a:pPr>
            <a:r>
              <a:rPr lang="en-US" dirty="0"/>
              <a:t>102 contains </a:t>
            </a:r>
            <a:r>
              <a:rPr lang="en-US" sz="1100" b="0" i="0" u="none" strike="noStrike" cap="none" dirty="0">
                <a:solidFill>
                  <a:srgbClr val="000000"/>
                </a:solidFill>
                <a:latin typeface="Arial"/>
                <a:ea typeface="Arial"/>
                <a:cs typeface="Arial"/>
                <a:sym typeface="Arial"/>
              </a:rPr>
              <a:t>56</a:t>
            </a:r>
            <a:r>
              <a:rPr lang="en-US" dirty="0"/>
              <a:t>, and </a:t>
            </a:r>
          </a:p>
          <a:p>
            <a:pPr marL="0" lvl="0" indent="0" algn="l" rtl="0">
              <a:spcBef>
                <a:spcPts val="0"/>
              </a:spcBef>
              <a:spcAft>
                <a:spcPts val="0"/>
              </a:spcAft>
              <a:buNone/>
            </a:pPr>
            <a:r>
              <a:rPr lang="en-US" dirty="0"/>
              <a:t>103 contains </a:t>
            </a:r>
            <a:r>
              <a:rPr lang="en-US" sz="1100" b="0" i="0" u="none" strike="noStrike" cap="none" dirty="0">
                <a:solidFill>
                  <a:srgbClr val="000000"/>
                </a:solidFill>
                <a:latin typeface="Arial"/>
                <a:ea typeface="Arial"/>
                <a:cs typeface="Arial"/>
                <a:sym typeface="Arial"/>
              </a:rPr>
              <a:t>78</a:t>
            </a:r>
            <a:r>
              <a:rPr lang="en-US" dirty="0"/>
              <a:t>.</a:t>
            </a:r>
          </a:p>
          <a:p>
            <a:pPr marL="0" lvl="0" indent="0" algn="l" rtl="0">
              <a:spcBef>
                <a:spcPts val="0"/>
              </a:spcBef>
              <a:spcAft>
                <a:spcPts val="0"/>
              </a:spcAft>
              <a:buNone/>
            </a:pPr>
            <a:endParaRPr dirty="0"/>
          </a:p>
        </p:txBody>
      </p:sp>
      <p:sp>
        <p:nvSpPr>
          <p:cNvPr id="252" name="Google Shape;252;g2c898648f37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c898648f37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Byte Order (Endianness)</a:t>
            </a:r>
            <a:r>
              <a:rPr lang="en-US" dirty="0"/>
              <a:t>:</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Big-Endian (Network Byte Order)</a:t>
            </a: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Most significant byte (MSB) is stored at the lowest address.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Used for transmitting data over networks.</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Little-Endian (Host Byte Order)</a:t>
            </a: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Least significant byte (LSB) is at the lowest address.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Common in x86-based CPUs for efficient processing.</a:t>
            </a:r>
          </a:p>
          <a:p>
            <a:pPr marL="0" lvl="0" indent="0" algn="l" rtl="0">
              <a:spcBef>
                <a:spcPts val="0"/>
              </a:spcBef>
              <a:spcAft>
                <a:spcPts val="0"/>
              </a:spcAft>
              <a:buNone/>
            </a:pPr>
            <a:endParaRPr dirty="0"/>
          </a:p>
        </p:txBody>
      </p:sp>
      <p:sp>
        <p:nvSpPr>
          <p:cNvPr id="258" name="Google Shape;258;g2c898648f37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c898648f37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Byte Order (Endianness)</a:t>
            </a:r>
            <a:r>
              <a:rPr lang="en-US" dirty="0"/>
              <a:t>:</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Big-Endian (Network Byte Order)</a:t>
            </a: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Most significant byte (MSB) is stored at the lowest address.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Used for transmitting data over networks.</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Little-Endian (Host Byte Order)</a:t>
            </a: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Least significant byte (LSB) is at the lowest address.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Common in x86-based CPUs for efficient processing.</a:t>
            </a:r>
          </a:p>
          <a:p>
            <a:pPr marL="0" lvl="0" indent="0" algn="l" rtl="0">
              <a:spcBef>
                <a:spcPts val="0"/>
              </a:spcBef>
              <a:spcAft>
                <a:spcPts val="0"/>
              </a:spcAft>
              <a:buNone/>
            </a:pPr>
            <a:endParaRPr dirty="0"/>
          </a:p>
        </p:txBody>
      </p:sp>
      <p:sp>
        <p:nvSpPr>
          <p:cNvPr id="266" name="Google Shape;266;g2c898648f37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c898648f37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Byte Order (Endianness)</a:t>
            </a:r>
            <a:r>
              <a:rPr lang="en-US" dirty="0"/>
              <a:t>:</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Big-Endian (Network Byte Order)</a:t>
            </a: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Most significant byte (MSB) is stored at the lowest address.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Used for transmitting data over networks.</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Little-Endian (Host Byte Order)</a:t>
            </a: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Least significant byte (LSB) is at the lowest address.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Common in x86-based CPUs for efficient processing.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i="1" u="sng" dirty="0"/>
              <a:t>For Reference:</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Architectural Breakdown</a:t>
            </a:r>
          </a:p>
          <a:p>
            <a:pPr marL="0" lvl="0" indent="0" algn="l" rtl="0">
              <a:spcBef>
                <a:spcPts val="0"/>
              </a:spcBef>
              <a:spcAft>
                <a:spcPts val="0"/>
              </a:spcAft>
              <a:buNone/>
            </a:pPr>
            <a:r>
              <a:rPr lang="en-US" dirty="0"/>
              <a:t>The choice of endianness is a fundamental design decision of the Instruction Set Architecture (ISA).</a:t>
            </a:r>
          </a:p>
          <a:p>
            <a:pPr marL="0" lvl="0" indent="0" algn="l" rtl="0">
              <a:spcBef>
                <a:spcPts val="0"/>
              </a:spcBef>
              <a:spcAft>
                <a:spcPts val="0"/>
              </a:spcAft>
              <a:buNone/>
            </a:pPr>
            <a:endParaRPr lang="en-US" b="1" dirty="0"/>
          </a:p>
          <a:p>
            <a:pPr marL="228600" lvl="0" indent="-228600" algn="l" rtl="0">
              <a:spcBef>
                <a:spcPts val="0"/>
              </a:spcBef>
              <a:spcAft>
                <a:spcPts val="0"/>
              </a:spcAft>
              <a:buAutoNum type="arabicPeriod"/>
            </a:pPr>
            <a:r>
              <a:rPr lang="en-US" b="1" dirty="0"/>
              <a:t>Little-Endian Architectures</a:t>
            </a:r>
          </a:p>
          <a:p>
            <a:pPr marL="0" lvl="0" indent="0" algn="l" rtl="0">
              <a:spcBef>
                <a:spcPts val="0"/>
              </a:spcBef>
              <a:spcAft>
                <a:spcPts val="0"/>
              </a:spcAft>
              <a:buNone/>
            </a:pPr>
            <a:r>
              <a:rPr lang="en-US" dirty="0"/>
              <a:t>This is currently the most dominant order in consumer and enterprise computing.</a:t>
            </a:r>
          </a:p>
          <a:p>
            <a:pPr marL="228600" lvl="0" indent="-228600" algn="l" rtl="0">
              <a:spcBef>
                <a:spcPts val="0"/>
              </a:spcBef>
              <a:spcAft>
                <a:spcPts val="0"/>
              </a:spcAft>
            </a:pPr>
            <a:r>
              <a:rPr lang="en-US" b="1" dirty="0"/>
              <a:t>x86 and x86-64:</a:t>
            </a:r>
            <a:r>
              <a:rPr lang="en-US" dirty="0"/>
              <a:t> All Intel and AMD processors use little-endian.</a:t>
            </a:r>
          </a:p>
          <a:p>
            <a:pPr marL="228600" lvl="0" indent="-228600" algn="l" rtl="0">
              <a:spcBef>
                <a:spcPts val="0"/>
              </a:spcBef>
              <a:spcAft>
                <a:spcPts val="0"/>
              </a:spcAft>
            </a:pPr>
            <a:r>
              <a:rPr lang="en-US" b="1" dirty="0"/>
              <a:t>RISC-V:</a:t>
            </a:r>
            <a:r>
              <a:rPr lang="en-US" dirty="0"/>
              <a:t> By default, RISC-V is little-endian, though the specification allows for big-endian versions.</a:t>
            </a:r>
          </a:p>
          <a:p>
            <a:pPr marL="228600" lvl="0" indent="-228600" algn="l" rtl="0">
              <a:spcBef>
                <a:spcPts val="0"/>
              </a:spcBef>
              <a:spcAft>
                <a:spcPts val="0"/>
              </a:spcAft>
            </a:pPr>
            <a:r>
              <a:rPr lang="en-US" b="1" dirty="0"/>
              <a:t>iOS/Android Mobile Devices:</a:t>
            </a:r>
            <a:r>
              <a:rPr lang="en-US" dirty="0"/>
              <a:t> While the underlying ARM chips are technically capable of both, almost all mobile operating systems run exclusively in little-endian mode.</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2. Big-Endian Architectures</a:t>
            </a:r>
          </a:p>
          <a:p>
            <a:pPr marL="0" lvl="0" indent="0" algn="l" rtl="0">
              <a:spcBef>
                <a:spcPts val="0"/>
              </a:spcBef>
              <a:spcAft>
                <a:spcPts val="0"/>
              </a:spcAft>
              <a:buNone/>
            </a:pPr>
            <a:r>
              <a:rPr lang="en-US" dirty="0"/>
              <a:t>Big-endian was the standard for many years in high-end workstations and networking hardware.</a:t>
            </a:r>
          </a:p>
          <a:p>
            <a:pPr marL="171450" lvl="0" indent="-171450" algn="l" rtl="0">
              <a:spcBef>
                <a:spcPts val="0"/>
              </a:spcBef>
              <a:spcAft>
                <a:spcPts val="0"/>
              </a:spcAft>
            </a:pPr>
            <a:r>
              <a:rPr lang="en-US" b="1" dirty="0"/>
              <a:t>IBM z/Architecture (Mainframes):</a:t>
            </a:r>
            <a:r>
              <a:rPr lang="en-US" dirty="0"/>
              <a:t> Consistently big-endian.</a:t>
            </a:r>
          </a:p>
          <a:p>
            <a:pPr marL="171450" lvl="0" indent="-171450" algn="l" rtl="0">
              <a:spcBef>
                <a:spcPts val="0"/>
              </a:spcBef>
              <a:spcAft>
                <a:spcPts val="0"/>
              </a:spcAft>
            </a:pPr>
            <a:r>
              <a:rPr lang="en-US" b="1" dirty="0"/>
              <a:t>Motorola 68000 &amp; early SPARC:</a:t>
            </a:r>
            <a:r>
              <a:rPr lang="en-US" dirty="0"/>
              <a:t> Classic workstation architectures.</a:t>
            </a:r>
          </a:p>
          <a:p>
            <a:pPr marL="171450" lvl="0" indent="-171450" algn="l" rtl="0">
              <a:spcBef>
                <a:spcPts val="0"/>
              </a:spcBef>
              <a:spcAft>
                <a:spcPts val="0"/>
              </a:spcAft>
            </a:pPr>
            <a:r>
              <a:rPr lang="en-US" b="1" dirty="0"/>
              <a:t>PowerPC (Legacy):</a:t>
            </a:r>
            <a:r>
              <a:rPr lang="en-US" dirty="0"/>
              <a:t> Older Mac hardware (G3, G4, G5) was big-endian.</a:t>
            </a:r>
          </a:p>
          <a:p>
            <a:pPr marL="171450" lvl="0" indent="-171450" algn="l" rtl="0">
              <a:spcBef>
                <a:spcPts val="0"/>
              </a:spcBef>
              <a:spcAft>
                <a:spcPts val="0"/>
              </a:spcAft>
            </a:pPr>
            <a:r>
              <a:rPr lang="en-US" b="1" dirty="0"/>
              <a:t>Network Protocols:</a:t>
            </a:r>
            <a:r>
              <a:rPr lang="en-US" dirty="0"/>
              <a:t> Often called </a:t>
            </a:r>
            <a:r>
              <a:rPr lang="en-US" b="1" dirty="0"/>
              <a:t>"Network Byte Order."</a:t>
            </a:r>
            <a:r>
              <a:rPr lang="en-US" dirty="0"/>
              <a:t> Regardless of the CPU architecture, protocols like TCP/IP require data to be transmitted in big-endian format.</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3. Bi-Endian Architectures</a:t>
            </a:r>
          </a:p>
          <a:p>
            <a:pPr marL="0" lvl="0" indent="0" algn="l" rtl="0">
              <a:spcBef>
                <a:spcPts val="0"/>
              </a:spcBef>
              <a:spcAft>
                <a:spcPts val="0"/>
              </a:spcAft>
              <a:buNone/>
            </a:pPr>
            <a:r>
              <a:rPr lang="en-US" dirty="0"/>
              <a:t>Many modern architectures are "switchable," meaning the processor can be configured to operate in either mode at boot or via a state bit.</a:t>
            </a:r>
          </a:p>
          <a:p>
            <a:pPr marL="171450" lvl="0" indent="-171450" algn="l" rtl="0">
              <a:spcBef>
                <a:spcPts val="0"/>
              </a:spcBef>
              <a:spcAft>
                <a:spcPts val="0"/>
              </a:spcAft>
            </a:pPr>
            <a:r>
              <a:rPr lang="en-US" b="1" dirty="0"/>
              <a:t>ARM (v7, v8, v9):</a:t>
            </a:r>
            <a:r>
              <a:rPr lang="en-US" dirty="0"/>
              <a:t> Supports both, but as noted, little-endian is the industry standard for OS implementations.</a:t>
            </a:r>
          </a:p>
          <a:p>
            <a:pPr marL="171450" lvl="0" indent="-171450" algn="l" rtl="0">
              <a:spcBef>
                <a:spcPts val="0"/>
              </a:spcBef>
              <a:spcAft>
                <a:spcPts val="0"/>
              </a:spcAft>
            </a:pPr>
            <a:r>
              <a:rPr lang="en-US" b="1" dirty="0"/>
              <a:t>POWER/PowerPC:</a:t>
            </a:r>
            <a:r>
              <a:rPr lang="en-US" dirty="0"/>
              <a:t> Modern Power processors (like those in IBM’s POWER9 servers) can switch, though most modern Linux distributions on Power run in "Little-Endian" mode (PPC64LE).</a:t>
            </a:r>
          </a:p>
          <a:p>
            <a:pPr marL="171450" lvl="0" indent="-171450" algn="l" rtl="0">
              <a:spcBef>
                <a:spcPts val="0"/>
              </a:spcBef>
              <a:spcAft>
                <a:spcPts val="0"/>
              </a:spcAft>
            </a:pPr>
            <a:r>
              <a:rPr lang="en-US" b="1" dirty="0"/>
              <a:t>MIPS:</a:t>
            </a:r>
            <a:r>
              <a:rPr lang="en-US" dirty="0"/>
              <a:t> Historically used in both configurations (e.g., the Nintendo 64 was big-endian, while some </a:t>
            </a:r>
            <a:r>
              <a:rPr lang="en-US" dirty="0" err="1"/>
              <a:t>DECstations</a:t>
            </a:r>
            <a:r>
              <a:rPr lang="en-US" dirty="0"/>
              <a:t> were little-endian).</a:t>
            </a:r>
          </a:p>
          <a:p>
            <a:pPr marL="0" lvl="0" indent="0" algn="l" rtl="0">
              <a:spcBef>
                <a:spcPts val="0"/>
              </a:spcBef>
              <a:spcAft>
                <a:spcPts val="0"/>
              </a:spcAft>
              <a:buNone/>
            </a:pPr>
            <a:endParaRPr lang="en-US" dirty="0"/>
          </a:p>
        </p:txBody>
      </p:sp>
      <p:sp>
        <p:nvSpPr>
          <p:cNvPr id="273" name="Google Shape;273;g2c898648f37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c898648f37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Conversion Functions</a:t>
            </a:r>
            <a:r>
              <a:rPr lang="en-US" dirty="0"/>
              <a:t>: </a:t>
            </a:r>
          </a:p>
          <a:p>
            <a:pPr marL="0" lvl="0" indent="0" algn="l" rtl="0">
              <a:spcBef>
                <a:spcPts val="0"/>
              </a:spcBef>
              <a:spcAft>
                <a:spcPts val="0"/>
              </a:spcAft>
              <a:buNone/>
            </a:pPr>
            <a:r>
              <a:rPr lang="en-US" dirty="0"/>
              <a:t>Necessary for interoperability between different CPU architectures.</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htons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htonl</a:t>
            </a:r>
            <a:r>
              <a:rPr lang="en-US" sz="1100" b="0" i="0" u="none" strike="noStrike" cap="none" dirty="0">
                <a:solidFill>
                  <a:srgbClr val="000000"/>
                </a:solidFill>
                <a:effectLst/>
                <a:latin typeface="Arial"/>
                <a:ea typeface="Arial"/>
                <a:cs typeface="Arial"/>
                <a:sym typeface="Arial"/>
              </a:rPr>
              <a:t>: Host to Network (Short/Long).</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ntohs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ntohl</a:t>
            </a:r>
            <a:r>
              <a:rPr lang="en-US" sz="1100" b="0" i="0" u="none" strike="noStrike" cap="none" dirty="0">
                <a:solidFill>
                  <a:srgbClr val="000000"/>
                </a:solidFill>
                <a:effectLst/>
                <a:latin typeface="Arial"/>
                <a:ea typeface="Arial"/>
                <a:cs typeface="Arial"/>
                <a:sym typeface="Arial"/>
              </a:rPr>
              <a:t>: Network to Host (Short/Long).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err="1"/>
              <a:t>htons</a:t>
            </a:r>
            <a:r>
              <a:rPr lang="en-US" b="1" dirty="0"/>
              <a:t> Function Prototype</a:t>
            </a:r>
          </a:p>
          <a:p>
            <a:pPr marL="0" lvl="0" indent="0" algn="l" rtl="0">
              <a:spcBef>
                <a:spcPts val="0"/>
              </a:spcBef>
              <a:spcAft>
                <a:spcPts val="0"/>
              </a:spcAft>
              <a:buNone/>
            </a:pPr>
            <a:r>
              <a:rPr lang="en-US" dirty="0"/>
              <a:t>C code snippet highlighting the </a:t>
            </a:r>
            <a:r>
              <a:rPr lang="en-US" dirty="0" err="1"/>
              <a:t>htons</a:t>
            </a:r>
            <a:r>
              <a:rPr lang="en-US" dirty="0"/>
              <a:t> function for 16-bit host-to-network conversion.</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A dark-themed code block including </a:t>
            </a:r>
            <a:r>
              <a:rPr lang="en-US" sz="1100" b="0" i="0" u="none" strike="noStrike" cap="none" dirty="0">
                <a:solidFill>
                  <a:srgbClr val="000000"/>
                </a:solidFill>
                <a:latin typeface="Arial"/>
                <a:ea typeface="Arial"/>
                <a:cs typeface="Arial"/>
                <a:sym typeface="Arial"/>
              </a:rPr>
              <a:t>&lt;</a:t>
            </a:r>
            <a:r>
              <a:rPr lang="en-US" sz="1100" b="0" i="0" u="none" strike="noStrike" cap="none" dirty="0" err="1">
                <a:solidFill>
                  <a:srgbClr val="000000"/>
                </a:solidFill>
                <a:latin typeface="Arial"/>
                <a:ea typeface="Arial"/>
                <a:cs typeface="Arial"/>
                <a:sym typeface="Arial"/>
              </a:rPr>
              <a:t>netinet</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in.h</a:t>
            </a:r>
            <a:r>
              <a:rPr lang="en-US" sz="1100" b="0" i="0" u="none" strike="noStrike" cap="none" dirty="0">
                <a:solidFill>
                  <a:srgbClr val="000000"/>
                </a:solidFill>
                <a:latin typeface="Arial"/>
                <a:ea typeface="Arial"/>
                <a:cs typeface="Arial"/>
                <a:sym typeface="Arial"/>
              </a:rPr>
              <a:t>&gt;</a:t>
            </a:r>
            <a:r>
              <a:rPr lang="en-US" dirty="0"/>
              <a:t>. </a:t>
            </a:r>
          </a:p>
          <a:p>
            <a:pPr marL="0" lvl="0" indent="0" algn="l" rtl="0">
              <a:spcBef>
                <a:spcPts val="0"/>
              </a:spcBef>
              <a:spcAft>
                <a:spcPts val="0"/>
              </a:spcAft>
              <a:buNone/>
            </a:pPr>
            <a:r>
              <a:rPr lang="en-US" dirty="0"/>
              <a:t>A red box highlights the line: </a:t>
            </a:r>
            <a:r>
              <a:rPr lang="en-US" sz="1100" b="0" i="0" u="none" strike="noStrike" cap="none" dirty="0">
                <a:solidFill>
                  <a:srgbClr val="000000"/>
                </a:solidFill>
                <a:latin typeface="Arial"/>
                <a:ea typeface="Arial"/>
                <a:cs typeface="Arial"/>
                <a:sym typeface="Arial"/>
              </a:rPr>
              <a:t>uint16_t </a:t>
            </a:r>
            <a:r>
              <a:rPr lang="en-US" sz="1100" b="0" i="0" u="none" strike="noStrike" cap="none" dirty="0" err="1">
                <a:solidFill>
                  <a:srgbClr val="000000"/>
                </a:solidFill>
                <a:latin typeface="Arial"/>
                <a:ea typeface="Arial"/>
                <a:cs typeface="Arial"/>
                <a:sym typeface="Arial"/>
              </a:rPr>
              <a:t>htons</a:t>
            </a:r>
            <a:r>
              <a:rPr lang="en-US" sz="1100" b="0" i="0" u="none" strike="noStrike" cap="none" dirty="0">
                <a:solidFill>
                  <a:srgbClr val="000000"/>
                </a:solidFill>
                <a:latin typeface="Arial"/>
                <a:ea typeface="Arial"/>
                <a:cs typeface="Arial"/>
                <a:sym typeface="Arial"/>
              </a:rPr>
              <a:t>(uint16_t host16bitvalue);</a:t>
            </a:r>
            <a:r>
              <a:rPr lang="en-US" dirty="0"/>
              <a:t>. </a:t>
            </a:r>
          </a:p>
          <a:p>
            <a:pPr marL="0" lvl="0" indent="0" algn="l" rtl="0">
              <a:spcBef>
                <a:spcPts val="0"/>
              </a:spcBef>
              <a:spcAft>
                <a:spcPts val="0"/>
              </a:spcAft>
              <a:buNone/>
            </a:pPr>
            <a:r>
              <a:rPr lang="en-US" dirty="0"/>
              <a:t>This function converts a 16-bit integer from host byte order to network byte order (Big Endian).</a:t>
            </a:r>
          </a:p>
          <a:p>
            <a:pPr marL="0" lvl="0" indent="0" algn="l" rtl="0">
              <a:spcBef>
                <a:spcPts val="0"/>
              </a:spcBef>
              <a:spcAft>
                <a:spcPts val="0"/>
              </a:spcAft>
              <a:buNone/>
            </a:pPr>
            <a:endParaRPr dirty="0"/>
          </a:p>
        </p:txBody>
      </p:sp>
      <p:sp>
        <p:nvSpPr>
          <p:cNvPr id="279" name="Google Shape;279;g2c898648f37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c898648f37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Conversion Functions</a:t>
            </a:r>
            <a:r>
              <a:rPr lang="en-US" dirty="0"/>
              <a:t>: </a:t>
            </a:r>
          </a:p>
          <a:p>
            <a:pPr marL="0" lvl="0" indent="0" algn="l" rtl="0">
              <a:spcBef>
                <a:spcPts val="0"/>
              </a:spcBef>
              <a:spcAft>
                <a:spcPts val="0"/>
              </a:spcAft>
              <a:buNone/>
            </a:pPr>
            <a:r>
              <a:rPr lang="en-US" dirty="0"/>
              <a:t>Necessary for interoperability between different CPU architectures.</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htons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htonl</a:t>
            </a:r>
            <a:r>
              <a:rPr lang="en-US" sz="1100" b="0" i="0" u="none" strike="noStrike" cap="none" dirty="0">
                <a:solidFill>
                  <a:srgbClr val="000000"/>
                </a:solidFill>
                <a:effectLst/>
                <a:latin typeface="Arial"/>
                <a:ea typeface="Arial"/>
                <a:cs typeface="Arial"/>
                <a:sym typeface="Arial"/>
              </a:rPr>
              <a:t>: Host to Network (Short/Long).</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ntohs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ntohl</a:t>
            </a:r>
            <a:r>
              <a:rPr lang="en-US" sz="1100" b="0" i="0" u="none" strike="noStrike" cap="none" dirty="0">
                <a:solidFill>
                  <a:srgbClr val="000000"/>
                </a:solidFill>
                <a:effectLst/>
                <a:latin typeface="Arial"/>
                <a:ea typeface="Arial"/>
                <a:cs typeface="Arial"/>
                <a:sym typeface="Arial"/>
              </a:rPr>
              <a:t>: Network to Host (Short/Long).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err="1"/>
              <a:t>htonl</a:t>
            </a:r>
            <a:r>
              <a:rPr lang="en-US" b="1" dirty="0"/>
              <a:t> Function Prototype</a:t>
            </a:r>
          </a:p>
          <a:p>
            <a:pPr marL="0" lvl="0" indent="0" algn="l" rtl="0">
              <a:spcBef>
                <a:spcPts val="0"/>
              </a:spcBef>
              <a:spcAft>
                <a:spcPts val="0"/>
              </a:spcAft>
              <a:buNone/>
            </a:pPr>
            <a:r>
              <a:rPr lang="en-US" dirty="0"/>
              <a:t>C code snippet highlighting the </a:t>
            </a:r>
            <a:r>
              <a:rPr lang="en-US" dirty="0" err="1"/>
              <a:t>htonl</a:t>
            </a:r>
            <a:r>
              <a:rPr lang="en-US" dirty="0"/>
              <a:t> function for 32-bit host-to-network conversion.</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The same code block as the previous image, </a:t>
            </a:r>
          </a:p>
          <a:p>
            <a:pPr marL="0" lvl="0" indent="0" algn="l" rtl="0">
              <a:spcBef>
                <a:spcPts val="0"/>
              </a:spcBef>
              <a:spcAft>
                <a:spcPts val="0"/>
              </a:spcAft>
              <a:buNone/>
            </a:pPr>
            <a:r>
              <a:rPr lang="en-US" dirty="0"/>
              <a:t>but the red box highlights the second line: </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uint32_t </a:t>
            </a:r>
            <a:r>
              <a:rPr lang="en-US" sz="1100" b="0" i="0" u="none" strike="noStrike" cap="none" dirty="0" err="1">
                <a:solidFill>
                  <a:srgbClr val="000000"/>
                </a:solidFill>
                <a:latin typeface="Arial"/>
                <a:ea typeface="Arial"/>
                <a:cs typeface="Arial"/>
                <a:sym typeface="Arial"/>
              </a:rPr>
              <a:t>htonl</a:t>
            </a:r>
            <a:r>
              <a:rPr lang="en-US" sz="1100" b="0" i="0" u="none" strike="noStrike" cap="none" dirty="0">
                <a:solidFill>
                  <a:srgbClr val="000000"/>
                </a:solidFill>
                <a:latin typeface="Arial"/>
                <a:ea typeface="Arial"/>
                <a:cs typeface="Arial"/>
                <a:sym typeface="Arial"/>
              </a:rPr>
              <a:t>(uint32_t host32bitvalue);</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function converts a 32-bit integer from host byte order to network byte order.</a:t>
            </a:r>
          </a:p>
          <a:p>
            <a:pPr marL="0" lvl="0" indent="0" algn="l" rtl="0">
              <a:spcBef>
                <a:spcPts val="0"/>
              </a:spcBef>
              <a:spcAft>
                <a:spcPts val="0"/>
              </a:spcAft>
              <a:buNone/>
            </a:pPr>
            <a:endParaRPr dirty="0"/>
          </a:p>
        </p:txBody>
      </p:sp>
      <p:sp>
        <p:nvSpPr>
          <p:cNvPr id="288" name="Google Shape;288;g2c898648f37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c898648f37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Conversion Functions</a:t>
            </a:r>
            <a:r>
              <a:rPr lang="en-US" dirty="0"/>
              <a:t>: </a:t>
            </a:r>
          </a:p>
          <a:p>
            <a:pPr marL="0" lvl="0" indent="0" algn="l" rtl="0">
              <a:spcBef>
                <a:spcPts val="0"/>
              </a:spcBef>
              <a:spcAft>
                <a:spcPts val="0"/>
              </a:spcAft>
              <a:buNone/>
            </a:pPr>
            <a:r>
              <a:rPr lang="en-US" dirty="0"/>
              <a:t>Necessary for interoperability between different CPU architectures.</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htons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htonl</a:t>
            </a:r>
            <a:r>
              <a:rPr lang="en-US" sz="1100" b="0" i="0" u="none" strike="noStrike" cap="none" dirty="0">
                <a:solidFill>
                  <a:srgbClr val="000000"/>
                </a:solidFill>
                <a:effectLst/>
                <a:latin typeface="Arial"/>
                <a:ea typeface="Arial"/>
                <a:cs typeface="Arial"/>
                <a:sym typeface="Arial"/>
              </a:rPr>
              <a:t>: Host to Network (Short/Long).</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ntohs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ntohl</a:t>
            </a:r>
            <a:r>
              <a:rPr lang="en-US" sz="1100" b="0" i="0" u="none" strike="noStrike" cap="none" dirty="0">
                <a:solidFill>
                  <a:srgbClr val="000000"/>
                </a:solidFill>
                <a:effectLst/>
                <a:latin typeface="Arial"/>
                <a:ea typeface="Arial"/>
                <a:cs typeface="Arial"/>
                <a:sym typeface="Arial"/>
              </a:rPr>
              <a:t>: Network to Host (Short/Long).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err="1"/>
              <a:t>ntohs</a:t>
            </a:r>
            <a:r>
              <a:rPr lang="en-US" b="1" dirty="0"/>
              <a:t> Function Prototype</a:t>
            </a:r>
          </a:p>
          <a:p>
            <a:pPr marL="0" lvl="0" indent="0" algn="l" rtl="0">
              <a:spcBef>
                <a:spcPts val="0"/>
              </a:spcBef>
              <a:spcAft>
                <a:spcPts val="0"/>
              </a:spcAft>
              <a:buNone/>
            </a:pPr>
            <a:r>
              <a:rPr lang="en-US" dirty="0"/>
              <a:t>C code snippet highlighting the </a:t>
            </a:r>
            <a:r>
              <a:rPr lang="en-US" dirty="0" err="1"/>
              <a:t>ntohs</a:t>
            </a:r>
            <a:r>
              <a:rPr lang="en-US" dirty="0"/>
              <a:t> function for 16-bit network-to-host conversion.</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p>
          <a:p>
            <a:pPr marL="0" lvl="0" indent="0" algn="l" rtl="0">
              <a:spcBef>
                <a:spcPts val="0"/>
              </a:spcBef>
              <a:spcAft>
                <a:spcPts val="0"/>
              </a:spcAft>
              <a:buNone/>
            </a:pPr>
            <a:r>
              <a:rPr lang="en-US" dirty="0"/>
              <a:t>The code block highlighting the third line: </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uint16_t </a:t>
            </a:r>
            <a:r>
              <a:rPr lang="en-US" sz="1100" b="0" i="0" u="none" strike="noStrike" cap="none" dirty="0" err="1">
                <a:solidFill>
                  <a:srgbClr val="000000"/>
                </a:solidFill>
                <a:latin typeface="Arial"/>
                <a:ea typeface="Arial"/>
                <a:cs typeface="Arial"/>
                <a:sym typeface="Arial"/>
              </a:rPr>
              <a:t>ntohs</a:t>
            </a:r>
            <a:r>
              <a:rPr lang="en-US" sz="1100" b="0" i="0" u="none" strike="noStrike" cap="none" dirty="0">
                <a:solidFill>
                  <a:srgbClr val="000000"/>
                </a:solidFill>
                <a:latin typeface="Arial"/>
                <a:ea typeface="Arial"/>
                <a:cs typeface="Arial"/>
                <a:sym typeface="Arial"/>
              </a:rPr>
              <a:t>(uint16_t net16bitvalue);</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function converts a 16-bit integer from network byte order back to host byte order.</a:t>
            </a:r>
          </a:p>
          <a:p>
            <a:pPr marL="0" lvl="0" indent="0" algn="l" rtl="0">
              <a:spcBef>
                <a:spcPts val="0"/>
              </a:spcBef>
              <a:spcAft>
                <a:spcPts val="0"/>
              </a:spcAft>
              <a:buNone/>
            </a:pPr>
            <a:endParaRPr lang="en-US" dirty="0"/>
          </a:p>
        </p:txBody>
      </p:sp>
      <p:sp>
        <p:nvSpPr>
          <p:cNvPr id="297" name="Google Shape;297;g2c898648f37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c898648f37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Conversion Functions</a:t>
            </a:r>
            <a:r>
              <a:rPr lang="en-US" dirty="0"/>
              <a:t>: </a:t>
            </a:r>
          </a:p>
          <a:p>
            <a:pPr marL="0" lvl="0" indent="0" algn="l" rtl="0">
              <a:spcBef>
                <a:spcPts val="0"/>
              </a:spcBef>
              <a:spcAft>
                <a:spcPts val="0"/>
              </a:spcAft>
              <a:buNone/>
            </a:pPr>
            <a:r>
              <a:rPr lang="en-US" dirty="0"/>
              <a:t>Necessary for interoperability between different CPU architectures.</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htons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htonl</a:t>
            </a:r>
            <a:r>
              <a:rPr lang="en-US" sz="1100" b="0" i="0" u="none" strike="noStrike" cap="none" dirty="0">
                <a:solidFill>
                  <a:srgbClr val="000000"/>
                </a:solidFill>
                <a:effectLst/>
                <a:latin typeface="Arial"/>
                <a:ea typeface="Arial"/>
                <a:cs typeface="Arial"/>
                <a:sym typeface="Arial"/>
              </a:rPr>
              <a:t>: Host to Network (Short/Long).</a:t>
            </a:r>
          </a:p>
          <a:p>
            <a:pPr marL="171450" lvl="0" indent="-171450" algn="l" rtl="0">
              <a:spcBef>
                <a:spcPts val="0"/>
              </a:spcBef>
              <a:spcAft>
                <a:spcPts val="0"/>
              </a:spcAft>
            </a:pPr>
            <a:r>
              <a:rPr lang="en-US" sz="1100" b="0" i="0" u="none" strike="noStrike" cap="none" dirty="0" err="1">
                <a:solidFill>
                  <a:srgbClr val="000000"/>
                </a:solidFill>
                <a:effectLst/>
                <a:latin typeface="Arial"/>
                <a:ea typeface="Arial"/>
                <a:cs typeface="Arial"/>
                <a:sym typeface="Arial"/>
              </a:rPr>
              <a:t>ntohs</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ntohl</a:t>
            </a:r>
            <a:r>
              <a:rPr lang="en-US" sz="1100" b="0" i="0" u="none" strike="noStrike" cap="none" dirty="0">
                <a:solidFill>
                  <a:srgbClr val="000000"/>
                </a:solidFill>
                <a:effectLst/>
                <a:latin typeface="Arial"/>
                <a:ea typeface="Arial"/>
                <a:cs typeface="Arial"/>
                <a:sym typeface="Arial"/>
              </a:rPr>
              <a:t>: Network to Host (Short/Long).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pPr marL="0" lvl="0" indent="0" algn="l" rtl="0">
              <a:spcBef>
                <a:spcPts val="0"/>
              </a:spcBef>
              <a:spcAft>
                <a:spcPts val="0"/>
              </a:spcAft>
              <a:buNone/>
            </a:pPr>
            <a:r>
              <a:rPr lang="en-US" b="1" dirty="0" err="1"/>
              <a:t>ntohl</a:t>
            </a:r>
            <a:r>
              <a:rPr lang="en-US" b="1" dirty="0"/>
              <a:t> Function Prototype</a:t>
            </a:r>
          </a:p>
          <a:p>
            <a:pPr marL="0" lvl="0" indent="0" algn="l" rtl="0">
              <a:spcBef>
                <a:spcPts val="0"/>
              </a:spcBef>
              <a:spcAft>
                <a:spcPts val="0"/>
              </a:spcAft>
              <a:buNone/>
            </a:pPr>
            <a:r>
              <a:rPr lang="en-US" dirty="0"/>
              <a:t>C code snippet highlighting the </a:t>
            </a:r>
            <a:r>
              <a:rPr lang="en-US" dirty="0" err="1"/>
              <a:t>ntohl</a:t>
            </a:r>
            <a:r>
              <a:rPr lang="en-US" dirty="0"/>
              <a:t> function for 32-bit network-to-host conversion.</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Long Description:</a:t>
            </a:r>
            <a:r>
              <a:rPr lang="en-US" dirty="0"/>
              <a:t> </a:t>
            </a:r>
          </a:p>
          <a:p>
            <a:pPr marL="0" lvl="0" indent="0" algn="l" rtl="0">
              <a:spcBef>
                <a:spcPts val="0"/>
              </a:spcBef>
              <a:spcAft>
                <a:spcPts val="0"/>
              </a:spcAft>
              <a:buNone/>
            </a:pPr>
            <a:r>
              <a:rPr lang="en-US" dirty="0"/>
              <a:t>The code block highlighting the final line: </a:t>
            </a:r>
          </a:p>
          <a:p>
            <a:pPr marL="0" lvl="0" indent="0" algn="l" rtl="0">
              <a:spcBef>
                <a:spcPts val="0"/>
              </a:spcBef>
              <a:spcAft>
                <a:spcPts val="0"/>
              </a:spcAft>
              <a:buNone/>
            </a:pPr>
            <a:r>
              <a:rPr lang="en-US" sz="1100" b="0" i="0" u="none" strike="noStrike" cap="none" dirty="0">
                <a:solidFill>
                  <a:srgbClr val="000000"/>
                </a:solidFill>
                <a:latin typeface="Arial"/>
                <a:ea typeface="Arial"/>
                <a:cs typeface="Arial"/>
                <a:sym typeface="Arial"/>
              </a:rPr>
              <a:t>uint32_t </a:t>
            </a:r>
            <a:r>
              <a:rPr lang="en-US" sz="1100" b="0" i="0" u="none" strike="noStrike" cap="none" dirty="0" err="1">
                <a:solidFill>
                  <a:srgbClr val="000000"/>
                </a:solidFill>
                <a:latin typeface="Arial"/>
                <a:ea typeface="Arial"/>
                <a:cs typeface="Arial"/>
                <a:sym typeface="Arial"/>
              </a:rPr>
              <a:t>ntohl</a:t>
            </a:r>
            <a:r>
              <a:rPr lang="en-US" sz="1100" b="0" i="0" u="none" strike="noStrike" cap="none" dirty="0">
                <a:solidFill>
                  <a:srgbClr val="000000"/>
                </a:solidFill>
                <a:latin typeface="Arial"/>
                <a:ea typeface="Arial"/>
                <a:cs typeface="Arial"/>
                <a:sym typeface="Arial"/>
              </a:rPr>
              <a:t>(uint32_t net32bitvalue);</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function converts a 32-bit integer from network byte order back to host byte order.</a:t>
            </a:r>
            <a:endParaRPr dirty="0"/>
          </a:p>
        </p:txBody>
      </p:sp>
      <p:sp>
        <p:nvSpPr>
          <p:cNvPr id="306" name="Google Shape;306;g2c898648f37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Projection White">
  <p:cSld name="Cover-Projection Whit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2376487" y="2195512"/>
            <a:ext cx="7439025" cy="24669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hite Cover-Title with Logo">
  <p:cSld name="White Cover-Title with Logo">
    <p:bg>
      <p:bgPr>
        <a:solidFill>
          <a:schemeClr val="lt1"/>
        </a:solidFill>
        <a:effectLst/>
      </p:bgPr>
    </p:bg>
    <p:spTree>
      <p:nvGrpSpPr>
        <p:cNvPr id="1" name="Shape 10"/>
        <p:cNvGrpSpPr/>
        <p:nvPr/>
      </p:nvGrpSpPr>
      <p:grpSpPr>
        <a:xfrm>
          <a:off x="0" y="0"/>
          <a:ext cx="0" cy="0"/>
          <a:chOff x="0" y="0"/>
          <a:chExt cx="0" cy="0"/>
        </a:xfrm>
      </p:grpSpPr>
      <p:sp>
        <p:nvSpPr>
          <p:cNvPr id="11" name="Google Shape;11;p3"/>
          <p:cNvSpPr txBox="1">
            <a:spLocks noGrp="1"/>
          </p:cNvSpPr>
          <p:nvPr>
            <p:ph type="subTitle" idx="1"/>
          </p:nvPr>
        </p:nvSpPr>
        <p:spPr>
          <a:xfrm>
            <a:off x="1524000" y="4484905"/>
            <a:ext cx="9144000" cy="10752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1pPr>
            <a:lvl2pPr marR="0" lvl="1" algn="ctr"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2pPr>
            <a:lvl3pPr marR="0" lvl="2" algn="ctr"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R="0" lvl="3"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4pPr>
            <a:lvl5pPr marR="0" lvl="4"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pic>
        <p:nvPicPr>
          <p:cNvPr id="12" name="Google Shape;12;p3"/>
          <p:cNvPicPr preferRelativeResize="0"/>
          <p:nvPr/>
        </p:nvPicPr>
        <p:blipFill rotWithShape="1">
          <a:blip r:embed="rId2">
            <a:alphaModFix/>
          </a:blip>
          <a:srcRect/>
          <a:stretch/>
        </p:blipFill>
        <p:spPr>
          <a:xfrm>
            <a:off x="3314918" y="1201978"/>
            <a:ext cx="5629274" cy="1866815"/>
          </a:xfrm>
          <a:prstGeom prst="rect">
            <a:avLst/>
          </a:prstGeom>
          <a:noFill/>
          <a:ln>
            <a:noFill/>
          </a:ln>
        </p:spPr>
      </p:pic>
      <p:sp>
        <p:nvSpPr>
          <p:cNvPr id="13" name="Google Shape;13;p3"/>
          <p:cNvSpPr txBox="1">
            <a:spLocks noGrp="1"/>
          </p:cNvSpPr>
          <p:nvPr>
            <p:ph type="body" idx="2"/>
          </p:nvPr>
        </p:nvSpPr>
        <p:spPr>
          <a:xfrm>
            <a:off x="1524000" y="3132668"/>
            <a:ext cx="9144000" cy="12672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000"/>
              </a:spcBef>
              <a:spcAft>
                <a:spcPts val="0"/>
              </a:spcAft>
              <a:buClr>
                <a:schemeClr val="dk2"/>
              </a:buClr>
              <a:buSzPts val="4400"/>
              <a:buFont typeface="Arial"/>
              <a:buNone/>
              <a:defRPr sz="4400" b="0" i="0" u="none" strike="noStrike" cap="none">
                <a:solidFill>
                  <a:schemeClr val="dk2"/>
                </a:solidFill>
                <a:latin typeface="Georgia"/>
                <a:ea typeface="Georgia"/>
                <a:cs typeface="Georgia"/>
                <a:sym typeface="Georgia"/>
              </a:defRPr>
            </a:lvl1pPr>
            <a:lvl2pPr marL="914400" marR="0" lvl="1" indent="-228600" algn="l" rtl="0">
              <a:lnSpc>
                <a:spcPct val="90000"/>
              </a:lnSpc>
              <a:spcBef>
                <a:spcPts val="5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2"/>
              </a:buClr>
              <a:buSzPts val="6000"/>
              <a:buFont typeface="Georgia"/>
              <a:buNone/>
              <a:defRPr sz="60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2" name="Google Shape;22;p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R="0" lvl="1" algn="ctr"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2pPr>
            <a:lvl3pPr marR="0" lvl="2" algn="ctr"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R="0" lvl="3"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4pPr>
            <a:lvl5pPr marR="0" lvl="4"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23" name="Google Shape;23;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 name="Google Shape;25;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8" name="Google Shape;28;p6"/>
          <p:cNvSpPr txBox="1">
            <a:spLocks noGrp="1"/>
          </p:cNvSpPr>
          <p:nvPr>
            <p:ph type="body" idx="1"/>
          </p:nvPr>
        </p:nvSpPr>
        <p:spPr>
          <a:xfrm>
            <a:off x="838200" y="2327563"/>
            <a:ext cx="10515600" cy="3849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 name="Google Shape;29;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6000"/>
              <a:buFont typeface="Georgia"/>
              <a:buNone/>
              <a:defRPr sz="60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4" name="Google Shape;34;p7"/>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35" name="Google Shape;35;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838200" y="1021278"/>
            <a:ext cx="10515600" cy="10914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0" name="Google Shape;40;p8"/>
          <p:cNvSpPr txBox="1">
            <a:spLocks noGrp="1"/>
          </p:cNvSpPr>
          <p:nvPr>
            <p:ph type="body" idx="1"/>
          </p:nvPr>
        </p:nvSpPr>
        <p:spPr>
          <a:xfrm>
            <a:off x="838200" y="2291937"/>
            <a:ext cx="5181600" cy="3885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1" name="Google Shape;41;p8"/>
          <p:cNvSpPr txBox="1">
            <a:spLocks noGrp="1"/>
          </p:cNvSpPr>
          <p:nvPr>
            <p:ph type="body" idx="2"/>
          </p:nvPr>
        </p:nvSpPr>
        <p:spPr>
          <a:xfrm>
            <a:off x="6172200" y="2291937"/>
            <a:ext cx="5181600" cy="3885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2" name="Google Shape;42;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838200" y="914400"/>
            <a:ext cx="10515600" cy="12684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7" name="Google Shape;47;p9"/>
          <p:cNvSpPr txBox="1">
            <a:spLocks noGrp="1"/>
          </p:cNvSpPr>
          <p:nvPr>
            <p:ph type="body" idx="1"/>
          </p:nvPr>
        </p:nvSpPr>
        <p:spPr>
          <a:xfrm>
            <a:off x="836612" y="2182813"/>
            <a:ext cx="51579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1"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2000"/>
              <a:buFont typeface="Arial"/>
              <a:buNone/>
              <a:defRPr sz="2000" b="1"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48" name="Google Shape;48;p9"/>
          <p:cNvSpPr txBox="1">
            <a:spLocks noGrp="1"/>
          </p:cNvSpPr>
          <p:nvPr>
            <p:ph type="body" idx="2"/>
          </p:nvPr>
        </p:nvSpPr>
        <p:spPr>
          <a:xfrm>
            <a:off x="839788" y="3006725"/>
            <a:ext cx="5157900" cy="3183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 name="Google Shape;49;p9"/>
          <p:cNvSpPr txBox="1">
            <a:spLocks noGrp="1"/>
          </p:cNvSpPr>
          <p:nvPr>
            <p:ph type="body" idx="3"/>
          </p:nvPr>
        </p:nvSpPr>
        <p:spPr>
          <a:xfrm>
            <a:off x="6169024" y="2182813"/>
            <a:ext cx="51831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1"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2000"/>
              <a:buFont typeface="Arial"/>
              <a:buNone/>
              <a:defRPr sz="2000" b="1"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50" name="Google Shape;50;p9"/>
          <p:cNvSpPr txBox="1">
            <a:spLocks noGrp="1"/>
          </p:cNvSpPr>
          <p:nvPr>
            <p:ph type="body" idx="4"/>
          </p:nvPr>
        </p:nvSpPr>
        <p:spPr>
          <a:xfrm>
            <a:off x="6172200" y="3006725"/>
            <a:ext cx="5183100" cy="3183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3" name="Google Shape;53;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6" name="Google Shape;56;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1" name="Google Shape;61;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2"/>
          <p:cNvSpPr txBox="1">
            <a:spLocks noGrp="1"/>
          </p:cNvSpPr>
          <p:nvPr>
            <p:ph type="title"/>
          </p:nvPr>
        </p:nvSpPr>
        <p:spPr>
          <a:xfrm>
            <a:off x="839788" y="902524"/>
            <a:ext cx="3932100" cy="1321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65" name="Google Shape;65;p12"/>
          <p:cNvSpPr txBox="1">
            <a:spLocks noGrp="1"/>
          </p:cNvSpPr>
          <p:nvPr>
            <p:ph type="body" idx="1"/>
          </p:nvPr>
        </p:nvSpPr>
        <p:spPr>
          <a:xfrm>
            <a:off x="5183188" y="1224925"/>
            <a:ext cx="6172200" cy="48735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1pPr>
            <a:lvl2pPr marL="914400" marR="0" lvl="1" indent="-406400" algn="l" rtl="0">
              <a:lnSpc>
                <a:spcPct val="90000"/>
              </a:lnSpc>
              <a:spcBef>
                <a:spcPts val="5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3pPr>
            <a:lvl4pPr marL="1828800" marR="0" lvl="3"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4pPr>
            <a:lvl5pPr marL="2286000" marR="0" lvl="4"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6" name="Google Shape;66;p12"/>
          <p:cNvSpPr txBox="1">
            <a:spLocks noGrp="1"/>
          </p:cNvSpPr>
          <p:nvPr>
            <p:ph type="body" idx="2"/>
          </p:nvPr>
        </p:nvSpPr>
        <p:spPr>
          <a:xfrm>
            <a:off x="839788" y="22949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67" name="Google Shape;67;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8" name="Google Shape;68;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839788" y="926274"/>
            <a:ext cx="3932100" cy="12975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2" name="Google Shape;72;p13"/>
          <p:cNvSpPr>
            <a:spLocks noGrp="1"/>
          </p:cNvSpPr>
          <p:nvPr>
            <p:ph type="pic" idx="2"/>
          </p:nvPr>
        </p:nvSpPr>
        <p:spPr>
          <a:xfrm>
            <a:off x="5183188" y="1272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2"/>
              </a:buClr>
              <a:buSzPts val="3200"/>
              <a:buFont typeface="Arial"/>
              <a:buNone/>
              <a:defRPr sz="3200" b="0" i="0" u="none" strike="noStrike" cap="none">
                <a:solidFill>
                  <a:schemeClr val="dk2"/>
                </a:solidFill>
                <a:latin typeface="Arial"/>
                <a:ea typeface="Arial"/>
                <a:cs typeface="Arial"/>
                <a:sym typeface="Arial"/>
              </a:defRPr>
            </a:lvl1pPr>
            <a:lvl2pPr marR="0" lvl="1" algn="l" rtl="0">
              <a:lnSpc>
                <a:spcPct val="90000"/>
              </a:lnSpc>
              <a:spcBef>
                <a:spcPts val="50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l" rtl="0">
              <a:lnSpc>
                <a:spcPct val="90000"/>
              </a:lnSpc>
              <a:spcBef>
                <a:spcPts val="5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3pPr>
            <a:lvl4pPr marR="0" lvl="3"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4pPr>
            <a:lvl5pPr marR="0" lvl="4"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3" name="Google Shape;73;p13"/>
          <p:cNvSpPr txBox="1">
            <a:spLocks noGrp="1"/>
          </p:cNvSpPr>
          <p:nvPr>
            <p:ph type="body" idx="1"/>
          </p:nvPr>
        </p:nvSpPr>
        <p:spPr>
          <a:xfrm>
            <a:off x="839788" y="23424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74" name="Google Shape;74;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9" name="Google Shape;79;p14"/>
          <p:cNvSpPr txBox="1">
            <a:spLocks noGrp="1"/>
          </p:cNvSpPr>
          <p:nvPr>
            <p:ph type="body" idx="1"/>
          </p:nvPr>
        </p:nvSpPr>
        <p:spPr>
          <a:xfrm rot="5400000">
            <a:off x="4171350" y="-1005587"/>
            <a:ext cx="3849300"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0" name="Google Shape;80;p1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rot="5400000">
            <a:off x="7425900" y="2249025"/>
            <a:ext cx="5226900" cy="26289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5" name="Google Shape;85;p15"/>
          <p:cNvSpPr txBox="1">
            <a:spLocks noGrp="1"/>
          </p:cNvSpPr>
          <p:nvPr>
            <p:ph type="body" idx="1"/>
          </p:nvPr>
        </p:nvSpPr>
        <p:spPr>
          <a:xfrm rot="5400000">
            <a:off x="2091900" y="-303675"/>
            <a:ext cx="5226900"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6" name="Google Shape;86;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7" name="Google Shape;87;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8" name="Google Shape;88;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2.jp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6" name="Google Shape;16;p4"/>
          <p:cNvSpPr txBox="1">
            <a:spLocks noGrp="1"/>
          </p:cNvSpPr>
          <p:nvPr>
            <p:ph type="body" idx="1"/>
          </p:nvPr>
        </p:nvSpPr>
        <p:spPr>
          <a:xfrm>
            <a:off x="838200" y="2327563"/>
            <a:ext cx="10515600" cy="3849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 name="Google Shape;17;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hyperlink" Target="https://datatracker.ietf.org/doc/html/rfc793"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dk2"/>
              </a:buClr>
              <a:buSzPts val="6000"/>
              <a:buFont typeface="Georgia"/>
              <a:buNone/>
            </a:pPr>
            <a:r>
              <a:rPr lang="en-US" sz="4900" dirty="0"/>
              <a:t>CSC 362: Systems Programming</a:t>
            </a:r>
            <a:endParaRPr sz="4900" b="0" i="0" u="none" strike="noStrike" cap="none" dirty="0">
              <a:solidFill>
                <a:schemeClr val="dk2"/>
              </a:solidFill>
              <a:latin typeface="Georgia"/>
              <a:ea typeface="Georgia"/>
              <a:cs typeface="Georgia"/>
              <a:sym typeface="Georgia"/>
            </a:endParaRPr>
          </a:p>
        </p:txBody>
      </p:sp>
      <p:sp>
        <p:nvSpPr>
          <p:cNvPr id="94" name="Google Shape;94;p16"/>
          <p:cNvSpPr txBox="1">
            <a:spLocks noGrp="1"/>
          </p:cNvSpPr>
          <p:nvPr>
            <p:ph type="subTitle" idx="1"/>
          </p:nvPr>
        </p:nvSpPr>
        <p:spPr>
          <a:xfrm>
            <a:off x="1524000" y="3602037"/>
            <a:ext cx="9144000" cy="2768617"/>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2"/>
              </a:buClr>
              <a:buSzPts val="2400"/>
              <a:buFont typeface="Arial"/>
              <a:buNone/>
            </a:pPr>
            <a:r>
              <a:rPr lang="en-US" dirty="0"/>
              <a:t>Lecture 22</a:t>
            </a:r>
            <a:endParaRPr dirty="0"/>
          </a:p>
          <a:p>
            <a:pPr marL="0" marR="0" lvl="0" indent="0" algn="ctr" rtl="0">
              <a:lnSpc>
                <a:spcPct val="90000"/>
              </a:lnSpc>
              <a:spcBef>
                <a:spcPts val="0"/>
              </a:spcBef>
              <a:spcAft>
                <a:spcPts val="0"/>
              </a:spcAft>
              <a:buClr>
                <a:schemeClr val="dk2"/>
              </a:buClr>
              <a:buSzPts val="2400"/>
              <a:buFont typeface="Arial"/>
              <a:buNone/>
            </a:pPr>
            <a:endParaRPr dirty="0"/>
          </a:p>
          <a:p>
            <a:pPr marL="0" lvl="0" indent="0">
              <a:lnSpc>
                <a:spcPct val="110000"/>
              </a:lnSpc>
              <a:spcBef>
                <a:spcPts val="0"/>
              </a:spcBef>
            </a:pPr>
            <a:r>
              <a:rPr lang="en-US" sz="1600" dirty="0"/>
              <a:t>Original slides by: Amitabha Dey</a:t>
            </a:r>
          </a:p>
          <a:p>
            <a:pPr marL="0" lvl="0" indent="0">
              <a:lnSpc>
                <a:spcPct val="110000"/>
              </a:lnSpc>
              <a:spcBef>
                <a:spcPts val="0"/>
              </a:spcBef>
            </a:pPr>
            <a:r>
              <a:rPr lang="en-US" sz="1600" dirty="0"/>
              <a:t>Adapted by: Dr. Richard Johnson</a:t>
            </a:r>
            <a:endParaRPr dirty="0"/>
          </a:p>
          <a:p>
            <a:pPr marL="0" marR="0" lvl="0" indent="0" algn="ctr" rtl="0">
              <a:lnSpc>
                <a:spcPct val="90000"/>
              </a:lnSpc>
              <a:spcBef>
                <a:spcPts val="0"/>
              </a:spcBef>
              <a:spcAft>
                <a:spcPts val="0"/>
              </a:spcAft>
              <a:buClr>
                <a:schemeClr val="dk2"/>
              </a:buClr>
              <a:buSzPts val="2400"/>
              <a:buFont typeface="Arial"/>
              <a:buNone/>
            </a:pPr>
            <a:endParaRPr dirty="0"/>
          </a:p>
          <a:p>
            <a:pPr marL="0" marR="0" lvl="0" indent="0" algn="ctr" rtl="0">
              <a:lnSpc>
                <a:spcPct val="90000"/>
              </a:lnSpc>
              <a:spcBef>
                <a:spcPts val="0"/>
              </a:spcBef>
              <a:spcAft>
                <a:spcPts val="0"/>
              </a:spcAft>
              <a:buClr>
                <a:schemeClr val="dk2"/>
              </a:buClr>
              <a:buSzPts val="2400"/>
              <a:buFont typeface="Arial"/>
              <a:buNone/>
            </a:pPr>
            <a:endParaRPr dirty="0"/>
          </a:p>
          <a:p>
            <a:pPr marL="0" marR="0" lvl="0" indent="0" algn="ctr" rtl="0">
              <a:lnSpc>
                <a:spcPct val="90000"/>
              </a:lnSpc>
              <a:spcBef>
                <a:spcPts val="0"/>
              </a:spcBef>
              <a:spcAft>
                <a:spcPts val="0"/>
              </a:spcAft>
              <a:buClr>
                <a:schemeClr val="dk2"/>
              </a:buClr>
              <a:buSzPts val="2400"/>
              <a:buFont typeface="Arial"/>
              <a:buNone/>
            </a:pPr>
            <a:r>
              <a:rPr lang="en-US" dirty="0"/>
              <a:t>Department of Computer Science</a:t>
            </a:r>
            <a:endParaRPr dirty="0"/>
          </a:p>
          <a:p>
            <a:pPr marL="0" marR="0" lvl="0" indent="0" algn="ctr" rtl="0">
              <a:lnSpc>
                <a:spcPct val="90000"/>
              </a:lnSpc>
              <a:spcBef>
                <a:spcPts val="0"/>
              </a:spcBef>
              <a:spcAft>
                <a:spcPts val="0"/>
              </a:spcAft>
              <a:buClr>
                <a:schemeClr val="dk2"/>
              </a:buClr>
              <a:buSzPts val="2400"/>
              <a:buFont typeface="Arial"/>
              <a:buNone/>
            </a:pPr>
            <a:r>
              <a:rPr lang="en-US" dirty="0"/>
              <a:t>University of North Carolina at Greensboro</a:t>
            </a:r>
            <a:endParaRPr dirty="0"/>
          </a:p>
        </p:txBody>
      </p:sp>
      <p:cxnSp>
        <p:nvCxnSpPr>
          <p:cNvPr id="95" name="Google Shape;95;p16">
            <a:extLst>
              <a:ext uri="{C183D7F6-B498-43B3-948B-1728B52AA6E4}">
                <adec:decorative xmlns:adec="http://schemas.microsoft.com/office/drawing/2017/decorative" val="1"/>
              </a:ext>
            </a:extLst>
          </p:cNvPr>
          <p:cNvCxnSpPr/>
          <p:nvPr/>
        </p:nvCxnSpPr>
        <p:spPr>
          <a:xfrm>
            <a:off x="1618175" y="4145625"/>
            <a:ext cx="9054000" cy="309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571" rIns="0" bIns="0" rtlCol="0">
            <a:spAutoFit/>
          </a:bodyPr>
          <a:lstStyle/>
          <a:p>
            <a:pPr marL="143510">
              <a:lnSpc>
                <a:spcPct val="100000"/>
              </a:lnSpc>
              <a:spcBef>
                <a:spcPts val="100"/>
              </a:spcBef>
            </a:pPr>
            <a:r>
              <a:rPr dirty="0"/>
              <a:t>What</a:t>
            </a:r>
            <a:r>
              <a:rPr spc="-35" dirty="0"/>
              <a:t> </a:t>
            </a:r>
            <a:r>
              <a:rPr dirty="0"/>
              <a:t>we</a:t>
            </a:r>
            <a:r>
              <a:rPr spc="-35" dirty="0"/>
              <a:t> </a:t>
            </a:r>
            <a:r>
              <a:rPr dirty="0"/>
              <a:t>will</a:t>
            </a:r>
            <a:r>
              <a:rPr spc="-30" dirty="0"/>
              <a:t> </a:t>
            </a:r>
            <a:r>
              <a:rPr dirty="0"/>
              <a:t>cover</a:t>
            </a:r>
            <a:r>
              <a:rPr spc="-35" dirty="0"/>
              <a:t> </a:t>
            </a:r>
            <a:r>
              <a:rPr dirty="0"/>
              <a:t>in</a:t>
            </a:r>
            <a:r>
              <a:rPr spc="-35" dirty="0"/>
              <a:t> </a:t>
            </a:r>
            <a:r>
              <a:rPr spc="-10" dirty="0"/>
              <a:t>Networking</a:t>
            </a:r>
          </a:p>
        </p:txBody>
      </p:sp>
      <p:sp>
        <p:nvSpPr>
          <p:cNvPr id="4" name="object 4"/>
          <p:cNvSpPr txBox="1"/>
          <p:nvPr/>
        </p:nvSpPr>
        <p:spPr>
          <a:xfrm>
            <a:off x="654862" y="1900855"/>
            <a:ext cx="5117465" cy="4140200"/>
          </a:xfrm>
          <a:prstGeom prst="rect">
            <a:avLst/>
          </a:prstGeom>
        </p:spPr>
        <p:txBody>
          <a:bodyPr vert="horz" wrap="square" lIns="0" tIns="127000" rIns="0" bIns="0" rtlCol="0">
            <a:spAutoFit/>
          </a:bodyPr>
          <a:lstStyle/>
          <a:p>
            <a:pPr marL="356235" marR="0" lvl="0" indent="-343535" defTabSz="914400" eaLnBrk="1" fontAlgn="auto" latinLnBrk="0" hangingPunct="1">
              <a:lnSpc>
                <a:spcPct val="100000"/>
              </a:lnSpc>
              <a:spcBef>
                <a:spcPts val="1000"/>
              </a:spcBef>
              <a:spcAft>
                <a:spcPts val="0"/>
              </a:spcAft>
              <a:buClrTx/>
              <a:buSzTx/>
              <a:buFontTx/>
              <a:buChar char="●"/>
              <a:tabLst>
                <a:tab pos="356235" algn="l"/>
              </a:tabLst>
              <a:defRPr/>
            </a:pPr>
            <a:r>
              <a:rPr kumimoji="0" sz="1500" i="0" u="none" strike="noStrike" kern="0" cap="none" spc="0" normalizeH="0" baseline="0" noProof="0" dirty="0">
                <a:ln>
                  <a:noFill/>
                </a:ln>
                <a:solidFill>
                  <a:srgbClr val="0F2044"/>
                </a:solidFill>
                <a:effectLst/>
                <a:uLnTx/>
                <a:uFillTx/>
                <a:latin typeface="Arial MT"/>
                <a:cs typeface="Arial MT"/>
              </a:rPr>
              <a:t>OSI</a:t>
            </a:r>
            <a:r>
              <a:rPr kumimoji="0" sz="1500" i="0" u="none" strike="noStrike" kern="0" cap="none" spc="-30" normalizeH="0" baseline="0" noProof="0" dirty="0">
                <a:ln>
                  <a:noFill/>
                </a:ln>
                <a:solidFill>
                  <a:srgbClr val="0F2044"/>
                </a:solidFill>
                <a:effectLst/>
                <a:uLnTx/>
                <a:uFillTx/>
                <a:latin typeface="Arial MT"/>
                <a:cs typeface="Arial MT"/>
              </a:rPr>
              <a:t> </a:t>
            </a:r>
            <a:r>
              <a:rPr kumimoji="0" sz="1500" i="0" u="none" strike="noStrike" kern="0" cap="none" spc="0" normalizeH="0" baseline="0" noProof="0" dirty="0">
                <a:ln>
                  <a:noFill/>
                </a:ln>
                <a:solidFill>
                  <a:srgbClr val="0F2044"/>
                </a:solidFill>
                <a:effectLst/>
                <a:uLnTx/>
                <a:uFillTx/>
                <a:latin typeface="Arial MT"/>
                <a:cs typeface="Arial MT"/>
              </a:rPr>
              <a:t>Model</a:t>
            </a:r>
            <a:r>
              <a:rPr kumimoji="0" sz="1500" i="0" u="none" strike="noStrike" kern="0" cap="none" spc="-25" normalizeH="0" baseline="0" noProof="0" dirty="0">
                <a:ln>
                  <a:noFill/>
                </a:ln>
                <a:solidFill>
                  <a:srgbClr val="0F2044"/>
                </a:solidFill>
                <a:effectLst/>
                <a:uLnTx/>
                <a:uFillTx/>
                <a:latin typeface="Arial MT"/>
                <a:cs typeface="Arial MT"/>
              </a:rPr>
              <a:t> </a:t>
            </a:r>
            <a:r>
              <a:rPr kumimoji="0" sz="1500" i="0" u="none" strike="noStrike" kern="0" cap="none" spc="0" normalizeH="0" baseline="0" noProof="0" dirty="0">
                <a:ln>
                  <a:noFill/>
                </a:ln>
                <a:solidFill>
                  <a:srgbClr val="0F2044"/>
                </a:solidFill>
                <a:effectLst/>
                <a:uLnTx/>
                <a:uFillTx/>
                <a:latin typeface="Arial MT"/>
                <a:cs typeface="Arial MT"/>
              </a:rPr>
              <a:t>-</a:t>
            </a:r>
            <a:r>
              <a:rPr kumimoji="0" sz="1500" i="0" u="none" strike="noStrike" kern="0" cap="none" spc="-25" normalizeH="0" baseline="0" noProof="0" dirty="0">
                <a:ln>
                  <a:noFill/>
                </a:ln>
                <a:solidFill>
                  <a:srgbClr val="0F2044"/>
                </a:solidFill>
                <a:effectLst/>
                <a:uLnTx/>
                <a:uFillTx/>
                <a:latin typeface="Arial MT"/>
                <a:cs typeface="Arial MT"/>
              </a:rPr>
              <a:t> </a:t>
            </a:r>
            <a:r>
              <a:rPr kumimoji="0" sz="1500" i="0" u="none" strike="noStrike" kern="0" cap="none" spc="0" normalizeH="0" baseline="0" noProof="0" dirty="0">
                <a:ln>
                  <a:noFill/>
                </a:ln>
                <a:solidFill>
                  <a:srgbClr val="0F2044"/>
                </a:solidFill>
                <a:effectLst/>
                <a:uLnTx/>
                <a:uFillTx/>
                <a:latin typeface="Arial MT"/>
                <a:cs typeface="Arial MT"/>
              </a:rPr>
              <a:t>7</a:t>
            </a:r>
            <a:r>
              <a:rPr kumimoji="0" sz="1500" i="0" u="none" strike="noStrike" kern="0" cap="none" spc="-25" normalizeH="0" baseline="0" noProof="0" dirty="0">
                <a:ln>
                  <a:noFill/>
                </a:ln>
                <a:solidFill>
                  <a:srgbClr val="0F2044"/>
                </a:solidFill>
                <a:effectLst/>
                <a:uLnTx/>
                <a:uFillTx/>
                <a:latin typeface="Arial MT"/>
                <a:cs typeface="Arial MT"/>
              </a:rPr>
              <a:t> </a:t>
            </a:r>
            <a:r>
              <a:rPr kumimoji="0" sz="1500" i="0" u="none" strike="noStrike" kern="0" cap="none" spc="-10" normalizeH="0" baseline="0" noProof="0" dirty="0">
                <a:ln>
                  <a:noFill/>
                </a:ln>
                <a:solidFill>
                  <a:srgbClr val="0F2044"/>
                </a:solidFill>
                <a:effectLst/>
                <a:uLnTx/>
                <a:uFillTx/>
                <a:latin typeface="Arial MT"/>
                <a:cs typeface="Arial MT"/>
              </a:rPr>
              <a:t>Layers</a:t>
            </a:r>
            <a:endParaRPr kumimoji="0" sz="1500" i="0" u="none" strike="noStrike" kern="0" cap="none" spc="0" normalizeH="0" baseline="0" noProof="0" dirty="0">
              <a:ln>
                <a:noFill/>
              </a:ln>
              <a:solidFill>
                <a:sysClr val="windowText" lastClr="000000"/>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i="0" u="none" strike="noStrike" kern="0" cap="none" spc="0" normalizeH="0" baseline="0" noProof="0" dirty="0">
                <a:ln>
                  <a:noFill/>
                </a:ln>
                <a:solidFill>
                  <a:schemeClr val="tx1"/>
                </a:solidFill>
                <a:effectLst/>
                <a:uLnTx/>
                <a:uFillTx/>
                <a:latin typeface="Arial MT"/>
                <a:cs typeface="Arial MT"/>
              </a:rPr>
              <a:t>TCP/IP</a:t>
            </a:r>
            <a:r>
              <a:rPr kumimoji="0" sz="1500" i="0" u="none" strike="noStrike" kern="0" cap="none" spc="-55" normalizeH="0" baseline="0" noProof="0" dirty="0">
                <a:ln>
                  <a:noFill/>
                </a:ln>
                <a:solidFill>
                  <a:schemeClr val="tx1"/>
                </a:solidFill>
                <a:effectLst/>
                <a:uLnTx/>
                <a:uFillTx/>
                <a:latin typeface="Arial MT"/>
                <a:cs typeface="Arial MT"/>
              </a:rPr>
              <a:t> </a:t>
            </a:r>
            <a:r>
              <a:rPr kumimoji="0" sz="1500" i="0" u="none" strike="noStrike" kern="0" cap="none" spc="-10" normalizeH="0" baseline="0" noProof="0" dirty="0">
                <a:ln>
                  <a:noFill/>
                </a:ln>
                <a:solidFill>
                  <a:schemeClr val="tx1"/>
                </a:solidFill>
                <a:effectLst/>
                <a:uLnTx/>
                <a:uFillTx/>
                <a:latin typeface="Arial MT"/>
                <a:cs typeface="Arial MT"/>
              </a:rPr>
              <a:t>Model</a:t>
            </a:r>
            <a:endParaRPr kumimoji="0" sz="1500" i="0" u="none" strike="noStrike" kern="0" cap="none" spc="0" normalizeH="0" baseline="0" noProof="0" dirty="0">
              <a:ln>
                <a:noFill/>
              </a:ln>
              <a:solidFill>
                <a:schemeClr val="tx1"/>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1" i="0" u="none" strike="noStrike" kern="0" cap="none" spc="0" normalizeH="0" baseline="0" noProof="0" dirty="0">
                <a:ln>
                  <a:noFill/>
                </a:ln>
                <a:solidFill>
                  <a:schemeClr val="tx1"/>
                </a:solidFill>
                <a:effectLst/>
                <a:uLnTx/>
                <a:uFillTx/>
                <a:latin typeface="Arial MT"/>
                <a:cs typeface="Arial MT"/>
              </a:rPr>
              <a:t>Socket</a:t>
            </a:r>
            <a:r>
              <a:rPr kumimoji="0" sz="1500" b="1" i="0" u="none" strike="noStrike" kern="0" cap="none" spc="-80" normalizeH="0" baseline="0" noProof="0" dirty="0">
                <a:ln>
                  <a:noFill/>
                </a:ln>
                <a:solidFill>
                  <a:schemeClr val="tx1"/>
                </a:solidFill>
                <a:effectLst/>
                <a:uLnTx/>
                <a:uFillTx/>
                <a:latin typeface="Arial MT"/>
                <a:cs typeface="Arial MT"/>
              </a:rPr>
              <a:t> </a:t>
            </a:r>
            <a:r>
              <a:rPr kumimoji="0" sz="1500" b="1" i="0" u="none" strike="noStrike" kern="0" cap="none" spc="-10" normalizeH="0" baseline="0" noProof="0" dirty="0">
                <a:ln>
                  <a:noFill/>
                </a:ln>
                <a:solidFill>
                  <a:schemeClr val="tx1"/>
                </a:solidFill>
                <a:effectLst/>
                <a:uLnTx/>
                <a:uFillTx/>
                <a:latin typeface="Arial MT"/>
                <a:cs typeface="Arial MT"/>
              </a:rPr>
              <a:t>Programming</a:t>
            </a:r>
            <a:endParaRPr kumimoji="0" sz="1500" b="1" i="0" u="none" strike="noStrike" kern="0" cap="none" spc="0" normalizeH="0" baseline="0" noProof="0" dirty="0">
              <a:ln>
                <a:noFill/>
              </a:ln>
              <a:solidFill>
                <a:schemeClr val="tx1"/>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b="1" i="0" u="none" strike="noStrike" kern="0" cap="none" spc="-55" normalizeH="0" baseline="0" noProof="0" dirty="0">
                <a:ln>
                  <a:noFill/>
                </a:ln>
                <a:solidFill>
                  <a:schemeClr val="tx1"/>
                </a:solidFill>
                <a:effectLst/>
                <a:uLnTx/>
                <a:uFillTx/>
                <a:latin typeface="Arial MT"/>
                <a:cs typeface="Arial MT"/>
              </a:rPr>
              <a:t>UDP,</a:t>
            </a:r>
            <a:r>
              <a:rPr kumimoji="0" sz="1500" b="1" i="0" u="none" strike="noStrike" kern="0" cap="none" spc="-35" normalizeH="0" baseline="0" noProof="0" dirty="0">
                <a:ln>
                  <a:noFill/>
                </a:ln>
                <a:solidFill>
                  <a:schemeClr val="tx1"/>
                </a:solidFill>
                <a:effectLst/>
                <a:uLnTx/>
                <a:uFillTx/>
                <a:latin typeface="Arial MT"/>
                <a:cs typeface="Arial MT"/>
              </a:rPr>
              <a:t> </a:t>
            </a:r>
            <a:r>
              <a:rPr kumimoji="0" sz="1500" b="1" i="0" u="none" strike="noStrike" kern="0" cap="none" spc="-25" normalizeH="0" baseline="0" noProof="0" dirty="0">
                <a:ln>
                  <a:noFill/>
                </a:ln>
                <a:solidFill>
                  <a:schemeClr val="tx1"/>
                </a:solidFill>
                <a:effectLst/>
                <a:uLnTx/>
                <a:uFillTx/>
                <a:latin typeface="Arial MT"/>
                <a:cs typeface="Arial MT"/>
              </a:rPr>
              <a:t>TCP</a:t>
            </a:r>
            <a:endParaRPr kumimoji="0" sz="1500" b="1" i="0" u="none" strike="noStrike" kern="0" cap="none" spc="0" normalizeH="0" baseline="0" noProof="0" dirty="0">
              <a:ln>
                <a:noFill/>
              </a:ln>
              <a:solidFill>
                <a:schemeClr val="tx1"/>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Socket</a:t>
            </a:r>
            <a:r>
              <a:rPr kumimoji="0" sz="1500" b="0" i="0" u="none" strike="noStrike" kern="0" cap="none" spc="-8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Functions</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connect,</a:t>
            </a:r>
            <a:r>
              <a:rPr kumimoji="0" sz="1500" b="0" i="0" u="none" strike="noStrike" kern="0" cap="none" spc="-8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bind,</a:t>
            </a:r>
            <a:r>
              <a:rPr kumimoji="0" sz="1500" b="0" i="0" u="none" strike="noStrike" kern="0" cap="none" spc="-8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listen,</a:t>
            </a:r>
            <a:r>
              <a:rPr kumimoji="0" sz="1500" b="0" i="0" u="none" strike="noStrike" kern="0" cap="none" spc="-7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accept,</a:t>
            </a:r>
            <a:r>
              <a:rPr kumimoji="0" sz="1500" b="0" i="0" u="none" strike="noStrike" kern="0" cap="none" spc="-8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send,</a:t>
            </a:r>
            <a:r>
              <a:rPr kumimoji="0" sz="1500" b="0" i="0" u="none" strike="noStrike" kern="0" cap="none" spc="-7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receive,</a:t>
            </a:r>
            <a:r>
              <a:rPr kumimoji="0" sz="1500" b="0" i="0" u="none" strike="noStrike" kern="0" cap="none" spc="-8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close</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10" normalizeH="0" baseline="0" noProof="0" dirty="0">
                <a:ln>
                  <a:noFill/>
                </a:ln>
                <a:solidFill>
                  <a:schemeClr val="bg1">
                    <a:lumMod val="65000"/>
                  </a:schemeClr>
                </a:solidFill>
                <a:effectLst/>
                <a:uLnTx/>
                <a:uFillTx/>
                <a:latin typeface="Arial MT"/>
                <a:cs typeface="Arial MT"/>
              </a:rPr>
              <a:t>Client-</a:t>
            </a:r>
            <a:r>
              <a:rPr kumimoji="0" sz="1500" b="0" i="0" u="none" strike="noStrike" kern="0" cap="none" spc="0" normalizeH="0" baseline="0" noProof="0" dirty="0">
                <a:ln>
                  <a:noFill/>
                </a:ln>
                <a:solidFill>
                  <a:schemeClr val="bg1">
                    <a:lumMod val="65000"/>
                  </a:schemeClr>
                </a:solidFill>
                <a:effectLst/>
                <a:uLnTx/>
                <a:uFillTx/>
                <a:latin typeface="Arial MT"/>
                <a:cs typeface="Arial MT"/>
              </a:rPr>
              <a:t>Server</a:t>
            </a:r>
            <a:r>
              <a:rPr kumimoji="0" sz="1500" b="0" i="0" u="none" strike="noStrike" kern="0" cap="none" spc="-25"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Model</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Host</a:t>
            </a:r>
            <a:r>
              <a:rPr kumimoji="0" sz="1500" b="0" i="0" u="none" strike="noStrike" kern="0" cap="none" spc="-4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Byte</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Order</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to</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Network</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Byte</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Order</a:t>
            </a:r>
            <a:r>
              <a:rPr kumimoji="0" sz="1500" b="0" i="0" u="none" strike="noStrike" kern="0" cap="none" spc="-35"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Conversion</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Network</a:t>
            </a:r>
            <a:r>
              <a:rPr kumimoji="0" sz="1500" b="0" i="0" u="none" strike="noStrike" kern="0" cap="none" spc="-65"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Security</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b="0" i="0" u="none" strike="noStrike" kern="0" cap="none" spc="0" normalizeH="0" baseline="0" noProof="0" dirty="0">
                <a:ln>
                  <a:noFill/>
                </a:ln>
                <a:solidFill>
                  <a:schemeClr val="bg1">
                    <a:lumMod val="65000"/>
                  </a:schemeClr>
                </a:solidFill>
                <a:effectLst/>
                <a:uLnTx/>
                <a:uFillTx/>
                <a:latin typeface="Arial MT"/>
                <a:cs typeface="Arial MT"/>
              </a:rPr>
              <a:t>Malware,</a:t>
            </a:r>
            <a:r>
              <a:rPr kumimoji="0" sz="1500" b="0" i="0" u="none" strike="noStrike" kern="0" cap="none" spc="-70" normalizeH="0" baseline="0" noProof="0" dirty="0">
                <a:ln>
                  <a:noFill/>
                </a:ln>
                <a:solidFill>
                  <a:schemeClr val="bg1">
                    <a:lumMod val="65000"/>
                  </a:schemeClr>
                </a:solidFill>
                <a:effectLst/>
                <a:uLnTx/>
                <a:uFillTx/>
                <a:latin typeface="Arial MT"/>
                <a:cs typeface="Arial MT"/>
              </a:rPr>
              <a:t> </a:t>
            </a:r>
            <a:r>
              <a:rPr kumimoji="0" sz="1500" b="0" i="0" u="none" strike="noStrike" kern="0" cap="none" spc="-20" normalizeH="0" baseline="0" noProof="0" dirty="0">
                <a:ln>
                  <a:noFill/>
                </a:ln>
                <a:solidFill>
                  <a:schemeClr val="bg1">
                    <a:lumMod val="65000"/>
                  </a:schemeClr>
                </a:solidFill>
                <a:effectLst/>
                <a:uLnTx/>
                <a:uFillTx/>
                <a:latin typeface="Arial MT"/>
                <a:cs typeface="Arial MT"/>
              </a:rPr>
              <a:t>DoS</a:t>
            </a:r>
            <a:r>
              <a:rPr kumimoji="0" sz="1500" b="0" i="0" u="none" strike="noStrike" kern="0" cap="none" spc="-9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Attacks,</a:t>
            </a:r>
            <a:r>
              <a:rPr kumimoji="0" sz="1500" b="0" i="0" u="none" strike="noStrike" kern="0" cap="none" spc="-3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MitM</a:t>
            </a:r>
            <a:r>
              <a:rPr kumimoji="0" sz="1500" b="0" i="0" u="none" strike="noStrike" kern="0" cap="none" spc="-95"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Attacks,</a:t>
            </a:r>
            <a:r>
              <a:rPr kumimoji="0" sz="1500" b="0" i="0" u="none" strike="noStrike" kern="0" cap="none" spc="-3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Phishing,</a:t>
            </a:r>
            <a:r>
              <a:rPr kumimoji="0" sz="1500" b="0" i="0" u="none" strike="noStrike" kern="0" cap="none" spc="-30" normalizeH="0" baseline="0" noProof="0" dirty="0">
                <a:ln>
                  <a:noFill/>
                </a:ln>
                <a:solidFill>
                  <a:schemeClr val="bg1">
                    <a:lumMod val="65000"/>
                  </a:schemeClr>
                </a:solidFill>
                <a:effectLst/>
                <a:uLnTx/>
                <a:uFillTx/>
                <a:latin typeface="Arial MT"/>
                <a:cs typeface="Arial MT"/>
              </a:rPr>
              <a:t> </a:t>
            </a:r>
            <a:r>
              <a:rPr kumimoji="0" sz="1500" b="0" i="0" u="none" strike="noStrike" kern="0" cap="none" spc="-20" normalizeH="0" baseline="0" noProof="0" dirty="0">
                <a:ln>
                  <a:noFill/>
                </a:ln>
                <a:solidFill>
                  <a:schemeClr val="bg1">
                    <a:lumMod val="65000"/>
                  </a:schemeClr>
                </a:solidFill>
                <a:effectLst/>
                <a:uLnTx/>
                <a:uFillTx/>
                <a:latin typeface="Arial MT"/>
                <a:cs typeface="Arial MT"/>
              </a:rPr>
              <a:t>etc.</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356235" marR="0" lvl="0" indent="-343535" defTabSz="914400" eaLnBrk="1" fontAlgn="auto" latinLnBrk="0" hangingPunct="1">
              <a:lnSpc>
                <a:spcPct val="100000"/>
              </a:lnSpc>
              <a:spcBef>
                <a:spcPts val="900"/>
              </a:spcBef>
              <a:spcAft>
                <a:spcPts val="0"/>
              </a:spcAft>
              <a:buClrTx/>
              <a:buSzTx/>
              <a:buFontTx/>
              <a:buChar char="●"/>
              <a:tabLst>
                <a:tab pos="356235" algn="l"/>
              </a:tabLst>
              <a:defRPr/>
            </a:pPr>
            <a:r>
              <a:rPr kumimoji="0" sz="1500" b="0" i="0" u="none" strike="noStrike" kern="0" cap="none" spc="-10" normalizeH="0" baseline="0" noProof="0" dirty="0">
                <a:ln>
                  <a:noFill/>
                </a:ln>
                <a:solidFill>
                  <a:schemeClr val="bg1">
                    <a:lumMod val="65000"/>
                  </a:schemeClr>
                </a:solidFill>
                <a:effectLst/>
                <a:uLnTx/>
                <a:uFillTx/>
                <a:latin typeface="Arial MT"/>
                <a:cs typeface="Arial MT"/>
              </a:rPr>
              <a:t>Virtualization</a:t>
            </a:r>
            <a:r>
              <a:rPr kumimoji="0" sz="1500" b="0" i="0" u="none" strike="noStrike" kern="0" cap="none" spc="-20" normalizeH="0" baseline="0" noProof="0" dirty="0">
                <a:ln>
                  <a:noFill/>
                </a:ln>
                <a:solidFill>
                  <a:schemeClr val="bg1">
                    <a:lumMod val="65000"/>
                  </a:schemeClr>
                </a:solidFill>
                <a:effectLst/>
                <a:uLnTx/>
                <a:uFillTx/>
                <a:latin typeface="Arial MT"/>
                <a:cs typeface="Arial MT"/>
              </a:rPr>
              <a:t> </a:t>
            </a:r>
            <a:r>
              <a:rPr kumimoji="0" sz="1500" b="0" i="0" u="none" strike="noStrike" kern="0" cap="none" spc="0" normalizeH="0" baseline="0" noProof="0" dirty="0">
                <a:ln>
                  <a:noFill/>
                </a:ln>
                <a:solidFill>
                  <a:schemeClr val="bg1">
                    <a:lumMod val="65000"/>
                  </a:schemeClr>
                </a:solidFill>
                <a:effectLst/>
                <a:uLnTx/>
                <a:uFillTx/>
                <a:latin typeface="Arial MT"/>
                <a:cs typeface="Arial MT"/>
              </a:rPr>
              <a:t>&amp;</a:t>
            </a:r>
            <a:r>
              <a:rPr kumimoji="0" sz="1500" b="0" i="0" u="none" strike="noStrike" kern="0" cap="none" spc="-20" normalizeH="0" baseline="0" noProof="0" dirty="0">
                <a:ln>
                  <a:noFill/>
                </a:ln>
                <a:solidFill>
                  <a:schemeClr val="bg1">
                    <a:lumMod val="65000"/>
                  </a:schemeClr>
                </a:solidFill>
                <a:effectLst/>
                <a:uLnTx/>
                <a:uFillTx/>
                <a:latin typeface="Arial MT"/>
                <a:cs typeface="Arial MT"/>
              </a:rPr>
              <a:t> </a:t>
            </a:r>
            <a:r>
              <a:rPr kumimoji="0" sz="1500" b="0" i="0" u="none" strike="noStrike" kern="0" cap="none" spc="-10" normalizeH="0" baseline="0" noProof="0" dirty="0">
                <a:ln>
                  <a:noFill/>
                </a:ln>
                <a:solidFill>
                  <a:schemeClr val="bg1">
                    <a:lumMod val="65000"/>
                  </a:schemeClr>
                </a:solidFill>
                <a:effectLst/>
                <a:uLnTx/>
                <a:uFillTx/>
                <a:latin typeface="Arial MT"/>
                <a:cs typeface="Arial MT"/>
              </a:rPr>
              <a:t>Containers</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a:p>
            <a:pPr marL="813435" marR="0" lvl="1" indent="-344170" defTabSz="914400" eaLnBrk="1" fontAlgn="auto" latinLnBrk="0" hangingPunct="1">
              <a:lnSpc>
                <a:spcPct val="100000"/>
              </a:lnSpc>
              <a:spcBef>
                <a:spcPts val="900"/>
              </a:spcBef>
              <a:spcAft>
                <a:spcPts val="0"/>
              </a:spcAft>
              <a:buClrTx/>
              <a:buSzTx/>
              <a:buFontTx/>
              <a:buChar char="○"/>
              <a:tabLst>
                <a:tab pos="813435" algn="l"/>
              </a:tabLst>
              <a:defRPr/>
            </a:pPr>
            <a:r>
              <a:rPr kumimoji="0" sz="1500" b="0" i="0" u="none" strike="noStrike" kern="0" cap="none" spc="-10" normalizeH="0" baseline="0" noProof="0" dirty="0">
                <a:ln>
                  <a:noFill/>
                </a:ln>
                <a:solidFill>
                  <a:schemeClr val="bg1">
                    <a:lumMod val="65000"/>
                  </a:schemeClr>
                </a:solidFill>
                <a:effectLst/>
                <a:uLnTx/>
                <a:uFillTx/>
                <a:latin typeface="Arial MT"/>
                <a:cs typeface="Arial MT"/>
              </a:rPr>
              <a:t>Dockers</a:t>
            </a:r>
            <a:endParaRPr kumimoji="0" sz="1500" b="0" i="0" u="none" strike="noStrike" kern="0" cap="none" spc="0" normalizeH="0" baseline="0" noProof="0" dirty="0">
              <a:ln>
                <a:noFill/>
              </a:ln>
              <a:solidFill>
                <a:schemeClr val="bg1">
                  <a:lumMod val="65000"/>
                </a:schemeClr>
              </a:solidFill>
              <a:effectLst/>
              <a:uLnTx/>
              <a:uFillTx/>
              <a:latin typeface="Arial MT"/>
              <a:cs typeface="Arial MT"/>
            </a:endParaRPr>
          </a:p>
        </p:txBody>
      </p:sp>
      <p:pic>
        <p:nvPicPr>
          <p:cNvPr id="3" name="object 3">
            <a:extLst>
              <a:ext uri="{C183D7F6-B498-43B3-948B-1728B52AA6E4}">
                <adec:decorative xmlns:adec="http://schemas.microsoft.com/office/drawing/2017/decorative" val="1"/>
              </a:ext>
            </a:extLst>
          </p:cNvPr>
          <p:cNvPicPr/>
          <p:nvPr/>
        </p:nvPicPr>
        <p:blipFill>
          <a:blip r:embed="rId3" cstate="print"/>
          <a:stretch>
            <a:fillRect/>
          </a:stretch>
        </p:blipFill>
        <p:spPr>
          <a:xfrm>
            <a:off x="7882518" y="2216065"/>
            <a:ext cx="3208348" cy="27438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a:spLocks noGrp="1"/>
          </p:cNvSpPr>
          <p:nvPr>
            <p:ph type="title" idx="4294967295"/>
          </p:nvPr>
        </p:nvSpPr>
        <p:spPr>
          <a:xfrm>
            <a:off x="337350" y="804530"/>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Socket Programming</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01" name="Google Shape;101;p17"/>
          <p:cNvSpPr txBox="1"/>
          <p:nvPr/>
        </p:nvSpPr>
        <p:spPr>
          <a:xfrm>
            <a:off x="398200" y="1563939"/>
            <a:ext cx="5395300" cy="5067383"/>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800" b="1" dirty="0">
                <a:solidFill>
                  <a:schemeClr val="accent4"/>
                </a:solidFill>
              </a:rPr>
              <a:t>Goal</a:t>
            </a:r>
            <a:r>
              <a:rPr lang="en-US" sz="1800" dirty="0">
                <a:solidFill>
                  <a:schemeClr val="dk2"/>
                </a:solidFill>
              </a:rPr>
              <a:t>: </a:t>
            </a:r>
            <a:r>
              <a:rPr lang="en-US" sz="1800" i="1" dirty="0">
                <a:solidFill>
                  <a:schemeClr val="dk2"/>
                </a:solidFill>
              </a:rPr>
              <a:t>Learn how to build client/server applications that communicate using sockets</a:t>
            </a:r>
            <a:endParaRPr sz="1800" i="1" dirty="0">
              <a:solidFill>
                <a:schemeClr val="dk2"/>
              </a:solidFill>
            </a:endParaRPr>
          </a:p>
          <a:p>
            <a:pPr marL="0" lvl="0" indent="0" algn="l" rtl="0">
              <a:lnSpc>
                <a:spcPct val="114000"/>
              </a:lnSpc>
              <a:spcBef>
                <a:spcPts val="0"/>
              </a:spcBef>
              <a:spcAft>
                <a:spcPts val="0"/>
              </a:spcAft>
              <a:buNone/>
            </a:pPr>
            <a:endParaRPr sz="1800" dirty="0">
              <a:solidFill>
                <a:schemeClr val="dk2"/>
              </a:solidFill>
            </a:endParaRPr>
          </a:p>
          <a:p>
            <a:pPr marL="0" lvl="0" indent="0" algn="l" rtl="0">
              <a:lnSpc>
                <a:spcPct val="114000"/>
              </a:lnSpc>
              <a:spcBef>
                <a:spcPts val="0"/>
              </a:spcBef>
              <a:spcAft>
                <a:spcPts val="1800"/>
              </a:spcAft>
              <a:buNone/>
            </a:pPr>
            <a:r>
              <a:rPr lang="en-US" sz="1800" dirty="0">
                <a:solidFill>
                  <a:schemeClr val="dk2"/>
                </a:solidFill>
              </a:rPr>
              <a:t>Socket programming is </a:t>
            </a:r>
            <a:r>
              <a:rPr lang="en-US" sz="1800" u="sng" dirty="0">
                <a:solidFill>
                  <a:schemeClr val="dk2"/>
                </a:solidFill>
              </a:rPr>
              <a:t>a way for computers to communicate with each other over a network using sockets</a:t>
            </a:r>
            <a:r>
              <a:rPr lang="en-US" sz="1800" dirty="0">
                <a:solidFill>
                  <a:schemeClr val="dk2"/>
                </a:solidFill>
              </a:rPr>
              <a:t>, which are software endpoints for sending or receiving data. It enables applications to </a:t>
            </a:r>
            <a:r>
              <a:rPr lang="en-US" sz="1800" u="sng" dirty="0">
                <a:solidFill>
                  <a:schemeClr val="dk2"/>
                </a:solidFill>
              </a:rPr>
              <a:t>establish connections</a:t>
            </a:r>
            <a:r>
              <a:rPr lang="en-US" sz="1800" dirty="0">
                <a:solidFill>
                  <a:schemeClr val="dk2"/>
                </a:solidFill>
              </a:rPr>
              <a:t>, </a:t>
            </a:r>
            <a:r>
              <a:rPr lang="en-US" sz="1800" u="sng" dirty="0">
                <a:solidFill>
                  <a:schemeClr val="dk2"/>
                </a:solidFill>
              </a:rPr>
              <a:t>send data</a:t>
            </a:r>
            <a:r>
              <a:rPr lang="en-US" sz="1800" dirty="0">
                <a:solidFill>
                  <a:schemeClr val="dk2"/>
                </a:solidFill>
              </a:rPr>
              <a:t>, and </a:t>
            </a:r>
            <a:r>
              <a:rPr lang="en-US" sz="1800" u="sng" dirty="0">
                <a:solidFill>
                  <a:schemeClr val="dk2"/>
                </a:solidFill>
              </a:rPr>
              <a:t>receive data across a network</a:t>
            </a:r>
            <a:r>
              <a:rPr lang="en-US" sz="1800" dirty="0">
                <a:solidFill>
                  <a:schemeClr val="dk2"/>
                </a:solidFill>
              </a:rPr>
              <a:t>, such as the internet.</a:t>
            </a:r>
            <a:endParaRPr sz="1800" dirty="0">
              <a:solidFill>
                <a:schemeClr val="dk2"/>
              </a:solidFill>
            </a:endParaRPr>
          </a:p>
          <a:p>
            <a:pPr marL="0" lvl="0" indent="0" algn="l" rtl="0">
              <a:lnSpc>
                <a:spcPct val="114000"/>
              </a:lnSpc>
              <a:spcBef>
                <a:spcPts val="0"/>
              </a:spcBef>
              <a:spcAft>
                <a:spcPts val="1800"/>
              </a:spcAft>
              <a:buNone/>
            </a:pPr>
            <a:r>
              <a:rPr lang="en-US" sz="1800" dirty="0">
                <a:solidFill>
                  <a:schemeClr val="dk2"/>
                </a:solidFill>
              </a:rPr>
              <a:t>In socket programming, </a:t>
            </a:r>
            <a:r>
              <a:rPr lang="en-US" sz="1800" u="sng" dirty="0">
                <a:solidFill>
                  <a:schemeClr val="dk2"/>
                </a:solidFill>
              </a:rPr>
              <a:t>one computer acts as a </a:t>
            </a:r>
            <a:r>
              <a:rPr lang="en-US" sz="1800" b="1" u="sng" dirty="0">
                <a:solidFill>
                  <a:schemeClr val="dk2"/>
                </a:solidFill>
              </a:rPr>
              <a:t>server</a:t>
            </a:r>
            <a:r>
              <a:rPr lang="en-US" sz="1800" dirty="0">
                <a:solidFill>
                  <a:schemeClr val="dk2"/>
                </a:solidFill>
              </a:rPr>
              <a:t>, listening for incoming connections, while the </a:t>
            </a:r>
            <a:r>
              <a:rPr lang="en-US" sz="1800" u="sng" dirty="0">
                <a:solidFill>
                  <a:schemeClr val="dk2"/>
                </a:solidFill>
              </a:rPr>
              <a:t>other acts as a </a:t>
            </a:r>
            <a:r>
              <a:rPr lang="en-US" sz="1800" b="1" u="sng" dirty="0">
                <a:solidFill>
                  <a:schemeClr val="dk2"/>
                </a:solidFill>
              </a:rPr>
              <a:t>client</a:t>
            </a:r>
            <a:r>
              <a:rPr lang="en-US" sz="1800" dirty="0">
                <a:solidFill>
                  <a:schemeClr val="dk2"/>
                </a:solidFill>
              </a:rPr>
              <a:t>, initiating the connection. </a:t>
            </a:r>
            <a:endParaRPr sz="1800" dirty="0">
              <a:solidFill>
                <a:schemeClr val="dk2"/>
              </a:solidFill>
            </a:endParaRPr>
          </a:p>
          <a:p>
            <a:pPr marL="0" lvl="0" indent="0" algn="l" rtl="0">
              <a:lnSpc>
                <a:spcPct val="114000"/>
              </a:lnSpc>
              <a:spcBef>
                <a:spcPts val="0"/>
              </a:spcBef>
              <a:spcAft>
                <a:spcPts val="0"/>
              </a:spcAft>
              <a:buNone/>
            </a:pPr>
            <a:r>
              <a:rPr lang="en-US" sz="1800" dirty="0">
                <a:solidFill>
                  <a:schemeClr val="dk2"/>
                </a:solidFill>
              </a:rPr>
              <a:t>Once a connection is established, both the client and server can send and receive data.</a:t>
            </a:r>
            <a:endParaRPr sz="1800" dirty="0">
              <a:solidFill>
                <a:schemeClr val="dk2"/>
              </a:solidFill>
            </a:endParaRPr>
          </a:p>
        </p:txBody>
      </p:sp>
      <p:pic>
        <p:nvPicPr>
          <p:cNvPr id="102" name="Google Shape;102;p17" descr="A diagram showing the high-level relationship between a client process and a server process using sockets over time."/>
          <p:cNvPicPr preferRelativeResize="0"/>
          <p:nvPr/>
        </p:nvPicPr>
        <p:blipFill>
          <a:blip r:embed="rId3">
            <a:alphaModFix/>
          </a:blip>
          <a:stretch>
            <a:fillRect/>
          </a:stretch>
        </p:blipFill>
        <p:spPr>
          <a:xfrm>
            <a:off x="5793500" y="2768103"/>
            <a:ext cx="5958675" cy="2952850"/>
          </a:xfrm>
          <a:prstGeom prst="rect">
            <a:avLst/>
          </a:prstGeom>
          <a:noFill/>
          <a:ln w="9525" cap="flat" cmpd="sng">
            <a:solidFill>
              <a:schemeClr val="dk2"/>
            </a:solidFill>
            <a:prstDash val="solid"/>
            <a:round/>
            <a:headEnd type="none" w="sm" len="sm"/>
            <a:tailEnd type="none" w="sm" len="sm"/>
          </a:ln>
        </p:spPr>
      </p:pic>
      <p:sp>
        <p:nvSpPr>
          <p:cNvPr id="103" name="Google Shape;103;p17">
            <a:extLst>
              <a:ext uri="{C183D7F6-B498-43B3-948B-1728B52AA6E4}">
                <adec:decorative xmlns:adec="http://schemas.microsoft.com/office/drawing/2017/decorative" val="1"/>
              </a:ext>
            </a:extLst>
          </p:cNvPr>
          <p:cNvSpPr txBox="1"/>
          <p:nvPr/>
        </p:nvSpPr>
        <p:spPr>
          <a:xfrm>
            <a:off x="7830200" y="57899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https://netlab.ulusofona.pt/</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idx="4294967295"/>
          </p:nvPr>
        </p:nvSpPr>
        <p:spPr>
          <a:xfrm>
            <a:off x="337350" y="1156220"/>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client-server model</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09" name="Google Shape;109;p18"/>
          <p:cNvSpPr txBox="1"/>
          <p:nvPr/>
        </p:nvSpPr>
        <p:spPr>
          <a:xfrm>
            <a:off x="398200" y="1915629"/>
            <a:ext cx="5276100" cy="4754028"/>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1800"/>
              </a:spcAft>
              <a:buNone/>
            </a:pPr>
            <a:r>
              <a:rPr lang="en-US" sz="1700" dirty="0">
                <a:solidFill>
                  <a:schemeClr val="dk2"/>
                </a:solidFill>
              </a:rPr>
              <a:t>The client-server model is one of the most used communication paradigms in networked systems. Clients normally communicates with one server at a time. </a:t>
            </a:r>
            <a:endParaRPr sz="1700" dirty="0">
              <a:solidFill>
                <a:schemeClr val="dk2"/>
              </a:solidFill>
            </a:endParaRPr>
          </a:p>
          <a:p>
            <a:pPr marL="0" lvl="0" indent="0" algn="l" rtl="0">
              <a:lnSpc>
                <a:spcPct val="114000"/>
              </a:lnSpc>
              <a:spcBef>
                <a:spcPts val="0"/>
              </a:spcBef>
              <a:spcAft>
                <a:spcPts val="1800"/>
              </a:spcAft>
              <a:buNone/>
            </a:pPr>
            <a:r>
              <a:rPr lang="en-US" sz="1700" dirty="0">
                <a:solidFill>
                  <a:schemeClr val="dk2"/>
                </a:solidFill>
              </a:rPr>
              <a:t>From a server’s perspective, at any point in time, it is not unusual for a server to be communicating with multiple clients. </a:t>
            </a:r>
            <a:endParaRPr sz="1700" dirty="0">
              <a:solidFill>
                <a:schemeClr val="dk2"/>
              </a:solidFill>
            </a:endParaRPr>
          </a:p>
          <a:p>
            <a:pPr marL="0" lvl="0" indent="0" algn="l" rtl="0">
              <a:lnSpc>
                <a:spcPct val="114000"/>
              </a:lnSpc>
              <a:spcBef>
                <a:spcPts val="0"/>
              </a:spcBef>
              <a:spcAft>
                <a:spcPts val="1800"/>
              </a:spcAft>
              <a:buNone/>
            </a:pPr>
            <a:r>
              <a:rPr lang="en-US" sz="1700" dirty="0">
                <a:solidFill>
                  <a:schemeClr val="dk2"/>
                </a:solidFill>
              </a:rPr>
              <a:t>Client need to know of the existence of and the address of the server, but the server does not need to know the address of (or even the existence of) the client prior to the connection being established</a:t>
            </a:r>
            <a:endParaRPr sz="1700" dirty="0">
              <a:solidFill>
                <a:schemeClr val="dk2"/>
              </a:solidFill>
            </a:endParaRPr>
          </a:p>
          <a:p>
            <a:pPr marL="0" lvl="0" indent="0" algn="l" rtl="0">
              <a:lnSpc>
                <a:spcPct val="114000"/>
              </a:lnSpc>
              <a:spcBef>
                <a:spcPts val="0"/>
              </a:spcBef>
              <a:spcAft>
                <a:spcPts val="0"/>
              </a:spcAft>
              <a:buNone/>
            </a:pPr>
            <a:r>
              <a:rPr lang="en-US" sz="1700" dirty="0">
                <a:solidFill>
                  <a:schemeClr val="dk2"/>
                </a:solidFill>
              </a:rPr>
              <a:t>Client and servers communicate by means of multiple layers of network protocols.</a:t>
            </a:r>
            <a:endParaRPr sz="1700" dirty="0">
              <a:solidFill>
                <a:schemeClr val="dk2"/>
              </a:solidFill>
            </a:endParaRPr>
          </a:p>
        </p:txBody>
      </p:sp>
      <p:pic>
        <p:nvPicPr>
          <p:cNvPr id="111" name="Google Shape;111;p18" descr="A flow chart of the Socket API function calls for both Client and Server from initialization to closure."/>
          <p:cNvPicPr preferRelativeResize="0"/>
          <p:nvPr/>
        </p:nvPicPr>
        <p:blipFill>
          <a:blip r:embed="rId3">
            <a:alphaModFix/>
          </a:blip>
          <a:stretch>
            <a:fillRect/>
          </a:stretch>
        </p:blipFill>
        <p:spPr>
          <a:xfrm>
            <a:off x="5874725" y="1413891"/>
            <a:ext cx="5957488" cy="4680884"/>
          </a:xfrm>
          <a:prstGeom prst="rect">
            <a:avLst/>
          </a:prstGeom>
          <a:noFill/>
          <a:ln w="9525" cap="flat" cmpd="sng">
            <a:solidFill>
              <a:schemeClr val="dk2"/>
            </a:solidFill>
            <a:prstDash val="solid"/>
            <a:round/>
            <a:headEnd type="none" w="sm" len="sm"/>
            <a:tailEnd type="none" w="sm" len="sm"/>
          </a:ln>
        </p:spPr>
      </p:pic>
      <p:sp>
        <p:nvSpPr>
          <p:cNvPr id="110" name="Google Shape;110;p18">
            <a:extLst>
              <a:ext uri="{C183D7F6-B498-43B3-948B-1728B52AA6E4}">
                <adec:decorative xmlns:adec="http://schemas.microsoft.com/office/drawing/2017/decorative" val="1"/>
              </a:ext>
            </a:extLst>
          </p:cNvPr>
          <p:cNvSpPr txBox="1"/>
          <p:nvPr/>
        </p:nvSpPr>
        <p:spPr>
          <a:xfrm>
            <a:off x="7830200" y="60947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https://www.javatpoint.com/</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client-server model</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19" name="Google Shape;119;p19"/>
          <p:cNvSpPr txBox="1"/>
          <p:nvPr/>
        </p:nvSpPr>
        <p:spPr>
          <a:xfrm>
            <a:off x="364256" y="2174948"/>
            <a:ext cx="5221644" cy="3334537"/>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800" dirty="0">
                <a:solidFill>
                  <a:schemeClr val="dk2"/>
                </a:solidFill>
              </a:rPr>
              <a:t>Client and the server on the same local network - </a:t>
            </a:r>
            <a:endParaRPr sz="1800" dirty="0">
              <a:solidFill>
                <a:schemeClr val="dk2"/>
              </a:solidFill>
            </a:endParaRPr>
          </a:p>
          <a:p>
            <a:pPr marL="0" lvl="0" indent="0" algn="l" rtl="0">
              <a:lnSpc>
                <a:spcPct val="114000"/>
              </a:lnSpc>
              <a:spcBef>
                <a:spcPts val="0"/>
              </a:spcBef>
              <a:spcAft>
                <a:spcPts val="1200"/>
              </a:spcAft>
              <a:buNone/>
            </a:pPr>
            <a:r>
              <a:rPr lang="en-US" sz="1800" b="1" dirty="0">
                <a:solidFill>
                  <a:schemeClr val="accent4"/>
                </a:solidFill>
              </a:rPr>
              <a:t>LAN (Local Area Network)</a:t>
            </a:r>
            <a:endParaRPr sz="1800" b="1" dirty="0">
              <a:solidFill>
                <a:schemeClr val="accent4"/>
              </a:solidFill>
            </a:endParaRPr>
          </a:p>
          <a:p>
            <a:pPr marL="457200" lvl="0" indent="-330200" algn="l" rtl="0">
              <a:lnSpc>
                <a:spcPct val="114000"/>
              </a:lnSpc>
              <a:spcBef>
                <a:spcPts val="0"/>
              </a:spcBef>
              <a:spcAft>
                <a:spcPts val="600"/>
              </a:spcAft>
              <a:buClr>
                <a:schemeClr val="dk1"/>
              </a:buClr>
              <a:buSzPts val="1600"/>
              <a:buChar char="●"/>
            </a:pPr>
            <a:r>
              <a:rPr lang="en-US" sz="1800" dirty="0">
                <a:solidFill>
                  <a:schemeClr val="dk1"/>
                </a:solidFill>
              </a:rPr>
              <a:t>Covers a small geographical area, such as a single building, office, or campus.</a:t>
            </a:r>
            <a:endParaRPr sz="1800" dirty="0">
              <a:solidFill>
                <a:schemeClr val="dk1"/>
              </a:solidFill>
            </a:endParaRPr>
          </a:p>
          <a:p>
            <a:pPr marL="457200" lvl="0" indent="-330200" algn="l" rtl="0">
              <a:lnSpc>
                <a:spcPct val="114000"/>
              </a:lnSpc>
              <a:spcBef>
                <a:spcPts val="0"/>
              </a:spcBef>
              <a:spcAft>
                <a:spcPts val="600"/>
              </a:spcAft>
              <a:buClr>
                <a:schemeClr val="dk1"/>
              </a:buClr>
              <a:buSzPts val="1600"/>
              <a:buChar char="●"/>
            </a:pPr>
            <a:r>
              <a:rPr lang="en-US" sz="1800" dirty="0">
                <a:solidFill>
                  <a:schemeClr val="dk1"/>
                </a:solidFill>
              </a:rPr>
              <a:t>Usually owned, controlled, and operated by a single organization, such as a company, school, or government agency</a:t>
            </a:r>
            <a:endParaRPr sz="1800" dirty="0">
              <a:solidFill>
                <a:schemeClr val="dk1"/>
              </a:solidFill>
            </a:endParaRPr>
          </a:p>
          <a:p>
            <a:pPr marL="457200" lvl="0" indent="-330200" algn="l" rtl="0">
              <a:lnSpc>
                <a:spcPct val="114000"/>
              </a:lnSpc>
              <a:spcBef>
                <a:spcPts val="0"/>
              </a:spcBef>
              <a:spcAft>
                <a:spcPts val="0"/>
              </a:spcAft>
              <a:buClr>
                <a:schemeClr val="dk1"/>
              </a:buClr>
              <a:buSzPts val="1600"/>
              <a:buChar char="●"/>
            </a:pPr>
            <a:r>
              <a:rPr lang="en-US" sz="1800" dirty="0">
                <a:solidFill>
                  <a:schemeClr val="dk1"/>
                </a:solidFill>
              </a:rPr>
              <a:t>Characteristics: High data transfer rates, low latency, and high security</a:t>
            </a:r>
            <a:endParaRPr sz="1800" dirty="0">
              <a:solidFill>
                <a:schemeClr val="dk1"/>
              </a:solidFill>
            </a:endParaRPr>
          </a:p>
        </p:txBody>
      </p:sp>
      <p:pic>
        <p:nvPicPr>
          <p:cNvPr id="118" name="Google Shape;118;p19" descr="A conceptual diagram of the client-server model showing multiple clients (laptops and desktop computers) connecting via blue arrows to a single central server represented by a rack-mounted unit."/>
          <p:cNvPicPr preferRelativeResize="0"/>
          <p:nvPr/>
        </p:nvPicPr>
        <p:blipFill>
          <a:blip r:embed="rId3">
            <a:alphaModFix/>
          </a:blip>
          <a:stretch>
            <a:fillRect/>
          </a:stretch>
        </p:blipFill>
        <p:spPr>
          <a:xfrm>
            <a:off x="5879213" y="1567987"/>
            <a:ext cx="5948531" cy="4254925"/>
          </a:xfrm>
          <a:prstGeom prst="rect">
            <a:avLst/>
          </a:prstGeom>
          <a:noFill/>
          <a:ln w="9525" cap="flat" cmpd="sng">
            <a:solidFill>
              <a:schemeClr val="dk2"/>
            </a:solidFill>
            <a:prstDash val="solid"/>
            <a:round/>
            <a:headEnd type="none" w="sm" len="sm"/>
            <a:tailEnd type="none" w="sm" len="sm"/>
          </a:ln>
        </p:spPr>
      </p:pic>
      <p:sp>
        <p:nvSpPr>
          <p:cNvPr id="117" name="Google Shape;117;p19">
            <a:extLst>
              <a:ext uri="{C183D7F6-B498-43B3-948B-1728B52AA6E4}">
                <adec:decorative xmlns:adec="http://schemas.microsoft.com/office/drawing/2017/decorative" val="1"/>
              </a:ext>
            </a:extLst>
          </p:cNvPr>
          <p:cNvSpPr txBox="1"/>
          <p:nvPr/>
        </p:nvSpPr>
        <p:spPr>
          <a:xfrm>
            <a:off x="7708525" y="58995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https://www.cs.dartmouth.edu/</a:t>
            </a:r>
            <a:endParaRPr sz="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a:spLocks noGrp="1"/>
          </p:cNvSpPr>
          <p:nvPr>
            <p:ph type="title" idx="4294967295"/>
          </p:nvPr>
        </p:nvSpPr>
        <p:spPr>
          <a:xfrm>
            <a:off x="337350" y="804529"/>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The client-server model</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26" name="Google Shape;126;p20"/>
          <p:cNvSpPr txBox="1"/>
          <p:nvPr/>
        </p:nvSpPr>
        <p:spPr>
          <a:xfrm>
            <a:off x="337350" y="1517756"/>
            <a:ext cx="5027400" cy="53415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600" dirty="0">
                <a:solidFill>
                  <a:schemeClr val="dk2"/>
                </a:solidFill>
              </a:rPr>
              <a:t>The client and the server may be in different LANs, with both LANs connected to a </a:t>
            </a:r>
            <a:r>
              <a:rPr lang="en-US" sz="1600" b="1" dirty="0">
                <a:solidFill>
                  <a:schemeClr val="accent4"/>
                </a:solidFill>
              </a:rPr>
              <a:t>Wide Area Network (WAN)</a:t>
            </a:r>
            <a:r>
              <a:rPr lang="en-US" sz="1600" dirty="0">
                <a:solidFill>
                  <a:schemeClr val="dk2"/>
                </a:solidFill>
              </a:rPr>
              <a:t> by means of routers. The largest WAN is the Internet, but companies may have their own WANs.</a:t>
            </a:r>
            <a:endParaRPr sz="1600" dirty="0">
              <a:solidFill>
                <a:schemeClr val="dk2"/>
              </a:solidFill>
            </a:endParaRPr>
          </a:p>
          <a:p>
            <a:pPr marL="457200" lvl="0" indent="-330200" algn="l" rtl="0">
              <a:lnSpc>
                <a:spcPct val="114000"/>
              </a:lnSpc>
              <a:spcBef>
                <a:spcPts val="0"/>
              </a:spcBef>
              <a:spcAft>
                <a:spcPts val="600"/>
              </a:spcAft>
              <a:buClr>
                <a:schemeClr val="dk2"/>
              </a:buClr>
              <a:buSzPts val="1600"/>
              <a:buChar char="●"/>
            </a:pPr>
            <a:r>
              <a:rPr lang="en-US" sz="1600" dirty="0">
                <a:solidFill>
                  <a:schemeClr val="dk2"/>
                </a:solidFill>
              </a:rPr>
              <a:t>Spans a large geographical area, often connecting multiple LANs or other networks across cities, countries, or even continents.</a:t>
            </a:r>
            <a:endParaRPr sz="1600" dirty="0">
              <a:solidFill>
                <a:schemeClr val="dk2"/>
              </a:solidFill>
            </a:endParaRPr>
          </a:p>
          <a:p>
            <a:pPr marL="457200" lvl="0" indent="-330200" algn="l" rtl="0">
              <a:lnSpc>
                <a:spcPct val="114000"/>
              </a:lnSpc>
              <a:spcBef>
                <a:spcPts val="0"/>
              </a:spcBef>
              <a:spcAft>
                <a:spcPts val="600"/>
              </a:spcAft>
              <a:buClr>
                <a:schemeClr val="dk2"/>
              </a:buClr>
              <a:buSzPts val="1600"/>
              <a:buChar char="●"/>
            </a:pPr>
            <a:r>
              <a:rPr lang="en-US" sz="1600" dirty="0">
                <a:solidFill>
                  <a:schemeClr val="dk2"/>
                </a:solidFill>
              </a:rPr>
              <a:t>Can be owned and operated by multiple organizations, telecommunications companies, or service providers.</a:t>
            </a:r>
            <a:endParaRPr sz="1600" dirty="0">
              <a:solidFill>
                <a:schemeClr val="dk2"/>
              </a:solidFill>
            </a:endParaRPr>
          </a:p>
          <a:p>
            <a:pPr marL="457200" lvl="0" indent="-330200" algn="l" rtl="0">
              <a:lnSpc>
                <a:spcPct val="114000"/>
              </a:lnSpc>
              <a:spcBef>
                <a:spcPts val="0"/>
              </a:spcBef>
              <a:spcAft>
                <a:spcPts val="600"/>
              </a:spcAft>
              <a:buClr>
                <a:schemeClr val="dk2"/>
              </a:buClr>
              <a:buSzPts val="1600"/>
              <a:buChar char="●"/>
            </a:pPr>
            <a:r>
              <a:rPr lang="en-US" sz="1600" dirty="0">
                <a:solidFill>
                  <a:schemeClr val="dk2"/>
                </a:solidFill>
              </a:rPr>
              <a:t>Characteristics: Lower data transfer rates, higher latency, and lower security compared to LANs due to the larger distances and the involvement of multiple service providers.</a:t>
            </a:r>
            <a:endParaRPr sz="1600" dirty="0">
              <a:solidFill>
                <a:schemeClr val="dk2"/>
              </a:solidFill>
            </a:endParaRPr>
          </a:p>
          <a:p>
            <a:pPr marL="457200" lvl="0" indent="-330200" algn="l" rtl="0">
              <a:lnSpc>
                <a:spcPct val="114000"/>
              </a:lnSpc>
              <a:spcBef>
                <a:spcPts val="0"/>
              </a:spcBef>
              <a:spcAft>
                <a:spcPts val="0"/>
              </a:spcAft>
              <a:buClr>
                <a:schemeClr val="dk2"/>
              </a:buClr>
              <a:buSzPts val="1600"/>
              <a:buChar char="●"/>
            </a:pPr>
            <a:r>
              <a:rPr lang="en-US" sz="1600" dirty="0">
                <a:solidFill>
                  <a:schemeClr val="dk2"/>
                </a:solidFill>
              </a:rPr>
              <a:t>Various technologies for long-distance communication, including leased lines, fiber optics, satellites, and the internet.</a:t>
            </a:r>
            <a:endParaRPr sz="1600" dirty="0">
              <a:solidFill>
                <a:schemeClr val="dk2"/>
              </a:solidFill>
            </a:endParaRPr>
          </a:p>
        </p:txBody>
      </p:sp>
      <p:pic>
        <p:nvPicPr>
          <p:cNvPr id="127" name="Google Shape;127;p20" descr="A high-level view of a Client and Server communicating across a WAN/Internet via multiple routers."/>
          <p:cNvPicPr preferRelativeResize="0"/>
          <p:nvPr/>
        </p:nvPicPr>
        <p:blipFill>
          <a:blip r:embed="rId3">
            <a:alphaModFix/>
          </a:blip>
          <a:stretch>
            <a:fillRect/>
          </a:stretch>
        </p:blipFill>
        <p:spPr>
          <a:xfrm>
            <a:off x="5750500" y="1979975"/>
            <a:ext cx="6242776" cy="3550400"/>
          </a:xfrm>
          <a:prstGeom prst="rect">
            <a:avLst/>
          </a:prstGeom>
          <a:noFill/>
          <a:ln w="9525" cap="flat" cmpd="sng">
            <a:solidFill>
              <a:schemeClr val="dk2"/>
            </a:solidFill>
            <a:prstDash val="solid"/>
            <a:round/>
            <a:headEnd type="none" w="sm" len="sm"/>
            <a:tailEnd type="none" w="sm" len="sm"/>
          </a:ln>
        </p:spPr>
      </p:pic>
      <p:sp>
        <p:nvSpPr>
          <p:cNvPr id="125" name="Google Shape;125;p20">
            <a:extLst>
              <a:ext uri="{C183D7F6-B498-43B3-948B-1728B52AA6E4}">
                <adec:decorative xmlns:adec="http://schemas.microsoft.com/office/drawing/2017/decorative" val="1"/>
              </a:ext>
            </a:extLst>
          </p:cNvPr>
          <p:cNvSpPr txBox="1"/>
          <p:nvPr/>
        </p:nvSpPr>
        <p:spPr>
          <a:xfrm>
            <a:off x="7708525" y="55947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https://www.cs.dartmouth.edu/</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Socket Programming</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33" name="Google Shape;133;p21"/>
          <p:cNvSpPr txBox="1"/>
          <p:nvPr/>
        </p:nvSpPr>
        <p:spPr>
          <a:xfrm>
            <a:off x="337350" y="2707613"/>
            <a:ext cx="5348100" cy="2941801"/>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1800"/>
              </a:spcAft>
              <a:buNone/>
            </a:pPr>
            <a:r>
              <a:rPr lang="en-US" sz="1800" dirty="0">
                <a:solidFill>
                  <a:schemeClr val="dk1"/>
                </a:solidFill>
              </a:rPr>
              <a:t>The </a:t>
            </a:r>
            <a:r>
              <a:rPr lang="en-US" sz="1800" u="sng" dirty="0">
                <a:solidFill>
                  <a:schemeClr val="dk1"/>
                </a:solidFill>
              </a:rPr>
              <a:t>socket API sits between the application layer and the transport layer</a:t>
            </a:r>
            <a:r>
              <a:rPr lang="en-US" sz="1800" dirty="0">
                <a:solidFill>
                  <a:schemeClr val="dk1"/>
                </a:solidFill>
              </a:rPr>
              <a:t> in the networking protocol stack. </a:t>
            </a:r>
            <a:endParaRPr sz="1800" dirty="0">
              <a:solidFill>
                <a:schemeClr val="dk1"/>
              </a:solidFill>
            </a:endParaRPr>
          </a:p>
          <a:p>
            <a:pPr marL="0" lvl="0" indent="0" algn="l" rtl="0">
              <a:lnSpc>
                <a:spcPct val="114000"/>
              </a:lnSpc>
              <a:spcBef>
                <a:spcPts val="0"/>
              </a:spcBef>
              <a:spcAft>
                <a:spcPts val="0"/>
              </a:spcAft>
              <a:buNone/>
            </a:pPr>
            <a:r>
              <a:rPr lang="en-US" sz="1800" dirty="0">
                <a:solidFill>
                  <a:schemeClr val="dk1"/>
                </a:solidFill>
              </a:rPr>
              <a:t>It provides an interface for applications to interact with the transport layer protocols, such as TCP (Transmission Control Protocol) or UDP (User Datagram Protocol), without needing to understand the intricacies of these protocols.</a:t>
            </a:r>
            <a:endParaRPr sz="1800" dirty="0">
              <a:solidFill>
                <a:schemeClr val="dk1"/>
              </a:solidFill>
            </a:endParaRPr>
          </a:p>
        </p:txBody>
      </p:sp>
      <p:pic>
        <p:nvPicPr>
          <p:cNvPr id="135" name="Google Shape;135;p21" descr="A color-coded diagram mapping specific network protocols and interfaces to the OSI model layers."/>
          <p:cNvPicPr preferRelativeResize="0"/>
          <p:nvPr/>
        </p:nvPicPr>
        <p:blipFill>
          <a:blip r:embed="rId3">
            <a:alphaModFix/>
          </a:blip>
          <a:stretch>
            <a:fillRect/>
          </a:stretch>
        </p:blipFill>
        <p:spPr>
          <a:xfrm>
            <a:off x="6202925" y="1567527"/>
            <a:ext cx="5681300" cy="4435075"/>
          </a:xfrm>
          <a:prstGeom prst="rect">
            <a:avLst/>
          </a:prstGeom>
          <a:noFill/>
          <a:ln w="9525" cap="flat" cmpd="sng">
            <a:solidFill>
              <a:schemeClr val="dk2"/>
            </a:solidFill>
            <a:prstDash val="solid"/>
            <a:round/>
            <a:headEnd type="none" w="sm" len="sm"/>
            <a:tailEnd type="none" w="sm" len="sm"/>
          </a:ln>
        </p:spPr>
      </p:pic>
      <p:sp>
        <p:nvSpPr>
          <p:cNvPr id="134" name="Google Shape;134;p21">
            <a:extLst>
              <a:ext uri="{C183D7F6-B498-43B3-948B-1728B52AA6E4}">
                <adec:decorative xmlns:adec="http://schemas.microsoft.com/office/drawing/2017/decorative" val="1"/>
              </a:ext>
            </a:extLst>
          </p:cNvPr>
          <p:cNvSpPr txBox="1"/>
          <p:nvPr/>
        </p:nvSpPr>
        <p:spPr>
          <a:xfrm>
            <a:off x="6202950" y="6081450"/>
            <a:ext cx="568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Al-Naima, Fawzi &amp; Ameen, Hussein. (2016). Design of an RFID-based Students/Employee Attendance System. Majlesi Journal of Electrical Engineering. 10. 23-33.</a:t>
            </a:r>
            <a:endParaRPr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idx="4294967295"/>
          </p:nvPr>
        </p:nvSpPr>
        <p:spPr>
          <a:xfrm>
            <a:off x="337350" y="985399"/>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Socket Programming</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41" name="Google Shape;141;p22"/>
          <p:cNvSpPr txBox="1"/>
          <p:nvPr/>
        </p:nvSpPr>
        <p:spPr>
          <a:xfrm>
            <a:off x="403725" y="1732895"/>
            <a:ext cx="5612100" cy="5067383"/>
          </a:xfrm>
          <a:prstGeom prst="rect">
            <a:avLst/>
          </a:prstGeom>
          <a:noFill/>
          <a:ln>
            <a:noFill/>
          </a:ln>
        </p:spPr>
        <p:txBody>
          <a:bodyPr spcFirstLastPara="1" wrap="square" lIns="91425" tIns="91425" rIns="91425" bIns="91425" anchor="t" anchorCtr="0">
            <a:spAutoFit/>
          </a:bodyPr>
          <a:lstStyle/>
          <a:p>
            <a:pPr marL="457200" lvl="0" indent="-342900" algn="l" rtl="0">
              <a:lnSpc>
                <a:spcPct val="114000"/>
              </a:lnSpc>
              <a:spcBef>
                <a:spcPts val="0"/>
              </a:spcBef>
              <a:spcAft>
                <a:spcPts val="1200"/>
              </a:spcAft>
              <a:buClr>
                <a:schemeClr val="dk1"/>
              </a:buClr>
              <a:buSzPts val="1800"/>
              <a:buChar char="●"/>
            </a:pPr>
            <a:r>
              <a:rPr lang="en-US" sz="1800" dirty="0">
                <a:solidFill>
                  <a:schemeClr val="dk1"/>
                </a:solidFill>
              </a:rPr>
              <a:t>You </a:t>
            </a:r>
            <a:r>
              <a:rPr lang="en-US" sz="1800" u="sng" dirty="0">
                <a:solidFill>
                  <a:schemeClr val="dk1"/>
                </a:solidFill>
              </a:rPr>
              <a:t>must open a socket first before any data can be transferred</a:t>
            </a:r>
            <a:r>
              <a:rPr lang="en-US" sz="1800" dirty="0">
                <a:solidFill>
                  <a:schemeClr val="dk1"/>
                </a:solidFill>
              </a:rPr>
              <a:t>. </a:t>
            </a:r>
            <a:endParaRPr sz="1800" dirty="0">
              <a:solidFill>
                <a:schemeClr val="dk1"/>
              </a:solidFill>
            </a:endParaRPr>
          </a:p>
          <a:p>
            <a:pPr marL="457200" lvl="0" indent="-342900" algn="l" rtl="0">
              <a:lnSpc>
                <a:spcPct val="114000"/>
              </a:lnSpc>
              <a:spcBef>
                <a:spcPts val="0"/>
              </a:spcBef>
              <a:spcAft>
                <a:spcPts val="1200"/>
              </a:spcAft>
              <a:buClr>
                <a:schemeClr val="dk1"/>
              </a:buClr>
              <a:buSzPts val="1800"/>
              <a:buChar char="●"/>
            </a:pPr>
            <a:r>
              <a:rPr lang="en-US" sz="1800" dirty="0">
                <a:solidFill>
                  <a:schemeClr val="dk1"/>
                </a:solidFill>
              </a:rPr>
              <a:t>A socket </a:t>
            </a:r>
            <a:r>
              <a:rPr lang="en-US" sz="1800" u="sng" dirty="0">
                <a:solidFill>
                  <a:schemeClr val="dk1"/>
                </a:solidFill>
              </a:rPr>
              <a:t>specifies the address and port number of the remote host, the local port number, and the transfer protocol</a:t>
            </a:r>
            <a:r>
              <a:rPr lang="en-US" sz="1800" dirty="0">
                <a:solidFill>
                  <a:schemeClr val="dk1"/>
                </a:solidFill>
              </a:rPr>
              <a:t> (UDP or TCP). </a:t>
            </a:r>
            <a:endParaRPr sz="1800" dirty="0">
              <a:solidFill>
                <a:schemeClr val="dk1"/>
              </a:solidFill>
            </a:endParaRPr>
          </a:p>
          <a:p>
            <a:pPr marL="457200" lvl="0" indent="-342900" algn="l" rtl="0">
              <a:lnSpc>
                <a:spcPct val="114000"/>
              </a:lnSpc>
              <a:spcBef>
                <a:spcPts val="0"/>
              </a:spcBef>
              <a:spcAft>
                <a:spcPts val="1200"/>
              </a:spcAft>
              <a:buClr>
                <a:schemeClr val="dk1"/>
              </a:buClr>
              <a:buSzPts val="1800"/>
              <a:buChar char="●"/>
            </a:pPr>
            <a:r>
              <a:rPr lang="en-US" sz="1800" dirty="0">
                <a:solidFill>
                  <a:schemeClr val="dk1"/>
                </a:solidFill>
              </a:rPr>
              <a:t>A socket does not specify the direction of the data transfer; each socket can handle bi-directional transfers. </a:t>
            </a:r>
            <a:endParaRPr sz="1800" dirty="0">
              <a:solidFill>
                <a:schemeClr val="dk1"/>
              </a:solidFill>
            </a:endParaRPr>
          </a:p>
          <a:p>
            <a:pPr marL="457200" lvl="0" indent="-342900" algn="l" rtl="0">
              <a:lnSpc>
                <a:spcPct val="114000"/>
              </a:lnSpc>
              <a:spcBef>
                <a:spcPts val="0"/>
              </a:spcBef>
              <a:spcAft>
                <a:spcPts val="0"/>
              </a:spcAft>
              <a:buClr>
                <a:schemeClr val="dk1"/>
              </a:buClr>
              <a:buSzPts val="1800"/>
              <a:buChar char="●"/>
            </a:pPr>
            <a:r>
              <a:rPr lang="en-US" sz="1800" dirty="0">
                <a:solidFill>
                  <a:schemeClr val="dk1"/>
                </a:solidFill>
              </a:rPr>
              <a:t>A connection can either be a server or a client. </a:t>
            </a:r>
            <a:br>
              <a:rPr lang="en-US" sz="1800" dirty="0">
                <a:solidFill>
                  <a:schemeClr val="dk1"/>
                </a:solidFill>
              </a:rPr>
            </a:br>
            <a:r>
              <a:rPr lang="en-US" sz="1800" dirty="0">
                <a:solidFill>
                  <a:schemeClr val="dk1"/>
                </a:solidFill>
              </a:rPr>
              <a:t>A server connection listens for incoming data on its source port. If data is received, the server responds. A client however actively connects to a server, sends data and receives the server's response.</a:t>
            </a:r>
            <a:endParaRPr sz="1800" dirty="0">
              <a:solidFill>
                <a:schemeClr val="dk1"/>
              </a:solidFill>
            </a:endParaRPr>
          </a:p>
        </p:txBody>
      </p:sp>
      <p:pic>
        <p:nvPicPr>
          <p:cNvPr id="142" name="Google Shape;142;p22" descr="A conceptual diagram showing the Socket acting as an interface between the Application Process and the Transport Layer."/>
          <p:cNvPicPr preferRelativeResize="0"/>
          <p:nvPr/>
        </p:nvPicPr>
        <p:blipFill>
          <a:blip r:embed="rId3">
            <a:alphaModFix/>
          </a:blip>
          <a:stretch>
            <a:fillRect/>
          </a:stretch>
        </p:blipFill>
        <p:spPr>
          <a:xfrm>
            <a:off x="6190600" y="1895041"/>
            <a:ext cx="5612058" cy="3951058"/>
          </a:xfrm>
          <a:prstGeom prst="rect">
            <a:avLst/>
          </a:prstGeom>
          <a:noFill/>
          <a:ln w="9525" cap="flat" cmpd="sng">
            <a:solidFill>
              <a:schemeClr val="dk2"/>
            </a:solidFill>
            <a:prstDash val="solid"/>
            <a:round/>
            <a:headEnd type="none" w="sm" len="sm"/>
            <a:tailEnd type="none" w="sm" len="sm"/>
          </a:ln>
        </p:spPr>
      </p:pic>
      <p:sp>
        <p:nvSpPr>
          <p:cNvPr id="143" name="Google Shape;143;p22">
            <a:extLst>
              <a:ext uri="{C183D7F6-B498-43B3-948B-1728B52AA6E4}">
                <adec:decorative xmlns:adec="http://schemas.microsoft.com/office/drawing/2017/decorative" val="1"/>
              </a:ext>
            </a:extLst>
          </p:cNvPr>
          <p:cNvSpPr txBox="1"/>
          <p:nvPr/>
        </p:nvSpPr>
        <p:spPr>
          <a:xfrm>
            <a:off x="8035425" y="5932750"/>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https://www.dsignt.de/</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Socket Programming</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pic>
        <p:nvPicPr>
          <p:cNvPr id="149" name="Google Shape;149;p23" descr="A diagram showing a server using separate sockets to manage connections and data transfer for multiple clients."/>
          <p:cNvPicPr preferRelativeResize="0"/>
          <p:nvPr/>
        </p:nvPicPr>
        <p:blipFill>
          <a:blip r:embed="rId3">
            <a:alphaModFix/>
          </a:blip>
          <a:stretch>
            <a:fillRect/>
          </a:stretch>
        </p:blipFill>
        <p:spPr>
          <a:xfrm>
            <a:off x="337350" y="2018525"/>
            <a:ext cx="7451950" cy="3589550"/>
          </a:xfrm>
          <a:prstGeom prst="rect">
            <a:avLst/>
          </a:prstGeom>
          <a:noFill/>
          <a:ln>
            <a:noFill/>
          </a:ln>
        </p:spPr>
      </p:pic>
      <p:sp>
        <p:nvSpPr>
          <p:cNvPr id="150" name="Google Shape;150;p23">
            <a:extLst>
              <a:ext uri="{C183D7F6-B498-43B3-948B-1728B52AA6E4}">
                <adec:decorative xmlns:adec="http://schemas.microsoft.com/office/drawing/2017/decorative" val="1"/>
              </a:ext>
            </a:extLst>
          </p:cNvPr>
          <p:cNvSpPr txBox="1"/>
          <p:nvPr/>
        </p:nvSpPr>
        <p:spPr>
          <a:xfrm>
            <a:off x="2918375" y="56080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https://csis.pace.edu/</a:t>
            </a:r>
            <a:endParaRPr sz="800"/>
          </a:p>
        </p:txBody>
      </p:sp>
      <p:sp>
        <p:nvSpPr>
          <p:cNvPr id="151" name="Google Shape;151;p23"/>
          <p:cNvSpPr txBox="1"/>
          <p:nvPr/>
        </p:nvSpPr>
        <p:spPr>
          <a:xfrm>
            <a:off x="7875650" y="2510925"/>
            <a:ext cx="3960000" cy="262601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1800"/>
              </a:spcAft>
              <a:buNone/>
            </a:pPr>
            <a:r>
              <a:rPr lang="en-US" sz="1800" b="1" dirty="0">
                <a:solidFill>
                  <a:schemeClr val="accent4"/>
                </a:solidFill>
              </a:rPr>
              <a:t>Connection socket</a:t>
            </a:r>
            <a:r>
              <a:rPr lang="en-US" sz="1800" dirty="0">
                <a:solidFill>
                  <a:schemeClr val="dk2"/>
                </a:solidFill>
              </a:rPr>
              <a:t> - used by the server to listen for incoming connection requests from clients. </a:t>
            </a:r>
            <a:br>
              <a:rPr lang="en-US" sz="1800" dirty="0">
                <a:solidFill>
                  <a:schemeClr val="dk2"/>
                </a:solidFill>
              </a:rPr>
            </a:br>
            <a:r>
              <a:rPr lang="en-US" sz="1800" dirty="0">
                <a:solidFill>
                  <a:schemeClr val="dk2"/>
                </a:solidFill>
              </a:rPr>
              <a:t>→ Unidirectional</a:t>
            </a:r>
            <a:endParaRPr sz="1800" dirty="0">
              <a:solidFill>
                <a:schemeClr val="dk2"/>
              </a:solidFill>
            </a:endParaRPr>
          </a:p>
          <a:p>
            <a:pPr marL="0" lvl="0" indent="0" algn="l" rtl="0">
              <a:lnSpc>
                <a:spcPct val="114000"/>
              </a:lnSpc>
              <a:spcBef>
                <a:spcPts val="0"/>
              </a:spcBef>
              <a:spcAft>
                <a:spcPts val="0"/>
              </a:spcAft>
              <a:buNone/>
            </a:pPr>
            <a:r>
              <a:rPr lang="en-US" sz="1800" b="1" dirty="0">
                <a:solidFill>
                  <a:schemeClr val="accent4"/>
                </a:solidFill>
              </a:rPr>
              <a:t>Data socket</a:t>
            </a:r>
            <a:r>
              <a:rPr lang="en-US" sz="1800" dirty="0">
                <a:solidFill>
                  <a:schemeClr val="dk2"/>
                </a:solidFill>
              </a:rPr>
              <a:t> - created by the server when it accepts a connection request from a client. → Bidirectional</a:t>
            </a:r>
            <a:endParaRPr sz="1800" dirty="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idx="4294967295"/>
          </p:nvPr>
        </p:nvSpPr>
        <p:spPr>
          <a:xfrm>
            <a:off x="337350" y="834677"/>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Socket Programming</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58" name="Google Shape;158;p24"/>
          <p:cNvSpPr txBox="1"/>
          <p:nvPr/>
        </p:nvSpPr>
        <p:spPr>
          <a:xfrm>
            <a:off x="398200" y="1543846"/>
            <a:ext cx="6128100" cy="5273529"/>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700" dirty="0">
                <a:solidFill>
                  <a:schemeClr val="dk1"/>
                </a:solidFill>
              </a:rPr>
              <a:t>Two socket types for two transport services: </a:t>
            </a:r>
            <a:endParaRPr sz="1700" dirty="0">
              <a:solidFill>
                <a:schemeClr val="dk1"/>
              </a:solidFill>
            </a:endParaRPr>
          </a:p>
          <a:p>
            <a:pPr marL="457200" lvl="0" indent="-336550" algn="l" rtl="0">
              <a:lnSpc>
                <a:spcPct val="114000"/>
              </a:lnSpc>
              <a:spcBef>
                <a:spcPts val="0"/>
              </a:spcBef>
              <a:spcAft>
                <a:spcPts val="0"/>
              </a:spcAft>
              <a:buClr>
                <a:schemeClr val="dk1"/>
              </a:buClr>
              <a:buSzPts val="1700"/>
              <a:buChar char="●"/>
            </a:pPr>
            <a:r>
              <a:rPr lang="en-US" sz="1700" b="1" dirty="0">
                <a:solidFill>
                  <a:schemeClr val="accent4"/>
                </a:solidFill>
              </a:rPr>
              <a:t>UDP</a:t>
            </a:r>
            <a:r>
              <a:rPr lang="en-US" sz="1700" dirty="0">
                <a:solidFill>
                  <a:schemeClr val="dk1"/>
                </a:solidFill>
              </a:rPr>
              <a:t> - </a:t>
            </a:r>
            <a:endParaRPr sz="1700" dirty="0">
              <a:solidFill>
                <a:schemeClr val="dk1"/>
              </a:solidFill>
            </a:endParaRPr>
          </a:p>
          <a:p>
            <a:pPr marL="914400" lvl="1" indent="-336550" algn="l" rtl="0">
              <a:lnSpc>
                <a:spcPct val="114000"/>
              </a:lnSpc>
              <a:spcBef>
                <a:spcPts val="0"/>
              </a:spcBef>
              <a:spcAft>
                <a:spcPts val="600"/>
              </a:spcAft>
              <a:buClr>
                <a:schemeClr val="dk1"/>
              </a:buClr>
              <a:buSzPts val="1700"/>
              <a:buChar char="○"/>
            </a:pPr>
            <a:r>
              <a:rPr lang="en-US" sz="1700" dirty="0">
                <a:solidFill>
                  <a:schemeClr val="dk1"/>
                </a:solidFill>
              </a:rPr>
              <a:t>Speed and efficiency are prioritized over reliability; </a:t>
            </a:r>
            <a:endParaRPr sz="1700" dirty="0">
              <a:solidFill>
                <a:schemeClr val="dk1"/>
              </a:solidFill>
            </a:endParaRPr>
          </a:p>
          <a:p>
            <a:pPr marL="914400" lvl="1" indent="-336550" algn="l" rtl="0">
              <a:lnSpc>
                <a:spcPct val="114000"/>
              </a:lnSpc>
              <a:spcBef>
                <a:spcPts val="0"/>
              </a:spcBef>
              <a:spcAft>
                <a:spcPts val="600"/>
              </a:spcAft>
              <a:buClr>
                <a:schemeClr val="dk1"/>
              </a:buClr>
              <a:buSzPts val="1700"/>
              <a:buChar char="○"/>
            </a:pPr>
            <a:r>
              <a:rPr lang="en-US" sz="1700" dirty="0">
                <a:solidFill>
                  <a:schemeClr val="dk1"/>
                </a:solidFill>
              </a:rPr>
              <a:t>With UDP sockets, data is sent as discrete packets (datagrams). These datagrams are sent independently and may arrive out of order or be lost. </a:t>
            </a:r>
            <a:endParaRPr sz="1700" dirty="0">
              <a:solidFill>
                <a:schemeClr val="dk1"/>
              </a:solidFill>
            </a:endParaRPr>
          </a:p>
          <a:p>
            <a:pPr marL="914400" lvl="1" indent="-336550" algn="l" rtl="0">
              <a:lnSpc>
                <a:spcPct val="114000"/>
              </a:lnSpc>
              <a:spcBef>
                <a:spcPts val="0"/>
              </a:spcBef>
              <a:spcAft>
                <a:spcPts val="1800"/>
              </a:spcAft>
              <a:buClr>
                <a:schemeClr val="dk1"/>
              </a:buClr>
              <a:buSzPts val="1700"/>
              <a:buChar char="○"/>
            </a:pPr>
            <a:r>
              <a:rPr lang="en-US" sz="1700" dirty="0">
                <a:solidFill>
                  <a:schemeClr val="dk1"/>
                </a:solidFill>
              </a:rPr>
              <a:t>Applications using UDP sockets must handle issues such as packet loss, duplication, and reordering themselves if necessary.</a:t>
            </a:r>
            <a:endParaRPr sz="1700" dirty="0">
              <a:solidFill>
                <a:schemeClr val="dk1"/>
              </a:solidFill>
            </a:endParaRPr>
          </a:p>
          <a:p>
            <a:pPr marL="457200" lvl="0" indent="-336550" algn="l" rtl="0">
              <a:lnSpc>
                <a:spcPct val="114000"/>
              </a:lnSpc>
              <a:spcBef>
                <a:spcPts val="0"/>
              </a:spcBef>
              <a:spcAft>
                <a:spcPts val="0"/>
              </a:spcAft>
              <a:buClr>
                <a:schemeClr val="dk1"/>
              </a:buClr>
              <a:buSzPts val="1700"/>
              <a:buChar char="●"/>
            </a:pPr>
            <a:r>
              <a:rPr lang="en-US" sz="1700" b="1" dirty="0">
                <a:solidFill>
                  <a:schemeClr val="accent4"/>
                </a:solidFill>
              </a:rPr>
              <a:t>TCP</a:t>
            </a:r>
            <a:r>
              <a:rPr lang="en-US" sz="1700" dirty="0">
                <a:solidFill>
                  <a:schemeClr val="dk1"/>
                </a:solidFill>
              </a:rPr>
              <a:t> - </a:t>
            </a:r>
            <a:endParaRPr sz="1700" dirty="0">
              <a:solidFill>
                <a:schemeClr val="dk1"/>
              </a:solidFill>
            </a:endParaRPr>
          </a:p>
          <a:p>
            <a:pPr marL="914400" lvl="1" indent="-336550" algn="l" rtl="0">
              <a:lnSpc>
                <a:spcPct val="114000"/>
              </a:lnSpc>
              <a:spcBef>
                <a:spcPts val="0"/>
              </a:spcBef>
              <a:spcAft>
                <a:spcPts val="600"/>
              </a:spcAft>
              <a:buClr>
                <a:schemeClr val="dk1"/>
              </a:buClr>
              <a:buSzPts val="1700"/>
              <a:buChar char="○"/>
            </a:pPr>
            <a:r>
              <a:rPr lang="en-US" sz="1700" dirty="0">
                <a:solidFill>
                  <a:schemeClr val="dk1"/>
                </a:solidFill>
              </a:rPr>
              <a:t>Reliable, connection-oriented communication mechanism; </a:t>
            </a:r>
            <a:endParaRPr sz="1700" dirty="0">
              <a:solidFill>
                <a:schemeClr val="dk1"/>
              </a:solidFill>
            </a:endParaRPr>
          </a:p>
          <a:p>
            <a:pPr marL="914400" lvl="1" indent="-336550" algn="l" rtl="0">
              <a:lnSpc>
                <a:spcPct val="114000"/>
              </a:lnSpc>
              <a:spcBef>
                <a:spcPts val="0"/>
              </a:spcBef>
              <a:spcAft>
                <a:spcPts val="0"/>
              </a:spcAft>
              <a:buClr>
                <a:schemeClr val="dk1"/>
              </a:buClr>
              <a:buSzPts val="1700"/>
              <a:buChar char="○"/>
            </a:pPr>
            <a:r>
              <a:rPr lang="en-US" sz="1700" dirty="0">
                <a:solidFill>
                  <a:schemeClr val="dk1"/>
                </a:solidFill>
              </a:rPr>
              <a:t>TCP handles tasks such as data segmentation, acknowledgment, retransmission, and flow control to guarantee reliable data delivery.</a:t>
            </a:r>
            <a:endParaRPr sz="1700" dirty="0">
              <a:solidFill>
                <a:schemeClr val="dk1"/>
              </a:solidFill>
            </a:endParaRPr>
          </a:p>
        </p:txBody>
      </p:sp>
      <p:pic>
        <p:nvPicPr>
          <p:cNvPr id="159" name="Google Shape;159;p24" descr="A side-by-side comparison of communication flows for UDP and TCP protocols."/>
          <p:cNvPicPr preferRelativeResize="0"/>
          <p:nvPr/>
        </p:nvPicPr>
        <p:blipFill>
          <a:blip r:embed="rId3">
            <a:alphaModFix/>
          </a:blip>
          <a:stretch>
            <a:fillRect/>
          </a:stretch>
        </p:blipFill>
        <p:spPr>
          <a:xfrm>
            <a:off x="6780675" y="855088"/>
            <a:ext cx="4966425" cy="2334187"/>
          </a:xfrm>
          <a:prstGeom prst="rect">
            <a:avLst/>
          </a:prstGeom>
          <a:noFill/>
          <a:ln w="9525" cap="flat" cmpd="sng">
            <a:solidFill>
              <a:schemeClr val="dk2"/>
            </a:solidFill>
            <a:prstDash val="solid"/>
            <a:round/>
            <a:headEnd type="none" w="sm" len="sm"/>
            <a:tailEnd type="none" w="sm" len="sm"/>
          </a:ln>
        </p:spPr>
      </p:pic>
      <p:sp>
        <p:nvSpPr>
          <p:cNvPr id="160" name="Google Shape;160;p24">
            <a:extLst>
              <a:ext uri="{C183D7F6-B498-43B3-948B-1728B52AA6E4}">
                <adec:decorative xmlns:adec="http://schemas.microsoft.com/office/drawing/2017/decorative" val="1"/>
              </a:ext>
            </a:extLst>
          </p:cNvPr>
          <p:cNvSpPr txBox="1"/>
          <p:nvPr/>
        </p:nvSpPr>
        <p:spPr>
          <a:xfrm>
            <a:off x="8180450" y="3187650"/>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https://www.geeksforgeeks.org/</a:t>
            </a:r>
            <a:endParaRPr sz="800"/>
          </a:p>
        </p:txBody>
      </p:sp>
      <p:pic>
        <p:nvPicPr>
          <p:cNvPr id="161" name="Google Shape;161;p24" descr="An infographic comparing the reliability, speed, and typical applications of TCP versus UDP."/>
          <p:cNvPicPr preferRelativeResize="0"/>
          <p:nvPr/>
        </p:nvPicPr>
        <p:blipFill>
          <a:blip r:embed="rId4">
            <a:alphaModFix/>
          </a:blip>
          <a:stretch>
            <a:fillRect/>
          </a:stretch>
        </p:blipFill>
        <p:spPr>
          <a:xfrm>
            <a:off x="6780675" y="3534000"/>
            <a:ext cx="4966425" cy="2958574"/>
          </a:xfrm>
          <a:prstGeom prst="rect">
            <a:avLst/>
          </a:prstGeom>
          <a:noFill/>
          <a:ln w="9525" cap="flat" cmpd="sng">
            <a:solidFill>
              <a:schemeClr val="dk2"/>
            </a:solidFill>
            <a:prstDash val="solid"/>
            <a:round/>
            <a:headEnd type="none" w="sm" len="sm"/>
            <a:tailEnd type="none" w="sm" len="sm"/>
          </a:ln>
        </p:spPr>
      </p:pic>
      <p:sp>
        <p:nvSpPr>
          <p:cNvPr id="162" name="Google Shape;162;p24">
            <a:extLst>
              <a:ext uri="{C183D7F6-B498-43B3-948B-1728B52AA6E4}">
                <adec:decorative xmlns:adec="http://schemas.microsoft.com/office/drawing/2017/decorative" val="1"/>
              </a:ext>
            </a:extLst>
          </p:cNvPr>
          <p:cNvSpPr txBox="1"/>
          <p:nvPr/>
        </p:nvSpPr>
        <p:spPr>
          <a:xfrm>
            <a:off x="8421325" y="6492575"/>
            <a:ext cx="22899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Arial"/>
                <a:ea typeface="Arial"/>
                <a:cs typeface="Arial"/>
                <a:sym typeface="Arial"/>
              </a:rPr>
              <a:t>Image credit - </a:t>
            </a:r>
            <a:r>
              <a:rPr lang="en-US" sz="800"/>
              <a:t>https://www.wowza.com/</a:t>
            </a:r>
            <a:endParaRPr sz="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title" idx="4294967295"/>
          </p:nvPr>
        </p:nvSpPr>
        <p:spPr>
          <a:xfrm>
            <a:off x="337350" y="814579"/>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Socket Programming with UDP</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68" name="Google Shape;168;p25"/>
          <p:cNvSpPr txBox="1"/>
          <p:nvPr/>
        </p:nvSpPr>
        <p:spPr>
          <a:xfrm>
            <a:off x="398199" y="1573988"/>
            <a:ext cx="5686425" cy="49848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600"/>
              </a:spcAft>
              <a:buNone/>
            </a:pPr>
            <a:r>
              <a:rPr lang="en-US" sz="1700" b="1" dirty="0">
                <a:solidFill>
                  <a:schemeClr val="accent4"/>
                </a:solidFill>
              </a:rPr>
              <a:t>UDP</a:t>
            </a:r>
            <a:r>
              <a:rPr lang="en-US" sz="1700" dirty="0">
                <a:solidFill>
                  <a:schemeClr val="dk1"/>
                </a:solidFill>
              </a:rPr>
              <a:t> - no “connection” between client and server</a:t>
            </a:r>
            <a:endParaRPr sz="1700" dirty="0">
              <a:solidFill>
                <a:schemeClr val="dk1"/>
              </a:solidFill>
            </a:endParaRPr>
          </a:p>
          <a:p>
            <a:pPr marL="914400" lvl="1" indent="-330200" algn="l" rtl="0">
              <a:lnSpc>
                <a:spcPct val="114000"/>
              </a:lnSpc>
              <a:spcBef>
                <a:spcPts val="0"/>
              </a:spcBef>
              <a:spcAft>
                <a:spcPts val="600"/>
              </a:spcAft>
              <a:buClr>
                <a:schemeClr val="dk1"/>
              </a:buClr>
              <a:buSzPts val="1600"/>
              <a:buChar char="○"/>
            </a:pPr>
            <a:r>
              <a:rPr lang="en-US" sz="1700" dirty="0">
                <a:solidFill>
                  <a:schemeClr val="dk1"/>
                </a:solidFill>
              </a:rPr>
              <a:t>No handshake before sending data</a:t>
            </a:r>
            <a:endParaRPr sz="1700" dirty="0">
              <a:solidFill>
                <a:schemeClr val="dk1"/>
              </a:solidFill>
            </a:endParaRPr>
          </a:p>
          <a:p>
            <a:pPr marL="914400" lvl="1" indent="-330200" algn="l" rtl="0">
              <a:lnSpc>
                <a:spcPct val="114000"/>
              </a:lnSpc>
              <a:spcBef>
                <a:spcPts val="0"/>
              </a:spcBef>
              <a:spcAft>
                <a:spcPts val="600"/>
              </a:spcAft>
              <a:buClr>
                <a:schemeClr val="dk1"/>
              </a:buClr>
              <a:buSzPts val="1600"/>
              <a:buChar char="○"/>
            </a:pPr>
            <a:r>
              <a:rPr lang="en-US" sz="1700" dirty="0">
                <a:solidFill>
                  <a:schemeClr val="dk1"/>
                </a:solidFill>
              </a:rPr>
              <a:t>Sender explicitly attaches IP destination address and port # to each packet</a:t>
            </a:r>
            <a:endParaRPr sz="1700" dirty="0">
              <a:solidFill>
                <a:schemeClr val="dk1"/>
              </a:solidFill>
            </a:endParaRPr>
          </a:p>
          <a:p>
            <a:pPr marL="914400" lvl="1" indent="-330200" algn="l" rtl="0">
              <a:lnSpc>
                <a:spcPct val="114000"/>
              </a:lnSpc>
              <a:spcBef>
                <a:spcPts val="0"/>
              </a:spcBef>
              <a:spcAft>
                <a:spcPts val="1800"/>
              </a:spcAft>
              <a:buClr>
                <a:schemeClr val="dk1"/>
              </a:buClr>
              <a:buSzPts val="1600"/>
              <a:buChar char="○"/>
            </a:pPr>
            <a:r>
              <a:rPr lang="en-US" sz="1700" dirty="0">
                <a:solidFill>
                  <a:schemeClr val="dk1"/>
                </a:solidFill>
              </a:rPr>
              <a:t>Receiver extracts sender IP address and port # from received packet</a:t>
            </a:r>
          </a:p>
          <a:p>
            <a:pPr marL="0" lvl="0" indent="0" algn="l" rtl="0">
              <a:lnSpc>
                <a:spcPct val="114000"/>
              </a:lnSpc>
              <a:spcBef>
                <a:spcPts val="0"/>
              </a:spcBef>
              <a:spcAft>
                <a:spcPts val="1800"/>
              </a:spcAft>
              <a:buNone/>
            </a:pPr>
            <a:r>
              <a:rPr lang="en-US" sz="1700" b="1" dirty="0">
                <a:solidFill>
                  <a:srgbClr val="0000FF"/>
                </a:solidFill>
              </a:rPr>
              <a:t>Transmitted data may be lost or received out of order</a:t>
            </a:r>
          </a:p>
          <a:p>
            <a:pPr marL="0" lvl="0" indent="0" algn="l" rtl="0">
              <a:lnSpc>
                <a:spcPct val="114000"/>
              </a:lnSpc>
              <a:spcBef>
                <a:spcPts val="0"/>
              </a:spcBef>
              <a:spcAft>
                <a:spcPts val="600"/>
              </a:spcAft>
              <a:buNone/>
            </a:pPr>
            <a:r>
              <a:rPr lang="en-US" sz="1700" b="1" dirty="0">
                <a:solidFill>
                  <a:schemeClr val="dk1"/>
                </a:solidFill>
              </a:rPr>
              <a:t>Application viewpoint - </a:t>
            </a:r>
            <a:endParaRPr sz="1700" b="1" dirty="0">
              <a:solidFill>
                <a:schemeClr val="dk1"/>
              </a:solidFill>
            </a:endParaRPr>
          </a:p>
          <a:p>
            <a:pPr marL="457200" lvl="0" indent="-330200" algn="l" rtl="0">
              <a:lnSpc>
                <a:spcPct val="114000"/>
              </a:lnSpc>
              <a:spcBef>
                <a:spcPts val="0"/>
              </a:spcBef>
              <a:spcAft>
                <a:spcPts val="1200"/>
              </a:spcAft>
              <a:buClr>
                <a:schemeClr val="dk1"/>
              </a:buClr>
              <a:buSzPts val="1600"/>
              <a:buChar char="●"/>
            </a:pPr>
            <a:r>
              <a:rPr lang="en-US" sz="1700" dirty="0">
                <a:solidFill>
                  <a:schemeClr val="dk1"/>
                </a:solidFill>
              </a:rPr>
              <a:t>UDP provides unreliable transfer of groups of bytes (“datagrams”) between client and server processes</a:t>
            </a:r>
            <a:endParaRPr sz="1700" dirty="0">
              <a:solidFill>
                <a:schemeClr val="dk1"/>
              </a:solidFill>
            </a:endParaRPr>
          </a:p>
          <a:p>
            <a:pPr marL="457200" lvl="0" indent="-330200" algn="l" rtl="0">
              <a:lnSpc>
                <a:spcPct val="114000"/>
              </a:lnSpc>
              <a:spcBef>
                <a:spcPts val="0"/>
              </a:spcBef>
              <a:spcAft>
                <a:spcPts val="0"/>
              </a:spcAft>
              <a:buClr>
                <a:schemeClr val="dk1"/>
              </a:buClr>
              <a:buSzPts val="1600"/>
              <a:buChar char="●"/>
            </a:pPr>
            <a:r>
              <a:rPr lang="en-US" sz="1700" dirty="0">
                <a:solidFill>
                  <a:schemeClr val="dk1"/>
                </a:solidFill>
              </a:rPr>
              <a:t>Applications using UDP sockets must handle issues such as packet loss, duplication, and reordering themselves if necessary.</a:t>
            </a:r>
            <a:endParaRPr sz="1700" dirty="0">
              <a:solidFill>
                <a:schemeClr val="dk1"/>
              </a:solidFill>
            </a:endParaRPr>
          </a:p>
        </p:txBody>
      </p:sp>
      <p:pic>
        <p:nvPicPr>
          <p:cNvPr id="169" name="Google Shape;169;p25" descr="A flow chart showing the sequence of system calls for a connectionless UDP communication between a Server and a Client."/>
          <p:cNvPicPr preferRelativeResize="0"/>
          <p:nvPr/>
        </p:nvPicPr>
        <p:blipFill>
          <a:blip r:embed="rId3">
            <a:alphaModFix/>
          </a:blip>
          <a:stretch>
            <a:fillRect/>
          </a:stretch>
        </p:blipFill>
        <p:spPr>
          <a:xfrm>
            <a:off x="6192248" y="1814541"/>
            <a:ext cx="5686425" cy="42005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a:spLocks noGrp="1"/>
          </p:cNvSpPr>
          <p:nvPr>
            <p:ph type="title" idx="4294967295"/>
          </p:nvPr>
        </p:nvSpPr>
        <p:spPr>
          <a:xfrm>
            <a:off x="337350" y="815402"/>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Socket Programming with TCP</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75" name="Google Shape;175;p26"/>
          <p:cNvSpPr txBox="1"/>
          <p:nvPr/>
        </p:nvSpPr>
        <p:spPr>
          <a:xfrm>
            <a:off x="398200" y="1524707"/>
            <a:ext cx="7395350" cy="5345792"/>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600"/>
              </a:spcAft>
              <a:buNone/>
            </a:pPr>
            <a:r>
              <a:rPr lang="en-US" sz="1600" b="1" dirty="0">
                <a:solidFill>
                  <a:schemeClr val="accent4"/>
                </a:solidFill>
              </a:rPr>
              <a:t>Client must contact server</a:t>
            </a:r>
            <a:endParaRPr sz="1600" b="1" dirty="0">
              <a:solidFill>
                <a:schemeClr val="accent4"/>
              </a:solidFill>
            </a:endParaRPr>
          </a:p>
          <a:p>
            <a:pPr marL="457200" lvl="0" indent="-323850" algn="l" rtl="0">
              <a:lnSpc>
                <a:spcPct val="114000"/>
              </a:lnSpc>
              <a:spcBef>
                <a:spcPts val="0"/>
              </a:spcBef>
              <a:spcAft>
                <a:spcPts val="600"/>
              </a:spcAft>
              <a:buClr>
                <a:schemeClr val="dk1"/>
              </a:buClr>
              <a:buSzPts val="1500"/>
              <a:buChar char="●"/>
            </a:pPr>
            <a:r>
              <a:rPr lang="en-US" sz="1600" dirty="0">
                <a:solidFill>
                  <a:schemeClr val="dk1"/>
                </a:solidFill>
              </a:rPr>
              <a:t>Server process must first be running</a:t>
            </a:r>
            <a:endParaRPr sz="1600" dirty="0">
              <a:solidFill>
                <a:schemeClr val="dk1"/>
              </a:solidFill>
            </a:endParaRPr>
          </a:p>
          <a:p>
            <a:pPr marL="457200" lvl="0" indent="-323850" algn="l" rtl="0">
              <a:lnSpc>
                <a:spcPct val="114000"/>
              </a:lnSpc>
              <a:spcBef>
                <a:spcPts val="0"/>
              </a:spcBef>
              <a:spcAft>
                <a:spcPts val="1800"/>
              </a:spcAft>
              <a:buClr>
                <a:schemeClr val="dk1"/>
              </a:buClr>
              <a:buSzPts val="1500"/>
              <a:buChar char="●"/>
            </a:pPr>
            <a:r>
              <a:rPr lang="en-US" sz="1600" dirty="0">
                <a:solidFill>
                  <a:schemeClr val="dk1"/>
                </a:solidFill>
              </a:rPr>
              <a:t>Server must have created socket (door) that welcomes client’s contact</a:t>
            </a:r>
            <a:endParaRPr sz="1600" dirty="0">
              <a:solidFill>
                <a:schemeClr val="dk1"/>
              </a:solidFill>
            </a:endParaRPr>
          </a:p>
          <a:p>
            <a:pPr marL="0" lvl="0" indent="0" algn="l" rtl="0">
              <a:lnSpc>
                <a:spcPct val="114000"/>
              </a:lnSpc>
              <a:spcBef>
                <a:spcPts val="0"/>
              </a:spcBef>
              <a:spcAft>
                <a:spcPts val="600"/>
              </a:spcAft>
              <a:buNone/>
            </a:pPr>
            <a:r>
              <a:rPr lang="en-US" sz="1600" b="1" dirty="0">
                <a:solidFill>
                  <a:schemeClr val="accent4"/>
                </a:solidFill>
              </a:rPr>
              <a:t>Client contacts server by: </a:t>
            </a:r>
            <a:endParaRPr sz="1600" b="1" dirty="0">
              <a:solidFill>
                <a:schemeClr val="accent4"/>
              </a:solidFill>
            </a:endParaRPr>
          </a:p>
          <a:p>
            <a:pPr marL="457200" lvl="0" indent="-323850" algn="l" rtl="0">
              <a:lnSpc>
                <a:spcPct val="114000"/>
              </a:lnSpc>
              <a:spcBef>
                <a:spcPts val="0"/>
              </a:spcBef>
              <a:spcAft>
                <a:spcPts val="600"/>
              </a:spcAft>
              <a:buClr>
                <a:schemeClr val="dk1"/>
              </a:buClr>
              <a:buSzPts val="1500"/>
              <a:buChar char="●"/>
            </a:pPr>
            <a:r>
              <a:rPr lang="en-US" sz="1600" dirty="0">
                <a:solidFill>
                  <a:schemeClr val="dk1"/>
                </a:solidFill>
              </a:rPr>
              <a:t>Creating TCP socket, specifying IP address, port number of server process</a:t>
            </a:r>
            <a:endParaRPr sz="1600" dirty="0">
              <a:solidFill>
                <a:schemeClr val="dk1"/>
              </a:solidFill>
            </a:endParaRPr>
          </a:p>
          <a:p>
            <a:pPr marL="457200" lvl="0" indent="-323850" algn="l" rtl="0">
              <a:lnSpc>
                <a:spcPct val="114000"/>
              </a:lnSpc>
              <a:spcBef>
                <a:spcPts val="0"/>
              </a:spcBef>
              <a:spcAft>
                <a:spcPts val="1800"/>
              </a:spcAft>
              <a:buClr>
                <a:schemeClr val="dk1"/>
              </a:buClr>
              <a:buSzPts val="1500"/>
              <a:buChar char="●"/>
            </a:pPr>
            <a:r>
              <a:rPr lang="en-US" sz="1600" b="1" dirty="0">
                <a:solidFill>
                  <a:schemeClr val="accent4"/>
                </a:solidFill>
              </a:rPr>
              <a:t>When client creates socket:</a:t>
            </a:r>
            <a:r>
              <a:rPr lang="en-US" sz="1600" dirty="0">
                <a:solidFill>
                  <a:schemeClr val="dk1"/>
                </a:solidFill>
              </a:rPr>
              <a:t> </a:t>
            </a:r>
            <a:br>
              <a:rPr lang="en-US" sz="1600" dirty="0">
                <a:solidFill>
                  <a:schemeClr val="dk1"/>
                </a:solidFill>
              </a:rPr>
            </a:br>
            <a:r>
              <a:rPr lang="en-US" sz="1600" dirty="0">
                <a:solidFill>
                  <a:schemeClr val="dk1"/>
                </a:solidFill>
              </a:rPr>
              <a:t>Client TCP establishes connection to server TCP</a:t>
            </a:r>
            <a:endParaRPr sz="1600" dirty="0">
              <a:solidFill>
                <a:schemeClr val="dk1"/>
              </a:solidFill>
            </a:endParaRPr>
          </a:p>
          <a:p>
            <a:pPr marL="0" lvl="0" indent="0" algn="l" rtl="0">
              <a:lnSpc>
                <a:spcPct val="114000"/>
              </a:lnSpc>
              <a:spcBef>
                <a:spcPts val="0"/>
              </a:spcBef>
              <a:spcAft>
                <a:spcPts val="600"/>
              </a:spcAft>
              <a:buNone/>
            </a:pPr>
            <a:r>
              <a:rPr lang="en-US" sz="1600" b="1" dirty="0">
                <a:solidFill>
                  <a:schemeClr val="accent4"/>
                </a:solidFill>
              </a:rPr>
              <a:t>When contacted by client:</a:t>
            </a:r>
            <a:endParaRPr sz="1600" b="1" dirty="0">
              <a:solidFill>
                <a:schemeClr val="accent4"/>
              </a:solidFill>
            </a:endParaRPr>
          </a:p>
          <a:p>
            <a:pPr marL="0" lvl="0" indent="0" algn="l" rtl="0">
              <a:lnSpc>
                <a:spcPct val="114000"/>
              </a:lnSpc>
              <a:spcBef>
                <a:spcPts val="0"/>
              </a:spcBef>
              <a:spcAft>
                <a:spcPts val="600"/>
              </a:spcAft>
              <a:buNone/>
            </a:pPr>
            <a:r>
              <a:rPr lang="en-US" sz="1600" dirty="0">
                <a:solidFill>
                  <a:schemeClr val="dk1"/>
                </a:solidFill>
              </a:rPr>
              <a:t>Server TCP creates new socket for server process to communicate with that particular client</a:t>
            </a:r>
            <a:endParaRPr sz="1600" dirty="0">
              <a:solidFill>
                <a:schemeClr val="dk1"/>
              </a:solidFill>
            </a:endParaRPr>
          </a:p>
          <a:p>
            <a:pPr marL="457200" lvl="0" indent="-323850" algn="l" rtl="0">
              <a:lnSpc>
                <a:spcPct val="114000"/>
              </a:lnSpc>
              <a:spcBef>
                <a:spcPts val="0"/>
              </a:spcBef>
              <a:spcAft>
                <a:spcPts val="600"/>
              </a:spcAft>
              <a:buClr>
                <a:schemeClr val="dk1"/>
              </a:buClr>
              <a:buSzPts val="1500"/>
              <a:buChar char="●"/>
            </a:pPr>
            <a:r>
              <a:rPr lang="en-US" sz="1600" dirty="0">
                <a:solidFill>
                  <a:schemeClr val="dk1"/>
                </a:solidFill>
              </a:rPr>
              <a:t>Allows server to talk with multiple clients</a:t>
            </a:r>
            <a:endParaRPr sz="1600" dirty="0">
              <a:solidFill>
                <a:schemeClr val="dk1"/>
              </a:solidFill>
            </a:endParaRPr>
          </a:p>
          <a:p>
            <a:pPr marL="457200" lvl="0" indent="-323850" algn="l" rtl="0">
              <a:lnSpc>
                <a:spcPct val="114000"/>
              </a:lnSpc>
              <a:spcBef>
                <a:spcPts val="0"/>
              </a:spcBef>
              <a:spcAft>
                <a:spcPts val="1800"/>
              </a:spcAft>
              <a:buClr>
                <a:schemeClr val="dk1"/>
              </a:buClr>
              <a:buSzPts val="1500"/>
              <a:buChar char="●"/>
            </a:pPr>
            <a:r>
              <a:rPr lang="en-US" sz="1600" dirty="0">
                <a:solidFill>
                  <a:schemeClr val="dk1"/>
                </a:solidFill>
              </a:rPr>
              <a:t>Source port numbers used to distinguish clients</a:t>
            </a:r>
            <a:endParaRPr sz="1600" dirty="0">
              <a:solidFill>
                <a:schemeClr val="dk1"/>
              </a:solidFill>
            </a:endParaRPr>
          </a:p>
          <a:p>
            <a:pPr marL="0" lvl="0" indent="0" algn="l" rtl="0">
              <a:lnSpc>
                <a:spcPct val="114000"/>
              </a:lnSpc>
              <a:spcBef>
                <a:spcPts val="0"/>
              </a:spcBef>
              <a:spcAft>
                <a:spcPts val="0"/>
              </a:spcAft>
              <a:buNone/>
            </a:pPr>
            <a:r>
              <a:rPr lang="en-US" sz="1600" b="1" dirty="0">
                <a:solidFill>
                  <a:schemeClr val="accent4"/>
                </a:solidFill>
              </a:rPr>
              <a:t>TCP</a:t>
            </a:r>
            <a:r>
              <a:rPr lang="en-US" sz="1600" dirty="0">
                <a:solidFill>
                  <a:schemeClr val="dk1"/>
                </a:solidFill>
              </a:rPr>
              <a:t>: </a:t>
            </a:r>
            <a:r>
              <a:rPr lang="en-US" sz="1600" b="1" dirty="0">
                <a:solidFill>
                  <a:srgbClr val="0000FF"/>
                </a:solidFill>
              </a:rPr>
              <a:t>reliable, in-order byte-stream transfer (“pipe”) connection-oriented communication mechanism</a:t>
            </a:r>
            <a:endParaRPr sz="1600" b="1" dirty="0">
              <a:solidFill>
                <a:srgbClr val="0000FF"/>
              </a:solidFill>
            </a:endParaRPr>
          </a:p>
        </p:txBody>
      </p:sp>
      <p:pic>
        <p:nvPicPr>
          <p:cNvPr id="176" name="Google Shape;176;p26" descr="A flow chart showing the synchronous system calls for a connection-oriented TCP communication between a Server and a Client."/>
          <p:cNvPicPr preferRelativeResize="0"/>
          <p:nvPr/>
        </p:nvPicPr>
        <p:blipFill>
          <a:blip r:embed="rId3">
            <a:alphaModFix/>
          </a:blip>
          <a:stretch>
            <a:fillRect/>
          </a:stretch>
        </p:blipFill>
        <p:spPr>
          <a:xfrm>
            <a:off x="7856180" y="2057925"/>
            <a:ext cx="4146500" cy="40147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7"/>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endPar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endParaRPr>
          </a:p>
        </p:txBody>
      </p:sp>
      <p:sp>
        <p:nvSpPr>
          <p:cNvPr id="182" name="Google Shape;182;p27"/>
          <p:cNvSpPr txBox="1"/>
          <p:nvPr/>
        </p:nvSpPr>
        <p:spPr>
          <a:xfrm>
            <a:off x="398200" y="1935725"/>
            <a:ext cx="5590618" cy="4751591"/>
          </a:xfrm>
          <a:prstGeom prst="rect">
            <a:avLst/>
          </a:prstGeom>
          <a:noFill/>
          <a:ln>
            <a:noFill/>
          </a:ln>
        </p:spPr>
        <p:txBody>
          <a:bodyPr spcFirstLastPara="1" wrap="square" lIns="91425" tIns="91425" rIns="91425" bIns="91425" anchor="t" anchorCtr="0">
            <a:spAutoFit/>
          </a:bodyPr>
          <a:lstStyle/>
          <a:p>
            <a:pPr marL="457200" lvl="0" indent="-336550" algn="l" rtl="0">
              <a:lnSpc>
                <a:spcPct val="114000"/>
              </a:lnSpc>
              <a:spcBef>
                <a:spcPts val="0"/>
              </a:spcBef>
              <a:spcAft>
                <a:spcPts val="1200"/>
              </a:spcAft>
              <a:buClr>
                <a:schemeClr val="dk1"/>
              </a:buClr>
              <a:buSzPts val="1700"/>
              <a:buChar char="●"/>
            </a:pPr>
            <a:r>
              <a:rPr lang="en-US" sz="1800" dirty="0">
                <a:solidFill>
                  <a:schemeClr val="dk1"/>
                </a:solidFill>
              </a:rPr>
              <a:t>TCP provides a connection-oriented service, since it is based on connections between clients and servers.</a:t>
            </a:r>
            <a:endParaRPr sz="1800" dirty="0">
              <a:solidFill>
                <a:schemeClr val="dk1"/>
              </a:solidFill>
            </a:endParaRPr>
          </a:p>
          <a:p>
            <a:pPr marL="457200" lvl="0" indent="-336550" algn="l" rtl="0">
              <a:lnSpc>
                <a:spcPct val="114000"/>
              </a:lnSpc>
              <a:spcBef>
                <a:spcPts val="0"/>
              </a:spcBef>
              <a:spcAft>
                <a:spcPts val="1200"/>
              </a:spcAft>
              <a:buClr>
                <a:schemeClr val="dk1"/>
              </a:buClr>
              <a:buSzPts val="1700"/>
              <a:buChar char="●"/>
            </a:pPr>
            <a:r>
              <a:rPr lang="en-US" sz="1800" dirty="0">
                <a:solidFill>
                  <a:schemeClr val="dk1"/>
                </a:solidFill>
              </a:rPr>
              <a:t>TCP provides reliability. When a TCP client send data to the server, it requires an acknowledgement in return. If an acknowledgement is not received, TCP automatically retransmit the data and waits for a longer period of time.</a:t>
            </a:r>
            <a:endParaRPr sz="1800" dirty="0">
              <a:solidFill>
                <a:schemeClr val="dk1"/>
              </a:solidFill>
            </a:endParaRPr>
          </a:p>
          <a:p>
            <a:pPr marL="457200" lvl="0" indent="-336550" algn="l" rtl="0">
              <a:lnSpc>
                <a:spcPct val="114000"/>
              </a:lnSpc>
              <a:spcBef>
                <a:spcPts val="0"/>
              </a:spcBef>
              <a:spcAft>
                <a:spcPts val="1200"/>
              </a:spcAft>
              <a:buClr>
                <a:schemeClr val="dk1"/>
              </a:buClr>
              <a:buSzPts val="1700"/>
              <a:buChar char="●"/>
            </a:pPr>
            <a:r>
              <a:rPr lang="en-US" sz="1800" dirty="0">
                <a:solidFill>
                  <a:schemeClr val="dk1"/>
                </a:solidFill>
              </a:rPr>
              <a:t>TCP is instead a byte-stream protocol, without any boundaries at all.</a:t>
            </a:r>
            <a:endParaRPr sz="1800" dirty="0">
              <a:solidFill>
                <a:schemeClr val="dk1"/>
              </a:solidFill>
            </a:endParaRPr>
          </a:p>
          <a:p>
            <a:pPr marL="457200" lvl="0" indent="-336550" algn="l" rtl="0">
              <a:lnSpc>
                <a:spcPct val="114000"/>
              </a:lnSpc>
              <a:spcBef>
                <a:spcPts val="0"/>
              </a:spcBef>
              <a:spcAft>
                <a:spcPts val="0"/>
              </a:spcAft>
              <a:buClr>
                <a:schemeClr val="dk1"/>
              </a:buClr>
              <a:buSzPts val="1700"/>
              <a:buChar char="●"/>
            </a:pPr>
            <a:r>
              <a:rPr lang="en-US" sz="1800" dirty="0">
                <a:solidFill>
                  <a:schemeClr val="dk1"/>
                </a:solidFill>
              </a:rPr>
              <a:t>TCP is described in RFC 793, RFC 1323, </a:t>
            </a:r>
            <a:br>
              <a:rPr lang="en-US" sz="1800" dirty="0">
                <a:solidFill>
                  <a:schemeClr val="dk1"/>
                </a:solidFill>
              </a:rPr>
            </a:br>
            <a:r>
              <a:rPr lang="en-US" sz="1800" dirty="0">
                <a:solidFill>
                  <a:schemeClr val="dk1"/>
                </a:solidFill>
              </a:rPr>
              <a:t>RFC 2581 and RFC 3390.</a:t>
            </a:r>
            <a:endParaRPr sz="1800" dirty="0">
              <a:solidFill>
                <a:schemeClr val="dk1"/>
              </a:solidFill>
            </a:endParaRPr>
          </a:p>
        </p:txBody>
      </p:sp>
      <p:pic>
        <p:nvPicPr>
          <p:cNvPr id="184" name="Google Shape;184;p27">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6300600" y="1546000"/>
            <a:ext cx="5431200" cy="2843241"/>
          </a:xfrm>
          <a:prstGeom prst="rect">
            <a:avLst/>
          </a:prstGeom>
          <a:noFill/>
          <a:ln>
            <a:noFill/>
          </a:ln>
        </p:spPr>
      </p:pic>
      <p:sp>
        <p:nvSpPr>
          <p:cNvPr id="183" name="Google Shape;183;p27"/>
          <p:cNvSpPr txBox="1"/>
          <p:nvPr/>
        </p:nvSpPr>
        <p:spPr>
          <a:xfrm>
            <a:off x="6300600" y="4535150"/>
            <a:ext cx="5431200" cy="1847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solidFill>
                  <a:schemeClr val="dk2"/>
                </a:solidFill>
              </a:rPr>
              <a:t>The </a:t>
            </a:r>
            <a:r>
              <a:rPr lang="en-US" sz="1800" b="1" dirty="0">
                <a:solidFill>
                  <a:schemeClr val="dk2"/>
                </a:solidFill>
              </a:rPr>
              <a:t>Internet Engineering Task Force (IETF) </a:t>
            </a:r>
            <a:r>
              <a:rPr lang="en-US" sz="1800" dirty="0">
                <a:solidFill>
                  <a:schemeClr val="dk2"/>
                </a:solidFill>
              </a:rPr>
              <a:t>is a standards organization for the Internet and is responsible for the technical standards that make up the Internet protocol suite.</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US" sz="1800" b="1" u="sng" dirty="0">
                <a:solidFill>
                  <a:schemeClr val="hlink"/>
                </a:solidFill>
                <a:hlinkClick r:id="rId4"/>
              </a:rPr>
              <a:t>https://datatracker.ietf.org/doc/html/rfc793</a:t>
            </a:r>
            <a:endParaRPr sz="1800" b="1" dirty="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Socket addresses</a:t>
            </a:r>
          </a:p>
        </p:txBody>
      </p:sp>
      <p:sp>
        <p:nvSpPr>
          <p:cNvPr id="2" name="Google Shape;199;p29">
            <a:extLst>
              <a:ext uri="{FF2B5EF4-FFF2-40B4-BE49-F238E27FC236}">
                <a16:creationId xmlns:a16="http://schemas.microsoft.com/office/drawing/2014/main" id="{E4C18625-ED6A-77B1-F9F7-102C037507D8}"/>
              </a:ext>
            </a:extLst>
          </p:cNvPr>
          <p:cNvSpPr txBox="1"/>
          <p:nvPr/>
        </p:nvSpPr>
        <p:spPr>
          <a:xfrm>
            <a:off x="398200" y="1895533"/>
            <a:ext cx="6805500" cy="1079304"/>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700" dirty="0">
                <a:solidFill>
                  <a:schemeClr val="dk1"/>
                </a:solidFill>
              </a:rPr>
              <a:t>IPv4 socket address structure is named </a:t>
            </a:r>
            <a:r>
              <a:rPr lang="en-US" sz="1700" b="1" dirty="0" err="1">
                <a:solidFill>
                  <a:srgbClr val="0070C0"/>
                </a:solidFill>
                <a:latin typeface="Courier New"/>
                <a:ea typeface="Courier New"/>
                <a:cs typeface="Courier New"/>
                <a:sym typeface="Courier New"/>
              </a:rPr>
              <a:t>sockaddr_in</a:t>
            </a:r>
            <a:r>
              <a:rPr lang="en-US" sz="1700" b="1" dirty="0">
                <a:solidFill>
                  <a:srgbClr val="0070C0"/>
                </a:solidFill>
                <a:latin typeface="Courier New"/>
                <a:ea typeface="Courier New"/>
                <a:cs typeface="Courier New"/>
                <a:sym typeface="Courier New"/>
              </a:rPr>
              <a:t> </a:t>
            </a:r>
            <a:r>
              <a:rPr lang="en-US" sz="1700" dirty="0">
                <a:solidFill>
                  <a:schemeClr val="dk1"/>
                </a:solidFill>
              </a:rPr>
              <a:t>and is defined by including the </a:t>
            </a:r>
            <a:r>
              <a:rPr lang="en-US" sz="1700" b="1" dirty="0">
                <a:solidFill>
                  <a:srgbClr val="0070C0"/>
                </a:solidFill>
                <a:latin typeface="Courier New"/>
                <a:ea typeface="Courier New"/>
                <a:cs typeface="Courier New"/>
                <a:sym typeface="Courier New"/>
              </a:rPr>
              <a:t>&lt;</a:t>
            </a:r>
            <a:r>
              <a:rPr lang="en-US" sz="1700" b="1" dirty="0" err="1">
                <a:solidFill>
                  <a:srgbClr val="0070C0"/>
                </a:solidFill>
                <a:latin typeface="Courier New"/>
                <a:ea typeface="Courier New"/>
                <a:cs typeface="Courier New"/>
                <a:sym typeface="Courier New"/>
              </a:rPr>
              <a:t>netinet</a:t>
            </a:r>
            <a:r>
              <a:rPr lang="en-US" sz="1700" b="1" dirty="0">
                <a:solidFill>
                  <a:srgbClr val="0070C0"/>
                </a:solidFill>
                <a:latin typeface="Courier New"/>
                <a:ea typeface="Courier New"/>
                <a:cs typeface="Courier New"/>
                <a:sym typeface="Courier New"/>
              </a:rPr>
              <a:t>/</a:t>
            </a:r>
            <a:r>
              <a:rPr lang="en-US" sz="1700" b="1" dirty="0" err="1">
                <a:solidFill>
                  <a:srgbClr val="0070C0"/>
                </a:solidFill>
                <a:latin typeface="Courier New"/>
                <a:ea typeface="Courier New"/>
                <a:cs typeface="Courier New"/>
                <a:sym typeface="Courier New"/>
              </a:rPr>
              <a:t>in.h</a:t>
            </a:r>
            <a:r>
              <a:rPr lang="en-US" sz="1700" b="1" dirty="0">
                <a:solidFill>
                  <a:srgbClr val="0070C0"/>
                </a:solidFill>
                <a:latin typeface="Courier New"/>
                <a:ea typeface="Courier New"/>
                <a:cs typeface="Courier New"/>
                <a:sym typeface="Courier New"/>
              </a:rPr>
              <a:t>&gt; </a:t>
            </a:r>
            <a:r>
              <a:rPr lang="en-US" sz="1700" dirty="0">
                <a:solidFill>
                  <a:schemeClr val="dk1"/>
                </a:solidFill>
              </a:rPr>
              <a:t>header.</a:t>
            </a:r>
            <a:endParaRPr sz="1700" dirty="0">
              <a:solidFill>
                <a:schemeClr val="dk1"/>
              </a:solidFill>
            </a:endParaRPr>
          </a:p>
          <a:p>
            <a:pPr marL="0" lvl="0" indent="0" algn="l" rtl="0">
              <a:lnSpc>
                <a:spcPct val="114000"/>
              </a:lnSpc>
              <a:spcBef>
                <a:spcPts val="0"/>
              </a:spcBef>
              <a:spcAft>
                <a:spcPts val="0"/>
              </a:spcAft>
              <a:buNone/>
            </a:pPr>
            <a:r>
              <a:rPr lang="en-US" sz="1700" dirty="0">
                <a:solidFill>
                  <a:schemeClr val="dk1"/>
                </a:solidFill>
              </a:rPr>
              <a:t>The POSIX definition is the following:</a:t>
            </a:r>
            <a:endParaRPr sz="1700" dirty="0">
              <a:solidFill>
                <a:schemeClr val="dk1"/>
              </a:solidFill>
            </a:endParaRPr>
          </a:p>
        </p:txBody>
      </p:sp>
      <p:pic>
        <p:nvPicPr>
          <p:cNvPr id="191" name="Google Shape;191;p28" descr="Code snippet highlighting the C structure used to store a 32-bit IPv4 address."/>
          <p:cNvPicPr preferRelativeResize="0"/>
          <p:nvPr/>
        </p:nvPicPr>
        <p:blipFill>
          <a:blip r:embed="rId3">
            <a:alphaModFix/>
          </a:blip>
          <a:stretch>
            <a:fillRect/>
          </a:stretch>
        </p:blipFill>
        <p:spPr>
          <a:xfrm>
            <a:off x="484225" y="2968725"/>
            <a:ext cx="6719374" cy="3435750"/>
          </a:xfrm>
          <a:prstGeom prst="rect">
            <a:avLst/>
          </a:prstGeom>
          <a:noFill/>
          <a:ln>
            <a:noFill/>
          </a:ln>
        </p:spPr>
      </p:pic>
      <p:sp>
        <p:nvSpPr>
          <p:cNvPr id="193" name="Google Shape;193;p28">
            <a:extLst>
              <a:ext uri="{C183D7F6-B498-43B3-948B-1728B52AA6E4}">
                <adec:decorative xmlns:adec="http://schemas.microsoft.com/office/drawing/2017/decorative" val="1"/>
              </a:ext>
            </a:extLst>
          </p:cNvPr>
          <p:cNvSpPr/>
          <p:nvPr/>
        </p:nvSpPr>
        <p:spPr>
          <a:xfrm>
            <a:off x="530950" y="3052925"/>
            <a:ext cx="6559200" cy="12168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 name="Google Shape;192;p28"/>
          <p:cNvSpPr txBox="1"/>
          <p:nvPr/>
        </p:nvSpPr>
        <p:spPr>
          <a:xfrm>
            <a:off x="7267300" y="2968725"/>
            <a:ext cx="4678800" cy="2233273"/>
          </a:xfrm>
          <a:prstGeom prst="rect">
            <a:avLst/>
          </a:prstGeom>
          <a:noFill/>
          <a:ln>
            <a:noFill/>
          </a:ln>
        </p:spPr>
        <p:txBody>
          <a:bodyPr spcFirstLastPara="1" wrap="square" lIns="91425" tIns="91425" rIns="91425" bIns="91425" anchor="t" anchorCtr="0">
            <a:spAutoFit/>
          </a:bodyPr>
          <a:lstStyle/>
          <a:p>
            <a:pPr marL="457200" lvl="0" indent="-342900" algn="l" rtl="0">
              <a:lnSpc>
                <a:spcPct val="114000"/>
              </a:lnSpc>
              <a:spcBef>
                <a:spcPts val="0"/>
              </a:spcBef>
              <a:spcAft>
                <a:spcPts val="600"/>
              </a:spcAft>
              <a:buClr>
                <a:schemeClr val="dk2"/>
              </a:buClr>
              <a:buSzPts val="1800"/>
              <a:buChar char="●"/>
            </a:pPr>
            <a:r>
              <a:rPr lang="en-US" sz="1800" dirty="0">
                <a:solidFill>
                  <a:schemeClr val="dk2"/>
                </a:solidFill>
              </a:rPr>
              <a:t>This structure represents an IPv4 address.</a:t>
            </a:r>
            <a:endParaRPr sz="1800" dirty="0">
              <a:solidFill>
                <a:schemeClr val="dk2"/>
              </a:solidFill>
            </a:endParaRPr>
          </a:p>
          <a:p>
            <a:pPr marL="457200" lvl="0" indent="-342900" algn="l" rtl="0">
              <a:lnSpc>
                <a:spcPct val="114000"/>
              </a:lnSpc>
              <a:spcBef>
                <a:spcPts val="0"/>
              </a:spcBef>
              <a:spcAft>
                <a:spcPts val="600"/>
              </a:spcAft>
              <a:buClr>
                <a:schemeClr val="dk2"/>
              </a:buClr>
              <a:buSzPts val="1800"/>
              <a:buChar char="●"/>
            </a:pPr>
            <a:r>
              <a:rPr lang="en-US" sz="1800" dirty="0">
                <a:solidFill>
                  <a:schemeClr val="dk2"/>
                </a:solidFill>
              </a:rPr>
              <a:t>It contains a single member </a:t>
            </a:r>
            <a:r>
              <a:rPr lang="en-US" sz="1800" b="1" dirty="0" err="1">
                <a:solidFill>
                  <a:schemeClr val="dk2"/>
                </a:solidFill>
              </a:rPr>
              <a:t>s_addr</a:t>
            </a:r>
            <a:r>
              <a:rPr lang="en-US" sz="1800" dirty="0">
                <a:solidFill>
                  <a:schemeClr val="dk2"/>
                </a:solidFill>
              </a:rPr>
              <a:t> of type </a:t>
            </a:r>
            <a:r>
              <a:rPr lang="en-US" sz="1800" b="1" dirty="0" err="1">
                <a:solidFill>
                  <a:schemeClr val="dk2"/>
                </a:solidFill>
              </a:rPr>
              <a:t>in_addr_t</a:t>
            </a:r>
            <a:r>
              <a:rPr lang="en-US" sz="1800" dirty="0">
                <a:solidFill>
                  <a:schemeClr val="dk2"/>
                </a:solidFill>
              </a:rPr>
              <a:t>.</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err="1">
                <a:solidFill>
                  <a:schemeClr val="dk2"/>
                </a:solidFill>
              </a:rPr>
              <a:t>s_addr</a:t>
            </a:r>
            <a:r>
              <a:rPr lang="en-US" sz="1800" dirty="0">
                <a:solidFill>
                  <a:schemeClr val="dk2"/>
                </a:solidFill>
              </a:rPr>
              <a:t> </a:t>
            </a:r>
            <a:r>
              <a:rPr lang="en-US" sz="1800" u="sng" dirty="0">
                <a:solidFill>
                  <a:schemeClr val="dk2"/>
                </a:solidFill>
              </a:rPr>
              <a:t>stores the 32-bit IPv4 address in </a:t>
            </a:r>
            <a:r>
              <a:rPr lang="en-US" sz="1800" u="sng" dirty="0">
                <a:solidFill>
                  <a:schemeClr val="dk2"/>
                </a:solidFill>
                <a:highlight>
                  <a:srgbClr val="FFFF00"/>
                </a:highlight>
              </a:rPr>
              <a:t>network byte order</a:t>
            </a:r>
            <a:r>
              <a:rPr lang="en-US" sz="1800" dirty="0">
                <a:solidFill>
                  <a:schemeClr val="dk2"/>
                </a:solidFill>
                <a:highlight>
                  <a:srgbClr val="FFFF00"/>
                </a:highlight>
              </a:rPr>
              <a:t>.</a:t>
            </a:r>
            <a:r>
              <a:rPr lang="en-US" sz="1800" dirty="0">
                <a:solidFill>
                  <a:schemeClr val="dk2"/>
                </a:solidFill>
              </a:rPr>
              <a:t> </a:t>
            </a:r>
            <a:endParaRPr sz="1800" dirty="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9"/>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Socket addresses</a:t>
            </a:r>
          </a:p>
        </p:txBody>
      </p:sp>
      <p:sp>
        <p:nvSpPr>
          <p:cNvPr id="199" name="Google Shape;199;p29">
            <a:extLst>
              <a:ext uri="{C183D7F6-B498-43B3-948B-1728B52AA6E4}">
                <adec:decorative xmlns:adec="http://schemas.microsoft.com/office/drawing/2017/decorative" val="1"/>
              </a:ext>
            </a:extLst>
          </p:cNvPr>
          <p:cNvSpPr txBox="1"/>
          <p:nvPr/>
        </p:nvSpPr>
        <p:spPr>
          <a:xfrm>
            <a:off x="398200" y="1895533"/>
            <a:ext cx="6805500" cy="1079304"/>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700" dirty="0">
                <a:solidFill>
                  <a:schemeClr val="dk1"/>
                </a:solidFill>
              </a:rPr>
              <a:t>IPv4 socket address structure is named </a:t>
            </a:r>
            <a:r>
              <a:rPr lang="en-US" sz="1700" b="1" dirty="0" err="1">
                <a:solidFill>
                  <a:srgbClr val="0070C0"/>
                </a:solidFill>
                <a:latin typeface="Courier New"/>
                <a:ea typeface="Courier New"/>
                <a:cs typeface="Courier New"/>
                <a:sym typeface="Courier New"/>
              </a:rPr>
              <a:t>sockaddr_in</a:t>
            </a:r>
            <a:r>
              <a:rPr lang="en-US" sz="1700" b="1" dirty="0">
                <a:solidFill>
                  <a:srgbClr val="0070C0"/>
                </a:solidFill>
                <a:latin typeface="Courier New"/>
                <a:ea typeface="Courier New"/>
                <a:cs typeface="Courier New"/>
                <a:sym typeface="Courier New"/>
              </a:rPr>
              <a:t> </a:t>
            </a:r>
            <a:r>
              <a:rPr lang="en-US" sz="1700" dirty="0">
                <a:solidFill>
                  <a:schemeClr val="dk1"/>
                </a:solidFill>
              </a:rPr>
              <a:t>and is defined by including the </a:t>
            </a:r>
            <a:r>
              <a:rPr lang="en-US" sz="1700" b="1" dirty="0">
                <a:solidFill>
                  <a:srgbClr val="0070C0"/>
                </a:solidFill>
                <a:latin typeface="Courier New"/>
                <a:ea typeface="Courier New"/>
                <a:cs typeface="Courier New"/>
                <a:sym typeface="Courier New"/>
              </a:rPr>
              <a:t>&lt;</a:t>
            </a:r>
            <a:r>
              <a:rPr lang="en-US" sz="1700" b="1" dirty="0" err="1">
                <a:solidFill>
                  <a:srgbClr val="0070C0"/>
                </a:solidFill>
                <a:latin typeface="Courier New"/>
                <a:ea typeface="Courier New"/>
                <a:cs typeface="Courier New"/>
                <a:sym typeface="Courier New"/>
              </a:rPr>
              <a:t>netinet</a:t>
            </a:r>
            <a:r>
              <a:rPr lang="en-US" sz="1700" b="1" dirty="0">
                <a:solidFill>
                  <a:srgbClr val="0070C0"/>
                </a:solidFill>
                <a:latin typeface="Courier New"/>
                <a:ea typeface="Courier New"/>
                <a:cs typeface="Courier New"/>
                <a:sym typeface="Courier New"/>
              </a:rPr>
              <a:t>/</a:t>
            </a:r>
            <a:r>
              <a:rPr lang="en-US" sz="1700" b="1" dirty="0" err="1">
                <a:solidFill>
                  <a:srgbClr val="0070C0"/>
                </a:solidFill>
                <a:latin typeface="Courier New"/>
                <a:ea typeface="Courier New"/>
                <a:cs typeface="Courier New"/>
                <a:sym typeface="Courier New"/>
              </a:rPr>
              <a:t>in.h</a:t>
            </a:r>
            <a:r>
              <a:rPr lang="en-US" sz="1700" b="1" dirty="0">
                <a:solidFill>
                  <a:srgbClr val="0070C0"/>
                </a:solidFill>
                <a:latin typeface="Courier New"/>
                <a:ea typeface="Courier New"/>
                <a:cs typeface="Courier New"/>
                <a:sym typeface="Courier New"/>
              </a:rPr>
              <a:t>&gt; </a:t>
            </a:r>
            <a:r>
              <a:rPr lang="en-US" sz="1700" dirty="0">
                <a:solidFill>
                  <a:schemeClr val="dk1"/>
                </a:solidFill>
              </a:rPr>
              <a:t>header.</a:t>
            </a:r>
            <a:endParaRPr sz="1700" dirty="0">
              <a:solidFill>
                <a:schemeClr val="dk1"/>
              </a:solidFill>
            </a:endParaRPr>
          </a:p>
          <a:p>
            <a:pPr marL="0" lvl="0" indent="0" algn="l" rtl="0">
              <a:lnSpc>
                <a:spcPct val="114000"/>
              </a:lnSpc>
              <a:spcBef>
                <a:spcPts val="0"/>
              </a:spcBef>
              <a:spcAft>
                <a:spcPts val="0"/>
              </a:spcAft>
              <a:buNone/>
            </a:pPr>
            <a:r>
              <a:rPr lang="en-US" sz="1700" dirty="0">
                <a:solidFill>
                  <a:schemeClr val="dk1"/>
                </a:solidFill>
              </a:rPr>
              <a:t>The POSIX definition is the following:</a:t>
            </a:r>
            <a:endParaRPr sz="1700" dirty="0">
              <a:solidFill>
                <a:schemeClr val="dk1"/>
              </a:solidFill>
            </a:endParaRPr>
          </a:p>
        </p:txBody>
      </p:sp>
      <p:pic>
        <p:nvPicPr>
          <p:cNvPr id="200" name="Google Shape;200;p29" descr="Code snippet highlighting the sockaddr_in C structure used for IPv4 socket addressing."/>
          <p:cNvPicPr preferRelativeResize="0"/>
          <p:nvPr/>
        </p:nvPicPr>
        <p:blipFill>
          <a:blip r:embed="rId3">
            <a:alphaModFix/>
          </a:blip>
          <a:stretch>
            <a:fillRect/>
          </a:stretch>
        </p:blipFill>
        <p:spPr>
          <a:xfrm>
            <a:off x="484225" y="2968725"/>
            <a:ext cx="6719374" cy="3435750"/>
          </a:xfrm>
          <a:prstGeom prst="rect">
            <a:avLst/>
          </a:prstGeom>
          <a:noFill/>
          <a:ln>
            <a:noFill/>
          </a:ln>
        </p:spPr>
      </p:pic>
      <p:sp>
        <p:nvSpPr>
          <p:cNvPr id="202" name="Google Shape;202;p29">
            <a:extLst>
              <a:ext uri="{C183D7F6-B498-43B3-948B-1728B52AA6E4}">
                <adec:decorative xmlns:adec="http://schemas.microsoft.com/office/drawing/2017/decorative" val="1"/>
              </a:ext>
            </a:extLst>
          </p:cNvPr>
          <p:cNvSpPr/>
          <p:nvPr/>
        </p:nvSpPr>
        <p:spPr>
          <a:xfrm>
            <a:off x="530950" y="4500725"/>
            <a:ext cx="6559200" cy="19038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 name="Google Shape;201;p29"/>
          <p:cNvSpPr txBox="1"/>
          <p:nvPr/>
        </p:nvSpPr>
        <p:spPr>
          <a:xfrm>
            <a:off x="7278350" y="980512"/>
            <a:ext cx="4779672" cy="5860420"/>
          </a:xfrm>
          <a:prstGeom prst="rect">
            <a:avLst/>
          </a:prstGeom>
          <a:noFill/>
          <a:ln>
            <a:noFill/>
          </a:ln>
        </p:spPr>
        <p:txBody>
          <a:bodyPr spcFirstLastPara="1" wrap="square" lIns="91425" tIns="91425" rIns="91425" bIns="91425" anchor="t" anchorCtr="0">
            <a:spAutoFit/>
          </a:bodyPr>
          <a:lstStyle/>
          <a:p>
            <a:pPr marL="457200" lvl="0" indent="-336550" algn="l" rtl="0">
              <a:lnSpc>
                <a:spcPct val="114000"/>
              </a:lnSpc>
              <a:spcBef>
                <a:spcPts val="0"/>
              </a:spcBef>
              <a:spcAft>
                <a:spcPts val="600"/>
              </a:spcAft>
              <a:buClr>
                <a:schemeClr val="dk2"/>
              </a:buClr>
              <a:buSzPts val="1700"/>
              <a:buChar char="●"/>
            </a:pPr>
            <a:r>
              <a:rPr lang="en-US" sz="1700" b="1" dirty="0" err="1">
                <a:solidFill>
                  <a:schemeClr val="dk2"/>
                </a:solidFill>
              </a:rPr>
              <a:t>sin_len</a:t>
            </a:r>
            <a:r>
              <a:rPr lang="en-US" sz="1700" dirty="0">
                <a:solidFill>
                  <a:schemeClr val="dk2"/>
                </a:solidFill>
              </a:rPr>
              <a:t>: The length of the structure, typically set to 16.</a:t>
            </a:r>
            <a:endParaRPr sz="1700" dirty="0">
              <a:solidFill>
                <a:schemeClr val="dk2"/>
              </a:solidFill>
            </a:endParaRPr>
          </a:p>
          <a:p>
            <a:pPr marL="457200" lvl="0" indent="-336550" algn="l" rtl="0">
              <a:lnSpc>
                <a:spcPct val="114000"/>
              </a:lnSpc>
              <a:spcBef>
                <a:spcPts val="0"/>
              </a:spcBef>
              <a:spcAft>
                <a:spcPts val="600"/>
              </a:spcAft>
              <a:buClr>
                <a:schemeClr val="dk2"/>
              </a:buClr>
              <a:buSzPts val="1700"/>
              <a:buChar char="●"/>
            </a:pPr>
            <a:r>
              <a:rPr lang="en-US" sz="1700" b="1" dirty="0" err="1">
                <a:solidFill>
                  <a:schemeClr val="dk2"/>
                </a:solidFill>
              </a:rPr>
              <a:t>sin_family</a:t>
            </a:r>
            <a:r>
              <a:rPr lang="en-US" sz="1700" dirty="0">
                <a:solidFill>
                  <a:schemeClr val="dk2"/>
                </a:solidFill>
              </a:rPr>
              <a:t>: Specifies the address family, which for IPv4 is usually </a:t>
            </a:r>
            <a:r>
              <a:rPr lang="en-US" sz="1700" u="sng" dirty="0">
                <a:solidFill>
                  <a:schemeClr val="dk2"/>
                </a:solidFill>
              </a:rPr>
              <a:t>AF_INET</a:t>
            </a:r>
            <a:r>
              <a:rPr lang="en-US" sz="1700" dirty="0">
                <a:solidFill>
                  <a:schemeClr val="dk2"/>
                </a:solidFill>
              </a:rPr>
              <a:t>.</a:t>
            </a:r>
            <a:endParaRPr sz="1700" dirty="0">
              <a:solidFill>
                <a:schemeClr val="dk2"/>
              </a:solidFill>
            </a:endParaRPr>
          </a:p>
          <a:p>
            <a:pPr marL="457200" lvl="0" indent="-336550" algn="l" rtl="0">
              <a:lnSpc>
                <a:spcPct val="114000"/>
              </a:lnSpc>
              <a:spcBef>
                <a:spcPts val="0"/>
              </a:spcBef>
              <a:spcAft>
                <a:spcPts val="600"/>
              </a:spcAft>
              <a:buClr>
                <a:schemeClr val="dk2"/>
              </a:buClr>
              <a:buSzPts val="1700"/>
              <a:buChar char="●"/>
            </a:pPr>
            <a:r>
              <a:rPr lang="en-US" sz="1700" b="1" dirty="0" err="1">
                <a:solidFill>
                  <a:schemeClr val="dk2"/>
                </a:solidFill>
              </a:rPr>
              <a:t>sin_port</a:t>
            </a:r>
            <a:r>
              <a:rPr lang="en-US" sz="1700" dirty="0">
                <a:solidFill>
                  <a:schemeClr val="dk2"/>
                </a:solidFill>
              </a:rPr>
              <a:t>: The port number associated with the socket. It's a 16-bit value representing the TCP or UDP port number. Ports are used to differentiate between different services on the same host.</a:t>
            </a:r>
            <a:endParaRPr sz="1700" dirty="0">
              <a:solidFill>
                <a:schemeClr val="dk2"/>
              </a:solidFill>
            </a:endParaRPr>
          </a:p>
          <a:p>
            <a:pPr marL="457200" lvl="0" indent="-336550" algn="l" rtl="0">
              <a:lnSpc>
                <a:spcPct val="114000"/>
              </a:lnSpc>
              <a:spcBef>
                <a:spcPts val="0"/>
              </a:spcBef>
              <a:spcAft>
                <a:spcPts val="600"/>
              </a:spcAft>
              <a:buClr>
                <a:schemeClr val="dk2"/>
              </a:buClr>
              <a:buSzPts val="1700"/>
              <a:buChar char="●"/>
            </a:pPr>
            <a:r>
              <a:rPr lang="en-US" sz="1700" b="1" dirty="0" err="1">
                <a:solidFill>
                  <a:schemeClr val="dk2"/>
                </a:solidFill>
              </a:rPr>
              <a:t>sin_addr</a:t>
            </a:r>
            <a:r>
              <a:rPr lang="en-US" sz="1700" dirty="0">
                <a:solidFill>
                  <a:schemeClr val="dk2"/>
                </a:solidFill>
              </a:rPr>
              <a:t>: An instance of struct </a:t>
            </a:r>
            <a:r>
              <a:rPr lang="en-US" sz="1700" dirty="0" err="1">
                <a:solidFill>
                  <a:schemeClr val="dk2"/>
                </a:solidFill>
              </a:rPr>
              <a:t>in_addr</a:t>
            </a:r>
            <a:r>
              <a:rPr lang="en-US" sz="1700" dirty="0">
                <a:solidFill>
                  <a:schemeClr val="dk2"/>
                </a:solidFill>
              </a:rPr>
              <a:t>, representing the IPv4 address of the host or server. It contains the 32-bit IPv4 address in network byte order.</a:t>
            </a:r>
            <a:endParaRPr sz="1700" dirty="0">
              <a:solidFill>
                <a:schemeClr val="dk2"/>
              </a:solidFill>
            </a:endParaRPr>
          </a:p>
          <a:p>
            <a:pPr marL="457200" lvl="0" indent="-336550" algn="l" rtl="0">
              <a:lnSpc>
                <a:spcPct val="114000"/>
              </a:lnSpc>
              <a:spcBef>
                <a:spcPts val="0"/>
              </a:spcBef>
              <a:spcAft>
                <a:spcPts val="0"/>
              </a:spcAft>
              <a:buClr>
                <a:schemeClr val="dk2"/>
              </a:buClr>
              <a:buSzPts val="1700"/>
              <a:buChar char="●"/>
            </a:pPr>
            <a:r>
              <a:rPr lang="en-US" sz="1700" b="1" dirty="0" err="1">
                <a:solidFill>
                  <a:schemeClr val="dk2"/>
                </a:solidFill>
              </a:rPr>
              <a:t>sin_zero</a:t>
            </a:r>
            <a:r>
              <a:rPr lang="en-US" sz="1700" dirty="0">
                <a:solidFill>
                  <a:schemeClr val="dk2"/>
                </a:solidFill>
              </a:rPr>
              <a:t>: A field of 8 bytes, traditionally not used but filled with zeros. It exists to ensure that struct </a:t>
            </a:r>
            <a:r>
              <a:rPr lang="en-US" sz="1700" dirty="0" err="1">
                <a:solidFill>
                  <a:schemeClr val="dk2"/>
                </a:solidFill>
              </a:rPr>
              <a:t>sockaddr_in</a:t>
            </a:r>
            <a:r>
              <a:rPr lang="en-US" sz="1700" dirty="0">
                <a:solidFill>
                  <a:schemeClr val="dk2"/>
                </a:solidFill>
              </a:rPr>
              <a:t> has the same size as struct </a:t>
            </a:r>
            <a:r>
              <a:rPr lang="en-US" sz="1700" dirty="0" err="1">
                <a:solidFill>
                  <a:schemeClr val="dk2"/>
                </a:solidFill>
              </a:rPr>
              <a:t>sockaddr</a:t>
            </a:r>
            <a:r>
              <a:rPr lang="en-US" sz="1700" dirty="0">
                <a:solidFill>
                  <a:schemeClr val="dk2"/>
                </a:solidFill>
              </a:rPr>
              <a:t>, which is required for compatibility reasons.</a:t>
            </a:r>
            <a:endParaRPr sz="1700" dirty="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0"/>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Generic Socket Address Structure</a:t>
            </a:r>
          </a:p>
        </p:txBody>
      </p:sp>
      <p:sp>
        <p:nvSpPr>
          <p:cNvPr id="208" name="Google Shape;208;p30"/>
          <p:cNvSpPr txBox="1"/>
          <p:nvPr/>
        </p:nvSpPr>
        <p:spPr>
          <a:xfrm>
            <a:off x="406175" y="3899501"/>
            <a:ext cx="11350396" cy="2871525"/>
          </a:xfrm>
          <a:prstGeom prst="rect">
            <a:avLst/>
          </a:prstGeom>
          <a:noFill/>
          <a:ln>
            <a:noFill/>
          </a:ln>
        </p:spPr>
        <p:txBody>
          <a:bodyPr spcFirstLastPara="1" wrap="square" lIns="91425" tIns="91425" rIns="91425" bIns="91425" anchor="t" anchorCtr="0">
            <a:spAutoFit/>
          </a:bodyPr>
          <a:lstStyle/>
          <a:p>
            <a:pPr marL="457200" lvl="0" indent="-355600" algn="l" rtl="0">
              <a:lnSpc>
                <a:spcPct val="114000"/>
              </a:lnSpc>
              <a:spcBef>
                <a:spcPts val="0"/>
              </a:spcBef>
              <a:spcAft>
                <a:spcPts val="1800"/>
              </a:spcAft>
              <a:buClr>
                <a:schemeClr val="dk2"/>
              </a:buClr>
              <a:buSzPts val="2000"/>
              <a:buChar char="●"/>
            </a:pPr>
            <a:r>
              <a:rPr lang="en-US" sz="2000" b="1" dirty="0">
                <a:solidFill>
                  <a:srgbClr val="0070C0"/>
                </a:solidFill>
                <a:latin typeface="Courier New"/>
                <a:ea typeface="Courier New"/>
                <a:cs typeface="Courier New"/>
                <a:sym typeface="Courier New"/>
              </a:rPr>
              <a:t>struct </a:t>
            </a:r>
            <a:r>
              <a:rPr lang="en-US" sz="2000" b="1" dirty="0" err="1">
                <a:solidFill>
                  <a:srgbClr val="0070C0"/>
                </a:solidFill>
                <a:latin typeface="Courier New"/>
                <a:ea typeface="Courier New"/>
                <a:cs typeface="Courier New"/>
                <a:sym typeface="Courier New"/>
              </a:rPr>
              <a:t>sockaddr</a:t>
            </a:r>
            <a:r>
              <a:rPr lang="en-US" sz="2000" b="1" dirty="0">
                <a:solidFill>
                  <a:srgbClr val="0070C0"/>
                </a:solidFill>
              </a:rPr>
              <a:t> </a:t>
            </a:r>
            <a:r>
              <a:rPr lang="en-US" sz="2000" dirty="0">
                <a:solidFill>
                  <a:schemeClr val="dk2"/>
                </a:solidFill>
              </a:rPr>
              <a:t>provides a flexible and generic way to represent socket addresses, allowing applications to work with different types of addresses without needing to know the specific details of each address family. </a:t>
            </a:r>
            <a:endParaRPr sz="2000" dirty="0">
              <a:solidFill>
                <a:schemeClr val="dk2"/>
              </a:solidFill>
            </a:endParaRPr>
          </a:p>
          <a:p>
            <a:pPr marL="457200" lvl="0" indent="-355600" algn="l" rtl="0">
              <a:lnSpc>
                <a:spcPct val="114000"/>
              </a:lnSpc>
              <a:spcBef>
                <a:spcPts val="0"/>
              </a:spcBef>
              <a:spcAft>
                <a:spcPts val="0"/>
              </a:spcAft>
              <a:buClr>
                <a:schemeClr val="dk2"/>
              </a:buClr>
              <a:buSzPts val="2000"/>
              <a:buChar char="●"/>
            </a:pPr>
            <a:r>
              <a:rPr lang="en-US" sz="2000" dirty="0">
                <a:solidFill>
                  <a:schemeClr val="dk2"/>
                </a:solidFill>
              </a:rPr>
              <a:t>When working with specific address families, such as IPv4 or IPv6, developers often use specialized structures like struct </a:t>
            </a:r>
            <a:r>
              <a:rPr lang="en-US" sz="2000" b="1" dirty="0" err="1">
                <a:solidFill>
                  <a:srgbClr val="0070C0"/>
                </a:solidFill>
                <a:latin typeface="Courier New"/>
                <a:ea typeface="Courier New"/>
                <a:cs typeface="Courier New"/>
                <a:sym typeface="Courier New"/>
              </a:rPr>
              <a:t>sockaddr_in</a:t>
            </a:r>
            <a:r>
              <a:rPr lang="en-US" sz="2000" b="1" dirty="0">
                <a:solidFill>
                  <a:srgbClr val="0070C0"/>
                </a:solidFill>
              </a:rPr>
              <a:t> </a:t>
            </a:r>
            <a:r>
              <a:rPr lang="en-US" sz="2000" dirty="0">
                <a:solidFill>
                  <a:schemeClr val="dk2"/>
                </a:solidFill>
              </a:rPr>
              <a:t>or struct </a:t>
            </a:r>
            <a:r>
              <a:rPr lang="en-US" sz="2000" b="1" dirty="0">
                <a:solidFill>
                  <a:srgbClr val="0070C0"/>
                </a:solidFill>
                <a:latin typeface="Courier New"/>
                <a:ea typeface="Courier New"/>
                <a:cs typeface="Courier New"/>
                <a:sym typeface="Courier New"/>
              </a:rPr>
              <a:t>sockaddr_in6</a:t>
            </a:r>
            <a:r>
              <a:rPr lang="en-US" sz="2000" dirty="0">
                <a:solidFill>
                  <a:schemeClr val="dk2"/>
                </a:solidFill>
              </a:rPr>
              <a:t>, which are based on struct </a:t>
            </a:r>
            <a:r>
              <a:rPr lang="en-US" sz="2000" dirty="0" err="1">
                <a:solidFill>
                  <a:schemeClr val="dk2"/>
                </a:solidFill>
              </a:rPr>
              <a:t>sockaddr</a:t>
            </a:r>
            <a:r>
              <a:rPr lang="en-US" sz="2000" dirty="0">
                <a:solidFill>
                  <a:schemeClr val="dk2"/>
                </a:solidFill>
              </a:rPr>
              <a:t> but provide additional fields and functionality tailored to the respective address family.</a:t>
            </a:r>
            <a:endParaRPr sz="2000" dirty="0">
              <a:solidFill>
                <a:schemeClr val="dk2"/>
              </a:solidFill>
            </a:endParaRPr>
          </a:p>
        </p:txBody>
      </p:sp>
      <p:pic>
        <p:nvPicPr>
          <p:cNvPr id="209" name="Google Shape;209;p30" descr="Code snippet for the generic sockaddr C structure used as a template for various address families."/>
          <p:cNvPicPr preferRelativeResize="0"/>
          <p:nvPr/>
        </p:nvPicPr>
        <p:blipFill>
          <a:blip r:embed="rId3">
            <a:alphaModFix/>
          </a:blip>
          <a:stretch>
            <a:fillRect/>
          </a:stretch>
        </p:blipFill>
        <p:spPr>
          <a:xfrm>
            <a:off x="406175" y="1872325"/>
            <a:ext cx="8476049" cy="1951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15" name="Google Shape;215;p31"/>
          <p:cNvSpPr txBox="1"/>
          <p:nvPr/>
        </p:nvSpPr>
        <p:spPr>
          <a:xfrm>
            <a:off x="2910300" y="3030800"/>
            <a:ext cx="6571050" cy="1658309"/>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2800" b="1" dirty="0">
                <a:solidFill>
                  <a:schemeClr val="accent4"/>
                </a:solidFill>
              </a:rPr>
              <a:t>Goal</a:t>
            </a:r>
            <a:r>
              <a:rPr lang="en-US" sz="2800" dirty="0">
                <a:solidFill>
                  <a:schemeClr val="dk2"/>
                </a:solidFill>
              </a:rPr>
              <a:t>: </a:t>
            </a:r>
            <a:r>
              <a:rPr lang="en-US" sz="2800" i="1" dirty="0">
                <a:solidFill>
                  <a:schemeClr val="dk2"/>
                </a:solidFill>
              </a:rPr>
              <a:t>To ensure that data is transmitted and interpreted correctly across different systems with varying CPU architectures.</a:t>
            </a:r>
            <a:endParaRPr sz="2800" i="1" dirty="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2"/>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21" name="Google Shape;221;p32"/>
          <p:cNvSpPr txBox="1"/>
          <p:nvPr/>
        </p:nvSpPr>
        <p:spPr>
          <a:xfrm>
            <a:off x="2910300" y="3030800"/>
            <a:ext cx="6371400" cy="2149533"/>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2800" b="1" dirty="0">
                <a:solidFill>
                  <a:schemeClr val="accent4"/>
                </a:solidFill>
              </a:rPr>
              <a:t>Definition</a:t>
            </a:r>
            <a:r>
              <a:rPr lang="en-US" sz="2800" dirty="0">
                <a:solidFill>
                  <a:schemeClr val="dk2"/>
                </a:solidFill>
              </a:rPr>
              <a:t>: </a:t>
            </a:r>
            <a:r>
              <a:rPr lang="en-US" sz="2800" i="1" dirty="0">
                <a:solidFill>
                  <a:schemeClr val="dk2"/>
                </a:solidFill>
              </a:rPr>
              <a:t>Byte order, also known as </a:t>
            </a:r>
            <a:r>
              <a:rPr lang="en-US" sz="2800" b="1" i="1" dirty="0">
                <a:solidFill>
                  <a:schemeClr val="dk2"/>
                </a:solidFill>
              </a:rPr>
              <a:t>endianness</a:t>
            </a:r>
            <a:r>
              <a:rPr lang="en-US" sz="2800" i="1" dirty="0">
                <a:solidFill>
                  <a:schemeClr val="dk2"/>
                </a:solidFill>
              </a:rPr>
              <a:t>, refers to the order in which bytes are stored in memory or transmitted over a network.</a:t>
            </a:r>
            <a:endParaRPr sz="2800" i="1" dirty="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3"/>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pic>
        <p:nvPicPr>
          <p:cNvPr id="227" name="Google Shape;227;p33" descr="Diagram identifying the Most Significant Bit (MSB) and Least Significant Bit (LSB) in a byte."/>
          <p:cNvPicPr preferRelativeResize="0"/>
          <p:nvPr/>
        </p:nvPicPr>
        <p:blipFill>
          <a:blip r:embed="rId3">
            <a:alphaModFix/>
          </a:blip>
          <a:stretch>
            <a:fillRect/>
          </a:stretch>
        </p:blipFill>
        <p:spPr>
          <a:xfrm>
            <a:off x="462125" y="2046849"/>
            <a:ext cx="6572874" cy="3433825"/>
          </a:xfrm>
          <a:prstGeom prst="rect">
            <a:avLst/>
          </a:prstGeom>
          <a:noFill/>
          <a:ln>
            <a:noFill/>
          </a:ln>
        </p:spPr>
      </p:pic>
      <p:sp>
        <p:nvSpPr>
          <p:cNvPr id="228" name="Google Shape;228;p33">
            <a:extLst>
              <a:ext uri="{C183D7F6-B498-43B3-948B-1728B52AA6E4}">
                <adec:decorative xmlns:adec="http://schemas.microsoft.com/office/drawing/2017/decorative" val="1"/>
              </a:ext>
            </a:extLst>
          </p:cNvPr>
          <p:cNvSpPr txBox="1"/>
          <p:nvPr/>
        </p:nvSpPr>
        <p:spPr>
          <a:xfrm>
            <a:off x="462125" y="5604100"/>
            <a:ext cx="65730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dirty="0">
                <a:solidFill>
                  <a:srgbClr val="000000"/>
                </a:solidFill>
                <a:latin typeface="Arial"/>
                <a:ea typeface="Arial"/>
                <a:cs typeface="Arial"/>
                <a:sym typeface="Arial"/>
              </a:rPr>
              <a:t>Image credit - </a:t>
            </a:r>
            <a:r>
              <a:rPr lang="en-US" sz="800" dirty="0"/>
              <a:t>Dong, Yumin &amp; Mou, </a:t>
            </a:r>
            <a:r>
              <a:rPr lang="en-US" sz="800" dirty="0" err="1"/>
              <a:t>Dingkang</a:t>
            </a:r>
            <a:r>
              <a:rPr lang="en-US" sz="800" dirty="0"/>
              <a:t> &amp; Liu, Hengrui &amp; Zhu, Tingting. (2023). Quantum color image watermarking scheme based on quantum error correction coding. New Journal of Physics. 25. 10.1088/1367-2630/ad08ca. </a:t>
            </a:r>
            <a:endParaRPr sz="800" dirty="0"/>
          </a:p>
        </p:txBody>
      </p:sp>
      <p:sp>
        <p:nvSpPr>
          <p:cNvPr id="229" name="Google Shape;229;p33"/>
          <p:cNvSpPr txBox="1"/>
          <p:nvPr/>
        </p:nvSpPr>
        <p:spPr>
          <a:xfrm>
            <a:off x="7554850" y="2643650"/>
            <a:ext cx="4103700" cy="2731102"/>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1800"/>
              </a:spcAft>
              <a:buNone/>
            </a:pPr>
            <a:r>
              <a:rPr lang="en-US" sz="2200" b="1" dirty="0">
                <a:solidFill>
                  <a:schemeClr val="dk2"/>
                </a:solidFill>
              </a:rPr>
              <a:t>MSB</a:t>
            </a:r>
            <a:r>
              <a:rPr lang="en-US" sz="2200" dirty="0">
                <a:solidFill>
                  <a:schemeClr val="dk2"/>
                </a:solidFill>
              </a:rPr>
              <a:t> - leftmost bit when representing the number in binary form</a:t>
            </a:r>
            <a:endParaRPr sz="2200" dirty="0">
              <a:solidFill>
                <a:schemeClr val="dk2"/>
              </a:solidFill>
            </a:endParaRPr>
          </a:p>
          <a:p>
            <a:pPr marL="0" lvl="0" indent="0" algn="l" rtl="0">
              <a:lnSpc>
                <a:spcPct val="114000"/>
              </a:lnSpc>
              <a:spcBef>
                <a:spcPts val="0"/>
              </a:spcBef>
              <a:spcAft>
                <a:spcPts val="0"/>
              </a:spcAft>
              <a:buNone/>
            </a:pPr>
            <a:r>
              <a:rPr lang="en-US" sz="2200" b="1" dirty="0">
                <a:solidFill>
                  <a:schemeClr val="dk2"/>
                </a:solidFill>
              </a:rPr>
              <a:t>LSB</a:t>
            </a:r>
            <a:r>
              <a:rPr lang="en-US" sz="2200" dirty="0">
                <a:solidFill>
                  <a:schemeClr val="dk2"/>
                </a:solidFill>
              </a:rPr>
              <a:t> - rightmost bit when representing the number in binary form</a:t>
            </a:r>
            <a:endParaRPr sz="2200" dirty="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35" name="Google Shape;235;p34"/>
          <p:cNvSpPr txBox="1"/>
          <p:nvPr/>
        </p:nvSpPr>
        <p:spPr>
          <a:xfrm>
            <a:off x="337350" y="1957850"/>
            <a:ext cx="70737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dirty="0">
                <a:solidFill>
                  <a:schemeClr val="dk2"/>
                </a:solidFill>
              </a:rPr>
              <a:t>A computer memory is a large array of bytes (8 bits)</a:t>
            </a:r>
            <a:endParaRPr sz="2200" dirty="0">
              <a:solidFill>
                <a:schemeClr val="dk2"/>
              </a:solidFill>
            </a:endParaRPr>
          </a:p>
        </p:txBody>
      </p:sp>
      <p:pic>
        <p:nvPicPr>
          <p:cNvPr id="236" name="Google Shape;236;p34" descr="Diagram representing computer memory as a consecutive array of byte-sized locations."/>
          <p:cNvPicPr preferRelativeResize="0"/>
          <p:nvPr/>
        </p:nvPicPr>
        <p:blipFill>
          <a:blip r:embed="rId3">
            <a:alphaModFix/>
          </a:blip>
          <a:stretch>
            <a:fillRect/>
          </a:stretch>
        </p:blipFill>
        <p:spPr>
          <a:xfrm>
            <a:off x="381600" y="2566575"/>
            <a:ext cx="8571187" cy="4072151"/>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42" name="Google Shape;242;p35"/>
          <p:cNvSpPr txBox="1"/>
          <p:nvPr/>
        </p:nvSpPr>
        <p:spPr>
          <a:xfrm>
            <a:off x="337350" y="1957850"/>
            <a:ext cx="70737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dk2"/>
                </a:solidFill>
              </a:rPr>
              <a:t>A computer memory is a large array of bytes (8 bits)</a:t>
            </a:r>
            <a:endParaRPr sz="2200">
              <a:solidFill>
                <a:schemeClr val="dk2"/>
              </a:solidFill>
            </a:endParaRPr>
          </a:p>
        </p:txBody>
      </p:sp>
      <p:pic>
        <p:nvPicPr>
          <p:cNvPr id="243" name="Google Shape;243;p35" descr="A blank memory table asking how a 32-bit quantity is distributed across four memory addresses."/>
          <p:cNvPicPr preferRelativeResize="0"/>
          <p:nvPr/>
        </p:nvPicPr>
        <p:blipFill>
          <a:blip r:embed="rId3">
            <a:alphaModFix/>
          </a:blip>
          <a:stretch>
            <a:fillRect/>
          </a:stretch>
        </p:blipFill>
        <p:spPr>
          <a:xfrm>
            <a:off x="395750" y="2566575"/>
            <a:ext cx="8273577" cy="4072151"/>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6"/>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pic>
        <p:nvPicPr>
          <p:cNvPr id="249" name="Google Shape;249;p36" descr="Memory table showing Little Endian storage of the hex value 12 34 56 78."/>
          <p:cNvPicPr preferRelativeResize="0"/>
          <p:nvPr/>
        </p:nvPicPr>
        <p:blipFill>
          <a:blip r:embed="rId3">
            <a:alphaModFix/>
          </a:blip>
          <a:stretch>
            <a:fillRect/>
          </a:stretch>
        </p:blipFill>
        <p:spPr>
          <a:xfrm>
            <a:off x="384675" y="1969391"/>
            <a:ext cx="9782093" cy="4680884"/>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7"/>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pic>
        <p:nvPicPr>
          <p:cNvPr id="255" name="Google Shape;255;p37" descr="Memory table showing Big Endian storage of the hex value 12 34 56 78."/>
          <p:cNvPicPr preferRelativeResize="0"/>
          <p:nvPr/>
        </p:nvPicPr>
        <p:blipFill>
          <a:blip r:embed="rId3">
            <a:alphaModFix/>
          </a:blip>
          <a:stretch>
            <a:fillRect/>
          </a:stretch>
        </p:blipFill>
        <p:spPr>
          <a:xfrm>
            <a:off x="337350" y="1948516"/>
            <a:ext cx="10155136" cy="4680883"/>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8"/>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63" name="Google Shape;263;p38"/>
          <p:cNvSpPr txBox="1"/>
          <p:nvPr/>
        </p:nvSpPr>
        <p:spPr>
          <a:xfrm>
            <a:off x="417250" y="1924650"/>
            <a:ext cx="6371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dk2"/>
                </a:solidFill>
              </a:rPr>
              <a:t>Two main byte order conventions:</a:t>
            </a:r>
            <a:endParaRPr sz="2000" dirty="0">
              <a:solidFill>
                <a:schemeClr val="dk2"/>
              </a:solidFill>
            </a:endParaRPr>
          </a:p>
        </p:txBody>
      </p:sp>
      <p:sp>
        <p:nvSpPr>
          <p:cNvPr id="261" name="Google Shape;261;p38"/>
          <p:cNvSpPr txBox="1"/>
          <p:nvPr/>
        </p:nvSpPr>
        <p:spPr>
          <a:xfrm>
            <a:off x="417250" y="2536850"/>
            <a:ext cx="6142200" cy="364231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a:solidFill>
                  <a:schemeClr val="dk2"/>
                </a:solidFill>
              </a:rPr>
              <a:t>Big-Endian: </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In big-endian byte order, the most significant byte (</a:t>
            </a:r>
            <a:r>
              <a:rPr lang="en-US" sz="1800" u="sng" dirty="0">
                <a:solidFill>
                  <a:schemeClr val="dk2"/>
                </a:solidFill>
              </a:rPr>
              <a:t>MSB) is stored at the lowest memory address</a:t>
            </a:r>
            <a:r>
              <a:rPr lang="en-US" sz="1800" dirty="0">
                <a:solidFill>
                  <a:schemeClr val="dk2"/>
                </a:solidFill>
              </a:rPr>
              <a:t>.</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Subsequent bytes are stored in increasing order of significance, with the least significant byte (</a:t>
            </a:r>
            <a:r>
              <a:rPr lang="en-US" sz="1800" u="sng" dirty="0">
                <a:solidFill>
                  <a:schemeClr val="dk2"/>
                </a:solidFill>
              </a:rPr>
              <a:t>LSB) at the highest memory address</a:t>
            </a:r>
            <a:r>
              <a:rPr lang="en-US" sz="1800" dirty="0">
                <a:solidFill>
                  <a:schemeClr val="dk2"/>
                </a:solidFill>
              </a:rPr>
              <a:t>.</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This byte order is used by network protocols like TCP/IP and UDP/IP for transmitting data over the network.</a:t>
            </a:r>
            <a:endParaRPr sz="1800" dirty="0">
              <a:solidFill>
                <a:schemeClr val="dk2"/>
              </a:solidFill>
            </a:endParaRPr>
          </a:p>
        </p:txBody>
      </p:sp>
      <p:sp>
        <p:nvSpPr>
          <p:cNvPr id="262" name="Google Shape;262;p38"/>
          <p:cNvSpPr txBox="1"/>
          <p:nvPr/>
        </p:nvSpPr>
        <p:spPr>
          <a:xfrm>
            <a:off x="6714325" y="2536850"/>
            <a:ext cx="5243100" cy="3958105"/>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a:solidFill>
                  <a:schemeClr val="dk2"/>
                </a:solidFill>
              </a:rPr>
              <a:t>Little-Endian:</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In little-endian byte order, the least significant byte </a:t>
            </a:r>
            <a:r>
              <a:rPr lang="en-US" sz="1800" u="sng" dirty="0">
                <a:solidFill>
                  <a:schemeClr val="dk2"/>
                </a:solidFill>
              </a:rPr>
              <a:t>(LSB) is stored at the lowest memory address</a:t>
            </a:r>
            <a:r>
              <a:rPr lang="en-US" sz="1800" dirty="0">
                <a:solidFill>
                  <a:schemeClr val="dk2"/>
                </a:solidFill>
              </a:rPr>
              <a:t>.</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Subsequent bytes are stored in increasing order of significance, with the most significant byte (</a:t>
            </a:r>
            <a:r>
              <a:rPr lang="en-US" sz="1800" u="sng" dirty="0">
                <a:solidFill>
                  <a:schemeClr val="dk2"/>
                </a:solidFill>
              </a:rPr>
              <a:t>MSB) at the highest memory address</a:t>
            </a:r>
            <a:r>
              <a:rPr lang="en-US" sz="1800" dirty="0">
                <a:solidFill>
                  <a:schemeClr val="dk2"/>
                </a:solidFill>
              </a:rPr>
              <a:t>.</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This byte order is commonly used by x86-based processors and some other architectures.</a:t>
            </a:r>
            <a:endParaRPr sz="1800" dirty="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9"/>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69" name="Google Shape;269;p39"/>
          <p:cNvSpPr txBox="1"/>
          <p:nvPr/>
        </p:nvSpPr>
        <p:spPr>
          <a:xfrm>
            <a:off x="417250" y="1949670"/>
            <a:ext cx="5209800" cy="482052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a:solidFill>
                  <a:schemeClr val="dk2"/>
                </a:solidFill>
              </a:rPr>
              <a:t>Host Byte Order: </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Host byte order is determined by the CPU architecture of the host machine.</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For example, x86-based processors </a:t>
            </a:r>
            <a:r>
              <a:rPr lang="en-US" sz="1800" u="sng" dirty="0">
                <a:solidFill>
                  <a:schemeClr val="dk2"/>
                </a:solidFill>
              </a:rPr>
              <a:t>commonly use little-endian byte order</a:t>
            </a:r>
            <a:r>
              <a:rPr lang="en-US" sz="1800" dirty="0">
                <a:solidFill>
                  <a:schemeClr val="dk2"/>
                </a:solidFill>
              </a:rPr>
              <a:t>, where the least significant byte (LSB) is stored at the lowest memory address.</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Other architectures, such as PowerPC and SPARC, </a:t>
            </a:r>
            <a:r>
              <a:rPr lang="en-US" sz="1800" u="sng" dirty="0">
                <a:solidFill>
                  <a:schemeClr val="dk2"/>
                </a:solidFill>
              </a:rPr>
              <a:t>may use big-endian byte order</a:t>
            </a:r>
            <a:r>
              <a:rPr lang="en-US" sz="1800" dirty="0">
                <a:solidFill>
                  <a:schemeClr val="dk2"/>
                </a:solidFill>
              </a:rPr>
              <a:t> or even bi-endian formats.</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Host byte order is used for representing data within the host's memory.</a:t>
            </a:r>
            <a:endParaRPr sz="1800" dirty="0">
              <a:solidFill>
                <a:schemeClr val="dk2"/>
              </a:solidFill>
            </a:endParaRPr>
          </a:p>
        </p:txBody>
      </p:sp>
      <p:sp>
        <p:nvSpPr>
          <p:cNvPr id="270" name="Google Shape;270;p39"/>
          <p:cNvSpPr txBox="1"/>
          <p:nvPr/>
        </p:nvSpPr>
        <p:spPr>
          <a:xfrm>
            <a:off x="5868000" y="1638175"/>
            <a:ext cx="6111300" cy="5136312"/>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a:solidFill>
                  <a:schemeClr val="dk2"/>
                </a:solidFill>
              </a:rPr>
              <a:t>Network Byte Order:</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Network byte order is a standardized byte order used for transmitting data over the network.</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It is </a:t>
            </a:r>
            <a:r>
              <a:rPr lang="en-US" sz="1800" u="sng" dirty="0">
                <a:solidFill>
                  <a:schemeClr val="dk2"/>
                </a:solidFill>
              </a:rPr>
              <a:t>defined as big-endian</a:t>
            </a:r>
            <a:r>
              <a:rPr lang="en-US" sz="1800" dirty="0">
                <a:solidFill>
                  <a:schemeClr val="dk2"/>
                </a:solidFill>
              </a:rPr>
              <a:t>, meaning the most significant byte (MSB) is transmitted first, </a:t>
            </a:r>
            <a:br>
              <a:rPr lang="en-US" sz="1800" dirty="0">
                <a:solidFill>
                  <a:schemeClr val="dk2"/>
                </a:solidFill>
              </a:rPr>
            </a:br>
            <a:r>
              <a:rPr lang="en-US" sz="1800" dirty="0">
                <a:solidFill>
                  <a:schemeClr val="dk2"/>
                </a:solidFill>
              </a:rPr>
              <a:t>followed by the least significant byte (LSB).</a:t>
            </a:r>
            <a:endParaRPr sz="1800" dirty="0">
              <a:solidFill>
                <a:schemeClr val="dk2"/>
              </a:solidFill>
            </a:endParaRPr>
          </a:p>
          <a:p>
            <a:pPr marL="457200" lvl="0" indent="-342900" algn="l" rtl="0">
              <a:lnSpc>
                <a:spcPct val="114000"/>
              </a:lnSpc>
              <a:spcBef>
                <a:spcPts val="0"/>
              </a:spcBef>
              <a:spcAft>
                <a:spcPts val="1800"/>
              </a:spcAft>
              <a:buClr>
                <a:schemeClr val="dk2"/>
              </a:buClr>
              <a:buSzPts val="1800"/>
              <a:buChar char="●"/>
            </a:pPr>
            <a:r>
              <a:rPr lang="en-US" sz="1800" dirty="0">
                <a:solidFill>
                  <a:schemeClr val="dk2"/>
                </a:solidFill>
              </a:rPr>
              <a:t>All network protocols, such as TCP/IP and UDP/IP, specify that multi-byte data types should be transmitted in network byte order to ensure interoperability between different systems.</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Network byte order allows data to be transmitted and interpreted consistently across systems with varying CPU architectures.</a:t>
            </a:r>
            <a:endParaRPr sz="1800" dirty="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0"/>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76" name="Google Shape;276;p40"/>
          <p:cNvSpPr txBox="1"/>
          <p:nvPr/>
        </p:nvSpPr>
        <p:spPr>
          <a:xfrm>
            <a:off x="337350" y="2179075"/>
            <a:ext cx="10010400" cy="3903924"/>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2800" b="1" dirty="0">
                <a:solidFill>
                  <a:schemeClr val="dk2"/>
                </a:solidFill>
              </a:rPr>
              <a:t>host byte order</a:t>
            </a:r>
            <a:r>
              <a:rPr lang="en-US" sz="2800" dirty="0">
                <a:solidFill>
                  <a:schemeClr val="dk2"/>
                </a:solidFill>
              </a:rPr>
              <a:t> (</a:t>
            </a:r>
            <a:r>
              <a:rPr lang="en-US" sz="2800" b="1" dirty="0">
                <a:solidFill>
                  <a:schemeClr val="accent4"/>
                </a:solidFill>
              </a:rPr>
              <a:t>little endian</a:t>
            </a:r>
            <a:r>
              <a:rPr lang="en-US" sz="2800" dirty="0">
                <a:solidFill>
                  <a:schemeClr val="dk2"/>
                </a:solidFill>
              </a:rPr>
              <a:t>) is optimized for CPU operations</a:t>
            </a:r>
            <a:br>
              <a:rPr lang="en-US" sz="2800" dirty="0">
                <a:solidFill>
                  <a:schemeClr val="dk2"/>
                </a:solidFill>
              </a:rPr>
            </a:br>
            <a:r>
              <a:rPr lang="en-US" sz="1800" dirty="0">
                <a:solidFill>
                  <a:schemeClr val="dk2"/>
                </a:solidFill>
              </a:rPr>
              <a:t>Little-endian byte order is efficient for CPU operations like addition and subtraction, </a:t>
            </a:r>
            <a:br>
              <a:rPr lang="en-US" sz="1800" dirty="0">
                <a:solidFill>
                  <a:schemeClr val="dk2"/>
                </a:solidFill>
              </a:rPr>
            </a:br>
            <a:r>
              <a:rPr lang="en-US" sz="1800" dirty="0">
                <a:solidFill>
                  <a:schemeClr val="dk2"/>
                </a:solidFill>
              </a:rPr>
              <a:t>as it aligns with how CPUs process data.</a:t>
            </a:r>
            <a:endParaRPr sz="1800" dirty="0">
              <a:solidFill>
                <a:schemeClr val="dk2"/>
              </a:solidFill>
            </a:endParaRPr>
          </a:p>
          <a:p>
            <a:pPr marL="0" lvl="0" indent="0" algn="l" rtl="0">
              <a:lnSpc>
                <a:spcPct val="114000"/>
              </a:lnSpc>
              <a:spcBef>
                <a:spcPts val="0"/>
              </a:spcBef>
              <a:spcAft>
                <a:spcPts val="0"/>
              </a:spcAft>
              <a:buNone/>
            </a:pPr>
            <a:endParaRPr sz="2800" dirty="0">
              <a:solidFill>
                <a:schemeClr val="dk2"/>
              </a:solidFill>
            </a:endParaRPr>
          </a:p>
          <a:p>
            <a:pPr marL="0" lvl="0" indent="0" algn="l" rtl="0">
              <a:lnSpc>
                <a:spcPct val="114000"/>
              </a:lnSpc>
              <a:spcBef>
                <a:spcPts val="0"/>
              </a:spcBef>
              <a:spcAft>
                <a:spcPts val="0"/>
              </a:spcAft>
              <a:buNone/>
            </a:pPr>
            <a:r>
              <a:rPr lang="en-US" sz="2800" b="1" dirty="0">
                <a:solidFill>
                  <a:schemeClr val="dk2"/>
                </a:solidFill>
              </a:rPr>
              <a:t>network byte order</a:t>
            </a:r>
            <a:r>
              <a:rPr lang="en-US" sz="2800" dirty="0">
                <a:solidFill>
                  <a:schemeClr val="dk2"/>
                </a:solidFill>
              </a:rPr>
              <a:t> (</a:t>
            </a:r>
            <a:r>
              <a:rPr lang="en-US" sz="2800" b="1" dirty="0">
                <a:solidFill>
                  <a:schemeClr val="accent4"/>
                </a:solidFill>
              </a:rPr>
              <a:t>big endian</a:t>
            </a:r>
            <a:r>
              <a:rPr lang="en-US" sz="2800" dirty="0">
                <a:solidFill>
                  <a:schemeClr val="dk2"/>
                </a:solidFill>
              </a:rPr>
              <a:t>) is standardized for transmitting data over networks to ensure interoperability</a:t>
            </a:r>
            <a:endParaRPr sz="2800" dirty="0">
              <a:solidFill>
                <a:schemeClr val="dk2"/>
              </a:solidFill>
            </a:endParaRPr>
          </a:p>
          <a:p>
            <a:pPr marL="0" lvl="0" indent="0" algn="l" rtl="0">
              <a:lnSpc>
                <a:spcPct val="114000"/>
              </a:lnSpc>
              <a:spcBef>
                <a:spcPts val="0"/>
              </a:spcBef>
              <a:spcAft>
                <a:spcPts val="0"/>
              </a:spcAft>
              <a:buNone/>
            </a:pPr>
            <a:r>
              <a:rPr lang="en-US" sz="1800" dirty="0">
                <a:solidFill>
                  <a:schemeClr val="dk2"/>
                </a:solidFill>
              </a:rPr>
              <a:t>Big-endian byte order provides a consistent byte ordering for transmitting multi-byte data types over the network, regardless of the host's byte order.</a:t>
            </a:r>
            <a:endParaRPr sz="1800" dirty="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1"/>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83" name="Google Shape;283;p41"/>
          <p:cNvSpPr txBox="1"/>
          <p:nvPr/>
        </p:nvSpPr>
        <p:spPr>
          <a:xfrm>
            <a:off x="464575" y="1941881"/>
            <a:ext cx="6813600" cy="1851117"/>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900" dirty="0">
                <a:solidFill>
                  <a:schemeClr val="dk2"/>
                </a:solidFill>
              </a:rPr>
              <a:t>These functions, </a:t>
            </a:r>
            <a:r>
              <a:rPr lang="en-US" sz="1900" b="1" dirty="0" err="1">
                <a:solidFill>
                  <a:srgbClr val="0070C0"/>
                </a:solidFill>
                <a:latin typeface="Courier New"/>
                <a:ea typeface="Courier New"/>
                <a:cs typeface="Courier New"/>
                <a:sym typeface="Courier New"/>
              </a:rPr>
              <a:t>htons</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htonl</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ntohs</a:t>
            </a:r>
            <a:r>
              <a:rPr lang="en-US" sz="1900" dirty="0">
                <a:solidFill>
                  <a:schemeClr val="dk2"/>
                </a:solidFill>
                <a:latin typeface="Courier New"/>
                <a:ea typeface="Courier New"/>
                <a:cs typeface="Courier New"/>
                <a:sym typeface="Courier New"/>
              </a:rPr>
              <a:t>, </a:t>
            </a:r>
            <a:r>
              <a:rPr lang="en-US" sz="1900" b="1" dirty="0">
                <a:solidFill>
                  <a:srgbClr val="0070C0"/>
                </a:solidFill>
                <a:latin typeface="Courier New"/>
                <a:ea typeface="Courier New"/>
                <a:cs typeface="Courier New"/>
                <a:sym typeface="Courier New"/>
              </a:rPr>
              <a:t>and </a:t>
            </a:r>
            <a:r>
              <a:rPr lang="en-US" sz="1900" b="1" dirty="0" err="1">
                <a:solidFill>
                  <a:srgbClr val="0070C0"/>
                </a:solidFill>
                <a:latin typeface="Courier New"/>
                <a:ea typeface="Courier New"/>
                <a:cs typeface="Courier New"/>
                <a:sym typeface="Courier New"/>
              </a:rPr>
              <a:t>ntohl</a:t>
            </a:r>
            <a:r>
              <a:rPr lang="en-US" sz="1900" dirty="0">
                <a:solidFill>
                  <a:schemeClr val="dk2"/>
                </a:solidFill>
              </a:rPr>
              <a:t>, are used for converting between host byte order and network byte order. They are typically found in the </a:t>
            </a:r>
            <a:r>
              <a:rPr lang="en-US" sz="1900" b="1" dirty="0">
                <a:solidFill>
                  <a:srgbClr val="0070C0"/>
                </a:solidFill>
                <a:latin typeface="Courier New"/>
                <a:ea typeface="Courier New"/>
                <a:cs typeface="Courier New"/>
                <a:sym typeface="Courier New"/>
              </a:rPr>
              <a:t>&lt;</a:t>
            </a:r>
            <a:r>
              <a:rPr lang="en-US" sz="1900" b="1" dirty="0" err="1">
                <a:solidFill>
                  <a:srgbClr val="0070C0"/>
                </a:solidFill>
                <a:latin typeface="Courier New"/>
                <a:ea typeface="Courier New"/>
                <a:cs typeface="Courier New"/>
                <a:sym typeface="Courier New"/>
              </a:rPr>
              <a:t>netinet</a:t>
            </a:r>
            <a:r>
              <a:rPr lang="en-US" sz="1900" b="1" dirty="0">
                <a:solidFill>
                  <a:srgbClr val="0070C0"/>
                </a:solidFill>
                <a:latin typeface="Courier New"/>
                <a:ea typeface="Courier New"/>
                <a:cs typeface="Courier New"/>
                <a:sym typeface="Courier New"/>
              </a:rPr>
              <a:t>/</a:t>
            </a:r>
            <a:r>
              <a:rPr lang="en-US" sz="1900" b="1" dirty="0" err="1">
                <a:solidFill>
                  <a:srgbClr val="0070C0"/>
                </a:solidFill>
                <a:latin typeface="Courier New"/>
                <a:ea typeface="Courier New"/>
                <a:cs typeface="Courier New"/>
                <a:sym typeface="Courier New"/>
              </a:rPr>
              <a:t>in.h</a:t>
            </a:r>
            <a:r>
              <a:rPr lang="en-US" sz="1900" b="1" dirty="0">
                <a:solidFill>
                  <a:srgbClr val="0070C0"/>
                </a:solidFill>
                <a:latin typeface="Courier New"/>
                <a:ea typeface="Courier New"/>
                <a:cs typeface="Courier New"/>
                <a:sym typeface="Courier New"/>
              </a:rPr>
              <a:t>&gt;</a:t>
            </a:r>
            <a:r>
              <a:rPr lang="en-US" sz="1900" dirty="0">
                <a:solidFill>
                  <a:schemeClr val="dk2"/>
                </a:solidFill>
              </a:rPr>
              <a:t> header file, which is part of the standard networking libraries in Unix-like operating systems.</a:t>
            </a:r>
            <a:endParaRPr sz="1900" dirty="0">
              <a:solidFill>
                <a:schemeClr val="dk2"/>
              </a:solidFill>
            </a:endParaRPr>
          </a:p>
        </p:txBody>
      </p:sp>
      <p:pic>
        <p:nvPicPr>
          <p:cNvPr id="282" name="Google Shape;282;p41" descr="C code snippet highlighting the htons function for 16-bit host-to-network conversion."/>
          <p:cNvPicPr preferRelativeResize="0"/>
          <p:nvPr/>
        </p:nvPicPr>
        <p:blipFill>
          <a:blip r:embed="rId3">
            <a:alphaModFix/>
          </a:blip>
          <a:stretch>
            <a:fillRect/>
          </a:stretch>
        </p:blipFill>
        <p:spPr>
          <a:xfrm>
            <a:off x="486625" y="3835900"/>
            <a:ext cx="6617100" cy="2459550"/>
          </a:xfrm>
          <a:prstGeom prst="rect">
            <a:avLst/>
          </a:prstGeom>
          <a:noFill/>
          <a:ln>
            <a:noFill/>
          </a:ln>
        </p:spPr>
      </p:pic>
      <p:sp>
        <p:nvSpPr>
          <p:cNvPr id="284" name="Google Shape;284;p41">
            <a:extLst>
              <a:ext uri="{C183D7F6-B498-43B3-948B-1728B52AA6E4}">
                <adec:decorative xmlns:adec="http://schemas.microsoft.com/office/drawing/2017/decorative" val="1"/>
              </a:ext>
            </a:extLst>
          </p:cNvPr>
          <p:cNvSpPr/>
          <p:nvPr/>
        </p:nvSpPr>
        <p:spPr>
          <a:xfrm>
            <a:off x="342900" y="4424525"/>
            <a:ext cx="4944300" cy="5088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5" name="Google Shape;285;p41"/>
          <p:cNvSpPr txBox="1"/>
          <p:nvPr/>
        </p:nvSpPr>
        <p:spPr>
          <a:xfrm>
            <a:off x="7400000" y="2183152"/>
            <a:ext cx="4457700" cy="4120008"/>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err="1">
                <a:solidFill>
                  <a:schemeClr val="dk2"/>
                </a:solidFill>
              </a:rPr>
              <a:t>htons</a:t>
            </a:r>
            <a:r>
              <a:rPr lang="en-US" sz="1800" b="1" dirty="0">
                <a:solidFill>
                  <a:schemeClr val="dk2"/>
                </a:solidFill>
              </a:rPr>
              <a:t> (Host to Network Short):</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This function converts a 16-bit unsigned integer from host byte order to network byte order.</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It takes a 16-bit value in host byte order as input and returns the equivalent value in network byte order.</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The "s" in </a:t>
            </a:r>
            <a:r>
              <a:rPr lang="en-US" sz="1800" dirty="0" err="1">
                <a:solidFill>
                  <a:schemeClr val="dk2"/>
                </a:solidFill>
              </a:rPr>
              <a:t>htons</a:t>
            </a:r>
            <a:r>
              <a:rPr lang="en-US" sz="1800" dirty="0">
                <a:solidFill>
                  <a:schemeClr val="dk2"/>
                </a:solidFill>
              </a:rPr>
              <a:t> stands for "short", indicating that it operates on 16-bit values.</a:t>
            </a:r>
            <a:endParaRPr sz="1800" dirty="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2"/>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 name="Google Shape;283;p41">
            <a:extLst>
              <a:ext uri="{FF2B5EF4-FFF2-40B4-BE49-F238E27FC236}">
                <a16:creationId xmlns:a16="http://schemas.microsoft.com/office/drawing/2014/main" id="{A3981384-E04B-06DC-F1E0-A0CECD3E6639}"/>
              </a:ext>
              <a:ext uri="{C183D7F6-B498-43B3-948B-1728B52AA6E4}">
                <adec:decorative xmlns:adec="http://schemas.microsoft.com/office/drawing/2017/decorative" val="1"/>
              </a:ext>
            </a:extLst>
          </p:cNvPr>
          <p:cNvSpPr txBox="1"/>
          <p:nvPr/>
        </p:nvSpPr>
        <p:spPr>
          <a:xfrm>
            <a:off x="464575" y="1941881"/>
            <a:ext cx="6813600" cy="1851117"/>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900" dirty="0">
                <a:solidFill>
                  <a:schemeClr val="dk2"/>
                </a:solidFill>
              </a:rPr>
              <a:t>These functions, </a:t>
            </a:r>
            <a:r>
              <a:rPr lang="en-US" sz="1900" b="1" dirty="0" err="1">
                <a:solidFill>
                  <a:srgbClr val="0070C0"/>
                </a:solidFill>
                <a:latin typeface="Courier New"/>
                <a:ea typeface="Courier New"/>
                <a:cs typeface="Courier New"/>
                <a:sym typeface="Courier New"/>
              </a:rPr>
              <a:t>htons</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htonl</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ntohs</a:t>
            </a:r>
            <a:r>
              <a:rPr lang="en-US" sz="1900" dirty="0">
                <a:solidFill>
                  <a:schemeClr val="dk2"/>
                </a:solidFill>
                <a:latin typeface="Courier New"/>
                <a:ea typeface="Courier New"/>
                <a:cs typeface="Courier New"/>
                <a:sym typeface="Courier New"/>
              </a:rPr>
              <a:t>, </a:t>
            </a:r>
            <a:r>
              <a:rPr lang="en-US" sz="1900" b="1" dirty="0">
                <a:solidFill>
                  <a:srgbClr val="0070C0"/>
                </a:solidFill>
                <a:latin typeface="Courier New"/>
                <a:ea typeface="Courier New"/>
                <a:cs typeface="Courier New"/>
                <a:sym typeface="Courier New"/>
              </a:rPr>
              <a:t>and </a:t>
            </a:r>
            <a:r>
              <a:rPr lang="en-US" sz="1900" b="1" dirty="0" err="1">
                <a:solidFill>
                  <a:srgbClr val="0070C0"/>
                </a:solidFill>
                <a:latin typeface="Courier New"/>
                <a:ea typeface="Courier New"/>
                <a:cs typeface="Courier New"/>
                <a:sym typeface="Courier New"/>
              </a:rPr>
              <a:t>ntohl</a:t>
            </a:r>
            <a:r>
              <a:rPr lang="en-US" sz="1900" dirty="0">
                <a:solidFill>
                  <a:schemeClr val="dk2"/>
                </a:solidFill>
              </a:rPr>
              <a:t>, are used for converting between host byte order and network byte order. They are typically found in the </a:t>
            </a:r>
            <a:r>
              <a:rPr lang="en-US" sz="1900" b="1" dirty="0">
                <a:solidFill>
                  <a:srgbClr val="0070C0"/>
                </a:solidFill>
                <a:latin typeface="Courier New"/>
                <a:ea typeface="Courier New"/>
                <a:cs typeface="Courier New"/>
                <a:sym typeface="Courier New"/>
              </a:rPr>
              <a:t>&lt;</a:t>
            </a:r>
            <a:r>
              <a:rPr lang="en-US" sz="1900" b="1" dirty="0" err="1">
                <a:solidFill>
                  <a:srgbClr val="0070C0"/>
                </a:solidFill>
                <a:latin typeface="Courier New"/>
                <a:ea typeface="Courier New"/>
                <a:cs typeface="Courier New"/>
                <a:sym typeface="Courier New"/>
              </a:rPr>
              <a:t>netinet</a:t>
            </a:r>
            <a:r>
              <a:rPr lang="en-US" sz="1900" b="1" dirty="0">
                <a:solidFill>
                  <a:srgbClr val="0070C0"/>
                </a:solidFill>
                <a:latin typeface="Courier New"/>
                <a:ea typeface="Courier New"/>
                <a:cs typeface="Courier New"/>
                <a:sym typeface="Courier New"/>
              </a:rPr>
              <a:t>/</a:t>
            </a:r>
            <a:r>
              <a:rPr lang="en-US" sz="1900" b="1" dirty="0" err="1">
                <a:solidFill>
                  <a:srgbClr val="0070C0"/>
                </a:solidFill>
                <a:latin typeface="Courier New"/>
                <a:ea typeface="Courier New"/>
                <a:cs typeface="Courier New"/>
                <a:sym typeface="Courier New"/>
              </a:rPr>
              <a:t>in.h</a:t>
            </a:r>
            <a:r>
              <a:rPr lang="en-US" sz="1900" b="1" dirty="0">
                <a:solidFill>
                  <a:srgbClr val="0070C0"/>
                </a:solidFill>
                <a:latin typeface="Courier New"/>
                <a:ea typeface="Courier New"/>
                <a:cs typeface="Courier New"/>
                <a:sym typeface="Courier New"/>
              </a:rPr>
              <a:t>&gt;</a:t>
            </a:r>
            <a:r>
              <a:rPr lang="en-US" sz="1900" dirty="0">
                <a:solidFill>
                  <a:schemeClr val="dk2"/>
                </a:solidFill>
              </a:rPr>
              <a:t> header file, which is part of the standard networking libraries in Unix-like operating systems.</a:t>
            </a:r>
            <a:endParaRPr sz="1900" dirty="0">
              <a:solidFill>
                <a:schemeClr val="dk2"/>
              </a:solidFill>
            </a:endParaRPr>
          </a:p>
        </p:txBody>
      </p:sp>
      <p:pic>
        <p:nvPicPr>
          <p:cNvPr id="291" name="Google Shape;291;p42" descr="C code snippet highlighting the htonl function for 32-bit host-to-network conversion."/>
          <p:cNvPicPr preferRelativeResize="0"/>
          <p:nvPr/>
        </p:nvPicPr>
        <p:blipFill>
          <a:blip r:embed="rId3">
            <a:alphaModFix/>
          </a:blip>
          <a:stretch>
            <a:fillRect/>
          </a:stretch>
        </p:blipFill>
        <p:spPr>
          <a:xfrm>
            <a:off x="486625" y="3835900"/>
            <a:ext cx="6617100" cy="2459550"/>
          </a:xfrm>
          <a:prstGeom prst="rect">
            <a:avLst/>
          </a:prstGeom>
          <a:noFill/>
          <a:ln>
            <a:noFill/>
          </a:ln>
        </p:spPr>
      </p:pic>
      <p:sp>
        <p:nvSpPr>
          <p:cNvPr id="293" name="Google Shape;293;p42">
            <a:extLst>
              <a:ext uri="{C183D7F6-B498-43B3-948B-1728B52AA6E4}">
                <adec:decorative xmlns:adec="http://schemas.microsoft.com/office/drawing/2017/decorative" val="1"/>
              </a:ext>
            </a:extLst>
          </p:cNvPr>
          <p:cNvSpPr/>
          <p:nvPr/>
        </p:nvSpPr>
        <p:spPr>
          <a:xfrm>
            <a:off x="342900" y="4881725"/>
            <a:ext cx="4944300" cy="5088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4" name="Google Shape;294;p42"/>
          <p:cNvSpPr txBox="1"/>
          <p:nvPr/>
        </p:nvSpPr>
        <p:spPr>
          <a:xfrm>
            <a:off x="7400000" y="2183151"/>
            <a:ext cx="4457700" cy="4120008"/>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err="1">
                <a:solidFill>
                  <a:schemeClr val="dk2"/>
                </a:solidFill>
              </a:rPr>
              <a:t>htonl</a:t>
            </a:r>
            <a:r>
              <a:rPr lang="en-US" sz="1800" b="1" dirty="0">
                <a:solidFill>
                  <a:schemeClr val="dk2"/>
                </a:solidFill>
              </a:rPr>
              <a:t> (Host to Network Long):</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This function converts a 32-bit unsigned integer from host byte order to network byte order.</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It takes a 32-bit value in host byte order as input and returns the equivalent value in network byte order.</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The "l" in </a:t>
            </a:r>
            <a:r>
              <a:rPr lang="en-US" sz="1800" dirty="0" err="1">
                <a:solidFill>
                  <a:schemeClr val="dk2"/>
                </a:solidFill>
              </a:rPr>
              <a:t>htonl</a:t>
            </a:r>
            <a:r>
              <a:rPr lang="en-US" sz="1800" dirty="0">
                <a:solidFill>
                  <a:schemeClr val="dk2"/>
                </a:solidFill>
              </a:rPr>
              <a:t> stands for "long", indicating that it operates on 32-bit values.</a:t>
            </a:r>
            <a:endParaRPr sz="1800" dirty="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3"/>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 name="Google Shape;283;p41">
            <a:extLst>
              <a:ext uri="{FF2B5EF4-FFF2-40B4-BE49-F238E27FC236}">
                <a16:creationId xmlns:a16="http://schemas.microsoft.com/office/drawing/2014/main" id="{55E52207-287B-1F80-BB71-BC702138006F}"/>
              </a:ext>
              <a:ext uri="{C183D7F6-B498-43B3-948B-1728B52AA6E4}">
                <adec:decorative xmlns:adec="http://schemas.microsoft.com/office/drawing/2017/decorative" val="1"/>
              </a:ext>
            </a:extLst>
          </p:cNvPr>
          <p:cNvSpPr txBox="1"/>
          <p:nvPr/>
        </p:nvSpPr>
        <p:spPr>
          <a:xfrm>
            <a:off x="464575" y="1941881"/>
            <a:ext cx="6813600" cy="1851117"/>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900" dirty="0">
                <a:solidFill>
                  <a:schemeClr val="dk2"/>
                </a:solidFill>
              </a:rPr>
              <a:t>These functions, </a:t>
            </a:r>
            <a:r>
              <a:rPr lang="en-US" sz="1900" b="1" dirty="0" err="1">
                <a:solidFill>
                  <a:srgbClr val="0070C0"/>
                </a:solidFill>
                <a:latin typeface="Courier New"/>
                <a:ea typeface="Courier New"/>
                <a:cs typeface="Courier New"/>
                <a:sym typeface="Courier New"/>
              </a:rPr>
              <a:t>htons</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htonl</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ntohs</a:t>
            </a:r>
            <a:r>
              <a:rPr lang="en-US" sz="1900" dirty="0">
                <a:solidFill>
                  <a:schemeClr val="dk2"/>
                </a:solidFill>
                <a:latin typeface="Courier New"/>
                <a:ea typeface="Courier New"/>
                <a:cs typeface="Courier New"/>
                <a:sym typeface="Courier New"/>
              </a:rPr>
              <a:t>, </a:t>
            </a:r>
            <a:r>
              <a:rPr lang="en-US" sz="1900" b="1" dirty="0">
                <a:solidFill>
                  <a:srgbClr val="0070C0"/>
                </a:solidFill>
                <a:latin typeface="Courier New"/>
                <a:ea typeface="Courier New"/>
                <a:cs typeface="Courier New"/>
                <a:sym typeface="Courier New"/>
              </a:rPr>
              <a:t>and </a:t>
            </a:r>
            <a:r>
              <a:rPr lang="en-US" sz="1900" b="1" dirty="0" err="1">
                <a:solidFill>
                  <a:srgbClr val="0070C0"/>
                </a:solidFill>
                <a:latin typeface="Courier New"/>
                <a:ea typeface="Courier New"/>
                <a:cs typeface="Courier New"/>
                <a:sym typeface="Courier New"/>
              </a:rPr>
              <a:t>ntohl</a:t>
            </a:r>
            <a:r>
              <a:rPr lang="en-US" sz="1900" dirty="0">
                <a:solidFill>
                  <a:schemeClr val="dk2"/>
                </a:solidFill>
              </a:rPr>
              <a:t>, are used for converting between host byte order and network byte order. They are typically found in the </a:t>
            </a:r>
            <a:r>
              <a:rPr lang="en-US" sz="1900" b="1" dirty="0">
                <a:solidFill>
                  <a:srgbClr val="0070C0"/>
                </a:solidFill>
                <a:latin typeface="Courier New"/>
                <a:ea typeface="Courier New"/>
                <a:cs typeface="Courier New"/>
                <a:sym typeface="Courier New"/>
              </a:rPr>
              <a:t>&lt;</a:t>
            </a:r>
            <a:r>
              <a:rPr lang="en-US" sz="1900" b="1" dirty="0" err="1">
                <a:solidFill>
                  <a:srgbClr val="0070C0"/>
                </a:solidFill>
                <a:latin typeface="Courier New"/>
                <a:ea typeface="Courier New"/>
                <a:cs typeface="Courier New"/>
                <a:sym typeface="Courier New"/>
              </a:rPr>
              <a:t>netinet</a:t>
            </a:r>
            <a:r>
              <a:rPr lang="en-US" sz="1900" b="1" dirty="0">
                <a:solidFill>
                  <a:srgbClr val="0070C0"/>
                </a:solidFill>
                <a:latin typeface="Courier New"/>
                <a:ea typeface="Courier New"/>
                <a:cs typeface="Courier New"/>
                <a:sym typeface="Courier New"/>
              </a:rPr>
              <a:t>/</a:t>
            </a:r>
            <a:r>
              <a:rPr lang="en-US" sz="1900" b="1" dirty="0" err="1">
                <a:solidFill>
                  <a:srgbClr val="0070C0"/>
                </a:solidFill>
                <a:latin typeface="Courier New"/>
                <a:ea typeface="Courier New"/>
                <a:cs typeface="Courier New"/>
                <a:sym typeface="Courier New"/>
              </a:rPr>
              <a:t>in.h</a:t>
            </a:r>
            <a:r>
              <a:rPr lang="en-US" sz="1900" b="1" dirty="0">
                <a:solidFill>
                  <a:srgbClr val="0070C0"/>
                </a:solidFill>
                <a:latin typeface="Courier New"/>
                <a:ea typeface="Courier New"/>
                <a:cs typeface="Courier New"/>
                <a:sym typeface="Courier New"/>
              </a:rPr>
              <a:t>&gt;</a:t>
            </a:r>
            <a:r>
              <a:rPr lang="en-US" sz="1900" dirty="0">
                <a:solidFill>
                  <a:schemeClr val="dk2"/>
                </a:solidFill>
              </a:rPr>
              <a:t> header file, which is part of the standard networking libraries in Unix-like operating systems.</a:t>
            </a:r>
            <a:endParaRPr sz="1900" dirty="0">
              <a:solidFill>
                <a:schemeClr val="dk2"/>
              </a:solidFill>
            </a:endParaRPr>
          </a:p>
        </p:txBody>
      </p:sp>
      <p:pic>
        <p:nvPicPr>
          <p:cNvPr id="300" name="Google Shape;300;p43" descr="C code snippet highlighting the ntohs function for 16-bit network-to-host conversion."/>
          <p:cNvPicPr preferRelativeResize="0"/>
          <p:nvPr/>
        </p:nvPicPr>
        <p:blipFill>
          <a:blip r:embed="rId3">
            <a:alphaModFix/>
          </a:blip>
          <a:stretch>
            <a:fillRect/>
          </a:stretch>
        </p:blipFill>
        <p:spPr>
          <a:xfrm>
            <a:off x="486625" y="3835900"/>
            <a:ext cx="6617100" cy="2459550"/>
          </a:xfrm>
          <a:prstGeom prst="rect">
            <a:avLst/>
          </a:prstGeom>
          <a:noFill/>
          <a:ln>
            <a:noFill/>
          </a:ln>
        </p:spPr>
      </p:pic>
      <p:sp>
        <p:nvSpPr>
          <p:cNvPr id="302" name="Google Shape;302;p43">
            <a:extLst>
              <a:ext uri="{C183D7F6-B498-43B3-948B-1728B52AA6E4}">
                <adec:decorative xmlns:adec="http://schemas.microsoft.com/office/drawing/2017/decorative" val="1"/>
              </a:ext>
            </a:extLst>
          </p:cNvPr>
          <p:cNvSpPr/>
          <p:nvPr/>
        </p:nvSpPr>
        <p:spPr>
          <a:xfrm>
            <a:off x="342900" y="5338925"/>
            <a:ext cx="4944300" cy="5088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43"/>
          <p:cNvSpPr txBox="1"/>
          <p:nvPr/>
        </p:nvSpPr>
        <p:spPr>
          <a:xfrm>
            <a:off x="7400000" y="2494651"/>
            <a:ext cx="4457700" cy="3804216"/>
          </a:xfrm>
          <a:prstGeom prst="rect">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err="1">
                <a:solidFill>
                  <a:schemeClr val="dk2"/>
                </a:solidFill>
              </a:rPr>
              <a:t>ntohs</a:t>
            </a:r>
            <a:r>
              <a:rPr lang="en-US" sz="1800" b="1" dirty="0">
                <a:solidFill>
                  <a:schemeClr val="dk2"/>
                </a:solidFill>
              </a:rPr>
              <a:t> (Network to Host Short):</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This function converts a 16-bit unsigned integer from network byte order to host byte order.</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It takes a 16-bit value in network byte order as input and returns the equivalent value in host byte order.</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Similar to </a:t>
            </a:r>
            <a:r>
              <a:rPr lang="en-US" sz="1800" dirty="0" err="1">
                <a:solidFill>
                  <a:schemeClr val="dk2"/>
                </a:solidFill>
              </a:rPr>
              <a:t>htons</a:t>
            </a:r>
            <a:r>
              <a:rPr lang="en-US" sz="1800" dirty="0">
                <a:solidFill>
                  <a:schemeClr val="dk2"/>
                </a:solidFill>
              </a:rPr>
              <a:t>, the "s" in </a:t>
            </a:r>
            <a:r>
              <a:rPr lang="en-US" sz="1800" dirty="0" err="1">
                <a:solidFill>
                  <a:schemeClr val="dk2"/>
                </a:solidFill>
              </a:rPr>
              <a:t>ntohs</a:t>
            </a:r>
            <a:r>
              <a:rPr lang="en-US" sz="1800" dirty="0">
                <a:solidFill>
                  <a:schemeClr val="dk2"/>
                </a:solidFill>
              </a:rPr>
              <a:t> indicates that it operates on 16-bit values.</a:t>
            </a:r>
            <a:endParaRPr sz="1800" dirty="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4"/>
          <p:cNvSpPr txBox="1">
            <a:spLocks noGrp="1"/>
          </p:cNvSpPr>
          <p:nvPr>
            <p:ph type="title" idx="4294967295"/>
          </p:nvPr>
        </p:nvSpPr>
        <p:spPr>
          <a:xfrm>
            <a:off x="337350" y="1176316"/>
            <a:ext cx="9144000" cy="696000"/>
          </a:xfrm>
          <a:prstGeom prst="rect">
            <a:avLst/>
          </a:prstGeom>
          <a:noFill/>
          <a:ln>
            <a:noFill/>
            <a:prstDash/>
          </a:ln>
          <a:effectLst/>
        </p:spPr>
        <p:txBody>
          <a:bodyPr rot="0" spcFirstLastPara="1" vertOverflow="overflow" horzOverflow="overflow" vert="horz" wrap="square" lIns="91425" tIns="45700" rIns="91425" bIns="45700" numCol="1" spcCol="0" rtlCol="0" fromWordArt="0" anchor="b"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2500" b="0" i="0" u="none" strike="noStrike" kern="0" cap="none" spc="0" normalizeH="0" baseline="0" noProof="0" dirty="0">
                <a:ln>
                  <a:noFill/>
                </a:ln>
                <a:solidFill>
                  <a:srgbClr val="0F2044"/>
                </a:solidFill>
                <a:effectLst/>
                <a:uLnTx/>
                <a:uFillTx/>
                <a:latin typeface="Georgia"/>
                <a:ea typeface="Georgia"/>
                <a:cs typeface="Georgia"/>
                <a:sym typeface="Georgia"/>
              </a:rPr>
              <a:t>Transmission Control Protocol (TCP)</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F2044"/>
                </a:solidFill>
                <a:effectLst/>
                <a:uLnTx/>
                <a:uFillTx/>
                <a:latin typeface="Georgia"/>
                <a:ea typeface="Georgia"/>
                <a:cs typeface="Georgia"/>
                <a:sym typeface="Georgia"/>
              </a:rPr>
              <a:t>Host Byte Order to Network Byte Order Conversion</a:t>
            </a:r>
          </a:p>
        </p:txBody>
      </p:sp>
      <p:sp>
        <p:nvSpPr>
          <p:cNvPr id="2" name="Google Shape;283;p41">
            <a:extLst>
              <a:ext uri="{FF2B5EF4-FFF2-40B4-BE49-F238E27FC236}">
                <a16:creationId xmlns:a16="http://schemas.microsoft.com/office/drawing/2014/main" id="{E5341126-3B31-C556-154F-981C2828BD29}"/>
              </a:ext>
              <a:ext uri="{C183D7F6-B498-43B3-948B-1728B52AA6E4}">
                <adec:decorative xmlns:adec="http://schemas.microsoft.com/office/drawing/2017/decorative" val="1"/>
              </a:ext>
            </a:extLst>
          </p:cNvPr>
          <p:cNvSpPr txBox="1"/>
          <p:nvPr/>
        </p:nvSpPr>
        <p:spPr>
          <a:xfrm>
            <a:off x="464575" y="1941881"/>
            <a:ext cx="6813600" cy="1851117"/>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0"/>
              </a:spcAft>
              <a:buNone/>
            </a:pPr>
            <a:r>
              <a:rPr lang="en-US" sz="1900" dirty="0">
                <a:solidFill>
                  <a:schemeClr val="dk2"/>
                </a:solidFill>
              </a:rPr>
              <a:t>These functions, </a:t>
            </a:r>
            <a:r>
              <a:rPr lang="en-US" sz="1900" b="1" dirty="0" err="1">
                <a:solidFill>
                  <a:srgbClr val="0070C0"/>
                </a:solidFill>
                <a:latin typeface="Courier New"/>
                <a:ea typeface="Courier New"/>
                <a:cs typeface="Courier New"/>
                <a:sym typeface="Courier New"/>
              </a:rPr>
              <a:t>htons</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htonl</a:t>
            </a:r>
            <a:r>
              <a:rPr lang="en-US" sz="1900" dirty="0">
                <a:solidFill>
                  <a:schemeClr val="dk2"/>
                </a:solidFill>
                <a:latin typeface="Courier New"/>
                <a:ea typeface="Courier New"/>
                <a:cs typeface="Courier New"/>
                <a:sym typeface="Courier New"/>
              </a:rPr>
              <a:t>, </a:t>
            </a:r>
            <a:r>
              <a:rPr lang="en-US" sz="1900" b="1" dirty="0" err="1">
                <a:solidFill>
                  <a:srgbClr val="0070C0"/>
                </a:solidFill>
                <a:latin typeface="Courier New"/>
                <a:ea typeface="Courier New"/>
                <a:cs typeface="Courier New"/>
                <a:sym typeface="Courier New"/>
              </a:rPr>
              <a:t>ntohs</a:t>
            </a:r>
            <a:r>
              <a:rPr lang="en-US" sz="1900" dirty="0">
                <a:solidFill>
                  <a:schemeClr val="dk2"/>
                </a:solidFill>
                <a:latin typeface="Courier New"/>
                <a:ea typeface="Courier New"/>
                <a:cs typeface="Courier New"/>
                <a:sym typeface="Courier New"/>
              </a:rPr>
              <a:t>, </a:t>
            </a:r>
            <a:r>
              <a:rPr lang="en-US" sz="1900" b="1" dirty="0">
                <a:solidFill>
                  <a:srgbClr val="0070C0"/>
                </a:solidFill>
                <a:latin typeface="Courier New"/>
                <a:ea typeface="Courier New"/>
                <a:cs typeface="Courier New"/>
                <a:sym typeface="Courier New"/>
              </a:rPr>
              <a:t>and </a:t>
            </a:r>
            <a:r>
              <a:rPr lang="en-US" sz="1900" b="1" dirty="0" err="1">
                <a:solidFill>
                  <a:srgbClr val="0070C0"/>
                </a:solidFill>
                <a:latin typeface="Courier New"/>
                <a:ea typeface="Courier New"/>
                <a:cs typeface="Courier New"/>
                <a:sym typeface="Courier New"/>
              </a:rPr>
              <a:t>ntohl</a:t>
            </a:r>
            <a:r>
              <a:rPr lang="en-US" sz="1900" dirty="0">
                <a:solidFill>
                  <a:schemeClr val="dk2"/>
                </a:solidFill>
              </a:rPr>
              <a:t>, are used for converting between host byte order and network byte order. They are typically found in the </a:t>
            </a:r>
            <a:r>
              <a:rPr lang="en-US" sz="1900" b="1" dirty="0">
                <a:solidFill>
                  <a:srgbClr val="0070C0"/>
                </a:solidFill>
                <a:latin typeface="Courier New"/>
                <a:ea typeface="Courier New"/>
                <a:cs typeface="Courier New"/>
                <a:sym typeface="Courier New"/>
              </a:rPr>
              <a:t>&lt;</a:t>
            </a:r>
            <a:r>
              <a:rPr lang="en-US" sz="1900" b="1" dirty="0" err="1">
                <a:solidFill>
                  <a:srgbClr val="0070C0"/>
                </a:solidFill>
                <a:latin typeface="Courier New"/>
                <a:ea typeface="Courier New"/>
                <a:cs typeface="Courier New"/>
                <a:sym typeface="Courier New"/>
              </a:rPr>
              <a:t>netinet</a:t>
            </a:r>
            <a:r>
              <a:rPr lang="en-US" sz="1900" b="1" dirty="0">
                <a:solidFill>
                  <a:srgbClr val="0070C0"/>
                </a:solidFill>
                <a:latin typeface="Courier New"/>
                <a:ea typeface="Courier New"/>
                <a:cs typeface="Courier New"/>
                <a:sym typeface="Courier New"/>
              </a:rPr>
              <a:t>/</a:t>
            </a:r>
            <a:r>
              <a:rPr lang="en-US" sz="1900" b="1" dirty="0" err="1">
                <a:solidFill>
                  <a:srgbClr val="0070C0"/>
                </a:solidFill>
                <a:latin typeface="Courier New"/>
                <a:ea typeface="Courier New"/>
                <a:cs typeface="Courier New"/>
                <a:sym typeface="Courier New"/>
              </a:rPr>
              <a:t>in.h</a:t>
            </a:r>
            <a:r>
              <a:rPr lang="en-US" sz="1900" b="1" dirty="0">
                <a:solidFill>
                  <a:srgbClr val="0070C0"/>
                </a:solidFill>
                <a:latin typeface="Courier New"/>
                <a:ea typeface="Courier New"/>
                <a:cs typeface="Courier New"/>
                <a:sym typeface="Courier New"/>
              </a:rPr>
              <a:t>&gt;</a:t>
            </a:r>
            <a:r>
              <a:rPr lang="en-US" sz="1900" dirty="0">
                <a:solidFill>
                  <a:schemeClr val="dk2"/>
                </a:solidFill>
              </a:rPr>
              <a:t> header file, which is part of the standard networking libraries in Unix-like operating systems.</a:t>
            </a:r>
            <a:endParaRPr sz="1900" dirty="0">
              <a:solidFill>
                <a:schemeClr val="dk2"/>
              </a:solidFill>
            </a:endParaRPr>
          </a:p>
        </p:txBody>
      </p:sp>
      <p:pic>
        <p:nvPicPr>
          <p:cNvPr id="309" name="Google Shape;309;p44" descr="C code snippet highlighting the ntohl function for 32-bit network-to-host conversion."/>
          <p:cNvPicPr preferRelativeResize="0"/>
          <p:nvPr/>
        </p:nvPicPr>
        <p:blipFill>
          <a:blip r:embed="rId3">
            <a:alphaModFix/>
          </a:blip>
          <a:stretch>
            <a:fillRect/>
          </a:stretch>
        </p:blipFill>
        <p:spPr>
          <a:xfrm>
            <a:off x="486625" y="3835900"/>
            <a:ext cx="6617100" cy="2459550"/>
          </a:xfrm>
          <a:prstGeom prst="rect">
            <a:avLst/>
          </a:prstGeom>
          <a:noFill/>
          <a:ln>
            <a:noFill/>
          </a:ln>
        </p:spPr>
      </p:pic>
      <p:sp>
        <p:nvSpPr>
          <p:cNvPr id="311" name="Google Shape;311;p44">
            <a:extLst>
              <a:ext uri="{C183D7F6-B498-43B3-948B-1728B52AA6E4}">
                <adec:decorative xmlns:adec="http://schemas.microsoft.com/office/drawing/2017/decorative" val="1"/>
              </a:ext>
            </a:extLst>
          </p:cNvPr>
          <p:cNvSpPr/>
          <p:nvPr/>
        </p:nvSpPr>
        <p:spPr>
          <a:xfrm>
            <a:off x="342900" y="5872325"/>
            <a:ext cx="4944300" cy="5088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2" name="Google Shape;312;p44"/>
          <p:cNvSpPr txBox="1"/>
          <p:nvPr/>
        </p:nvSpPr>
        <p:spPr>
          <a:xfrm>
            <a:off x="7400000" y="2494649"/>
            <a:ext cx="4457700" cy="3804216"/>
          </a:xfrm>
          <a:prstGeom prst="rect">
            <a:avLst/>
          </a:prstGeom>
          <a:solidFill>
            <a:srgbClr val="F4CCCC"/>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4000"/>
              </a:lnSpc>
              <a:spcBef>
                <a:spcPts val="0"/>
              </a:spcBef>
              <a:spcAft>
                <a:spcPts val="1200"/>
              </a:spcAft>
              <a:buNone/>
            </a:pPr>
            <a:r>
              <a:rPr lang="en-US" sz="1800" b="1" dirty="0" err="1">
                <a:solidFill>
                  <a:schemeClr val="dk2"/>
                </a:solidFill>
              </a:rPr>
              <a:t>ntohl</a:t>
            </a:r>
            <a:r>
              <a:rPr lang="en-US" sz="1800" b="1" dirty="0">
                <a:solidFill>
                  <a:schemeClr val="dk2"/>
                </a:solidFill>
              </a:rPr>
              <a:t> (Network to Host Long):</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This function converts a 32-bit unsigned integer from network byte order to host byte order.</a:t>
            </a:r>
            <a:endParaRPr sz="1800" dirty="0">
              <a:solidFill>
                <a:schemeClr val="dk2"/>
              </a:solidFill>
            </a:endParaRPr>
          </a:p>
          <a:p>
            <a:pPr marL="457200" lvl="0" indent="-342900" algn="l" rtl="0">
              <a:lnSpc>
                <a:spcPct val="114000"/>
              </a:lnSpc>
              <a:spcBef>
                <a:spcPts val="0"/>
              </a:spcBef>
              <a:spcAft>
                <a:spcPts val="1200"/>
              </a:spcAft>
              <a:buClr>
                <a:schemeClr val="dk2"/>
              </a:buClr>
              <a:buSzPts val="1800"/>
              <a:buChar char="●"/>
            </a:pPr>
            <a:r>
              <a:rPr lang="en-US" sz="1800" dirty="0">
                <a:solidFill>
                  <a:schemeClr val="dk2"/>
                </a:solidFill>
              </a:rPr>
              <a:t>It takes a 32-bit value in network byte order as input and returns the equivalent value in host byte order.</a:t>
            </a:r>
            <a:endParaRPr sz="1800" dirty="0">
              <a:solidFill>
                <a:schemeClr val="dk2"/>
              </a:solidFill>
            </a:endParaRPr>
          </a:p>
          <a:p>
            <a:pPr marL="457200" lvl="0" indent="-342900" algn="l" rtl="0">
              <a:lnSpc>
                <a:spcPct val="114000"/>
              </a:lnSpc>
              <a:spcBef>
                <a:spcPts val="0"/>
              </a:spcBef>
              <a:spcAft>
                <a:spcPts val="0"/>
              </a:spcAft>
              <a:buClr>
                <a:schemeClr val="dk2"/>
              </a:buClr>
              <a:buSzPts val="1800"/>
              <a:buChar char="●"/>
            </a:pPr>
            <a:r>
              <a:rPr lang="en-US" sz="1800" dirty="0">
                <a:solidFill>
                  <a:schemeClr val="dk2"/>
                </a:solidFill>
              </a:rPr>
              <a:t>Similar to </a:t>
            </a:r>
            <a:r>
              <a:rPr lang="en-US" sz="1800" dirty="0" err="1">
                <a:solidFill>
                  <a:schemeClr val="dk2"/>
                </a:solidFill>
              </a:rPr>
              <a:t>htonl</a:t>
            </a:r>
            <a:r>
              <a:rPr lang="en-US" sz="1800" dirty="0">
                <a:solidFill>
                  <a:schemeClr val="dk2"/>
                </a:solidFill>
              </a:rPr>
              <a:t>, the "l" in </a:t>
            </a:r>
            <a:r>
              <a:rPr lang="en-US" sz="1800" dirty="0" err="1">
                <a:solidFill>
                  <a:schemeClr val="dk2"/>
                </a:solidFill>
              </a:rPr>
              <a:t>ntohl</a:t>
            </a:r>
            <a:r>
              <a:rPr lang="en-US" sz="1800" dirty="0">
                <a:solidFill>
                  <a:schemeClr val="dk2"/>
                </a:solidFill>
              </a:rPr>
              <a:t> indicates that it operates on 32-bit values.</a:t>
            </a:r>
            <a:endParaRPr sz="1800" dirty="0">
              <a:solidFill>
                <a:schemeClr val="dk2"/>
              </a:solidFill>
            </a:endParaRPr>
          </a:p>
        </p:txBody>
      </p:sp>
    </p:spTree>
  </p:cSld>
  <p:clrMapOvr>
    <a:masterClrMapping/>
  </p:clrMapOvr>
</p:sld>
</file>

<file path=ppt/theme/theme1.xml><?xml version="1.0" encoding="utf-8"?>
<a:theme xmlns:a="http://schemas.openxmlformats.org/drawingml/2006/main" name="UNCG Cover Slides">
  <a:themeElements>
    <a:clrScheme name="uncg-brand-2018_v1">
      <a:dk1>
        <a:srgbClr val="000000"/>
      </a:dk1>
      <a:lt1>
        <a:srgbClr val="FFFFFF"/>
      </a:lt1>
      <a:dk2>
        <a:srgbClr val="0F2044"/>
      </a:dk2>
      <a:lt2>
        <a:srgbClr val="BEC0C2"/>
      </a:lt2>
      <a:accent1>
        <a:srgbClr val="FFB71B"/>
      </a:accent1>
      <a:accent2>
        <a:srgbClr val="92D1B3"/>
      </a:accent2>
      <a:accent3>
        <a:srgbClr val="00698C"/>
      </a:accent3>
      <a:accent4>
        <a:srgbClr val="A00C30"/>
      </a:accent4>
      <a:accent5>
        <a:srgbClr val="A59C87"/>
      </a:accent5>
      <a:accent6>
        <a:srgbClr val="4FC2BF"/>
      </a:accent6>
      <a:hlink>
        <a:srgbClr val="00698C"/>
      </a:hlink>
      <a:folHlink>
        <a:srgbClr val="A6B0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NCG-White-TopNavyBar">
  <a:themeElements>
    <a:clrScheme name="uncg-brand-2018_v1">
      <a:dk1>
        <a:srgbClr val="000000"/>
      </a:dk1>
      <a:lt1>
        <a:srgbClr val="FFFFFF"/>
      </a:lt1>
      <a:dk2>
        <a:srgbClr val="0F2044"/>
      </a:dk2>
      <a:lt2>
        <a:srgbClr val="BEC0C2"/>
      </a:lt2>
      <a:accent1>
        <a:srgbClr val="FFB71B"/>
      </a:accent1>
      <a:accent2>
        <a:srgbClr val="92D1B3"/>
      </a:accent2>
      <a:accent3>
        <a:srgbClr val="00698C"/>
      </a:accent3>
      <a:accent4>
        <a:srgbClr val="A00C30"/>
      </a:accent4>
      <a:accent5>
        <a:srgbClr val="A59C87"/>
      </a:accent5>
      <a:accent6>
        <a:srgbClr val="4FC2BF"/>
      </a:accent6>
      <a:hlink>
        <a:srgbClr val="00698C"/>
      </a:hlink>
      <a:folHlink>
        <a:srgbClr val="A6B0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otalTime>311</TotalTime>
  <Words>7484</Words>
  <Application>Microsoft Office PowerPoint</Application>
  <PresentationFormat>Widescreen</PresentationFormat>
  <Paragraphs>714</Paragraphs>
  <Slides>30</Slides>
  <Notes>30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Arial</vt:lpstr>
      <vt:lpstr>Arial MT</vt:lpstr>
      <vt:lpstr>Courier New</vt:lpstr>
      <vt:lpstr>Georgia</vt:lpstr>
      <vt:lpstr>UNCG Cover Slides</vt:lpstr>
      <vt:lpstr>UNCG-White-TopNavyBar</vt:lpstr>
      <vt:lpstr>CSC 362: Systems Programming</vt:lpstr>
      <vt:lpstr>What we will cover in Networking</vt:lpstr>
      <vt:lpstr>Socket Programming</vt:lpstr>
      <vt:lpstr>The client-server model</vt:lpstr>
      <vt:lpstr>The client-server model</vt:lpstr>
      <vt:lpstr>The client-server model</vt:lpstr>
      <vt:lpstr>Socket Programming</vt:lpstr>
      <vt:lpstr>Socket Programming</vt:lpstr>
      <vt:lpstr>Socket Programming</vt:lpstr>
      <vt:lpstr>Socket Programming</vt:lpstr>
      <vt:lpstr>Socket Programming with UDP</vt:lpstr>
      <vt:lpstr>Socket Programming with TCP</vt:lpstr>
      <vt:lpstr>Transmission Control Protocol (TCP)</vt:lpstr>
      <vt:lpstr>Transmission Control Protocol (TCP) Socket addresses</vt:lpstr>
      <vt:lpstr>Transmission Control Protocol (TCP) Socket addresses</vt:lpstr>
      <vt:lpstr>Transmission Control Protocol (TCP) Generic Socket Address Structure</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lpstr>Transmission Control Protocol (TCP) Host Byte Order to Network Byte Order Conversion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 Johnson</cp:lastModifiedBy>
  <cp:revision>175</cp:revision>
  <dcterms:modified xsi:type="dcterms:W3CDTF">2026-04-17T13:37:57Z</dcterms:modified>
</cp:coreProperties>
</file>