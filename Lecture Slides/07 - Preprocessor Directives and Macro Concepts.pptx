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80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161" autoAdjust="0"/>
  </p:normalViewPr>
  <p:slideViewPr>
    <p:cSldViewPr>
      <p:cViewPr varScale="1">
        <p:scale>
          <a:sx n="58" d="100"/>
          <a:sy n="58" d="100"/>
        </p:scale>
        <p:origin x="1546"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90F6AAB-3EE7-40BB-8A65-A17127364E6C}" type="datetimeFigureOut">
              <a:rPr lang="en-US" smtClean="0"/>
              <a:t>2/9/2026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B4AB9FA-5B11-4D9D-985A-ED662E8F848D}" type="slidenum">
              <a:rPr lang="en-US" smtClean="0"/>
              <a:t>‹#›</a:t>
            </a:fld>
            <a:endParaRPr lang="en-US"/>
          </a:p>
        </p:txBody>
      </p:sp>
    </p:spTree>
    <p:extLst>
      <p:ext uri="{BB962C8B-B14F-4D97-AF65-F5344CB8AC3E}">
        <p14:creationId xmlns:p14="http://schemas.microsoft.com/office/powerpoint/2010/main" val="2750145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Objectives</a:t>
            </a:r>
          </a:p>
          <a:p>
            <a:pPr marL="171450" indent="-171450">
              <a:buFont typeface="Arial" panose="020B0604020202020204" pitchFamily="34" charset="0"/>
              <a:buChar char="•"/>
            </a:pPr>
            <a:r>
              <a:rPr lang="en-US" dirty="0"/>
              <a:t>Understand the role of the preprocessor in C programming.</a:t>
            </a:r>
          </a:p>
          <a:p>
            <a:pPr marL="171450" indent="-171450">
              <a:buFont typeface="Arial" panose="020B0604020202020204" pitchFamily="34" charset="0"/>
              <a:buChar char="•"/>
            </a:pPr>
            <a:r>
              <a:rPr lang="en-US" dirty="0"/>
              <a:t>Learn to use various preprocessor directives like </a:t>
            </a:r>
            <a:r>
              <a:rPr lang="en-US" sz="1200" kern="1200" dirty="0">
                <a:solidFill>
                  <a:schemeClr val="tx1"/>
                </a:solidFill>
                <a:latin typeface="+mn-lt"/>
                <a:ea typeface="+mn-ea"/>
                <a:cs typeface="+mn-cs"/>
              </a:rPr>
              <a:t>#define</a:t>
            </a:r>
            <a:r>
              <a:rPr lang="en-US" dirty="0"/>
              <a:t>, </a:t>
            </a:r>
            <a:r>
              <a:rPr lang="en-US" sz="1200" kern="1200" dirty="0">
                <a:solidFill>
                  <a:schemeClr val="tx1"/>
                </a:solidFill>
                <a:latin typeface="+mn-lt"/>
                <a:ea typeface="+mn-ea"/>
                <a:cs typeface="+mn-cs"/>
              </a:rPr>
              <a:t>#include</a:t>
            </a:r>
            <a:r>
              <a:rPr lang="en-US" dirty="0"/>
              <a:t>, and conditional compilation.</a:t>
            </a:r>
          </a:p>
          <a:p>
            <a:pPr marL="171450" indent="-171450">
              <a:buFont typeface="Arial" panose="020B0604020202020204" pitchFamily="34" charset="0"/>
              <a:buChar char="•"/>
            </a:pPr>
            <a:r>
              <a:rPr lang="en-US" dirty="0"/>
              <a:t>Explore the concepts of macros and their advantages/disadvantages.</a:t>
            </a:r>
          </a:p>
          <a:p>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2</a:t>
            </a:fld>
            <a:endParaRPr lang="en-US"/>
          </a:p>
        </p:txBody>
      </p:sp>
    </p:spTree>
    <p:extLst>
      <p:ext uri="{BB962C8B-B14F-4D97-AF65-F5344CB8AC3E}">
        <p14:creationId xmlns:p14="http://schemas.microsoft.com/office/powerpoint/2010/main" val="4120448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Introduction to Preprocessor</a:t>
            </a:r>
          </a:p>
          <a:p>
            <a:pPr marL="171450" indent="-171450">
              <a:buFont typeface="Arial" panose="020B0604020202020204" pitchFamily="34" charset="0"/>
              <a:buChar char="•"/>
            </a:pPr>
            <a:r>
              <a:rPr lang="en-US" dirty="0"/>
              <a:t>The preprocessor is a program that processes the source code before it is passed to the compiler.</a:t>
            </a:r>
          </a:p>
          <a:p>
            <a:pPr marL="171450" indent="-171450">
              <a:buFont typeface="Arial" panose="020B0604020202020204" pitchFamily="34" charset="0"/>
              <a:buChar char="•"/>
            </a:pPr>
            <a:r>
              <a:rPr lang="en-US" dirty="0"/>
              <a:t>It operates on lines that begin with a </a:t>
            </a:r>
            <a:r>
              <a:rPr lang="en-US" sz="1200" b="1" kern="1200" dirty="0">
                <a:solidFill>
                  <a:schemeClr val="tx1"/>
                </a:solidFill>
                <a:latin typeface="+mn-lt"/>
                <a:ea typeface="+mn-ea"/>
                <a:cs typeface="+mn-cs"/>
              </a:rPr>
              <a:t>#</a:t>
            </a:r>
            <a:r>
              <a:rPr lang="en-US" b="1" dirty="0"/>
              <a:t> symbol</a:t>
            </a:r>
            <a:r>
              <a:rPr lang="en-US" dirty="0"/>
              <a:t>, known as preprocessor directives.</a:t>
            </a:r>
          </a:p>
          <a:p>
            <a:pPr marL="171450" indent="-171450">
              <a:buFont typeface="Arial" panose="020B0604020202020204" pitchFamily="34" charset="0"/>
              <a:buChar char="•"/>
            </a:pPr>
            <a:r>
              <a:rPr lang="en-US" dirty="0"/>
              <a:t>The preprocessor does not understand C syntax; it performs simple text substitution.</a:t>
            </a:r>
          </a:p>
          <a:p>
            <a:endParaRPr lang="en-US" dirty="0"/>
          </a:p>
          <a:p>
            <a:r>
              <a:rPr lang="en-US" b="1" dirty="0"/>
              <a:t>The Compilation Process </a:t>
            </a:r>
            <a:r>
              <a:rPr lang="en-US" dirty="0"/>
              <a:t>showing a vertical stack of four components: </a:t>
            </a:r>
          </a:p>
          <a:p>
            <a:pPr marL="228600" indent="-228600">
              <a:buFont typeface="+mj-lt"/>
              <a:buAutoNum type="arabicPeriod"/>
            </a:pPr>
            <a:r>
              <a:rPr lang="en-US" dirty="0"/>
              <a:t>Pre-processor, </a:t>
            </a:r>
          </a:p>
          <a:p>
            <a:pPr marL="228600" indent="-228600">
              <a:buFont typeface="+mj-lt"/>
              <a:buAutoNum type="arabicPeriod"/>
            </a:pPr>
            <a:r>
              <a:rPr lang="en-US" dirty="0"/>
              <a:t>Compiler, </a:t>
            </a:r>
          </a:p>
          <a:p>
            <a:pPr marL="228600" indent="-228600">
              <a:buFont typeface="+mj-lt"/>
              <a:buAutoNum type="arabicPeriod"/>
            </a:pPr>
            <a:r>
              <a:rPr lang="en-US" dirty="0"/>
              <a:t>Assembler, </a:t>
            </a:r>
          </a:p>
          <a:p>
            <a:pPr marL="228600" indent="-228600">
              <a:buFont typeface="+mj-lt"/>
              <a:buAutoNum type="arabicPeriod"/>
            </a:pPr>
            <a:r>
              <a:rPr lang="en-US" dirty="0"/>
              <a:t>and Linker. </a:t>
            </a:r>
          </a:p>
          <a:p>
            <a:endParaRPr lang="en-US" dirty="0"/>
          </a:p>
          <a:p>
            <a:r>
              <a:rPr lang="en-US" dirty="0"/>
              <a:t>It tracks the flow </a:t>
            </a:r>
          </a:p>
          <a:p>
            <a:pPr marL="171450" indent="-171450">
              <a:buFont typeface="Arial" panose="020B0604020202020204" pitchFamily="34" charset="0"/>
              <a:buChar char="•"/>
            </a:pPr>
            <a:r>
              <a:rPr lang="en-US" dirty="0"/>
              <a:t>from Source code (.c file) at the top </a:t>
            </a:r>
          </a:p>
          <a:p>
            <a:pPr marL="171450" indent="-171450">
              <a:buFont typeface="Arial" panose="020B0604020202020204" pitchFamily="34" charset="0"/>
              <a:buChar char="•"/>
            </a:pPr>
            <a:r>
              <a:rPr lang="en-US" dirty="0"/>
              <a:t>to an Executable file at the bottom, </a:t>
            </a:r>
          </a:p>
          <a:p>
            <a:pPr marL="171450" indent="-171450">
              <a:buFont typeface="Arial" panose="020B0604020202020204" pitchFamily="34" charset="0"/>
              <a:buChar char="•"/>
            </a:pPr>
            <a:r>
              <a:rPr lang="en-US" dirty="0"/>
              <a:t>with side paths for Assembly Code, Libraries, and Object files (.o)</a:t>
            </a:r>
          </a:p>
          <a:p>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3</a:t>
            </a:fld>
            <a:endParaRPr lang="en-US"/>
          </a:p>
        </p:txBody>
      </p:sp>
    </p:spTree>
    <p:extLst>
      <p:ext uri="{BB962C8B-B14F-4D97-AF65-F5344CB8AC3E}">
        <p14:creationId xmlns:p14="http://schemas.microsoft.com/office/powerpoint/2010/main" val="184098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Preprocessor Directives Overview</a:t>
            </a:r>
          </a:p>
          <a:p>
            <a:pPr marL="171450" indent="-171450">
              <a:buFont typeface="Arial" panose="020B0604020202020204" pitchFamily="34" charset="0"/>
              <a:buChar char="•"/>
            </a:pPr>
            <a:r>
              <a:rPr lang="en-US" dirty="0"/>
              <a:t>Directives are instructions to the preprocessor, not the compiler.</a:t>
            </a:r>
          </a:p>
          <a:p>
            <a:pPr marL="171450" indent="-171450">
              <a:buFont typeface="Arial" panose="020B0604020202020204" pitchFamily="34" charset="0"/>
              <a:buChar char="•"/>
            </a:pPr>
            <a:r>
              <a:rPr lang="en-US" dirty="0"/>
              <a:t>They always start with </a:t>
            </a:r>
            <a:r>
              <a:rPr lang="en-US" sz="1200" kern="1200" dirty="0">
                <a:solidFill>
                  <a:schemeClr val="tx1"/>
                </a:solidFill>
                <a:latin typeface="+mn-lt"/>
                <a:ea typeface="+mn-ea"/>
                <a:cs typeface="+mn-cs"/>
              </a:rPr>
              <a:t>#</a:t>
            </a:r>
            <a:r>
              <a:rPr lang="en-US" dirty="0"/>
              <a:t> in the first column and do not end with a semicolon (</a:t>
            </a:r>
            <a:r>
              <a:rPr lang="en-US" sz="1200" kern="1200" dirty="0">
                <a:solidFill>
                  <a:schemeClr val="tx1"/>
                </a:solidFill>
                <a:latin typeface="+mn-lt"/>
                <a:ea typeface="+mn-ea"/>
                <a:cs typeface="+mn-cs"/>
              </a:rPr>
              <a:t>;</a:t>
            </a:r>
            <a:r>
              <a:rPr lang="en-US" dirty="0"/>
              <a:t>).</a:t>
            </a:r>
          </a:p>
          <a:p>
            <a:pPr marL="171450" indent="-171450">
              <a:buFont typeface="Arial" panose="020B0604020202020204" pitchFamily="34" charset="0"/>
              <a:buChar char="•"/>
            </a:pPr>
            <a:r>
              <a:rPr lang="en-US" dirty="0"/>
              <a:t>Categories include Macro Substitution, File Inclusion, and Conditional Compilation.</a:t>
            </a:r>
          </a:p>
          <a:p>
            <a:endParaRPr lang="en-US" dirty="0"/>
          </a:p>
          <a:p>
            <a:r>
              <a:rPr lang="en-US" b="1" dirty="0"/>
              <a:t>The Compilation Process (Visual)</a:t>
            </a:r>
          </a:p>
          <a:p>
            <a:endParaRPr lang="en-US" b="1" dirty="0"/>
          </a:p>
          <a:p>
            <a:r>
              <a:rPr lang="en-US" b="1" dirty="0"/>
              <a:t>Flow</a:t>
            </a:r>
            <a:r>
              <a:rPr lang="en-US" dirty="0"/>
              <a:t>: </a:t>
            </a:r>
          </a:p>
          <a:p>
            <a:r>
              <a:rPr lang="en-US" dirty="0"/>
              <a:t>Source Program (</a:t>
            </a:r>
            <a:r>
              <a:rPr lang="en-US" sz="1200" kern="1200" dirty="0">
                <a:solidFill>
                  <a:schemeClr val="tx1"/>
                </a:solidFill>
                <a:latin typeface="+mn-lt"/>
                <a:ea typeface="+mn-ea"/>
                <a:cs typeface="+mn-cs"/>
              </a:rPr>
              <a:t>.c</a:t>
            </a:r>
            <a:r>
              <a:rPr lang="en-US" dirty="0"/>
              <a:t>) </a:t>
            </a:r>
          </a:p>
          <a:p>
            <a:r>
              <a:rPr lang="en-US" dirty="0"/>
              <a:t>→ Preprocessor </a:t>
            </a:r>
          </a:p>
          <a:p>
            <a:r>
              <a:rPr lang="en-US" dirty="0"/>
              <a:t>→ Expanded Source Code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i</a:t>
            </a:r>
            <a:r>
              <a:rPr lang="en-US" dirty="0"/>
              <a:t>) </a:t>
            </a:r>
          </a:p>
          <a:p>
            <a:r>
              <a:rPr lang="en-US" dirty="0"/>
              <a:t>→ Compiler </a:t>
            </a:r>
          </a:p>
          <a:p>
            <a:r>
              <a:rPr lang="en-US" dirty="0"/>
              <a:t>→ Assembly Code (</a:t>
            </a:r>
            <a:r>
              <a:rPr lang="en-US" sz="1200" kern="1200" dirty="0">
                <a:solidFill>
                  <a:schemeClr val="tx1"/>
                </a:solidFill>
                <a:latin typeface="+mn-lt"/>
                <a:ea typeface="+mn-ea"/>
                <a:cs typeface="+mn-cs"/>
              </a:rPr>
              <a:t>.s</a:t>
            </a:r>
            <a:r>
              <a:rPr lang="en-US" dirty="0"/>
              <a:t>) </a:t>
            </a:r>
          </a:p>
          <a:p>
            <a:r>
              <a:rPr lang="en-US" dirty="0"/>
              <a:t>→ Assembler </a:t>
            </a:r>
          </a:p>
          <a:p>
            <a:r>
              <a:rPr lang="en-US" dirty="0"/>
              <a:t>→ Object Code (</a:t>
            </a:r>
            <a:r>
              <a:rPr lang="en-US" sz="1200" kern="1200" dirty="0">
                <a:solidFill>
                  <a:schemeClr val="tx1"/>
                </a:solidFill>
                <a:latin typeface="+mn-lt"/>
                <a:ea typeface="+mn-ea"/>
                <a:cs typeface="+mn-cs"/>
              </a:rPr>
              <a:t>.o</a:t>
            </a:r>
            <a:r>
              <a:rPr lang="en-US" dirty="0"/>
              <a:t>) </a:t>
            </a:r>
          </a:p>
          <a:p>
            <a:r>
              <a:rPr lang="en-US" dirty="0"/>
              <a:t>→ Linker </a:t>
            </a:r>
          </a:p>
          <a:p>
            <a:r>
              <a:rPr lang="en-US" dirty="0"/>
              <a:t>→ Executable.</a:t>
            </a:r>
          </a:p>
          <a:p>
            <a:endParaRPr lang="en-US" dirty="0"/>
          </a:p>
          <a:p>
            <a:r>
              <a:rPr lang="en-US" dirty="0"/>
              <a:t>The </a:t>
            </a:r>
            <a:r>
              <a:rPr lang="en-US" b="1" dirty="0"/>
              <a:t>Loader</a:t>
            </a:r>
            <a:r>
              <a:rPr lang="en-US" dirty="0"/>
              <a:t> then places the executable into memory for execution.</a:t>
            </a:r>
          </a:p>
          <a:p>
            <a:endParaRPr lang="en-US" dirty="0"/>
          </a:p>
          <a:p>
            <a:br>
              <a:rPr lang="en-US" dirty="0"/>
            </a:br>
            <a:r>
              <a:rPr lang="en-US" dirty="0"/>
              <a:t>---</a:t>
            </a:r>
          </a:p>
          <a:p>
            <a:r>
              <a:rPr lang="en-US" b="1" dirty="0"/>
              <a:t>Long-form Description:</a:t>
            </a:r>
          </a:p>
          <a:p>
            <a:endParaRPr lang="en-US" dirty="0"/>
          </a:p>
          <a:p>
            <a:r>
              <a:rPr lang="en-US" dirty="0"/>
              <a:t>Figure 2 contains a detailed table and flowchart mapping the "Program process flow." </a:t>
            </a:r>
          </a:p>
          <a:p>
            <a:endParaRPr lang="en-US" dirty="0"/>
          </a:p>
          <a:p>
            <a:r>
              <a:rPr lang="en-US" dirty="0"/>
              <a:t>It lists five stages of file transformation:</a:t>
            </a:r>
          </a:p>
          <a:p>
            <a:pPr marL="228600" indent="-228600">
              <a:buFont typeface="+mj-lt"/>
              <a:buAutoNum type="arabicPeriod"/>
            </a:pPr>
            <a:r>
              <a:rPr lang="en-US" b="1" dirty="0" err="1"/>
              <a:t>sample.c</a:t>
            </a:r>
            <a:r>
              <a:rPr lang="en-US" dirty="0"/>
              <a:t> (Source code) → Preprocessor → </a:t>
            </a:r>
            <a:r>
              <a:rPr lang="en-US" b="1" dirty="0" err="1"/>
              <a:t>sample.i</a:t>
            </a:r>
            <a:r>
              <a:rPr lang="en-US" dirty="0"/>
              <a:t> (Expanded source code)</a:t>
            </a:r>
          </a:p>
          <a:p>
            <a:pPr marL="228600" indent="-228600">
              <a:buFont typeface="+mj-lt"/>
              <a:buAutoNum type="arabicPeriod"/>
            </a:pPr>
            <a:r>
              <a:rPr lang="en-US" b="1" dirty="0" err="1"/>
              <a:t>sample.i</a:t>
            </a:r>
            <a:r>
              <a:rPr lang="en-US" dirty="0"/>
              <a:t> → Compiler → </a:t>
            </a:r>
            <a:r>
              <a:rPr lang="en-US" b="1" dirty="0" err="1"/>
              <a:t>sample.s</a:t>
            </a:r>
            <a:r>
              <a:rPr lang="en-US" dirty="0"/>
              <a:t> (Assembly source code)</a:t>
            </a:r>
          </a:p>
          <a:p>
            <a:pPr marL="228600" indent="-228600">
              <a:buFont typeface="+mj-lt"/>
              <a:buAutoNum type="arabicPeriod"/>
            </a:pPr>
            <a:r>
              <a:rPr lang="en-US" b="1" dirty="0" err="1"/>
              <a:t>sample.s</a:t>
            </a:r>
            <a:r>
              <a:rPr lang="en-US" dirty="0"/>
              <a:t> → Assembler → </a:t>
            </a:r>
            <a:r>
              <a:rPr lang="en-US" b="1" dirty="0" err="1"/>
              <a:t>sample.o</a:t>
            </a:r>
            <a:r>
              <a:rPr lang="en-US" dirty="0"/>
              <a:t> (Object code)</a:t>
            </a:r>
          </a:p>
          <a:p>
            <a:pPr marL="228600" indent="-228600">
              <a:buFont typeface="+mj-lt"/>
              <a:buAutoNum type="arabicPeriod"/>
            </a:pPr>
            <a:r>
              <a:rPr lang="en-US" b="1" dirty="0" err="1"/>
              <a:t>sample.o</a:t>
            </a:r>
            <a:r>
              <a:rPr lang="en-US" dirty="0"/>
              <a:t> → Linker → </a:t>
            </a:r>
            <a:r>
              <a:rPr lang="en-US" b="1" dirty="0"/>
              <a:t>sample.exe</a:t>
            </a:r>
            <a:r>
              <a:rPr lang="en-US" dirty="0"/>
              <a:t> (Executable code)</a:t>
            </a:r>
          </a:p>
          <a:p>
            <a:pPr marL="228600" indent="-228600">
              <a:buFont typeface="+mj-lt"/>
              <a:buAutoNum type="arabicPeriod"/>
            </a:pPr>
            <a:r>
              <a:rPr lang="en-US" b="1" dirty="0"/>
              <a:t>sample.exe</a:t>
            </a:r>
            <a:r>
              <a:rPr lang="en-US" dirty="0"/>
              <a:t> → Loader → </a:t>
            </a:r>
            <a:r>
              <a:rPr lang="en-US" b="1" dirty="0"/>
              <a:t>Execution</a:t>
            </a:r>
            <a:r>
              <a:rPr lang="en-US" dirty="0"/>
              <a:t> </a:t>
            </a:r>
          </a:p>
          <a:p>
            <a:pPr marL="0" indent="0">
              <a:buFont typeface="+mj-lt"/>
              <a:buNone/>
            </a:pPr>
            <a:endParaRPr lang="en-US" dirty="0"/>
          </a:p>
          <a:p>
            <a:r>
              <a:rPr lang="en-US" dirty="0"/>
              <a:t>The image includes text descriptions for each step, </a:t>
            </a:r>
          </a:p>
          <a:p>
            <a:r>
              <a:rPr lang="en-US" dirty="0"/>
              <a:t>such as the preprocessor replacing macros and the loader loading code into the CPU.</a:t>
            </a:r>
          </a:p>
          <a:p>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4</a:t>
            </a:fld>
            <a:endParaRPr lang="en-US"/>
          </a:p>
        </p:txBody>
      </p:sp>
    </p:spTree>
    <p:extLst>
      <p:ext uri="{BB962C8B-B14F-4D97-AF65-F5344CB8AC3E}">
        <p14:creationId xmlns:p14="http://schemas.microsoft.com/office/powerpoint/2010/main" val="9426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Macro Substitution - </a:t>
            </a:r>
            <a:r>
              <a:rPr lang="en-US" sz="1200" b="1" kern="1200" dirty="0">
                <a:solidFill>
                  <a:schemeClr val="tx1"/>
                </a:solidFill>
                <a:latin typeface="+mn-lt"/>
                <a:ea typeface="+mn-ea"/>
                <a:cs typeface="+mn-cs"/>
              </a:rPr>
              <a:t>#define</a:t>
            </a:r>
            <a:endParaRPr lang="en-US" b="1" dirty="0"/>
          </a:p>
          <a:p>
            <a:r>
              <a:rPr lang="en-US" dirty="0"/>
              <a:t>Used to define identifiers that are replaced by a string or value before compilation.</a:t>
            </a:r>
          </a:p>
          <a:p>
            <a:endParaRPr lang="en-US" dirty="0"/>
          </a:p>
          <a:p>
            <a:r>
              <a:rPr lang="en-US" dirty="0"/>
              <a:t>Syntax: </a:t>
            </a:r>
          </a:p>
          <a:p>
            <a:r>
              <a:rPr lang="en-US" sz="1200" kern="1200" dirty="0">
                <a:solidFill>
                  <a:schemeClr val="tx1"/>
                </a:solidFill>
                <a:latin typeface="+mn-lt"/>
                <a:ea typeface="+mn-ea"/>
                <a:cs typeface="+mn-cs"/>
              </a:rPr>
              <a:t>#define identifier string</a:t>
            </a:r>
            <a:r>
              <a:rPr lang="en-US" dirty="0"/>
              <a:t>.</a:t>
            </a:r>
          </a:p>
          <a:p>
            <a:endParaRPr lang="en-US" dirty="0"/>
          </a:p>
          <a:p>
            <a:r>
              <a:rPr lang="en-US" dirty="0"/>
              <a:t>Example: </a:t>
            </a:r>
          </a:p>
          <a:p>
            <a:r>
              <a:rPr lang="en-US" sz="1200" kern="1200" dirty="0">
                <a:solidFill>
                  <a:schemeClr val="tx1"/>
                </a:solidFill>
                <a:latin typeface="+mn-lt"/>
                <a:ea typeface="+mn-ea"/>
                <a:cs typeface="+mn-cs"/>
              </a:rPr>
              <a:t>#define PI 3.14159</a:t>
            </a:r>
            <a:r>
              <a:rPr lang="en-US" dirty="0"/>
              <a:t> replaces every instance of </a:t>
            </a:r>
            <a:r>
              <a:rPr lang="en-US" sz="1200" kern="1200" dirty="0">
                <a:solidFill>
                  <a:schemeClr val="tx1"/>
                </a:solidFill>
                <a:latin typeface="+mn-lt"/>
                <a:ea typeface="+mn-ea"/>
                <a:cs typeface="+mn-cs"/>
              </a:rPr>
              <a:t>PI</a:t>
            </a:r>
            <a:r>
              <a:rPr lang="en-US" dirty="0"/>
              <a:t> with </a:t>
            </a:r>
            <a:r>
              <a:rPr lang="en-US" sz="1200" kern="1200" dirty="0">
                <a:solidFill>
                  <a:schemeClr val="tx1"/>
                </a:solidFill>
                <a:latin typeface="+mn-lt"/>
                <a:ea typeface="+mn-ea"/>
                <a:cs typeface="+mn-cs"/>
              </a:rPr>
              <a:t>3.14159</a:t>
            </a:r>
            <a:r>
              <a:rPr lang="en-US" dirty="0"/>
              <a:t>.</a:t>
            </a:r>
          </a:p>
          <a:p>
            <a:endParaRPr lang="en-US" dirty="0"/>
          </a:p>
          <a:p>
            <a:r>
              <a:rPr lang="en-US" b="1" dirty="0"/>
              <a:t>Macros with Parameters (Function-like Macros)</a:t>
            </a:r>
          </a:p>
          <a:p>
            <a:r>
              <a:rPr lang="en-US" dirty="0"/>
              <a:t>Macros can take arguments, similar to functions.</a:t>
            </a:r>
          </a:p>
          <a:p>
            <a:endParaRPr lang="en-US" dirty="0"/>
          </a:p>
          <a:p>
            <a:r>
              <a:rPr lang="en-US" dirty="0"/>
              <a:t>Example: </a:t>
            </a:r>
          </a:p>
          <a:p>
            <a:r>
              <a:rPr lang="en-US" sz="1200" kern="1200" dirty="0">
                <a:solidFill>
                  <a:schemeClr val="tx1"/>
                </a:solidFill>
                <a:latin typeface="+mn-lt"/>
                <a:ea typeface="+mn-ea"/>
                <a:cs typeface="+mn-cs"/>
              </a:rPr>
              <a:t>#define SQUARE(x) ((x) * (x))</a:t>
            </a:r>
            <a:r>
              <a:rPr lang="en-US" dirty="0"/>
              <a:t>.</a:t>
            </a:r>
          </a:p>
          <a:p>
            <a:endParaRPr lang="en-US" dirty="0"/>
          </a:p>
          <a:p>
            <a:r>
              <a:rPr lang="en-US" dirty="0"/>
              <a:t>These are faster than functions because there is no function call overhead (stack allocation, etc.).</a:t>
            </a:r>
          </a:p>
          <a:p>
            <a:endParaRPr lang="en-US" dirty="0"/>
          </a:p>
          <a:p>
            <a:r>
              <a:rPr lang="en-US" b="1" u="sng" dirty="0"/>
              <a:t>See example:</a:t>
            </a:r>
          </a:p>
          <a:p>
            <a:r>
              <a:rPr lang="en-US" b="1" dirty="0" err="1"/>
              <a:t>define.c</a:t>
            </a:r>
            <a:endParaRPr lang="en-US" b="1" dirty="0"/>
          </a:p>
          <a:p>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5</a:t>
            </a:fld>
            <a:endParaRPr lang="en-US"/>
          </a:p>
        </p:txBody>
      </p:sp>
    </p:spTree>
    <p:extLst>
      <p:ext uri="{BB962C8B-B14F-4D97-AF65-F5344CB8AC3E}">
        <p14:creationId xmlns:p14="http://schemas.microsoft.com/office/powerpoint/2010/main" val="32158356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Conditional Compilation - </a:t>
            </a:r>
            <a:r>
              <a:rPr lang="en-US" sz="1200" b="1" kern="1200" dirty="0">
                <a:solidFill>
                  <a:schemeClr val="tx1"/>
                </a:solidFill>
                <a:latin typeface="+mn-lt"/>
                <a:ea typeface="+mn-ea"/>
                <a:cs typeface="+mn-cs"/>
              </a:rPr>
              <a:t>#if</a:t>
            </a:r>
            <a:r>
              <a:rPr lang="en-US" b="1" dirty="0"/>
              <a:t>, </a:t>
            </a:r>
            <a:r>
              <a:rPr lang="en-US" sz="1200" b="1" kern="1200" dirty="0">
                <a:solidFill>
                  <a:schemeClr val="tx1"/>
                </a:solidFill>
                <a:latin typeface="+mn-lt"/>
                <a:ea typeface="+mn-ea"/>
                <a:cs typeface="+mn-cs"/>
              </a:rPr>
              <a:t>#else</a:t>
            </a:r>
            <a:r>
              <a:rPr lang="en-US" b="1" dirty="0"/>
              <a:t>, </a:t>
            </a:r>
            <a:r>
              <a:rPr lang="en-US" sz="1200" b="1" kern="1200" dirty="0">
                <a:solidFill>
                  <a:schemeClr val="tx1"/>
                </a:solidFill>
                <a:latin typeface="+mn-lt"/>
                <a:ea typeface="+mn-ea"/>
                <a:cs typeface="+mn-cs"/>
              </a:rPr>
              <a:t>#endif</a:t>
            </a:r>
            <a:endParaRPr lang="en-US" b="1" dirty="0"/>
          </a:p>
          <a:p>
            <a:pPr marL="171450" indent="-171450">
              <a:buFont typeface="Arial" panose="020B0604020202020204" pitchFamily="34" charset="0"/>
              <a:buChar char="•"/>
            </a:pPr>
            <a:r>
              <a:rPr lang="en-US" dirty="0"/>
              <a:t>Allows the compiler to skip sections of code based on whether a condition is true.</a:t>
            </a:r>
          </a:p>
          <a:p>
            <a:pPr marL="171450" indent="-171450">
              <a:buFont typeface="Arial" panose="020B0604020202020204" pitchFamily="34" charset="0"/>
              <a:buChar char="•"/>
            </a:pPr>
            <a:r>
              <a:rPr lang="en-US" dirty="0"/>
              <a:t>Useful for writing portable code that behaves differently on different operating systems or hardware.</a:t>
            </a:r>
          </a:p>
          <a:p>
            <a:endParaRPr lang="en-US" dirty="0"/>
          </a:p>
          <a:p>
            <a:r>
              <a:rPr lang="en-US" b="1" u="sng" dirty="0"/>
              <a:t>See example:</a:t>
            </a:r>
          </a:p>
          <a:p>
            <a:r>
              <a:rPr lang="en-US" b="1" dirty="0" err="1"/>
              <a:t>if.c</a:t>
            </a:r>
            <a:endParaRPr lang="en-US" b="1" dirty="0"/>
          </a:p>
          <a:p>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6</a:t>
            </a:fld>
            <a:endParaRPr lang="en-US"/>
          </a:p>
        </p:txBody>
      </p:sp>
    </p:spTree>
    <p:extLst>
      <p:ext uri="{BB962C8B-B14F-4D97-AF65-F5344CB8AC3E}">
        <p14:creationId xmlns:p14="http://schemas.microsoft.com/office/powerpoint/2010/main" val="3152050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Conditional Compilation - </a:t>
            </a:r>
            <a:r>
              <a:rPr lang="en-US" sz="1200" b="1" kern="1200" dirty="0">
                <a:solidFill>
                  <a:schemeClr val="tx1"/>
                </a:solidFill>
                <a:latin typeface="+mn-lt"/>
                <a:ea typeface="+mn-ea"/>
                <a:cs typeface="+mn-cs"/>
              </a:rPr>
              <a:t>#ifdef</a:t>
            </a:r>
            <a:r>
              <a:rPr lang="en-US" b="1" dirty="0"/>
              <a:t> and </a:t>
            </a:r>
            <a:r>
              <a:rPr lang="en-US" sz="1200" b="1" kern="1200" dirty="0">
                <a:solidFill>
                  <a:schemeClr val="tx1"/>
                </a:solidFill>
                <a:latin typeface="+mn-lt"/>
                <a:ea typeface="+mn-ea"/>
                <a:cs typeface="+mn-cs"/>
              </a:rPr>
              <a:t>#ifndef</a:t>
            </a:r>
            <a:endParaRPr lang="en-US" b="1" dirty="0"/>
          </a:p>
          <a:p>
            <a:pPr marL="0" indent="0">
              <a:buFont typeface="Arial" panose="020B0604020202020204" pitchFamily="34" charset="0"/>
              <a:buNone/>
            </a:pPr>
            <a:r>
              <a:rPr lang="en-US" sz="1200" kern="1200" dirty="0">
                <a:solidFill>
                  <a:schemeClr val="tx1"/>
                </a:solidFill>
                <a:latin typeface="+mn-lt"/>
                <a:ea typeface="+mn-ea"/>
                <a:cs typeface="+mn-cs"/>
              </a:rPr>
              <a:t>#ifdef DEBUG</a:t>
            </a:r>
            <a:r>
              <a:rPr lang="en-US" dirty="0"/>
              <a:t>: Includes code only if the </a:t>
            </a:r>
            <a:r>
              <a:rPr lang="en-US" sz="1200" kern="1200" dirty="0">
                <a:solidFill>
                  <a:schemeClr val="tx1"/>
                </a:solidFill>
                <a:latin typeface="+mn-lt"/>
                <a:ea typeface="+mn-ea"/>
                <a:cs typeface="+mn-cs"/>
              </a:rPr>
              <a:t>DEBUG</a:t>
            </a:r>
            <a:r>
              <a:rPr lang="en-US" dirty="0"/>
              <a:t> macro is defined.</a:t>
            </a:r>
          </a:p>
          <a:p>
            <a:pPr marL="0" indent="0">
              <a:buFont typeface="Arial" panose="020B0604020202020204" pitchFamily="34" charset="0"/>
              <a:buNone/>
            </a:pPr>
            <a:endParaRPr lang="en-US" dirty="0"/>
          </a:p>
          <a:p>
            <a:pPr marL="0" indent="0">
              <a:buFont typeface="Arial" panose="020B0604020202020204" pitchFamily="34" charset="0"/>
              <a:buNone/>
            </a:pPr>
            <a:r>
              <a:rPr lang="en-US" b="1" u="sng" dirty="0"/>
              <a:t>See example:</a:t>
            </a:r>
          </a:p>
          <a:p>
            <a:pPr marL="0" indent="0">
              <a:buFont typeface="Arial" panose="020B0604020202020204" pitchFamily="34" charset="0"/>
              <a:buNone/>
            </a:pPr>
            <a:r>
              <a:rPr lang="en-US" b="1" dirty="0" err="1"/>
              <a:t>ifdef.c</a:t>
            </a:r>
            <a:endParaRPr lang="en-US" b="1" dirty="0"/>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7</a:t>
            </a:fld>
            <a:endParaRPr lang="en-US"/>
          </a:p>
        </p:txBody>
      </p:sp>
    </p:spTree>
    <p:extLst>
      <p:ext uri="{BB962C8B-B14F-4D97-AF65-F5344CB8AC3E}">
        <p14:creationId xmlns:p14="http://schemas.microsoft.com/office/powerpoint/2010/main" val="3486816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Conditional Compilation - </a:t>
            </a:r>
            <a:r>
              <a:rPr lang="en-US" sz="1200" b="1" kern="1200" dirty="0">
                <a:solidFill>
                  <a:schemeClr val="tx1"/>
                </a:solidFill>
                <a:latin typeface="+mn-lt"/>
                <a:ea typeface="+mn-ea"/>
                <a:cs typeface="+mn-cs"/>
              </a:rPr>
              <a:t>#ifdef</a:t>
            </a:r>
            <a:r>
              <a:rPr lang="en-US" b="1" dirty="0"/>
              <a:t> and </a:t>
            </a:r>
            <a:r>
              <a:rPr lang="en-US" sz="1200" b="1" kern="1200" dirty="0">
                <a:solidFill>
                  <a:schemeClr val="tx1"/>
                </a:solidFill>
                <a:latin typeface="+mn-lt"/>
                <a:ea typeface="+mn-ea"/>
                <a:cs typeface="+mn-cs"/>
              </a:rPr>
              <a:t>#ifndef</a:t>
            </a:r>
            <a:endParaRPr lang="en-US" b="1" dirty="0"/>
          </a:p>
          <a:p>
            <a:pPr marL="0" indent="0">
              <a:buFont typeface="Arial" panose="020B0604020202020204" pitchFamily="34" charset="0"/>
              <a:buNone/>
            </a:pPr>
            <a:r>
              <a:rPr lang="en-US" sz="1200" kern="1200" dirty="0">
                <a:solidFill>
                  <a:schemeClr val="tx1"/>
                </a:solidFill>
                <a:latin typeface="+mn-lt"/>
                <a:ea typeface="+mn-ea"/>
                <a:cs typeface="+mn-cs"/>
              </a:rPr>
              <a:t>#ifndef PI</a:t>
            </a:r>
            <a:r>
              <a:rPr lang="en-US" dirty="0"/>
              <a:t>: Defines </a:t>
            </a:r>
            <a:r>
              <a:rPr lang="en-US" sz="1200" kern="1200" dirty="0">
                <a:solidFill>
                  <a:schemeClr val="tx1"/>
                </a:solidFill>
                <a:latin typeface="+mn-lt"/>
                <a:ea typeface="+mn-ea"/>
                <a:cs typeface="+mn-cs"/>
              </a:rPr>
              <a:t>PI</a:t>
            </a:r>
            <a:r>
              <a:rPr lang="en-US" dirty="0"/>
              <a:t> only if it hasn't been defined yet.</a:t>
            </a:r>
          </a:p>
          <a:p>
            <a:endParaRPr lang="en-US" dirty="0"/>
          </a:p>
          <a:p>
            <a:r>
              <a:rPr lang="en-US" b="1" dirty="0"/>
              <a:t>Include Guards</a:t>
            </a:r>
          </a:p>
          <a:p>
            <a:pPr marL="171450" indent="-171450">
              <a:buFont typeface="Arial" panose="020B0604020202020204" pitchFamily="34" charset="0"/>
              <a:buChar char="•"/>
            </a:pPr>
            <a:r>
              <a:rPr lang="en-US" dirty="0"/>
              <a:t>Uses a combination of </a:t>
            </a:r>
            <a:r>
              <a:rPr lang="en-US" sz="1200" kern="1200" dirty="0">
                <a:solidFill>
                  <a:schemeClr val="tx1"/>
                </a:solidFill>
                <a:latin typeface="+mn-lt"/>
                <a:ea typeface="+mn-ea"/>
                <a:cs typeface="+mn-cs"/>
              </a:rPr>
              <a:t>#ifndef</a:t>
            </a:r>
            <a:r>
              <a:rPr lang="en-US" dirty="0"/>
              <a:t>, </a:t>
            </a:r>
            <a:r>
              <a:rPr lang="en-US" sz="1200" kern="1200" dirty="0">
                <a:solidFill>
                  <a:schemeClr val="tx1"/>
                </a:solidFill>
                <a:latin typeface="+mn-lt"/>
                <a:ea typeface="+mn-ea"/>
                <a:cs typeface="+mn-cs"/>
              </a:rPr>
              <a:t>#define</a:t>
            </a:r>
            <a:r>
              <a:rPr lang="en-US" dirty="0"/>
              <a:t>, and </a:t>
            </a:r>
            <a:r>
              <a:rPr lang="en-US" sz="1200" kern="1200" dirty="0">
                <a:solidFill>
                  <a:schemeClr val="tx1"/>
                </a:solidFill>
                <a:latin typeface="+mn-lt"/>
                <a:ea typeface="+mn-ea"/>
                <a:cs typeface="+mn-cs"/>
              </a:rPr>
              <a:t>#endif</a:t>
            </a:r>
            <a:r>
              <a:rPr lang="en-US" dirty="0"/>
              <a:t> in header files.</a:t>
            </a:r>
          </a:p>
          <a:p>
            <a:pPr marL="171450" indent="-171450">
              <a:buFont typeface="Arial" panose="020B0604020202020204" pitchFamily="34" charset="0"/>
              <a:buChar char="•"/>
            </a:pPr>
            <a:r>
              <a:rPr lang="en-US" dirty="0"/>
              <a:t>Prevents the same header from being included multiple times in the same project, which would cause "redefinition" errors.</a:t>
            </a:r>
          </a:p>
          <a:p>
            <a:endParaRPr lang="en-US" dirty="0"/>
          </a:p>
          <a:p>
            <a:r>
              <a:rPr lang="en-US" b="1" u="sng" dirty="0"/>
              <a:t>See example:</a:t>
            </a:r>
          </a:p>
          <a:p>
            <a:r>
              <a:rPr lang="en-US" b="1" dirty="0" err="1"/>
              <a:t>ifndef.c</a:t>
            </a:r>
            <a:endParaRPr lang="en-US" b="1" dirty="0"/>
          </a:p>
          <a:p>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8</a:t>
            </a:fld>
            <a:endParaRPr lang="en-US"/>
          </a:p>
        </p:txBody>
      </p:sp>
    </p:spTree>
    <p:extLst>
      <p:ext uri="{BB962C8B-B14F-4D97-AF65-F5344CB8AC3E}">
        <p14:creationId xmlns:p14="http://schemas.microsoft.com/office/powerpoint/2010/main" val="431286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a:t>
            </a:r>
            <a:r>
              <a:rPr lang="en-US" sz="1200" b="1" kern="1200" dirty="0">
                <a:solidFill>
                  <a:schemeClr val="tx1"/>
                </a:solidFill>
                <a:latin typeface="+mn-lt"/>
                <a:ea typeface="+mn-ea"/>
                <a:cs typeface="+mn-cs"/>
              </a:rPr>
              <a:t>#undef</a:t>
            </a:r>
            <a:r>
              <a:rPr lang="en-US" b="1" dirty="0"/>
              <a:t> Directive</a:t>
            </a:r>
          </a:p>
          <a:p>
            <a:r>
              <a:rPr lang="en-US" dirty="0"/>
              <a:t>Used to "undefine" a previously defined macro.</a:t>
            </a:r>
          </a:p>
          <a:p>
            <a:endParaRPr lang="en-US" dirty="0"/>
          </a:p>
          <a:p>
            <a:r>
              <a:rPr lang="en-US" dirty="0"/>
              <a:t>Syntax: </a:t>
            </a:r>
          </a:p>
          <a:p>
            <a:r>
              <a:rPr lang="en-US" sz="1200" kern="1200" dirty="0">
                <a:solidFill>
                  <a:schemeClr val="tx1"/>
                </a:solidFill>
                <a:latin typeface="+mn-lt"/>
                <a:ea typeface="+mn-ea"/>
                <a:cs typeface="+mn-cs"/>
              </a:rPr>
              <a:t>#undef identifier</a:t>
            </a:r>
            <a:r>
              <a:rPr lang="en-US" dirty="0"/>
              <a:t>.</a:t>
            </a:r>
          </a:p>
          <a:p>
            <a:endParaRPr lang="en-US" dirty="0"/>
          </a:p>
          <a:p>
            <a:r>
              <a:rPr lang="en-US" dirty="0"/>
              <a:t>After this line, the identifier is no longer recognized as a macro by the preprocessor.</a:t>
            </a:r>
          </a:p>
          <a:p>
            <a:endParaRPr lang="en-US" dirty="0"/>
          </a:p>
          <a:p>
            <a:r>
              <a:rPr lang="en-US" b="1" u="sng" dirty="0"/>
              <a:t>See example:</a:t>
            </a:r>
          </a:p>
          <a:p>
            <a:r>
              <a:rPr lang="en-US" b="1" dirty="0" err="1"/>
              <a:t>undef.c</a:t>
            </a:r>
            <a:endParaRPr lang="en-US" b="1" dirty="0"/>
          </a:p>
          <a:p>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9</a:t>
            </a:fld>
            <a:endParaRPr lang="en-US"/>
          </a:p>
        </p:txBody>
      </p:sp>
    </p:spTree>
    <p:extLst>
      <p:ext uri="{BB962C8B-B14F-4D97-AF65-F5344CB8AC3E}">
        <p14:creationId xmlns:p14="http://schemas.microsoft.com/office/powerpoint/2010/main" val="1098938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See example:</a:t>
            </a:r>
          </a:p>
          <a:p>
            <a:r>
              <a:rPr lang="en-US" b="1" dirty="0" err="1"/>
              <a:t>simple_macro.c</a:t>
            </a:r>
            <a:endParaRPr lang="en-US" b="1" dirty="0"/>
          </a:p>
          <a:p>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11</a:t>
            </a:fld>
            <a:endParaRPr lang="en-US"/>
          </a:p>
        </p:txBody>
      </p:sp>
    </p:spTree>
    <p:extLst>
      <p:ext uri="{BB962C8B-B14F-4D97-AF65-F5344CB8AC3E}">
        <p14:creationId xmlns:p14="http://schemas.microsoft.com/office/powerpoint/2010/main" val="3377831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Macro Expansion Pitfalls</a:t>
            </a:r>
          </a:p>
          <a:p>
            <a:r>
              <a:rPr lang="en-US" dirty="0"/>
              <a:t>Lack of parentheses in macro definitions can lead to logical errors due to operator precedence.</a:t>
            </a:r>
          </a:p>
          <a:p>
            <a:endParaRPr lang="en-US" dirty="0"/>
          </a:p>
          <a:p>
            <a:r>
              <a:rPr lang="en-US" u="sng" dirty="0"/>
              <a:t>Example: </a:t>
            </a:r>
          </a:p>
          <a:p>
            <a:r>
              <a:rPr lang="en-US" sz="1200" kern="1200" dirty="0">
                <a:solidFill>
                  <a:schemeClr val="tx1"/>
                </a:solidFill>
                <a:latin typeface="+mn-lt"/>
                <a:ea typeface="+mn-ea"/>
                <a:cs typeface="+mn-cs"/>
              </a:rPr>
              <a:t>SQUARE(3+4)</a:t>
            </a:r>
            <a:r>
              <a:rPr lang="en-US" dirty="0"/>
              <a:t> without internal parentheses would expand to </a:t>
            </a:r>
            <a:r>
              <a:rPr lang="en-US" sz="1200" kern="1200" dirty="0">
                <a:solidFill>
                  <a:schemeClr val="tx1"/>
                </a:solidFill>
                <a:latin typeface="+mn-lt"/>
                <a:ea typeface="+mn-ea"/>
                <a:cs typeface="+mn-cs"/>
              </a:rPr>
              <a:t>3+4 * 3+4</a:t>
            </a:r>
            <a:r>
              <a:rPr lang="en-US" dirty="0"/>
              <a:t>, resulting in </a:t>
            </a:r>
            <a:r>
              <a:rPr lang="en-US" sz="1200" kern="1200" dirty="0">
                <a:solidFill>
                  <a:schemeClr val="tx1"/>
                </a:solidFill>
                <a:latin typeface="+mn-lt"/>
                <a:ea typeface="+mn-ea"/>
                <a:cs typeface="+mn-cs"/>
              </a:rPr>
              <a:t>19</a:t>
            </a:r>
            <a:r>
              <a:rPr lang="en-US" dirty="0"/>
              <a:t> instead of </a:t>
            </a:r>
            <a:r>
              <a:rPr lang="en-US" sz="1200" kern="1200" dirty="0">
                <a:solidFill>
                  <a:schemeClr val="tx1"/>
                </a:solidFill>
                <a:latin typeface="+mn-lt"/>
                <a:ea typeface="+mn-ea"/>
                <a:cs typeface="+mn-cs"/>
              </a:rPr>
              <a:t>49</a:t>
            </a:r>
            <a:r>
              <a:rPr lang="en-US" dirty="0"/>
              <a:t>.</a:t>
            </a:r>
          </a:p>
          <a:p>
            <a:endParaRPr lang="en-US" dirty="0"/>
          </a:p>
          <a:p>
            <a:r>
              <a:rPr lang="en-US" b="1" dirty="0"/>
              <a:t>Macros vs. Functions</a:t>
            </a:r>
          </a:p>
          <a:p>
            <a:pPr marL="171450" indent="-171450">
              <a:buFont typeface="Arial" panose="020B0604020202020204" pitchFamily="34" charset="0"/>
              <a:buChar char="•"/>
            </a:pPr>
            <a:r>
              <a:rPr lang="en-US" b="1" dirty="0"/>
              <a:t>Macros</a:t>
            </a:r>
            <a:r>
              <a:rPr lang="en-US" dirty="0"/>
              <a:t>: </a:t>
            </a:r>
            <a:br>
              <a:rPr lang="en-US" dirty="0"/>
            </a:br>
            <a:r>
              <a:rPr lang="en-US" dirty="0"/>
              <a:t>Pre-processed, no type checking, no call overhead, </a:t>
            </a:r>
            <a:br>
              <a:rPr lang="en-US" dirty="0"/>
            </a:br>
            <a:r>
              <a:rPr lang="en-US" dirty="0"/>
              <a:t>code size increases as they are expanded in-place.</a:t>
            </a:r>
          </a:p>
          <a:p>
            <a:pPr marL="171450" indent="-171450">
              <a:buFont typeface="Arial" panose="020B0604020202020204" pitchFamily="34" charset="0"/>
              <a:buChar char="•"/>
            </a:pPr>
            <a:r>
              <a:rPr lang="en-US" b="1" dirty="0"/>
              <a:t>Functions</a:t>
            </a:r>
            <a:r>
              <a:rPr lang="en-US" dirty="0"/>
              <a:t>: </a:t>
            </a:r>
            <a:br>
              <a:rPr lang="en-US" dirty="0"/>
            </a:br>
            <a:r>
              <a:rPr lang="en-US" dirty="0"/>
              <a:t>Compiled, strict type checking, involves call overhead, </a:t>
            </a:r>
            <a:br>
              <a:rPr lang="en-US" dirty="0"/>
            </a:br>
            <a:r>
              <a:rPr lang="en-US" dirty="0"/>
              <a:t>code size remains smaller as the function is stored in one place.</a:t>
            </a:r>
          </a:p>
          <a:p>
            <a:endParaRPr lang="en-US" dirty="0"/>
          </a:p>
          <a:p>
            <a:endParaRPr lang="en-US" dirty="0"/>
          </a:p>
          <a:p>
            <a:r>
              <a:rPr lang="en-US" i="1" u="sng" dirty="0"/>
              <a:t>Optional:</a:t>
            </a:r>
          </a:p>
          <a:p>
            <a:endParaRPr lang="en-US" dirty="0"/>
          </a:p>
          <a:p>
            <a:r>
              <a:rPr lang="en-US" b="1" dirty="0"/>
              <a:t>Miscellaneous Directives (</a:t>
            </a:r>
            <a:r>
              <a:rPr lang="en-US" sz="1200" b="1" kern="1200" dirty="0">
                <a:solidFill>
                  <a:schemeClr val="tx1"/>
                </a:solidFill>
                <a:latin typeface="+mn-lt"/>
                <a:ea typeface="+mn-ea"/>
                <a:cs typeface="+mn-cs"/>
              </a:rPr>
              <a:t>#error</a:t>
            </a:r>
            <a:r>
              <a:rPr lang="en-US" b="1" dirty="0"/>
              <a:t>, </a:t>
            </a:r>
            <a:r>
              <a:rPr lang="en-US" sz="1200" b="1" kern="1200" dirty="0">
                <a:solidFill>
                  <a:schemeClr val="tx1"/>
                </a:solidFill>
                <a:latin typeface="+mn-lt"/>
                <a:ea typeface="+mn-ea"/>
                <a:cs typeface="+mn-cs"/>
              </a:rPr>
              <a:t>#line</a:t>
            </a:r>
            <a:r>
              <a:rPr lang="en-US" b="1" dirty="0"/>
              <a:t>)</a:t>
            </a:r>
          </a:p>
          <a:p>
            <a:pPr marL="171450" indent="-171450">
              <a:buFont typeface="Arial" panose="020B0604020202020204" pitchFamily="34" charset="0"/>
              <a:buChar char="•"/>
            </a:pPr>
            <a:r>
              <a:rPr lang="en-US" sz="1200" kern="1200" dirty="0">
                <a:solidFill>
                  <a:schemeClr val="tx1"/>
                </a:solidFill>
                <a:latin typeface="+mn-lt"/>
                <a:ea typeface="+mn-ea"/>
                <a:cs typeface="+mn-cs"/>
              </a:rPr>
              <a:t>#error</a:t>
            </a:r>
            <a:r>
              <a:rPr lang="en-US" dirty="0"/>
              <a:t>: Forces the compiler to stop and display a specific message.</a:t>
            </a:r>
          </a:p>
          <a:p>
            <a:pPr marL="171450" indent="-171450">
              <a:buFont typeface="Arial" panose="020B0604020202020204" pitchFamily="34" charset="0"/>
              <a:buChar char="•"/>
            </a:pPr>
            <a:r>
              <a:rPr lang="en-US" sz="1200" kern="1200" dirty="0">
                <a:solidFill>
                  <a:schemeClr val="tx1"/>
                </a:solidFill>
                <a:latin typeface="+mn-lt"/>
                <a:ea typeface="+mn-ea"/>
                <a:cs typeface="+mn-cs"/>
              </a:rPr>
              <a:t>#line</a:t>
            </a:r>
            <a:r>
              <a:rPr lang="en-US" dirty="0"/>
              <a:t>: Used to change the line number and filename reported by the compiler during error messages.</a:t>
            </a:r>
          </a:p>
          <a:p>
            <a:endParaRPr lang="en-US" dirty="0"/>
          </a:p>
          <a:p>
            <a:r>
              <a:rPr lang="en-US" b="1" dirty="0"/>
              <a:t>The </a:t>
            </a:r>
            <a:r>
              <a:rPr lang="en-US" sz="1200" b="1" kern="1200" dirty="0">
                <a:solidFill>
                  <a:schemeClr val="tx1"/>
                </a:solidFill>
                <a:latin typeface="+mn-lt"/>
                <a:ea typeface="+mn-ea"/>
                <a:cs typeface="+mn-cs"/>
              </a:rPr>
              <a:t>#pragma</a:t>
            </a:r>
            <a:r>
              <a:rPr lang="en-US" b="1" dirty="0"/>
              <a:t> Directive</a:t>
            </a:r>
          </a:p>
          <a:p>
            <a:r>
              <a:rPr lang="en-US" dirty="0"/>
              <a:t>Provides machine-specific or compiler-specific instructions.</a:t>
            </a:r>
          </a:p>
          <a:p>
            <a:endParaRPr lang="en-US" dirty="0"/>
          </a:p>
          <a:p>
            <a:r>
              <a:rPr lang="en-US" dirty="0"/>
              <a:t>Example:</a:t>
            </a:r>
          </a:p>
          <a:p>
            <a:r>
              <a:rPr lang="en-US" sz="1200" kern="1200" dirty="0">
                <a:solidFill>
                  <a:schemeClr val="tx1"/>
                </a:solidFill>
                <a:latin typeface="+mn-lt"/>
                <a:ea typeface="+mn-ea"/>
                <a:cs typeface="+mn-cs"/>
              </a:rPr>
              <a:t>#pragma startup</a:t>
            </a:r>
            <a:r>
              <a:rPr lang="en-US" dirty="0"/>
              <a:t> or </a:t>
            </a:r>
            <a:r>
              <a:rPr lang="en-US" sz="1200" kern="1200" dirty="0">
                <a:solidFill>
                  <a:schemeClr val="tx1"/>
                </a:solidFill>
                <a:latin typeface="+mn-lt"/>
                <a:ea typeface="+mn-ea"/>
                <a:cs typeface="+mn-cs"/>
              </a:rPr>
              <a:t>#pragma exit</a:t>
            </a:r>
            <a:r>
              <a:rPr lang="en-US" dirty="0"/>
              <a:t> can specify functions to run before </a:t>
            </a:r>
            <a:r>
              <a:rPr lang="en-US" sz="1200" kern="1200" dirty="0">
                <a:solidFill>
                  <a:schemeClr val="tx1"/>
                </a:solidFill>
                <a:latin typeface="+mn-lt"/>
                <a:ea typeface="+mn-ea"/>
                <a:cs typeface="+mn-cs"/>
              </a:rPr>
              <a:t>main()</a:t>
            </a:r>
            <a:r>
              <a:rPr lang="en-US" dirty="0"/>
              <a:t> starts or after it ends.</a:t>
            </a:r>
          </a:p>
          <a:p>
            <a:endParaRPr lang="en-US" dirty="0"/>
          </a:p>
          <a:p>
            <a:r>
              <a:rPr lang="en-US" dirty="0"/>
              <a:t>Implementation varies significantly between different compilers (e.g., GCC vs. Turbo C).</a:t>
            </a:r>
          </a:p>
          <a:p>
            <a:endParaRPr lang="en-US" dirty="0"/>
          </a:p>
          <a:p>
            <a:r>
              <a:rPr lang="en-US" b="1" u="sng" dirty="0"/>
              <a:t>See example:</a:t>
            </a:r>
          </a:p>
          <a:p>
            <a:r>
              <a:rPr lang="en-US" b="1" dirty="0" err="1"/>
              <a:t>param_macro.c</a:t>
            </a:r>
            <a:endParaRPr lang="en-US" b="1" dirty="0"/>
          </a:p>
          <a:p>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12</a:t>
            </a:fld>
            <a:endParaRPr lang="en-US"/>
          </a:p>
        </p:txBody>
      </p:sp>
    </p:spTree>
    <p:extLst>
      <p:ext uri="{BB962C8B-B14F-4D97-AF65-F5344CB8AC3E}">
        <p14:creationId xmlns:p14="http://schemas.microsoft.com/office/powerpoint/2010/main" val="3866244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File Inclusion - </a:t>
            </a:r>
            <a:r>
              <a:rPr lang="en-US" sz="1200" b="1" kern="1200" dirty="0">
                <a:solidFill>
                  <a:schemeClr val="tx1"/>
                </a:solidFill>
                <a:latin typeface="+mn-lt"/>
                <a:ea typeface="+mn-ea"/>
                <a:cs typeface="+mn-cs"/>
              </a:rPr>
              <a:t>#include</a:t>
            </a:r>
            <a:endParaRPr lang="en-US" b="1" dirty="0"/>
          </a:p>
          <a:p>
            <a:r>
              <a:rPr lang="en-US" dirty="0"/>
              <a:t>Tells the preprocessor to insert the contents of a specified file into the current file.</a:t>
            </a:r>
          </a:p>
          <a:p>
            <a:endParaRPr lang="en-US" dirty="0"/>
          </a:p>
          <a:p>
            <a:r>
              <a:rPr lang="en-US" dirty="0"/>
              <a:t>Standard syntax: </a:t>
            </a:r>
          </a:p>
          <a:p>
            <a:r>
              <a:rPr lang="en-US" sz="1200" kern="1200" dirty="0">
                <a:solidFill>
                  <a:schemeClr val="tx1"/>
                </a:solidFill>
                <a:latin typeface="+mn-lt"/>
                <a:ea typeface="+mn-ea"/>
                <a:cs typeface="+mn-cs"/>
              </a:rPr>
              <a:t>#include &lt;filename&gt;</a:t>
            </a:r>
            <a:r>
              <a:rPr lang="en-US" dirty="0"/>
              <a:t> for system headers.</a:t>
            </a:r>
          </a:p>
          <a:p>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13</a:t>
            </a:fld>
            <a:endParaRPr lang="en-US"/>
          </a:p>
        </p:txBody>
      </p:sp>
    </p:spTree>
    <p:extLst>
      <p:ext uri="{BB962C8B-B14F-4D97-AF65-F5344CB8AC3E}">
        <p14:creationId xmlns:p14="http://schemas.microsoft.com/office/powerpoint/2010/main" val="11530047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File Inclusion - </a:t>
            </a:r>
            <a:r>
              <a:rPr lang="en-US" sz="1200" b="1" kern="1200" dirty="0">
                <a:solidFill>
                  <a:schemeClr val="tx1"/>
                </a:solidFill>
                <a:latin typeface="+mn-lt"/>
                <a:ea typeface="+mn-ea"/>
                <a:cs typeface="+mn-cs"/>
              </a:rPr>
              <a:t>#include</a:t>
            </a:r>
            <a:endParaRPr lang="en-US" b="1" dirty="0"/>
          </a:p>
          <a:p>
            <a:r>
              <a:rPr lang="en-US" dirty="0"/>
              <a:t>Tells the preprocessor to insert the contents of a specified file into the current file.</a:t>
            </a:r>
          </a:p>
          <a:p>
            <a:endParaRPr lang="en-US" dirty="0"/>
          </a:p>
          <a:p>
            <a:r>
              <a:rPr lang="en-US" dirty="0"/>
              <a:t>User-defined syntax: </a:t>
            </a:r>
          </a:p>
          <a:p>
            <a:r>
              <a:rPr lang="en-US" sz="1200" kern="1200" dirty="0">
                <a:solidFill>
                  <a:schemeClr val="tx1"/>
                </a:solidFill>
                <a:latin typeface="+mn-lt"/>
                <a:ea typeface="+mn-ea"/>
                <a:cs typeface="+mn-cs"/>
              </a:rPr>
              <a:t>#include "filename"</a:t>
            </a:r>
            <a:r>
              <a:rPr lang="en-US" dirty="0"/>
              <a:t> for local files.</a:t>
            </a:r>
          </a:p>
          <a:p>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14</a:t>
            </a:fld>
            <a:endParaRPr lang="en-US"/>
          </a:p>
        </p:txBody>
      </p:sp>
    </p:spTree>
    <p:extLst>
      <p:ext uri="{BB962C8B-B14F-4D97-AF65-F5344CB8AC3E}">
        <p14:creationId xmlns:p14="http://schemas.microsoft.com/office/powerpoint/2010/main" val="3792442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See example:</a:t>
            </a:r>
          </a:p>
          <a:p>
            <a:r>
              <a:rPr lang="en-US" b="1" dirty="0" err="1"/>
              <a:t>myheader.h</a:t>
            </a:r>
            <a:endParaRPr lang="en-US" b="1" dirty="0"/>
          </a:p>
          <a:p>
            <a:r>
              <a:rPr lang="en-US" b="1" dirty="0" err="1"/>
              <a:t>myheader.c</a:t>
            </a:r>
            <a:endParaRPr lang="en-US" b="1" dirty="0"/>
          </a:p>
          <a:p>
            <a:r>
              <a:rPr lang="en-US" b="1" dirty="0" err="1"/>
              <a:t>main.c</a:t>
            </a:r>
            <a:endParaRPr lang="en-US" b="1" dirty="0"/>
          </a:p>
          <a:p>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15</a:t>
            </a:fld>
            <a:endParaRPr lang="en-US"/>
          </a:p>
        </p:txBody>
      </p:sp>
    </p:spTree>
    <p:extLst>
      <p:ext uri="{BB962C8B-B14F-4D97-AF65-F5344CB8AC3E}">
        <p14:creationId xmlns:p14="http://schemas.microsoft.com/office/powerpoint/2010/main" val="2919946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Conclusion / Q&amp;A</a:t>
            </a:r>
          </a:p>
          <a:p>
            <a:pPr marL="171450" indent="-171450">
              <a:buFont typeface="Arial" panose="020B0604020202020204" pitchFamily="34" charset="0"/>
              <a:buChar char="•"/>
            </a:pPr>
            <a:r>
              <a:rPr lang="en-US" dirty="0"/>
              <a:t>Summary of the importance of the preprocessor in managing complex C projects.</a:t>
            </a:r>
          </a:p>
          <a:p>
            <a:pPr marL="171450" indent="-171450">
              <a:buFont typeface="Arial" panose="020B0604020202020204" pitchFamily="34" charset="0"/>
              <a:buChar char="•"/>
            </a:pPr>
            <a:r>
              <a:rPr lang="en-US" dirty="0"/>
              <a:t>Encouragement to use macros for constants and simple logic, while being mindful of their side effects.</a:t>
            </a:r>
          </a:p>
          <a:p>
            <a:endParaRPr lang="en-US" dirty="0"/>
          </a:p>
        </p:txBody>
      </p:sp>
      <p:sp>
        <p:nvSpPr>
          <p:cNvPr id="4" name="Slide Number Placeholder 3"/>
          <p:cNvSpPr>
            <a:spLocks noGrp="1"/>
          </p:cNvSpPr>
          <p:nvPr>
            <p:ph type="sldNum" sz="quarter" idx="5"/>
          </p:nvPr>
        </p:nvSpPr>
        <p:spPr/>
        <p:txBody>
          <a:bodyPr/>
          <a:lstStyle/>
          <a:p>
            <a:fld id="{9B4AB9FA-5B11-4D9D-985A-ED662E8F848D}" type="slidenum">
              <a:rPr lang="en-US" smtClean="0"/>
              <a:t>17</a:t>
            </a:fld>
            <a:endParaRPr lang="en-US"/>
          </a:p>
        </p:txBody>
      </p:sp>
    </p:spTree>
    <p:extLst>
      <p:ext uri="{BB962C8B-B14F-4D97-AF65-F5344CB8AC3E}">
        <p14:creationId xmlns:p14="http://schemas.microsoft.com/office/powerpoint/2010/main" val="3331462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0375" y="1415541"/>
            <a:ext cx="2136775" cy="681989"/>
          </a:xfrm>
          <a:prstGeom prst="rect">
            <a:avLst/>
          </a:prstGeom>
        </p:spPr>
        <p:txBody>
          <a:bodyPr wrap="square" lIns="0" tIns="0" rIns="0" bIns="0">
            <a:spAutoFit/>
          </a:bodyPr>
          <a:lstStyle>
            <a:lvl1pPr>
              <a:defRPr sz="2500" b="0" i="0">
                <a:solidFill>
                  <a:srgbClr val="0F2044"/>
                </a:solidFill>
                <a:latin typeface="Georgia"/>
                <a:cs typeface="Georg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2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rgbClr val="0F2044"/>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sz="22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rgbClr val="0F2044"/>
                </a:solidFill>
                <a:latin typeface="Georgia"/>
                <a:cs typeface="Georg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rgbClr val="0F2044"/>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133945"/>
            <a:ext cx="12192000" cy="1009054"/>
          </a:xfrm>
          <a:prstGeom prst="rect">
            <a:avLst/>
          </a:prstGeom>
        </p:spPr>
      </p:pic>
      <p:sp>
        <p:nvSpPr>
          <p:cNvPr id="2" name="Holder 2"/>
          <p:cNvSpPr>
            <a:spLocks noGrp="1"/>
          </p:cNvSpPr>
          <p:nvPr>
            <p:ph type="title"/>
          </p:nvPr>
        </p:nvSpPr>
        <p:spPr>
          <a:xfrm>
            <a:off x="410375" y="1415541"/>
            <a:ext cx="2678430" cy="681989"/>
          </a:xfrm>
          <a:prstGeom prst="rect">
            <a:avLst/>
          </a:prstGeom>
        </p:spPr>
        <p:txBody>
          <a:bodyPr wrap="square" lIns="0" tIns="0" rIns="0" bIns="0">
            <a:spAutoFit/>
          </a:bodyPr>
          <a:lstStyle>
            <a:lvl1pPr>
              <a:defRPr sz="2500" b="0" i="0">
                <a:solidFill>
                  <a:srgbClr val="0F2044"/>
                </a:solidFill>
                <a:latin typeface="Georgia"/>
                <a:cs typeface="Georgia"/>
              </a:defRPr>
            </a:lvl1pPr>
          </a:lstStyle>
          <a:p>
            <a:endParaRPr/>
          </a:p>
        </p:txBody>
      </p:sp>
      <p:sp>
        <p:nvSpPr>
          <p:cNvPr id="3" name="Holder 3"/>
          <p:cNvSpPr>
            <a:spLocks noGrp="1"/>
          </p:cNvSpPr>
          <p:nvPr>
            <p:ph type="body" idx="1"/>
          </p:nvPr>
        </p:nvSpPr>
        <p:spPr>
          <a:xfrm>
            <a:off x="406001" y="2579299"/>
            <a:ext cx="5144135" cy="2827020"/>
          </a:xfrm>
          <a:prstGeom prst="rect">
            <a:avLst/>
          </a:prstGeom>
        </p:spPr>
        <p:txBody>
          <a:bodyPr wrap="square" lIns="0" tIns="0" rIns="0" bIns="0">
            <a:spAutoFit/>
          </a:bodyPr>
          <a:lstStyle>
            <a:lvl1pPr>
              <a:defRPr sz="22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2/9/2026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hyperlink" Target="http://www.fresh2refresh.com/" TargetMode="External"/><Relationship Id="rId5" Type="http://schemas.openxmlformats.org/officeDocument/2006/relationships/image" Target="../media/image6.jpg"/><Relationship Id="rId4" Type="http://schemas.openxmlformats.org/officeDocument/2006/relationships/hyperlink" Target="http://www.scaler.co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evblogs.microsoft.com/cppblog/visualize-macro-expansion-for-c/" TargetMode="External"/><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image" Target="../media/image16.jpg"/></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2183" y="2702546"/>
            <a:ext cx="8662035" cy="772160"/>
          </a:xfrm>
          <a:prstGeom prst="rect">
            <a:avLst/>
          </a:prstGeom>
        </p:spPr>
        <p:txBody>
          <a:bodyPr vert="horz" wrap="square" lIns="0" tIns="12700" rIns="0" bIns="0" rtlCol="0">
            <a:spAutoFit/>
          </a:bodyPr>
          <a:lstStyle/>
          <a:p>
            <a:pPr marL="12700">
              <a:lnSpc>
                <a:spcPct val="100000"/>
              </a:lnSpc>
              <a:spcBef>
                <a:spcPts val="100"/>
              </a:spcBef>
            </a:pPr>
            <a:r>
              <a:rPr sz="4900" dirty="0"/>
              <a:t>CSC</a:t>
            </a:r>
            <a:r>
              <a:rPr sz="4900" spc="-85" dirty="0"/>
              <a:t> </a:t>
            </a:r>
            <a:r>
              <a:rPr sz="4900" dirty="0"/>
              <a:t>362:</a:t>
            </a:r>
            <a:r>
              <a:rPr sz="4900" spc="-85" dirty="0"/>
              <a:t> </a:t>
            </a:r>
            <a:r>
              <a:rPr sz="4900" dirty="0"/>
              <a:t>System</a:t>
            </a:r>
            <a:r>
              <a:rPr sz="4900" spc="-90" dirty="0"/>
              <a:t> </a:t>
            </a:r>
            <a:r>
              <a:rPr sz="4900" spc="-10" dirty="0"/>
              <a:t>Programming</a:t>
            </a:r>
            <a:endParaRPr sz="4900"/>
          </a:p>
        </p:txBody>
      </p:sp>
      <p:sp>
        <p:nvSpPr>
          <p:cNvPr id="3" name="object 3"/>
          <p:cNvSpPr txBox="1"/>
          <p:nvPr/>
        </p:nvSpPr>
        <p:spPr>
          <a:xfrm>
            <a:off x="5447878" y="3585985"/>
            <a:ext cx="129603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F2044"/>
                </a:solidFill>
                <a:latin typeface="Arial MT"/>
                <a:cs typeface="Arial MT"/>
              </a:rPr>
              <a:t>Lecture</a:t>
            </a:r>
            <a:r>
              <a:rPr sz="2400" spc="-120" dirty="0">
                <a:solidFill>
                  <a:srgbClr val="0F2044"/>
                </a:solidFill>
                <a:latin typeface="Arial MT"/>
                <a:cs typeface="Arial MT"/>
              </a:rPr>
              <a:t> </a:t>
            </a:r>
            <a:r>
              <a:rPr sz="2400" spc="-50" dirty="0">
                <a:solidFill>
                  <a:srgbClr val="0F2044"/>
                </a:solidFill>
                <a:latin typeface="Arial MT"/>
                <a:cs typeface="Arial MT"/>
              </a:rPr>
              <a:t>7</a:t>
            </a:r>
            <a:endParaRPr sz="2400">
              <a:latin typeface="Arial MT"/>
              <a:cs typeface="Arial MT"/>
            </a:endParaRPr>
          </a:p>
        </p:txBody>
      </p:sp>
      <p:sp>
        <p:nvSpPr>
          <p:cNvPr id="6" name="object 6">
            <a:extLst>
              <a:ext uri="{C183D7F6-B498-43B3-948B-1728B52AA6E4}">
                <adec:decorative xmlns:adec="http://schemas.microsoft.com/office/drawing/2017/decorative" val="1"/>
              </a:ext>
            </a:extLst>
          </p:cNvPr>
          <p:cNvSpPr/>
          <p:nvPr/>
        </p:nvSpPr>
        <p:spPr>
          <a:xfrm>
            <a:off x="1618174" y="4145624"/>
            <a:ext cx="9054465" cy="31115"/>
          </a:xfrm>
          <a:custGeom>
            <a:avLst/>
            <a:gdLst/>
            <a:ahLst/>
            <a:cxnLst/>
            <a:rect l="l" t="t" r="r" b="b"/>
            <a:pathLst>
              <a:path w="9054465" h="31114">
                <a:moveTo>
                  <a:pt x="0" y="0"/>
                </a:moveTo>
                <a:lnTo>
                  <a:pt x="9053999" y="30899"/>
                </a:lnTo>
              </a:path>
            </a:pathLst>
          </a:custGeom>
          <a:ln w="9524">
            <a:solidFill>
              <a:srgbClr val="0F2044"/>
            </a:solidFill>
          </a:ln>
        </p:spPr>
        <p:txBody>
          <a:bodyPr wrap="square" lIns="0" tIns="0" rIns="0" bIns="0" rtlCol="0"/>
          <a:lstStyle/>
          <a:p>
            <a:endParaRPr/>
          </a:p>
        </p:txBody>
      </p:sp>
      <p:sp>
        <p:nvSpPr>
          <p:cNvPr id="7" name="TextBox 6">
            <a:extLst>
              <a:ext uri="{FF2B5EF4-FFF2-40B4-BE49-F238E27FC236}">
                <a16:creationId xmlns:a16="http://schemas.microsoft.com/office/drawing/2014/main" id="{492C4898-6485-CA6F-2A13-D92F799EA138}"/>
              </a:ext>
            </a:extLst>
          </p:cNvPr>
          <p:cNvSpPr txBox="1"/>
          <p:nvPr/>
        </p:nvSpPr>
        <p:spPr>
          <a:xfrm>
            <a:off x="3098244" y="4267200"/>
            <a:ext cx="6094324" cy="678134"/>
          </a:xfrm>
          <a:prstGeom prst="rect">
            <a:avLst/>
          </a:prstGeom>
          <a:noFill/>
        </p:spPr>
        <p:txBody>
          <a:bodyPr wrap="square">
            <a:spAutoFit/>
          </a:bodyPr>
          <a:lstStyle/>
          <a:p>
            <a:pPr marL="0" marR="0" lvl="0" indent="0" algn="ctr" rtl="0">
              <a:lnSpc>
                <a:spcPct val="110000"/>
              </a:lnSpc>
              <a:spcBef>
                <a:spcPts val="0"/>
              </a:spcBef>
              <a:spcAft>
                <a:spcPts val="0"/>
              </a:spcAft>
              <a:buClr>
                <a:schemeClr val="dk2"/>
              </a:buClr>
              <a:buSzPts val="2400"/>
              <a:buFont typeface="Arial"/>
              <a:buNone/>
            </a:pPr>
            <a:r>
              <a:rPr lang="en-US" dirty="0"/>
              <a:t>Original slides by: Amitabha Dey</a:t>
            </a:r>
          </a:p>
          <a:p>
            <a:pPr marL="0" marR="0" lvl="0" indent="0" algn="ctr" rtl="0">
              <a:lnSpc>
                <a:spcPct val="110000"/>
              </a:lnSpc>
              <a:spcBef>
                <a:spcPts val="0"/>
              </a:spcBef>
              <a:spcAft>
                <a:spcPts val="0"/>
              </a:spcAft>
              <a:buClr>
                <a:schemeClr val="dk2"/>
              </a:buClr>
              <a:buSzPts val="2400"/>
              <a:buFont typeface="Arial"/>
              <a:buNone/>
            </a:pPr>
            <a:r>
              <a:rPr lang="en-US" dirty="0"/>
              <a:t>Adapted by: Dr. Richard Johnson</a:t>
            </a:r>
          </a:p>
        </p:txBody>
      </p:sp>
      <p:sp>
        <p:nvSpPr>
          <p:cNvPr id="5" name="object 5"/>
          <p:cNvSpPr txBox="1"/>
          <p:nvPr/>
        </p:nvSpPr>
        <p:spPr>
          <a:xfrm>
            <a:off x="3203401" y="5437645"/>
            <a:ext cx="5782310" cy="720725"/>
          </a:xfrm>
          <a:prstGeom prst="rect">
            <a:avLst/>
          </a:prstGeom>
        </p:spPr>
        <p:txBody>
          <a:bodyPr vert="horz" wrap="square" lIns="0" tIns="53975" rIns="0" bIns="0" rtlCol="0">
            <a:spAutoFit/>
          </a:bodyPr>
          <a:lstStyle/>
          <a:p>
            <a:pPr marL="12700" marR="5080" indent="617855">
              <a:lnSpc>
                <a:spcPts val="2590"/>
              </a:lnSpc>
              <a:spcBef>
                <a:spcPts val="425"/>
              </a:spcBef>
            </a:pPr>
            <a:r>
              <a:rPr sz="2400" spc="-10" dirty="0">
                <a:solidFill>
                  <a:srgbClr val="0F2044"/>
                </a:solidFill>
                <a:latin typeface="Arial MT"/>
                <a:cs typeface="Arial MT"/>
              </a:rPr>
              <a:t>Department</a:t>
            </a:r>
            <a:r>
              <a:rPr sz="2400" spc="-70" dirty="0">
                <a:solidFill>
                  <a:srgbClr val="0F2044"/>
                </a:solidFill>
                <a:latin typeface="Arial MT"/>
                <a:cs typeface="Arial MT"/>
              </a:rPr>
              <a:t> </a:t>
            </a:r>
            <a:r>
              <a:rPr sz="2400" dirty="0">
                <a:solidFill>
                  <a:srgbClr val="0F2044"/>
                </a:solidFill>
                <a:latin typeface="Arial MT"/>
                <a:cs typeface="Arial MT"/>
              </a:rPr>
              <a:t>of</a:t>
            </a:r>
            <a:r>
              <a:rPr sz="2400" spc="-65" dirty="0">
                <a:solidFill>
                  <a:srgbClr val="0F2044"/>
                </a:solidFill>
                <a:latin typeface="Arial MT"/>
                <a:cs typeface="Arial MT"/>
              </a:rPr>
              <a:t> </a:t>
            </a:r>
            <a:r>
              <a:rPr sz="2400" dirty="0">
                <a:solidFill>
                  <a:srgbClr val="0F2044"/>
                </a:solidFill>
                <a:latin typeface="Arial MT"/>
                <a:cs typeface="Arial MT"/>
              </a:rPr>
              <a:t>Computer</a:t>
            </a:r>
            <a:r>
              <a:rPr sz="2400" spc="-65" dirty="0">
                <a:solidFill>
                  <a:srgbClr val="0F2044"/>
                </a:solidFill>
                <a:latin typeface="Arial MT"/>
                <a:cs typeface="Arial MT"/>
              </a:rPr>
              <a:t> </a:t>
            </a:r>
            <a:r>
              <a:rPr sz="2400" spc="-10" dirty="0">
                <a:solidFill>
                  <a:srgbClr val="0F2044"/>
                </a:solidFill>
                <a:latin typeface="Arial MT"/>
                <a:cs typeface="Arial MT"/>
              </a:rPr>
              <a:t>Science </a:t>
            </a:r>
            <a:r>
              <a:rPr sz="2400" dirty="0">
                <a:solidFill>
                  <a:srgbClr val="0F2044"/>
                </a:solidFill>
                <a:latin typeface="Arial MT"/>
                <a:cs typeface="Arial MT"/>
              </a:rPr>
              <a:t>University</a:t>
            </a:r>
            <a:r>
              <a:rPr sz="2400" spc="-70" dirty="0">
                <a:solidFill>
                  <a:srgbClr val="0F2044"/>
                </a:solidFill>
                <a:latin typeface="Arial MT"/>
                <a:cs typeface="Arial MT"/>
              </a:rPr>
              <a:t> </a:t>
            </a:r>
            <a:r>
              <a:rPr sz="2400" dirty="0">
                <a:solidFill>
                  <a:srgbClr val="0F2044"/>
                </a:solidFill>
                <a:latin typeface="Arial MT"/>
                <a:cs typeface="Arial MT"/>
              </a:rPr>
              <a:t>of</a:t>
            </a:r>
            <a:r>
              <a:rPr sz="2400" spc="-70" dirty="0">
                <a:solidFill>
                  <a:srgbClr val="0F2044"/>
                </a:solidFill>
                <a:latin typeface="Arial MT"/>
                <a:cs typeface="Arial MT"/>
              </a:rPr>
              <a:t> </a:t>
            </a:r>
            <a:r>
              <a:rPr sz="2400" dirty="0">
                <a:solidFill>
                  <a:srgbClr val="0F2044"/>
                </a:solidFill>
                <a:latin typeface="Arial MT"/>
                <a:cs typeface="Arial MT"/>
              </a:rPr>
              <a:t>North</a:t>
            </a:r>
            <a:r>
              <a:rPr sz="2400" spc="-70" dirty="0">
                <a:solidFill>
                  <a:srgbClr val="0F2044"/>
                </a:solidFill>
                <a:latin typeface="Arial MT"/>
                <a:cs typeface="Arial MT"/>
              </a:rPr>
              <a:t> </a:t>
            </a:r>
            <a:r>
              <a:rPr sz="2400" dirty="0">
                <a:solidFill>
                  <a:srgbClr val="0F2044"/>
                </a:solidFill>
                <a:latin typeface="Arial MT"/>
                <a:cs typeface="Arial MT"/>
              </a:rPr>
              <a:t>Carolina</a:t>
            </a:r>
            <a:r>
              <a:rPr sz="2400" spc="-70" dirty="0">
                <a:solidFill>
                  <a:srgbClr val="0F2044"/>
                </a:solidFill>
                <a:latin typeface="Arial MT"/>
                <a:cs typeface="Arial MT"/>
              </a:rPr>
              <a:t> </a:t>
            </a:r>
            <a:r>
              <a:rPr sz="2400" dirty="0">
                <a:solidFill>
                  <a:srgbClr val="0F2044"/>
                </a:solidFill>
                <a:latin typeface="Arial MT"/>
                <a:cs typeface="Arial MT"/>
              </a:rPr>
              <a:t>at</a:t>
            </a:r>
            <a:r>
              <a:rPr sz="2400" spc="-65" dirty="0">
                <a:solidFill>
                  <a:srgbClr val="0F2044"/>
                </a:solidFill>
                <a:latin typeface="Arial MT"/>
                <a:cs typeface="Arial MT"/>
              </a:rPr>
              <a:t> </a:t>
            </a:r>
            <a:r>
              <a:rPr sz="2400" spc="-10" dirty="0">
                <a:solidFill>
                  <a:srgbClr val="0F2044"/>
                </a:solidFill>
                <a:latin typeface="Arial MT"/>
                <a:cs typeface="Arial MT"/>
              </a:rPr>
              <a:t>Greensboro</a:t>
            </a:r>
            <a:endParaRPr sz="240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35436"/>
            <a:ext cx="1834514" cy="406400"/>
          </a:xfrm>
          <a:prstGeom prst="rect">
            <a:avLst/>
          </a:prstGeom>
        </p:spPr>
        <p:txBody>
          <a:bodyPr vert="horz" wrap="square" lIns="0" tIns="12700" rIns="0" bIns="0" rtlCol="0">
            <a:spAutoFit/>
          </a:bodyPr>
          <a:lstStyle/>
          <a:p>
            <a:pPr marL="12700">
              <a:lnSpc>
                <a:spcPct val="100000"/>
              </a:lnSpc>
              <a:spcBef>
                <a:spcPts val="100"/>
              </a:spcBef>
            </a:pPr>
            <a:r>
              <a:rPr dirty="0"/>
              <a:t>Status</a:t>
            </a:r>
            <a:r>
              <a:rPr spc="-30" dirty="0"/>
              <a:t> </a:t>
            </a:r>
            <a:r>
              <a:rPr spc="-10" dirty="0"/>
              <a:t>Check</a:t>
            </a:r>
          </a:p>
        </p:txBody>
      </p:sp>
      <p:sp>
        <p:nvSpPr>
          <p:cNvPr id="3" name="object 3"/>
          <p:cNvSpPr txBox="1"/>
          <p:nvPr/>
        </p:nvSpPr>
        <p:spPr>
          <a:xfrm>
            <a:off x="541325" y="1967655"/>
            <a:ext cx="5041900" cy="4547976"/>
          </a:xfrm>
          <a:prstGeom prst="rect">
            <a:avLst/>
          </a:prstGeom>
        </p:spPr>
        <p:txBody>
          <a:bodyPr vert="horz" wrap="square" lIns="0" tIns="12700" rIns="0" bIns="0" rtlCol="0">
            <a:spAutoFit/>
          </a:bodyPr>
          <a:lstStyle/>
          <a:p>
            <a:pPr marL="469265" indent="-366395">
              <a:lnSpc>
                <a:spcPct val="114000"/>
              </a:lnSpc>
              <a:spcBef>
                <a:spcPts val="100"/>
              </a:spcBef>
              <a:buChar char="●"/>
              <a:tabLst>
                <a:tab pos="469265" algn="l"/>
              </a:tabLst>
            </a:pPr>
            <a:r>
              <a:rPr sz="1800" spc="-10" dirty="0">
                <a:solidFill>
                  <a:srgbClr val="0F2044"/>
                </a:solidFill>
                <a:latin typeface="Arial MT"/>
                <a:cs typeface="Arial MT"/>
              </a:rPr>
              <a:t>malloc</a:t>
            </a:r>
            <a:endParaRPr sz="1800" dirty="0">
              <a:latin typeface="Arial MT"/>
              <a:cs typeface="Arial MT"/>
            </a:endParaRPr>
          </a:p>
          <a:p>
            <a:pPr marL="469265" indent="-366395">
              <a:lnSpc>
                <a:spcPct val="114000"/>
              </a:lnSpc>
              <a:buChar char="●"/>
              <a:tabLst>
                <a:tab pos="469265" algn="l"/>
              </a:tabLst>
            </a:pPr>
            <a:r>
              <a:rPr sz="1800" spc="-10" dirty="0">
                <a:solidFill>
                  <a:srgbClr val="0F2044"/>
                </a:solidFill>
                <a:latin typeface="Arial MT"/>
                <a:cs typeface="Arial MT"/>
              </a:rPr>
              <a:t>calloc</a:t>
            </a:r>
            <a:endParaRPr sz="1800" dirty="0">
              <a:latin typeface="Arial MT"/>
              <a:cs typeface="Arial MT"/>
            </a:endParaRPr>
          </a:p>
          <a:p>
            <a:pPr marL="469265" indent="-366395">
              <a:lnSpc>
                <a:spcPct val="114000"/>
              </a:lnSpc>
              <a:buChar char="●"/>
              <a:tabLst>
                <a:tab pos="469265" algn="l"/>
              </a:tabLst>
            </a:pPr>
            <a:r>
              <a:rPr sz="1800" spc="-10" dirty="0">
                <a:solidFill>
                  <a:srgbClr val="0F2044"/>
                </a:solidFill>
                <a:latin typeface="Arial MT"/>
                <a:cs typeface="Arial MT"/>
              </a:rPr>
              <a:t>realloc</a:t>
            </a:r>
            <a:endParaRPr sz="1800" dirty="0">
              <a:latin typeface="Arial MT"/>
              <a:cs typeface="Arial MT"/>
            </a:endParaRPr>
          </a:p>
          <a:p>
            <a:pPr marL="469265" indent="-366395">
              <a:lnSpc>
                <a:spcPct val="114000"/>
              </a:lnSpc>
              <a:buChar char="●"/>
              <a:tabLst>
                <a:tab pos="469265" algn="l"/>
              </a:tabLst>
            </a:pPr>
            <a:r>
              <a:rPr sz="1800" spc="-20" dirty="0">
                <a:solidFill>
                  <a:srgbClr val="0F2044"/>
                </a:solidFill>
                <a:latin typeface="Arial MT"/>
                <a:cs typeface="Arial MT"/>
              </a:rPr>
              <a:t>free</a:t>
            </a:r>
            <a:endParaRPr sz="1800" dirty="0">
              <a:latin typeface="Arial MT"/>
              <a:cs typeface="Arial MT"/>
            </a:endParaRPr>
          </a:p>
          <a:p>
            <a:pPr marL="12700">
              <a:lnSpc>
                <a:spcPct val="114000"/>
              </a:lnSpc>
              <a:spcBef>
                <a:spcPts val="1690"/>
              </a:spcBef>
            </a:pPr>
            <a:r>
              <a:rPr sz="2500" dirty="0">
                <a:solidFill>
                  <a:srgbClr val="0F2044"/>
                </a:solidFill>
                <a:latin typeface="Georgia"/>
                <a:cs typeface="Georgia"/>
              </a:rPr>
              <a:t>What</a:t>
            </a:r>
            <a:r>
              <a:rPr sz="2500" spc="-35" dirty="0">
                <a:solidFill>
                  <a:srgbClr val="0F2044"/>
                </a:solidFill>
                <a:latin typeface="Georgia"/>
                <a:cs typeface="Georgia"/>
              </a:rPr>
              <a:t> </a:t>
            </a:r>
            <a:r>
              <a:rPr sz="2500" dirty="0">
                <a:solidFill>
                  <a:srgbClr val="0F2044"/>
                </a:solidFill>
                <a:latin typeface="Georgia"/>
                <a:cs typeface="Georgia"/>
              </a:rPr>
              <a:t>we</a:t>
            </a:r>
            <a:r>
              <a:rPr sz="2500" spc="-35" dirty="0">
                <a:solidFill>
                  <a:srgbClr val="0F2044"/>
                </a:solidFill>
                <a:latin typeface="Georgia"/>
                <a:cs typeface="Georgia"/>
              </a:rPr>
              <a:t> </a:t>
            </a:r>
            <a:r>
              <a:rPr sz="2500" dirty="0">
                <a:solidFill>
                  <a:srgbClr val="0F2044"/>
                </a:solidFill>
                <a:latin typeface="Georgia"/>
                <a:cs typeface="Georgia"/>
              </a:rPr>
              <a:t>will</a:t>
            </a:r>
            <a:r>
              <a:rPr sz="2500" spc="-35" dirty="0">
                <a:solidFill>
                  <a:srgbClr val="0F2044"/>
                </a:solidFill>
                <a:latin typeface="Georgia"/>
                <a:cs typeface="Georgia"/>
              </a:rPr>
              <a:t> </a:t>
            </a:r>
            <a:r>
              <a:rPr sz="2500" dirty="0">
                <a:solidFill>
                  <a:srgbClr val="0F2044"/>
                </a:solidFill>
                <a:latin typeface="Georgia"/>
                <a:cs typeface="Georgia"/>
              </a:rPr>
              <a:t>cover</a:t>
            </a:r>
            <a:r>
              <a:rPr sz="2500" spc="-30" dirty="0">
                <a:solidFill>
                  <a:srgbClr val="0F2044"/>
                </a:solidFill>
                <a:latin typeface="Georgia"/>
                <a:cs typeface="Georgia"/>
              </a:rPr>
              <a:t> </a:t>
            </a:r>
            <a:r>
              <a:rPr sz="2500" spc="-20" dirty="0">
                <a:solidFill>
                  <a:srgbClr val="0F2044"/>
                </a:solidFill>
                <a:latin typeface="Georgia"/>
                <a:cs typeface="Georgia"/>
              </a:rPr>
              <a:t>today</a:t>
            </a:r>
            <a:endParaRPr sz="2500" dirty="0">
              <a:latin typeface="Georgia"/>
              <a:cs typeface="Georgia"/>
            </a:endParaRPr>
          </a:p>
          <a:p>
            <a:pPr marL="469265" indent="-366395">
              <a:lnSpc>
                <a:spcPct val="114000"/>
              </a:lnSpc>
              <a:spcBef>
                <a:spcPts val="880"/>
              </a:spcBef>
              <a:buChar char="●"/>
              <a:tabLst>
                <a:tab pos="469265" algn="l"/>
              </a:tabLst>
            </a:pPr>
            <a:r>
              <a:rPr sz="1800" dirty="0">
                <a:solidFill>
                  <a:srgbClr val="0F2044"/>
                </a:solidFill>
                <a:latin typeface="Arial MT"/>
                <a:cs typeface="Arial MT"/>
              </a:rPr>
              <a:t>Preprocessor</a:t>
            </a:r>
            <a:r>
              <a:rPr sz="1800" spc="-5" dirty="0">
                <a:solidFill>
                  <a:srgbClr val="0F2044"/>
                </a:solidFill>
                <a:latin typeface="Arial MT"/>
                <a:cs typeface="Arial MT"/>
              </a:rPr>
              <a:t> </a:t>
            </a:r>
            <a:r>
              <a:rPr sz="1800" spc="-10" dirty="0">
                <a:solidFill>
                  <a:srgbClr val="0F2044"/>
                </a:solidFill>
                <a:latin typeface="Arial MT"/>
                <a:cs typeface="Arial MT"/>
              </a:rPr>
              <a:t>directives</a:t>
            </a:r>
            <a:endParaRPr sz="1800" dirty="0">
              <a:latin typeface="Arial MT"/>
              <a:cs typeface="Arial MT"/>
            </a:endParaRPr>
          </a:p>
          <a:p>
            <a:pPr marL="926465" lvl="1" indent="-366395">
              <a:lnSpc>
                <a:spcPct val="114000"/>
              </a:lnSpc>
              <a:buChar char="○"/>
              <a:tabLst>
                <a:tab pos="926465" algn="l"/>
              </a:tabLst>
            </a:pPr>
            <a:r>
              <a:rPr sz="1800" b="1" spc="-10" dirty="0">
                <a:solidFill>
                  <a:srgbClr val="0F2044"/>
                </a:solidFill>
                <a:latin typeface="Arial"/>
                <a:cs typeface="Arial"/>
              </a:rPr>
              <a:t>#define</a:t>
            </a:r>
            <a:endParaRPr sz="1800" dirty="0">
              <a:latin typeface="Arial"/>
              <a:cs typeface="Arial"/>
            </a:endParaRPr>
          </a:p>
          <a:p>
            <a:pPr marL="926465" lvl="1" indent="-366395">
              <a:lnSpc>
                <a:spcPct val="114000"/>
              </a:lnSpc>
              <a:buChar char="○"/>
              <a:tabLst>
                <a:tab pos="926465" algn="l"/>
              </a:tabLst>
            </a:pPr>
            <a:r>
              <a:rPr sz="1800" b="1" spc="-25" dirty="0">
                <a:solidFill>
                  <a:srgbClr val="0F2044"/>
                </a:solidFill>
                <a:latin typeface="Arial"/>
                <a:cs typeface="Arial"/>
              </a:rPr>
              <a:t>#if</a:t>
            </a:r>
            <a:endParaRPr sz="1800" dirty="0">
              <a:latin typeface="Arial"/>
              <a:cs typeface="Arial"/>
            </a:endParaRPr>
          </a:p>
          <a:p>
            <a:pPr marL="926465" lvl="1" indent="-366395">
              <a:lnSpc>
                <a:spcPct val="114000"/>
              </a:lnSpc>
              <a:buChar char="○"/>
              <a:tabLst>
                <a:tab pos="926465" algn="l"/>
              </a:tabLst>
            </a:pPr>
            <a:r>
              <a:rPr sz="1800" b="1" spc="-10" dirty="0">
                <a:solidFill>
                  <a:srgbClr val="0F2044"/>
                </a:solidFill>
                <a:latin typeface="Arial"/>
                <a:cs typeface="Arial"/>
              </a:rPr>
              <a:t>#ifdef</a:t>
            </a:r>
            <a:endParaRPr sz="1800" dirty="0">
              <a:latin typeface="Arial"/>
              <a:cs typeface="Arial"/>
            </a:endParaRPr>
          </a:p>
          <a:p>
            <a:pPr marL="926465" lvl="1" indent="-366395">
              <a:lnSpc>
                <a:spcPct val="114000"/>
              </a:lnSpc>
              <a:buChar char="○"/>
              <a:tabLst>
                <a:tab pos="926465" algn="l"/>
              </a:tabLst>
            </a:pPr>
            <a:r>
              <a:rPr sz="1800" b="1" spc="-10" dirty="0">
                <a:solidFill>
                  <a:srgbClr val="0F2044"/>
                </a:solidFill>
                <a:latin typeface="Arial"/>
                <a:cs typeface="Arial"/>
              </a:rPr>
              <a:t>#ifndef</a:t>
            </a:r>
            <a:endParaRPr sz="1800" dirty="0">
              <a:latin typeface="Arial"/>
              <a:cs typeface="Arial"/>
            </a:endParaRPr>
          </a:p>
          <a:p>
            <a:pPr marL="926465" lvl="1" indent="-366395">
              <a:lnSpc>
                <a:spcPct val="114000"/>
              </a:lnSpc>
              <a:buChar char="○"/>
              <a:tabLst>
                <a:tab pos="926465" algn="l"/>
              </a:tabLst>
            </a:pPr>
            <a:r>
              <a:rPr sz="1800" b="1" spc="-10" dirty="0">
                <a:solidFill>
                  <a:srgbClr val="0F2044"/>
                </a:solidFill>
                <a:latin typeface="Arial"/>
                <a:cs typeface="Arial"/>
              </a:rPr>
              <a:t>#undef</a:t>
            </a:r>
            <a:endParaRPr sz="1800" dirty="0">
              <a:latin typeface="Arial"/>
              <a:cs typeface="Arial"/>
            </a:endParaRPr>
          </a:p>
          <a:p>
            <a:pPr marL="469265" indent="-366395">
              <a:lnSpc>
                <a:spcPct val="114000"/>
              </a:lnSpc>
              <a:buChar char="●"/>
              <a:tabLst>
                <a:tab pos="469265" algn="l"/>
              </a:tabLst>
            </a:pPr>
            <a:r>
              <a:rPr sz="1800" dirty="0">
                <a:solidFill>
                  <a:srgbClr val="0F2044"/>
                </a:solidFill>
                <a:latin typeface="Arial MT"/>
                <a:cs typeface="Arial MT"/>
              </a:rPr>
              <a:t>Macro</a:t>
            </a:r>
            <a:r>
              <a:rPr sz="1800" spc="-20" dirty="0">
                <a:solidFill>
                  <a:srgbClr val="0F2044"/>
                </a:solidFill>
                <a:latin typeface="Arial MT"/>
                <a:cs typeface="Arial MT"/>
              </a:rPr>
              <a:t> </a:t>
            </a:r>
            <a:r>
              <a:rPr sz="1800" dirty="0">
                <a:solidFill>
                  <a:srgbClr val="0F2044"/>
                </a:solidFill>
                <a:latin typeface="Arial MT"/>
                <a:cs typeface="Arial MT"/>
              </a:rPr>
              <a:t>Expansions</a:t>
            </a:r>
            <a:r>
              <a:rPr sz="1800" spc="-15" dirty="0">
                <a:solidFill>
                  <a:srgbClr val="0F2044"/>
                </a:solidFill>
                <a:latin typeface="Arial MT"/>
                <a:cs typeface="Arial MT"/>
              </a:rPr>
              <a:t> </a:t>
            </a:r>
            <a:r>
              <a:rPr sz="1800" dirty="0">
                <a:solidFill>
                  <a:srgbClr val="0F2044"/>
                </a:solidFill>
                <a:latin typeface="Arial MT"/>
                <a:cs typeface="Arial MT"/>
              </a:rPr>
              <a:t>-</a:t>
            </a:r>
            <a:r>
              <a:rPr sz="1800" spc="-15" dirty="0">
                <a:solidFill>
                  <a:srgbClr val="0F2044"/>
                </a:solidFill>
                <a:latin typeface="Arial MT"/>
                <a:cs typeface="Arial MT"/>
              </a:rPr>
              <a:t> </a:t>
            </a:r>
            <a:r>
              <a:rPr sz="1800" dirty="0">
                <a:solidFill>
                  <a:srgbClr val="0F2044"/>
                </a:solidFill>
                <a:latin typeface="Arial MT"/>
                <a:cs typeface="Arial MT"/>
              </a:rPr>
              <a:t>simple</a:t>
            </a:r>
            <a:r>
              <a:rPr sz="1800" spc="-15" dirty="0">
                <a:solidFill>
                  <a:srgbClr val="0F2044"/>
                </a:solidFill>
                <a:latin typeface="Arial MT"/>
                <a:cs typeface="Arial MT"/>
              </a:rPr>
              <a:t> </a:t>
            </a:r>
            <a:r>
              <a:rPr sz="1800" dirty="0">
                <a:solidFill>
                  <a:srgbClr val="0F2044"/>
                </a:solidFill>
                <a:latin typeface="Arial MT"/>
                <a:cs typeface="Arial MT"/>
              </a:rPr>
              <a:t>vs</a:t>
            </a:r>
            <a:r>
              <a:rPr sz="1800" spc="-15" dirty="0">
                <a:solidFill>
                  <a:srgbClr val="0F2044"/>
                </a:solidFill>
                <a:latin typeface="Arial MT"/>
                <a:cs typeface="Arial MT"/>
              </a:rPr>
              <a:t> </a:t>
            </a:r>
            <a:r>
              <a:rPr sz="1800" spc="-10" dirty="0">
                <a:solidFill>
                  <a:srgbClr val="0F2044"/>
                </a:solidFill>
                <a:latin typeface="Arial MT"/>
                <a:cs typeface="Arial MT"/>
              </a:rPr>
              <a:t>parameterized</a:t>
            </a:r>
            <a:endParaRPr sz="1800" dirty="0">
              <a:latin typeface="Arial MT"/>
              <a:cs typeface="Arial MT"/>
            </a:endParaRPr>
          </a:p>
          <a:p>
            <a:pPr marL="469265" indent="-366395">
              <a:lnSpc>
                <a:spcPct val="114000"/>
              </a:lnSpc>
              <a:buChar char="●"/>
              <a:tabLst>
                <a:tab pos="469265" algn="l"/>
              </a:tabLst>
            </a:pPr>
            <a:r>
              <a:rPr sz="1800" dirty="0">
                <a:solidFill>
                  <a:srgbClr val="0F2044"/>
                </a:solidFill>
                <a:latin typeface="Arial MT"/>
                <a:cs typeface="Arial MT"/>
              </a:rPr>
              <a:t>File</a:t>
            </a:r>
            <a:r>
              <a:rPr sz="1800" spc="-20" dirty="0">
                <a:solidFill>
                  <a:srgbClr val="0F2044"/>
                </a:solidFill>
                <a:latin typeface="Arial MT"/>
                <a:cs typeface="Arial MT"/>
              </a:rPr>
              <a:t> </a:t>
            </a:r>
            <a:r>
              <a:rPr sz="1800" spc="-10" dirty="0">
                <a:solidFill>
                  <a:srgbClr val="0F2044"/>
                </a:solidFill>
                <a:latin typeface="Arial MT"/>
                <a:cs typeface="Arial MT"/>
              </a:rPr>
              <a:t>Inclusion</a:t>
            </a:r>
            <a:endParaRPr sz="1800" dirty="0">
              <a:latin typeface="Arial MT"/>
              <a:cs typeface="Arial MT"/>
            </a:endParaRPr>
          </a:p>
        </p:txBody>
      </p:sp>
      <p:pic>
        <p:nvPicPr>
          <p:cNvPr id="4" name="object 4">
            <a:extLst>
              <a:ext uri="{C183D7F6-B498-43B3-948B-1728B52AA6E4}">
                <adec:decorative xmlns:adec="http://schemas.microsoft.com/office/drawing/2017/decorative" val="1"/>
              </a:ext>
            </a:extLst>
          </p:cNvPr>
          <p:cNvPicPr/>
          <p:nvPr/>
        </p:nvPicPr>
        <p:blipFill>
          <a:blip r:embed="rId3" cstate="print"/>
          <a:stretch>
            <a:fillRect/>
          </a:stretch>
        </p:blipFill>
        <p:spPr>
          <a:xfrm>
            <a:off x="7882518" y="2216065"/>
            <a:ext cx="3208348" cy="274389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2">
            <a:extLst>
              <a:ext uri="{FF2B5EF4-FFF2-40B4-BE49-F238E27FC236}">
                <a16:creationId xmlns:a16="http://schemas.microsoft.com/office/drawing/2014/main" id="{AF7657CA-F9F6-4360-3F84-B23C8286933A}"/>
              </a:ext>
            </a:extLst>
          </p:cNvPr>
          <p:cNvSpPr txBox="1">
            <a:spLocks noGrp="1"/>
          </p:cNvSpPr>
          <p:nvPr>
            <p:ph type="title" idx="4294967295"/>
          </p:nvPr>
        </p:nvSpPr>
        <p:spPr>
          <a:xfrm>
            <a:off x="344144" y="1420908"/>
            <a:ext cx="2678430" cy="681989"/>
          </a:xfrm>
          <a:prstGeom prst="rect">
            <a:avLst/>
          </a:prstGeom>
          <a:noFill/>
          <a:ln>
            <a:noFill/>
            <a:prstDash/>
          </a:ln>
          <a:effectLst/>
        </p:spPr>
        <p:txBody>
          <a:bodyPr rot="0" spcFirstLastPara="0" vertOverflow="overflow" horzOverflow="overflow" vert="horz" wrap="square" lIns="0" tIns="12700" rIns="0" bIns="0" numCol="1" spcCol="0" rtlCol="0" fromWordArt="0" anchor="t" anchorCtr="0" forceAA="0" compatLnSpc="1">
            <a:prstTxWarp prst="textNoShape">
              <a:avLst/>
            </a:prstTxWarp>
            <a:spAutoFit/>
          </a:bodyPr>
          <a:lstStyle>
            <a:lvl1pPr>
              <a:defRPr>
                <a:latin typeface="+mj-lt"/>
                <a:ea typeface="+mj-ea"/>
                <a:cs typeface="+mj-cs"/>
              </a:defRPr>
            </a:lvl1pPr>
          </a:lstStyle>
          <a:p>
            <a:pPr marL="12700" marR="0" lvl="0" indent="0" defTabSz="914400" eaLnBrk="1" fontAlgn="auto" latinLnBrk="0" hangingPunct="1">
              <a:lnSpc>
                <a:spcPts val="2885"/>
              </a:lnSpc>
              <a:spcBef>
                <a:spcPts val="100"/>
              </a:spcBef>
              <a:spcAft>
                <a:spcPts val="0"/>
              </a:spcAft>
              <a:buClrTx/>
              <a:buSzTx/>
              <a:buFontTx/>
              <a:buNone/>
              <a:tabLst/>
              <a:defRPr/>
            </a:pPr>
            <a:r>
              <a:rPr kumimoji="0" lang="en-US" sz="2500" b="0" i="0" u="none" strike="noStrike" kern="0" cap="none" spc="0" normalizeH="0" baseline="0" noProof="0" dirty="0">
                <a:ln>
                  <a:noFill/>
                </a:ln>
                <a:solidFill>
                  <a:sysClr val="windowText" lastClr="000000"/>
                </a:solidFill>
                <a:effectLst/>
                <a:uLnTx/>
                <a:uFillTx/>
                <a:latin typeface="Georgia" panose="02040502050405020303" pitchFamily="18" charset="0"/>
                <a:ea typeface="+mj-ea"/>
                <a:cs typeface="+mj-cs"/>
              </a:rPr>
              <a:t>C</a:t>
            </a:r>
            <a:r>
              <a:rPr kumimoji="0" lang="en-US" sz="2500" b="0" i="0" u="none" strike="noStrike" kern="0" cap="none" spc="-5" normalizeH="0" baseline="0" noProof="0" dirty="0">
                <a:ln>
                  <a:noFill/>
                </a:ln>
                <a:solidFill>
                  <a:sysClr val="windowText" lastClr="000000"/>
                </a:solidFill>
                <a:effectLst/>
                <a:uLnTx/>
                <a:uFillTx/>
                <a:latin typeface="Georgia" panose="02040502050405020303" pitchFamily="18" charset="0"/>
                <a:ea typeface="+mj-ea"/>
                <a:cs typeface="+mj-cs"/>
              </a:rPr>
              <a:t> </a:t>
            </a:r>
            <a:r>
              <a:rPr kumimoji="0" lang="en-US" sz="2500" b="0" i="0" u="none" strike="noStrike" kern="0" cap="none" spc="-10" normalizeH="0" baseline="0" noProof="0" dirty="0">
                <a:ln>
                  <a:noFill/>
                </a:ln>
                <a:solidFill>
                  <a:sysClr val="windowText" lastClr="000000"/>
                </a:solidFill>
                <a:effectLst/>
                <a:uLnTx/>
                <a:uFillTx/>
                <a:latin typeface="Georgia" panose="02040502050405020303" pitchFamily="18" charset="0"/>
                <a:ea typeface="+mj-ea"/>
                <a:cs typeface="+mj-cs"/>
              </a:rPr>
              <a:t>Preprocessor</a:t>
            </a:r>
          </a:p>
          <a:p>
            <a:pPr marL="12700" marR="0" lvl="0" indent="0" defTabSz="914400" eaLnBrk="1" fontAlgn="auto" latinLnBrk="0" hangingPunct="1">
              <a:lnSpc>
                <a:spcPts val="2285"/>
              </a:lnSpc>
              <a:spcBef>
                <a:spcPts val="0"/>
              </a:spcBef>
              <a:spcAft>
                <a:spcPts val="0"/>
              </a:spcAft>
              <a:buClrTx/>
              <a:buSzTx/>
              <a:buFontTx/>
              <a:buNone/>
              <a:tabLst/>
              <a:defRPr/>
            </a:pPr>
            <a:r>
              <a:rPr kumimoji="0" lang="en-US" sz="2000" b="0" i="0" u="none" strike="noStrike" kern="0" cap="none" spc="-10" normalizeH="0" baseline="0" noProof="0" dirty="0">
                <a:ln>
                  <a:noFill/>
                </a:ln>
                <a:solidFill>
                  <a:sysClr val="windowText" lastClr="000000"/>
                </a:solidFill>
                <a:effectLst/>
                <a:uLnTx/>
                <a:uFillTx/>
                <a:latin typeface="Georgia" panose="02040502050405020303" pitchFamily="18" charset="0"/>
                <a:ea typeface="+mj-ea"/>
                <a:cs typeface="+mj-cs"/>
              </a:rPr>
              <a:t>Overview</a:t>
            </a:r>
            <a:endParaRPr kumimoji="0" lang="en-US" sz="2000" b="0" i="0" u="none" strike="noStrike" kern="0" cap="none" spc="0" normalizeH="0" baseline="0" noProof="0" dirty="0">
              <a:ln>
                <a:noFill/>
              </a:ln>
              <a:solidFill>
                <a:sysClr val="windowText" lastClr="000000"/>
              </a:solidFill>
              <a:effectLst/>
              <a:uLnTx/>
              <a:uFillTx/>
              <a:latin typeface="Georgia" panose="02040502050405020303" pitchFamily="18" charset="0"/>
              <a:ea typeface="+mj-ea"/>
              <a:cs typeface="+mj-cs"/>
            </a:endParaRPr>
          </a:p>
        </p:txBody>
      </p:sp>
      <p:pic>
        <p:nvPicPr>
          <p:cNvPr id="6" name="object 6">
            <a:extLst>
              <a:ext uri="{C183D7F6-B498-43B3-948B-1728B52AA6E4}">
                <adec:decorative xmlns:adec="http://schemas.microsoft.com/office/drawing/2017/decorative" val="1"/>
              </a:ext>
            </a:extLst>
          </p:cNvPr>
          <p:cNvPicPr/>
          <p:nvPr/>
        </p:nvPicPr>
        <p:blipFill>
          <a:blip r:embed="rId3" cstate="print"/>
          <a:stretch>
            <a:fillRect/>
          </a:stretch>
        </p:blipFill>
        <p:spPr>
          <a:xfrm>
            <a:off x="218775" y="2598175"/>
            <a:ext cx="3591225" cy="754625"/>
          </a:xfrm>
          <a:prstGeom prst="rect">
            <a:avLst/>
          </a:prstGeom>
        </p:spPr>
      </p:pic>
      <p:sp>
        <p:nvSpPr>
          <p:cNvPr id="7" name="object 7"/>
          <p:cNvSpPr txBox="1"/>
          <p:nvPr/>
        </p:nvSpPr>
        <p:spPr>
          <a:xfrm>
            <a:off x="328206" y="3634611"/>
            <a:ext cx="3481794" cy="1802481"/>
          </a:xfrm>
          <a:prstGeom prst="rect">
            <a:avLst/>
          </a:prstGeom>
        </p:spPr>
        <p:txBody>
          <a:bodyPr vert="horz" wrap="square" lIns="0" tIns="12700" rIns="0" bIns="0" rtlCol="0">
            <a:spAutoFit/>
          </a:bodyPr>
          <a:lstStyle/>
          <a:p>
            <a:pPr marL="12700" marR="5080">
              <a:lnSpc>
                <a:spcPct val="150000"/>
              </a:lnSpc>
              <a:spcBef>
                <a:spcPts val="100"/>
              </a:spcBef>
            </a:pPr>
            <a:r>
              <a:rPr sz="2000" dirty="0">
                <a:latin typeface="Arial MT"/>
                <a:cs typeface="Arial MT"/>
              </a:rPr>
              <a:t>Run</a:t>
            </a:r>
            <a:r>
              <a:rPr sz="2000" spc="-20" dirty="0">
                <a:latin typeface="Arial MT"/>
                <a:cs typeface="Arial MT"/>
              </a:rPr>
              <a:t> </a:t>
            </a:r>
            <a:r>
              <a:rPr sz="2000" dirty="0">
                <a:latin typeface="Arial MT"/>
                <a:cs typeface="Arial MT"/>
              </a:rPr>
              <a:t>Code</a:t>
            </a:r>
            <a:r>
              <a:rPr sz="2000" spc="-15" dirty="0">
                <a:latin typeface="Arial MT"/>
                <a:cs typeface="Arial MT"/>
              </a:rPr>
              <a:t> </a:t>
            </a:r>
            <a:r>
              <a:rPr sz="2000" dirty="0">
                <a:latin typeface="Arial MT"/>
                <a:cs typeface="Arial MT"/>
              </a:rPr>
              <a:t>triggers</a:t>
            </a:r>
            <a:r>
              <a:rPr sz="2000" spc="-20" dirty="0">
                <a:latin typeface="Arial MT"/>
                <a:cs typeface="Arial MT"/>
              </a:rPr>
              <a:t> </a:t>
            </a:r>
            <a:r>
              <a:rPr sz="2000" dirty="0">
                <a:latin typeface="Arial MT"/>
                <a:cs typeface="Arial MT"/>
              </a:rPr>
              <a:t>the</a:t>
            </a:r>
            <a:r>
              <a:rPr sz="2000" spc="-15" dirty="0">
                <a:latin typeface="Arial MT"/>
                <a:cs typeface="Arial MT"/>
              </a:rPr>
              <a:t> </a:t>
            </a:r>
            <a:r>
              <a:rPr sz="2000" dirty="0">
                <a:latin typeface="Arial MT"/>
                <a:cs typeface="Arial MT"/>
              </a:rPr>
              <a:t>entire</a:t>
            </a:r>
            <a:r>
              <a:rPr sz="2000" spc="-15" dirty="0">
                <a:latin typeface="Arial MT"/>
                <a:cs typeface="Arial MT"/>
              </a:rPr>
              <a:t> </a:t>
            </a:r>
            <a:r>
              <a:rPr sz="2000" spc="-10" dirty="0">
                <a:latin typeface="Arial MT"/>
                <a:cs typeface="Arial MT"/>
              </a:rPr>
              <a:t>process, </a:t>
            </a:r>
            <a:r>
              <a:rPr sz="2000" dirty="0">
                <a:latin typeface="Arial MT"/>
                <a:cs typeface="Arial MT"/>
              </a:rPr>
              <a:t>including</a:t>
            </a:r>
            <a:r>
              <a:rPr sz="2000" spc="-55" dirty="0">
                <a:latin typeface="Arial MT"/>
                <a:cs typeface="Arial MT"/>
              </a:rPr>
              <a:t> </a:t>
            </a:r>
            <a:r>
              <a:rPr sz="2000" b="1" dirty="0">
                <a:latin typeface="Arial"/>
                <a:cs typeface="Arial"/>
              </a:rPr>
              <a:t>preprocessing</a:t>
            </a:r>
            <a:r>
              <a:rPr sz="2000" dirty="0">
                <a:latin typeface="Arial MT"/>
                <a:cs typeface="Arial MT"/>
              </a:rPr>
              <a:t>,</a:t>
            </a:r>
            <a:r>
              <a:rPr sz="2000" spc="-40" dirty="0">
                <a:latin typeface="Arial MT"/>
                <a:cs typeface="Arial MT"/>
              </a:rPr>
              <a:t> </a:t>
            </a:r>
            <a:r>
              <a:rPr sz="2000" b="1" spc="-10" dirty="0">
                <a:latin typeface="Arial"/>
                <a:cs typeface="Arial"/>
              </a:rPr>
              <a:t>compilation</a:t>
            </a:r>
            <a:r>
              <a:rPr sz="2000" spc="-10" dirty="0">
                <a:latin typeface="Arial MT"/>
                <a:cs typeface="Arial MT"/>
              </a:rPr>
              <a:t>, </a:t>
            </a:r>
            <a:r>
              <a:rPr sz="2000" b="1" dirty="0">
                <a:latin typeface="Arial"/>
                <a:cs typeface="Arial"/>
              </a:rPr>
              <a:t>linking</a:t>
            </a:r>
            <a:r>
              <a:rPr sz="2000" dirty="0">
                <a:latin typeface="Arial MT"/>
                <a:cs typeface="Arial MT"/>
              </a:rPr>
              <a:t>,</a:t>
            </a:r>
            <a:r>
              <a:rPr sz="2000" spc="-55" dirty="0">
                <a:latin typeface="Arial MT"/>
                <a:cs typeface="Arial MT"/>
              </a:rPr>
              <a:t> </a:t>
            </a:r>
            <a:r>
              <a:rPr sz="2000" dirty="0">
                <a:latin typeface="Arial MT"/>
                <a:cs typeface="Arial MT"/>
              </a:rPr>
              <a:t>and</a:t>
            </a:r>
            <a:r>
              <a:rPr sz="2000" spc="-45" dirty="0">
                <a:latin typeface="Arial MT"/>
                <a:cs typeface="Arial MT"/>
              </a:rPr>
              <a:t> </a:t>
            </a:r>
            <a:r>
              <a:rPr sz="2000" b="1" spc="-10" dirty="0">
                <a:latin typeface="Arial"/>
                <a:cs typeface="Arial"/>
              </a:rPr>
              <a:t>execution</a:t>
            </a:r>
            <a:r>
              <a:rPr sz="2000" spc="-10" dirty="0">
                <a:latin typeface="Arial MT"/>
                <a:cs typeface="Arial MT"/>
              </a:rPr>
              <a:t>.</a:t>
            </a:r>
            <a:endParaRPr sz="2000" dirty="0">
              <a:latin typeface="Arial MT"/>
              <a:cs typeface="Arial MT"/>
            </a:endParaRPr>
          </a:p>
        </p:txBody>
      </p:sp>
      <p:grpSp>
        <p:nvGrpSpPr>
          <p:cNvPr id="2" name="object 2" descr="A flowchart titled &quot;The compilation Process&quot; showing a vertical stack of four components: Pre-processor, Compiler, Assembler, and Linker. It tracks the flow from Source code (.c file) at the top to an Executable file at the bottom, with side paths for Assembly Code, Libraries, and Object files (.o)."/>
          <p:cNvGrpSpPr/>
          <p:nvPr/>
        </p:nvGrpSpPr>
        <p:grpSpPr>
          <a:xfrm>
            <a:off x="3962401" y="914400"/>
            <a:ext cx="8077200" cy="5715000"/>
            <a:chOff x="4820849" y="1240399"/>
            <a:chExt cx="7091045" cy="4944110"/>
          </a:xfrm>
        </p:grpSpPr>
        <p:pic>
          <p:nvPicPr>
            <p:cNvPr id="3" name="object 3"/>
            <p:cNvPicPr/>
            <p:nvPr/>
          </p:nvPicPr>
          <p:blipFill>
            <a:blip r:embed="rId4" cstate="print"/>
            <a:stretch>
              <a:fillRect/>
            </a:stretch>
          </p:blipFill>
          <p:spPr>
            <a:xfrm>
              <a:off x="5517338" y="1330744"/>
              <a:ext cx="5778570" cy="4525879"/>
            </a:xfrm>
            <a:prstGeom prst="rect">
              <a:avLst/>
            </a:prstGeom>
          </p:spPr>
        </p:pic>
        <p:sp>
          <p:nvSpPr>
            <p:cNvPr id="4" name="object 4"/>
            <p:cNvSpPr/>
            <p:nvPr/>
          </p:nvSpPr>
          <p:spPr>
            <a:xfrm>
              <a:off x="4825612" y="1245162"/>
              <a:ext cx="7081520" cy="4934585"/>
            </a:xfrm>
            <a:custGeom>
              <a:avLst/>
              <a:gdLst/>
              <a:ahLst/>
              <a:cxnLst/>
              <a:rect l="l" t="t" r="r" b="b"/>
              <a:pathLst>
                <a:path w="7081520" h="4934585">
                  <a:moveTo>
                    <a:pt x="0" y="0"/>
                  </a:moveTo>
                  <a:lnTo>
                    <a:pt x="7081202" y="0"/>
                  </a:lnTo>
                  <a:lnTo>
                    <a:pt x="7081202" y="4934449"/>
                  </a:lnTo>
                  <a:lnTo>
                    <a:pt x="0" y="4934449"/>
                  </a:lnTo>
                  <a:lnTo>
                    <a:pt x="0" y="0"/>
                  </a:lnTo>
                  <a:close/>
                </a:path>
              </a:pathLst>
            </a:custGeom>
            <a:ln w="9524">
              <a:solidFill>
                <a:srgbClr val="0F2044"/>
              </a:solidFill>
            </a:ln>
          </p:spPr>
          <p:txBody>
            <a:bodyPr wrap="square" lIns="0" tIns="0" rIns="0" bIns="0" rtlCol="0"/>
            <a:lstStyle/>
            <a:p>
              <a:endParaRPr/>
            </a:p>
          </p:txBody>
        </p:sp>
      </p:grpSp>
      <p:sp>
        <p:nvSpPr>
          <p:cNvPr id="5" name="object 5">
            <a:extLst>
              <a:ext uri="{C183D7F6-B498-43B3-948B-1728B52AA6E4}">
                <adec:decorative xmlns:adec="http://schemas.microsoft.com/office/drawing/2017/decorative" val="1"/>
              </a:ext>
            </a:extLst>
          </p:cNvPr>
          <p:cNvSpPr txBox="1"/>
          <p:nvPr/>
        </p:nvSpPr>
        <p:spPr>
          <a:xfrm>
            <a:off x="9525000" y="6348243"/>
            <a:ext cx="2312670"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0" dirty="0">
                <a:solidFill>
                  <a:srgbClr val="0F2044"/>
                </a:solidFill>
                <a:latin typeface="Arial MT"/>
                <a:cs typeface="Arial MT"/>
              </a:rPr>
              <a:t> </a:t>
            </a:r>
            <a:r>
              <a:rPr sz="1000" dirty="0">
                <a:solidFill>
                  <a:srgbClr val="0F2044"/>
                </a:solidFill>
                <a:latin typeface="Arial MT"/>
                <a:cs typeface="Arial MT"/>
              </a:rPr>
              <a:t>credit</a:t>
            </a:r>
            <a:r>
              <a:rPr sz="1000" spc="-15" dirty="0">
                <a:solidFill>
                  <a:srgbClr val="0F2044"/>
                </a:solidFill>
                <a:latin typeface="Arial MT"/>
                <a:cs typeface="Arial MT"/>
              </a:rPr>
              <a:t> </a:t>
            </a:r>
            <a:r>
              <a:rPr sz="1000" dirty="0">
                <a:solidFill>
                  <a:srgbClr val="0F2044"/>
                </a:solidFill>
                <a:latin typeface="Arial MT"/>
                <a:cs typeface="Arial MT"/>
              </a:rPr>
              <a:t>-</a:t>
            </a:r>
            <a:r>
              <a:rPr sz="1000" spc="-15" dirty="0">
                <a:solidFill>
                  <a:srgbClr val="0F2044"/>
                </a:solidFill>
                <a:latin typeface="Arial MT"/>
                <a:cs typeface="Arial MT"/>
              </a:rPr>
              <a:t> </a:t>
            </a:r>
            <a:r>
              <a:rPr sz="1000" dirty="0">
                <a:solidFill>
                  <a:srgbClr val="0F2044"/>
                </a:solidFill>
                <a:latin typeface="Arial MT"/>
                <a:cs typeface="Arial MT"/>
              </a:rPr>
              <a:t>Joel</a:t>
            </a:r>
            <a:r>
              <a:rPr sz="1000" spc="-15" dirty="0">
                <a:solidFill>
                  <a:srgbClr val="0F2044"/>
                </a:solidFill>
                <a:latin typeface="Arial MT"/>
                <a:cs typeface="Arial MT"/>
              </a:rPr>
              <a:t> </a:t>
            </a:r>
            <a:r>
              <a:rPr sz="1000" dirty="0">
                <a:solidFill>
                  <a:srgbClr val="0F2044"/>
                </a:solidFill>
                <a:latin typeface="Arial MT"/>
                <a:cs typeface="Arial MT"/>
              </a:rPr>
              <a:t>Dumortier</a:t>
            </a:r>
            <a:r>
              <a:rPr sz="1000" spc="-20" dirty="0">
                <a:solidFill>
                  <a:srgbClr val="0F2044"/>
                </a:solidFill>
                <a:latin typeface="Arial MT"/>
                <a:cs typeface="Arial MT"/>
              </a:rPr>
              <a:t> </a:t>
            </a:r>
            <a:r>
              <a:rPr sz="1000" dirty="0">
                <a:solidFill>
                  <a:srgbClr val="0F2044"/>
                </a:solidFill>
                <a:latin typeface="Arial MT"/>
                <a:cs typeface="Arial MT"/>
              </a:rPr>
              <a:t>@</a:t>
            </a:r>
            <a:r>
              <a:rPr sz="1000" spc="-15" dirty="0">
                <a:solidFill>
                  <a:srgbClr val="0F2044"/>
                </a:solidFill>
                <a:latin typeface="Arial MT"/>
                <a:cs typeface="Arial MT"/>
              </a:rPr>
              <a:t> </a:t>
            </a:r>
            <a:r>
              <a:rPr sz="1000" spc="-10" dirty="0">
                <a:solidFill>
                  <a:srgbClr val="0F2044"/>
                </a:solidFill>
                <a:latin typeface="Arial MT"/>
                <a:cs typeface="Arial MT"/>
              </a:rPr>
              <a:t>Medium</a:t>
            </a:r>
            <a:endParaRPr sz="1000" dirty="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2">
            <a:extLst>
              <a:ext uri="{FF2B5EF4-FFF2-40B4-BE49-F238E27FC236}">
                <a16:creationId xmlns:a16="http://schemas.microsoft.com/office/drawing/2014/main" id="{ACC8BD39-093B-1447-F5E4-4D50C3C1890E}"/>
              </a:ext>
            </a:extLst>
          </p:cNvPr>
          <p:cNvSpPr txBox="1">
            <a:spLocks noGrp="1"/>
          </p:cNvSpPr>
          <p:nvPr>
            <p:ph type="title" idx="4294967295"/>
          </p:nvPr>
        </p:nvSpPr>
        <p:spPr>
          <a:xfrm>
            <a:off x="838200" y="838200"/>
            <a:ext cx="3200400" cy="384721"/>
          </a:xfrm>
          <a:prstGeom prst="rect">
            <a:avLst/>
          </a:prstGeom>
          <a:noFill/>
          <a:ln>
            <a:noFill/>
            <a:prstDash/>
          </a:ln>
          <a:effectLst/>
        </p:spPr>
        <p:txBody>
          <a:bodyPr rot="0" spcFirstLastPara="0" vertOverflow="overflow" horzOverflow="overflow" vert="horz" wrap="square" lIns="0" tIns="12700" rIns="0" bIns="0" numCol="1" spcCol="0" rtlCol="0" fromWordArt="0" anchor="t" anchorCtr="0" forceAA="0" compatLnSpc="1">
            <a:prstTxWarp prst="textNoShape">
              <a:avLst/>
            </a:prstTxWarp>
            <a:spAutoFit/>
          </a:bodyPr>
          <a:lstStyle>
            <a:lvl1pPr>
              <a:defRPr>
                <a:latin typeface="+mj-lt"/>
                <a:ea typeface="+mj-ea"/>
                <a:cs typeface="+mj-cs"/>
              </a:defRPr>
            </a:lvl1pPr>
          </a:lstStyle>
          <a:p>
            <a:pPr marL="12700" marR="0" lvl="0" indent="0" defTabSz="914400" eaLnBrk="1" fontAlgn="auto" latinLnBrk="0" hangingPunct="1">
              <a:lnSpc>
                <a:spcPts val="2885"/>
              </a:lnSpc>
              <a:spcBef>
                <a:spcPts val="100"/>
              </a:spcBef>
              <a:spcAft>
                <a:spcPts val="0"/>
              </a:spcAft>
              <a:buClrTx/>
              <a:buSzTx/>
              <a:buFontTx/>
              <a:buNone/>
              <a:tabLst/>
              <a:defRPr/>
            </a:pPr>
            <a:r>
              <a:rPr kumimoji="0" lang="en-US" sz="2500" b="0" i="0" u="none" strike="noStrike" kern="0" cap="none" spc="0" normalizeH="0" baseline="0" noProof="0" dirty="0">
                <a:ln>
                  <a:noFill/>
                </a:ln>
                <a:solidFill>
                  <a:sysClr val="windowText" lastClr="000000"/>
                </a:solidFill>
                <a:effectLst/>
                <a:uLnTx/>
                <a:uFillTx/>
                <a:latin typeface="Georgia" panose="02040502050405020303" pitchFamily="18" charset="0"/>
                <a:ea typeface="+mj-ea"/>
                <a:cs typeface="+mj-cs"/>
              </a:rPr>
              <a:t>C</a:t>
            </a:r>
            <a:r>
              <a:rPr kumimoji="0" lang="en-US" sz="2500" b="0" i="0" u="none" strike="noStrike" kern="0" cap="none" spc="-5" normalizeH="0" baseline="0" noProof="0" dirty="0">
                <a:ln>
                  <a:noFill/>
                </a:ln>
                <a:solidFill>
                  <a:sysClr val="windowText" lastClr="000000"/>
                </a:solidFill>
                <a:effectLst/>
                <a:uLnTx/>
                <a:uFillTx/>
                <a:latin typeface="Georgia" panose="02040502050405020303" pitchFamily="18" charset="0"/>
                <a:ea typeface="+mj-ea"/>
                <a:cs typeface="+mj-cs"/>
              </a:rPr>
              <a:t> </a:t>
            </a:r>
            <a:r>
              <a:rPr kumimoji="0" lang="en-US" sz="2500" b="0" i="0" u="none" strike="noStrike" kern="0" cap="none" spc="-10" normalizeH="0" baseline="0" noProof="0" dirty="0">
                <a:ln>
                  <a:noFill/>
                </a:ln>
                <a:solidFill>
                  <a:sysClr val="windowText" lastClr="000000"/>
                </a:solidFill>
                <a:effectLst/>
                <a:uLnTx/>
                <a:uFillTx/>
                <a:latin typeface="Georgia" panose="02040502050405020303" pitchFamily="18" charset="0"/>
                <a:ea typeface="+mj-ea"/>
                <a:cs typeface="+mj-cs"/>
              </a:rPr>
              <a:t>Preprocessor </a:t>
            </a:r>
            <a:r>
              <a:rPr kumimoji="0" lang="en-US" sz="2000" b="0" i="0" u="none" strike="noStrike" kern="0" cap="none" spc="-10" normalizeH="0" baseline="0" noProof="0" dirty="0">
                <a:ln>
                  <a:noFill/>
                </a:ln>
                <a:solidFill>
                  <a:sysClr val="windowText" lastClr="000000"/>
                </a:solidFill>
                <a:effectLst/>
                <a:uLnTx/>
                <a:uFillTx/>
                <a:latin typeface="Georgia" panose="02040502050405020303" pitchFamily="18" charset="0"/>
                <a:ea typeface="+mj-ea"/>
                <a:cs typeface="+mj-cs"/>
              </a:rPr>
              <a:t>Steps</a:t>
            </a:r>
            <a:endParaRPr kumimoji="0" lang="en-US" sz="2000" b="0" i="0" u="none" strike="noStrike" kern="0" cap="none" spc="0" normalizeH="0" baseline="0" noProof="0" dirty="0">
              <a:ln>
                <a:noFill/>
              </a:ln>
              <a:solidFill>
                <a:sysClr val="windowText" lastClr="000000"/>
              </a:solidFill>
              <a:effectLst/>
              <a:uLnTx/>
              <a:uFillTx/>
              <a:latin typeface="Georgia" panose="02040502050405020303" pitchFamily="18" charset="0"/>
              <a:ea typeface="+mj-ea"/>
              <a:cs typeface="+mj-cs"/>
            </a:endParaRPr>
          </a:p>
        </p:txBody>
      </p:sp>
      <p:grpSp>
        <p:nvGrpSpPr>
          <p:cNvPr id="3" name="object 3" descr="A logic diagram of the C compilation flow. It starts with C Source Code entering a C Program block, followed by a decision diamond: &quot;Are there Preprocessor Directives?&quot; If yes, the Pre-Processor performs an action before sending it to the Compiler. If no, it goes directly to the Compiler. The flow ends with the Linker producing Executable Code."/>
          <p:cNvGrpSpPr/>
          <p:nvPr/>
        </p:nvGrpSpPr>
        <p:grpSpPr>
          <a:xfrm>
            <a:off x="666450" y="1247899"/>
            <a:ext cx="5607685" cy="5182235"/>
            <a:chOff x="666450" y="1247899"/>
            <a:chExt cx="5607685" cy="5182235"/>
          </a:xfrm>
        </p:grpSpPr>
        <p:pic>
          <p:nvPicPr>
            <p:cNvPr id="4" name="object 4"/>
            <p:cNvPicPr/>
            <p:nvPr/>
          </p:nvPicPr>
          <p:blipFill>
            <a:blip r:embed="rId3" cstate="print"/>
            <a:stretch>
              <a:fillRect/>
            </a:stretch>
          </p:blipFill>
          <p:spPr>
            <a:xfrm>
              <a:off x="675975" y="1257425"/>
              <a:ext cx="5588599" cy="5163176"/>
            </a:xfrm>
            <a:prstGeom prst="rect">
              <a:avLst/>
            </a:prstGeom>
          </p:spPr>
        </p:pic>
        <p:sp>
          <p:nvSpPr>
            <p:cNvPr id="5" name="object 5"/>
            <p:cNvSpPr/>
            <p:nvPr/>
          </p:nvSpPr>
          <p:spPr>
            <a:xfrm>
              <a:off x="671212" y="1252662"/>
              <a:ext cx="5598160" cy="5172710"/>
            </a:xfrm>
            <a:custGeom>
              <a:avLst/>
              <a:gdLst/>
              <a:ahLst/>
              <a:cxnLst/>
              <a:rect l="l" t="t" r="r" b="b"/>
              <a:pathLst>
                <a:path w="5598160" h="5172710">
                  <a:moveTo>
                    <a:pt x="0" y="0"/>
                  </a:moveTo>
                  <a:lnTo>
                    <a:pt x="5598124" y="0"/>
                  </a:lnTo>
                  <a:lnTo>
                    <a:pt x="5598124" y="5172701"/>
                  </a:lnTo>
                  <a:lnTo>
                    <a:pt x="0" y="5172701"/>
                  </a:lnTo>
                  <a:lnTo>
                    <a:pt x="0" y="0"/>
                  </a:lnTo>
                  <a:close/>
                </a:path>
              </a:pathLst>
            </a:custGeom>
            <a:ln w="9524">
              <a:solidFill>
                <a:srgbClr val="0F2044"/>
              </a:solidFill>
            </a:ln>
          </p:spPr>
          <p:txBody>
            <a:bodyPr wrap="square" lIns="0" tIns="0" rIns="0" bIns="0" rtlCol="0"/>
            <a:lstStyle/>
            <a:p>
              <a:endParaRPr/>
            </a:p>
          </p:txBody>
        </p:sp>
      </p:grpSp>
      <p:sp>
        <p:nvSpPr>
          <p:cNvPr id="2" name="object 2">
            <a:extLst>
              <a:ext uri="{C183D7F6-B498-43B3-948B-1728B52AA6E4}">
                <adec:decorative xmlns:adec="http://schemas.microsoft.com/office/drawing/2017/decorative" val="1"/>
              </a:ext>
            </a:extLst>
          </p:cNvPr>
          <p:cNvSpPr txBox="1"/>
          <p:nvPr/>
        </p:nvSpPr>
        <p:spPr>
          <a:xfrm>
            <a:off x="2290788" y="6488545"/>
            <a:ext cx="216217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5"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25" dirty="0">
                <a:solidFill>
                  <a:srgbClr val="0F2044"/>
                </a:solidFill>
                <a:latin typeface="Arial MT"/>
                <a:cs typeface="Arial MT"/>
              </a:rPr>
              <a:t> </a:t>
            </a:r>
            <a:r>
              <a:rPr sz="1000" spc="-10" dirty="0">
                <a:solidFill>
                  <a:srgbClr val="0F2044"/>
                </a:solidFill>
                <a:latin typeface="Arial MT"/>
                <a:cs typeface="Arial MT"/>
                <a:hlinkClick r:id="rId4"/>
              </a:rPr>
              <a:t>https://www.scaler.com/</a:t>
            </a:r>
            <a:endParaRPr sz="1000">
              <a:latin typeface="Arial MT"/>
              <a:cs typeface="Arial MT"/>
            </a:endParaRPr>
          </a:p>
        </p:txBody>
      </p:sp>
      <p:grpSp>
        <p:nvGrpSpPr>
          <p:cNvPr id="6" name="object 6" descr="A technical table and flowchart documenting the C compilation lifecycle. It maps the transition from sample.c (Source) to sample.exe (Executable) through five specific stages: Preprocessor (generating .i files), Compiler (generating .s files), Assembler (generating .o files), Linker, and Loader. Each stage includes a brief description of the file transformation and final execution in the CPU."/>
          <p:cNvGrpSpPr/>
          <p:nvPr/>
        </p:nvGrpSpPr>
        <p:grpSpPr>
          <a:xfrm>
            <a:off x="6407449" y="1247899"/>
            <a:ext cx="5441950" cy="5182235"/>
            <a:chOff x="6407449" y="1247899"/>
            <a:chExt cx="5441950" cy="5182235"/>
          </a:xfrm>
        </p:grpSpPr>
        <p:pic>
          <p:nvPicPr>
            <p:cNvPr id="7" name="object 7"/>
            <p:cNvPicPr/>
            <p:nvPr/>
          </p:nvPicPr>
          <p:blipFill>
            <a:blip r:embed="rId5" cstate="print"/>
            <a:stretch>
              <a:fillRect/>
            </a:stretch>
          </p:blipFill>
          <p:spPr>
            <a:xfrm>
              <a:off x="6572805" y="1257425"/>
              <a:ext cx="5246295" cy="5163174"/>
            </a:xfrm>
            <a:prstGeom prst="rect">
              <a:avLst/>
            </a:prstGeom>
          </p:spPr>
        </p:pic>
        <p:sp>
          <p:nvSpPr>
            <p:cNvPr id="8" name="object 8"/>
            <p:cNvSpPr/>
            <p:nvPr/>
          </p:nvSpPr>
          <p:spPr>
            <a:xfrm>
              <a:off x="6412212" y="1252662"/>
              <a:ext cx="5432425" cy="5172710"/>
            </a:xfrm>
            <a:custGeom>
              <a:avLst/>
              <a:gdLst/>
              <a:ahLst/>
              <a:cxnLst/>
              <a:rect l="l" t="t" r="r" b="b"/>
              <a:pathLst>
                <a:path w="5432425" h="5172710">
                  <a:moveTo>
                    <a:pt x="0" y="0"/>
                  </a:moveTo>
                  <a:lnTo>
                    <a:pt x="5432428" y="0"/>
                  </a:lnTo>
                  <a:lnTo>
                    <a:pt x="5432428" y="5172699"/>
                  </a:lnTo>
                  <a:lnTo>
                    <a:pt x="0" y="5172699"/>
                  </a:lnTo>
                  <a:lnTo>
                    <a:pt x="0" y="0"/>
                  </a:lnTo>
                  <a:close/>
                </a:path>
              </a:pathLst>
            </a:custGeom>
            <a:ln w="9524">
              <a:solidFill>
                <a:srgbClr val="0F2044"/>
              </a:solidFill>
            </a:ln>
          </p:spPr>
          <p:txBody>
            <a:bodyPr wrap="square" lIns="0" tIns="0" rIns="0" bIns="0" rtlCol="0"/>
            <a:lstStyle/>
            <a:p>
              <a:endParaRPr/>
            </a:p>
          </p:txBody>
        </p:sp>
      </p:grpSp>
      <p:sp>
        <p:nvSpPr>
          <p:cNvPr id="9" name="object 9">
            <a:extLst>
              <a:ext uri="{C183D7F6-B498-43B3-948B-1728B52AA6E4}">
                <adec:decorative xmlns:adec="http://schemas.microsoft.com/office/drawing/2017/decorative" val="1"/>
              </a:ext>
            </a:extLst>
          </p:cNvPr>
          <p:cNvSpPr txBox="1"/>
          <p:nvPr/>
        </p:nvSpPr>
        <p:spPr>
          <a:xfrm>
            <a:off x="8283577" y="6488545"/>
            <a:ext cx="257746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5"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25" dirty="0">
                <a:solidFill>
                  <a:srgbClr val="0F2044"/>
                </a:solidFill>
                <a:latin typeface="Arial MT"/>
                <a:cs typeface="Arial MT"/>
              </a:rPr>
              <a:t> </a:t>
            </a:r>
            <a:r>
              <a:rPr sz="1000" spc="-10" dirty="0">
                <a:solidFill>
                  <a:srgbClr val="0F2044"/>
                </a:solidFill>
                <a:latin typeface="Arial MT"/>
                <a:cs typeface="Arial MT"/>
                <a:hlinkClick r:id="rId6"/>
              </a:rPr>
              <a:t>https://www.fresh2refresh.com/</a:t>
            </a:r>
            <a:endParaRPr sz="10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885"/>
              </a:lnSpc>
              <a:spcBef>
                <a:spcPts val="100"/>
              </a:spcBef>
            </a:pPr>
            <a:r>
              <a:rPr dirty="0"/>
              <a:t>C</a:t>
            </a:r>
            <a:r>
              <a:rPr spc="-5" dirty="0"/>
              <a:t> </a:t>
            </a:r>
            <a:r>
              <a:rPr spc="-10" dirty="0"/>
              <a:t>Preprocessor</a:t>
            </a:r>
          </a:p>
          <a:p>
            <a:pPr marL="12700">
              <a:lnSpc>
                <a:spcPts val="2285"/>
              </a:lnSpc>
            </a:pPr>
            <a:r>
              <a:rPr sz="2000" spc="-10" dirty="0"/>
              <a:t>Preprocessor</a:t>
            </a:r>
            <a:r>
              <a:rPr sz="2000" spc="-60" dirty="0"/>
              <a:t> </a:t>
            </a:r>
            <a:r>
              <a:rPr sz="2000" spc="-10" dirty="0"/>
              <a:t>Directives</a:t>
            </a:r>
            <a:endParaRPr sz="2000" dirty="0"/>
          </a:p>
        </p:txBody>
      </p:sp>
      <p:sp>
        <p:nvSpPr>
          <p:cNvPr id="3" name="object 3"/>
          <p:cNvSpPr txBox="1"/>
          <p:nvPr/>
        </p:nvSpPr>
        <p:spPr>
          <a:xfrm>
            <a:off x="410375" y="2408029"/>
            <a:ext cx="5380825" cy="2695866"/>
          </a:xfrm>
          <a:prstGeom prst="rect">
            <a:avLst/>
          </a:prstGeom>
        </p:spPr>
        <p:txBody>
          <a:bodyPr vert="horz" wrap="square" lIns="0" tIns="12700" rIns="0" bIns="0" rtlCol="0">
            <a:spAutoFit/>
          </a:bodyPr>
          <a:lstStyle/>
          <a:p>
            <a:pPr marL="12700">
              <a:lnSpc>
                <a:spcPct val="114000"/>
              </a:lnSpc>
              <a:spcBef>
                <a:spcPts val="100"/>
              </a:spcBef>
            </a:pPr>
            <a:r>
              <a:rPr sz="2000" b="1" dirty="0">
                <a:solidFill>
                  <a:srgbClr val="188037"/>
                </a:solidFill>
                <a:latin typeface="Courier New"/>
                <a:cs typeface="Courier New"/>
              </a:rPr>
              <a:t>#define</a:t>
            </a:r>
            <a:r>
              <a:rPr sz="2000" dirty="0">
                <a:latin typeface="Arial MT"/>
                <a:cs typeface="Arial MT"/>
              </a:rPr>
              <a:t>:</a:t>
            </a:r>
            <a:r>
              <a:rPr sz="2000" spc="-20" dirty="0">
                <a:latin typeface="Arial MT"/>
                <a:cs typeface="Arial MT"/>
              </a:rPr>
              <a:t> </a:t>
            </a:r>
            <a:r>
              <a:rPr sz="2000" dirty="0">
                <a:latin typeface="Arial MT"/>
                <a:cs typeface="Arial MT"/>
              </a:rPr>
              <a:t>Creates</a:t>
            </a:r>
            <a:r>
              <a:rPr sz="2000" spc="-20" dirty="0">
                <a:latin typeface="Arial MT"/>
                <a:cs typeface="Arial MT"/>
              </a:rPr>
              <a:t> </a:t>
            </a:r>
            <a:r>
              <a:rPr sz="2000" dirty="0">
                <a:latin typeface="Arial MT"/>
                <a:cs typeface="Arial MT"/>
              </a:rPr>
              <a:t>a</a:t>
            </a:r>
            <a:r>
              <a:rPr sz="2000" spc="-20" dirty="0">
                <a:latin typeface="Arial MT"/>
                <a:cs typeface="Arial MT"/>
              </a:rPr>
              <a:t> </a:t>
            </a:r>
            <a:r>
              <a:rPr sz="2000" spc="-10" dirty="0">
                <a:latin typeface="Arial MT"/>
                <a:cs typeface="Arial MT"/>
              </a:rPr>
              <a:t>macro.</a:t>
            </a:r>
            <a:endParaRPr sz="2000" dirty="0">
              <a:latin typeface="Arial MT"/>
              <a:cs typeface="Arial MT"/>
            </a:endParaRPr>
          </a:p>
          <a:p>
            <a:pPr marL="12700" marR="5080">
              <a:lnSpc>
                <a:spcPct val="114000"/>
              </a:lnSpc>
              <a:spcBef>
                <a:spcPts val="1245"/>
              </a:spcBef>
            </a:pPr>
            <a:r>
              <a:rPr sz="2000" dirty="0">
                <a:latin typeface="Arial MT"/>
                <a:cs typeface="Arial MT"/>
              </a:rPr>
              <a:t>A</a:t>
            </a:r>
            <a:r>
              <a:rPr sz="2000" spc="-110" dirty="0">
                <a:latin typeface="Arial MT"/>
                <a:cs typeface="Arial MT"/>
              </a:rPr>
              <a:t> </a:t>
            </a:r>
            <a:r>
              <a:rPr sz="2000" dirty="0">
                <a:latin typeface="Arial MT"/>
                <a:cs typeface="Arial MT"/>
              </a:rPr>
              <a:t>macro</a:t>
            </a:r>
            <a:r>
              <a:rPr sz="2000" spc="-5" dirty="0">
                <a:latin typeface="Arial MT"/>
                <a:cs typeface="Arial MT"/>
              </a:rPr>
              <a:t> </a:t>
            </a:r>
            <a:r>
              <a:rPr sz="2000" dirty="0">
                <a:latin typeface="Arial MT"/>
                <a:cs typeface="Arial MT"/>
              </a:rPr>
              <a:t>created</a:t>
            </a:r>
            <a:r>
              <a:rPr sz="2000" spc="-10" dirty="0">
                <a:latin typeface="Arial MT"/>
                <a:cs typeface="Arial MT"/>
              </a:rPr>
              <a:t> </a:t>
            </a:r>
            <a:r>
              <a:rPr sz="2000" dirty="0">
                <a:latin typeface="Arial MT"/>
                <a:cs typeface="Arial MT"/>
              </a:rPr>
              <a:t>by</a:t>
            </a:r>
            <a:r>
              <a:rPr sz="2000" spc="5" dirty="0">
                <a:latin typeface="Arial MT"/>
                <a:cs typeface="Arial MT"/>
              </a:rPr>
              <a:t> </a:t>
            </a:r>
            <a:r>
              <a:rPr sz="2000" b="1" spc="-10" dirty="0">
                <a:solidFill>
                  <a:srgbClr val="188037"/>
                </a:solidFill>
                <a:latin typeface="Courier New"/>
                <a:cs typeface="Courier New"/>
              </a:rPr>
              <a:t>#define</a:t>
            </a:r>
            <a:r>
              <a:rPr sz="2000" b="1" spc="-585" dirty="0">
                <a:solidFill>
                  <a:srgbClr val="188037"/>
                </a:solidFill>
                <a:latin typeface="Courier New"/>
                <a:cs typeface="Courier New"/>
              </a:rPr>
              <a:t> </a:t>
            </a:r>
            <a:r>
              <a:rPr sz="2000" dirty="0">
                <a:latin typeface="Arial MT"/>
                <a:cs typeface="Arial MT"/>
              </a:rPr>
              <a:t>is</a:t>
            </a:r>
            <a:r>
              <a:rPr sz="2000" spc="-5" dirty="0">
                <a:latin typeface="Arial MT"/>
                <a:cs typeface="Arial MT"/>
              </a:rPr>
              <a:t> </a:t>
            </a:r>
            <a:r>
              <a:rPr sz="2000" dirty="0">
                <a:latin typeface="Arial MT"/>
                <a:cs typeface="Arial MT"/>
              </a:rPr>
              <a:t>essentially</a:t>
            </a:r>
            <a:r>
              <a:rPr sz="2000" spc="-5" dirty="0">
                <a:latin typeface="Arial MT"/>
                <a:cs typeface="Arial MT"/>
              </a:rPr>
              <a:t> </a:t>
            </a:r>
            <a:r>
              <a:rPr sz="2000" spc="-50" dirty="0">
                <a:latin typeface="Arial MT"/>
                <a:cs typeface="Arial MT"/>
              </a:rPr>
              <a:t>a </a:t>
            </a:r>
            <a:r>
              <a:rPr sz="2000" i="1" dirty="0">
                <a:latin typeface="Arial"/>
                <a:cs typeface="Arial"/>
              </a:rPr>
              <a:t>preprocessor</a:t>
            </a:r>
            <a:r>
              <a:rPr sz="2000" i="1" spc="-30" dirty="0">
                <a:latin typeface="Arial"/>
                <a:cs typeface="Arial"/>
              </a:rPr>
              <a:t> </a:t>
            </a:r>
            <a:r>
              <a:rPr sz="2000" i="1" dirty="0">
                <a:latin typeface="Arial"/>
                <a:cs typeface="Arial"/>
              </a:rPr>
              <a:t>directive</a:t>
            </a:r>
            <a:r>
              <a:rPr sz="2000" i="1" spc="-10" dirty="0">
                <a:latin typeface="Arial"/>
                <a:cs typeface="Arial"/>
              </a:rPr>
              <a:t> </a:t>
            </a:r>
            <a:r>
              <a:rPr sz="2000" dirty="0">
                <a:latin typeface="Arial MT"/>
                <a:cs typeface="Arial MT"/>
              </a:rPr>
              <a:t>that</a:t>
            </a:r>
            <a:r>
              <a:rPr sz="2000" spc="-20" dirty="0">
                <a:latin typeface="Arial MT"/>
                <a:cs typeface="Arial MT"/>
              </a:rPr>
              <a:t> </a:t>
            </a:r>
            <a:r>
              <a:rPr sz="2000" dirty="0">
                <a:latin typeface="Arial MT"/>
                <a:cs typeface="Arial MT"/>
              </a:rPr>
              <a:t>allows</a:t>
            </a:r>
            <a:r>
              <a:rPr sz="2000" spc="-15" dirty="0">
                <a:latin typeface="Arial MT"/>
                <a:cs typeface="Arial MT"/>
              </a:rPr>
              <a:t> </a:t>
            </a:r>
            <a:r>
              <a:rPr sz="2000" dirty="0">
                <a:latin typeface="Arial MT"/>
                <a:cs typeface="Arial MT"/>
              </a:rPr>
              <a:t>you</a:t>
            </a:r>
            <a:r>
              <a:rPr sz="2000" spc="-15" dirty="0">
                <a:latin typeface="Arial MT"/>
                <a:cs typeface="Arial MT"/>
              </a:rPr>
              <a:t> </a:t>
            </a:r>
            <a:r>
              <a:rPr sz="2000" dirty="0">
                <a:latin typeface="Arial MT"/>
                <a:cs typeface="Arial MT"/>
              </a:rPr>
              <a:t>to</a:t>
            </a:r>
            <a:r>
              <a:rPr sz="2000" spc="-15" dirty="0">
                <a:latin typeface="Arial MT"/>
                <a:cs typeface="Arial MT"/>
              </a:rPr>
              <a:t> </a:t>
            </a:r>
            <a:r>
              <a:rPr sz="2000" spc="-10" dirty="0">
                <a:latin typeface="Arial MT"/>
                <a:cs typeface="Arial MT"/>
              </a:rPr>
              <a:t>define </a:t>
            </a:r>
            <a:r>
              <a:rPr sz="2000" dirty="0">
                <a:latin typeface="Arial MT"/>
                <a:cs typeface="Arial MT"/>
              </a:rPr>
              <a:t>constants</a:t>
            </a:r>
            <a:r>
              <a:rPr sz="2000" spc="-15" dirty="0">
                <a:latin typeface="Arial MT"/>
                <a:cs typeface="Arial MT"/>
              </a:rPr>
              <a:t> </a:t>
            </a:r>
            <a:r>
              <a:rPr sz="2000" dirty="0">
                <a:latin typeface="Arial MT"/>
                <a:cs typeface="Arial MT"/>
              </a:rPr>
              <a:t>or</a:t>
            </a:r>
            <a:r>
              <a:rPr sz="2000" spc="-15" dirty="0">
                <a:latin typeface="Arial MT"/>
                <a:cs typeface="Arial MT"/>
              </a:rPr>
              <a:t> </a:t>
            </a:r>
            <a:r>
              <a:rPr sz="2000" dirty="0">
                <a:latin typeface="Arial MT"/>
                <a:cs typeface="Arial MT"/>
              </a:rPr>
              <a:t>functions</a:t>
            </a:r>
            <a:r>
              <a:rPr sz="2000" spc="-15" dirty="0">
                <a:latin typeface="Arial MT"/>
                <a:cs typeface="Arial MT"/>
              </a:rPr>
              <a:t> </a:t>
            </a:r>
            <a:r>
              <a:rPr sz="2000" dirty="0">
                <a:latin typeface="Arial MT"/>
                <a:cs typeface="Arial MT"/>
              </a:rPr>
              <a:t>that</a:t>
            </a:r>
            <a:r>
              <a:rPr sz="2000" spc="-10" dirty="0">
                <a:latin typeface="Arial MT"/>
                <a:cs typeface="Arial MT"/>
              </a:rPr>
              <a:t> </a:t>
            </a:r>
            <a:r>
              <a:rPr sz="2000" dirty="0">
                <a:latin typeface="Arial MT"/>
                <a:cs typeface="Arial MT"/>
              </a:rPr>
              <a:t>are</a:t>
            </a:r>
            <a:r>
              <a:rPr sz="2000" spc="-15" dirty="0">
                <a:latin typeface="Arial MT"/>
                <a:cs typeface="Arial MT"/>
              </a:rPr>
              <a:t> </a:t>
            </a:r>
            <a:r>
              <a:rPr sz="2000" dirty="0">
                <a:latin typeface="Arial MT"/>
                <a:cs typeface="Arial MT"/>
              </a:rPr>
              <a:t>replaced</a:t>
            </a:r>
            <a:r>
              <a:rPr sz="2000" spc="-15" dirty="0">
                <a:latin typeface="Arial MT"/>
                <a:cs typeface="Arial MT"/>
              </a:rPr>
              <a:t> </a:t>
            </a:r>
            <a:r>
              <a:rPr sz="2000" dirty="0">
                <a:latin typeface="Arial MT"/>
                <a:cs typeface="Arial MT"/>
              </a:rPr>
              <a:t>directly</a:t>
            </a:r>
            <a:r>
              <a:rPr sz="2000" spc="-10" dirty="0">
                <a:latin typeface="Arial MT"/>
                <a:cs typeface="Arial MT"/>
              </a:rPr>
              <a:t> </a:t>
            </a:r>
            <a:r>
              <a:rPr sz="2000" spc="-25" dirty="0">
                <a:latin typeface="Arial MT"/>
                <a:cs typeface="Arial MT"/>
              </a:rPr>
              <a:t>in </a:t>
            </a:r>
            <a:r>
              <a:rPr sz="2000" dirty="0">
                <a:latin typeface="Arial MT"/>
                <a:cs typeface="Arial MT"/>
              </a:rPr>
              <a:t>the</a:t>
            </a:r>
            <a:r>
              <a:rPr sz="2000" spc="-30" dirty="0">
                <a:latin typeface="Arial MT"/>
                <a:cs typeface="Arial MT"/>
              </a:rPr>
              <a:t> </a:t>
            </a:r>
            <a:r>
              <a:rPr sz="2000" dirty="0">
                <a:latin typeface="Arial MT"/>
                <a:cs typeface="Arial MT"/>
              </a:rPr>
              <a:t>code</a:t>
            </a:r>
            <a:r>
              <a:rPr sz="2000" spc="-30" dirty="0">
                <a:latin typeface="Arial MT"/>
                <a:cs typeface="Arial MT"/>
              </a:rPr>
              <a:t> </a:t>
            </a:r>
            <a:r>
              <a:rPr sz="2000" dirty="0">
                <a:latin typeface="Arial MT"/>
                <a:cs typeface="Arial MT"/>
              </a:rPr>
              <a:t>during</a:t>
            </a:r>
            <a:r>
              <a:rPr sz="2000" spc="-30" dirty="0">
                <a:latin typeface="Arial MT"/>
                <a:cs typeface="Arial MT"/>
              </a:rPr>
              <a:t> </a:t>
            </a:r>
            <a:r>
              <a:rPr sz="2000" dirty="0">
                <a:latin typeface="Arial MT"/>
                <a:cs typeface="Arial MT"/>
              </a:rPr>
              <a:t>the</a:t>
            </a:r>
            <a:r>
              <a:rPr sz="2000" spc="-30" dirty="0">
                <a:latin typeface="Arial MT"/>
                <a:cs typeface="Arial MT"/>
              </a:rPr>
              <a:t> </a:t>
            </a:r>
            <a:r>
              <a:rPr sz="2000" dirty="0">
                <a:latin typeface="Arial MT"/>
                <a:cs typeface="Arial MT"/>
              </a:rPr>
              <a:t>preprocessing</a:t>
            </a:r>
            <a:r>
              <a:rPr sz="2000" spc="-30" dirty="0">
                <a:latin typeface="Arial MT"/>
                <a:cs typeface="Arial MT"/>
              </a:rPr>
              <a:t> </a:t>
            </a:r>
            <a:r>
              <a:rPr sz="2000" dirty="0">
                <a:latin typeface="Arial MT"/>
                <a:cs typeface="Arial MT"/>
              </a:rPr>
              <a:t>stage,</a:t>
            </a:r>
            <a:r>
              <a:rPr sz="2000" spc="-25" dirty="0">
                <a:latin typeface="Arial MT"/>
                <a:cs typeface="Arial MT"/>
              </a:rPr>
              <a:t> </a:t>
            </a:r>
            <a:r>
              <a:rPr sz="2000" spc="-10" dirty="0">
                <a:latin typeface="Arial MT"/>
                <a:cs typeface="Arial MT"/>
              </a:rPr>
              <a:t>before </a:t>
            </a:r>
            <a:r>
              <a:rPr sz="2000" dirty="0">
                <a:latin typeface="Arial MT"/>
                <a:cs typeface="Arial MT"/>
              </a:rPr>
              <a:t>actual</a:t>
            </a:r>
            <a:r>
              <a:rPr sz="2000" spc="-45" dirty="0">
                <a:latin typeface="Arial MT"/>
                <a:cs typeface="Arial MT"/>
              </a:rPr>
              <a:t> </a:t>
            </a:r>
            <a:r>
              <a:rPr sz="2000" dirty="0">
                <a:latin typeface="Arial MT"/>
                <a:cs typeface="Arial MT"/>
              </a:rPr>
              <a:t>compilation</a:t>
            </a:r>
            <a:r>
              <a:rPr sz="2000" spc="-40" dirty="0">
                <a:latin typeface="Arial MT"/>
                <a:cs typeface="Arial MT"/>
              </a:rPr>
              <a:t> </a:t>
            </a:r>
            <a:r>
              <a:rPr sz="2000" spc="-10" dirty="0">
                <a:latin typeface="Arial MT"/>
                <a:cs typeface="Arial MT"/>
              </a:rPr>
              <a:t>begins.</a:t>
            </a:r>
            <a:endParaRPr sz="2000" dirty="0">
              <a:latin typeface="Arial MT"/>
              <a:cs typeface="Arial MT"/>
            </a:endParaRPr>
          </a:p>
          <a:p>
            <a:pPr marL="12700">
              <a:lnSpc>
                <a:spcPct val="114000"/>
              </a:lnSpc>
              <a:spcBef>
                <a:spcPts val="1310"/>
              </a:spcBef>
            </a:pPr>
            <a:r>
              <a:rPr sz="1600" b="1" spc="-20" dirty="0">
                <a:solidFill>
                  <a:srgbClr val="0F2044"/>
                </a:solidFill>
                <a:latin typeface="Arial"/>
                <a:cs typeface="Arial"/>
              </a:rPr>
              <a:t>To</a:t>
            </a:r>
            <a:r>
              <a:rPr sz="1600" b="1" spc="-55" dirty="0">
                <a:solidFill>
                  <a:srgbClr val="0F2044"/>
                </a:solidFill>
                <a:latin typeface="Arial"/>
                <a:cs typeface="Arial"/>
              </a:rPr>
              <a:t> </a:t>
            </a:r>
            <a:r>
              <a:rPr sz="1600" b="1" dirty="0">
                <a:solidFill>
                  <a:srgbClr val="0F2044"/>
                </a:solidFill>
                <a:latin typeface="Arial"/>
                <a:cs typeface="Arial"/>
              </a:rPr>
              <a:t>view</a:t>
            </a:r>
            <a:r>
              <a:rPr sz="1600" b="1" spc="-55" dirty="0">
                <a:solidFill>
                  <a:srgbClr val="0F2044"/>
                </a:solidFill>
                <a:latin typeface="Arial"/>
                <a:cs typeface="Arial"/>
              </a:rPr>
              <a:t> </a:t>
            </a:r>
            <a:r>
              <a:rPr sz="1600" b="1" dirty="0">
                <a:solidFill>
                  <a:srgbClr val="0F2044"/>
                </a:solidFill>
                <a:latin typeface="Arial"/>
                <a:cs typeface="Arial"/>
              </a:rPr>
              <a:t>the</a:t>
            </a:r>
            <a:r>
              <a:rPr sz="1600" b="1" spc="-55" dirty="0">
                <a:solidFill>
                  <a:srgbClr val="0F2044"/>
                </a:solidFill>
                <a:latin typeface="Arial"/>
                <a:cs typeface="Arial"/>
              </a:rPr>
              <a:t> </a:t>
            </a:r>
            <a:r>
              <a:rPr sz="1600" b="1" dirty="0">
                <a:solidFill>
                  <a:srgbClr val="0F2044"/>
                </a:solidFill>
                <a:latin typeface="Arial"/>
                <a:cs typeface="Arial"/>
              </a:rPr>
              <a:t>preprocessed</a:t>
            </a:r>
            <a:r>
              <a:rPr sz="1600" b="1" spc="-50" dirty="0">
                <a:solidFill>
                  <a:srgbClr val="0F2044"/>
                </a:solidFill>
                <a:latin typeface="Arial"/>
                <a:cs typeface="Arial"/>
              </a:rPr>
              <a:t> </a:t>
            </a:r>
            <a:r>
              <a:rPr sz="1600" b="1" spc="-10" dirty="0">
                <a:solidFill>
                  <a:srgbClr val="0F2044"/>
                </a:solidFill>
                <a:latin typeface="Arial"/>
                <a:cs typeface="Arial"/>
              </a:rPr>
              <a:t>output:</a:t>
            </a:r>
            <a:endParaRPr sz="1600" dirty="0">
              <a:latin typeface="Arial"/>
              <a:cs typeface="Arial"/>
            </a:endParaRPr>
          </a:p>
        </p:txBody>
      </p:sp>
      <p:sp>
        <p:nvSpPr>
          <p:cNvPr id="5" name="object 5"/>
          <p:cNvSpPr txBox="1"/>
          <p:nvPr/>
        </p:nvSpPr>
        <p:spPr>
          <a:xfrm>
            <a:off x="449200" y="5176520"/>
            <a:ext cx="3306445" cy="462280"/>
          </a:xfrm>
          <a:prstGeom prst="rect">
            <a:avLst/>
          </a:prstGeom>
          <a:ln w="9524">
            <a:solidFill>
              <a:srgbClr val="000000"/>
            </a:solidFill>
          </a:ln>
        </p:spPr>
        <p:txBody>
          <a:bodyPr vert="horz" wrap="square" lIns="0" tIns="76200" rIns="0" bIns="0" rtlCol="0">
            <a:spAutoFit/>
          </a:bodyPr>
          <a:lstStyle/>
          <a:p>
            <a:pPr marL="85725">
              <a:lnSpc>
                <a:spcPct val="100000"/>
              </a:lnSpc>
              <a:spcBef>
                <a:spcPts val="600"/>
              </a:spcBef>
            </a:pPr>
            <a:r>
              <a:rPr sz="1800" dirty="0">
                <a:solidFill>
                  <a:srgbClr val="980000"/>
                </a:solidFill>
                <a:latin typeface="Arial MT"/>
                <a:cs typeface="Arial MT"/>
              </a:rPr>
              <a:t>gcc</a:t>
            </a:r>
            <a:r>
              <a:rPr sz="1800" spc="-5" dirty="0">
                <a:solidFill>
                  <a:srgbClr val="980000"/>
                </a:solidFill>
                <a:latin typeface="Arial MT"/>
                <a:cs typeface="Arial MT"/>
              </a:rPr>
              <a:t> </a:t>
            </a:r>
            <a:r>
              <a:rPr sz="1800" spc="-10" dirty="0">
                <a:solidFill>
                  <a:srgbClr val="980000"/>
                </a:solidFill>
                <a:latin typeface="Arial MT"/>
                <a:cs typeface="Arial MT"/>
              </a:rPr>
              <a:t>-</a:t>
            </a:r>
            <a:r>
              <a:rPr sz="1800" dirty="0">
                <a:solidFill>
                  <a:srgbClr val="980000"/>
                </a:solidFill>
                <a:latin typeface="Arial MT"/>
                <a:cs typeface="Arial MT"/>
              </a:rPr>
              <a:t>E filename.c</a:t>
            </a:r>
            <a:r>
              <a:rPr sz="1800" spc="-5" dirty="0">
                <a:solidFill>
                  <a:srgbClr val="980000"/>
                </a:solidFill>
                <a:latin typeface="Arial MT"/>
                <a:cs typeface="Arial MT"/>
              </a:rPr>
              <a:t> </a:t>
            </a:r>
            <a:r>
              <a:rPr sz="1800" spc="-10" dirty="0">
                <a:solidFill>
                  <a:srgbClr val="980000"/>
                </a:solidFill>
                <a:latin typeface="Arial MT"/>
                <a:cs typeface="Arial MT"/>
              </a:rPr>
              <a:t>-</a:t>
            </a:r>
            <a:r>
              <a:rPr sz="1800" dirty="0">
                <a:solidFill>
                  <a:srgbClr val="980000"/>
                </a:solidFill>
                <a:latin typeface="Arial MT"/>
                <a:cs typeface="Arial MT"/>
              </a:rPr>
              <a:t>o </a:t>
            </a:r>
            <a:r>
              <a:rPr sz="1800" spc="-10" dirty="0">
                <a:solidFill>
                  <a:srgbClr val="980000"/>
                </a:solidFill>
                <a:latin typeface="Arial MT"/>
                <a:cs typeface="Arial MT"/>
              </a:rPr>
              <a:t>output.i</a:t>
            </a:r>
            <a:endParaRPr sz="1800" dirty="0">
              <a:latin typeface="Arial MT"/>
              <a:cs typeface="Arial MT"/>
            </a:endParaRPr>
          </a:p>
        </p:txBody>
      </p:sp>
      <p:sp>
        <p:nvSpPr>
          <p:cNvPr id="6" name="object 6"/>
          <p:cNvSpPr txBox="1"/>
          <p:nvPr/>
        </p:nvSpPr>
        <p:spPr>
          <a:xfrm>
            <a:off x="488525" y="5829147"/>
            <a:ext cx="4931410" cy="618054"/>
          </a:xfrm>
          <a:prstGeom prst="rect">
            <a:avLst/>
          </a:prstGeom>
        </p:spPr>
        <p:txBody>
          <a:bodyPr vert="horz" wrap="square" lIns="0" tIns="12700" rIns="0" bIns="0" rtlCol="0">
            <a:spAutoFit/>
          </a:bodyPr>
          <a:lstStyle/>
          <a:p>
            <a:pPr marL="12700" marR="5080">
              <a:lnSpc>
                <a:spcPct val="114000"/>
              </a:lnSpc>
              <a:spcBef>
                <a:spcPts val="100"/>
              </a:spcBef>
            </a:pPr>
            <a:r>
              <a:rPr spc="-20" dirty="0">
                <a:solidFill>
                  <a:srgbClr val="188037"/>
                </a:solidFill>
                <a:latin typeface="Courier New"/>
                <a:cs typeface="Courier New"/>
              </a:rPr>
              <a:t>-</a:t>
            </a:r>
            <a:r>
              <a:rPr dirty="0">
                <a:solidFill>
                  <a:srgbClr val="188037"/>
                </a:solidFill>
                <a:latin typeface="Courier New"/>
                <a:cs typeface="Courier New"/>
              </a:rPr>
              <a:t>E</a:t>
            </a:r>
            <a:r>
              <a:rPr dirty="0">
                <a:latin typeface="Arial MT"/>
                <a:cs typeface="Arial MT"/>
              </a:rPr>
              <a:t>:</a:t>
            </a:r>
            <a:r>
              <a:rPr spc="-30" dirty="0">
                <a:latin typeface="Arial MT"/>
                <a:cs typeface="Arial MT"/>
              </a:rPr>
              <a:t> </a:t>
            </a:r>
            <a:r>
              <a:rPr dirty="0">
                <a:latin typeface="Arial MT"/>
                <a:cs typeface="Arial MT"/>
              </a:rPr>
              <a:t>Runs</a:t>
            </a:r>
            <a:r>
              <a:rPr spc="-25" dirty="0">
                <a:latin typeface="Arial MT"/>
                <a:cs typeface="Arial MT"/>
              </a:rPr>
              <a:t> </a:t>
            </a:r>
            <a:r>
              <a:rPr dirty="0">
                <a:latin typeface="Arial MT"/>
                <a:cs typeface="Arial MT"/>
              </a:rPr>
              <a:t>only</a:t>
            </a:r>
            <a:r>
              <a:rPr spc="-30" dirty="0">
                <a:latin typeface="Arial MT"/>
                <a:cs typeface="Arial MT"/>
              </a:rPr>
              <a:t> </a:t>
            </a:r>
            <a:r>
              <a:rPr dirty="0">
                <a:latin typeface="Arial MT"/>
                <a:cs typeface="Arial MT"/>
              </a:rPr>
              <a:t>the</a:t>
            </a:r>
            <a:r>
              <a:rPr spc="-25" dirty="0">
                <a:latin typeface="Arial MT"/>
                <a:cs typeface="Arial MT"/>
              </a:rPr>
              <a:t> </a:t>
            </a:r>
            <a:r>
              <a:rPr dirty="0">
                <a:latin typeface="Arial MT"/>
                <a:cs typeface="Arial MT"/>
              </a:rPr>
              <a:t>preprocessor</a:t>
            </a:r>
            <a:r>
              <a:rPr spc="-30" dirty="0">
                <a:latin typeface="Arial MT"/>
                <a:cs typeface="Arial MT"/>
              </a:rPr>
              <a:t> </a:t>
            </a:r>
            <a:r>
              <a:rPr dirty="0">
                <a:latin typeface="Arial MT"/>
                <a:cs typeface="Arial MT"/>
              </a:rPr>
              <a:t>stage,</a:t>
            </a:r>
            <a:r>
              <a:rPr spc="-25" dirty="0">
                <a:latin typeface="Arial MT"/>
                <a:cs typeface="Arial MT"/>
              </a:rPr>
              <a:t> </a:t>
            </a:r>
            <a:r>
              <a:rPr dirty="0">
                <a:latin typeface="Arial MT"/>
                <a:cs typeface="Arial MT"/>
              </a:rPr>
              <a:t>stopping</a:t>
            </a:r>
            <a:r>
              <a:rPr spc="-25" dirty="0">
                <a:latin typeface="Arial MT"/>
                <a:cs typeface="Arial MT"/>
              </a:rPr>
              <a:t> </a:t>
            </a:r>
            <a:r>
              <a:rPr spc="-10" dirty="0">
                <a:latin typeface="Arial MT"/>
                <a:cs typeface="Arial MT"/>
              </a:rPr>
              <a:t>before compilation.</a:t>
            </a:r>
            <a:endParaRPr dirty="0">
              <a:latin typeface="Arial MT"/>
              <a:cs typeface="Arial MT"/>
            </a:endParaRPr>
          </a:p>
        </p:txBody>
      </p:sp>
      <p:pic>
        <p:nvPicPr>
          <p:cNvPr id="4" name="object 4" descr="C code snippet demonstrating the use of the #define directive to create a constant for PI and a functional macro to calculate the SQUARE(x) of a value."/>
          <p:cNvPicPr/>
          <p:nvPr/>
        </p:nvPicPr>
        <p:blipFill>
          <a:blip r:embed="rId3" cstate="print"/>
          <a:stretch>
            <a:fillRect/>
          </a:stretch>
        </p:blipFill>
        <p:spPr>
          <a:xfrm>
            <a:off x="6050550" y="1571216"/>
            <a:ext cx="5836648" cy="425306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15541"/>
            <a:ext cx="2713825" cy="705321"/>
          </a:xfrm>
          <a:prstGeom prst="rect">
            <a:avLst/>
          </a:prstGeom>
        </p:spPr>
        <p:txBody>
          <a:bodyPr vert="horz" wrap="square" lIns="0" tIns="12700" rIns="0" bIns="0" rtlCol="0">
            <a:spAutoFit/>
          </a:bodyPr>
          <a:lstStyle/>
          <a:p>
            <a:pPr marL="12700">
              <a:spcBef>
                <a:spcPts val="100"/>
              </a:spcBef>
            </a:pPr>
            <a:r>
              <a:rPr dirty="0"/>
              <a:t>C</a:t>
            </a:r>
            <a:r>
              <a:rPr spc="-5" dirty="0"/>
              <a:t> </a:t>
            </a:r>
            <a:r>
              <a:rPr spc="-10" dirty="0"/>
              <a:t>Preprocessor</a:t>
            </a:r>
            <a:br>
              <a:rPr lang="en-US" spc="-10" dirty="0"/>
            </a:br>
            <a:r>
              <a:rPr lang="en-US" sz="2000" spc="-10" dirty="0" err="1"/>
              <a:t>Preprocessor</a:t>
            </a:r>
            <a:r>
              <a:rPr lang="en-US" sz="2000" spc="-60" dirty="0"/>
              <a:t> </a:t>
            </a:r>
            <a:r>
              <a:rPr lang="en-US" sz="2000" spc="-10" dirty="0"/>
              <a:t>Directives</a:t>
            </a:r>
            <a:endParaRPr sz="2000" spc="-10" dirty="0"/>
          </a:p>
        </p:txBody>
      </p:sp>
      <p:sp>
        <p:nvSpPr>
          <p:cNvPr id="3" name="object 3"/>
          <p:cNvSpPr txBox="1"/>
          <p:nvPr/>
        </p:nvSpPr>
        <p:spPr>
          <a:xfrm>
            <a:off x="410375" y="2243955"/>
            <a:ext cx="5228425" cy="4326954"/>
          </a:xfrm>
          <a:prstGeom prst="rect">
            <a:avLst/>
          </a:prstGeom>
        </p:spPr>
        <p:txBody>
          <a:bodyPr vert="horz" wrap="square" lIns="0" tIns="12700" rIns="0" bIns="0" rtlCol="0">
            <a:spAutoFit/>
          </a:bodyPr>
          <a:lstStyle/>
          <a:p>
            <a:pPr marL="12700" marR="381635">
              <a:lnSpc>
                <a:spcPct val="114999"/>
              </a:lnSpc>
              <a:spcBef>
                <a:spcPts val="1839"/>
              </a:spcBef>
            </a:pPr>
            <a:r>
              <a:rPr sz="1900" b="1" dirty="0">
                <a:solidFill>
                  <a:srgbClr val="188037"/>
                </a:solidFill>
                <a:latin typeface="Georgia" panose="02040502050405020303" pitchFamily="18" charset="0"/>
                <a:cs typeface="Courier New"/>
              </a:rPr>
              <a:t>#if</a:t>
            </a:r>
            <a:r>
              <a:rPr sz="1900" dirty="0">
                <a:latin typeface="Georgia" panose="02040502050405020303" pitchFamily="18" charset="0"/>
                <a:cs typeface="Arial MT"/>
              </a:rPr>
              <a:t>:</a:t>
            </a:r>
            <a:r>
              <a:rPr sz="1900" spc="-45" dirty="0">
                <a:latin typeface="Georgia" panose="02040502050405020303" pitchFamily="18" charset="0"/>
                <a:cs typeface="Arial MT"/>
              </a:rPr>
              <a:t> </a:t>
            </a:r>
            <a:r>
              <a:rPr sz="1900" spc="-10" dirty="0">
                <a:latin typeface="Georgia" panose="02040502050405020303" pitchFamily="18" charset="0"/>
                <a:cs typeface="Arial MT"/>
              </a:rPr>
              <a:t>Conditional</a:t>
            </a:r>
            <a:r>
              <a:rPr sz="1900" spc="-45" dirty="0">
                <a:latin typeface="Georgia" panose="02040502050405020303" pitchFamily="18" charset="0"/>
                <a:cs typeface="Arial MT"/>
              </a:rPr>
              <a:t> </a:t>
            </a:r>
            <a:r>
              <a:rPr sz="1900" spc="-10" dirty="0">
                <a:latin typeface="Arial MT"/>
                <a:cs typeface="Arial MT"/>
              </a:rPr>
              <a:t>compilation</a:t>
            </a:r>
            <a:r>
              <a:rPr sz="1900" spc="-45" dirty="0">
                <a:latin typeface="Arial MT"/>
                <a:cs typeface="Arial MT"/>
              </a:rPr>
              <a:t> </a:t>
            </a:r>
            <a:r>
              <a:rPr sz="1900" dirty="0">
                <a:latin typeface="Arial MT"/>
                <a:cs typeface="Arial MT"/>
              </a:rPr>
              <a:t>based</a:t>
            </a:r>
            <a:r>
              <a:rPr sz="1900" spc="-40" dirty="0">
                <a:latin typeface="Arial MT"/>
                <a:cs typeface="Arial MT"/>
              </a:rPr>
              <a:t> </a:t>
            </a:r>
            <a:r>
              <a:rPr sz="1900" dirty="0">
                <a:latin typeface="Arial MT"/>
                <a:cs typeface="Arial MT"/>
              </a:rPr>
              <a:t>on</a:t>
            </a:r>
            <a:r>
              <a:rPr sz="1900" spc="-45" dirty="0">
                <a:latin typeface="Arial MT"/>
                <a:cs typeface="Arial MT"/>
              </a:rPr>
              <a:t> </a:t>
            </a:r>
            <a:r>
              <a:rPr sz="1900" spc="-25" dirty="0">
                <a:latin typeface="Arial MT"/>
                <a:cs typeface="Arial MT"/>
              </a:rPr>
              <a:t>an </a:t>
            </a:r>
            <a:r>
              <a:rPr sz="1900" spc="-10" dirty="0">
                <a:latin typeface="Arial MT"/>
                <a:cs typeface="Arial MT"/>
              </a:rPr>
              <a:t>expression.</a:t>
            </a:r>
            <a:endParaRPr sz="1900" dirty="0">
              <a:latin typeface="Arial MT"/>
              <a:cs typeface="Arial MT"/>
            </a:endParaRPr>
          </a:p>
          <a:p>
            <a:pPr marL="12700" marR="5080">
              <a:lnSpc>
                <a:spcPct val="114999"/>
              </a:lnSpc>
              <a:spcBef>
                <a:spcPts val="1245"/>
              </a:spcBef>
            </a:pPr>
            <a:r>
              <a:rPr sz="1900" dirty="0">
                <a:latin typeface="Arial MT"/>
                <a:cs typeface="Arial MT"/>
              </a:rPr>
              <a:t>Used</a:t>
            </a:r>
            <a:r>
              <a:rPr sz="1900" spc="-30" dirty="0">
                <a:latin typeface="Arial MT"/>
                <a:cs typeface="Arial MT"/>
              </a:rPr>
              <a:t> </a:t>
            </a:r>
            <a:r>
              <a:rPr sz="1900" dirty="0">
                <a:latin typeface="Arial MT"/>
                <a:cs typeface="Arial MT"/>
              </a:rPr>
              <a:t>to</a:t>
            </a:r>
            <a:r>
              <a:rPr sz="1900" spc="-15" dirty="0">
                <a:latin typeface="Arial MT"/>
                <a:cs typeface="Arial MT"/>
              </a:rPr>
              <a:t> </a:t>
            </a:r>
            <a:r>
              <a:rPr sz="1900" dirty="0">
                <a:latin typeface="Arial MT"/>
                <a:cs typeface="Arial MT"/>
              </a:rPr>
              <a:t>include</a:t>
            </a:r>
            <a:r>
              <a:rPr sz="1900" spc="-20" dirty="0">
                <a:latin typeface="Arial MT"/>
                <a:cs typeface="Arial MT"/>
              </a:rPr>
              <a:t> </a:t>
            </a:r>
            <a:r>
              <a:rPr sz="1900" dirty="0">
                <a:latin typeface="Arial MT"/>
                <a:cs typeface="Arial MT"/>
              </a:rPr>
              <a:t>or</a:t>
            </a:r>
            <a:r>
              <a:rPr sz="1900" spc="-15" dirty="0">
                <a:latin typeface="Arial MT"/>
                <a:cs typeface="Arial MT"/>
              </a:rPr>
              <a:t> </a:t>
            </a:r>
            <a:r>
              <a:rPr sz="1900" dirty="0">
                <a:latin typeface="Arial MT"/>
                <a:cs typeface="Arial MT"/>
              </a:rPr>
              <a:t>exclude</a:t>
            </a:r>
            <a:r>
              <a:rPr sz="1900" spc="-20" dirty="0">
                <a:latin typeface="Arial MT"/>
                <a:cs typeface="Arial MT"/>
              </a:rPr>
              <a:t> </a:t>
            </a:r>
            <a:r>
              <a:rPr sz="1900" dirty="0">
                <a:latin typeface="Arial MT"/>
                <a:cs typeface="Arial MT"/>
              </a:rPr>
              <a:t>portions</a:t>
            </a:r>
            <a:r>
              <a:rPr sz="1900" spc="-15" dirty="0">
                <a:latin typeface="Arial MT"/>
                <a:cs typeface="Arial MT"/>
              </a:rPr>
              <a:t> </a:t>
            </a:r>
            <a:r>
              <a:rPr sz="1900" dirty="0">
                <a:latin typeface="Arial MT"/>
                <a:cs typeface="Arial MT"/>
              </a:rPr>
              <a:t>of</a:t>
            </a:r>
            <a:r>
              <a:rPr sz="1900" spc="-20" dirty="0">
                <a:latin typeface="Arial MT"/>
                <a:cs typeface="Arial MT"/>
              </a:rPr>
              <a:t> </a:t>
            </a:r>
            <a:r>
              <a:rPr sz="1900" dirty="0">
                <a:latin typeface="Arial MT"/>
                <a:cs typeface="Arial MT"/>
              </a:rPr>
              <a:t>code</a:t>
            </a:r>
            <a:r>
              <a:rPr sz="1900" spc="-15" dirty="0">
                <a:latin typeface="Arial MT"/>
                <a:cs typeface="Arial MT"/>
              </a:rPr>
              <a:t> </a:t>
            </a:r>
            <a:r>
              <a:rPr sz="1900" spc="-10" dirty="0">
                <a:latin typeface="Arial MT"/>
                <a:cs typeface="Arial MT"/>
              </a:rPr>
              <a:t>based </a:t>
            </a:r>
            <a:r>
              <a:rPr sz="1900" dirty="0">
                <a:latin typeface="Arial MT"/>
                <a:cs typeface="Arial MT"/>
              </a:rPr>
              <a:t>on</a:t>
            </a:r>
            <a:r>
              <a:rPr sz="1900" spc="-35" dirty="0">
                <a:latin typeface="Arial MT"/>
                <a:cs typeface="Arial MT"/>
              </a:rPr>
              <a:t> </a:t>
            </a:r>
            <a:r>
              <a:rPr sz="1900" dirty="0">
                <a:latin typeface="Arial MT"/>
                <a:cs typeface="Arial MT"/>
              </a:rPr>
              <a:t>a</a:t>
            </a:r>
            <a:r>
              <a:rPr sz="1900" spc="-20" dirty="0">
                <a:latin typeface="Arial MT"/>
                <a:cs typeface="Arial MT"/>
              </a:rPr>
              <a:t> </a:t>
            </a:r>
            <a:r>
              <a:rPr sz="1900" dirty="0">
                <a:latin typeface="Arial MT"/>
                <a:cs typeface="Arial MT"/>
              </a:rPr>
              <a:t>constant</a:t>
            </a:r>
            <a:r>
              <a:rPr sz="1900" spc="-20" dirty="0">
                <a:latin typeface="Arial MT"/>
                <a:cs typeface="Arial MT"/>
              </a:rPr>
              <a:t> </a:t>
            </a:r>
            <a:r>
              <a:rPr sz="1900" dirty="0">
                <a:latin typeface="Arial MT"/>
                <a:cs typeface="Arial MT"/>
              </a:rPr>
              <a:t>expression.</a:t>
            </a:r>
            <a:r>
              <a:rPr sz="1900" spc="-20" dirty="0">
                <a:latin typeface="Arial MT"/>
                <a:cs typeface="Arial MT"/>
              </a:rPr>
              <a:t> </a:t>
            </a:r>
            <a:r>
              <a:rPr sz="1900" dirty="0">
                <a:latin typeface="Arial MT"/>
                <a:cs typeface="Arial MT"/>
              </a:rPr>
              <a:t>It</a:t>
            </a:r>
            <a:r>
              <a:rPr sz="1900" spc="-20" dirty="0">
                <a:latin typeface="Arial MT"/>
                <a:cs typeface="Arial MT"/>
              </a:rPr>
              <a:t> </a:t>
            </a:r>
            <a:r>
              <a:rPr sz="1900" dirty="0">
                <a:latin typeface="Arial MT"/>
                <a:cs typeface="Arial MT"/>
              </a:rPr>
              <a:t>allows</a:t>
            </a:r>
            <a:r>
              <a:rPr sz="1900" spc="-20" dirty="0">
                <a:latin typeface="Arial MT"/>
                <a:cs typeface="Arial MT"/>
              </a:rPr>
              <a:t> </a:t>
            </a:r>
            <a:r>
              <a:rPr sz="1900" spc="-25" dirty="0">
                <a:latin typeface="Arial MT"/>
                <a:cs typeface="Arial MT"/>
              </a:rPr>
              <a:t>for</a:t>
            </a:r>
            <a:r>
              <a:rPr sz="1900" spc="500" dirty="0">
                <a:latin typeface="Arial MT"/>
                <a:cs typeface="Arial MT"/>
              </a:rPr>
              <a:t> </a:t>
            </a:r>
            <a:r>
              <a:rPr sz="1900" b="1" spc="-10" dirty="0">
                <a:latin typeface="Arial"/>
                <a:cs typeface="Arial"/>
              </a:rPr>
              <a:t>conditional</a:t>
            </a:r>
            <a:r>
              <a:rPr sz="1900" b="1" spc="-35" dirty="0">
                <a:latin typeface="Arial"/>
                <a:cs typeface="Arial"/>
              </a:rPr>
              <a:t> </a:t>
            </a:r>
            <a:r>
              <a:rPr sz="1900" b="1" spc="-10" dirty="0">
                <a:latin typeface="Arial"/>
                <a:cs typeface="Arial"/>
              </a:rPr>
              <a:t>compilation</a:t>
            </a:r>
            <a:r>
              <a:rPr sz="1900" spc="-10" dirty="0">
                <a:latin typeface="Arial MT"/>
                <a:cs typeface="Arial MT"/>
              </a:rPr>
              <a:t>,</a:t>
            </a:r>
            <a:r>
              <a:rPr sz="1900" spc="-25" dirty="0">
                <a:latin typeface="Arial MT"/>
                <a:cs typeface="Arial MT"/>
              </a:rPr>
              <a:t> </a:t>
            </a:r>
            <a:r>
              <a:rPr sz="1900" dirty="0">
                <a:latin typeface="Arial MT"/>
                <a:cs typeface="Arial MT"/>
              </a:rPr>
              <a:t>meaning</a:t>
            </a:r>
            <a:r>
              <a:rPr sz="1900" spc="-25" dirty="0">
                <a:latin typeface="Arial MT"/>
                <a:cs typeface="Arial MT"/>
              </a:rPr>
              <a:t> </a:t>
            </a:r>
            <a:r>
              <a:rPr sz="1900" dirty="0">
                <a:latin typeface="Arial MT"/>
                <a:cs typeface="Arial MT"/>
              </a:rPr>
              <a:t>that</a:t>
            </a:r>
            <a:r>
              <a:rPr sz="1900" spc="-25" dirty="0">
                <a:latin typeface="Arial MT"/>
                <a:cs typeface="Arial MT"/>
              </a:rPr>
              <a:t> </a:t>
            </a:r>
            <a:r>
              <a:rPr sz="1900" spc="-10" dirty="0">
                <a:latin typeface="Arial MT"/>
                <a:cs typeface="Arial MT"/>
              </a:rPr>
              <a:t>certain </a:t>
            </a:r>
            <a:r>
              <a:rPr sz="1900" dirty="0">
                <a:latin typeface="Arial MT"/>
                <a:cs typeface="Arial MT"/>
              </a:rPr>
              <a:t>parts</a:t>
            </a:r>
            <a:r>
              <a:rPr sz="1900" spc="-30" dirty="0">
                <a:latin typeface="Arial MT"/>
                <a:cs typeface="Arial MT"/>
              </a:rPr>
              <a:t> </a:t>
            </a:r>
            <a:r>
              <a:rPr sz="1900" dirty="0">
                <a:latin typeface="Arial MT"/>
                <a:cs typeface="Arial MT"/>
              </a:rPr>
              <a:t>of</a:t>
            </a:r>
            <a:r>
              <a:rPr sz="1900" spc="-20" dirty="0">
                <a:latin typeface="Arial MT"/>
                <a:cs typeface="Arial MT"/>
              </a:rPr>
              <a:t> </a:t>
            </a:r>
            <a:r>
              <a:rPr sz="1900" dirty="0">
                <a:latin typeface="Arial MT"/>
                <a:cs typeface="Arial MT"/>
              </a:rPr>
              <a:t>the</a:t>
            </a:r>
            <a:r>
              <a:rPr sz="1900" spc="-15" dirty="0">
                <a:latin typeface="Arial MT"/>
                <a:cs typeface="Arial MT"/>
              </a:rPr>
              <a:t> </a:t>
            </a:r>
            <a:r>
              <a:rPr sz="1900" dirty="0">
                <a:latin typeface="Arial MT"/>
                <a:cs typeface="Arial MT"/>
              </a:rPr>
              <a:t>code</a:t>
            </a:r>
            <a:r>
              <a:rPr sz="1900" spc="-20" dirty="0">
                <a:latin typeface="Arial MT"/>
                <a:cs typeface="Arial MT"/>
              </a:rPr>
              <a:t> </a:t>
            </a:r>
            <a:r>
              <a:rPr sz="1900" dirty="0">
                <a:latin typeface="Arial MT"/>
                <a:cs typeface="Arial MT"/>
              </a:rPr>
              <a:t>will</a:t>
            </a:r>
            <a:r>
              <a:rPr sz="1900" spc="-15" dirty="0">
                <a:latin typeface="Arial MT"/>
                <a:cs typeface="Arial MT"/>
              </a:rPr>
              <a:t> </a:t>
            </a:r>
            <a:r>
              <a:rPr sz="1900" dirty="0">
                <a:latin typeface="Arial MT"/>
                <a:cs typeface="Arial MT"/>
              </a:rPr>
              <a:t>only</a:t>
            </a:r>
            <a:r>
              <a:rPr sz="1900" spc="-20" dirty="0">
                <a:latin typeface="Arial MT"/>
                <a:cs typeface="Arial MT"/>
              </a:rPr>
              <a:t> </a:t>
            </a:r>
            <a:r>
              <a:rPr sz="1900" dirty="0">
                <a:latin typeface="Arial MT"/>
                <a:cs typeface="Arial MT"/>
              </a:rPr>
              <a:t>be</a:t>
            </a:r>
            <a:r>
              <a:rPr sz="1900" spc="-15" dirty="0">
                <a:latin typeface="Arial MT"/>
                <a:cs typeface="Arial MT"/>
              </a:rPr>
              <a:t> </a:t>
            </a:r>
            <a:r>
              <a:rPr sz="1900" dirty="0">
                <a:latin typeface="Arial MT"/>
                <a:cs typeface="Arial MT"/>
              </a:rPr>
              <a:t>compiled</a:t>
            </a:r>
            <a:r>
              <a:rPr sz="1900" spc="-20" dirty="0">
                <a:latin typeface="Arial MT"/>
                <a:cs typeface="Arial MT"/>
              </a:rPr>
              <a:t> </a:t>
            </a:r>
            <a:r>
              <a:rPr sz="1900" dirty="0">
                <a:latin typeface="Arial MT"/>
                <a:cs typeface="Arial MT"/>
              </a:rPr>
              <a:t>if</a:t>
            </a:r>
            <a:r>
              <a:rPr sz="1900" spc="-15" dirty="0">
                <a:latin typeface="Arial MT"/>
                <a:cs typeface="Arial MT"/>
              </a:rPr>
              <a:t> </a:t>
            </a:r>
            <a:r>
              <a:rPr sz="1900" spc="-25" dirty="0">
                <a:latin typeface="Arial MT"/>
                <a:cs typeface="Arial MT"/>
              </a:rPr>
              <a:t>the </a:t>
            </a:r>
            <a:r>
              <a:rPr sz="1900" dirty="0">
                <a:latin typeface="Arial MT"/>
                <a:cs typeface="Arial MT"/>
              </a:rPr>
              <a:t>condition</a:t>
            </a:r>
            <a:r>
              <a:rPr sz="1900" spc="-20" dirty="0">
                <a:latin typeface="Arial MT"/>
                <a:cs typeface="Arial MT"/>
              </a:rPr>
              <a:t> </a:t>
            </a:r>
            <a:r>
              <a:rPr sz="1900" dirty="0">
                <a:latin typeface="Arial MT"/>
                <a:cs typeface="Arial MT"/>
              </a:rPr>
              <a:t>inside </a:t>
            </a:r>
            <a:r>
              <a:rPr sz="1900" b="1" spc="-10" dirty="0">
                <a:solidFill>
                  <a:srgbClr val="188037"/>
                </a:solidFill>
                <a:latin typeface="Courier New"/>
                <a:cs typeface="Courier New"/>
              </a:rPr>
              <a:t>#if</a:t>
            </a:r>
            <a:r>
              <a:rPr sz="1900" b="1" spc="-585" dirty="0">
                <a:solidFill>
                  <a:srgbClr val="188037"/>
                </a:solidFill>
                <a:latin typeface="Courier New"/>
                <a:cs typeface="Courier New"/>
              </a:rPr>
              <a:t> </a:t>
            </a:r>
            <a:r>
              <a:rPr sz="1900" dirty="0">
                <a:latin typeface="Arial MT"/>
                <a:cs typeface="Arial MT"/>
              </a:rPr>
              <a:t>evaluates</a:t>
            </a:r>
            <a:r>
              <a:rPr sz="1900" spc="-15" dirty="0">
                <a:latin typeface="Arial MT"/>
                <a:cs typeface="Arial MT"/>
              </a:rPr>
              <a:t> </a:t>
            </a:r>
            <a:r>
              <a:rPr sz="1900" dirty="0">
                <a:latin typeface="Arial MT"/>
                <a:cs typeface="Arial MT"/>
              </a:rPr>
              <a:t>to</a:t>
            </a:r>
            <a:r>
              <a:rPr sz="1900" spc="-10" dirty="0">
                <a:latin typeface="Arial MT"/>
                <a:cs typeface="Arial MT"/>
              </a:rPr>
              <a:t> </a:t>
            </a:r>
            <a:r>
              <a:rPr sz="1900" dirty="0">
                <a:latin typeface="Arial MT"/>
                <a:cs typeface="Arial MT"/>
              </a:rPr>
              <a:t>true</a:t>
            </a:r>
            <a:r>
              <a:rPr sz="1900" spc="-10" dirty="0">
                <a:latin typeface="Arial MT"/>
                <a:cs typeface="Arial MT"/>
              </a:rPr>
              <a:t> (non-zero).</a:t>
            </a:r>
            <a:endParaRPr sz="1900" dirty="0">
              <a:latin typeface="Arial MT"/>
              <a:cs typeface="Arial MT"/>
            </a:endParaRPr>
          </a:p>
          <a:p>
            <a:pPr marL="12700" marR="277495" algn="just">
              <a:lnSpc>
                <a:spcPct val="114999"/>
              </a:lnSpc>
              <a:spcBef>
                <a:spcPts val="1200"/>
              </a:spcBef>
            </a:pPr>
            <a:r>
              <a:rPr sz="1900" b="1" spc="-75" dirty="0">
                <a:solidFill>
                  <a:srgbClr val="188037"/>
                </a:solidFill>
                <a:latin typeface="Courier New"/>
                <a:cs typeface="Courier New"/>
              </a:rPr>
              <a:t>#endif</a:t>
            </a:r>
            <a:r>
              <a:rPr sz="1900" b="1" spc="-195" dirty="0">
                <a:solidFill>
                  <a:srgbClr val="188037"/>
                </a:solidFill>
                <a:latin typeface="Courier New"/>
                <a:cs typeface="Courier New"/>
              </a:rPr>
              <a:t> </a:t>
            </a:r>
            <a:r>
              <a:rPr sz="1900" dirty="0">
                <a:latin typeface="Arial MT"/>
                <a:cs typeface="Arial MT"/>
              </a:rPr>
              <a:t>is</a:t>
            </a:r>
            <a:r>
              <a:rPr sz="1900" spc="-125" dirty="0">
                <a:latin typeface="Arial MT"/>
                <a:cs typeface="Arial MT"/>
              </a:rPr>
              <a:t> </a:t>
            </a:r>
            <a:r>
              <a:rPr sz="1900" dirty="0">
                <a:latin typeface="Arial MT"/>
                <a:cs typeface="Arial MT"/>
              </a:rPr>
              <a:t>part</a:t>
            </a:r>
            <a:r>
              <a:rPr sz="1900" spc="-125" dirty="0">
                <a:latin typeface="Arial MT"/>
                <a:cs typeface="Arial MT"/>
              </a:rPr>
              <a:t> </a:t>
            </a:r>
            <a:r>
              <a:rPr sz="1900" dirty="0">
                <a:latin typeface="Arial MT"/>
                <a:cs typeface="Arial MT"/>
              </a:rPr>
              <a:t>of</a:t>
            </a:r>
            <a:r>
              <a:rPr sz="1900" spc="20" dirty="0">
                <a:latin typeface="Arial MT"/>
                <a:cs typeface="Arial MT"/>
              </a:rPr>
              <a:t> </a:t>
            </a:r>
            <a:r>
              <a:rPr sz="1900" dirty="0">
                <a:latin typeface="Arial MT"/>
                <a:cs typeface="Arial MT"/>
              </a:rPr>
              <a:t>the</a:t>
            </a:r>
            <a:r>
              <a:rPr sz="1900" spc="40" dirty="0">
                <a:latin typeface="Arial MT"/>
                <a:cs typeface="Arial MT"/>
              </a:rPr>
              <a:t> </a:t>
            </a:r>
            <a:r>
              <a:rPr sz="1900" dirty="0">
                <a:latin typeface="Arial MT"/>
                <a:cs typeface="Arial MT"/>
              </a:rPr>
              <a:t>preprocessing</a:t>
            </a:r>
            <a:r>
              <a:rPr sz="1900" spc="40" dirty="0">
                <a:latin typeface="Arial MT"/>
                <a:cs typeface="Arial MT"/>
              </a:rPr>
              <a:t> </a:t>
            </a:r>
            <a:r>
              <a:rPr sz="1900" dirty="0">
                <a:latin typeface="Arial MT"/>
                <a:cs typeface="Arial MT"/>
              </a:rPr>
              <a:t>phase,</a:t>
            </a:r>
            <a:r>
              <a:rPr sz="1900" spc="40" dirty="0">
                <a:latin typeface="Arial MT"/>
                <a:cs typeface="Arial MT"/>
              </a:rPr>
              <a:t> </a:t>
            </a:r>
            <a:r>
              <a:rPr sz="1900" spc="-25" dirty="0">
                <a:latin typeface="Arial MT"/>
                <a:cs typeface="Arial MT"/>
              </a:rPr>
              <a:t>not </a:t>
            </a:r>
            <a:r>
              <a:rPr sz="1900" b="1" dirty="0">
                <a:latin typeface="Arial"/>
                <a:cs typeface="Arial"/>
              </a:rPr>
              <a:t>runtime</a:t>
            </a:r>
            <a:r>
              <a:rPr sz="1900" dirty="0">
                <a:latin typeface="Arial MT"/>
                <a:cs typeface="Arial MT"/>
              </a:rPr>
              <a:t>.</a:t>
            </a:r>
            <a:r>
              <a:rPr sz="1900" spc="-20" dirty="0">
                <a:latin typeface="Arial MT"/>
                <a:cs typeface="Arial MT"/>
              </a:rPr>
              <a:t> </a:t>
            </a:r>
            <a:r>
              <a:rPr sz="1900" dirty="0">
                <a:latin typeface="Arial MT"/>
                <a:cs typeface="Arial MT"/>
              </a:rPr>
              <a:t>It</a:t>
            </a:r>
            <a:r>
              <a:rPr sz="1900" spc="-20" dirty="0">
                <a:latin typeface="Arial MT"/>
                <a:cs typeface="Arial MT"/>
              </a:rPr>
              <a:t> </a:t>
            </a:r>
            <a:r>
              <a:rPr sz="1900" dirty="0">
                <a:latin typeface="Arial MT"/>
                <a:cs typeface="Arial MT"/>
              </a:rPr>
              <a:t>controls</a:t>
            </a:r>
            <a:r>
              <a:rPr sz="1900" spc="-15" dirty="0">
                <a:latin typeface="Arial MT"/>
                <a:cs typeface="Arial MT"/>
              </a:rPr>
              <a:t> </a:t>
            </a:r>
            <a:r>
              <a:rPr sz="1900" dirty="0">
                <a:latin typeface="Arial MT"/>
                <a:cs typeface="Arial MT"/>
              </a:rPr>
              <a:t>whether</a:t>
            </a:r>
            <a:r>
              <a:rPr sz="1900" spc="-20" dirty="0">
                <a:latin typeface="Arial MT"/>
                <a:cs typeface="Arial MT"/>
              </a:rPr>
              <a:t> </a:t>
            </a:r>
            <a:r>
              <a:rPr sz="1900" dirty="0">
                <a:latin typeface="Arial MT"/>
                <a:cs typeface="Arial MT"/>
              </a:rPr>
              <a:t>code</a:t>
            </a:r>
            <a:r>
              <a:rPr sz="1900" spc="-20" dirty="0">
                <a:latin typeface="Arial MT"/>
                <a:cs typeface="Arial MT"/>
              </a:rPr>
              <a:t> </a:t>
            </a:r>
            <a:r>
              <a:rPr sz="1900" dirty="0">
                <a:latin typeface="Arial MT"/>
                <a:cs typeface="Arial MT"/>
              </a:rPr>
              <a:t>between </a:t>
            </a:r>
            <a:r>
              <a:rPr sz="1900" b="1" spc="-25" dirty="0">
                <a:solidFill>
                  <a:srgbClr val="188037"/>
                </a:solidFill>
                <a:latin typeface="Courier New"/>
                <a:cs typeface="Courier New"/>
              </a:rPr>
              <a:t>#if </a:t>
            </a:r>
            <a:r>
              <a:rPr sz="1900" dirty="0">
                <a:latin typeface="Arial MT"/>
                <a:cs typeface="Arial MT"/>
              </a:rPr>
              <a:t>and</a:t>
            </a:r>
            <a:r>
              <a:rPr sz="1900" spc="-25" dirty="0">
                <a:latin typeface="Arial MT"/>
                <a:cs typeface="Arial MT"/>
              </a:rPr>
              <a:t> </a:t>
            </a:r>
            <a:r>
              <a:rPr sz="1900" b="1" spc="-10" dirty="0">
                <a:solidFill>
                  <a:srgbClr val="188037"/>
                </a:solidFill>
                <a:latin typeface="Courier New"/>
                <a:cs typeface="Courier New"/>
              </a:rPr>
              <a:t>#endif</a:t>
            </a:r>
            <a:r>
              <a:rPr sz="1900" b="1" spc="-585" dirty="0">
                <a:solidFill>
                  <a:srgbClr val="188037"/>
                </a:solidFill>
                <a:latin typeface="Courier New"/>
                <a:cs typeface="Courier New"/>
              </a:rPr>
              <a:t> </a:t>
            </a:r>
            <a:r>
              <a:rPr sz="1900" dirty="0">
                <a:latin typeface="Arial MT"/>
                <a:cs typeface="Arial MT"/>
              </a:rPr>
              <a:t>is</a:t>
            </a:r>
            <a:r>
              <a:rPr sz="1900" spc="-10" dirty="0">
                <a:latin typeface="Arial MT"/>
                <a:cs typeface="Arial MT"/>
              </a:rPr>
              <a:t> </a:t>
            </a:r>
            <a:r>
              <a:rPr sz="1900" dirty="0">
                <a:latin typeface="Arial MT"/>
                <a:cs typeface="Arial MT"/>
              </a:rPr>
              <a:t>included</a:t>
            </a:r>
            <a:r>
              <a:rPr sz="1900" spc="-15" dirty="0">
                <a:latin typeface="Arial MT"/>
                <a:cs typeface="Arial MT"/>
              </a:rPr>
              <a:t> </a:t>
            </a:r>
            <a:r>
              <a:rPr sz="1900" dirty="0">
                <a:latin typeface="Arial MT"/>
                <a:cs typeface="Arial MT"/>
              </a:rPr>
              <a:t>in</a:t>
            </a:r>
            <a:r>
              <a:rPr sz="1900" spc="-10" dirty="0">
                <a:latin typeface="Arial MT"/>
                <a:cs typeface="Arial MT"/>
              </a:rPr>
              <a:t> </a:t>
            </a:r>
            <a:r>
              <a:rPr sz="1900" dirty="0">
                <a:latin typeface="Arial MT"/>
                <a:cs typeface="Arial MT"/>
              </a:rPr>
              <a:t>the</a:t>
            </a:r>
            <a:r>
              <a:rPr sz="1900" spc="-10" dirty="0">
                <a:latin typeface="Arial MT"/>
                <a:cs typeface="Arial MT"/>
              </a:rPr>
              <a:t> </a:t>
            </a:r>
            <a:r>
              <a:rPr sz="1900" dirty="0">
                <a:latin typeface="Arial MT"/>
                <a:cs typeface="Arial MT"/>
              </a:rPr>
              <a:t>final</a:t>
            </a:r>
            <a:r>
              <a:rPr sz="1900" spc="-10" dirty="0">
                <a:latin typeface="Arial MT"/>
                <a:cs typeface="Arial MT"/>
              </a:rPr>
              <a:t> program.</a:t>
            </a:r>
            <a:endParaRPr sz="1900" dirty="0">
              <a:latin typeface="Arial MT"/>
              <a:cs typeface="Arial MT"/>
            </a:endParaRPr>
          </a:p>
        </p:txBody>
      </p:sp>
      <p:pic>
        <p:nvPicPr>
          <p:cNvPr id="4" name="object 4" descr="C code snippet showing the #if and #endif directives used for conditional compilation, where a &quot;Debugging is enabled&quot; message prints only if the DEBUG macro is set to 1."/>
          <p:cNvPicPr/>
          <p:nvPr/>
        </p:nvPicPr>
        <p:blipFill>
          <a:blip r:embed="rId3" cstate="print"/>
          <a:stretch>
            <a:fillRect/>
          </a:stretch>
        </p:blipFill>
        <p:spPr>
          <a:xfrm>
            <a:off x="5749350" y="2057400"/>
            <a:ext cx="6290250" cy="39057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885"/>
              </a:lnSpc>
              <a:spcBef>
                <a:spcPts val="100"/>
              </a:spcBef>
            </a:pPr>
            <a:r>
              <a:rPr dirty="0"/>
              <a:t>C</a:t>
            </a:r>
            <a:r>
              <a:rPr spc="-5" dirty="0"/>
              <a:t> </a:t>
            </a:r>
            <a:r>
              <a:rPr spc="-10" dirty="0"/>
              <a:t>Preprocessor</a:t>
            </a:r>
          </a:p>
          <a:p>
            <a:pPr marL="12700">
              <a:lnSpc>
                <a:spcPts val="2285"/>
              </a:lnSpc>
            </a:pPr>
            <a:r>
              <a:rPr sz="2000" spc="-10" dirty="0"/>
              <a:t>Preprocessor</a:t>
            </a:r>
            <a:r>
              <a:rPr sz="2000" spc="-60" dirty="0"/>
              <a:t> </a:t>
            </a:r>
            <a:r>
              <a:rPr sz="2000" spc="-10" dirty="0"/>
              <a:t>Directives</a:t>
            </a:r>
            <a:endParaRPr sz="2000"/>
          </a:p>
        </p:txBody>
      </p:sp>
      <p:sp>
        <p:nvSpPr>
          <p:cNvPr id="3" name="object 3"/>
          <p:cNvSpPr txBox="1"/>
          <p:nvPr/>
        </p:nvSpPr>
        <p:spPr>
          <a:xfrm>
            <a:off x="410375" y="2382194"/>
            <a:ext cx="5042535" cy="3500574"/>
          </a:xfrm>
          <a:prstGeom prst="rect">
            <a:avLst/>
          </a:prstGeom>
        </p:spPr>
        <p:txBody>
          <a:bodyPr vert="horz" wrap="square" lIns="0" tIns="12700" rIns="0" bIns="0" rtlCol="0">
            <a:spAutoFit/>
          </a:bodyPr>
          <a:lstStyle/>
          <a:p>
            <a:pPr marL="12700" marR="156845">
              <a:lnSpc>
                <a:spcPct val="114999"/>
              </a:lnSpc>
              <a:spcBef>
                <a:spcPts val="100"/>
              </a:spcBef>
            </a:pPr>
            <a:r>
              <a:rPr sz="1900" b="1" dirty="0">
                <a:solidFill>
                  <a:srgbClr val="188037"/>
                </a:solidFill>
                <a:latin typeface="Courier New"/>
                <a:cs typeface="Courier New"/>
              </a:rPr>
              <a:t>#ifdef</a:t>
            </a:r>
            <a:r>
              <a:rPr sz="1900" dirty="0">
                <a:latin typeface="Arial MT"/>
                <a:cs typeface="Arial MT"/>
              </a:rPr>
              <a:t>:</a:t>
            </a:r>
            <a:r>
              <a:rPr sz="1900" spc="-30" dirty="0">
                <a:latin typeface="Arial MT"/>
                <a:cs typeface="Arial MT"/>
              </a:rPr>
              <a:t> </a:t>
            </a:r>
            <a:r>
              <a:rPr sz="1900" spc="-10" dirty="0">
                <a:latin typeface="Arial MT"/>
                <a:cs typeface="Arial MT"/>
              </a:rPr>
              <a:t>Conditional</a:t>
            </a:r>
            <a:r>
              <a:rPr sz="1900" spc="-30" dirty="0">
                <a:latin typeface="Arial MT"/>
                <a:cs typeface="Arial MT"/>
              </a:rPr>
              <a:t> </a:t>
            </a:r>
            <a:r>
              <a:rPr sz="1900" spc="-10" dirty="0">
                <a:latin typeface="Arial MT"/>
                <a:cs typeface="Arial MT"/>
              </a:rPr>
              <a:t>compilation</a:t>
            </a:r>
            <a:r>
              <a:rPr sz="1900" spc="-30" dirty="0">
                <a:latin typeface="Arial MT"/>
                <a:cs typeface="Arial MT"/>
              </a:rPr>
              <a:t> </a:t>
            </a:r>
            <a:r>
              <a:rPr sz="1900" dirty="0">
                <a:latin typeface="Arial MT"/>
                <a:cs typeface="Arial MT"/>
              </a:rPr>
              <a:t>if</a:t>
            </a:r>
            <a:r>
              <a:rPr sz="1900" spc="-30" dirty="0">
                <a:latin typeface="Arial MT"/>
                <a:cs typeface="Arial MT"/>
              </a:rPr>
              <a:t> </a:t>
            </a:r>
            <a:r>
              <a:rPr sz="1900" dirty="0">
                <a:latin typeface="Arial MT"/>
                <a:cs typeface="Arial MT"/>
              </a:rPr>
              <a:t>a</a:t>
            </a:r>
            <a:r>
              <a:rPr sz="1900" spc="-30" dirty="0">
                <a:latin typeface="Arial MT"/>
                <a:cs typeface="Arial MT"/>
              </a:rPr>
              <a:t> </a:t>
            </a:r>
            <a:r>
              <a:rPr sz="1900" spc="-10" dirty="0">
                <a:latin typeface="Arial MT"/>
                <a:cs typeface="Arial MT"/>
              </a:rPr>
              <a:t>macro </a:t>
            </a:r>
            <a:r>
              <a:rPr sz="1900" dirty="0">
                <a:latin typeface="Arial MT"/>
                <a:cs typeface="Arial MT"/>
              </a:rPr>
              <a:t>is</a:t>
            </a:r>
            <a:r>
              <a:rPr sz="1900" spc="-20" dirty="0">
                <a:latin typeface="Arial MT"/>
                <a:cs typeface="Arial MT"/>
              </a:rPr>
              <a:t> </a:t>
            </a:r>
            <a:r>
              <a:rPr sz="1900" spc="-10" dirty="0">
                <a:latin typeface="Arial MT"/>
                <a:cs typeface="Arial MT"/>
              </a:rPr>
              <a:t>defined.</a:t>
            </a:r>
            <a:endParaRPr sz="1900" dirty="0">
              <a:latin typeface="Arial MT"/>
              <a:cs typeface="Arial MT"/>
            </a:endParaRPr>
          </a:p>
          <a:p>
            <a:pPr marL="12700" marR="5080">
              <a:lnSpc>
                <a:spcPct val="114999"/>
              </a:lnSpc>
              <a:spcBef>
                <a:spcPts val="1240"/>
              </a:spcBef>
            </a:pPr>
            <a:r>
              <a:rPr sz="1900" b="1" spc="-10" dirty="0">
                <a:solidFill>
                  <a:srgbClr val="188037"/>
                </a:solidFill>
                <a:latin typeface="Courier New"/>
                <a:cs typeface="Courier New"/>
              </a:rPr>
              <a:t>#ifdef</a:t>
            </a:r>
            <a:r>
              <a:rPr sz="1900" b="1" spc="-585" dirty="0">
                <a:solidFill>
                  <a:srgbClr val="188037"/>
                </a:solidFill>
                <a:latin typeface="Courier New"/>
                <a:cs typeface="Courier New"/>
              </a:rPr>
              <a:t> </a:t>
            </a:r>
            <a:r>
              <a:rPr sz="1900" dirty="0">
                <a:latin typeface="Arial MT"/>
                <a:cs typeface="Arial MT"/>
              </a:rPr>
              <a:t>(short</a:t>
            </a:r>
            <a:r>
              <a:rPr sz="1900" spc="-15" dirty="0">
                <a:latin typeface="Arial MT"/>
                <a:cs typeface="Arial MT"/>
              </a:rPr>
              <a:t> </a:t>
            </a:r>
            <a:r>
              <a:rPr sz="1900" dirty="0">
                <a:latin typeface="Arial MT"/>
                <a:cs typeface="Arial MT"/>
              </a:rPr>
              <a:t>for</a:t>
            </a:r>
            <a:r>
              <a:rPr sz="1900" spc="5" dirty="0">
                <a:latin typeface="Arial MT"/>
                <a:cs typeface="Arial MT"/>
              </a:rPr>
              <a:t> </a:t>
            </a:r>
            <a:r>
              <a:rPr sz="1900" b="1" dirty="0">
                <a:latin typeface="Arial"/>
                <a:cs typeface="Arial"/>
              </a:rPr>
              <a:t>if</a:t>
            </a:r>
            <a:r>
              <a:rPr sz="1900" b="1" spc="-10" dirty="0">
                <a:latin typeface="Arial"/>
                <a:cs typeface="Arial"/>
              </a:rPr>
              <a:t> </a:t>
            </a:r>
            <a:r>
              <a:rPr sz="1900" b="1" dirty="0">
                <a:latin typeface="Arial"/>
                <a:cs typeface="Arial"/>
              </a:rPr>
              <a:t>defined</a:t>
            </a:r>
            <a:r>
              <a:rPr sz="1900" dirty="0">
                <a:latin typeface="Arial MT"/>
                <a:cs typeface="Arial MT"/>
              </a:rPr>
              <a:t>)</a:t>
            </a:r>
            <a:r>
              <a:rPr sz="1900" spc="-5" dirty="0">
                <a:latin typeface="Arial MT"/>
                <a:cs typeface="Arial MT"/>
              </a:rPr>
              <a:t> </a:t>
            </a:r>
            <a:r>
              <a:rPr sz="1900" dirty="0">
                <a:latin typeface="Arial MT"/>
                <a:cs typeface="Arial MT"/>
              </a:rPr>
              <a:t>is</a:t>
            </a:r>
            <a:r>
              <a:rPr sz="1900" spc="-10" dirty="0">
                <a:latin typeface="Arial MT"/>
                <a:cs typeface="Arial MT"/>
              </a:rPr>
              <a:t> </a:t>
            </a:r>
            <a:r>
              <a:rPr sz="1900" dirty="0">
                <a:latin typeface="Arial MT"/>
                <a:cs typeface="Arial MT"/>
              </a:rPr>
              <a:t>a</a:t>
            </a:r>
            <a:r>
              <a:rPr sz="1900" spc="-5" dirty="0">
                <a:latin typeface="Arial MT"/>
                <a:cs typeface="Arial MT"/>
              </a:rPr>
              <a:t> </a:t>
            </a:r>
            <a:r>
              <a:rPr sz="1900" b="1" spc="-10" dirty="0">
                <a:latin typeface="Arial"/>
                <a:cs typeface="Arial"/>
              </a:rPr>
              <a:t>preprocessor </a:t>
            </a:r>
            <a:r>
              <a:rPr sz="1900" b="1" dirty="0">
                <a:latin typeface="Arial"/>
                <a:cs typeface="Arial"/>
              </a:rPr>
              <a:t>directive</a:t>
            </a:r>
            <a:r>
              <a:rPr sz="1900" b="1" spc="-25" dirty="0">
                <a:latin typeface="Arial"/>
                <a:cs typeface="Arial"/>
              </a:rPr>
              <a:t> </a:t>
            </a:r>
            <a:r>
              <a:rPr sz="1900" dirty="0">
                <a:latin typeface="Arial MT"/>
                <a:cs typeface="Arial MT"/>
              </a:rPr>
              <a:t>in</a:t>
            </a:r>
            <a:r>
              <a:rPr sz="1900" spc="-20" dirty="0">
                <a:latin typeface="Arial MT"/>
                <a:cs typeface="Arial MT"/>
              </a:rPr>
              <a:t> </a:t>
            </a:r>
            <a:r>
              <a:rPr sz="1900" dirty="0">
                <a:latin typeface="Arial MT"/>
                <a:cs typeface="Arial MT"/>
              </a:rPr>
              <a:t>C</a:t>
            </a:r>
            <a:r>
              <a:rPr sz="1900" spc="-20" dirty="0">
                <a:latin typeface="Arial MT"/>
                <a:cs typeface="Arial MT"/>
              </a:rPr>
              <a:t> </a:t>
            </a:r>
            <a:r>
              <a:rPr sz="1900" dirty="0">
                <a:latin typeface="Arial MT"/>
                <a:cs typeface="Arial MT"/>
              </a:rPr>
              <a:t>used</a:t>
            </a:r>
            <a:r>
              <a:rPr sz="1900" spc="-15" dirty="0">
                <a:latin typeface="Arial MT"/>
                <a:cs typeface="Arial MT"/>
              </a:rPr>
              <a:t> </a:t>
            </a:r>
            <a:r>
              <a:rPr sz="1900" dirty="0">
                <a:latin typeface="Arial MT"/>
                <a:cs typeface="Arial MT"/>
              </a:rPr>
              <a:t>to</a:t>
            </a:r>
            <a:r>
              <a:rPr sz="1900" spc="-20" dirty="0">
                <a:latin typeface="Arial MT"/>
                <a:cs typeface="Arial MT"/>
              </a:rPr>
              <a:t> </a:t>
            </a:r>
            <a:r>
              <a:rPr sz="1900" dirty="0">
                <a:latin typeface="Arial MT"/>
                <a:cs typeface="Arial MT"/>
              </a:rPr>
              <a:t>conditionally</a:t>
            </a:r>
            <a:r>
              <a:rPr sz="1900" spc="-20" dirty="0">
                <a:latin typeface="Arial MT"/>
                <a:cs typeface="Arial MT"/>
              </a:rPr>
              <a:t> </a:t>
            </a:r>
            <a:r>
              <a:rPr sz="1900" dirty="0">
                <a:latin typeface="Arial MT"/>
                <a:cs typeface="Arial MT"/>
              </a:rPr>
              <a:t>include</a:t>
            </a:r>
            <a:r>
              <a:rPr sz="1900" spc="-15" dirty="0">
                <a:latin typeface="Arial MT"/>
                <a:cs typeface="Arial MT"/>
              </a:rPr>
              <a:t> </a:t>
            </a:r>
            <a:r>
              <a:rPr sz="1900" spc="-25" dirty="0">
                <a:latin typeface="Arial MT"/>
                <a:cs typeface="Arial MT"/>
              </a:rPr>
              <a:t>or </a:t>
            </a:r>
            <a:r>
              <a:rPr sz="1900" dirty="0">
                <a:latin typeface="Arial MT"/>
                <a:cs typeface="Arial MT"/>
              </a:rPr>
              <a:t>exclude</a:t>
            </a:r>
            <a:r>
              <a:rPr sz="1900" spc="-30" dirty="0">
                <a:latin typeface="Arial MT"/>
                <a:cs typeface="Arial MT"/>
              </a:rPr>
              <a:t> </a:t>
            </a:r>
            <a:r>
              <a:rPr sz="1900" dirty="0">
                <a:latin typeface="Arial MT"/>
                <a:cs typeface="Arial MT"/>
              </a:rPr>
              <a:t>parts</a:t>
            </a:r>
            <a:r>
              <a:rPr sz="1900" spc="-15" dirty="0">
                <a:latin typeface="Arial MT"/>
                <a:cs typeface="Arial MT"/>
              </a:rPr>
              <a:t> </a:t>
            </a:r>
            <a:r>
              <a:rPr sz="1900" dirty="0">
                <a:latin typeface="Arial MT"/>
                <a:cs typeface="Arial MT"/>
              </a:rPr>
              <a:t>of</a:t>
            </a:r>
            <a:r>
              <a:rPr sz="1900" spc="-15" dirty="0">
                <a:latin typeface="Arial MT"/>
                <a:cs typeface="Arial MT"/>
              </a:rPr>
              <a:t> </a:t>
            </a:r>
            <a:r>
              <a:rPr sz="1900" dirty="0">
                <a:latin typeface="Arial MT"/>
                <a:cs typeface="Arial MT"/>
              </a:rPr>
              <a:t>the</a:t>
            </a:r>
            <a:r>
              <a:rPr sz="1900" spc="-15" dirty="0">
                <a:latin typeface="Arial MT"/>
                <a:cs typeface="Arial MT"/>
              </a:rPr>
              <a:t> </a:t>
            </a:r>
            <a:r>
              <a:rPr sz="1900" dirty="0">
                <a:latin typeface="Arial MT"/>
                <a:cs typeface="Arial MT"/>
              </a:rPr>
              <a:t>code</a:t>
            </a:r>
            <a:r>
              <a:rPr sz="1900" spc="-15" dirty="0">
                <a:latin typeface="Arial MT"/>
                <a:cs typeface="Arial MT"/>
              </a:rPr>
              <a:t> </a:t>
            </a:r>
            <a:r>
              <a:rPr sz="1900" dirty="0">
                <a:latin typeface="Arial MT"/>
                <a:cs typeface="Arial MT"/>
              </a:rPr>
              <a:t>based</a:t>
            </a:r>
            <a:r>
              <a:rPr sz="1900" spc="-15" dirty="0">
                <a:latin typeface="Arial MT"/>
                <a:cs typeface="Arial MT"/>
              </a:rPr>
              <a:t> </a:t>
            </a:r>
            <a:r>
              <a:rPr sz="1900" dirty="0">
                <a:latin typeface="Arial MT"/>
                <a:cs typeface="Arial MT"/>
              </a:rPr>
              <a:t>on</a:t>
            </a:r>
            <a:r>
              <a:rPr sz="1900" spc="-15" dirty="0">
                <a:latin typeface="Arial MT"/>
                <a:cs typeface="Arial MT"/>
              </a:rPr>
              <a:t> </a:t>
            </a:r>
            <a:r>
              <a:rPr sz="1900" dirty="0">
                <a:latin typeface="Arial MT"/>
                <a:cs typeface="Arial MT"/>
              </a:rPr>
              <a:t>whether</a:t>
            </a:r>
            <a:r>
              <a:rPr sz="1900" spc="-15" dirty="0">
                <a:latin typeface="Arial MT"/>
                <a:cs typeface="Arial MT"/>
              </a:rPr>
              <a:t> </a:t>
            </a:r>
            <a:r>
              <a:rPr sz="1900" spc="-50" dirty="0">
                <a:latin typeface="Arial MT"/>
                <a:cs typeface="Arial MT"/>
              </a:rPr>
              <a:t>a </a:t>
            </a:r>
            <a:r>
              <a:rPr sz="1900" dirty="0">
                <a:latin typeface="Arial MT"/>
                <a:cs typeface="Arial MT"/>
              </a:rPr>
              <a:t>particular</a:t>
            </a:r>
            <a:r>
              <a:rPr sz="1900" spc="-25" dirty="0">
                <a:latin typeface="Arial MT"/>
                <a:cs typeface="Arial MT"/>
              </a:rPr>
              <a:t> </a:t>
            </a:r>
            <a:r>
              <a:rPr sz="1900" dirty="0">
                <a:latin typeface="Arial MT"/>
                <a:cs typeface="Arial MT"/>
              </a:rPr>
              <a:t>macro</a:t>
            </a:r>
            <a:r>
              <a:rPr sz="1900" spc="-15" dirty="0">
                <a:latin typeface="Arial MT"/>
                <a:cs typeface="Arial MT"/>
              </a:rPr>
              <a:t> </a:t>
            </a:r>
            <a:r>
              <a:rPr sz="1900" dirty="0">
                <a:latin typeface="Arial MT"/>
                <a:cs typeface="Arial MT"/>
              </a:rPr>
              <a:t>is</a:t>
            </a:r>
            <a:r>
              <a:rPr sz="1900" spc="-15" dirty="0">
                <a:latin typeface="Arial MT"/>
                <a:cs typeface="Arial MT"/>
              </a:rPr>
              <a:t> </a:t>
            </a:r>
            <a:r>
              <a:rPr sz="1900" dirty="0">
                <a:latin typeface="Arial MT"/>
                <a:cs typeface="Arial MT"/>
              </a:rPr>
              <a:t>defined.</a:t>
            </a:r>
            <a:r>
              <a:rPr sz="1900" spc="-15" dirty="0">
                <a:latin typeface="Arial MT"/>
                <a:cs typeface="Arial MT"/>
              </a:rPr>
              <a:t> </a:t>
            </a:r>
            <a:r>
              <a:rPr sz="1900" dirty="0">
                <a:latin typeface="Arial MT"/>
                <a:cs typeface="Arial MT"/>
              </a:rPr>
              <a:t>It</a:t>
            </a:r>
            <a:r>
              <a:rPr sz="1900" spc="-15" dirty="0">
                <a:latin typeface="Arial MT"/>
                <a:cs typeface="Arial MT"/>
              </a:rPr>
              <a:t> </a:t>
            </a:r>
            <a:r>
              <a:rPr sz="1900" dirty="0">
                <a:latin typeface="Arial MT"/>
                <a:cs typeface="Arial MT"/>
              </a:rPr>
              <a:t>allows</a:t>
            </a:r>
            <a:r>
              <a:rPr sz="1900" spc="-15" dirty="0">
                <a:latin typeface="Arial MT"/>
                <a:cs typeface="Arial MT"/>
              </a:rPr>
              <a:t> </a:t>
            </a:r>
            <a:r>
              <a:rPr sz="1900" dirty="0">
                <a:latin typeface="Arial MT"/>
                <a:cs typeface="Arial MT"/>
              </a:rPr>
              <a:t>you</a:t>
            </a:r>
            <a:r>
              <a:rPr sz="1900" spc="-15" dirty="0">
                <a:latin typeface="Arial MT"/>
                <a:cs typeface="Arial MT"/>
              </a:rPr>
              <a:t> </a:t>
            </a:r>
            <a:r>
              <a:rPr sz="1900" dirty="0">
                <a:latin typeface="Arial MT"/>
                <a:cs typeface="Arial MT"/>
              </a:rPr>
              <a:t>to</a:t>
            </a:r>
            <a:r>
              <a:rPr sz="1900" spc="-10" dirty="0">
                <a:latin typeface="Arial MT"/>
                <a:cs typeface="Arial MT"/>
              </a:rPr>
              <a:t> check </a:t>
            </a:r>
            <a:r>
              <a:rPr sz="1900" dirty="0">
                <a:latin typeface="Arial MT"/>
                <a:cs typeface="Arial MT"/>
              </a:rPr>
              <a:t>if</a:t>
            </a:r>
            <a:r>
              <a:rPr sz="1900" spc="-25" dirty="0">
                <a:latin typeface="Arial MT"/>
                <a:cs typeface="Arial MT"/>
              </a:rPr>
              <a:t> </a:t>
            </a:r>
            <a:r>
              <a:rPr sz="1900" dirty="0">
                <a:latin typeface="Arial MT"/>
                <a:cs typeface="Arial MT"/>
              </a:rPr>
              <a:t>a</a:t>
            </a:r>
            <a:r>
              <a:rPr sz="1900" spc="-15" dirty="0">
                <a:latin typeface="Arial MT"/>
                <a:cs typeface="Arial MT"/>
              </a:rPr>
              <a:t> </a:t>
            </a:r>
            <a:r>
              <a:rPr sz="1900" b="1" dirty="0">
                <a:latin typeface="Arial"/>
                <a:cs typeface="Arial"/>
              </a:rPr>
              <a:t>macro</a:t>
            </a:r>
            <a:r>
              <a:rPr sz="1900" b="1" spc="-15" dirty="0">
                <a:latin typeface="Arial"/>
                <a:cs typeface="Arial"/>
              </a:rPr>
              <a:t> </a:t>
            </a:r>
            <a:r>
              <a:rPr sz="1900" dirty="0">
                <a:latin typeface="Arial MT"/>
                <a:cs typeface="Arial MT"/>
              </a:rPr>
              <a:t>(usually</a:t>
            </a:r>
            <a:r>
              <a:rPr sz="1900" spc="-20" dirty="0">
                <a:latin typeface="Arial MT"/>
                <a:cs typeface="Arial MT"/>
              </a:rPr>
              <a:t> </a:t>
            </a:r>
            <a:r>
              <a:rPr sz="1900" dirty="0">
                <a:latin typeface="Arial MT"/>
                <a:cs typeface="Arial MT"/>
              </a:rPr>
              <a:t>defined</a:t>
            </a:r>
            <a:r>
              <a:rPr sz="1900" spc="-20" dirty="0">
                <a:latin typeface="Arial MT"/>
                <a:cs typeface="Arial MT"/>
              </a:rPr>
              <a:t> </a:t>
            </a:r>
            <a:r>
              <a:rPr sz="1900" dirty="0">
                <a:latin typeface="Arial MT"/>
                <a:cs typeface="Arial MT"/>
              </a:rPr>
              <a:t>with</a:t>
            </a:r>
            <a:r>
              <a:rPr sz="1900" spc="-10" dirty="0">
                <a:latin typeface="Arial MT"/>
                <a:cs typeface="Arial MT"/>
              </a:rPr>
              <a:t> </a:t>
            </a:r>
            <a:r>
              <a:rPr sz="1900" b="1" dirty="0">
                <a:solidFill>
                  <a:srgbClr val="188037"/>
                </a:solidFill>
                <a:latin typeface="Courier New"/>
                <a:cs typeface="Courier New"/>
              </a:rPr>
              <a:t>#define</a:t>
            </a:r>
            <a:r>
              <a:rPr sz="1900" dirty="0">
                <a:latin typeface="Arial MT"/>
                <a:cs typeface="Arial MT"/>
              </a:rPr>
              <a:t>)</a:t>
            </a:r>
            <a:r>
              <a:rPr sz="1900" spc="-20" dirty="0">
                <a:latin typeface="Arial MT"/>
                <a:cs typeface="Arial MT"/>
              </a:rPr>
              <a:t> </a:t>
            </a:r>
            <a:r>
              <a:rPr sz="1900" spc="-25" dirty="0">
                <a:latin typeface="Arial MT"/>
                <a:cs typeface="Arial MT"/>
              </a:rPr>
              <a:t>is </a:t>
            </a:r>
            <a:r>
              <a:rPr sz="1900" dirty="0">
                <a:latin typeface="Arial MT"/>
                <a:cs typeface="Arial MT"/>
              </a:rPr>
              <a:t>present,</a:t>
            </a:r>
            <a:r>
              <a:rPr sz="1900" spc="-25" dirty="0">
                <a:latin typeface="Arial MT"/>
                <a:cs typeface="Arial MT"/>
              </a:rPr>
              <a:t> </a:t>
            </a:r>
            <a:r>
              <a:rPr sz="1900" dirty="0">
                <a:latin typeface="Arial MT"/>
                <a:cs typeface="Arial MT"/>
              </a:rPr>
              <a:t>and</a:t>
            </a:r>
            <a:r>
              <a:rPr sz="1900" spc="-15" dirty="0">
                <a:latin typeface="Arial MT"/>
                <a:cs typeface="Arial MT"/>
              </a:rPr>
              <a:t> </a:t>
            </a:r>
            <a:r>
              <a:rPr sz="1900" dirty="0">
                <a:latin typeface="Arial MT"/>
                <a:cs typeface="Arial MT"/>
              </a:rPr>
              <a:t>if</a:t>
            </a:r>
            <a:r>
              <a:rPr sz="1900" spc="-15" dirty="0">
                <a:latin typeface="Arial MT"/>
                <a:cs typeface="Arial MT"/>
              </a:rPr>
              <a:t> </a:t>
            </a:r>
            <a:r>
              <a:rPr sz="1900" dirty="0">
                <a:latin typeface="Arial MT"/>
                <a:cs typeface="Arial MT"/>
              </a:rPr>
              <a:t>so,</a:t>
            </a:r>
            <a:r>
              <a:rPr sz="1900" spc="-15" dirty="0">
                <a:latin typeface="Arial MT"/>
                <a:cs typeface="Arial MT"/>
              </a:rPr>
              <a:t> </a:t>
            </a:r>
            <a:r>
              <a:rPr sz="1900" dirty="0">
                <a:latin typeface="Arial MT"/>
                <a:cs typeface="Arial MT"/>
              </a:rPr>
              <a:t>the</a:t>
            </a:r>
            <a:r>
              <a:rPr sz="1900" spc="-15" dirty="0">
                <a:latin typeface="Arial MT"/>
                <a:cs typeface="Arial MT"/>
              </a:rPr>
              <a:t> </a:t>
            </a:r>
            <a:r>
              <a:rPr sz="1900" dirty="0">
                <a:latin typeface="Arial MT"/>
                <a:cs typeface="Arial MT"/>
              </a:rPr>
              <a:t>code</a:t>
            </a:r>
            <a:r>
              <a:rPr sz="1900" spc="-15" dirty="0">
                <a:latin typeface="Arial MT"/>
                <a:cs typeface="Arial MT"/>
              </a:rPr>
              <a:t> </a:t>
            </a:r>
            <a:r>
              <a:rPr sz="1900" dirty="0">
                <a:latin typeface="Arial MT"/>
                <a:cs typeface="Arial MT"/>
              </a:rPr>
              <a:t>between</a:t>
            </a:r>
            <a:r>
              <a:rPr sz="1900" spc="20" dirty="0">
                <a:latin typeface="Arial MT"/>
                <a:cs typeface="Arial MT"/>
              </a:rPr>
              <a:t> </a:t>
            </a:r>
            <a:r>
              <a:rPr sz="1900" b="1" spc="-10" dirty="0">
                <a:solidFill>
                  <a:srgbClr val="188037"/>
                </a:solidFill>
                <a:latin typeface="Courier New"/>
                <a:cs typeface="Courier New"/>
              </a:rPr>
              <a:t>#ifdef</a:t>
            </a:r>
            <a:r>
              <a:rPr sz="1900" b="1" spc="-585" dirty="0">
                <a:solidFill>
                  <a:srgbClr val="188037"/>
                </a:solidFill>
                <a:latin typeface="Courier New"/>
                <a:cs typeface="Courier New"/>
              </a:rPr>
              <a:t> </a:t>
            </a:r>
            <a:r>
              <a:rPr sz="1900" spc="-25" dirty="0">
                <a:latin typeface="Arial MT"/>
                <a:cs typeface="Arial MT"/>
              </a:rPr>
              <a:t>and </a:t>
            </a:r>
            <a:r>
              <a:rPr sz="1900" b="1" spc="-10" dirty="0">
                <a:solidFill>
                  <a:srgbClr val="188037"/>
                </a:solidFill>
                <a:latin typeface="Courier New"/>
                <a:cs typeface="Courier New"/>
              </a:rPr>
              <a:t>#endif</a:t>
            </a:r>
            <a:r>
              <a:rPr sz="1900" b="1" spc="-585" dirty="0">
                <a:solidFill>
                  <a:srgbClr val="188037"/>
                </a:solidFill>
                <a:latin typeface="Courier New"/>
                <a:cs typeface="Courier New"/>
              </a:rPr>
              <a:t> </a:t>
            </a:r>
            <a:r>
              <a:rPr sz="1900" dirty="0">
                <a:latin typeface="Arial MT"/>
                <a:cs typeface="Arial MT"/>
              </a:rPr>
              <a:t>is</a:t>
            </a:r>
            <a:r>
              <a:rPr sz="1900" spc="-30" dirty="0">
                <a:latin typeface="Arial MT"/>
                <a:cs typeface="Arial MT"/>
              </a:rPr>
              <a:t> </a:t>
            </a:r>
            <a:r>
              <a:rPr sz="1900" dirty="0">
                <a:latin typeface="Arial MT"/>
                <a:cs typeface="Arial MT"/>
              </a:rPr>
              <a:t>included</a:t>
            </a:r>
            <a:r>
              <a:rPr sz="1900" spc="-15" dirty="0">
                <a:latin typeface="Arial MT"/>
                <a:cs typeface="Arial MT"/>
              </a:rPr>
              <a:t> </a:t>
            </a:r>
            <a:r>
              <a:rPr sz="1900" dirty="0">
                <a:latin typeface="Arial MT"/>
                <a:cs typeface="Arial MT"/>
              </a:rPr>
              <a:t>in</a:t>
            </a:r>
            <a:r>
              <a:rPr sz="1900" spc="-15" dirty="0">
                <a:latin typeface="Arial MT"/>
                <a:cs typeface="Arial MT"/>
              </a:rPr>
              <a:t> </a:t>
            </a:r>
            <a:r>
              <a:rPr sz="1900" dirty="0">
                <a:latin typeface="Arial MT"/>
                <a:cs typeface="Arial MT"/>
              </a:rPr>
              <a:t>the</a:t>
            </a:r>
            <a:r>
              <a:rPr sz="1900" spc="-15" dirty="0">
                <a:latin typeface="Arial MT"/>
                <a:cs typeface="Arial MT"/>
              </a:rPr>
              <a:t> </a:t>
            </a:r>
            <a:r>
              <a:rPr sz="1900" dirty="0">
                <a:latin typeface="Arial MT"/>
                <a:cs typeface="Arial MT"/>
              </a:rPr>
              <a:t>compilation</a:t>
            </a:r>
            <a:r>
              <a:rPr sz="1900" spc="-15" dirty="0">
                <a:latin typeface="Arial MT"/>
                <a:cs typeface="Arial MT"/>
              </a:rPr>
              <a:t> </a:t>
            </a:r>
            <a:r>
              <a:rPr sz="1900" spc="-10" dirty="0">
                <a:latin typeface="Arial MT"/>
                <a:cs typeface="Arial MT"/>
              </a:rPr>
              <a:t>process.</a:t>
            </a:r>
            <a:endParaRPr sz="1900" dirty="0">
              <a:latin typeface="Arial MT"/>
              <a:cs typeface="Arial MT"/>
            </a:endParaRPr>
          </a:p>
        </p:txBody>
      </p:sp>
      <p:pic>
        <p:nvPicPr>
          <p:cNvPr id="4" name="object 4" descr="C code snippet using #ifdef, #elif, and #else to detect the operating system (Windows, Linux, or macOS) and print a corresponding message based on defined system macros."/>
          <p:cNvPicPr/>
          <p:nvPr/>
        </p:nvPicPr>
        <p:blipFill>
          <a:blip r:embed="rId3" cstate="print"/>
          <a:stretch>
            <a:fillRect/>
          </a:stretch>
        </p:blipFill>
        <p:spPr>
          <a:xfrm>
            <a:off x="5738300" y="1637601"/>
            <a:ext cx="6108348" cy="4726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885"/>
              </a:lnSpc>
              <a:spcBef>
                <a:spcPts val="100"/>
              </a:spcBef>
            </a:pPr>
            <a:r>
              <a:rPr dirty="0"/>
              <a:t>C</a:t>
            </a:r>
            <a:r>
              <a:rPr spc="-5" dirty="0"/>
              <a:t> </a:t>
            </a:r>
            <a:r>
              <a:rPr spc="-10" dirty="0"/>
              <a:t>Preprocessor</a:t>
            </a:r>
          </a:p>
          <a:p>
            <a:pPr marL="12700">
              <a:lnSpc>
                <a:spcPts val="2285"/>
              </a:lnSpc>
            </a:pPr>
            <a:r>
              <a:rPr sz="2000" spc="-10" dirty="0"/>
              <a:t>Preprocessor</a:t>
            </a:r>
            <a:r>
              <a:rPr sz="2000" spc="-60" dirty="0"/>
              <a:t> </a:t>
            </a:r>
            <a:r>
              <a:rPr sz="2000" spc="-10" dirty="0"/>
              <a:t>Directives</a:t>
            </a:r>
            <a:endParaRPr sz="2000"/>
          </a:p>
        </p:txBody>
      </p:sp>
      <p:sp>
        <p:nvSpPr>
          <p:cNvPr id="3" name="object 3"/>
          <p:cNvSpPr txBox="1"/>
          <p:nvPr/>
        </p:nvSpPr>
        <p:spPr>
          <a:xfrm>
            <a:off x="410375" y="2382194"/>
            <a:ext cx="4555490" cy="4120230"/>
          </a:xfrm>
          <a:prstGeom prst="rect">
            <a:avLst/>
          </a:prstGeom>
        </p:spPr>
        <p:txBody>
          <a:bodyPr vert="horz" wrap="square" lIns="0" tIns="12700" rIns="0" bIns="0" rtlCol="0">
            <a:spAutoFit/>
          </a:bodyPr>
          <a:lstStyle/>
          <a:p>
            <a:pPr marL="12700" marR="293370">
              <a:lnSpc>
                <a:spcPct val="114000"/>
              </a:lnSpc>
              <a:spcBef>
                <a:spcPts val="100"/>
              </a:spcBef>
            </a:pPr>
            <a:r>
              <a:rPr sz="2000" b="1" dirty="0">
                <a:solidFill>
                  <a:srgbClr val="188037"/>
                </a:solidFill>
                <a:latin typeface="Courier New"/>
                <a:cs typeface="Courier New"/>
              </a:rPr>
              <a:t>#ifndef</a:t>
            </a:r>
            <a:r>
              <a:rPr sz="2000" dirty="0">
                <a:latin typeface="Arial MT"/>
                <a:cs typeface="Arial MT"/>
              </a:rPr>
              <a:t>:</a:t>
            </a:r>
            <a:r>
              <a:rPr sz="2000" spc="-35" dirty="0">
                <a:latin typeface="Arial MT"/>
                <a:cs typeface="Arial MT"/>
              </a:rPr>
              <a:t> </a:t>
            </a:r>
            <a:r>
              <a:rPr sz="2000" spc="-10" dirty="0">
                <a:latin typeface="Arial MT"/>
                <a:cs typeface="Arial MT"/>
              </a:rPr>
              <a:t>Conditional</a:t>
            </a:r>
            <a:r>
              <a:rPr sz="2000" spc="-35" dirty="0">
                <a:latin typeface="Arial MT"/>
                <a:cs typeface="Arial MT"/>
              </a:rPr>
              <a:t> </a:t>
            </a:r>
            <a:r>
              <a:rPr sz="2000" spc="-10" dirty="0">
                <a:latin typeface="Arial MT"/>
                <a:cs typeface="Arial MT"/>
              </a:rPr>
              <a:t>compilation</a:t>
            </a:r>
            <a:r>
              <a:rPr sz="2000" spc="-35" dirty="0">
                <a:latin typeface="Arial MT"/>
                <a:cs typeface="Arial MT"/>
              </a:rPr>
              <a:t> </a:t>
            </a:r>
            <a:r>
              <a:rPr sz="2000" dirty="0">
                <a:latin typeface="Arial MT"/>
                <a:cs typeface="Arial MT"/>
              </a:rPr>
              <a:t>if</a:t>
            </a:r>
            <a:r>
              <a:rPr sz="2000" spc="-35" dirty="0">
                <a:latin typeface="Arial MT"/>
                <a:cs typeface="Arial MT"/>
              </a:rPr>
              <a:t> </a:t>
            </a:r>
            <a:r>
              <a:rPr sz="2000" spc="-50" dirty="0">
                <a:latin typeface="Arial MT"/>
                <a:cs typeface="Arial MT"/>
              </a:rPr>
              <a:t>a </a:t>
            </a:r>
            <a:r>
              <a:rPr sz="2000" dirty="0">
                <a:latin typeface="Arial MT"/>
                <a:cs typeface="Arial MT"/>
              </a:rPr>
              <a:t>macro</a:t>
            </a:r>
            <a:r>
              <a:rPr sz="2000" spc="-20" dirty="0">
                <a:latin typeface="Arial MT"/>
                <a:cs typeface="Arial MT"/>
              </a:rPr>
              <a:t> </a:t>
            </a:r>
            <a:r>
              <a:rPr sz="2000" dirty="0">
                <a:latin typeface="Arial MT"/>
                <a:cs typeface="Arial MT"/>
              </a:rPr>
              <a:t>is</a:t>
            </a:r>
            <a:r>
              <a:rPr sz="2000" spc="-20" dirty="0">
                <a:latin typeface="Arial MT"/>
                <a:cs typeface="Arial MT"/>
              </a:rPr>
              <a:t> </a:t>
            </a:r>
            <a:r>
              <a:rPr sz="2000" dirty="0">
                <a:latin typeface="Arial MT"/>
                <a:cs typeface="Arial MT"/>
              </a:rPr>
              <a:t>not</a:t>
            </a:r>
            <a:r>
              <a:rPr sz="2000" spc="-20" dirty="0">
                <a:latin typeface="Arial MT"/>
                <a:cs typeface="Arial MT"/>
              </a:rPr>
              <a:t> </a:t>
            </a:r>
            <a:r>
              <a:rPr sz="2000" spc="-10" dirty="0">
                <a:latin typeface="Arial MT"/>
                <a:cs typeface="Arial MT"/>
              </a:rPr>
              <a:t>defined.</a:t>
            </a:r>
            <a:endParaRPr sz="2000" dirty="0">
              <a:latin typeface="Arial MT"/>
              <a:cs typeface="Arial MT"/>
            </a:endParaRPr>
          </a:p>
          <a:p>
            <a:pPr marL="12700">
              <a:lnSpc>
                <a:spcPct val="114000"/>
              </a:lnSpc>
              <a:spcBef>
                <a:spcPts val="1565"/>
              </a:spcBef>
            </a:pPr>
            <a:r>
              <a:rPr sz="1800" dirty="0">
                <a:latin typeface="Arial MT"/>
                <a:cs typeface="Arial MT"/>
              </a:rPr>
              <a:t>It</a:t>
            </a:r>
            <a:r>
              <a:rPr sz="1800" spc="-20" dirty="0">
                <a:latin typeface="Arial MT"/>
                <a:cs typeface="Arial MT"/>
              </a:rPr>
              <a:t> </a:t>
            </a:r>
            <a:r>
              <a:rPr sz="1800" dirty="0">
                <a:latin typeface="Arial MT"/>
                <a:cs typeface="Arial MT"/>
              </a:rPr>
              <a:t>is</a:t>
            </a:r>
            <a:r>
              <a:rPr sz="1800" spc="-10" dirty="0">
                <a:latin typeface="Arial MT"/>
                <a:cs typeface="Arial MT"/>
              </a:rPr>
              <a:t> </a:t>
            </a:r>
            <a:r>
              <a:rPr sz="1800" dirty="0">
                <a:latin typeface="Arial MT"/>
                <a:cs typeface="Arial MT"/>
              </a:rPr>
              <a:t>mainly</a:t>
            </a:r>
            <a:r>
              <a:rPr sz="1800" spc="-10" dirty="0">
                <a:latin typeface="Arial MT"/>
                <a:cs typeface="Arial MT"/>
              </a:rPr>
              <a:t> </a:t>
            </a:r>
            <a:r>
              <a:rPr sz="1800" dirty="0">
                <a:latin typeface="Arial MT"/>
                <a:cs typeface="Arial MT"/>
              </a:rPr>
              <a:t>used</a:t>
            </a:r>
            <a:r>
              <a:rPr sz="1800" spc="-10" dirty="0">
                <a:latin typeface="Arial MT"/>
                <a:cs typeface="Arial MT"/>
              </a:rPr>
              <a:t> </a:t>
            </a:r>
            <a:r>
              <a:rPr sz="1800" spc="-20" dirty="0">
                <a:latin typeface="Arial MT"/>
                <a:cs typeface="Arial MT"/>
              </a:rPr>
              <a:t>for:</a:t>
            </a:r>
            <a:endParaRPr sz="1800" dirty="0">
              <a:latin typeface="Arial MT"/>
              <a:cs typeface="Arial MT"/>
            </a:endParaRPr>
          </a:p>
          <a:p>
            <a:pPr marL="469900" marR="483870" indent="-419734">
              <a:lnSpc>
                <a:spcPct val="114000"/>
              </a:lnSpc>
              <a:spcBef>
                <a:spcPts val="1200"/>
              </a:spcBef>
              <a:spcAft>
                <a:spcPts val="600"/>
              </a:spcAft>
              <a:buAutoNum type="arabicPeriod"/>
              <a:tabLst>
                <a:tab pos="469900" algn="l"/>
              </a:tabLst>
            </a:pPr>
            <a:r>
              <a:rPr sz="1800" b="1" dirty="0">
                <a:latin typeface="Arial"/>
                <a:cs typeface="Arial"/>
              </a:rPr>
              <a:t>Header</a:t>
            </a:r>
            <a:r>
              <a:rPr sz="1800" b="1" spc="-40" dirty="0">
                <a:latin typeface="Arial"/>
                <a:cs typeface="Arial"/>
              </a:rPr>
              <a:t> </a:t>
            </a:r>
            <a:r>
              <a:rPr sz="1800" b="1" dirty="0">
                <a:latin typeface="Arial"/>
                <a:cs typeface="Arial"/>
              </a:rPr>
              <a:t>guards</a:t>
            </a:r>
            <a:r>
              <a:rPr sz="1800" dirty="0">
                <a:latin typeface="Arial MT"/>
                <a:cs typeface="Arial MT"/>
              </a:rPr>
              <a:t>,</a:t>
            </a:r>
            <a:r>
              <a:rPr sz="1800" spc="-25"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prevent</a:t>
            </a:r>
            <a:r>
              <a:rPr sz="1800" spc="-25" dirty="0">
                <a:latin typeface="Arial MT"/>
                <a:cs typeface="Arial MT"/>
              </a:rPr>
              <a:t> </a:t>
            </a:r>
            <a:r>
              <a:rPr sz="1800" spc="-10" dirty="0">
                <a:latin typeface="Arial MT"/>
                <a:cs typeface="Arial MT"/>
              </a:rPr>
              <a:t>multiple </a:t>
            </a:r>
            <a:r>
              <a:rPr sz="1800" dirty="0">
                <a:latin typeface="Arial MT"/>
                <a:cs typeface="Arial MT"/>
              </a:rPr>
              <a:t>inclusions</a:t>
            </a:r>
            <a:r>
              <a:rPr sz="1800" spc="-25" dirty="0">
                <a:latin typeface="Arial MT"/>
                <a:cs typeface="Arial MT"/>
              </a:rPr>
              <a:t> </a:t>
            </a:r>
            <a:r>
              <a:rPr sz="1800" dirty="0">
                <a:latin typeface="Arial MT"/>
                <a:cs typeface="Arial MT"/>
              </a:rPr>
              <a:t>of</a:t>
            </a:r>
            <a:r>
              <a:rPr sz="1800" spc="-10" dirty="0">
                <a:latin typeface="Arial MT"/>
                <a:cs typeface="Arial MT"/>
              </a:rPr>
              <a:t> </a:t>
            </a:r>
            <a:r>
              <a:rPr sz="1800" dirty="0">
                <a:latin typeface="Arial MT"/>
                <a:cs typeface="Arial MT"/>
              </a:rPr>
              <a:t>the</a:t>
            </a:r>
            <a:r>
              <a:rPr sz="1800" spc="-10" dirty="0">
                <a:latin typeface="Arial MT"/>
                <a:cs typeface="Arial MT"/>
              </a:rPr>
              <a:t> </a:t>
            </a:r>
            <a:r>
              <a:rPr sz="1800" dirty="0">
                <a:latin typeface="Arial MT"/>
                <a:cs typeface="Arial MT"/>
              </a:rPr>
              <a:t>same</a:t>
            </a:r>
            <a:r>
              <a:rPr sz="1800" spc="-10" dirty="0">
                <a:latin typeface="Arial MT"/>
                <a:cs typeface="Arial MT"/>
              </a:rPr>
              <a:t> </a:t>
            </a:r>
            <a:r>
              <a:rPr sz="1800" dirty="0">
                <a:latin typeface="Arial MT"/>
                <a:cs typeface="Arial MT"/>
              </a:rPr>
              <a:t>header</a:t>
            </a:r>
            <a:r>
              <a:rPr sz="1800" spc="-10" dirty="0">
                <a:latin typeface="Arial MT"/>
                <a:cs typeface="Arial MT"/>
              </a:rPr>
              <a:t> </a:t>
            </a:r>
            <a:r>
              <a:rPr sz="1800" spc="-20" dirty="0">
                <a:latin typeface="Arial MT"/>
                <a:cs typeface="Arial MT"/>
              </a:rPr>
              <a:t>file.</a:t>
            </a:r>
            <a:endParaRPr sz="1800" dirty="0">
              <a:latin typeface="Arial MT"/>
              <a:cs typeface="Arial MT"/>
            </a:endParaRPr>
          </a:p>
          <a:p>
            <a:pPr marL="469900" marR="179705" indent="-419734">
              <a:lnSpc>
                <a:spcPct val="114000"/>
              </a:lnSpc>
              <a:buAutoNum type="arabicPeriod"/>
              <a:tabLst>
                <a:tab pos="469900" algn="l"/>
              </a:tabLst>
            </a:pPr>
            <a:r>
              <a:rPr sz="1800" b="1" spc="-10" dirty="0">
                <a:latin typeface="Arial"/>
                <a:cs typeface="Arial"/>
              </a:rPr>
              <a:t>Conditional</a:t>
            </a:r>
            <a:r>
              <a:rPr sz="1800" b="1" spc="-35" dirty="0">
                <a:latin typeface="Arial"/>
                <a:cs typeface="Arial"/>
              </a:rPr>
              <a:t> </a:t>
            </a:r>
            <a:r>
              <a:rPr sz="1800" b="1" dirty="0">
                <a:latin typeface="Arial"/>
                <a:cs typeface="Arial"/>
              </a:rPr>
              <a:t>compilation</a:t>
            </a:r>
            <a:r>
              <a:rPr sz="1800" dirty="0">
                <a:latin typeface="Arial MT"/>
                <a:cs typeface="Arial MT"/>
              </a:rPr>
              <a:t>,</a:t>
            </a:r>
            <a:r>
              <a:rPr sz="1800" spc="-35" dirty="0">
                <a:latin typeface="Arial MT"/>
                <a:cs typeface="Arial MT"/>
              </a:rPr>
              <a:t> </a:t>
            </a:r>
            <a:r>
              <a:rPr sz="1800" spc="-10" dirty="0">
                <a:latin typeface="Arial MT"/>
                <a:cs typeface="Arial MT"/>
              </a:rPr>
              <a:t>where </a:t>
            </a:r>
            <a:r>
              <a:rPr sz="1800" dirty="0">
                <a:latin typeface="Arial MT"/>
                <a:cs typeface="Arial MT"/>
              </a:rPr>
              <a:t>specific</a:t>
            </a:r>
            <a:r>
              <a:rPr sz="1800" spc="-15" dirty="0">
                <a:latin typeface="Arial MT"/>
                <a:cs typeface="Arial MT"/>
              </a:rPr>
              <a:t> </a:t>
            </a:r>
            <a:r>
              <a:rPr sz="1800" dirty="0">
                <a:latin typeface="Arial MT"/>
                <a:cs typeface="Arial MT"/>
              </a:rPr>
              <a:t>code</a:t>
            </a:r>
            <a:r>
              <a:rPr sz="1800" spc="-15"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included</a:t>
            </a:r>
            <a:r>
              <a:rPr sz="1800" spc="-15" dirty="0">
                <a:latin typeface="Arial MT"/>
                <a:cs typeface="Arial MT"/>
              </a:rPr>
              <a:t> </a:t>
            </a:r>
            <a:r>
              <a:rPr sz="1800" dirty="0">
                <a:latin typeface="Arial MT"/>
                <a:cs typeface="Arial MT"/>
              </a:rPr>
              <a:t>only</a:t>
            </a:r>
            <a:r>
              <a:rPr sz="1800" spc="-15" dirty="0">
                <a:latin typeface="Arial MT"/>
                <a:cs typeface="Arial MT"/>
              </a:rPr>
              <a:t> </a:t>
            </a:r>
            <a:r>
              <a:rPr sz="1800" dirty="0">
                <a:latin typeface="Arial MT"/>
                <a:cs typeface="Arial MT"/>
              </a:rPr>
              <a:t>if</a:t>
            </a:r>
            <a:r>
              <a:rPr sz="1800" spc="-10" dirty="0">
                <a:latin typeface="Arial MT"/>
                <a:cs typeface="Arial MT"/>
              </a:rPr>
              <a:t> </a:t>
            </a:r>
            <a:r>
              <a:rPr sz="1800" spc="-50" dirty="0">
                <a:latin typeface="Arial MT"/>
                <a:cs typeface="Arial MT"/>
              </a:rPr>
              <a:t>a </a:t>
            </a:r>
            <a:r>
              <a:rPr sz="1800" dirty="0">
                <a:latin typeface="Arial MT"/>
                <a:cs typeface="Arial MT"/>
              </a:rPr>
              <a:t>particular</a:t>
            </a:r>
            <a:r>
              <a:rPr sz="1800" spc="-15" dirty="0">
                <a:latin typeface="Arial MT"/>
                <a:cs typeface="Arial MT"/>
              </a:rPr>
              <a:t> </a:t>
            </a:r>
            <a:r>
              <a:rPr sz="1800" dirty="0">
                <a:latin typeface="Arial MT"/>
                <a:cs typeface="Arial MT"/>
              </a:rPr>
              <a:t>macro</a:t>
            </a:r>
            <a:r>
              <a:rPr sz="1800" spc="-15" dirty="0">
                <a:latin typeface="Arial MT"/>
                <a:cs typeface="Arial MT"/>
              </a:rPr>
              <a:t> </a:t>
            </a:r>
            <a:r>
              <a:rPr sz="1800" dirty="0">
                <a:latin typeface="Arial MT"/>
                <a:cs typeface="Arial MT"/>
              </a:rPr>
              <a:t>has</a:t>
            </a:r>
            <a:r>
              <a:rPr sz="1800" spc="-15" dirty="0">
                <a:latin typeface="Arial MT"/>
                <a:cs typeface="Arial MT"/>
              </a:rPr>
              <a:t> </a:t>
            </a:r>
            <a:r>
              <a:rPr sz="1800" dirty="0">
                <a:latin typeface="Arial MT"/>
                <a:cs typeface="Arial MT"/>
              </a:rPr>
              <a:t>not</a:t>
            </a:r>
            <a:r>
              <a:rPr sz="1800" spc="-15" dirty="0">
                <a:latin typeface="Arial MT"/>
                <a:cs typeface="Arial MT"/>
              </a:rPr>
              <a:t> </a:t>
            </a:r>
            <a:r>
              <a:rPr sz="1800" dirty="0">
                <a:latin typeface="Arial MT"/>
                <a:cs typeface="Arial MT"/>
              </a:rPr>
              <a:t>been</a:t>
            </a:r>
            <a:r>
              <a:rPr sz="1800" spc="-10" dirty="0">
                <a:latin typeface="Arial MT"/>
                <a:cs typeface="Arial MT"/>
              </a:rPr>
              <a:t> defined.</a:t>
            </a:r>
            <a:endParaRPr sz="1800" dirty="0">
              <a:latin typeface="Arial MT"/>
              <a:cs typeface="Arial MT"/>
            </a:endParaRPr>
          </a:p>
          <a:p>
            <a:pPr marL="12700" marR="5080">
              <a:lnSpc>
                <a:spcPct val="114000"/>
              </a:lnSpc>
              <a:spcBef>
                <a:spcPts val="1200"/>
              </a:spcBef>
            </a:pPr>
            <a:r>
              <a:rPr sz="1800" dirty="0">
                <a:latin typeface="Arial MT"/>
                <a:cs typeface="Arial MT"/>
              </a:rPr>
              <a:t>The</a:t>
            </a:r>
            <a:r>
              <a:rPr sz="1800" spc="-25" dirty="0">
                <a:latin typeface="Arial MT"/>
                <a:cs typeface="Arial MT"/>
              </a:rPr>
              <a:t> </a:t>
            </a:r>
            <a:r>
              <a:rPr sz="1800" dirty="0">
                <a:latin typeface="Arial MT"/>
                <a:cs typeface="Arial MT"/>
              </a:rPr>
              <a:t>use</a:t>
            </a:r>
            <a:r>
              <a:rPr sz="1800" spc="-10" dirty="0">
                <a:latin typeface="Arial MT"/>
                <a:cs typeface="Arial MT"/>
              </a:rPr>
              <a:t> </a:t>
            </a:r>
            <a:r>
              <a:rPr sz="1800" dirty="0">
                <a:latin typeface="Arial MT"/>
                <a:cs typeface="Arial MT"/>
              </a:rPr>
              <a:t>of</a:t>
            </a:r>
            <a:r>
              <a:rPr sz="1800" spc="5" dirty="0">
                <a:latin typeface="Arial MT"/>
                <a:cs typeface="Arial MT"/>
              </a:rPr>
              <a:t> </a:t>
            </a:r>
            <a:r>
              <a:rPr sz="1800" b="1" spc="-10" dirty="0">
                <a:solidFill>
                  <a:srgbClr val="188037"/>
                </a:solidFill>
                <a:latin typeface="Courier New"/>
                <a:cs typeface="Courier New"/>
              </a:rPr>
              <a:t>#ifndef</a:t>
            </a:r>
            <a:r>
              <a:rPr sz="1800" b="1" spc="-585" dirty="0">
                <a:solidFill>
                  <a:srgbClr val="188037"/>
                </a:solidFill>
                <a:latin typeface="Courier New"/>
                <a:cs typeface="Courier New"/>
              </a:rPr>
              <a:t> </a:t>
            </a:r>
            <a:r>
              <a:rPr sz="1800" dirty="0">
                <a:latin typeface="Arial MT"/>
                <a:cs typeface="Arial MT"/>
              </a:rPr>
              <a:t>helps</a:t>
            </a:r>
            <a:r>
              <a:rPr sz="1800" spc="-10" dirty="0">
                <a:latin typeface="Arial MT"/>
                <a:cs typeface="Arial MT"/>
              </a:rPr>
              <a:t> </a:t>
            </a:r>
            <a:r>
              <a:rPr sz="1800" dirty="0">
                <a:latin typeface="Arial MT"/>
                <a:cs typeface="Arial MT"/>
              </a:rPr>
              <a:t>in</a:t>
            </a:r>
            <a:r>
              <a:rPr sz="1800" spc="-10" dirty="0">
                <a:latin typeface="Arial MT"/>
                <a:cs typeface="Arial MT"/>
              </a:rPr>
              <a:t> </a:t>
            </a:r>
            <a:r>
              <a:rPr sz="1800" dirty="0">
                <a:latin typeface="Arial MT"/>
                <a:cs typeface="Arial MT"/>
              </a:rPr>
              <a:t>avoiding</a:t>
            </a:r>
            <a:r>
              <a:rPr sz="1800" spc="-5" dirty="0">
                <a:latin typeface="Arial MT"/>
                <a:cs typeface="Arial MT"/>
              </a:rPr>
              <a:t> </a:t>
            </a:r>
            <a:r>
              <a:rPr sz="1800" spc="-10" dirty="0">
                <a:latin typeface="Arial MT"/>
                <a:cs typeface="Arial MT"/>
              </a:rPr>
              <a:t>errors </a:t>
            </a:r>
            <a:r>
              <a:rPr sz="1800" dirty="0">
                <a:latin typeface="Arial MT"/>
                <a:cs typeface="Arial MT"/>
              </a:rPr>
              <a:t>related</a:t>
            </a:r>
            <a:r>
              <a:rPr sz="1800" spc="-30"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redefinitions</a:t>
            </a:r>
            <a:r>
              <a:rPr sz="1800" spc="-15" dirty="0">
                <a:latin typeface="Arial MT"/>
                <a:cs typeface="Arial MT"/>
              </a:rPr>
              <a:t> </a:t>
            </a:r>
            <a:r>
              <a:rPr sz="1800" dirty="0">
                <a:latin typeface="Arial MT"/>
                <a:cs typeface="Arial MT"/>
              </a:rPr>
              <a:t>and</a:t>
            </a:r>
            <a:r>
              <a:rPr sz="1800" spc="-20" dirty="0">
                <a:latin typeface="Arial MT"/>
                <a:cs typeface="Arial MT"/>
              </a:rPr>
              <a:t> </a:t>
            </a:r>
            <a:r>
              <a:rPr sz="1800" dirty="0">
                <a:latin typeface="Arial MT"/>
                <a:cs typeface="Arial MT"/>
              </a:rPr>
              <a:t>in</a:t>
            </a:r>
            <a:r>
              <a:rPr sz="1800" spc="-20" dirty="0">
                <a:latin typeface="Arial MT"/>
                <a:cs typeface="Arial MT"/>
              </a:rPr>
              <a:t> </a:t>
            </a:r>
            <a:r>
              <a:rPr sz="1800" dirty="0">
                <a:latin typeface="Arial MT"/>
                <a:cs typeface="Arial MT"/>
              </a:rPr>
              <a:t>writing</a:t>
            </a:r>
            <a:r>
              <a:rPr sz="1800" spc="-15" dirty="0">
                <a:latin typeface="Arial MT"/>
                <a:cs typeface="Arial MT"/>
              </a:rPr>
              <a:t> </a:t>
            </a:r>
            <a:r>
              <a:rPr sz="1800" spc="-20" dirty="0">
                <a:latin typeface="Arial MT"/>
                <a:cs typeface="Arial MT"/>
              </a:rPr>
              <a:t>more </a:t>
            </a:r>
            <a:r>
              <a:rPr sz="1800" dirty="0">
                <a:latin typeface="Arial MT"/>
                <a:cs typeface="Arial MT"/>
              </a:rPr>
              <a:t>modular,</a:t>
            </a:r>
            <a:r>
              <a:rPr sz="1800" spc="-60" dirty="0">
                <a:latin typeface="Arial MT"/>
                <a:cs typeface="Arial MT"/>
              </a:rPr>
              <a:t> </a:t>
            </a:r>
            <a:r>
              <a:rPr sz="1800" dirty="0">
                <a:latin typeface="Arial MT"/>
                <a:cs typeface="Arial MT"/>
              </a:rPr>
              <a:t>portable,</a:t>
            </a:r>
            <a:r>
              <a:rPr sz="1800" spc="-55" dirty="0">
                <a:latin typeface="Arial MT"/>
                <a:cs typeface="Arial MT"/>
              </a:rPr>
              <a:t> </a:t>
            </a:r>
            <a:r>
              <a:rPr sz="1800" dirty="0">
                <a:latin typeface="Arial MT"/>
                <a:cs typeface="Arial MT"/>
              </a:rPr>
              <a:t>and</a:t>
            </a:r>
            <a:r>
              <a:rPr sz="1800" spc="-55" dirty="0">
                <a:latin typeface="Arial MT"/>
                <a:cs typeface="Arial MT"/>
              </a:rPr>
              <a:t> </a:t>
            </a:r>
            <a:r>
              <a:rPr sz="1800" dirty="0">
                <a:latin typeface="Arial MT"/>
                <a:cs typeface="Arial MT"/>
              </a:rPr>
              <a:t>maintainable</a:t>
            </a:r>
            <a:r>
              <a:rPr sz="1800" spc="-55" dirty="0">
                <a:latin typeface="Arial MT"/>
                <a:cs typeface="Arial MT"/>
              </a:rPr>
              <a:t> </a:t>
            </a:r>
            <a:r>
              <a:rPr sz="1800" spc="-10" dirty="0">
                <a:latin typeface="Arial MT"/>
                <a:cs typeface="Arial MT"/>
              </a:rPr>
              <a:t>code.</a:t>
            </a:r>
            <a:endParaRPr sz="1800" dirty="0">
              <a:latin typeface="Arial MT"/>
              <a:cs typeface="Arial MT"/>
            </a:endParaRPr>
          </a:p>
        </p:txBody>
      </p:sp>
      <p:pic>
        <p:nvPicPr>
          <p:cNvPr id="4" name="object 4" descr="C code snippet illustrating the #ifndef directive, which checks if PI is not defined before assigning it a default value of 3.14159."/>
          <p:cNvPicPr/>
          <p:nvPr/>
        </p:nvPicPr>
        <p:blipFill>
          <a:blip r:embed="rId3" cstate="print"/>
          <a:stretch>
            <a:fillRect/>
          </a:stretch>
        </p:blipFill>
        <p:spPr>
          <a:xfrm>
            <a:off x="5265150" y="2126750"/>
            <a:ext cx="6800499" cy="3459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10375" y="1415541"/>
            <a:ext cx="2790025" cy="705321"/>
          </a:xfrm>
          <a:prstGeom prst="rect">
            <a:avLst/>
          </a:prstGeom>
        </p:spPr>
        <p:txBody>
          <a:bodyPr vert="horz" wrap="square" lIns="0" tIns="12700" rIns="0" bIns="0" rtlCol="0">
            <a:spAutoFit/>
          </a:bodyPr>
          <a:lstStyle/>
          <a:p>
            <a:pPr marL="12700">
              <a:spcBef>
                <a:spcPts val="100"/>
              </a:spcBef>
            </a:pPr>
            <a:r>
              <a:rPr dirty="0"/>
              <a:t>C</a:t>
            </a:r>
            <a:r>
              <a:rPr spc="-5" dirty="0"/>
              <a:t> </a:t>
            </a:r>
            <a:r>
              <a:rPr spc="-10" dirty="0"/>
              <a:t>Preprocessor</a:t>
            </a:r>
            <a:br>
              <a:rPr lang="en-US" spc="-10" dirty="0"/>
            </a:br>
            <a:r>
              <a:rPr lang="en-US" sz="2000" spc="-10" dirty="0" err="1"/>
              <a:t>Preprocessor</a:t>
            </a:r>
            <a:r>
              <a:rPr lang="en-US" sz="2000" spc="-60" dirty="0"/>
              <a:t> </a:t>
            </a:r>
            <a:r>
              <a:rPr lang="en-US" sz="2000" spc="-10" dirty="0"/>
              <a:t>Directives</a:t>
            </a:r>
            <a:endParaRPr sz="2000" spc="-10" dirty="0"/>
          </a:p>
        </p:txBody>
      </p:sp>
      <p:sp>
        <p:nvSpPr>
          <p:cNvPr id="4" name="object 4"/>
          <p:cNvSpPr txBox="1"/>
          <p:nvPr/>
        </p:nvSpPr>
        <p:spPr>
          <a:xfrm>
            <a:off x="410375" y="2364079"/>
            <a:ext cx="6111875" cy="4112921"/>
          </a:xfrm>
          <a:prstGeom prst="rect">
            <a:avLst/>
          </a:prstGeom>
        </p:spPr>
        <p:txBody>
          <a:bodyPr vert="horz" wrap="square" lIns="0" tIns="12700" rIns="0" bIns="0" rtlCol="0">
            <a:spAutoFit/>
          </a:bodyPr>
          <a:lstStyle/>
          <a:p>
            <a:pPr marL="12700">
              <a:lnSpc>
                <a:spcPct val="114000"/>
              </a:lnSpc>
              <a:spcBef>
                <a:spcPts val="1605"/>
              </a:spcBef>
            </a:pPr>
            <a:r>
              <a:rPr sz="1900" b="1" dirty="0">
                <a:solidFill>
                  <a:srgbClr val="188037"/>
                </a:solidFill>
                <a:latin typeface="Courier New"/>
                <a:cs typeface="Courier New"/>
              </a:rPr>
              <a:t>#undef</a:t>
            </a:r>
            <a:r>
              <a:rPr sz="1900" dirty="0">
                <a:latin typeface="Arial MT"/>
                <a:cs typeface="Arial MT"/>
              </a:rPr>
              <a:t>:</a:t>
            </a:r>
            <a:r>
              <a:rPr sz="1900" spc="-80" dirty="0">
                <a:latin typeface="Arial MT"/>
                <a:cs typeface="Arial MT"/>
              </a:rPr>
              <a:t> </a:t>
            </a:r>
            <a:r>
              <a:rPr sz="1900" dirty="0">
                <a:latin typeface="Arial MT"/>
                <a:cs typeface="Arial MT"/>
              </a:rPr>
              <a:t>Undefines</a:t>
            </a:r>
            <a:r>
              <a:rPr sz="1900" spc="-65" dirty="0">
                <a:latin typeface="Arial MT"/>
                <a:cs typeface="Arial MT"/>
              </a:rPr>
              <a:t> </a:t>
            </a:r>
            <a:r>
              <a:rPr sz="1900" dirty="0">
                <a:latin typeface="Arial MT"/>
                <a:cs typeface="Arial MT"/>
              </a:rPr>
              <a:t>a</a:t>
            </a:r>
            <a:r>
              <a:rPr sz="1900" spc="-65" dirty="0">
                <a:latin typeface="Arial MT"/>
                <a:cs typeface="Arial MT"/>
              </a:rPr>
              <a:t> </a:t>
            </a:r>
            <a:r>
              <a:rPr sz="1900" dirty="0">
                <a:latin typeface="Arial MT"/>
                <a:cs typeface="Arial MT"/>
              </a:rPr>
              <a:t>previously</a:t>
            </a:r>
            <a:r>
              <a:rPr sz="1900" spc="-65" dirty="0">
                <a:latin typeface="Arial MT"/>
                <a:cs typeface="Arial MT"/>
              </a:rPr>
              <a:t> </a:t>
            </a:r>
            <a:r>
              <a:rPr sz="1900" dirty="0">
                <a:latin typeface="Arial MT"/>
                <a:cs typeface="Arial MT"/>
              </a:rPr>
              <a:t>defined</a:t>
            </a:r>
            <a:r>
              <a:rPr sz="1900" spc="-65" dirty="0">
                <a:latin typeface="Arial MT"/>
                <a:cs typeface="Arial MT"/>
              </a:rPr>
              <a:t> </a:t>
            </a:r>
            <a:r>
              <a:rPr sz="1900" spc="-10" dirty="0">
                <a:latin typeface="Arial MT"/>
                <a:cs typeface="Arial MT"/>
              </a:rPr>
              <a:t>macro.</a:t>
            </a:r>
            <a:endParaRPr sz="1900" dirty="0">
              <a:latin typeface="Arial MT"/>
              <a:cs typeface="Arial MT"/>
            </a:endParaRPr>
          </a:p>
          <a:p>
            <a:pPr marL="12700" marR="327660">
              <a:lnSpc>
                <a:spcPct val="114000"/>
              </a:lnSpc>
              <a:spcBef>
                <a:spcPts val="1200"/>
              </a:spcBef>
              <a:spcAft>
                <a:spcPts val="1200"/>
              </a:spcAft>
            </a:pPr>
            <a:r>
              <a:rPr sz="1900" dirty="0">
                <a:latin typeface="Arial MT"/>
                <a:cs typeface="Arial MT"/>
              </a:rPr>
              <a:t>Used</a:t>
            </a:r>
            <a:r>
              <a:rPr sz="1900" spc="-75" dirty="0">
                <a:latin typeface="Arial MT"/>
                <a:cs typeface="Arial MT"/>
              </a:rPr>
              <a:t> </a:t>
            </a:r>
            <a:r>
              <a:rPr sz="1900" dirty="0">
                <a:latin typeface="Arial MT"/>
                <a:cs typeface="Arial MT"/>
              </a:rPr>
              <a:t>to</a:t>
            </a:r>
            <a:r>
              <a:rPr sz="1900" spc="-65" dirty="0">
                <a:latin typeface="Arial MT"/>
                <a:cs typeface="Arial MT"/>
              </a:rPr>
              <a:t> </a:t>
            </a:r>
            <a:r>
              <a:rPr sz="1900" b="1" dirty="0">
                <a:latin typeface="Arial"/>
                <a:cs typeface="Arial"/>
              </a:rPr>
              <a:t>undefine</a:t>
            </a:r>
            <a:r>
              <a:rPr sz="1900" b="1" spc="-70" dirty="0">
                <a:latin typeface="Arial"/>
                <a:cs typeface="Arial"/>
              </a:rPr>
              <a:t> </a:t>
            </a:r>
            <a:r>
              <a:rPr sz="1900" dirty="0">
                <a:latin typeface="Arial MT"/>
                <a:cs typeface="Arial MT"/>
              </a:rPr>
              <a:t>a</a:t>
            </a:r>
            <a:r>
              <a:rPr sz="1900" spc="-70" dirty="0">
                <a:latin typeface="Arial MT"/>
                <a:cs typeface="Arial MT"/>
              </a:rPr>
              <a:t> </a:t>
            </a:r>
            <a:r>
              <a:rPr sz="1900" dirty="0">
                <a:latin typeface="Arial MT"/>
                <a:cs typeface="Arial MT"/>
              </a:rPr>
              <a:t>previously</a:t>
            </a:r>
            <a:r>
              <a:rPr sz="1900" spc="-70" dirty="0">
                <a:latin typeface="Arial MT"/>
                <a:cs typeface="Arial MT"/>
              </a:rPr>
              <a:t> </a:t>
            </a:r>
            <a:r>
              <a:rPr sz="1900" dirty="0">
                <a:latin typeface="Arial MT"/>
                <a:cs typeface="Arial MT"/>
              </a:rPr>
              <a:t>defined</a:t>
            </a:r>
            <a:r>
              <a:rPr sz="1900" spc="-75" dirty="0">
                <a:latin typeface="Arial MT"/>
                <a:cs typeface="Arial MT"/>
              </a:rPr>
              <a:t> </a:t>
            </a:r>
            <a:r>
              <a:rPr sz="1900" dirty="0">
                <a:latin typeface="Arial MT"/>
                <a:cs typeface="Arial MT"/>
              </a:rPr>
              <a:t>macro.</a:t>
            </a:r>
            <a:r>
              <a:rPr sz="1900" spc="-70" dirty="0">
                <a:latin typeface="Arial MT"/>
                <a:cs typeface="Arial MT"/>
              </a:rPr>
              <a:t> </a:t>
            </a:r>
            <a:r>
              <a:rPr sz="1900" dirty="0">
                <a:latin typeface="Arial MT"/>
                <a:cs typeface="Arial MT"/>
              </a:rPr>
              <a:t>Once</a:t>
            </a:r>
            <a:r>
              <a:rPr sz="1900" spc="-70" dirty="0">
                <a:latin typeface="Arial MT"/>
                <a:cs typeface="Arial MT"/>
              </a:rPr>
              <a:t> </a:t>
            </a:r>
            <a:r>
              <a:rPr sz="1900" spc="-50" dirty="0">
                <a:latin typeface="Arial MT"/>
                <a:cs typeface="Arial MT"/>
              </a:rPr>
              <a:t>a </a:t>
            </a:r>
            <a:r>
              <a:rPr sz="1900" dirty="0">
                <a:latin typeface="Arial MT"/>
                <a:cs typeface="Arial MT"/>
              </a:rPr>
              <a:t>macro</a:t>
            </a:r>
            <a:r>
              <a:rPr sz="1900" spc="-60" dirty="0">
                <a:latin typeface="Arial MT"/>
                <a:cs typeface="Arial MT"/>
              </a:rPr>
              <a:t> </a:t>
            </a:r>
            <a:r>
              <a:rPr sz="1900" dirty="0">
                <a:latin typeface="Arial MT"/>
                <a:cs typeface="Arial MT"/>
              </a:rPr>
              <a:t>has</a:t>
            </a:r>
            <a:r>
              <a:rPr sz="1900" spc="-60" dirty="0">
                <a:latin typeface="Arial MT"/>
                <a:cs typeface="Arial MT"/>
              </a:rPr>
              <a:t> </a:t>
            </a:r>
            <a:r>
              <a:rPr sz="1900" dirty="0">
                <a:latin typeface="Arial MT"/>
                <a:cs typeface="Arial MT"/>
              </a:rPr>
              <a:t>been</a:t>
            </a:r>
            <a:r>
              <a:rPr sz="1900" spc="-55" dirty="0">
                <a:latin typeface="Arial MT"/>
                <a:cs typeface="Arial MT"/>
              </a:rPr>
              <a:t> </a:t>
            </a:r>
            <a:r>
              <a:rPr sz="1900" dirty="0">
                <a:latin typeface="Arial MT"/>
                <a:cs typeface="Arial MT"/>
              </a:rPr>
              <a:t>undefined</a:t>
            </a:r>
            <a:r>
              <a:rPr sz="1900" spc="-60" dirty="0">
                <a:latin typeface="Arial MT"/>
                <a:cs typeface="Arial MT"/>
              </a:rPr>
              <a:t> </a:t>
            </a:r>
            <a:r>
              <a:rPr sz="1900" dirty="0">
                <a:latin typeface="Arial MT"/>
                <a:cs typeface="Arial MT"/>
              </a:rPr>
              <a:t>using</a:t>
            </a:r>
            <a:r>
              <a:rPr sz="1900" spc="-50" dirty="0">
                <a:latin typeface="Arial MT"/>
                <a:cs typeface="Arial MT"/>
              </a:rPr>
              <a:t> </a:t>
            </a:r>
            <a:r>
              <a:rPr sz="1900" b="1" dirty="0">
                <a:solidFill>
                  <a:srgbClr val="188037"/>
                </a:solidFill>
                <a:latin typeface="Courier New"/>
                <a:cs typeface="Courier New"/>
              </a:rPr>
              <a:t>#undef</a:t>
            </a:r>
            <a:r>
              <a:rPr sz="1900" dirty="0">
                <a:latin typeface="Arial MT"/>
                <a:cs typeface="Arial MT"/>
              </a:rPr>
              <a:t>,</a:t>
            </a:r>
            <a:r>
              <a:rPr sz="1900" spc="-60" dirty="0">
                <a:latin typeface="Arial MT"/>
                <a:cs typeface="Arial MT"/>
              </a:rPr>
              <a:t> </a:t>
            </a:r>
            <a:r>
              <a:rPr sz="1900" dirty="0">
                <a:latin typeface="Arial MT"/>
                <a:cs typeface="Arial MT"/>
              </a:rPr>
              <a:t>it</a:t>
            </a:r>
            <a:r>
              <a:rPr sz="1900" spc="-55" dirty="0">
                <a:latin typeface="Arial MT"/>
                <a:cs typeface="Arial MT"/>
              </a:rPr>
              <a:t> </a:t>
            </a:r>
            <a:r>
              <a:rPr sz="1900" dirty="0">
                <a:latin typeface="Arial MT"/>
                <a:cs typeface="Arial MT"/>
              </a:rPr>
              <a:t>can</a:t>
            </a:r>
            <a:r>
              <a:rPr sz="1900" spc="-60" dirty="0">
                <a:latin typeface="Arial MT"/>
                <a:cs typeface="Arial MT"/>
              </a:rPr>
              <a:t> </a:t>
            </a:r>
            <a:r>
              <a:rPr sz="1900" spc="-25" dirty="0">
                <a:latin typeface="Arial MT"/>
                <a:cs typeface="Arial MT"/>
              </a:rPr>
              <a:t>no </a:t>
            </a:r>
            <a:r>
              <a:rPr sz="1900" dirty="0">
                <a:latin typeface="Arial MT"/>
                <a:cs typeface="Arial MT"/>
              </a:rPr>
              <a:t>longer</a:t>
            </a:r>
            <a:r>
              <a:rPr sz="1900" spc="-50" dirty="0">
                <a:latin typeface="Arial MT"/>
                <a:cs typeface="Arial MT"/>
              </a:rPr>
              <a:t> </a:t>
            </a:r>
            <a:r>
              <a:rPr sz="1900" dirty="0">
                <a:latin typeface="Arial MT"/>
                <a:cs typeface="Arial MT"/>
              </a:rPr>
              <a:t>be</a:t>
            </a:r>
            <a:r>
              <a:rPr sz="1900" spc="-50" dirty="0">
                <a:latin typeface="Arial MT"/>
                <a:cs typeface="Arial MT"/>
              </a:rPr>
              <a:t> </a:t>
            </a:r>
            <a:r>
              <a:rPr sz="1900" dirty="0">
                <a:latin typeface="Arial MT"/>
                <a:cs typeface="Arial MT"/>
              </a:rPr>
              <a:t>used</a:t>
            </a:r>
            <a:r>
              <a:rPr sz="1900" spc="-50" dirty="0">
                <a:latin typeface="Arial MT"/>
                <a:cs typeface="Arial MT"/>
              </a:rPr>
              <a:t> </a:t>
            </a:r>
            <a:r>
              <a:rPr sz="1900" dirty="0">
                <a:latin typeface="Arial MT"/>
                <a:cs typeface="Arial MT"/>
              </a:rPr>
              <a:t>in</a:t>
            </a:r>
            <a:r>
              <a:rPr sz="1900" spc="-50" dirty="0">
                <a:latin typeface="Arial MT"/>
                <a:cs typeface="Arial MT"/>
              </a:rPr>
              <a:t> </a:t>
            </a:r>
            <a:r>
              <a:rPr sz="1900" dirty="0">
                <a:latin typeface="Arial MT"/>
                <a:cs typeface="Arial MT"/>
              </a:rPr>
              <a:t>the</a:t>
            </a:r>
            <a:r>
              <a:rPr sz="1900" spc="-50" dirty="0">
                <a:latin typeface="Arial MT"/>
                <a:cs typeface="Arial MT"/>
              </a:rPr>
              <a:t> </a:t>
            </a:r>
            <a:r>
              <a:rPr sz="1900" dirty="0">
                <a:latin typeface="Arial MT"/>
                <a:cs typeface="Arial MT"/>
              </a:rPr>
              <a:t>code</a:t>
            </a:r>
            <a:r>
              <a:rPr sz="1900" spc="-50" dirty="0">
                <a:latin typeface="Arial MT"/>
                <a:cs typeface="Arial MT"/>
              </a:rPr>
              <a:t> </a:t>
            </a:r>
            <a:r>
              <a:rPr sz="1900" dirty="0">
                <a:latin typeface="Arial MT"/>
                <a:cs typeface="Arial MT"/>
              </a:rPr>
              <a:t>unless</a:t>
            </a:r>
            <a:r>
              <a:rPr sz="1900" spc="-45" dirty="0">
                <a:latin typeface="Arial MT"/>
                <a:cs typeface="Arial MT"/>
              </a:rPr>
              <a:t> </a:t>
            </a:r>
            <a:r>
              <a:rPr sz="1900" dirty="0">
                <a:latin typeface="Arial MT"/>
                <a:cs typeface="Arial MT"/>
              </a:rPr>
              <a:t>it</a:t>
            </a:r>
            <a:r>
              <a:rPr sz="1900" spc="-50" dirty="0">
                <a:latin typeface="Arial MT"/>
                <a:cs typeface="Arial MT"/>
              </a:rPr>
              <a:t> </a:t>
            </a:r>
            <a:r>
              <a:rPr sz="1900" dirty="0">
                <a:latin typeface="Arial MT"/>
                <a:cs typeface="Arial MT"/>
              </a:rPr>
              <a:t>is</a:t>
            </a:r>
            <a:r>
              <a:rPr sz="1900" spc="-50" dirty="0">
                <a:latin typeface="Arial MT"/>
                <a:cs typeface="Arial MT"/>
              </a:rPr>
              <a:t> </a:t>
            </a:r>
            <a:r>
              <a:rPr sz="1900" dirty="0">
                <a:latin typeface="Arial MT"/>
                <a:cs typeface="Arial MT"/>
              </a:rPr>
              <a:t>redefined</a:t>
            </a:r>
            <a:r>
              <a:rPr sz="1900" spc="-50" dirty="0">
                <a:latin typeface="Arial MT"/>
                <a:cs typeface="Arial MT"/>
              </a:rPr>
              <a:t> </a:t>
            </a:r>
            <a:r>
              <a:rPr sz="1900" spc="-20" dirty="0">
                <a:latin typeface="Arial MT"/>
                <a:cs typeface="Arial MT"/>
              </a:rPr>
              <a:t>with </a:t>
            </a:r>
            <a:r>
              <a:rPr sz="1900" b="1" spc="-10" dirty="0">
                <a:solidFill>
                  <a:srgbClr val="188037"/>
                </a:solidFill>
                <a:latin typeface="Courier New"/>
                <a:cs typeface="Courier New"/>
              </a:rPr>
              <a:t>#define</a:t>
            </a:r>
            <a:r>
              <a:rPr sz="1900" b="1" spc="-10" dirty="0">
                <a:latin typeface="Arial MT"/>
                <a:cs typeface="Arial MT"/>
              </a:rPr>
              <a:t>.</a:t>
            </a:r>
            <a:endParaRPr sz="1900" dirty="0">
              <a:latin typeface="Arial MT"/>
              <a:cs typeface="Arial MT"/>
            </a:endParaRPr>
          </a:p>
          <a:p>
            <a:pPr marL="469900" marR="633095" indent="-429895">
              <a:lnSpc>
                <a:spcPct val="114000"/>
              </a:lnSpc>
              <a:spcBef>
                <a:spcPts val="5"/>
              </a:spcBef>
              <a:spcAft>
                <a:spcPts val="600"/>
              </a:spcAft>
              <a:buAutoNum type="arabicPeriod"/>
              <a:tabLst>
                <a:tab pos="469900" algn="l"/>
              </a:tabLst>
            </a:pPr>
            <a:r>
              <a:rPr sz="1900" b="1" dirty="0">
                <a:latin typeface="Arial"/>
                <a:cs typeface="Arial"/>
              </a:rPr>
              <a:t>Remove</a:t>
            </a:r>
            <a:r>
              <a:rPr sz="1900" b="1" spc="-55" dirty="0">
                <a:latin typeface="Arial"/>
                <a:cs typeface="Arial"/>
              </a:rPr>
              <a:t> </a:t>
            </a:r>
            <a:r>
              <a:rPr sz="1900" b="1" dirty="0">
                <a:latin typeface="Arial"/>
                <a:cs typeface="Arial"/>
              </a:rPr>
              <a:t>or</a:t>
            </a:r>
            <a:r>
              <a:rPr sz="1900" b="1" spc="-50" dirty="0">
                <a:latin typeface="Arial"/>
                <a:cs typeface="Arial"/>
              </a:rPr>
              <a:t> </a:t>
            </a:r>
            <a:r>
              <a:rPr sz="1900" b="1" dirty="0">
                <a:latin typeface="Arial"/>
                <a:cs typeface="Arial"/>
              </a:rPr>
              <a:t>reset</a:t>
            </a:r>
            <a:r>
              <a:rPr sz="1900" b="1" spc="-50" dirty="0">
                <a:latin typeface="Arial"/>
                <a:cs typeface="Arial"/>
              </a:rPr>
              <a:t> </a:t>
            </a:r>
            <a:r>
              <a:rPr sz="1900" b="1" dirty="0">
                <a:latin typeface="Arial"/>
                <a:cs typeface="Arial"/>
              </a:rPr>
              <a:t>a</a:t>
            </a:r>
            <a:r>
              <a:rPr sz="1900" b="1" spc="-50" dirty="0">
                <a:latin typeface="Arial"/>
                <a:cs typeface="Arial"/>
              </a:rPr>
              <a:t> </a:t>
            </a:r>
            <a:r>
              <a:rPr sz="1900" b="1" dirty="0">
                <a:latin typeface="Arial"/>
                <a:cs typeface="Arial"/>
              </a:rPr>
              <a:t>macro</a:t>
            </a:r>
            <a:r>
              <a:rPr sz="1900" b="1" spc="-40" dirty="0">
                <a:latin typeface="Arial"/>
                <a:cs typeface="Arial"/>
              </a:rPr>
              <a:t> </a:t>
            </a:r>
            <a:r>
              <a:rPr sz="1900" dirty="0">
                <a:latin typeface="Arial MT"/>
                <a:cs typeface="Arial MT"/>
              </a:rPr>
              <a:t>that</a:t>
            </a:r>
            <a:r>
              <a:rPr sz="1900" spc="-50" dirty="0">
                <a:latin typeface="Arial MT"/>
                <a:cs typeface="Arial MT"/>
              </a:rPr>
              <a:t> </a:t>
            </a:r>
            <a:r>
              <a:rPr sz="1900" dirty="0">
                <a:latin typeface="Arial MT"/>
                <a:cs typeface="Arial MT"/>
              </a:rPr>
              <a:t>was</a:t>
            </a:r>
            <a:r>
              <a:rPr sz="1900" spc="-50" dirty="0">
                <a:latin typeface="Arial MT"/>
                <a:cs typeface="Arial MT"/>
              </a:rPr>
              <a:t> </a:t>
            </a:r>
            <a:r>
              <a:rPr sz="1900" spc="-10" dirty="0">
                <a:latin typeface="Arial MT"/>
                <a:cs typeface="Arial MT"/>
              </a:rPr>
              <a:t>previously </a:t>
            </a:r>
            <a:r>
              <a:rPr sz="1900" dirty="0">
                <a:latin typeface="Arial MT"/>
                <a:cs typeface="Arial MT"/>
              </a:rPr>
              <a:t>defined</a:t>
            </a:r>
            <a:r>
              <a:rPr sz="1900" spc="-85" dirty="0">
                <a:latin typeface="Arial MT"/>
                <a:cs typeface="Arial MT"/>
              </a:rPr>
              <a:t> </a:t>
            </a:r>
            <a:r>
              <a:rPr sz="1900" dirty="0">
                <a:latin typeface="Arial MT"/>
                <a:cs typeface="Arial MT"/>
              </a:rPr>
              <a:t>using</a:t>
            </a:r>
            <a:r>
              <a:rPr sz="1900" spc="-80" dirty="0">
                <a:latin typeface="Arial MT"/>
                <a:cs typeface="Arial MT"/>
              </a:rPr>
              <a:t> </a:t>
            </a:r>
            <a:r>
              <a:rPr sz="1900" b="1" spc="-10" dirty="0">
                <a:solidFill>
                  <a:srgbClr val="188037"/>
                </a:solidFill>
                <a:latin typeface="Courier New"/>
                <a:cs typeface="Courier New"/>
              </a:rPr>
              <a:t>#define</a:t>
            </a:r>
            <a:r>
              <a:rPr sz="1900" spc="-10" dirty="0">
                <a:latin typeface="Arial MT"/>
                <a:cs typeface="Arial MT"/>
              </a:rPr>
              <a:t>.</a:t>
            </a:r>
            <a:endParaRPr sz="1900" dirty="0">
              <a:latin typeface="Arial MT"/>
              <a:cs typeface="Arial MT"/>
            </a:endParaRPr>
          </a:p>
          <a:p>
            <a:pPr marL="469900" marR="5080" indent="-429895">
              <a:lnSpc>
                <a:spcPct val="114000"/>
              </a:lnSpc>
              <a:spcAft>
                <a:spcPts val="600"/>
              </a:spcAft>
              <a:buAutoNum type="arabicPeriod"/>
              <a:tabLst>
                <a:tab pos="469900" algn="l"/>
              </a:tabLst>
            </a:pPr>
            <a:r>
              <a:rPr sz="1900" b="1" spc="-10" dirty="0">
                <a:latin typeface="Arial"/>
                <a:cs typeface="Arial"/>
              </a:rPr>
              <a:t>Avoid</a:t>
            </a:r>
            <a:r>
              <a:rPr sz="1900" b="1" spc="-75" dirty="0">
                <a:latin typeface="Arial"/>
                <a:cs typeface="Arial"/>
              </a:rPr>
              <a:t> </a:t>
            </a:r>
            <a:r>
              <a:rPr sz="1900" b="1" dirty="0">
                <a:latin typeface="Arial"/>
                <a:cs typeface="Arial"/>
              </a:rPr>
              <a:t>naming</a:t>
            </a:r>
            <a:r>
              <a:rPr sz="1900" b="1" spc="-75" dirty="0">
                <a:latin typeface="Arial"/>
                <a:cs typeface="Arial"/>
              </a:rPr>
              <a:t> </a:t>
            </a:r>
            <a:r>
              <a:rPr sz="1900" b="1" dirty="0">
                <a:latin typeface="Arial"/>
                <a:cs typeface="Arial"/>
              </a:rPr>
              <a:t>conflicts</a:t>
            </a:r>
            <a:r>
              <a:rPr sz="1900" b="1" spc="-60" dirty="0">
                <a:latin typeface="Arial"/>
                <a:cs typeface="Arial"/>
              </a:rPr>
              <a:t> </a:t>
            </a:r>
            <a:r>
              <a:rPr sz="1900" dirty="0">
                <a:latin typeface="Arial MT"/>
                <a:cs typeface="Arial MT"/>
              </a:rPr>
              <a:t>by</a:t>
            </a:r>
            <a:r>
              <a:rPr sz="1900" spc="-75" dirty="0">
                <a:latin typeface="Arial MT"/>
                <a:cs typeface="Arial MT"/>
              </a:rPr>
              <a:t> </a:t>
            </a:r>
            <a:r>
              <a:rPr sz="1900" dirty="0">
                <a:latin typeface="Arial MT"/>
                <a:cs typeface="Arial MT"/>
              </a:rPr>
              <a:t>ensuring</a:t>
            </a:r>
            <a:r>
              <a:rPr sz="1900" spc="-75" dirty="0">
                <a:latin typeface="Arial MT"/>
                <a:cs typeface="Arial MT"/>
              </a:rPr>
              <a:t> </a:t>
            </a:r>
            <a:r>
              <a:rPr sz="1900" dirty="0">
                <a:latin typeface="Arial MT"/>
                <a:cs typeface="Arial MT"/>
              </a:rPr>
              <a:t>that</a:t>
            </a:r>
            <a:r>
              <a:rPr sz="1900" spc="-75" dirty="0">
                <a:latin typeface="Arial MT"/>
                <a:cs typeface="Arial MT"/>
              </a:rPr>
              <a:t> </a:t>
            </a:r>
            <a:r>
              <a:rPr sz="1900" dirty="0">
                <a:latin typeface="Arial MT"/>
                <a:cs typeface="Arial MT"/>
              </a:rPr>
              <a:t>a</a:t>
            </a:r>
            <a:r>
              <a:rPr sz="1900" spc="-70" dirty="0">
                <a:latin typeface="Arial MT"/>
                <a:cs typeface="Arial MT"/>
              </a:rPr>
              <a:t> </a:t>
            </a:r>
            <a:r>
              <a:rPr sz="1900" spc="-10" dirty="0">
                <a:latin typeface="Arial MT"/>
                <a:cs typeface="Arial MT"/>
              </a:rPr>
              <a:t>macro </a:t>
            </a:r>
            <a:r>
              <a:rPr sz="1900" dirty="0">
                <a:latin typeface="Arial MT"/>
                <a:cs typeface="Arial MT"/>
              </a:rPr>
              <a:t>with</a:t>
            </a:r>
            <a:r>
              <a:rPr sz="1900" spc="-70" dirty="0">
                <a:latin typeface="Arial MT"/>
                <a:cs typeface="Arial MT"/>
              </a:rPr>
              <a:t> </a:t>
            </a:r>
            <a:r>
              <a:rPr sz="1900" dirty="0">
                <a:latin typeface="Arial MT"/>
                <a:cs typeface="Arial MT"/>
              </a:rPr>
              <a:t>the</a:t>
            </a:r>
            <a:r>
              <a:rPr sz="1900" spc="-70" dirty="0">
                <a:latin typeface="Arial MT"/>
                <a:cs typeface="Arial MT"/>
              </a:rPr>
              <a:t> </a:t>
            </a:r>
            <a:r>
              <a:rPr sz="1900" dirty="0">
                <a:latin typeface="Arial MT"/>
                <a:cs typeface="Arial MT"/>
              </a:rPr>
              <a:t>same</a:t>
            </a:r>
            <a:r>
              <a:rPr sz="1900" spc="-70" dirty="0">
                <a:latin typeface="Arial MT"/>
                <a:cs typeface="Arial MT"/>
              </a:rPr>
              <a:t> </a:t>
            </a:r>
            <a:r>
              <a:rPr sz="1900" dirty="0">
                <a:latin typeface="Arial MT"/>
                <a:cs typeface="Arial MT"/>
              </a:rPr>
              <a:t>name</a:t>
            </a:r>
            <a:r>
              <a:rPr sz="1900" spc="-70" dirty="0">
                <a:latin typeface="Arial MT"/>
                <a:cs typeface="Arial MT"/>
              </a:rPr>
              <a:t> </a:t>
            </a:r>
            <a:r>
              <a:rPr sz="1900" dirty="0">
                <a:latin typeface="Arial MT"/>
                <a:cs typeface="Arial MT"/>
              </a:rPr>
              <a:t>doesn’t</a:t>
            </a:r>
            <a:r>
              <a:rPr sz="1900" spc="-70" dirty="0">
                <a:latin typeface="Arial MT"/>
                <a:cs typeface="Arial MT"/>
              </a:rPr>
              <a:t> </a:t>
            </a:r>
            <a:r>
              <a:rPr sz="1900" dirty="0">
                <a:latin typeface="Arial MT"/>
                <a:cs typeface="Arial MT"/>
              </a:rPr>
              <a:t>interfere</a:t>
            </a:r>
            <a:r>
              <a:rPr sz="1900" spc="-70" dirty="0">
                <a:latin typeface="Arial MT"/>
                <a:cs typeface="Arial MT"/>
              </a:rPr>
              <a:t> </a:t>
            </a:r>
            <a:r>
              <a:rPr sz="1900" dirty="0">
                <a:latin typeface="Arial MT"/>
                <a:cs typeface="Arial MT"/>
              </a:rPr>
              <a:t>with</a:t>
            </a:r>
            <a:r>
              <a:rPr sz="1900" spc="-70" dirty="0">
                <a:latin typeface="Arial MT"/>
                <a:cs typeface="Arial MT"/>
              </a:rPr>
              <a:t> </a:t>
            </a:r>
            <a:r>
              <a:rPr sz="1900" dirty="0">
                <a:latin typeface="Arial MT"/>
                <a:cs typeface="Arial MT"/>
              </a:rPr>
              <a:t>code</a:t>
            </a:r>
            <a:r>
              <a:rPr sz="1900" spc="-70" dirty="0">
                <a:latin typeface="Arial MT"/>
                <a:cs typeface="Arial MT"/>
              </a:rPr>
              <a:t> </a:t>
            </a:r>
            <a:r>
              <a:rPr sz="1900" spc="-10" dirty="0">
                <a:latin typeface="Arial MT"/>
                <a:cs typeface="Arial MT"/>
              </a:rPr>
              <a:t>later.</a:t>
            </a:r>
            <a:endParaRPr sz="1900" dirty="0">
              <a:latin typeface="Arial MT"/>
              <a:cs typeface="Arial MT"/>
            </a:endParaRPr>
          </a:p>
          <a:p>
            <a:pPr marL="469900" marR="673735" indent="-429895">
              <a:lnSpc>
                <a:spcPct val="114000"/>
              </a:lnSpc>
              <a:buAutoNum type="arabicPeriod"/>
              <a:tabLst>
                <a:tab pos="469900" algn="l"/>
              </a:tabLst>
            </a:pPr>
            <a:r>
              <a:rPr sz="1900" b="1" spc="-25" dirty="0">
                <a:latin typeface="Arial"/>
                <a:cs typeface="Arial"/>
              </a:rPr>
              <a:t>Re-</a:t>
            </a:r>
            <a:r>
              <a:rPr sz="1900" b="1" dirty="0">
                <a:latin typeface="Arial"/>
                <a:cs typeface="Arial"/>
              </a:rPr>
              <a:t>define</a:t>
            </a:r>
            <a:r>
              <a:rPr sz="1900" b="1" spc="-60" dirty="0">
                <a:latin typeface="Arial"/>
                <a:cs typeface="Arial"/>
              </a:rPr>
              <a:t> </a:t>
            </a:r>
            <a:r>
              <a:rPr sz="1900" b="1" dirty="0">
                <a:latin typeface="Arial"/>
                <a:cs typeface="Arial"/>
              </a:rPr>
              <a:t>macros</a:t>
            </a:r>
            <a:r>
              <a:rPr sz="1900" b="1" spc="-50" dirty="0">
                <a:latin typeface="Arial"/>
                <a:cs typeface="Arial"/>
              </a:rPr>
              <a:t> </a:t>
            </a:r>
            <a:r>
              <a:rPr sz="1900" dirty="0">
                <a:latin typeface="Arial MT"/>
                <a:cs typeface="Arial MT"/>
              </a:rPr>
              <a:t>to</a:t>
            </a:r>
            <a:r>
              <a:rPr sz="1900" spc="-55" dirty="0">
                <a:latin typeface="Arial MT"/>
                <a:cs typeface="Arial MT"/>
              </a:rPr>
              <a:t> </a:t>
            </a:r>
            <a:r>
              <a:rPr sz="1900" dirty="0">
                <a:latin typeface="Arial MT"/>
                <a:cs typeface="Arial MT"/>
              </a:rPr>
              <a:t>give</a:t>
            </a:r>
            <a:r>
              <a:rPr sz="1900" spc="-55" dirty="0">
                <a:latin typeface="Arial MT"/>
                <a:cs typeface="Arial MT"/>
              </a:rPr>
              <a:t> </a:t>
            </a:r>
            <a:r>
              <a:rPr sz="1900" dirty="0">
                <a:latin typeface="Arial MT"/>
                <a:cs typeface="Arial MT"/>
              </a:rPr>
              <a:t>them</a:t>
            </a:r>
            <a:r>
              <a:rPr sz="1900" spc="-60" dirty="0">
                <a:latin typeface="Arial MT"/>
                <a:cs typeface="Arial MT"/>
              </a:rPr>
              <a:t> </a:t>
            </a:r>
            <a:r>
              <a:rPr sz="1900" dirty="0">
                <a:latin typeface="Arial MT"/>
                <a:cs typeface="Arial MT"/>
              </a:rPr>
              <a:t>new</a:t>
            </a:r>
            <a:r>
              <a:rPr sz="1900" spc="-55" dirty="0">
                <a:latin typeface="Arial MT"/>
                <a:cs typeface="Arial MT"/>
              </a:rPr>
              <a:t> </a:t>
            </a:r>
            <a:r>
              <a:rPr sz="1900" dirty="0">
                <a:latin typeface="Arial MT"/>
                <a:cs typeface="Arial MT"/>
              </a:rPr>
              <a:t>values</a:t>
            </a:r>
            <a:r>
              <a:rPr sz="1900" spc="-55" dirty="0">
                <a:latin typeface="Arial MT"/>
                <a:cs typeface="Arial MT"/>
              </a:rPr>
              <a:t> </a:t>
            </a:r>
            <a:r>
              <a:rPr sz="1900" spc="-25" dirty="0">
                <a:latin typeface="Arial MT"/>
                <a:cs typeface="Arial MT"/>
              </a:rPr>
              <a:t>or </a:t>
            </a:r>
            <a:r>
              <a:rPr sz="1900" dirty="0">
                <a:latin typeface="Arial MT"/>
                <a:cs typeface="Arial MT"/>
              </a:rPr>
              <a:t>behaviors</a:t>
            </a:r>
            <a:r>
              <a:rPr sz="1900" spc="-70" dirty="0">
                <a:latin typeface="Arial MT"/>
                <a:cs typeface="Arial MT"/>
              </a:rPr>
              <a:t> </a:t>
            </a:r>
            <a:r>
              <a:rPr sz="1900" dirty="0">
                <a:latin typeface="Arial MT"/>
                <a:cs typeface="Arial MT"/>
              </a:rPr>
              <a:t>after</a:t>
            </a:r>
            <a:r>
              <a:rPr sz="1900" spc="-70" dirty="0">
                <a:latin typeface="Arial MT"/>
                <a:cs typeface="Arial MT"/>
              </a:rPr>
              <a:t> </a:t>
            </a:r>
            <a:r>
              <a:rPr sz="1900" dirty="0">
                <a:latin typeface="Arial MT"/>
                <a:cs typeface="Arial MT"/>
              </a:rPr>
              <a:t>being</a:t>
            </a:r>
            <a:r>
              <a:rPr sz="1900" spc="-65" dirty="0">
                <a:latin typeface="Arial MT"/>
                <a:cs typeface="Arial MT"/>
              </a:rPr>
              <a:t> </a:t>
            </a:r>
            <a:r>
              <a:rPr sz="1900" spc="-10" dirty="0">
                <a:latin typeface="Arial MT"/>
                <a:cs typeface="Arial MT"/>
              </a:rPr>
              <a:t>undefined.</a:t>
            </a:r>
            <a:endParaRPr sz="1900" dirty="0">
              <a:latin typeface="Arial MT"/>
              <a:cs typeface="Arial MT"/>
            </a:endParaRPr>
          </a:p>
        </p:txBody>
      </p:sp>
      <p:pic>
        <p:nvPicPr>
          <p:cNvPr id="2" name="object 2" descr="C code snippet demonstrating the #undef directive to remove a macro definition for MAX, allowing it to be used as a local variable name before being redefined later."/>
          <p:cNvPicPr/>
          <p:nvPr/>
        </p:nvPicPr>
        <p:blipFill>
          <a:blip r:embed="rId3" cstate="print"/>
          <a:stretch>
            <a:fillRect/>
          </a:stretch>
        </p:blipFill>
        <p:spPr>
          <a:xfrm>
            <a:off x="7057100" y="973925"/>
            <a:ext cx="4771375" cy="57932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295400"/>
            <a:ext cx="2136775" cy="705321"/>
          </a:xfrm>
          <a:prstGeom prst="rect">
            <a:avLst/>
          </a:prstGeom>
        </p:spPr>
        <p:txBody>
          <a:bodyPr vert="horz" wrap="square" lIns="0" tIns="12700" rIns="0" bIns="0" rtlCol="0">
            <a:spAutoFit/>
          </a:bodyPr>
          <a:lstStyle/>
          <a:p>
            <a:pPr marL="12700">
              <a:spcBef>
                <a:spcPts val="100"/>
              </a:spcBef>
            </a:pPr>
            <a:r>
              <a:rPr dirty="0"/>
              <a:t>C</a:t>
            </a:r>
            <a:r>
              <a:rPr spc="-5" dirty="0"/>
              <a:t> </a:t>
            </a:r>
            <a:r>
              <a:rPr spc="-10" dirty="0"/>
              <a:t>Preprocessor</a:t>
            </a:r>
            <a:br>
              <a:rPr lang="en-US" spc="-10" dirty="0"/>
            </a:br>
            <a:r>
              <a:rPr lang="en-US" sz="2000" dirty="0"/>
              <a:t>Macro</a:t>
            </a:r>
            <a:r>
              <a:rPr lang="en-US" sz="2000" spc="-85" dirty="0"/>
              <a:t> </a:t>
            </a:r>
            <a:r>
              <a:rPr lang="en-US" sz="2000" spc="-10" dirty="0"/>
              <a:t>Expansion</a:t>
            </a:r>
            <a:endParaRPr sz="2000" spc="-10" dirty="0"/>
          </a:p>
        </p:txBody>
      </p:sp>
      <p:sp>
        <p:nvSpPr>
          <p:cNvPr id="3" name="object 3"/>
          <p:cNvSpPr txBox="1"/>
          <p:nvPr/>
        </p:nvSpPr>
        <p:spPr>
          <a:xfrm>
            <a:off x="410375" y="2218725"/>
            <a:ext cx="4242435" cy="4450834"/>
          </a:xfrm>
          <a:prstGeom prst="rect">
            <a:avLst/>
          </a:prstGeom>
        </p:spPr>
        <p:txBody>
          <a:bodyPr vert="horz" wrap="square" lIns="0" tIns="12700" rIns="0" bIns="0" rtlCol="0">
            <a:spAutoFit/>
          </a:bodyPr>
          <a:lstStyle/>
          <a:p>
            <a:pPr marL="12700" marR="5080">
              <a:lnSpc>
                <a:spcPct val="114000"/>
              </a:lnSpc>
              <a:spcBef>
                <a:spcPts val="1885"/>
              </a:spcBef>
            </a:pPr>
            <a:r>
              <a:rPr sz="1800" dirty="0">
                <a:latin typeface="Arial MT"/>
                <a:cs typeface="Arial MT"/>
              </a:rPr>
              <a:t>In</a:t>
            </a:r>
            <a:r>
              <a:rPr sz="1800" spc="-25" dirty="0">
                <a:latin typeface="Arial MT"/>
                <a:cs typeface="Arial MT"/>
              </a:rPr>
              <a:t> </a:t>
            </a:r>
            <a:r>
              <a:rPr sz="1800" dirty="0">
                <a:latin typeface="Arial MT"/>
                <a:cs typeface="Arial MT"/>
              </a:rPr>
              <a:t>C,</a:t>
            </a:r>
            <a:r>
              <a:rPr sz="1800" spc="-15" dirty="0">
                <a:latin typeface="Arial MT"/>
                <a:cs typeface="Arial MT"/>
              </a:rPr>
              <a:t> </a:t>
            </a:r>
            <a:r>
              <a:rPr sz="1800" dirty="0">
                <a:latin typeface="Arial MT"/>
                <a:cs typeface="Arial MT"/>
              </a:rPr>
              <a:t>a</a:t>
            </a:r>
            <a:r>
              <a:rPr sz="1800" spc="-5" dirty="0">
                <a:latin typeface="Arial MT"/>
                <a:cs typeface="Arial MT"/>
              </a:rPr>
              <a:t> </a:t>
            </a:r>
            <a:r>
              <a:rPr sz="1800" b="1" dirty="0">
                <a:latin typeface="Arial"/>
                <a:cs typeface="Arial"/>
              </a:rPr>
              <a:t>macro</a:t>
            </a:r>
            <a:r>
              <a:rPr sz="1800" b="1" spc="-10" dirty="0">
                <a:latin typeface="Arial"/>
                <a:cs typeface="Arial"/>
              </a:rPr>
              <a:t> </a:t>
            </a:r>
            <a:r>
              <a:rPr sz="1800" dirty="0">
                <a:latin typeface="Arial MT"/>
                <a:cs typeface="Arial MT"/>
              </a:rPr>
              <a:t>is</a:t>
            </a:r>
            <a:r>
              <a:rPr sz="1800" spc="-10"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fragment</a:t>
            </a:r>
            <a:r>
              <a:rPr sz="1800" spc="-15" dirty="0">
                <a:latin typeface="Arial MT"/>
                <a:cs typeface="Arial MT"/>
              </a:rPr>
              <a:t> </a:t>
            </a:r>
            <a:r>
              <a:rPr sz="1800" dirty="0">
                <a:latin typeface="Arial MT"/>
                <a:cs typeface="Arial MT"/>
              </a:rPr>
              <a:t>of</a:t>
            </a:r>
            <a:r>
              <a:rPr sz="1800" spc="-10" dirty="0">
                <a:latin typeface="Arial MT"/>
                <a:cs typeface="Arial MT"/>
              </a:rPr>
              <a:t> </a:t>
            </a:r>
            <a:r>
              <a:rPr sz="1800" spc="-20" dirty="0">
                <a:latin typeface="Arial MT"/>
                <a:cs typeface="Arial MT"/>
              </a:rPr>
              <a:t>code </a:t>
            </a:r>
            <a:r>
              <a:rPr sz="1800" dirty="0">
                <a:latin typeface="Arial MT"/>
                <a:cs typeface="Arial MT"/>
              </a:rPr>
              <a:t>defined</a:t>
            </a:r>
            <a:r>
              <a:rPr sz="1800" spc="-15" dirty="0">
                <a:latin typeface="Arial MT"/>
                <a:cs typeface="Arial MT"/>
              </a:rPr>
              <a:t> </a:t>
            </a:r>
            <a:r>
              <a:rPr sz="1800" dirty="0">
                <a:latin typeface="Arial MT"/>
                <a:cs typeface="Arial MT"/>
              </a:rPr>
              <a:t>using</a:t>
            </a:r>
            <a:r>
              <a:rPr sz="1800" spc="-10" dirty="0">
                <a:latin typeface="Arial MT"/>
                <a:cs typeface="Arial MT"/>
              </a:rPr>
              <a:t> </a:t>
            </a:r>
            <a:r>
              <a:rPr sz="1800" dirty="0">
                <a:latin typeface="Arial MT"/>
                <a:cs typeface="Arial MT"/>
              </a:rPr>
              <a:t>the </a:t>
            </a:r>
            <a:r>
              <a:rPr sz="1800" b="1" spc="-10" dirty="0">
                <a:solidFill>
                  <a:srgbClr val="188037"/>
                </a:solidFill>
                <a:latin typeface="Courier New"/>
                <a:cs typeface="Courier New"/>
              </a:rPr>
              <a:t>#define</a:t>
            </a:r>
            <a:r>
              <a:rPr sz="1800" b="1" spc="-585" dirty="0">
                <a:solidFill>
                  <a:srgbClr val="188037"/>
                </a:solidFill>
                <a:latin typeface="Courier New"/>
                <a:cs typeface="Courier New"/>
              </a:rPr>
              <a:t> </a:t>
            </a:r>
            <a:r>
              <a:rPr sz="1800" spc="-10" dirty="0">
                <a:latin typeface="Arial MT"/>
                <a:cs typeface="Arial MT"/>
              </a:rPr>
              <a:t>directive. </a:t>
            </a:r>
            <a:r>
              <a:rPr sz="1800" dirty="0">
                <a:latin typeface="Arial MT"/>
                <a:cs typeface="Arial MT"/>
              </a:rPr>
              <a:t>When</a:t>
            </a:r>
            <a:r>
              <a:rPr sz="1800" spc="-35" dirty="0">
                <a:latin typeface="Arial MT"/>
                <a:cs typeface="Arial MT"/>
              </a:rPr>
              <a:t> </a:t>
            </a:r>
            <a:r>
              <a:rPr sz="1800" dirty="0">
                <a:latin typeface="Arial MT"/>
                <a:cs typeface="Arial MT"/>
              </a:rPr>
              <a:t>the</a:t>
            </a:r>
            <a:r>
              <a:rPr sz="1800" spc="-20" dirty="0">
                <a:latin typeface="Arial MT"/>
                <a:cs typeface="Arial MT"/>
              </a:rPr>
              <a:t> </a:t>
            </a:r>
            <a:r>
              <a:rPr sz="1800" dirty="0">
                <a:latin typeface="Arial MT"/>
                <a:cs typeface="Arial MT"/>
              </a:rPr>
              <a:t>code</a:t>
            </a:r>
            <a:r>
              <a:rPr sz="1800" spc="-20" dirty="0">
                <a:latin typeface="Arial MT"/>
                <a:cs typeface="Arial MT"/>
              </a:rPr>
              <a:t> </a:t>
            </a:r>
            <a:r>
              <a:rPr sz="1800" dirty="0">
                <a:latin typeface="Arial MT"/>
                <a:cs typeface="Arial MT"/>
              </a:rPr>
              <a:t>is</a:t>
            </a:r>
            <a:r>
              <a:rPr sz="1800" spc="-20" dirty="0">
                <a:latin typeface="Arial MT"/>
                <a:cs typeface="Arial MT"/>
              </a:rPr>
              <a:t> </a:t>
            </a:r>
            <a:r>
              <a:rPr sz="1800" dirty="0">
                <a:latin typeface="Arial MT"/>
                <a:cs typeface="Arial MT"/>
              </a:rPr>
              <a:t>compiled,</a:t>
            </a:r>
            <a:r>
              <a:rPr sz="1800" spc="-20" dirty="0">
                <a:latin typeface="Arial MT"/>
                <a:cs typeface="Arial MT"/>
              </a:rPr>
              <a:t> </a:t>
            </a:r>
            <a:r>
              <a:rPr sz="1800" spc="-25" dirty="0">
                <a:latin typeface="Arial MT"/>
                <a:cs typeface="Arial MT"/>
              </a:rPr>
              <a:t>the </a:t>
            </a:r>
            <a:r>
              <a:rPr sz="1800" dirty="0">
                <a:latin typeface="Arial MT"/>
                <a:cs typeface="Arial MT"/>
              </a:rPr>
              <a:t>preprocessor</a:t>
            </a:r>
            <a:r>
              <a:rPr sz="1800" spc="-10" dirty="0">
                <a:latin typeface="Arial MT"/>
                <a:cs typeface="Arial MT"/>
              </a:rPr>
              <a:t> </a:t>
            </a:r>
            <a:r>
              <a:rPr sz="1800" dirty="0">
                <a:latin typeface="Arial MT"/>
                <a:cs typeface="Arial MT"/>
              </a:rPr>
              <a:t>replaces</a:t>
            </a:r>
            <a:r>
              <a:rPr sz="1800" spc="-10" dirty="0">
                <a:latin typeface="Arial MT"/>
                <a:cs typeface="Arial MT"/>
              </a:rPr>
              <a:t> </a:t>
            </a:r>
            <a:r>
              <a:rPr sz="1800" dirty="0">
                <a:latin typeface="Arial MT"/>
                <a:cs typeface="Arial MT"/>
              </a:rPr>
              <a:t>all</a:t>
            </a:r>
            <a:r>
              <a:rPr sz="1800" spc="-5" dirty="0">
                <a:latin typeface="Arial MT"/>
                <a:cs typeface="Arial MT"/>
              </a:rPr>
              <a:t> </a:t>
            </a:r>
            <a:r>
              <a:rPr sz="1800" dirty="0">
                <a:latin typeface="Arial MT"/>
                <a:cs typeface="Arial MT"/>
              </a:rPr>
              <a:t>instances</a:t>
            </a:r>
            <a:r>
              <a:rPr sz="1800" spc="-10" dirty="0">
                <a:latin typeface="Arial MT"/>
                <a:cs typeface="Arial MT"/>
              </a:rPr>
              <a:t> </a:t>
            </a:r>
            <a:r>
              <a:rPr sz="1800" dirty="0">
                <a:latin typeface="Arial MT"/>
                <a:cs typeface="Arial MT"/>
              </a:rPr>
              <a:t>of</a:t>
            </a:r>
            <a:r>
              <a:rPr sz="1800" spc="-5" dirty="0">
                <a:latin typeface="Arial MT"/>
                <a:cs typeface="Arial MT"/>
              </a:rPr>
              <a:t> </a:t>
            </a:r>
            <a:r>
              <a:rPr sz="1800" spc="-25" dirty="0">
                <a:latin typeface="Arial MT"/>
                <a:cs typeface="Arial MT"/>
              </a:rPr>
              <a:t>the </a:t>
            </a:r>
            <a:r>
              <a:rPr sz="1800" dirty="0">
                <a:latin typeface="Arial MT"/>
                <a:cs typeface="Arial MT"/>
              </a:rPr>
              <a:t>macro</a:t>
            </a:r>
            <a:r>
              <a:rPr sz="1800" spc="-30" dirty="0">
                <a:latin typeface="Arial MT"/>
                <a:cs typeface="Arial MT"/>
              </a:rPr>
              <a:t> </a:t>
            </a:r>
            <a:r>
              <a:rPr sz="1800" dirty="0">
                <a:latin typeface="Arial MT"/>
                <a:cs typeface="Arial MT"/>
              </a:rPr>
              <a:t>with</a:t>
            </a:r>
            <a:r>
              <a:rPr sz="1800" spc="-20" dirty="0">
                <a:latin typeface="Arial MT"/>
                <a:cs typeface="Arial MT"/>
              </a:rPr>
              <a:t> </a:t>
            </a:r>
            <a:r>
              <a:rPr sz="1800" dirty="0">
                <a:latin typeface="Arial MT"/>
                <a:cs typeface="Arial MT"/>
              </a:rPr>
              <a:t>its</a:t>
            </a:r>
            <a:r>
              <a:rPr sz="1800" spc="-20" dirty="0">
                <a:latin typeface="Arial MT"/>
                <a:cs typeface="Arial MT"/>
              </a:rPr>
              <a:t> </a:t>
            </a:r>
            <a:r>
              <a:rPr sz="1800" dirty="0">
                <a:latin typeface="Arial MT"/>
                <a:cs typeface="Arial MT"/>
              </a:rPr>
              <a:t>definition.</a:t>
            </a:r>
            <a:r>
              <a:rPr sz="1800" spc="-55" dirty="0">
                <a:latin typeface="Arial MT"/>
                <a:cs typeface="Arial MT"/>
              </a:rPr>
              <a:t> </a:t>
            </a:r>
            <a:r>
              <a:rPr sz="1800" dirty="0">
                <a:latin typeface="Arial MT"/>
                <a:cs typeface="Arial MT"/>
              </a:rPr>
              <a:t>This</a:t>
            </a:r>
            <a:r>
              <a:rPr sz="1800" spc="-20" dirty="0">
                <a:latin typeface="Arial MT"/>
                <a:cs typeface="Arial MT"/>
              </a:rPr>
              <a:t> </a:t>
            </a:r>
            <a:r>
              <a:rPr sz="1800" dirty="0">
                <a:latin typeface="Arial MT"/>
                <a:cs typeface="Arial MT"/>
              </a:rPr>
              <a:t>process</a:t>
            </a:r>
            <a:r>
              <a:rPr sz="1800" spc="-15" dirty="0">
                <a:latin typeface="Arial MT"/>
                <a:cs typeface="Arial MT"/>
              </a:rPr>
              <a:t> </a:t>
            </a:r>
            <a:r>
              <a:rPr sz="1800" spc="-25" dirty="0">
                <a:latin typeface="Arial MT"/>
                <a:cs typeface="Arial MT"/>
              </a:rPr>
              <a:t>is </a:t>
            </a:r>
            <a:r>
              <a:rPr sz="1800" dirty="0">
                <a:latin typeface="Arial MT"/>
                <a:cs typeface="Arial MT"/>
              </a:rPr>
              <a:t>called</a:t>
            </a:r>
            <a:r>
              <a:rPr sz="1800" spc="-25" dirty="0">
                <a:latin typeface="Arial MT"/>
                <a:cs typeface="Arial MT"/>
              </a:rPr>
              <a:t> </a:t>
            </a:r>
            <a:r>
              <a:rPr sz="1800" b="1" dirty="0">
                <a:latin typeface="Arial"/>
                <a:cs typeface="Arial"/>
              </a:rPr>
              <a:t>macro</a:t>
            </a:r>
            <a:r>
              <a:rPr sz="1800" b="1" spc="-25" dirty="0">
                <a:latin typeface="Arial"/>
                <a:cs typeface="Arial"/>
              </a:rPr>
              <a:t> </a:t>
            </a:r>
            <a:r>
              <a:rPr sz="1800" b="1" spc="-10" dirty="0">
                <a:latin typeface="Arial"/>
                <a:cs typeface="Arial"/>
              </a:rPr>
              <a:t>expansion</a:t>
            </a:r>
            <a:r>
              <a:rPr sz="1800" spc="-10" dirty="0">
                <a:latin typeface="Arial MT"/>
                <a:cs typeface="Arial MT"/>
              </a:rPr>
              <a:t>.</a:t>
            </a:r>
            <a:endParaRPr sz="1800" dirty="0">
              <a:latin typeface="Arial MT"/>
              <a:cs typeface="Arial MT"/>
            </a:endParaRPr>
          </a:p>
          <a:p>
            <a:pPr marL="12700">
              <a:lnSpc>
                <a:spcPct val="114000"/>
              </a:lnSpc>
              <a:spcBef>
                <a:spcPts val="1525"/>
              </a:spcBef>
              <a:spcAft>
                <a:spcPts val="600"/>
              </a:spcAft>
            </a:pPr>
            <a:r>
              <a:rPr sz="1800" dirty="0">
                <a:latin typeface="Arial MT"/>
                <a:cs typeface="Arial MT"/>
              </a:rPr>
              <a:t>There</a:t>
            </a:r>
            <a:r>
              <a:rPr sz="1800" spc="-15" dirty="0">
                <a:latin typeface="Arial MT"/>
                <a:cs typeface="Arial MT"/>
              </a:rPr>
              <a:t> </a:t>
            </a:r>
            <a:r>
              <a:rPr sz="1800" dirty="0">
                <a:latin typeface="Arial MT"/>
                <a:cs typeface="Arial MT"/>
              </a:rPr>
              <a:t>are</a:t>
            </a:r>
            <a:r>
              <a:rPr sz="1800" spc="-15" dirty="0">
                <a:latin typeface="Arial MT"/>
                <a:cs typeface="Arial MT"/>
              </a:rPr>
              <a:t> </a:t>
            </a:r>
            <a:r>
              <a:rPr sz="1800" dirty="0">
                <a:latin typeface="Arial MT"/>
                <a:cs typeface="Arial MT"/>
              </a:rPr>
              <a:t>two</a:t>
            </a:r>
            <a:r>
              <a:rPr sz="1800" spc="-15" dirty="0">
                <a:latin typeface="Arial MT"/>
                <a:cs typeface="Arial MT"/>
              </a:rPr>
              <a:t> </a:t>
            </a:r>
            <a:r>
              <a:rPr sz="1800" dirty="0">
                <a:latin typeface="Arial MT"/>
                <a:cs typeface="Arial MT"/>
              </a:rPr>
              <a:t>main</a:t>
            </a:r>
            <a:r>
              <a:rPr sz="1800" spc="-15" dirty="0">
                <a:latin typeface="Arial MT"/>
                <a:cs typeface="Arial MT"/>
              </a:rPr>
              <a:t> </a:t>
            </a:r>
            <a:r>
              <a:rPr sz="1800" dirty="0">
                <a:latin typeface="Arial MT"/>
                <a:cs typeface="Arial MT"/>
              </a:rPr>
              <a:t>types</a:t>
            </a:r>
            <a:r>
              <a:rPr sz="1800" spc="-15" dirty="0">
                <a:latin typeface="Arial MT"/>
                <a:cs typeface="Arial MT"/>
              </a:rPr>
              <a:t> </a:t>
            </a:r>
            <a:r>
              <a:rPr sz="1800" dirty="0">
                <a:latin typeface="Arial MT"/>
                <a:cs typeface="Arial MT"/>
              </a:rPr>
              <a:t>of</a:t>
            </a:r>
            <a:r>
              <a:rPr sz="1800" spc="-15" dirty="0">
                <a:latin typeface="Arial MT"/>
                <a:cs typeface="Arial MT"/>
              </a:rPr>
              <a:t> </a:t>
            </a:r>
            <a:r>
              <a:rPr sz="1800" spc="-10" dirty="0">
                <a:latin typeface="Arial MT"/>
                <a:cs typeface="Arial MT"/>
              </a:rPr>
              <a:t>macros:</a:t>
            </a:r>
            <a:endParaRPr lang="en-US" sz="1800" spc="-10" dirty="0">
              <a:latin typeface="Arial MT"/>
              <a:cs typeface="Arial MT"/>
            </a:endParaRPr>
          </a:p>
          <a:p>
            <a:pPr marL="431800" marR="5080" indent="-419734">
              <a:lnSpc>
                <a:spcPct val="114000"/>
              </a:lnSpc>
              <a:spcBef>
                <a:spcPts val="100"/>
              </a:spcBef>
              <a:spcAft>
                <a:spcPts val="600"/>
              </a:spcAft>
              <a:buAutoNum type="arabicPeriod"/>
              <a:tabLst>
                <a:tab pos="431800" algn="l"/>
              </a:tabLst>
            </a:pPr>
            <a:r>
              <a:rPr lang="en-US" sz="1800" b="1" dirty="0">
                <a:latin typeface="Arial"/>
                <a:cs typeface="Arial"/>
              </a:rPr>
              <a:t>Simple</a:t>
            </a:r>
            <a:r>
              <a:rPr lang="en-US" sz="1800" b="1" spc="-35" dirty="0">
                <a:latin typeface="Arial"/>
                <a:cs typeface="Arial"/>
              </a:rPr>
              <a:t> </a:t>
            </a:r>
            <a:r>
              <a:rPr lang="en-US" sz="1800" b="1" dirty="0">
                <a:latin typeface="Arial"/>
                <a:cs typeface="Arial"/>
              </a:rPr>
              <a:t>Macros</a:t>
            </a:r>
            <a:r>
              <a:rPr lang="en-US" sz="1800" dirty="0">
                <a:latin typeface="Arial MT"/>
                <a:cs typeface="Arial MT"/>
              </a:rPr>
              <a:t>:</a:t>
            </a:r>
            <a:r>
              <a:rPr lang="en-US" sz="1800" spc="-60" dirty="0">
                <a:latin typeface="Arial MT"/>
                <a:cs typeface="Arial MT"/>
              </a:rPr>
              <a:t> </a:t>
            </a:r>
            <a:r>
              <a:rPr lang="en-US" sz="1800" dirty="0">
                <a:latin typeface="Arial MT"/>
                <a:cs typeface="Arial MT"/>
              </a:rPr>
              <a:t>These</a:t>
            </a:r>
            <a:r>
              <a:rPr lang="en-US" sz="1800" spc="-25" dirty="0">
                <a:latin typeface="Arial MT"/>
                <a:cs typeface="Arial MT"/>
              </a:rPr>
              <a:t> </a:t>
            </a:r>
            <a:r>
              <a:rPr lang="en-US" sz="1800" dirty="0">
                <a:latin typeface="Arial MT"/>
                <a:cs typeface="Arial MT"/>
              </a:rPr>
              <a:t>are</a:t>
            </a:r>
            <a:r>
              <a:rPr lang="en-US" sz="1800" spc="-25" dirty="0">
                <a:latin typeface="Arial MT"/>
                <a:cs typeface="Arial MT"/>
              </a:rPr>
              <a:t> </a:t>
            </a:r>
            <a:r>
              <a:rPr lang="en-US" sz="1800" dirty="0">
                <a:latin typeface="Arial MT"/>
                <a:cs typeface="Arial MT"/>
              </a:rPr>
              <a:t>used</a:t>
            </a:r>
            <a:r>
              <a:rPr lang="en-US" sz="1800" spc="-20" dirty="0">
                <a:latin typeface="Arial MT"/>
                <a:cs typeface="Arial MT"/>
              </a:rPr>
              <a:t> </a:t>
            </a:r>
            <a:r>
              <a:rPr lang="en-US" sz="1800" spc="-25" dirty="0">
                <a:latin typeface="Arial MT"/>
                <a:cs typeface="Arial MT"/>
              </a:rPr>
              <a:t>to </a:t>
            </a:r>
            <a:r>
              <a:rPr lang="en-US" sz="1800" dirty="0">
                <a:latin typeface="Arial MT"/>
                <a:cs typeface="Arial MT"/>
              </a:rPr>
              <a:t>define</a:t>
            </a:r>
            <a:r>
              <a:rPr lang="en-US" sz="1800" spc="-25" dirty="0">
                <a:latin typeface="Arial MT"/>
                <a:cs typeface="Arial MT"/>
              </a:rPr>
              <a:t> </a:t>
            </a:r>
            <a:r>
              <a:rPr lang="en-US" sz="1800" dirty="0">
                <a:latin typeface="Arial MT"/>
                <a:cs typeface="Arial MT"/>
              </a:rPr>
              <a:t>constants</a:t>
            </a:r>
            <a:r>
              <a:rPr lang="en-US" sz="1800" spc="-15" dirty="0">
                <a:latin typeface="Arial MT"/>
                <a:cs typeface="Arial MT"/>
              </a:rPr>
              <a:t> </a:t>
            </a:r>
            <a:r>
              <a:rPr lang="en-US" sz="1800" dirty="0">
                <a:latin typeface="Arial MT"/>
                <a:cs typeface="Arial MT"/>
              </a:rPr>
              <a:t>or</a:t>
            </a:r>
            <a:r>
              <a:rPr lang="en-US" sz="1800" spc="-10" dirty="0">
                <a:latin typeface="Arial MT"/>
                <a:cs typeface="Arial MT"/>
              </a:rPr>
              <a:t> simple replacements.</a:t>
            </a:r>
            <a:endParaRPr lang="en-US" sz="1800" dirty="0">
              <a:latin typeface="Arial MT"/>
              <a:cs typeface="Arial MT"/>
            </a:endParaRPr>
          </a:p>
          <a:p>
            <a:pPr marL="431800" marR="77470" indent="-419734">
              <a:lnSpc>
                <a:spcPct val="114000"/>
              </a:lnSpc>
              <a:buAutoNum type="arabicPeriod"/>
              <a:tabLst>
                <a:tab pos="431800" algn="l"/>
              </a:tabLst>
            </a:pPr>
            <a:r>
              <a:rPr lang="en-US" sz="1800" b="1" dirty="0">
                <a:latin typeface="Arial"/>
                <a:cs typeface="Arial"/>
              </a:rPr>
              <a:t>Parameterized</a:t>
            </a:r>
            <a:r>
              <a:rPr lang="en-US" sz="1800" b="1" spc="-40" dirty="0">
                <a:latin typeface="Arial"/>
                <a:cs typeface="Arial"/>
              </a:rPr>
              <a:t> </a:t>
            </a:r>
            <a:r>
              <a:rPr lang="en-US" sz="1800" b="1" dirty="0">
                <a:latin typeface="Arial"/>
                <a:cs typeface="Arial"/>
              </a:rPr>
              <a:t>Macros</a:t>
            </a:r>
            <a:r>
              <a:rPr lang="en-US" sz="1800" dirty="0">
                <a:latin typeface="Arial MT"/>
                <a:cs typeface="Arial MT"/>
              </a:rPr>
              <a:t>:</a:t>
            </a:r>
            <a:r>
              <a:rPr lang="en-US" sz="1800" spc="-70" dirty="0">
                <a:latin typeface="Arial MT"/>
                <a:cs typeface="Arial MT"/>
              </a:rPr>
              <a:t> </a:t>
            </a:r>
            <a:r>
              <a:rPr lang="en-US" sz="1800" spc="-10" dirty="0">
                <a:latin typeface="Arial MT"/>
                <a:cs typeface="Arial MT"/>
              </a:rPr>
              <a:t>These </a:t>
            </a:r>
            <a:r>
              <a:rPr lang="en-US" sz="1800" dirty="0">
                <a:latin typeface="Arial MT"/>
                <a:cs typeface="Arial MT"/>
              </a:rPr>
              <a:t>macros</a:t>
            </a:r>
            <a:r>
              <a:rPr lang="en-US" sz="1800" spc="-15" dirty="0">
                <a:latin typeface="Arial MT"/>
                <a:cs typeface="Arial MT"/>
              </a:rPr>
              <a:t> </a:t>
            </a:r>
            <a:r>
              <a:rPr lang="en-US" sz="1800" dirty="0">
                <a:latin typeface="Arial MT"/>
                <a:cs typeface="Arial MT"/>
              </a:rPr>
              <a:t>accept</a:t>
            </a:r>
            <a:r>
              <a:rPr lang="en-US" sz="1800" spc="-15" dirty="0">
                <a:latin typeface="Arial MT"/>
                <a:cs typeface="Arial MT"/>
              </a:rPr>
              <a:t> </a:t>
            </a:r>
            <a:r>
              <a:rPr lang="en-US" sz="1800" dirty="0">
                <a:latin typeface="Arial MT"/>
                <a:cs typeface="Arial MT"/>
              </a:rPr>
              <a:t>arguments</a:t>
            </a:r>
            <a:r>
              <a:rPr lang="en-US" sz="1800" spc="-15" dirty="0">
                <a:latin typeface="Arial MT"/>
                <a:cs typeface="Arial MT"/>
              </a:rPr>
              <a:t> </a:t>
            </a:r>
            <a:r>
              <a:rPr lang="en-US" sz="1800" dirty="0">
                <a:latin typeface="Arial MT"/>
                <a:cs typeface="Arial MT"/>
              </a:rPr>
              <a:t>and</a:t>
            </a:r>
            <a:r>
              <a:rPr lang="en-US" sz="1800" spc="-10" dirty="0">
                <a:latin typeface="Arial MT"/>
                <a:cs typeface="Arial MT"/>
              </a:rPr>
              <a:t> </a:t>
            </a:r>
            <a:r>
              <a:rPr lang="en-US" sz="1800" spc="-25" dirty="0">
                <a:latin typeface="Arial MT"/>
                <a:cs typeface="Arial MT"/>
              </a:rPr>
              <a:t>can </a:t>
            </a:r>
            <a:r>
              <a:rPr lang="en-US" sz="1800" dirty="0">
                <a:latin typeface="Arial MT"/>
                <a:cs typeface="Arial MT"/>
              </a:rPr>
              <a:t>resemble</a:t>
            </a:r>
            <a:r>
              <a:rPr lang="en-US" sz="1800" spc="-40" dirty="0">
                <a:latin typeface="Arial MT"/>
                <a:cs typeface="Arial MT"/>
              </a:rPr>
              <a:t> </a:t>
            </a:r>
            <a:r>
              <a:rPr lang="en-US" sz="1800" spc="-10" dirty="0">
                <a:latin typeface="Arial MT"/>
                <a:cs typeface="Arial MT"/>
              </a:rPr>
              <a:t>functions.</a:t>
            </a:r>
            <a:endParaRPr lang="en-US" sz="1800" dirty="0">
              <a:latin typeface="Arial MT"/>
              <a:cs typeface="Arial MT"/>
            </a:endParaRPr>
          </a:p>
        </p:txBody>
      </p:sp>
      <p:pic>
        <p:nvPicPr>
          <p:cNvPr id="5" name="object 5" descr="C++ code snippet showing nested macros (POWER, WORK, DISTANCE) and how they expand into a single complex mathematical expression during preprocessing."/>
          <p:cNvPicPr/>
          <p:nvPr/>
        </p:nvPicPr>
        <p:blipFill>
          <a:blip r:embed="rId2" cstate="print"/>
          <a:stretch>
            <a:fillRect/>
          </a:stretch>
        </p:blipFill>
        <p:spPr>
          <a:xfrm>
            <a:off x="4875650" y="2168711"/>
            <a:ext cx="7081199" cy="3075874"/>
          </a:xfrm>
          <a:prstGeom prst="rect">
            <a:avLst/>
          </a:prstGeom>
        </p:spPr>
      </p:pic>
      <p:sp>
        <p:nvSpPr>
          <p:cNvPr id="6" name="object 6">
            <a:extLst>
              <a:ext uri="{C183D7F6-B498-43B3-948B-1728B52AA6E4}">
                <adec:decorative xmlns:adec="http://schemas.microsoft.com/office/drawing/2017/decorative" val="1"/>
              </a:ext>
            </a:extLst>
          </p:cNvPr>
          <p:cNvSpPr txBox="1"/>
          <p:nvPr/>
        </p:nvSpPr>
        <p:spPr>
          <a:xfrm>
            <a:off x="7236775" y="5384800"/>
            <a:ext cx="258381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5"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25" dirty="0">
                <a:solidFill>
                  <a:srgbClr val="0F2044"/>
                </a:solidFill>
                <a:latin typeface="Arial MT"/>
                <a:cs typeface="Arial MT"/>
              </a:rPr>
              <a:t> </a:t>
            </a:r>
            <a:r>
              <a:rPr sz="1000" spc="-10" dirty="0">
                <a:solidFill>
                  <a:srgbClr val="0F2044"/>
                </a:solidFill>
                <a:latin typeface="Arial MT"/>
                <a:cs typeface="Arial MT"/>
              </a:rPr>
              <a:t>https://devblogs.microsoft.com/</a:t>
            </a:r>
            <a:endParaRPr sz="1000" dirty="0">
              <a:latin typeface="Arial MT"/>
              <a:cs typeface="Arial MT"/>
            </a:endParaRPr>
          </a:p>
        </p:txBody>
      </p:sp>
      <p:sp>
        <p:nvSpPr>
          <p:cNvPr id="7" name="object 7">
            <a:extLst>
              <a:ext uri="{C183D7F6-B498-43B3-948B-1728B52AA6E4}">
                <adec:decorative xmlns:adec="http://schemas.microsoft.com/office/drawing/2017/decorative" val="1"/>
              </a:ext>
            </a:extLst>
          </p:cNvPr>
          <p:cNvSpPr txBox="1"/>
          <p:nvPr/>
        </p:nvSpPr>
        <p:spPr>
          <a:xfrm>
            <a:off x="4948675" y="6009640"/>
            <a:ext cx="6924675" cy="543560"/>
          </a:xfrm>
          <a:prstGeom prst="rect">
            <a:avLst/>
          </a:prstGeom>
        </p:spPr>
        <p:txBody>
          <a:bodyPr vert="horz" wrap="square" lIns="0" tIns="12700" rIns="0" bIns="0" rtlCol="0">
            <a:spAutoFit/>
          </a:bodyPr>
          <a:lstStyle/>
          <a:p>
            <a:pPr marL="12700">
              <a:lnSpc>
                <a:spcPct val="100000"/>
              </a:lnSpc>
              <a:spcBef>
                <a:spcPts val="100"/>
              </a:spcBef>
            </a:pPr>
            <a:r>
              <a:rPr sz="1700" spc="-10" dirty="0">
                <a:solidFill>
                  <a:srgbClr val="0F2044"/>
                </a:solidFill>
                <a:latin typeface="Arial MT"/>
                <a:cs typeface="Arial MT"/>
              </a:rPr>
              <a:t>Additional</a:t>
            </a:r>
            <a:r>
              <a:rPr sz="1700" spc="-25" dirty="0">
                <a:solidFill>
                  <a:srgbClr val="0F2044"/>
                </a:solidFill>
                <a:latin typeface="Arial MT"/>
                <a:cs typeface="Arial MT"/>
              </a:rPr>
              <a:t> </a:t>
            </a:r>
            <a:r>
              <a:rPr sz="1700" spc="-10" dirty="0">
                <a:solidFill>
                  <a:srgbClr val="0F2044"/>
                </a:solidFill>
                <a:latin typeface="Arial MT"/>
                <a:cs typeface="Arial MT"/>
              </a:rPr>
              <a:t>resource:</a:t>
            </a:r>
            <a:endParaRPr sz="1700">
              <a:latin typeface="Arial MT"/>
              <a:cs typeface="Arial MT"/>
            </a:endParaRPr>
          </a:p>
          <a:p>
            <a:pPr marL="12700">
              <a:lnSpc>
                <a:spcPct val="100000"/>
              </a:lnSpc>
            </a:pPr>
            <a:r>
              <a:rPr sz="1700" u="heavy" spc="-20" dirty="0">
                <a:solidFill>
                  <a:srgbClr val="00688C"/>
                </a:solidFill>
                <a:uFill>
                  <a:solidFill>
                    <a:srgbClr val="00688C"/>
                  </a:solidFill>
                </a:uFill>
                <a:latin typeface="Arial MT"/>
                <a:cs typeface="Arial MT"/>
                <a:hlinkClick r:id="rId3"/>
              </a:rPr>
              <a:t>https://devblogs.microsoft.com/cppblog/visualize-macro-expansion-for-</a:t>
            </a:r>
            <a:r>
              <a:rPr sz="1700" u="heavy" spc="-25" dirty="0">
                <a:solidFill>
                  <a:srgbClr val="00688C"/>
                </a:solidFill>
                <a:uFill>
                  <a:solidFill>
                    <a:srgbClr val="00688C"/>
                  </a:solidFill>
                </a:uFill>
                <a:latin typeface="Arial MT"/>
                <a:cs typeface="Arial MT"/>
                <a:hlinkClick r:id="rId3"/>
              </a:rPr>
              <a:t>c/</a:t>
            </a:r>
            <a:endParaRPr sz="1700">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ts val="2885"/>
              </a:lnSpc>
              <a:spcBef>
                <a:spcPts val="100"/>
              </a:spcBef>
            </a:pPr>
            <a:r>
              <a:rPr dirty="0"/>
              <a:t>C</a:t>
            </a:r>
            <a:r>
              <a:rPr spc="-5" dirty="0"/>
              <a:t> </a:t>
            </a:r>
            <a:r>
              <a:rPr spc="-10" dirty="0"/>
              <a:t>Preprocessor</a:t>
            </a:r>
          </a:p>
          <a:p>
            <a:pPr marL="12700">
              <a:lnSpc>
                <a:spcPts val="2285"/>
              </a:lnSpc>
            </a:pPr>
            <a:r>
              <a:rPr sz="2000" dirty="0"/>
              <a:t>Macro</a:t>
            </a:r>
            <a:r>
              <a:rPr sz="2000" spc="-85" dirty="0"/>
              <a:t> </a:t>
            </a:r>
            <a:r>
              <a:rPr sz="2000" spc="-10" dirty="0"/>
              <a:t>Expansion</a:t>
            </a:r>
            <a:endParaRPr sz="2000"/>
          </a:p>
        </p:txBody>
      </p:sp>
      <p:sp>
        <p:nvSpPr>
          <p:cNvPr id="3" name="object 3"/>
          <p:cNvSpPr txBox="1"/>
          <p:nvPr/>
        </p:nvSpPr>
        <p:spPr>
          <a:xfrm>
            <a:off x="410375" y="3276600"/>
            <a:ext cx="2790825" cy="1398524"/>
          </a:xfrm>
          <a:prstGeom prst="rect">
            <a:avLst/>
          </a:prstGeom>
        </p:spPr>
        <p:txBody>
          <a:bodyPr vert="horz" wrap="square" lIns="0" tIns="12700" rIns="0" bIns="0" rtlCol="0">
            <a:spAutoFit/>
          </a:bodyPr>
          <a:lstStyle/>
          <a:p>
            <a:pPr marL="12700" marR="5080" algn="l">
              <a:lnSpc>
                <a:spcPct val="114999"/>
              </a:lnSpc>
              <a:spcBef>
                <a:spcPts val="100"/>
              </a:spcBef>
            </a:pPr>
            <a:r>
              <a:rPr sz="2000" b="1" dirty="0">
                <a:latin typeface="Arial"/>
                <a:cs typeface="Arial"/>
              </a:rPr>
              <a:t>Simple</a:t>
            </a:r>
            <a:r>
              <a:rPr sz="2000" b="1" spc="-40" dirty="0">
                <a:latin typeface="Arial"/>
                <a:cs typeface="Arial"/>
              </a:rPr>
              <a:t> </a:t>
            </a:r>
            <a:r>
              <a:rPr sz="2000" b="1" dirty="0">
                <a:latin typeface="Arial"/>
                <a:cs typeface="Arial"/>
              </a:rPr>
              <a:t>Macros</a:t>
            </a:r>
            <a:r>
              <a:rPr sz="2000" dirty="0">
                <a:latin typeface="Arial MT"/>
                <a:cs typeface="Arial MT"/>
              </a:rPr>
              <a:t>:</a:t>
            </a:r>
            <a:r>
              <a:rPr sz="2000" spc="-65" dirty="0">
                <a:latin typeface="Arial MT"/>
                <a:cs typeface="Arial MT"/>
              </a:rPr>
              <a:t> </a:t>
            </a:r>
            <a:br>
              <a:rPr lang="en-US" sz="2000" spc="-65" dirty="0">
                <a:latin typeface="Arial MT"/>
                <a:cs typeface="Arial MT"/>
              </a:rPr>
            </a:br>
            <a:r>
              <a:rPr sz="2000" dirty="0">
                <a:latin typeface="Arial MT"/>
                <a:cs typeface="Arial MT"/>
              </a:rPr>
              <a:t>These</a:t>
            </a:r>
            <a:r>
              <a:rPr sz="2000" spc="-25" dirty="0">
                <a:latin typeface="Arial MT"/>
                <a:cs typeface="Arial MT"/>
              </a:rPr>
              <a:t> are </a:t>
            </a:r>
            <a:r>
              <a:rPr sz="2000" dirty="0">
                <a:latin typeface="Arial MT"/>
                <a:cs typeface="Arial MT"/>
              </a:rPr>
              <a:t>used</a:t>
            </a:r>
            <a:r>
              <a:rPr sz="2000" spc="-20" dirty="0">
                <a:latin typeface="Arial MT"/>
                <a:cs typeface="Arial MT"/>
              </a:rPr>
              <a:t> </a:t>
            </a:r>
            <a:r>
              <a:rPr sz="2000" dirty="0">
                <a:latin typeface="Arial MT"/>
                <a:cs typeface="Arial MT"/>
              </a:rPr>
              <a:t>to</a:t>
            </a:r>
            <a:r>
              <a:rPr sz="2000" spc="-15" dirty="0">
                <a:latin typeface="Arial MT"/>
                <a:cs typeface="Arial MT"/>
              </a:rPr>
              <a:t> </a:t>
            </a:r>
            <a:r>
              <a:rPr sz="2000" dirty="0">
                <a:latin typeface="Arial MT"/>
                <a:cs typeface="Arial MT"/>
              </a:rPr>
              <a:t>define</a:t>
            </a:r>
            <a:r>
              <a:rPr sz="2000" spc="-15" dirty="0">
                <a:latin typeface="Arial MT"/>
                <a:cs typeface="Arial MT"/>
              </a:rPr>
              <a:t> </a:t>
            </a:r>
            <a:r>
              <a:rPr sz="2000" dirty="0">
                <a:latin typeface="Arial MT"/>
                <a:cs typeface="Arial MT"/>
              </a:rPr>
              <a:t>constants</a:t>
            </a:r>
            <a:r>
              <a:rPr sz="2000" spc="-15" dirty="0">
                <a:latin typeface="Arial MT"/>
                <a:cs typeface="Arial MT"/>
              </a:rPr>
              <a:t> </a:t>
            </a:r>
            <a:r>
              <a:rPr sz="2000" spc="-25" dirty="0">
                <a:latin typeface="Arial MT"/>
                <a:cs typeface="Arial MT"/>
              </a:rPr>
              <a:t>or </a:t>
            </a:r>
            <a:r>
              <a:rPr sz="2000" dirty="0">
                <a:latin typeface="Arial MT"/>
                <a:cs typeface="Arial MT"/>
              </a:rPr>
              <a:t>simple</a:t>
            </a:r>
            <a:r>
              <a:rPr sz="2000" spc="-30" dirty="0">
                <a:latin typeface="Arial MT"/>
                <a:cs typeface="Arial MT"/>
              </a:rPr>
              <a:t> </a:t>
            </a:r>
            <a:r>
              <a:rPr sz="2000" spc="-10" dirty="0">
                <a:latin typeface="Arial MT"/>
                <a:cs typeface="Arial MT"/>
              </a:rPr>
              <a:t>replacements.</a:t>
            </a:r>
            <a:endParaRPr sz="2000" dirty="0">
              <a:latin typeface="Arial MT"/>
              <a:cs typeface="Arial MT"/>
            </a:endParaRPr>
          </a:p>
        </p:txBody>
      </p:sp>
      <p:pic>
        <p:nvPicPr>
          <p:cNvPr id="4" name="object 4" descr="C code snippet using #define to create integer constants (MAX_AGE, MIN_AGE) and a string constant (GREETING) for use in logic checks."/>
          <p:cNvPicPr/>
          <p:nvPr/>
        </p:nvPicPr>
        <p:blipFill>
          <a:blip r:embed="rId3" cstate="print"/>
          <a:stretch>
            <a:fillRect/>
          </a:stretch>
        </p:blipFill>
        <p:spPr>
          <a:xfrm>
            <a:off x="3871450" y="1647425"/>
            <a:ext cx="8163224" cy="46169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885"/>
              </a:lnSpc>
              <a:spcBef>
                <a:spcPts val="100"/>
              </a:spcBef>
            </a:pPr>
            <a:r>
              <a:rPr dirty="0"/>
              <a:t>C</a:t>
            </a:r>
            <a:r>
              <a:rPr spc="-5" dirty="0"/>
              <a:t> </a:t>
            </a:r>
            <a:r>
              <a:rPr spc="-10" dirty="0"/>
              <a:t>Preprocessor</a:t>
            </a:r>
          </a:p>
          <a:p>
            <a:pPr marL="12700">
              <a:lnSpc>
                <a:spcPts val="2285"/>
              </a:lnSpc>
            </a:pPr>
            <a:r>
              <a:rPr sz="2000" dirty="0"/>
              <a:t>Macro</a:t>
            </a:r>
            <a:r>
              <a:rPr sz="2000" spc="-85" dirty="0"/>
              <a:t> </a:t>
            </a:r>
            <a:r>
              <a:rPr sz="2000" spc="-10" dirty="0"/>
              <a:t>Expansion</a:t>
            </a:r>
            <a:endParaRPr sz="2000" dirty="0"/>
          </a:p>
        </p:txBody>
      </p:sp>
      <p:sp>
        <p:nvSpPr>
          <p:cNvPr id="3" name="object 3"/>
          <p:cNvSpPr txBox="1"/>
          <p:nvPr/>
        </p:nvSpPr>
        <p:spPr>
          <a:xfrm>
            <a:off x="410375" y="2433257"/>
            <a:ext cx="2942425" cy="2688044"/>
          </a:xfrm>
          <a:prstGeom prst="rect">
            <a:avLst/>
          </a:prstGeom>
        </p:spPr>
        <p:txBody>
          <a:bodyPr vert="horz" wrap="square" lIns="0" tIns="12700" rIns="0" bIns="0" rtlCol="0">
            <a:spAutoFit/>
          </a:bodyPr>
          <a:lstStyle/>
          <a:p>
            <a:pPr marL="12700" marR="194945">
              <a:lnSpc>
                <a:spcPct val="114999"/>
              </a:lnSpc>
              <a:spcBef>
                <a:spcPts val="100"/>
              </a:spcBef>
            </a:pPr>
            <a:r>
              <a:rPr dirty="0">
                <a:latin typeface="Arial MT"/>
                <a:cs typeface="Arial MT"/>
              </a:rPr>
              <a:t>Pitfalls</a:t>
            </a:r>
            <a:r>
              <a:rPr spc="-15" dirty="0">
                <a:latin typeface="Arial MT"/>
                <a:cs typeface="Arial MT"/>
              </a:rPr>
              <a:t> </a:t>
            </a:r>
            <a:r>
              <a:rPr dirty="0">
                <a:latin typeface="Arial MT"/>
                <a:cs typeface="Arial MT"/>
              </a:rPr>
              <a:t>of</a:t>
            </a:r>
            <a:r>
              <a:rPr spc="-15" dirty="0">
                <a:latin typeface="Arial MT"/>
                <a:cs typeface="Arial MT"/>
              </a:rPr>
              <a:t> </a:t>
            </a:r>
            <a:r>
              <a:rPr dirty="0">
                <a:latin typeface="Arial MT"/>
                <a:cs typeface="Arial MT"/>
              </a:rPr>
              <a:t>macro</a:t>
            </a:r>
            <a:r>
              <a:rPr spc="-10" dirty="0">
                <a:latin typeface="Arial MT"/>
                <a:cs typeface="Arial MT"/>
              </a:rPr>
              <a:t> expansion </a:t>
            </a:r>
            <a:r>
              <a:rPr dirty="0">
                <a:latin typeface="Arial MT"/>
                <a:cs typeface="Arial MT"/>
              </a:rPr>
              <a:t>(e.g.,</a:t>
            </a:r>
            <a:r>
              <a:rPr spc="-40" dirty="0">
                <a:latin typeface="Arial MT"/>
                <a:cs typeface="Arial MT"/>
              </a:rPr>
              <a:t> </a:t>
            </a:r>
            <a:r>
              <a:rPr dirty="0">
                <a:latin typeface="Arial MT"/>
                <a:cs typeface="Arial MT"/>
              </a:rPr>
              <a:t>precedence</a:t>
            </a:r>
            <a:r>
              <a:rPr spc="-40" dirty="0">
                <a:latin typeface="Arial MT"/>
                <a:cs typeface="Arial MT"/>
              </a:rPr>
              <a:t> </a:t>
            </a:r>
            <a:r>
              <a:rPr spc="-10" dirty="0">
                <a:latin typeface="Arial MT"/>
                <a:cs typeface="Arial MT"/>
              </a:rPr>
              <a:t>issues)</a:t>
            </a:r>
            <a:endParaRPr dirty="0">
              <a:latin typeface="Arial MT"/>
              <a:cs typeface="Arial MT"/>
            </a:endParaRPr>
          </a:p>
          <a:p>
            <a:pPr marL="12700" marR="5080">
              <a:lnSpc>
                <a:spcPct val="114999"/>
              </a:lnSpc>
              <a:spcBef>
                <a:spcPts val="1200"/>
              </a:spcBef>
            </a:pPr>
            <a:r>
              <a:rPr b="1" dirty="0">
                <a:latin typeface="Arial"/>
                <a:cs typeface="Arial"/>
              </a:rPr>
              <a:t>Always</a:t>
            </a:r>
            <a:r>
              <a:rPr b="1" spc="-35" dirty="0">
                <a:latin typeface="Arial"/>
                <a:cs typeface="Arial"/>
              </a:rPr>
              <a:t> </a:t>
            </a:r>
            <a:r>
              <a:rPr b="1" dirty="0">
                <a:latin typeface="Arial"/>
                <a:cs typeface="Arial"/>
              </a:rPr>
              <a:t>use</a:t>
            </a:r>
            <a:r>
              <a:rPr b="1" spc="-35" dirty="0">
                <a:latin typeface="Arial"/>
                <a:cs typeface="Arial"/>
              </a:rPr>
              <a:t> </a:t>
            </a:r>
            <a:r>
              <a:rPr b="1" dirty="0">
                <a:latin typeface="Arial"/>
                <a:cs typeface="Arial"/>
              </a:rPr>
              <a:t>parentheses</a:t>
            </a:r>
            <a:r>
              <a:rPr b="1" spc="-30" dirty="0">
                <a:latin typeface="Arial"/>
                <a:cs typeface="Arial"/>
              </a:rPr>
              <a:t> </a:t>
            </a:r>
            <a:r>
              <a:rPr b="1" spc="-25" dirty="0">
                <a:latin typeface="Arial"/>
                <a:cs typeface="Arial"/>
              </a:rPr>
              <a:t>in </a:t>
            </a:r>
            <a:r>
              <a:rPr b="1" dirty="0">
                <a:latin typeface="Arial"/>
                <a:cs typeface="Arial"/>
              </a:rPr>
              <a:t>macros</a:t>
            </a:r>
            <a:r>
              <a:rPr b="1" spc="-35" dirty="0">
                <a:latin typeface="Arial"/>
                <a:cs typeface="Arial"/>
              </a:rPr>
              <a:t> </a:t>
            </a:r>
            <a:r>
              <a:rPr dirty="0">
                <a:latin typeface="Arial MT"/>
                <a:cs typeface="Arial MT"/>
              </a:rPr>
              <a:t>to</a:t>
            </a:r>
            <a:r>
              <a:rPr spc="-25" dirty="0">
                <a:latin typeface="Arial MT"/>
                <a:cs typeface="Arial MT"/>
              </a:rPr>
              <a:t> </a:t>
            </a:r>
            <a:r>
              <a:rPr dirty="0">
                <a:latin typeface="Arial MT"/>
                <a:cs typeface="Arial MT"/>
              </a:rPr>
              <a:t>ensure</a:t>
            </a:r>
            <a:r>
              <a:rPr spc="-20" dirty="0">
                <a:latin typeface="Arial MT"/>
                <a:cs typeface="Arial MT"/>
              </a:rPr>
              <a:t> </a:t>
            </a:r>
            <a:r>
              <a:rPr spc="-10" dirty="0">
                <a:latin typeface="Arial MT"/>
                <a:cs typeface="Arial MT"/>
              </a:rPr>
              <a:t>correct </a:t>
            </a:r>
            <a:r>
              <a:rPr dirty="0">
                <a:latin typeface="Arial MT"/>
                <a:cs typeface="Arial MT"/>
              </a:rPr>
              <a:t>operator</a:t>
            </a:r>
            <a:r>
              <a:rPr spc="-5" dirty="0">
                <a:latin typeface="Arial MT"/>
                <a:cs typeface="Arial MT"/>
              </a:rPr>
              <a:t> </a:t>
            </a:r>
            <a:r>
              <a:rPr spc="-10" dirty="0">
                <a:latin typeface="Arial MT"/>
                <a:cs typeface="Arial MT"/>
              </a:rPr>
              <a:t>precedence, </a:t>
            </a:r>
            <a:r>
              <a:rPr dirty="0">
                <a:latin typeface="Arial MT"/>
                <a:cs typeface="Arial MT"/>
              </a:rPr>
              <a:t>especially</a:t>
            </a:r>
            <a:r>
              <a:rPr spc="-15" dirty="0">
                <a:latin typeface="Arial MT"/>
                <a:cs typeface="Arial MT"/>
              </a:rPr>
              <a:t> </a:t>
            </a:r>
            <a:r>
              <a:rPr dirty="0">
                <a:latin typeface="Arial MT"/>
                <a:cs typeface="Arial MT"/>
              </a:rPr>
              <a:t>when</a:t>
            </a:r>
            <a:r>
              <a:rPr spc="-10" dirty="0">
                <a:latin typeface="Arial MT"/>
                <a:cs typeface="Arial MT"/>
              </a:rPr>
              <a:t> combining </a:t>
            </a:r>
            <a:r>
              <a:rPr dirty="0">
                <a:latin typeface="Arial MT"/>
                <a:cs typeface="Arial MT"/>
              </a:rPr>
              <a:t>addition,</a:t>
            </a:r>
            <a:r>
              <a:rPr spc="-60" dirty="0">
                <a:latin typeface="Arial MT"/>
                <a:cs typeface="Arial MT"/>
              </a:rPr>
              <a:t> </a:t>
            </a:r>
            <a:r>
              <a:rPr dirty="0">
                <a:latin typeface="Arial MT"/>
                <a:cs typeface="Arial MT"/>
              </a:rPr>
              <a:t>multiplication,</a:t>
            </a:r>
            <a:r>
              <a:rPr spc="-60" dirty="0">
                <a:latin typeface="Arial MT"/>
                <a:cs typeface="Arial MT"/>
              </a:rPr>
              <a:t> </a:t>
            </a:r>
            <a:r>
              <a:rPr spc="-25" dirty="0">
                <a:latin typeface="Arial MT"/>
                <a:cs typeface="Arial MT"/>
              </a:rPr>
              <a:t>and </a:t>
            </a:r>
            <a:r>
              <a:rPr dirty="0">
                <a:latin typeface="Arial MT"/>
                <a:cs typeface="Arial MT"/>
              </a:rPr>
              <a:t>other</a:t>
            </a:r>
            <a:r>
              <a:rPr spc="-5" dirty="0">
                <a:latin typeface="Arial MT"/>
                <a:cs typeface="Arial MT"/>
              </a:rPr>
              <a:t> </a:t>
            </a:r>
            <a:r>
              <a:rPr spc="-10" dirty="0">
                <a:latin typeface="Arial MT"/>
                <a:cs typeface="Arial MT"/>
              </a:rPr>
              <a:t>operations.</a:t>
            </a:r>
            <a:endParaRPr dirty="0">
              <a:latin typeface="Arial MT"/>
              <a:cs typeface="Arial MT"/>
            </a:endParaRPr>
          </a:p>
        </p:txBody>
      </p:sp>
      <p:pic>
        <p:nvPicPr>
          <p:cNvPr id="4" name="object 4" descr="C code snippet illustrating a common pitfall of parameterized macros; a lack of parentheses in the definition causes an unexpected result due to operator precedence."/>
          <p:cNvPicPr/>
          <p:nvPr/>
        </p:nvPicPr>
        <p:blipFill>
          <a:blip r:embed="rId3" cstate="print"/>
          <a:stretch>
            <a:fillRect/>
          </a:stretch>
        </p:blipFill>
        <p:spPr>
          <a:xfrm>
            <a:off x="3516175" y="1811750"/>
            <a:ext cx="8390074" cy="340302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15541"/>
            <a:ext cx="2136775" cy="705321"/>
          </a:xfrm>
          <a:prstGeom prst="rect">
            <a:avLst/>
          </a:prstGeom>
        </p:spPr>
        <p:txBody>
          <a:bodyPr vert="horz" wrap="square" lIns="0" tIns="12700" rIns="0" bIns="0" rtlCol="0">
            <a:spAutoFit/>
          </a:bodyPr>
          <a:lstStyle/>
          <a:p>
            <a:pPr marL="12700">
              <a:spcBef>
                <a:spcPts val="100"/>
              </a:spcBef>
            </a:pPr>
            <a:r>
              <a:rPr dirty="0"/>
              <a:t>C</a:t>
            </a:r>
            <a:r>
              <a:rPr spc="-5" dirty="0"/>
              <a:t> </a:t>
            </a:r>
            <a:r>
              <a:rPr spc="-10" dirty="0"/>
              <a:t>Preprocessor</a:t>
            </a:r>
            <a:br>
              <a:rPr lang="en-US" spc="-10" dirty="0"/>
            </a:br>
            <a:r>
              <a:rPr lang="en-US" sz="2000" dirty="0"/>
              <a:t>File</a:t>
            </a:r>
            <a:r>
              <a:rPr lang="en-US" sz="2000" spc="-55" dirty="0"/>
              <a:t> </a:t>
            </a:r>
            <a:r>
              <a:rPr lang="en-US" sz="2000" spc="-10" dirty="0"/>
              <a:t>Inclusion</a:t>
            </a:r>
            <a:endParaRPr sz="2000" spc="-10" dirty="0"/>
          </a:p>
        </p:txBody>
      </p:sp>
      <p:sp>
        <p:nvSpPr>
          <p:cNvPr id="3" name="object 3"/>
          <p:cNvSpPr txBox="1"/>
          <p:nvPr/>
        </p:nvSpPr>
        <p:spPr>
          <a:xfrm>
            <a:off x="410375" y="2209800"/>
            <a:ext cx="9527540" cy="2978764"/>
          </a:xfrm>
          <a:prstGeom prst="rect">
            <a:avLst/>
          </a:prstGeom>
        </p:spPr>
        <p:txBody>
          <a:bodyPr vert="horz" wrap="square" lIns="0" tIns="180340" rIns="0" bIns="0" rtlCol="0">
            <a:spAutoFit/>
          </a:bodyPr>
          <a:lstStyle/>
          <a:p>
            <a:pPr marL="12700">
              <a:lnSpc>
                <a:spcPct val="100000"/>
              </a:lnSpc>
              <a:spcBef>
                <a:spcPts val="1590"/>
              </a:spcBef>
            </a:pPr>
            <a:r>
              <a:rPr sz="2400" b="1" dirty="0">
                <a:solidFill>
                  <a:srgbClr val="188037"/>
                </a:solidFill>
                <a:latin typeface="Courier New"/>
                <a:cs typeface="Courier New"/>
              </a:rPr>
              <a:t>#include</a:t>
            </a:r>
            <a:r>
              <a:rPr sz="2400" b="1" spc="-40" dirty="0">
                <a:solidFill>
                  <a:srgbClr val="188037"/>
                </a:solidFill>
                <a:latin typeface="Courier New"/>
                <a:cs typeface="Courier New"/>
              </a:rPr>
              <a:t> </a:t>
            </a:r>
            <a:r>
              <a:rPr sz="2400" b="1" spc="-10" dirty="0">
                <a:solidFill>
                  <a:srgbClr val="188037"/>
                </a:solidFill>
                <a:latin typeface="Courier New"/>
                <a:cs typeface="Courier New"/>
              </a:rPr>
              <a:t>&lt;header.h&gt;</a:t>
            </a:r>
            <a:endParaRPr sz="2400" dirty="0">
              <a:latin typeface="Courier New"/>
              <a:cs typeface="Courier New"/>
            </a:endParaRPr>
          </a:p>
          <a:p>
            <a:pPr marL="469900" marR="5080" indent="-412750">
              <a:lnSpc>
                <a:spcPct val="114999"/>
              </a:lnSpc>
              <a:spcBef>
                <a:spcPts val="1200"/>
              </a:spcBef>
              <a:spcAft>
                <a:spcPts val="1200"/>
              </a:spcAft>
              <a:buChar char="●"/>
              <a:tabLst>
                <a:tab pos="469900" algn="l"/>
              </a:tabLst>
            </a:pPr>
            <a:r>
              <a:rPr sz="2400" dirty="0">
                <a:latin typeface="Arial MT"/>
                <a:cs typeface="Arial MT"/>
              </a:rPr>
              <a:t>This</a:t>
            </a:r>
            <a:r>
              <a:rPr sz="2400" spc="-50" dirty="0">
                <a:latin typeface="Arial MT"/>
                <a:cs typeface="Arial MT"/>
              </a:rPr>
              <a:t> </a:t>
            </a:r>
            <a:r>
              <a:rPr sz="2400" dirty="0">
                <a:latin typeface="Arial MT"/>
                <a:cs typeface="Arial MT"/>
              </a:rPr>
              <a:t>form</a:t>
            </a:r>
            <a:r>
              <a:rPr sz="2400" spc="-45" dirty="0">
                <a:latin typeface="Arial MT"/>
                <a:cs typeface="Arial MT"/>
              </a:rPr>
              <a:t> </a:t>
            </a:r>
            <a:r>
              <a:rPr sz="2400" dirty="0">
                <a:latin typeface="Arial MT"/>
                <a:cs typeface="Arial MT"/>
              </a:rPr>
              <a:t>tells</a:t>
            </a:r>
            <a:r>
              <a:rPr sz="2400" spc="-50" dirty="0">
                <a:latin typeface="Arial MT"/>
                <a:cs typeface="Arial MT"/>
              </a:rPr>
              <a:t> </a:t>
            </a:r>
            <a:r>
              <a:rPr sz="2400" dirty="0">
                <a:latin typeface="Arial MT"/>
                <a:cs typeface="Arial MT"/>
              </a:rPr>
              <a:t>the</a:t>
            </a:r>
            <a:r>
              <a:rPr sz="2400" spc="-45" dirty="0">
                <a:latin typeface="Arial MT"/>
                <a:cs typeface="Arial MT"/>
              </a:rPr>
              <a:t> </a:t>
            </a:r>
            <a:r>
              <a:rPr sz="2400" dirty="0">
                <a:latin typeface="Arial MT"/>
                <a:cs typeface="Arial MT"/>
              </a:rPr>
              <a:t>preprocessor</a:t>
            </a:r>
            <a:r>
              <a:rPr sz="2400" spc="-50" dirty="0">
                <a:latin typeface="Arial MT"/>
                <a:cs typeface="Arial MT"/>
              </a:rPr>
              <a:t> </a:t>
            </a:r>
            <a:r>
              <a:rPr sz="2400" dirty="0">
                <a:latin typeface="Arial MT"/>
                <a:cs typeface="Arial MT"/>
              </a:rPr>
              <a:t>to</a:t>
            </a:r>
            <a:r>
              <a:rPr sz="2400" spc="-30" dirty="0">
                <a:latin typeface="Arial MT"/>
                <a:cs typeface="Arial MT"/>
              </a:rPr>
              <a:t> </a:t>
            </a:r>
            <a:r>
              <a:rPr sz="2400" b="1" dirty="0">
                <a:latin typeface="Arial"/>
                <a:cs typeface="Arial"/>
              </a:rPr>
              <a:t>only</a:t>
            </a:r>
            <a:r>
              <a:rPr sz="2400" b="1" spc="-50" dirty="0">
                <a:latin typeface="Arial"/>
                <a:cs typeface="Arial"/>
              </a:rPr>
              <a:t> </a:t>
            </a:r>
            <a:r>
              <a:rPr sz="2400" b="1" dirty="0">
                <a:latin typeface="Arial"/>
                <a:cs typeface="Arial"/>
              </a:rPr>
              <a:t>search</a:t>
            </a:r>
            <a:r>
              <a:rPr sz="2400" b="1" spc="-30" dirty="0">
                <a:latin typeface="Arial"/>
                <a:cs typeface="Arial"/>
              </a:rPr>
              <a:t> </a:t>
            </a:r>
            <a:r>
              <a:rPr sz="2400" dirty="0">
                <a:latin typeface="Arial MT"/>
                <a:cs typeface="Arial MT"/>
              </a:rPr>
              <a:t>for</a:t>
            </a:r>
            <a:r>
              <a:rPr sz="2400" spc="-50" dirty="0">
                <a:latin typeface="Arial MT"/>
                <a:cs typeface="Arial MT"/>
              </a:rPr>
              <a:t> </a:t>
            </a:r>
            <a:r>
              <a:rPr sz="2400" dirty="0">
                <a:latin typeface="Arial MT"/>
                <a:cs typeface="Arial MT"/>
              </a:rPr>
              <a:t>the</a:t>
            </a:r>
            <a:r>
              <a:rPr sz="2400" spc="-45" dirty="0">
                <a:latin typeface="Arial MT"/>
                <a:cs typeface="Arial MT"/>
              </a:rPr>
              <a:t> </a:t>
            </a:r>
            <a:r>
              <a:rPr sz="2400" dirty="0">
                <a:latin typeface="Arial MT"/>
                <a:cs typeface="Arial MT"/>
              </a:rPr>
              <a:t>file</a:t>
            </a:r>
            <a:r>
              <a:rPr sz="2400" spc="-45" dirty="0">
                <a:latin typeface="Arial MT"/>
                <a:cs typeface="Arial MT"/>
              </a:rPr>
              <a:t> </a:t>
            </a:r>
            <a:r>
              <a:rPr sz="2400" dirty="0">
                <a:latin typeface="Arial MT"/>
                <a:cs typeface="Arial MT"/>
              </a:rPr>
              <a:t>in</a:t>
            </a:r>
            <a:r>
              <a:rPr sz="2400" spc="-50" dirty="0">
                <a:latin typeface="Arial MT"/>
                <a:cs typeface="Arial MT"/>
              </a:rPr>
              <a:t> </a:t>
            </a:r>
            <a:r>
              <a:rPr sz="2400" spc="-25" dirty="0">
                <a:latin typeface="Arial MT"/>
                <a:cs typeface="Arial MT"/>
              </a:rPr>
              <a:t>the </a:t>
            </a:r>
            <a:r>
              <a:rPr sz="2400" b="1" dirty="0">
                <a:latin typeface="Arial"/>
                <a:cs typeface="Arial"/>
              </a:rPr>
              <a:t>system</a:t>
            </a:r>
            <a:r>
              <a:rPr sz="2400" b="1" spc="-85" dirty="0">
                <a:latin typeface="Arial"/>
                <a:cs typeface="Arial"/>
              </a:rPr>
              <a:t> </a:t>
            </a:r>
            <a:r>
              <a:rPr sz="2400" b="1" spc="-10" dirty="0">
                <a:latin typeface="Arial"/>
                <a:cs typeface="Arial"/>
              </a:rPr>
              <a:t>directories</a:t>
            </a:r>
            <a:r>
              <a:rPr sz="2400" b="1" spc="-70" dirty="0">
                <a:latin typeface="Arial"/>
                <a:cs typeface="Arial"/>
              </a:rPr>
              <a:t> </a:t>
            </a:r>
            <a:r>
              <a:rPr sz="2400" dirty="0">
                <a:latin typeface="Arial MT"/>
                <a:cs typeface="Arial MT"/>
              </a:rPr>
              <a:t>where</a:t>
            </a:r>
            <a:r>
              <a:rPr sz="2400" spc="-85" dirty="0">
                <a:latin typeface="Arial MT"/>
                <a:cs typeface="Arial MT"/>
              </a:rPr>
              <a:t> </a:t>
            </a:r>
            <a:r>
              <a:rPr sz="2400" dirty="0">
                <a:latin typeface="Arial MT"/>
                <a:cs typeface="Arial MT"/>
              </a:rPr>
              <a:t>standard</a:t>
            </a:r>
            <a:r>
              <a:rPr sz="2400" spc="-80" dirty="0">
                <a:latin typeface="Arial MT"/>
                <a:cs typeface="Arial MT"/>
              </a:rPr>
              <a:t> </a:t>
            </a:r>
            <a:r>
              <a:rPr sz="2400" dirty="0">
                <a:latin typeface="Arial MT"/>
                <a:cs typeface="Arial MT"/>
              </a:rPr>
              <a:t>library</a:t>
            </a:r>
            <a:r>
              <a:rPr sz="2400" spc="-80" dirty="0">
                <a:latin typeface="Arial MT"/>
                <a:cs typeface="Arial MT"/>
              </a:rPr>
              <a:t> </a:t>
            </a:r>
            <a:r>
              <a:rPr sz="2400" dirty="0">
                <a:latin typeface="Arial MT"/>
                <a:cs typeface="Arial MT"/>
              </a:rPr>
              <a:t>header</a:t>
            </a:r>
            <a:r>
              <a:rPr sz="2400" spc="-80" dirty="0">
                <a:latin typeface="Arial MT"/>
                <a:cs typeface="Arial MT"/>
              </a:rPr>
              <a:t> </a:t>
            </a:r>
            <a:r>
              <a:rPr sz="2400" dirty="0">
                <a:latin typeface="Arial MT"/>
                <a:cs typeface="Arial MT"/>
              </a:rPr>
              <a:t>files</a:t>
            </a:r>
            <a:r>
              <a:rPr sz="2400" spc="-85" dirty="0">
                <a:latin typeface="Arial MT"/>
                <a:cs typeface="Arial MT"/>
              </a:rPr>
              <a:t> </a:t>
            </a:r>
            <a:r>
              <a:rPr sz="2400" dirty="0">
                <a:latin typeface="Arial MT"/>
                <a:cs typeface="Arial MT"/>
              </a:rPr>
              <a:t>are</a:t>
            </a:r>
            <a:r>
              <a:rPr sz="2400" spc="-80" dirty="0">
                <a:latin typeface="Arial MT"/>
                <a:cs typeface="Arial MT"/>
              </a:rPr>
              <a:t> </a:t>
            </a:r>
            <a:r>
              <a:rPr sz="2400" spc="-10" dirty="0">
                <a:latin typeface="Arial MT"/>
                <a:cs typeface="Arial MT"/>
              </a:rPr>
              <a:t>located </a:t>
            </a:r>
            <a:r>
              <a:rPr sz="2400" dirty="0">
                <a:latin typeface="Arial MT"/>
                <a:cs typeface="Arial MT"/>
              </a:rPr>
              <a:t>(e.g.,</a:t>
            </a:r>
            <a:r>
              <a:rPr sz="2400" spc="-80" dirty="0">
                <a:latin typeface="Arial MT"/>
                <a:cs typeface="Arial MT"/>
              </a:rPr>
              <a:t> </a:t>
            </a:r>
            <a:r>
              <a:rPr sz="2400" b="1" spc="-10" dirty="0">
                <a:solidFill>
                  <a:srgbClr val="188037"/>
                </a:solidFill>
                <a:latin typeface="Courier New"/>
                <a:cs typeface="Courier New"/>
              </a:rPr>
              <a:t>/usr/include/</a:t>
            </a:r>
            <a:r>
              <a:rPr sz="2400" b="1" spc="-775" dirty="0">
                <a:solidFill>
                  <a:srgbClr val="188037"/>
                </a:solidFill>
                <a:latin typeface="Courier New"/>
                <a:cs typeface="Courier New"/>
              </a:rPr>
              <a:t> </a:t>
            </a:r>
            <a:r>
              <a:rPr sz="2400" dirty="0">
                <a:latin typeface="Arial MT"/>
                <a:cs typeface="Arial MT"/>
              </a:rPr>
              <a:t>on</a:t>
            </a:r>
            <a:r>
              <a:rPr sz="2400" spc="-50" dirty="0">
                <a:latin typeface="Arial MT"/>
                <a:cs typeface="Arial MT"/>
              </a:rPr>
              <a:t> </a:t>
            </a:r>
            <a:r>
              <a:rPr sz="2400" dirty="0">
                <a:latin typeface="Arial MT"/>
                <a:cs typeface="Arial MT"/>
              </a:rPr>
              <a:t>Linux</a:t>
            </a:r>
            <a:r>
              <a:rPr sz="2400" spc="-50" dirty="0">
                <a:latin typeface="Arial MT"/>
                <a:cs typeface="Arial MT"/>
              </a:rPr>
              <a:t> </a:t>
            </a:r>
            <a:r>
              <a:rPr sz="2400" dirty="0">
                <a:latin typeface="Arial MT"/>
                <a:cs typeface="Arial MT"/>
              </a:rPr>
              <a:t>or</a:t>
            </a:r>
            <a:r>
              <a:rPr sz="2400" spc="-50" dirty="0">
                <a:latin typeface="Arial MT"/>
                <a:cs typeface="Arial MT"/>
              </a:rPr>
              <a:t> </a:t>
            </a:r>
            <a:r>
              <a:rPr sz="2400" dirty="0">
                <a:latin typeface="Arial MT"/>
                <a:cs typeface="Arial MT"/>
              </a:rPr>
              <a:t>the</a:t>
            </a:r>
            <a:r>
              <a:rPr sz="2400" spc="-50" dirty="0">
                <a:latin typeface="Arial MT"/>
                <a:cs typeface="Arial MT"/>
              </a:rPr>
              <a:t> </a:t>
            </a:r>
            <a:r>
              <a:rPr sz="2400" dirty="0">
                <a:latin typeface="Arial MT"/>
                <a:cs typeface="Arial MT"/>
              </a:rPr>
              <a:t>equivalent</a:t>
            </a:r>
            <a:r>
              <a:rPr sz="2400" spc="-50" dirty="0">
                <a:latin typeface="Arial MT"/>
                <a:cs typeface="Arial MT"/>
              </a:rPr>
              <a:t> </a:t>
            </a:r>
            <a:r>
              <a:rPr sz="2400" dirty="0">
                <a:latin typeface="Arial MT"/>
                <a:cs typeface="Arial MT"/>
              </a:rPr>
              <a:t>directory</a:t>
            </a:r>
            <a:r>
              <a:rPr sz="2400" spc="-50" dirty="0">
                <a:latin typeface="Arial MT"/>
                <a:cs typeface="Arial MT"/>
              </a:rPr>
              <a:t> </a:t>
            </a:r>
            <a:r>
              <a:rPr sz="2400" spc="-25" dirty="0">
                <a:latin typeface="Arial MT"/>
                <a:cs typeface="Arial MT"/>
              </a:rPr>
              <a:t>on </a:t>
            </a:r>
            <a:r>
              <a:rPr sz="2400" dirty="0">
                <a:latin typeface="Arial MT"/>
                <a:cs typeface="Arial MT"/>
              </a:rPr>
              <a:t>other</a:t>
            </a:r>
            <a:r>
              <a:rPr sz="2400" spc="-60" dirty="0">
                <a:latin typeface="Arial MT"/>
                <a:cs typeface="Arial MT"/>
              </a:rPr>
              <a:t> </a:t>
            </a:r>
            <a:r>
              <a:rPr sz="2400" spc="-10" dirty="0">
                <a:latin typeface="Arial MT"/>
                <a:cs typeface="Arial MT"/>
              </a:rPr>
              <a:t>systems).</a:t>
            </a:r>
            <a:endParaRPr sz="2400" dirty="0">
              <a:latin typeface="Arial MT"/>
              <a:cs typeface="Arial MT"/>
            </a:endParaRPr>
          </a:p>
          <a:p>
            <a:pPr marL="469265" indent="-412115">
              <a:lnSpc>
                <a:spcPct val="100000"/>
              </a:lnSpc>
              <a:spcBef>
                <a:spcPts val="430"/>
              </a:spcBef>
              <a:buChar char="●"/>
              <a:tabLst>
                <a:tab pos="469265" algn="l"/>
              </a:tabLst>
            </a:pPr>
            <a:r>
              <a:rPr sz="2400" dirty="0">
                <a:latin typeface="Arial MT"/>
                <a:cs typeface="Arial MT"/>
              </a:rPr>
              <a:t>It</a:t>
            </a:r>
            <a:r>
              <a:rPr sz="2400" spc="-50" dirty="0">
                <a:latin typeface="Arial MT"/>
                <a:cs typeface="Arial MT"/>
              </a:rPr>
              <a:t> </a:t>
            </a:r>
            <a:r>
              <a:rPr sz="2400" dirty="0">
                <a:latin typeface="Arial MT"/>
                <a:cs typeface="Arial MT"/>
              </a:rPr>
              <a:t>does</a:t>
            </a:r>
            <a:r>
              <a:rPr sz="2400" spc="-40" dirty="0">
                <a:latin typeface="Arial MT"/>
                <a:cs typeface="Arial MT"/>
              </a:rPr>
              <a:t> </a:t>
            </a:r>
            <a:r>
              <a:rPr sz="2400" b="1" dirty="0">
                <a:latin typeface="Arial"/>
                <a:cs typeface="Arial"/>
              </a:rPr>
              <a:t>not</a:t>
            </a:r>
            <a:r>
              <a:rPr sz="2400" b="1" spc="-50" dirty="0">
                <a:latin typeface="Arial"/>
                <a:cs typeface="Arial"/>
              </a:rPr>
              <a:t> </a:t>
            </a:r>
            <a:r>
              <a:rPr sz="2400" dirty="0">
                <a:latin typeface="Arial MT"/>
                <a:cs typeface="Arial MT"/>
              </a:rPr>
              <a:t>check</a:t>
            </a:r>
            <a:r>
              <a:rPr sz="2400" spc="-50" dirty="0">
                <a:latin typeface="Arial MT"/>
                <a:cs typeface="Arial MT"/>
              </a:rPr>
              <a:t> </a:t>
            </a:r>
            <a:r>
              <a:rPr sz="2400" dirty="0">
                <a:latin typeface="Arial MT"/>
                <a:cs typeface="Arial MT"/>
              </a:rPr>
              <a:t>the</a:t>
            </a:r>
            <a:r>
              <a:rPr sz="2400" spc="-50" dirty="0">
                <a:latin typeface="Arial MT"/>
                <a:cs typeface="Arial MT"/>
              </a:rPr>
              <a:t> </a:t>
            </a:r>
            <a:r>
              <a:rPr sz="2400" dirty="0">
                <a:latin typeface="Arial MT"/>
                <a:cs typeface="Arial MT"/>
              </a:rPr>
              <a:t>current</a:t>
            </a:r>
            <a:r>
              <a:rPr sz="2400" spc="-50" dirty="0">
                <a:latin typeface="Arial MT"/>
                <a:cs typeface="Arial MT"/>
              </a:rPr>
              <a:t> </a:t>
            </a:r>
            <a:r>
              <a:rPr sz="2400" spc="-10" dirty="0">
                <a:latin typeface="Arial MT"/>
                <a:cs typeface="Arial MT"/>
              </a:rPr>
              <a:t>directory.</a:t>
            </a:r>
            <a:endParaRPr sz="2400" dirty="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15541"/>
            <a:ext cx="2136775" cy="705321"/>
          </a:xfrm>
          <a:prstGeom prst="rect">
            <a:avLst/>
          </a:prstGeom>
        </p:spPr>
        <p:txBody>
          <a:bodyPr vert="horz" wrap="square" lIns="0" tIns="12700" rIns="0" bIns="0" rtlCol="0">
            <a:spAutoFit/>
          </a:bodyPr>
          <a:lstStyle/>
          <a:p>
            <a:pPr marL="12700">
              <a:spcBef>
                <a:spcPts val="100"/>
              </a:spcBef>
            </a:pPr>
            <a:r>
              <a:rPr dirty="0"/>
              <a:t>C</a:t>
            </a:r>
            <a:r>
              <a:rPr spc="-5" dirty="0"/>
              <a:t> </a:t>
            </a:r>
            <a:r>
              <a:rPr spc="-10" dirty="0"/>
              <a:t>Preprocessor</a:t>
            </a:r>
            <a:br>
              <a:rPr lang="en-US" spc="-10" dirty="0"/>
            </a:br>
            <a:r>
              <a:rPr lang="en-US" sz="2000" dirty="0"/>
              <a:t>File</a:t>
            </a:r>
            <a:r>
              <a:rPr lang="en-US" sz="2000" spc="-55" dirty="0"/>
              <a:t> </a:t>
            </a:r>
            <a:r>
              <a:rPr lang="en-US" sz="2000" spc="-10" dirty="0"/>
              <a:t>Inclusion</a:t>
            </a:r>
            <a:endParaRPr sz="2000" spc="-10" dirty="0"/>
          </a:p>
        </p:txBody>
      </p:sp>
      <p:sp>
        <p:nvSpPr>
          <p:cNvPr id="3" name="object 3"/>
          <p:cNvSpPr txBox="1"/>
          <p:nvPr/>
        </p:nvSpPr>
        <p:spPr>
          <a:xfrm>
            <a:off x="410375" y="2209800"/>
            <a:ext cx="9210040" cy="2513765"/>
          </a:xfrm>
          <a:prstGeom prst="rect">
            <a:avLst/>
          </a:prstGeom>
        </p:spPr>
        <p:txBody>
          <a:bodyPr vert="horz" wrap="square" lIns="0" tIns="180340" rIns="0" bIns="0" rtlCol="0">
            <a:spAutoFit/>
          </a:bodyPr>
          <a:lstStyle/>
          <a:p>
            <a:pPr marL="12700">
              <a:lnSpc>
                <a:spcPct val="100000"/>
              </a:lnSpc>
              <a:spcBef>
                <a:spcPts val="1590"/>
              </a:spcBef>
            </a:pPr>
            <a:r>
              <a:rPr sz="2400" b="1" dirty="0">
                <a:solidFill>
                  <a:srgbClr val="188037"/>
                </a:solidFill>
                <a:latin typeface="Courier New"/>
                <a:cs typeface="Courier New"/>
              </a:rPr>
              <a:t>#include</a:t>
            </a:r>
            <a:r>
              <a:rPr sz="2400" b="1" spc="-40" dirty="0">
                <a:solidFill>
                  <a:srgbClr val="188037"/>
                </a:solidFill>
                <a:latin typeface="Courier New"/>
                <a:cs typeface="Courier New"/>
              </a:rPr>
              <a:t> </a:t>
            </a:r>
            <a:r>
              <a:rPr sz="2400" b="1" spc="-10" dirty="0">
                <a:solidFill>
                  <a:srgbClr val="188037"/>
                </a:solidFill>
                <a:latin typeface="Courier New"/>
                <a:cs typeface="Courier New"/>
              </a:rPr>
              <a:t>"header.h"</a:t>
            </a:r>
            <a:endParaRPr sz="2400" dirty="0">
              <a:latin typeface="Courier New"/>
              <a:cs typeface="Courier New"/>
            </a:endParaRPr>
          </a:p>
          <a:p>
            <a:pPr marL="469265" indent="-412115">
              <a:lnSpc>
                <a:spcPct val="100000"/>
              </a:lnSpc>
              <a:spcBef>
                <a:spcPts val="1630"/>
              </a:spcBef>
              <a:buChar char="●"/>
              <a:tabLst>
                <a:tab pos="469265" algn="l"/>
              </a:tabLst>
            </a:pPr>
            <a:r>
              <a:rPr sz="2400" dirty="0">
                <a:latin typeface="Arial MT"/>
                <a:cs typeface="Arial MT"/>
              </a:rPr>
              <a:t>This</a:t>
            </a:r>
            <a:r>
              <a:rPr sz="2400" spc="-50" dirty="0">
                <a:latin typeface="Arial MT"/>
                <a:cs typeface="Arial MT"/>
              </a:rPr>
              <a:t> </a:t>
            </a:r>
            <a:r>
              <a:rPr sz="2400" dirty="0">
                <a:latin typeface="Arial MT"/>
                <a:cs typeface="Arial MT"/>
              </a:rPr>
              <a:t>form</a:t>
            </a:r>
            <a:r>
              <a:rPr sz="2400" spc="-50" dirty="0">
                <a:latin typeface="Arial MT"/>
                <a:cs typeface="Arial MT"/>
              </a:rPr>
              <a:t> </a:t>
            </a:r>
            <a:r>
              <a:rPr sz="2400" dirty="0">
                <a:latin typeface="Arial MT"/>
                <a:cs typeface="Arial MT"/>
              </a:rPr>
              <a:t>tells</a:t>
            </a:r>
            <a:r>
              <a:rPr sz="2400" spc="-50" dirty="0">
                <a:latin typeface="Arial MT"/>
                <a:cs typeface="Arial MT"/>
              </a:rPr>
              <a:t> </a:t>
            </a:r>
            <a:r>
              <a:rPr sz="2400" dirty="0">
                <a:latin typeface="Arial MT"/>
                <a:cs typeface="Arial MT"/>
              </a:rPr>
              <a:t>the</a:t>
            </a:r>
            <a:r>
              <a:rPr sz="2400" spc="-50" dirty="0">
                <a:latin typeface="Arial MT"/>
                <a:cs typeface="Arial MT"/>
              </a:rPr>
              <a:t> </a:t>
            </a:r>
            <a:r>
              <a:rPr sz="2400" dirty="0">
                <a:latin typeface="Arial MT"/>
                <a:cs typeface="Arial MT"/>
              </a:rPr>
              <a:t>preprocessor</a:t>
            </a:r>
            <a:r>
              <a:rPr sz="2400" spc="-50" dirty="0">
                <a:latin typeface="Arial MT"/>
                <a:cs typeface="Arial MT"/>
              </a:rPr>
              <a:t> </a:t>
            </a:r>
            <a:r>
              <a:rPr sz="2400" dirty="0">
                <a:latin typeface="Arial MT"/>
                <a:cs typeface="Arial MT"/>
              </a:rPr>
              <a:t>to</a:t>
            </a:r>
            <a:r>
              <a:rPr sz="2400" spc="-35" dirty="0">
                <a:latin typeface="Arial MT"/>
                <a:cs typeface="Arial MT"/>
              </a:rPr>
              <a:t> </a:t>
            </a:r>
            <a:r>
              <a:rPr sz="2400" b="1" dirty="0">
                <a:latin typeface="Arial"/>
                <a:cs typeface="Arial"/>
              </a:rPr>
              <a:t>first</a:t>
            </a:r>
            <a:r>
              <a:rPr sz="2400" b="1" spc="-50" dirty="0">
                <a:latin typeface="Arial"/>
                <a:cs typeface="Arial"/>
              </a:rPr>
              <a:t> </a:t>
            </a:r>
            <a:r>
              <a:rPr sz="2400" b="1" dirty="0">
                <a:latin typeface="Arial"/>
                <a:cs typeface="Arial"/>
              </a:rPr>
              <a:t>search</a:t>
            </a:r>
            <a:r>
              <a:rPr sz="2400" b="1" spc="-35" dirty="0">
                <a:latin typeface="Arial"/>
                <a:cs typeface="Arial"/>
              </a:rPr>
              <a:t> </a:t>
            </a:r>
            <a:r>
              <a:rPr sz="2400" dirty="0">
                <a:latin typeface="Arial MT"/>
                <a:cs typeface="Arial MT"/>
              </a:rPr>
              <a:t>for</a:t>
            </a:r>
            <a:r>
              <a:rPr sz="2400" spc="-50" dirty="0">
                <a:latin typeface="Arial MT"/>
                <a:cs typeface="Arial MT"/>
              </a:rPr>
              <a:t> </a:t>
            </a:r>
            <a:r>
              <a:rPr sz="2400" dirty="0">
                <a:latin typeface="Arial MT"/>
                <a:cs typeface="Arial MT"/>
              </a:rPr>
              <a:t>the</a:t>
            </a:r>
            <a:r>
              <a:rPr sz="2400" spc="-50" dirty="0">
                <a:latin typeface="Arial MT"/>
                <a:cs typeface="Arial MT"/>
              </a:rPr>
              <a:t> </a:t>
            </a:r>
            <a:r>
              <a:rPr sz="2400" dirty="0">
                <a:latin typeface="Arial MT"/>
                <a:cs typeface="Arial MT"/>
              </a:rPr>
              <a:t>file</a:t>
            </a:r>
            <a:r>
              <a:rPr sz="2400" spc="-50" dirty="0">
                <a:latin typeface="Arial MT"/>
                <a:cs typeface="Arial MT"/>
              </a:rPr>
              <a:t> </a:t>
            </a:r>
            <a:r>
              <a:rPr sz="2400" dirty="0">
                <a:latin typeface="Arial MT"/>
                <a:cs typeface="Arial MT"/>
              </a:rPr>
              <a:t>in</a:t>
            </a:r>
            <a:r>
              <a:rPr sz="2400" spc="-50" dirty="0">
                <a:latin typeface="Arial MT"/>
                <a:cs typeface="Arial MT"/>
              </a:rPr>
              <a:t> </a:t>
            </a:r>
            <a:r>
              <a:rPr sz="2400" spc="-25" dirty="0">
                <a:latin typeface="Arial MT"/>
                <a:cs typeface="Arial MT"/>
              </a:rPr>
              <a:t>the</a:t>
            </a:r>
            <a:endParaRPr sz="2400" dirty="0">
              <a:latin typeface="Arial MT"/>
              <a:cs typeface="Arial MT"/>
            </a:endParaRPr>
          </a:p>
          <a:p>
            <a:pPr marL="469900">
              <a:lnSpc>
                <a:spcPct val="100000"/>
              </a:lnSpc>
              <a:spcBef>
                <a:spcPts val="434"/>
              </a:spcBef>
              <a:spcAft>
                <a:spcPts val="1200"/>
              </a:spcAft>
            </a:pPr>
            <a:r>
              <a:rPr sz="2400" b="1" dirty="0">
                <a:latin typeface="Arial"/>
                <a:cs typeface="Arial"/>
              </a:rPr>
              <a:t>current</a:t>
            </a:r>
            <a:r>
              <a:rPr sz="2400" b="1" spc="-80" dirty="0">
                <a:latin typeface="Arial"/>
                <a:cs typeface="Arial"/>
              </a:rPr>
              <a:t> </a:t>
            </a:r>
            <a:r>
              <a:rPr sz="2400" b="1" dirty="0">
                <a:latin typeface="Arial"/>
                <a:cs typeface="Arial"/>
              </a:rPr>
              <a:t>directory</a:t>
            </a:r>
            <a:r>
              <a:rPr sz="2400" b="1" spc="-75" dirty="0">
                <a:latin typeface="Arial"/>
                <a:cs typeface="Arial"/>
              </a:rPr>
              <a:t> </a:t>
            </a:r>
            <a:r>
              <a:rPr sz="2400" dirty="0">
                <a:latin typeface="Arial MT"/>
                <a:cs typeface="Arial MT"/>
              </a:rPr>
              <a:t>(the</a:t>
            </a:r>
            <a:r>
              <a:rPr sz="2400" spc="-80" dirty="0">
                <a:latin typeface="Arial MT"/>
                <a:cs typeface="Arial MT"/>
              </a:rPr>
              <a:t> </a:t>
            </a:r>
            <a:r>
              <a:rPr sz="2400" dirty="0">
                <a:latin typeface="Arial MT"/>
                <a:cs typeface="Arial MT"/>
              </a:rPr>
              <a:t>directory</a:t>
            </a:r>
            <a:r>
              <a:rPr sz="2400" spc="-80" dirty="0">
                <a:latin typeface="Arial MT"/>
                <a:cs typeface="Arial MT"/>
              </a:rPr>
              <a:t> </a:t>
            </a:r>
            <a:r>
              <a:rPr sz="2400" dirty="0">
                <a:latin typeface="Arial MT"/>
                <a:cs typeface="Arial MT"/>
              </a:rPr>
              <a:t>of</a:t>
            </a:r>
            <a:r>
              <a:rPr sz="2400" spc="-80" dirty="0">
                <a:latin typeface="Arial MT"/>
                <a:cs typeface="Arial MT"/>
              </a:rPr>
              <a:t> </a:t>
            </a:r>
            <a:r>
              <a:rPr sz="2400" dirty="0">
                <a:latin typeface="Arial MT"/>
                <a:cs typeface="Arial MT"/>
              </a:rPr>
              <a:t>the</a:t>
            </a:r>
            <a:r>
              <a:rPr sz="2400" spc="-80" dirty="0">
                <a:latin typeface="Arial MT"/>
                <a:cs typeface="Arial MT"/>
              </a:rPr>
              <a:t> </a:t>
            </a:r>
            <a:r>
              <a:rPr sz="2400" dirty="0">
                <a:latin typeface="Arial MT"/>
                <a:cs typeface="Arial MT"/>
              </a:rPr>
              <a:t>source</a:t>
            </a:r>
            <a:r>
              <a:rPr sz="2400" spc="-75" dirty="0">
                <a:latin typeface="Arial MT"/>
                <a:cs typeface="Arial MT"/>
              </a:rPr>
              <a:t> </a:t>
            </a:r>
            <a:r>
              <a:rPr sz="2400" spc="-10" dirty="0">
                <a:latin typeface="Arial MT"/>
                <a:cs typeface="Arial MT"/>
              </a:rPr>
              <a:t>file).</a:t>
            </a:r>
            <a:endParaRPr sz="2400" dirty="0">
              <a:latin typeface="Arial MT"/>
              <a:cs typeface="Arial MT"/>
            </a:endParaRPr>
          </a:p>
          <a:p>
            <a:pPr marL="469900" marR="5080" indent="-412750">
              <a:lnSpc>
                <a:spcPct val="114999"/>
              </a:lnSpc>
              <a:buChar char="●"/>
              <a:tabLst>
                <a:tab pos="469900" algn="l"/>
              </a:tabLst>
            </a:pPr>
            <a:r>
              <a:rPr sz="2400" dirty="0">
                <a:latin typeface="Arial MT"/>
                <a:cs typeface="Arial MT"/>
              </a:rPr>
              <a:t>If</a:t>
            </a:r>
            <a:r>
              <a:rPr sz="2400" spc="-55" dirty="0">
                <a:latin typeface="Arial MT"/>
                <a:cs typeface="Arial MT"/>
              </a:rPr>
              <a:t> </a:t>
            </a:r>
            <a:r>
              <a:rPr sz="2400" dirty="0">
                <a:latin typeface="Arial MT"/>
                <a:cs typeface="Arial MT"/>
              </a:rPr>
              <a:t>the</a:t>
            </a:r>
            <a:r>
              <a:rPr sz="2400" spc="-55" dirty="0">
                <a:latin typeface="Arial MT"/>
                <a:cs typeface="Arial MT"/>
              </a:rPr>
              <a:t> </a:t>
            </a:r>
            <a:r>
              <a:rPr sz="2400" dirty="0">
                <a:latin typeface="Arial MT"/>
                <a:cs typeface="Arial MT"/>
              </a:rPr>
              <a:t>file</a:t>
            </a:r>
            <a:r>
              <a:rPr sz="2400" spc="-55" dirty="0">
                <a:latin typeface="Arial MT"/>
                <a:cs typeface="Arial MT"/>
              </a:rPr>
              <a:t> </a:t>
            </a:r>
            <a:r>
              <a:rPr sz="2400" dirty="0">
                <a:latin typeface="Arial MT"/>
                <a:cs typeface="Arial MT"/>
              </a:rPr>
              <a:t>is</a:t>
            </a:r>
            <a:r>
              <a:rPr sz="2400" spc="-50" dirty="0">
                <a:latin typeface="Arial MT"/>
                <a:cs typeface="Arial MT"/>
              </a:rPr>
              <a:t> </a:t>
            </a:r>
            <a:r>
              <a:rPr sz="2400" dirty="0">
                <a:latin typeface="Arial MT"/>
                <a:cs typeface="Arial MT"/>
              </a:rPr>
              <a:t>not</a:t>
            </a:r>
            <a:r>
              <a:rPr sz="2400" spc="-55" dirty="0">
                <a:latin typeface="Arial MT"/>
                <a:cs typeface="Arial MT"/>
              </a:rPr>
              <a:t> </a:t>
            </a:r>
            <a:r>
              <a:rPr sz="2400" dirty="0">
                <a:latin typeface="Arial MT"/>
                <a:cs typeface="Arial MT"/>
              </a:rPr>
              <a:t>found</a:t>
            </a:r>
            <a:r>
              <a:rPr sz="2400" spc="-55" dirty="0">
                <a:latin typeface="Arial MT"/>
                <a:cs typeface="Arial MT"/>
              </a:rPr>
              <a:t> </a:t>
            </a:r>
            <a:r>
              <a:rPr sz="2400" dirty="0">
                <a:latin typeface="Arial MT"/>
                <a:cs typeface="Arial MT"/>
              </a:rPr>
              <a:t>in</a:t>
            </a:r>
            <a:r>
              <a:rPr sz="2400" spc="-50" dirty="0">
                <a:latin typeface="Arial MT"/>
                <a:cs typeface="Arial MT"/>
              </a:rPr>
              <a:t> </a:t>
            </a:r>
            <a:r>
              <a:rPr sz="2400" dirty="0">
                <a:latin typeface="Arial MT"/>
                <a:cs typeface="Arial MT"/>
              </a:rPr>
              <a:t>the</a:t>
            </a:r>
            <a:r>
              <a:rPr sz="2400" spc="-55" dirty="0">
                <a:latin typeface="Arial MT"/>
                <a:cs typeface="Arial MT"/>
              </a:rPr>
              <a:t> </a:t>
            </a:r>
            <a:r>
              <a:rPr sz="2400" dirty="0">
                <a:latin typeface="Arial MT"/>
                <a:cs typeface="Arial MT"/>
              </a:rPr>
              <a:t>current</a:t>
            </a:r>
            <a:r>
              <a:rPr sz="2400" spc="-55" dirty="0">
                <a:latin typeface="Arial MT"/>
                <a:cs typeface="Arial MT"/>
              </a:rPr>
              <a:t> </a:t>
            </a:r>
            <a:r>
              <a:rPr sz="2400" spc="-20" dirty="0">
                <a:latin typeface="Arial MT"/>
                <a:cs typeface="Arial MT"/>
              </a:rPr>
              <a:t>directory,</a:t>
            </a:r>
            <a:r>
              <a:rPr sz="2400" spc="-55" dirty="0">
                <a:latin typeface="Arial MT"/>
                <a:cs typeface="Arial MT"/>
              </a:rPr>
              <a:t> </a:t>
            </a:r>
            <a:r>
              <a:rPr sz="2400" dirty="0">
                <a:latin typeface="Arial MT"/>
                <a:cs typeface="Arial MT"/>
              </a:rPr>
              <a:t>it</a:t>
            </a:r>
            <a:r>
              <a:rPr sz="2400" spc="-50" dirty="0">
                <a:latin typeface="Arial MT"/>
                <a:cs typeface="Arial MT"/>
              </a:rPr>
              <a:t> </a:t>
            </a:r>
            <a:r>
              <a:rPr sz="2400" dirty="0">
                <a:latin typeface="Arial MT"/>
                <a:cs typeface="Arial MT"/>
              </a:rPr>
              <a:t>will</a:t>
            </a:r>
            <a:r>
              <a:rPr sz="2400" spc="-55" dirty="0">
                <a:latin typeface="Arial MT"/>
                <a:cs typeface="Arial MT"/>
              </a:rPr>
              <a:t> </a:t>
            </a:r>
            <a:r>
              <a:rPr sz="2400" dirty="0">
                <a:latin typeface="Arial MT"/>
                <a:cs typeface="Arial MT"/>
              </a:rPr>
              <a:t>then</a:t>
            </a:r>
            <a:r>
              <a:rPr sz="2400" spc="-55" dirty="0">
                <a:latin typeface="Arial MT"/>
                <a:cs typeface="Arial MT"/>
              </a:rPr>
              <a:t> </a:t>
            </a:r>
            <a:r>
              <a:rPr sz="2400" dirty="0">
                <a:latin typeface="Arial MT"/>
                <a:cs typeface="Arial MT"/>
              </a:rPr>
              <a:t>search</a:t>
            </a:r>
            <a:r>
              <a:rPr sz="2400" spc="-50" dirty="0">
                <a:latin typeface="Arial MT"/>
                <a:cs typeface="Arial MT"/>
              </a:rPr>
              <a:t> </a:t>
            </a:r>
            <a:r>
              <a:rPr sz="2400" spc="-25" dirty="0">
                <a:latin typeface="Arial MT"/>
                <a:cs typeface="Arial MT"/>
              </a:rPr>
              <a:t>in </a:t>
            </a:r>
            <a:r>
              <a:rPr sz="2400" dirty="0">
                <a:latin typeface="Arial MT"/>
                <a:cs typeface="Arial MT"/>
              </a:rPr>
              <a:t>the</a:t>
            </a:r>
            <a:r>
              <a:rPr sz="2400" spc="-100" dirty="0">
                <a:latin typeface="Arial MT"/>
                <a:cs typeface="Arial MT"/>
              </a:rPr>
              <a:t> </a:t>
            </a:r>
            <a:r>
              <a:rPr sz="2400" b="1" dirty="0">
                <a:latin typeface="Arial"/>
                <a:cs typeface="Arial"/>
              </a:rPr>
              <a:t>standard</a:t>
            </a:r>
            <a:r>
              <a:rPr sz="2400" b="1" spc="-100" dirty="0">
                <a:latin typeface="Arial"/>
                <a:cs typeface="Arial"/>
              </a:rPr>
              <a:t> </a:t>
            </a:r>
            <a:r>
              <a:rPr sz="2400" b="1" dirty="0">
                <a:latin typeface="Arial"/>
                <a:cs typeface="Arial"/>
              </a:rPr>
              <a:t>system</a:t>
            </a:r>
            <a:r>
              <a:rPr sz="2400" b="1" spc="-100" dirty="0">
                <a:latin typeface="Arial"/>
                <a:cs typeface="Arial"/>
              </a:rPr>
              <a:t> </a:t>
            </a:r>
            <a:r>
              <a:rPr sz="2400" b="1" spc="-10" dirty="0">
                <a:latin typeface="Arial"/>
                <a:cs typeface="Arial"/>
              </a:rPr>
              <a:t>directories</a:t>
            </a:r>
            <a:r>
              <a:rPr sz="2400" spc="-10" dirty="0">
                <a:latin typeface="Arial MT"/>
                <a:cs typeface="Arial MT"/>
              </a:rPr>
              <a:t>.</a:t>
            </a:r>
            <a:endParaRPr sz="2400" dirty="0">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885"/>
              </a:lnSpc>
              <a:spcBef>
                <a:spcPts val="100"/>
              </a:spcBef>
            </a:pPr>
            <a:r>
              <a:rPr dirty="0"/>
              <a:t>C</a:t>
            </a:r>
            <a:r>
              <a:rPr spc="-5" dirty="0"/>
              <a:t> </a:t>
            </a:r>
            <a:r>
              <a:rPr spc="-10" dirty="0"/>
              <a:t>Preprocessor</a:t>
            </a:r>
          </a:p>
          <a:p>
            <a:pPr marL="12700">
              <a:lnSpc>
                <a:spcPts val="2285"/>
              </a:lnSpc>
            </a:pPr>
            <a:r>
              <a:rPr sz="2000" dirty="0"/>
              <a:t>File</a:t>
            </a:r>
            <a:r>
              <a:rPr sz="2000" spc="-55" dirty="0"/>
              <a:t> </a:t>
            </a:r>
            <a:r>
              <a:rPr sz="2000" spc="-10" dirty="0"/>
              <a:t>Inclusion</a:t>
            </a:r>
            <a:endParaRPr sz="2000"/>
          </a:p>
        </p:txBody>
      </p:sp>
      <p:sp>
        <p:nvSpPr>
          <p:cNvPr id="3" name="object 3"/>
          <p:cNvSpPr txBox="1">
            <a:spLocks noGrp="1"/>
          </p:cNvSpPr>
          <p:nvPr>
            <p:ph type="body" idx="1"/>
          </p:nvPr>
        </p:nvSpPr>
        <p:spPr>
          <a:xfrm>
            <a:off x="406001" y="2438400"/>
            <a:ext cx="5144135" cy="2962029"/>
          </a:xfrm>
          <a:prstGeom prst="rect">
            <a:avLst/>
          </a:prstGeom>
        </p:spPr>
        <p:txBody>
          <a:bodyPr vert="horz" wrap="square" lIns="0" tIns="12700" rIns="0" bIns="0" rtlCol="0">
            <a:spAutoFit/>
          </a:bodyPr>
          <a:lstStyle/>
          <a:p>
            <a:pPr marL="16510">
              <a:lnSpc>
                <a:spcPct val="100000"/>
              </a:lnSpc>
              <a:spcBef>
                <a:spcPts val="100"/>
              </a:spcBef>
            </a:pPr>
            <a:r>
              <a:rPr dirty="0"/>
              <a:t>Let's</a:t>
            </a:r>
            <a:r>
              <a:rPr spc="-75" dirty="0"/>
              <a:t> </a:t>
            </a:r>
            <a:r>
              <a:rPr dirty="0"/>
              <a:t>create</a:t>
            </a:r>
            <a:r>
              <a:rPr spc="-70" dirty="0"/>
              <a:t> </a:t>
            </a:r>
            <a:r>
              <a:rPr dirty="0"/>
              <a:t>three</a:t>
            </a:r>
            <a:r>
              <a:rPr spc="-75" dirty="0"/>
              <a:t> </a:t>
            </a:r>
            <a:r>
              <a:rPr spc="-10" dirty="0"/>
              <a:t>files:</a:t>
            </a:r>
          </a:p>
          <a:p>
            <a:pPr marL="473709" marR="5080" indent="-461645">
              <a:lnSpc>
                <a:spcPct val="114999"/>
              </a:lnSpc>
              <a:spcBef>
                <a:spcPts val="1200"/>
              </a:spcBef>
              <a:spcAft>
                <a:spcPts val="600"/>
              </a:spcAft>
              <a:buClr>
                <a:srgbClr val="000000"/>
              </a:buClr>
              <a:buFont typeface="Arial"/>
              <a:buAutoNum type="arabicPeriod"/>
              <a:tabLst>
                <a:tab pos="473709" algn="l"/>
              </a:tabLst>
            </a:pPr>
            <a:r>
              <a:rPr b="1" spc="-20" dirty="0">
                <a:solidFill>
                  <a:srgbClr val="188037"/>
                </a:solidFill>
                <a:latin typeface="Courier New"/>
                <a:cs typeface="Courier New"/>
              </a:rPr>
              <a:t>myheader.h</a:t>
            </a:r>
            <a:r>
              <a:rPr b="1" spc="-20" dirty="0">
                <a:latin typeface="Arial"/>
                <a:cs typeface="Arial"/>
              </a:rPr>
              <a:t>:</a:t>
            </a:r>
            <a:r>
              <a:rPr b="1" spc="-135" dirty="0">
                <a:latin typeface="Arial"/>
                <a:cs typeface="Arial"/>
              </a:rPr>
              <a:t> </a:t>
            </a:r>
            <a:r>
              <a:rPr dirty="0"/>
              <a:t>A</a:t>
            </a:r>
            <a:r>
              <a:rPr spc="-155" dirty="0"/>
              <a:t> </a:t>
            </a:r>
            <a:r>
              <a:rPr dirty="0"/>
              <a:t>custom</a:t>
            </a:r>
            <a:r>
              <a:rPr spc="-40" dirty="0"/>
              <a:t> </a:t>
            </a:r>
            <a:r>
              <a:rPr dirty="0"/>
              <a:t>header</a:t>
            </a:r>
            <a:r>
              <a:rPr spc="-30" dirty="0"/>
              <a:t> </a:t>
            </a:r>
            <a:r>
              <a:rPr dirty="0"/>
              <a:t>file</a:t>
            </a:r>
            <a:r>
              <a:rPr spc="-30" dirty="0"/>
              <a:t> </a:t>
            </a:r>
            <a:r>
              <a:rPr spc="-25" dirty="0"/>
              <a:t>in </a:t>
            </a:r>
            <a:r>
              <a:rPr dirty="0"/>
              <a:t>the</a:t>
            </a:r>
            <a:r>
              <a:rPr spc="-65" dirty="0"/>
              <a:t> </a:t>
            </a:r>
            <a:r>
              <a:rPr dirty="0"/>
              <a:t>same</a:t>
            </a:r>
            <a:r>
              <a:rPr spc="-65" dirty="0"/>
              <a:t> </a:t>
            </a:r>
            <a:r>
              <a:rPr dirty="0"/>
              <a:t>directory</a:t>
            </a:r>
            <a:r>
              <a:rPr spc="-60" dirty="0"/>
              <a:t> </a:t>
            </a:r>
            <a:r>
              <a:rPr dirty="0"/>
              <a:t>as</a:t>
            </a:r>
            <a:r>
              <a:rPr spc="-65" dirty="0"/>
              <a:t> </a:t>
            </a:r>
            <a:r>
              <a:rPr dirty="0"/>
              <a:t>the</a:t>
            </a:r>
            <a:r>
              <a:rPr spc="-65" dirty="0"/>
              <a:t> </a:t>
            </a:r>
            <a:r>
              <a:rPr dirty="0"/>
              <a:t>source</a:t>
            </a:r>
            <a:r>
              <a:rPr spc="-60" dirty="0"/>
              <a:t> </a:t>
            </a:r>
            <a:r>
              <a:rPr spc="-10" dirty="0"/>
              <a:t>file.</a:t>
            </a:r>
          </a:p>
          <a:p>
            <a:pPr marL="473709" marR="398780" indent="-461645">
              <a:lnSpc>
                <a:spcPct val="114999"/>
              </a:lnSpc>
              <a:spcAft>
                <a:spcPts val="600"/>
              </a:spcAft>
              <a:buClr>
                <a:srgbClr val="000000"/>
              </a:buClr>
              <a:buFont typeface="Arial"/>
              <a:buAutoNum type="arabicPeriod"/>
              <a:tabLst>
                <a:tab pos="473709" algn="l"/>
              </a:tabLst>
            </a:pPr>
            <a:r>
              <a:rPr b="1" dirty="0">
                <a:solidFill>
                  <a:srgbClr val="188037"/>
                </a:solidFill>
                <a:latin typeface="Courier New"/>
                <a:cs typeface="Courier New"/>
              </a:rPr>
              <a:t>myheader.c:</a:t>
            </a:r>
            <a:r>
              <a:rPr b="1" spc="-215" dirty="0">
                <a:solidFill>
                  <a:srgbClr val="188037"/>
                </a:solidFill>
                <a:latin typeface="Courier New"/>
                <a:cs typeface="Courier New"/>
              </a:rPr>
              <a:t> </a:t>
            </a:r>
            <a:r>
              <a:rPr dirty="0"/>
              <a:t>Function</a:t>
            </a:r>
            <a:r>
              <a:rPr spc="-100" dirty="0"/>
              <a:t> </a:t>
            </a:r>
            <a:r>
              <a:rPr dirty="0"/>
              <a:t>called</a:t>
            </a:r>
            <a:r>
              <a:rPr spc="-100" dirty="0"/>
              <a:t> </a:t>
            </a:r>
            <a:r>
              <a:rPr spc="-25" dirty="0"/>
              <a:t>by </a:t>
            </a:r>
            <a:r>
              <a:rPr dirty="0"/>
              <a:t>main.c</a:t>
            </a:r>
            <a:r>
              <a:rPr spc="-65" dirty="0"/>
              <a:t> </a:t>
            </a:r>
            <a:r>
              <a:rPr dirty="0"/>
              <a:t>is</a:t>
            </a:r>
            <a:r>
              <a:rPr spc="-60" dirty="0"/>
              <a:t> </a:t>
            </a:r>
            <a:r>
              <a:rPr dirty="0"/>
              <a:t>defined</a:t>
            </a:r>
            <a:r>
              <a:rPr spc="-60" dirty="0"/>
              <a:t> </a:t>
            </a:r>
            <a:r>
              <a:rPr spc="-20" dirty="0"/>
              <a:t>here</a:t>
            </a:r>
          </a:p>
          <a:p>
            <a:pPr marL="473709" marR="386715" indent="-461645">
              <a:lnSpc>
                <a:spcPct val="114999"/>
              </a:lnSpc>
              <a:buClr>
                <a:srgbClr val="000000"/>
              </a:buClr>
              <a:buFont typeface="Arial"/>
              <a:buAutoNum type="arabicPeriod"/>
              <a:tabLst>
                <a:tab pos="473709" algn="l"/>
              </a:tabLst>
            </a:pPr>
            <a:r>
              <a:rPr b="1" spc="-10" dirty="0">
                <a:solidFill>
                  <a:srgbClr val="188037"/>
                </a:solidFill>
                <a:latin typeface="Courier New"/>
                <a:cs typeface="Courier New"/>
              </a:rPr>
              <a:t>main.c</a:t>
            </a:r>
            <a:r>
              <a:rPr b="1" spc="-10" dirty="0">
                <a:solidFill>
                  <a:srgbClr val="188037"/>
                </a:solidFill>
                <a:latin typeface="Arial"/>
                <a:cs typeface="Arial"/>
              </a:rPr>
              <a:t>:</a:t>
            </a:r>
            <a:r>
              <a:rPr b="1" spc="-95" dirty="0">
                <a:solidFill>
                  <a:srgbClr val="188037"/>
                </a:solidFill>
                <a:latin typeface="Arial"/>
                <a:cs typeface="Arial"/>
              </a:rPr>
              <a:t> </a:t>
            </a:r>
            <a:r>
              <a:rPr dirty="0"/>
              <a:t>The</a:t>
            </a:r>
            <a:r>
              <a:rPr spc="-50" dirty="0"/>
              <a:t> </a:t>
            </a:r>
            <a:r>
              <a:rPr dirty="0"/>
              <a:t>main</a:t>
            </a:r>
            <a:r>
              <a:rPr spc="-55" dirty="0"/>
              <a:t> </a:t>
            </a:r>
            <a:r>
              <a:rPr dirty="0"/>
              <a:t>C</a:t>
            </a:r>
            <a:r>
              <a:rPr spc="-55" dirty="0"/>
              <a:t> </a:t>
            </a:r>
            <a:r>
              <a:rPr dirty="0"/>
              <a:t>program</a:t>
            </a:r>
            <a:r>
              <a:rPr spc="-50" dirty="0"/>
              <a:t> </a:t>
            </a:r>
            <a:r>
              <a:rPr spc="-20" dirty="0"/>
              <a:t>that </a:t>
            </a:r>
            <a:r>
              <a:rPr dirty="0"/>
              <a:t>includes</a:t>
            </a:r>
            <a:r>
              <a:rPr spc="-70" dirty="0"/>
              <a:t> </a:t>
            </a:r>
            <a:r>
              <a:rPr dirty="0"/>
              <a:t>the</a:t>
            </a:r>
            <a:r>
              <a:rPr spc="-70" dirty="0"/>
              <a:t> </a:t>
            </a:r>
            <a:r>
              <a:rPr dirty="0"/>
              <a:t>header</a:t>
            </a:r>
            <a:r>
              <a:rPr spc="-65" dirty="0"/>
              <a:t> </a:t>
            </a:r>
            <a:r>
              <a:rPr spc="-10" dirty="0"/>
              <a:t>file.</a:t>
            </a:r>
          </a:p>
        </p:txBody>
      </p:sp>
      <p:sp>
        <p:nvSpPr>
          <p:cNvPr id="5" name="object 5"/>
          <p:cNvSpPr txBox="1"/>
          <p:nvPr/>
        </p:nvSpPr>
        <p:spPr>
          <a:xfrm>
            <a:off x="6279650" y="932687"/>
            <a:ext cx="802005"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0F2044"/>
                </a:solidFill>
                <a:latin typeface="Arial"/>
                <a:cs typeface="Arial"/>
              </a:rPr>
              <a:t>myheader.h</a:t>
            </a:r>
            <a:endParaRPr sz="1100">
              <a:latin typeface="Arial"/>
              <a:cs typeface="Arial"/>
            </a:endParaRPr>
          </a:p>
        </p:txBody>
      </p:sp>
      <p:pic>
        <p:nvPicPr>
          <p:cNvPr id="4" name="object 4" descr="A custom header file named &quot;myheader.h&quot; containing a macro definition for MY_CONSTANT set to 10 and a function prototype for print_constant()."/>
          <p:cNvPicPr/>
          <p:nvPr/>
        </p:nvPicPr>
        <p:blipFill>
          <a:blip r:embed="rId3" cstate="print"/>
          <a:stretch>
            <a:fillRect/>
          </a:stretch>
        </p:blipFill>
        <p:spPr>
          <a:xfrm>
            <a:off x="6260075" y="1220000"/>
            <a:ext cx="5763950" cy="1117499"/>
          </a:xfrm>
          <a:prstGeom prst="rect">
            <a:avLst/>
          </a:prstGeom>
        </p:spPr>
      </p:pic>
      <p:sp>
        <p:nvSpPr>
          <p:cNvPr id="7" name="object 7"/>
          <p:cNvSpPr txBox="1"/>
          <p:nvPr/>
        </p:nvSpPr>
        <p:spPr>
          <a:xfrm>
            <a:off x="6279650" y="2532887"/>
            <a:ext cx="794385"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0F2044"/>
                </a:solidFill>
                <a:latin typeface="Arial"/>
                <a:cs typeface="Arial"/>
              </a:rPr>
              <a:t>myheader.c</a:t>
            </a:r>
            <a:endParaRPr sz="1100">
              <a:latin typeface="Arial"/>
              <a:cs typeface="Arial"/>
            </a:endParaRPr>
          </a:p>
        </p:txBody>
      </p:sp>
      <p:pic>
        <p:nvPicPr>
          <p:cNvPr id="6" name="object 6" descr="A source file named &quot;myheader.c&quot; that includes both &lt;stdio.h&gt; and the custom &quot;myheader.h&quot; to define the print_constant() function, which prints the value of MY_CONSTANT."/>
          <p:cNvPicPr/>
          <p:nvPr/>
        </p:nvPicPr>
        <p:blipFill>
          <a:blip r:embed="rId4" cstate="print"/>
          <a:stretch>
            <a:fillRect/>
          </a:stretch>
        </p:blipFill>
        <p:spPr>
          <a:xfrm>
            <a:off x="6260075" y="2798349"/>
            <a:ext cx="5763950" cy="1795123"/>
          </a:xfrm>
          <a:prstGeom prst="rect">
            <a:avLst/>
          </a:prstGeom>
        </p:spPr>
      </p:pic>
      <p:sp>
        <p:nvSpPr>
          <p:cNvPr id="9" name="object 9"/>
          <p:cNvSpPr txBox="1"/>
          <p:nvPr/>
        </p:nvSpPr>
        <p:spPr>
          <a:xfrm>
            <a:off x="6279650" y="4818887"/>
            <a:ext cx="467995"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0F2044"/>
                </a:solidFill>
                <a:latin typeface="Arial"/>
                <a:cs typeface="Arial"/>
              </a:rPr>
              <a:t>main.c</a:t>
            </a:r>
            <a:endParaRPr sz="1100">
              <a:latin typeface="Arial"/>
              <a:cs typeface="Arial"/>
            </a:endParaRPr>
          </a:p>
        </p:txBody>
      </p:sp>
      <p:pic>
        <p:nvPicPr>
          <p:cNvPr id="8" name="object 8" descr="The &quot;main.c&quot; file showing the use of double quotes in the #include &quot;myheader.h&quot; directive to instruct the preprocessor to search the current directory first for the custom header."/>
          <p:cNvPicPr/>
          <p:nvPr/>
        </p:nvPicPr>
        <p:blipFill>
          <a:blip r:embed="rId5" cstate="print"/>
          <a:stretch>
            <a:fillRect/>
          </a:stretch>
        </p:blipFill>
        <p:spPr>
          <a:xfrm>
            <a:off x="6260075" y="5064850"/>
            <a:ext cx="5763948" cy="159710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ts val="2885"/>
              </a:lnSpc>
              <a:spcBef>
                <a:spcPts val="100"/>
              </a:spcBef>
            </a:pPr>
            <a:r>
              <a:rPr dirty="0"/>
              <a:t>C</a:t>
            </a:r>
            <a:r>
              <a:rPr spc="-5" dirty="0"/>
              <a:t> </a:t>
            </a:r>
            <a:r>
              <a:rPr spc="-10" dirty="0"/>
              <a:t>Preprocessor</a:t>
            </a:r>
          </a:p>
          <a:p>
            <a:pPr marL="12700">
              <a:lnSpc>
                <a:spcPts val="2285"/>
              </a:lnSpc>
            </a:pPr>
            <a:r>
              <a:rPr sz="2000" dirty="0"/>
              <a:t>File</a:t>
            </a:r>
            <a:r>
              <a:rPr sz="2000" spc="-55" dirty="0"/>
              <a:t> </a:t>
            </a:r>
            <a:r>
              <a:rPr sz="2000" spc="-10" dirty="0"/>
              <a:t>Inclusion</a:t>
            </a:r>
            <a:endParaRPr sz="2000"/>
          </a:p>
        </p:txBody>
      </p:sp>
      <p:sp>
        <p:nvSpPr>
          <p:cNvPr id="8" name="object 8"/>
          <p:cNvSpPr txBox="1"/>
          <p:nvPr/>
        </p:nvSpPr>
        <p:spPr>
          <a:xfrm>
            <a:off x="579574" y="2419219"/>
            <a:ext cx="4987290"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Lst>
            </a:pPr>
            <a:r>
              <a:rPr sz="1800" b="1" dirty="0">
                <a:solidFill>
                  <a:srgbClr val="0F2044"/>
                </a:solidFill>
                <a:latin typeface="Arial"/>
                <a:cs typeface="Arial"/>
              </a:rPr>
              <a:t>Compile</a:t>
            </a:r>
            <a:r>
              <a:rPr sz="1800" b="1" spc="-35" dirty="0">
                <a:solidFill>
                  <a:srgbClr val="0F2044"/>
                </a:solidFill>
                <a:latin typeface="Arial"/>
                <a:cs typeface="Arial"/>
              </a:rPr>
              <a:t> </a:t>
            </a:r>
            <a:r>
              <a:rPr sz="1800" b="1" dirty="0">
                <a:solidFill>
                  <a:srgbClr val="0F2044"/>
                </a:solidFill>
                <a:latin typeface="Arial"/>
                <a:cs typeface="Arial"/>
              </a:rPr>
              <a:t>each</a:t>
            </a:r>
            <a:r>
              <a:rPr sz="1800" b="1" spc="-30" dirty="0">
                <a:solidFill>
                  <a:srgbClr val="0F2044"/>
                </a:solidFill>
                <a:latin typeface="Arial"/>
                <a:cs typeface="Arial"/>
              </a:rPr>
              <a:t> </a:t>
            </a:r>
            <a:r>
              <a:rPr sz="1800" b="1" dirty="0">
                <a:solidFill>
                  <a:srgbClr val="0F2044"/>
                </a:solidFill>
                <a:latin typeface="Arial"/>
                <a:cs typeface="Arial"/>
              </a:rPr>
              <a:t>.c</a:t>
            </a:r>
            <a:r>
              <a:rPr sz="1800" b="1" spc="-30" dirty="0">
                <a:solidFill>
                  <a:srgbClr val="0F2044"/>
                </a:solidFill>
                <a:latin typeface="Arial"/>
                <a:cs typeface="Arial"/>
              </a:rPr>
              <a:t> </a:t>
            </a:r>
            <a:r>
              <a:rPr sz="1800" b="1" dirty="0">
                <a:solidFill>
                  <a:srgbClr val="0F2044"/>
                </a:solidFill>
                <a:latin typeface="Arial"/>
                <a:cs typeface="Arial"/>
              </a:rPr>
              <a:t>file</a:t>
            </a:r>
            <a:r>
              <a:rPr sz="1800" b="1" spc="-30" dirty="0">
                <a:solidFill>
                  <a:srgbClr val="0F2044"/>
                </a:solidFill>
                <a:latin typeface="Arial"/>
                <a:cs typeface="Arial"/>
              </a:rPr>
              <a:t> </a:t>
            </a:r>
            <a:r>
              <a:rPr sz="1800" b="1" dirty="0">
                <a:solidFill>
                  <a:srgbClr val="0F2044"/>
                </a:solidFill>
                <a:latin typeface="Arial"/>
                <a:cs typeface="Arial"/>
              </a:rPr>
              <a:t>separately</a:t>
            </a:r>
            <a:r>
              <a:rPr sz="1800" b="1" spc="-30" dirty="0">
                <a:solidFill>
                  <a:srgbClr val="0F2044"/>
                </a:solidFill>
                <a:latin typeface="Arial"/>
                <a:cs typeface="Arial"/>
              </a:rPr>
              <a:t> </a:t>
            </a:r>
            <a:r>
              <a:rPr sz="1800" b="1" dirty="0">
                <a:solidFill>
                  <a:srgbClr val="0F2044"/>
                </a:solidFill>
                <a:latin typeface="Arial"/>
                <a:cs typeface="Arial"/>
              </a:rPr>
              <a:t>into</a:t>
            </a:r>
            <a:r>
              <a:rPr sz="1800" b="1" spc="-30" dirty="0">
                <a:solidFill>
                  <a:srgbClr val="0F2044"/>
                </a:solidFill>
                <a:latin typeface="Arial"/>
                <a:cs typeface="Arial"/>
              </a:rPr>
              <a:t> </a:t>
            </a:r>
            <a:r>
              <a:rPr sz="1800" b="1" dirty="0">
                <a:solidFill>
                  <a:srgbClr val="0F2044"/>
                </a:solidFill>
                <a:latin typeface="Arial"/>
                <a:cs typeface="Arial"/>
              </a:rPr>
              <a:t>.o</a:t>
            </a:r>
            <a:r>
              <a:rPr sz="1800" b="1" spc="-30" dirty="0">
                <a:solidFill>
                  <a:srgbClr val="0F2044"/>
                </a:solidFill>
                <a:latin typeface="Arial"/>
                <a:cs typeface="Arial"/>
              </a:rPr>
              <a:t> </a:t>
            </a:r>
            <a:r>
              <a:rPr sz="1800" b="1" spc="-10" dirty="0">
                <a:solidFill>
                  <a:srgbClr val="0F2044"/>
                </a:solidFill>
                <a:latin typeface="Arial"/>
                <a:cs typeface="Arial"/>
              </a:rPr>
              <a:t>files</a:t>
            </a:r>
            <a:endParaRPr sz="1800">
              <a:latin typeface="Arial"/>
              <a:cs typeface="Arial"/>
            </a:endParaRPr>
          </a:p>
        </p:txBody>
      </p:sp>
      <p:sp>
        <p:nvSpPr>
          <p:cNvPr id="3" name="object 3"/>
          <p:cNvSpPr txBox="1"/>
          <p:nvPr/>
        </p:nvSpPr>
        <p:spPr>
          <a:xfrm>
            <a:off x="949424" y="2867449"/>
            <a:ext cx="4020185" cy="462280"/>
          </a:xfrm>
          <a:prstGeom prst="rect">
            <a:avLst/>
          </a:prstGeom>
          <a:ln w="9524">
            <a:solidFill>
              <a:srgbClr val="000000"/>
            </a:solidFill>
          </a:ln>
        </p:spPr>
        <p:txBody>
          <a:bodyPr vert="horz" wrap="square" lIns="0" tIns="76200" rIns="0" bIns="0" rtlCol="0">
            <a:spAutoFit/>
          </a:bodyPr>
          <a:lstStyle/>
          <a:p>
            <a:pPr marL="85090">
              <a:lnSpc>
                <a:spcPct val="100000"/>
              </a:lnSpc>
              <a:spcBef>
                <a:spcPts val="600"/>
              </a:spcBef>
            </a:pPr>
            <a:r>
              <a:rPr sz="1800" dirty="0">
                <a:solidFill>
                  <a:srgbClr val="980000"/>
                </a:solidFill>
                <a:latin typeface="Arial MT"/>
                <a:cs typeface="Arial MT"/>
              </a:rPr>
              <a:t>gcc</a:t>
            </a:r>
            <a:r>
              <a:rPr sz="1800" spc="-40" dirty="0">
                <a:solidFill>
                  <a:srgbClr val="980000"/>
                </a:solidFill>
                <a:latin typeface="Arial MT"/>
                <a:cs typeface="Arial MT"/>
              </a:rPr>
              <a:t> </a:t>
            </a:r>
            <a:r>
              <a:rPr sz="1800" spc="-10" dirty="0">
                <a:solidFill>
                  <a:srgbClr val="980000"/>
                </a:solidFill>
                <a:latin typeface="Arial MT"/>
                <a:cs typeface="Arial MT"/>
              </a:rPr>
              <a:t>-</a:t>
            </a:r>
            <a:r>
              <a:rPr sz="1800" dirty="0">
                <a:solidFill>
                  <a:srgbClr val="980000"/>
                </a:solidFill>
                <a:latin typeface="Arial MT"/>
                <a:cs typeface="Arial MT"/>
              </a:rPr>
              <a:t>c</a:t>
            </a:r>
            <a:r>
              <a:rPr sz="1800" spc="-30" dirty="0">
                <a:solidFill>
                  <a:srgbClr val="980000"/>
                </a:solidFill>
                <a:latin typeface="Arial MT"/>
                <a:cs typeface="Arial MT"/>
              </a:rPr>
              <a:t> </a:t>
            </a:r>
            <a:r>
              <a:rPr sz="1800" dirty="0">
                <a:solidFill>
                  <a:srgbClr val="980000"/>
                </a:solidFill>
                <a:latin typeface="Arial MT"/>
                <a:cs typeface="Arial MT"/>
              </a:rPr>
              <a:t>myheader.c</a:t>
            </a:r>
            <a:r>
              <a:rPr sz="1800" spc="-30" dirty="0">
                <a:solidFill>
                  <a:srgbClr val="980000"/>
                </a:solidFill>
                <a:latin typeface="Arial MT"/>
                <a:cs typeface="Arial MT"/>
              </a:rPr>
              <a:t> </a:t>
            </a:r>
            <a:r>
              <a:rPr sz="1800" spc="-10" dirty="0">
                <a:solidFill>
                  <a:srgbClr val="980000"/>
                </a:solidFill>
                <a:latin typeface="Arial MT"/>
                <a:cs typeface="Arial MT"/>
              </a:rPr>
              <a:t>-</a:t>
            </a:r>
            <a:r>
              <a:rPr sz="1800" dirty="0">
                <a:solidFill>
                  <a:srgbClr val="980000"/>
                </a:solidFill>
                <a:latin typeface="Arial MT"/>
                <a:cs typeface="Arial MT"/>
              </a:rPr>
              <a:t>o</a:t>
            </a:r>
            <a:r>
              <a:rPr sz="1800" spc="-30" dirty="0">
                <a:solidFill>
                  <a:srgbClr val="980000"/>
                </a:solidFill>
                <a:latin typeface="Arial MT"/>
                <a:cs typeface="Arial MT"/>
              </a:rPr>
              <a:t> </a:t>
            </a:r>
            <a:r>
              <a:rPr sz="1800" spc="-10" dirty="0">
                <a:solidFill>
                  <a:srgbClr val="980000"/>
                </a:solidFill>
                <a:latin typeface="Arial MT"/>
                <a:cs typeface="Arial MT"/>
              </a:rPr>
              <a:t>myheader.o</a:t>
            </a:r>
            <a:endParaRPr sz="1800" dirty="0">
              <a:latin typeface="Arial MT"/>
              <a:cs typeface="Arial MT"/>
            </a:endParaRPr>
          </a:p>
        </p:txBody>
      </p:sp>
      <p:sp>
        <p:nvSpPr>
          <p:cNvPr id="4" name="object 4"/>
          <p:cNvSpPr txBox="1"/>
          <p:nvPr/>
        </p:nvSpPr>
        <p:spPr>
          <a:xfrm>
            <a:off x="949424" y="3460250"/>
            <a:ext cx="4020185" cy="462280"/>
          </a:xfrm>
          <a:prstGeom prst="rect">
            <a:avLst/>
          </a:prstGeom>
          <a:ln w="9524">
            <a:solidFill>
              <a:srgbClr val="000000"/>
            </a:solidFill>
          </a:ln>
        </p:spPr>
        <p:txBody>
          <a:bodyPr vert="horz" wrap="square" lIns="0" tIns="76200" rIns="0" bIns="0" rtlCol="0">
            <a:spAutoFit/>
          </a:bodyPr>
          <a:lstStyle/>
          <a:p>
            <a:pPr marL="85090">
              <a:lnSpc>
                <a:spcPct val="100000"/>
              </a:lnSpc>
              <a:spcBef>
                <a:spcPts val="600"/>
              </a:spcBef>
            </a:pPr>
            <a:r>
              <a:rPr sz="1800" dirty="0">
                <a:solidFill>
                  <a:srgbClr val="980000"/>
                </a:solidFill>
                <a:latin typeface="Arial MT"/>
                <a:cs typeface="Arial MT"/>
              </a:rPr>
              <a:t>gcc</a:t>
            </a:r>
            <a:r>
              <a:rPr sz="1800" spc="-15" dirty="0">
                <a:solidFill>
                  <a:srgbClr val="980000"/>
                </a:solidFill>
                <a:latin typeface="Arial MT"/>
                <a:cs typeface="Arial MT"/>
              </a:rPr>
              <a:t> </a:t>
            </a:r>
            <a:r>
              <a:rPr sz="1800" spc="-10" dirty="0">
                <a:solidFill>
                  <a:srgbClr val="980000"/>
                </a:solidFill>
                <a:latin typeface="Arial MT"/>
                <a:cs typeface="Arial MT"/>
              </a:rPr>
              <a:t>-</a:t>
            </a:r>
            <a:r>
              <a:rPr sz="1800" dirty="0">
                <a:solidFill>
                  <a:srgbClr val="980000"/>
                </a:solidFill>
                <a:latin typeface="Arial MT"/>
                <a:cs typeface="Arial MT"/>
              </a:rPr>
              <a:t>c</a:t>
            </a:r>
            <a:r>
              <a:rPr sz="1800" spc="-5" dirty="0">
                <a:solidFill>
                  <a:srgbClr val="980000"/>
                </a:solidFill>
                <a:latin typeface="Arial MT"/>
                <a:cs typeface="Arial MT"/>
              </a:rPr>
              <a:t> </a:t>
            </a:r>
            <a:r>
              <a:rPr sz="1800" dirty="0">
                <a:solidFill>
                  <a:srgbClr val="980000"/>
                </a:solidFill>
                <a:latin typeface="Arial MT"/>
                <a:cs typeface="Arial MT"/>
              </a:rPr>
              <a:t>main.c</a:t>
            </a:r>
            <a:r>
              <a:rPr sz="1800" spc="-5" dirty="0">
                <a:solidFill>
                  <a:srgbClr val="980000"/>
                </a:solidFill>
                <a:latin typeface="Arial MT"/>
                <a:cs typeface="Arial MT"/>
              </a:rPr>
              <a:t> </a:t>
            </a:r>
            <a:r>
              <a:rPr sz="1800" spc="-10" dirty="0">
                <a:solidFill>
                  <a:srgbClr val="980000"/>
                </a:solidFill>
                <a:latin typeface="Arial MT"/>
                <a:cs typeface="Arial MT"/>
              </a:rPr>
              <a:t>-</a:t>
            </a:r>
            <a:r>
              <a:rPr sz="1800" dirty="0">
                <a:solidFill>
                  <a:srgbClr val="980000"/>
                </a:solidFill>
                <a:latin typeface="Arial MT"/>
                <a:cs typeface="Arial MT"/>
              </a:rPr>
              <a:t>o</a:t>
            </a:r>
            <a:r>
              <a:rPr sz="1800" spc="-5" dirty="0">
                <a:solidFill>
                  <a:srgbClr val="980000"/>
                </a:solidFill>
                <a:latin typeface="Arial MT"/>
                <a:cs typeface="Arial MT"/>
              </a:rPr>
              <a:t> </a:t>
            </a:r>
            <a:r>
              <a:rPr sz="1800" spc="-10" dirty="0">
                <a:solidFill>
                  <a:srgbClr val="980000"/>
                </a:solidFill>
                <a:latin typeface="Arial MT"/>
                <a:cs typeface="Arial MT"/>
              </a:rPr>
              <a:t>main.o</a:t>
            </a:r>
            <a:endParaRPr sz="1800" dirty="0">
              <a:latin typeface="Arial MT"/>
              <a:cs typeface="Arial MT"/>
            </a:endParaRPr>
          </a:p>
        </p:txBody>
      </p:sp>
      <p:sp>
        <p:nvSpPr>
          <p:cNvPr id="7" name="object 7"/>
          <p:cNvSpPr txBox="1"/>
          <p:nvPr/>
        </p:nvSpPr>
        <p:spPr>
          <a:xfrm>
            <a:off x="579574" y="4254094"/>
            <a:ext cx="4581525" cy="299720"/>
          </a:xfrm>
          <a:prstGeom prst="rect">
            <a:avLst/>
          </a:prstGeom>
        </p:spPr>
        <p:txBody>
          <a:bodyPr vert="horz" wrap="square" lIns="0" tIns="12700" rIns="0" bIns="0" rtlCol="0">
            <a:spAutoFit/>
          </a:bodyPr>
          <a:lstStyle/>
          <a:p>
            <a:pPr marL="379095" indent="-366395">
              <a:lnSpc>
                <a:spcPct val="100000"/>
              </a:lnSpc>
              <a:spcBef>
                <a:spcPts val="100"/>
              </a:spcBef>
              <a:buChar char="●"/>
              <a:tabLst>
                <a:tab pos="379095" algn="l"/>
              </a:tabLst>
            </a:pPr>
            <a:r>
              <a:rPr sz="1800" b="1" dirty="0">
                <a:solidFill>
                  <a:srgbClr val="0F2044"/>
                </a:solidFill>
                <a:latin typeface="Arial"/>
                <a:cs typeface="Arial"/>
              </a:rPr>
              <a:t>Link</a:t>
            </a:r>
            <a:r>
              <a:rPr sz="1800" b="1" spc="-25" dirty="0">
                <a:solidFill>
                  <a:srgbClr val="0F2044"/>
                </a:solidFill>
                <a:latin typeface="Arial"/>
                <a:cs typeface="Arial"/>
              </a:rPr>
              <a:t> </a:t>
            </a:r>
            <a:r>
              <a:rPr sz="1800" b="1" dirty="0">
                <a:solidFill>
                  <a:srgbClr val="0F2044"/>
                </a:solidFill>
                <a:latin typeface="Arial"/>
                <a:cs typeface="Arial"/>
              </a:rPr>
              <a:t>the</a:t>
            </a:r>
            <a:r>
              <a:rPr sz="1800" b="1" spc="-20" dirty="0">
                <a:solidFill>
                  <a:srgbClr val="0F2044"/>
                </a:solidFill>
                <a:latin typeface="Arial"/>
                <a:cs typeface="Arial"/>
              </a:rPr>
              <a:t> </a:t>
            </a:r>
            <a:r>
              <a:rPr sz="1800" b="1" dirty="0">
                <a:solidFill>
                  <a:srgbClr val="0F2044"/>
                </a:solidFill>
                <a:latin typeface="Arial"/>
                <a:cs typeface="Arial"/>
              </a:rPr>
              <a:t>object</a:t>
            </a:r>
            <a:r>
              <a:rPr sz="1800" b="1" spc="-20" dirty="0">
                <a:solidFill>
                  <a:srgbClr val="0F2044"/>
                </a:solidFill>
                <a:latin typeface="Arial"/>
                <a:cs typeface="Arial"/>
              </a:rPr>
              <a:t> </a:t>
            </a:r>
            <a:r>
              <a:rPr sz="1800" b="1" dirty="0">
                <a:solidFill>
                  <a:srgbClr val="0F2044"/>
                </a:solidFill>
                <a:latin typeface="Arial"/>
                <a:cs typeface="Arial"/>
              </a:rPr>
              <a:t>files</a:t>
            </a:r>
            <a:r>
              <a:rPr sz="1800" b="1" spc="-25" dirty="0">
                <a:solidFill>
                  <a:srgbClr val="0F2044"/>
                </a:solidFill>
                <a:latin typeface="Arial"/>
                <a:cs typeface="Arial"/>
              </a:rPr>
              <a:t> </a:t>
            </a:r>
            <a:r>
              <a:rPr sz="1800" b="1" dirty="0">
                <a:solidFill>
                  <a:srgbClr val="0F2044"/>
                </a:solidFill>
                <a:latin typeface="Arial"/>
                <a:cs typeface="Arial"/>
              </a:rPr>
              <a:t>into</a:t>
            </a:r>
            <a:r>
              <a:rPr sz="1800" b="1" spc="-20" dirty="0">
                <a:solidFill>
                  <a:srgbClr val="0F2044"/>
                </a:solidFill>
                <a:latin typeface="Arial"/>
                <a:cs typeface="Arial"/>
              </a:rPr>
              <a:t> </a:t>
            </a:r>
            <a:r>
              <a:rPr sz="1800" b="1" dirty="0">
                <a:solidFill>
                  <a:srgbClr val="0F2044"/>
                </a:solidFill>
                <a:latin typeface="Arial"/>
                <a:cs typeface="Arial"/>
              </a:rPr>
              <a:t>an</a:t>
            </a:r>
            <a:r>
              <a:rPr sz="1800" b="1" spc="-20" dirty="0">
                <a:solidFill>
                  <a:srgbClr val="0F2044"/>
                </a:solidFill>
                <a:latin typeface="Arial"/>
                <a:cs typeface="Arial"/>
              </a:rPr>
              <a:t> </a:t>
            </a:r>
            <a:r>
              <a:rPr sz="1800" b="1" spc="-10" dirty="0">
                <a:solidFill>
                  <a:srgbClr val="0F2044"/>
                </a:solidFill>
                <a:latin typeface="Arial"/>
                <a:cs typeface="Arial"/>
              </a:rPr>
              <a:t>executable</a:t>
            </a:r>
            <a:endParaRPr sz="1800">
              <a:latin typeface="Arial"/>
              <a:cs typeface="Arial"/>
            </a:endParaRPr>
          </a:p>
        </p:txBody>
      </p:sp>
      <p:sp>
        <p:nvSpPr>
          <p:cNvPr id="5" name="object 5"/>
          <p:cNvSpPr txBox="1"/>
          <p:nvPr/>
        </p:nvSpPr>
        <p:spPr>
          <a:xfrm>
            <a:off x="949424" y="4646274"/>
            <a:ext cx="4175125" cy="462280"/>
          </a:xfrm>
          <a:prstGeom prst="rect">
            <a:avLst/>
          </a:prstGeom>
          <a:ln w="9524">
            <a:solidFill>
              <a:srgbClr val="000000"/>
            </a:solidFill>
          </a:ln>
        </p:spPr>
        <p:txBody>
          <a:bodyPr vert="horz" wrap="square" lIns="0" tIns="76200" rIns="0" bIns="0" rtlCol="0">
            <a:spAutoFit/>
          </a:bodyPr>
          <a:lstStyle/>
          <a:p>
            <a:pPr marL="85090">
              <a:lnSpc>
                <a:spcPct val="100000"/>
              </a:lnSpc>
              <a:spcBef>
                <a:spcPts val="600"/>
              </a:spcBef>
            </a:pPr>
            <a:r>
              <a:rPr sz="1800" dirty="0">
                <a:solidFill>
                  <a:srgbClr val="980000"/>
                </a:solidFill>
                <a:latin typeface="Arial MT"/>
                <a:cs typeface="Arial MT"/>
              </a:rPr>
              <a:t>gcc</a:t>
            </a:r>
            <a:r>
              <a:rPr sz="1800" spc="-50" dirty="0">
                <a:solidFill>
                  <a:srgbClr val="980000"/>
                </a:solidFill>
                <a:latin typeface="Arial MT"/>
                <a:cs typeface="Arial MT"/>
              </a:rPr>
              <a:t> </a:t>
            </a:r>
            <a:r>
              <a:rPr sz="1800" dirty="0">
                <a:solidFill>
                  <a:srgbClr val="980000"/>
                </a:solidFill>
                <a:latin typeface="Arial MT"/>
                <a:cs typeface="Arial MT"/>
              </a:rPr>
              <a:t>main.o</a:t>
            </a:r>
            <a:r>
              <a:rPr sz="1800" spc="-35" dirty="0">
                <a:solidFill>
                  <a:srgbClr val="980000"/>
                </a:solidFill>
                <a:latin typeface="Arial MT"/>
                <a:cs typeface="Arial MT"/>
              </a:rPr>
              <a:t> </a:t>
            </a:r>
            <a:r>
              <a:rPr sz="1800" dirty="0">
                <a:solidFill>
                  <a:srgbClr val="980000"/>
                </a:solidFill>
                <a:latin typeface="Arial MT"/>
                <a:cs typeface="Arial MT"/>
              </a:rPr>
              <a:t>myheader.o</a:t>
            </a:r>
            <a:r>
              <a:rPr sz="1800" spc="-35" dirty="0">
                <a:solidFill>
                  <a:srgbClr val="980000"/>
                </a:solidFill>
                <a:latin typeface="Arial MT"/>
                <a:cs typeface="Arial MT"/>
              </a:rPr>
              <a:t> </a:t>
            </a:r>
            <a:r>
              <a:rPr sz="1800" spc="-10" dirty="0">
                <a:solidFill>
                  <a:srgbClr val="980000"/>
                </a:solidFill>
                <a:latin typeface="Arial MT"/>
                <a:cs typeface="Arial MT"/>
              </a:rPr>
              <a:t>-</a:t>
            </a:r>
            <a:r>
              <a:rPr sz="1800" dirty="0">
                <a:solidFill>
                  <a:srgbClr val="980000"/>
                </a:solidFill>
                <a:latin typeface="Arial MT"/>
                <a:cs typeface="Arial MT"/>
              </a:rPr>
              <a:t>o</a:t>
            </a:r>
            <a:r>
              <a:rPr sz="1800" spc="-35" dirty="0">
                <a:solidFill>
                  <a:srgbClr val="980000"/>
                </a:solidFill>
                <a:latin typeface="Arial MT"/>
                <a:cs typeface="Arial MT"/>
              </a:rPr>
              <a:t> </a:t>
            </a:r>
            <a:r>
              <a:rPr sz="1800" spc="-10" dirty="0">
                <a:solidFill>
                  <a:srgbClr val="980000"/>
                </a:solidFill>
                <a:latin typeface="Arial MT"/>
                <a:cs typeface="Arial MT"/>
              </a:rPr>
              <a:t>myprogram</a:t>
            </a:r>
            <a:endParaRPr sz="1800" dirty="0">
              <a:latin typeface="Arial MT"/>
              <a:cs typeface="Arial MT"/>
            </a:endParaRPr>
          </a:p>
        </p:txBody>
      </p:sp>
      <p:sp>
        <p:nvSpPr>
          <p:cNvPr id="9" name="object 9"/>
          <p:cNvSpPr txBox="1"/>
          <p:nvPr/>
        </p:nvSpPr>
        <p:spPr>
          <a:xfrm>
            <a:off x="587305" y="5324752"/>
            <a:ext cx="2122805" cy="284480"/>
          </a:xfrm>
          <a:prstGeom prst="rect">
            <a:avLst/>
          </a:prstGeom>
        </p:spPr>
        <p:txBody>
          <a:bodyPr vert="horz" wrap="square" lIns="0" tIns="12700" rIns="0" bIns="0" rtlCol="0">
            <a:spAutoFit/>
          </a:bodyPr>
          <a:lstStyle/>
          <a:p>
            <a:pPr marL="371475" indent="-358775">
              <a:lnSpc>
                <a:spcPct val="100000"/>
              </a:lnSpc>
              <a:spcBef>
                <a:spcPts val="100"/>
              </a:spcBef>
              <a:buChar char="●"/>
              <a:tabLst>
                <a:tab pos="371475" algn="l"/>
              </a:tabLst>
            </a:pPr>
            <a:r>
              <a:rPr sz="1700" b="1" dirty="0">
                <a:solidFill>
                  <a:srgbClr val="0F2044"/>
                </a:solidFill>
                <a:latin typeface="Arial"/>
                <a:cs typeface="Arial"/>
              </a:rPr>
              <a:t>Run</a:t>
            </a:r>
            <a:r>
              <a:rPr sz="1700" b="1" spc="-15" dirty="0">
                <a:solidFill>
                  <a:srgbClr val="0F2044"/>
                </a:solidFill>
                <a:latin typeface="Arial"/>
                <a:cs typeface="Arial"/>
              </a:rPr>
              <a:t> </a:t>
            </a:r>
            <a:r>
              <a:rPr sz="1700" b="1" dirty="0">
                <a:solidFill>
                  <a:srgbClr val="0F2044"/>
                </a:solidFill>
                <a:latin typeface="Arial"/>
                <a:cs typeface="Arial"/>
              </a:rPr>
              <a:t>the</a:t>
            </a:r>
            <a:r>
              <a:rPr sz="1700" b="1" spc="-15" dirty="0">
                <a:solidFill>
                  <a:srgbClr val="0F2044"/>
                </a:solidFill>
                <a:latin typeface="Arial"/>
                <a:cs typeface="Arial"/>
              </a:rPr>
              <a:t> </a:t>
            </a:r>
            <a:r>
              <a:rPr sz="1700" b="1" spc="-10" dirty="0">
                <a:solidFill>
                  <a:srgbClr val="0F2044"/>
                </a:solidFill>
                <a:latin typeface="Arial"/>
                <a:cs typeface="Arial"/>
              </a:rPr>
              <a:t>program</a:t>
            </a:r>
            <a:endParaRPr sz="1700">
              <a:latin typeface="Arial"/>
              <a:cs typeface="Arial"/>
            </a:endParaRPr>
          </a:p>
        </p:txBody>
      </p:sp>
      <p:sp>
        <p:nvSpPr>
          <p:cNvPr id="6" name="object 6"/>
          <p:cNvSpPr txBox="1"/>
          <p:nvPr/>
        </p:nvSpPr>
        <p:spPr>
          <a:xfrm>
            <a:off x="949424" y="5666375"/>
            <a:ext cx="2128520" cy="462280"/>
          </a:xfrm>
          <a:prstGeom prst="rect">
            <a:avLst/>
          </a:prstGeom>
          <a:ln w="9524">
            <a:solidFill>
              <a:srgbClr val="000000"/>
            </a:solidFill>
          </a:ln>
        </p:spPr>
        <p:txBody>
          <a:bodyPr vert="horz" wrap="square" lIns="0" tIns="76200" rIns="0" bIns="0" rtlCol="0">
            <a:spAutoFit/>
          </a:bodyPr>
          <a:lstStyle/>
          <a:p>
            <a:pPr marL="85090">
              <a:lnSpc>
                <a:spcPct val="100000"/>
              </a:lnSpc>
              <a:spcBef>
                <a:spcPts val="600"/>
              </a:spcBef>
            </a:pPr>
            <a:r>
              <a:rPr sz="1800" spc="-10" dirty="0">
                <a:solidFill>
                  <a:srgbClr val="980000"/>
                </a:solidFill>
                <a:latin typeface="Arial MT"/>
                <a:cs typeface="Arial MT"/>
              </a:rPr>
              <a:t>./myprogram</a:t>
            </a:r>
            <a:endParaRPr sz="1800">
              <a:latin typeface="Arial MT"/>
              <a:cs typeface="Arial MT"/>
            </a:endParaRPr>
          </a:p>
        </p:txBody>
      </p:sp>
      <p:sp>
        <p:nvSpPr>
          <p:cNvPr id="11" name="object 11">
            <a:extLst>
              <a:ext uri="{C183D7F6-B498-43B3-948B-1728B52AA6E4}">
                <adec:decorative xmlns:adec="http://schemas.microsoft.com/office/drawing/2017/decorative" val="1"/>
              </a:ext>
            </a:extLst>
          </p:cNvPr>
          <p:cNvSpPr txBox="1"/>
          <p:nvPr/>
        </p:nvSpPr>
        <p:spPr>
          <a:xfrm>
            <a:off x="6279650" y="932687"/>
            <a:ext cx="802005"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0F2044"/>
                </a:solidFill>
                <a:latin typeface="Arial"/>
                <a:cs typeface="Arial"/>
              </a:rPr>
              <a:t>myheader.h</a:t>
            </a:r>
            <a:endParaRPr sz="1100">
              <a:latin typeface="Arial"/>
              <a:cs typeface="Arial"/>
            </a:endParaRPr>
          </a:p>
        </p:txBody>
      </p:sp>
      <p:pic>
        <p:nvPicPr>
          <p:cNvPr id="10" name="object 10">
            <a:extLst>
              <a:ext uri="{C183D7F6-B498-43B3-948B-1728B52AA6E4}">
                <adec:decorative xmlns:adec="http://schemas.microsoft.com/office/drawing/2017/decorative" val="1"/>
              </a:ext>
            </a:extLst>
          </p:cNvPr>
          <p:cNvPicPr/>
          <p:nvPr/>
        </p:nvPicPr>
        <p:blipFill>
          <a:blip r:embed="rId2" cstate="print"/>
          <a:stretch>
            <a:fillRect/>
          </a:stretch>
        </p:blipFill>
        <p:spPr>
          <a:xfrm>
            <a:off x="6260075" y="1220000"/>
            <a:ext cx="5763950" cy="1117499"/>
          </a:xfrm>
          <a:prstGeom prst="rect">
            <a:avLst/>
          </a:prstGeom>
        </p:spPr>
      </p:pic>
      <p:sp>
        <p:nvSpPr>
          <p:cNvPr id="13" name="object 13">
            <a:extLst>
              <a:ext uri="{C183D7F6-B498-43B3-948B-1728B52AA6E4}">
                <adec:decorative xmlns:adec="http://schemas.microsoft.com/office/drawing/2017/decorative" val="1"/>
              </a:ext>
            </a:extLst>
          </p:cNvPr>
          <p:cNvSpPr txBox="1"/>
          <p:nvPr/>
        </p:nvSpPr>
        <p:spPr>
          <a:xfrm>
            <a:off x="6279650" y="2532887"/>
            <a:ext cx="794385"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0F2044"/>
                </a:solidFill>
                <a:latin typeface="Arial"/>
                <a:cs typeface="Arial"/>
              </a:rPr>
              <a:t>myheader.c</a:t>
            </a:r>
            <a:endParaRPr sz="1100">
              <a:latin typeface="Arial"/>
              <a:cs typeface="Arial"/>
            </a:endParaRPr>
          </a:p>
        </p:txBody>
      </p:sp>
      <p:pic>
        <p:nvPicPr>
          <p:cNvPr id="12" name="object 12">
            <a:extLst>
              <a:ext uri="{C183D7F6-B498-43B3-948B-1728B52AA6E4}">
                <adec:decorative xmlns:adec="http://schemas.microsoft.com/office/drawing/2017/decorative" val="1"/>
              </a:ext>
            </a:extLst>
          </p:cNvPr>
          <p:cNvPicPr/>
          <p:nvPr/>
        </p:nvPicPr>
        <p:blipFill>
          <a:blip r:embed="rId3" cstate="print"/>
          <a:stretch>
            <a:fillRect/>
          </a:stretch>
        </p:blipFill>
        <p:spPr>
          <a:xfrm>
            <a:off x="6260075" y="2798349"/>
            <a:ext cx="5763950" cy="1795123"/>
          </a:xfrm>
          <a:prstGeom prst="rect">
            <a:avLst/>
          </a:prstGeom>
        </p:spPr>
      </p:pic>
      <p:sp>
        <p:nvSpPr>
          <p:cNvPr id="15" name="object 15">
            <a:extLst>
              <a:ext uri="{C183D7F6-B498-43B3-948B-1728B52AA6E4}">
                <adec:decorative xmlns:adec="http://schemas.microsoft.com/office/drawing/2017/decorative" val="1"/>
              </a:ext>
            </a:extLst>
          </p:cNvPr>
          <p:cNvSpPr txBox="1"/>
          <p:nvPr/>
        </p:nvSpPr>
        <p:spPr>
          <a:xfrm>
            <a:off x="6279650" y="4818887"/>
            <a:ext cx="467995" cy="193040"/>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0F2044"/>
                </a:solidFill>
                <a:latin typeface="Arial"/>
                <a:cs typeface="Arial"/>
              </a:rPr>
              <a:t>main.c</a:t>
            </a:r>
            <a:endParaRPr sz="1100">
              <a:latin typeface="Arial"/>
              <a:cs typeface="Arial"/>
            </a:endParaRPr>
          </a:p>
        </p:txBody>
      </p:sp>
      <p:pic>
        <p:nvPicPr>
          <p:cNvPr id="14" name="object 14">
            <a:extLst>
              <a:ext uri="{C183D7F6-B498-43B3-948B-1728B52AA6E4}">
                <adec:decorative xmlns:adec="http://schemas.microsoft.com/office/drawing/2017/decorative" val="1"/>
              </a:ext>
            </a:extLst>
          </p:cNvPr>
          <p:cNvPicPr/>
          <p:nvPr/>
        </p:nvPicPr>
        <p:blipFill>
          <a:blip r:embed="rId4" cstate="print"/>
          <a:stretch>
            <a:fillRect/>
          </a:stretch>
        </p:blipFill>
        <p:spPr>
          <a:xfrm>
            <a:off x="6260075" y="5064850"/>
            <a:ext cx="5763948" cy="159710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6A4C0-7EB4-9D9E-F2E1-FF1C3FCD073A}"/>
              </a:ext>
            </a:extLst>
          </p:cNvPr>
          <p:cNvSpPr>
            <a:spLocks noGrp="1"/>
          </p:cNvSpPr>
          <p:nvPr>
            <p:ph type="title"/>
          </p:nvPr>
        </p:nvSpPr>
        <p:spPr>
          <a:xfrm>
            <a:off x="410374" y="1415541"/>
            <a:ext cx="4085425" cy="1154162"/>
          </a:xfrm>
        </p:spPr>
        <p:txBody>
          <a:bodyPr/>
          <a:lstStyle/>
          <a:p>
            <a:r>
              <a:rPr lang="en-US" dirty="0"/>
              <a:t>Summary Table of C Preprocessor Directives</a:t>
            </a:r>
          </a:p>
        </p:txBody>
      </p:sp>
      <p:graphicFrame>
        <p:nvGraphicFramePr>
          <p:cNvPr id="4" name="Table 3">
            <a:extLst>
              <a:ext uri="{FF2B5EF4-FFF2-40B4-BE49-F238E27FC236}">
                <a16:creationId xmlns:a16="http://schemas.microsoft.com/office/drawing/2014/main" id="{6798222B-4846-213D-1564-D38FF8DED31B}"/>
              </a:ext>
            </a:extLst>
          </p:cNvPr>
          <p:cNvGraphicFramePr>
            <a:graphicFrameLocks noGrp="1"/>
          </p:cNvGraphicFramePr>
          <p:nvPr>
            <p:extLst>
              <p:ext uri="{D42A27DB-BD31-4B8C-83A1-F6EECF244321}">
                <p14:modId xmlns:p14="http://schemas.microsoft.com/office/powerpoint/2010/main" val="3572667244"/>
              </p:ext>
            </p:extLst>
          </p:nvPr>
        </p:nvGraphicFramePr>
        <p:xfrm>
          <a:off x="990600" y="2514600"/>
          <a:ext cx="10287000" cy="3910214"/>
        </p:xfrm>
        <a:graphic>
          <a:graphicData uri="http://schemas.openxmlformats.org/drawingml/2006/table">
            <a:tbl>
              <a:tblPr firstRow="1">
                <a:tableStyleId>{8EC20E35-A176-4012-BC5E-935CFFF8708E}</a:tableStyleId>
              </a:tblPr>
              <a:tblGrid>
                <a:gridCol w="1773419">
                  <a:extLst>
                    <a:ext uri="{9D8B030D-6E8A-4147-A177-3AD203B41FA5}">
                      <a16:colId xmlns:a16="http://schemas.microsoft.com/office/drawing/2014/main" val="1909040372"/>
                    </a:ext>
                  </a:extLst>
                </a:gridCol>
                <a:gridCol w="5084581">
                  <a:extLst>
                    <a:ext uri="{9D8B030D-6E8A-4147-A177-3AD203B41FA5}">
                      <a16:colId xmlns:a16="http://schemas.microsoft.com/office/drawing/2014/main" val="4197938612"/>
                    </a:ext>
                  </a:extLst>
                </a:gridCol>
                <a:gridCol w="3429000">
                  <a:extLst>
                    <a:ext uri="{9D8B030D-6E8A-4147-A177-3AD203B41FA5}">
                      <a16:colId xmlns:a16="http://schemas.microsoft.com/office/drawing/2014/main" val="3310242826"/>
                    </a:ext>
                  </a:extLst>
                </a:gridCol>
              </a:tblGrid>
              <a:tr h="541736">
                <a:tc>
                  <a:txBody>
                    <a:bodyPr/>
                    <a:lstStyle/>
                    <a:p>
                      <a:pPr marL="91440" rtl="0" fontAlgn="b">
                        <a:buNone/>
                      </a:pPr>
                      <a:r>
                        <a:rPr lang="en-US" sz="2400" b="1" dirty="0">
                          <a:effectLst/>
                        </a:rPr>
                        <a:t>Directive</a:t>
                      </a:r>
                      <a:endParaRPr lang="en-US" sz="2400" b="1" dirty="0">
                        <a:effectLst/>
                        <a:latin typeface="Arial MT"/>
                      </a:endParaRPr>
                    </a:p>
                  </a:txBody>
                  <a:tcPr marL="5923" marR="5923" marT="3949" marB="3949" anchor="ctr">
                    <a:lnB w="9525" cap="flat" cmpd="sng" algn="ctr">
                      <a:solidFill>
                        <a:schemeClr val="bg1">
                          <a:lumMod val="75000"/>
                        </a:schemeClr>
                      </a:solidFill>
                      <a:prstDash val="solid"/>
                      <a:round/>
                      <a:headEnd type="none" w="med" len="med"/>
                      <a:tailEnd type="none" w="med" len="med"/>
                    </a:lnB>
                    <a:solidFill>
                      <a:schemeClr val="accent1">
                        <a:lumMod val="75000"/>
                      </a:schemeClr>
                    </a:solidFill>
                  </a:tcPr>
                </a:tc>
                <a:tc>
                  <a:txBody>
                    <a:bodyPr/>
                    <a:lstStyle/>
                    <a:p>
                      <a:pPr marL="91440" rtl="0" fontAlgn="b">
                        <a:buNone/>
                      </a:pPr>
                      <a:r>
                        <a:rPr lang="en-US" sz="2400" b="1" dirty="0">
                          <a:effectLst/>
                        </a:rPr>
                        <a:t>Purpose</a:t>
                      </a:r>
                      <a:endParaRPr lang="en-US" sz="2400" b="1" dirty="0">
                        <a:effectLst/>
                        <a:latin typeface="Arial MT"/>
                      </a:endParaRPr>
                    </a:p>
                  </a:txBody>
                  <a:tcPr marL="5923" marR="5923" marT="3949" marB="3949" anchor="ctr">
                    <a:lnB w="9525" cap="flat" cmpd="sng" algn="ctr">
                      <a:solidFill>
                        <a:schemeClr val="bg1">
                          <a:lumMod val="75000"/>
                        </a:schemeClr>
                      </a:solidFill>
                      <a:prstDash val="solid"/>
                      <a:round/>
                      <a:headEnd type="none" w="med" len="med"/>
                      <a:tailEnd type="none" w="med" len="med"/>
                    </a:lnB>
                    <a:solidFill>
                      <a:schemeClr val="accent1">
                        <a:lumMod val="75000"/>
                      </a:schemeClr>
                    </a:solidFill>
                  </a:tcPr>
                </a:tc>
                <a:tc>
                  <a:txBody>
                    <a:bodyPr/>
                    <a:lstStyle/>
                    <a:p>
                      <a:pPr marL="91440" rtl="0" fontAlgn="b">
                        <a:buNone/>
                      </a:pPr>
                      <a:r>
                        <a:rPr lang="en-US" sz="2400" b="1" dirty="0">
                          <a:effectLst/>
                        </a:rPr>
                        <a:t>Key Example</a:t>
                      </a:r>
                      <a:endParaRPr lang="en-US" sz="2400" b="1" dirty="0">
                        <a:effectLst/>
                        <a:latin typeface="Arial MT"/>
                      </a:endParaRPr>
                    </a:p>
                  </a:txBody>
                  <a:tcPr marL="5923" marR="5923" marT="3949" marB="3949" anchor="ctr">
                    <a:lnB w="9525" cap="flat" cmpd="sng" algn="ctr">
                      <a:solidFill>
                        <a:schemeClr val="bg1">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792268134"/>
                  </a:ext>
                </a:extLst>
              </a:tr>
              <a:tr h="653281">
                <a:tc>
                  <a:txBody>
                    <a:bodyPr/>
                    <a:lstStyle/>
                    <a:p>
                      <a:pPr marL="91440" rtl="0" fontAlgn="b">
                        <a:buNone/>
                      </a:pPr>
                      <a:r>
                        <a:rPr lang="en-US" sz="2200" b="1" dirty="0">
                          <a:solidFill>
                            <a:srgbClr val="188037"/>
                          </a:solidFill>
                          <a:effectLst/>
                        </a:rPr>
                        <a:t>#define</a:t>
                      </a:r>
                      <a:endParaRPr lang="en-US" sz="2200" b="1" dirty="0">
                        <a:solidFill>
                          <a:srgbClr val="188037"/>
                        </a:solidFill>
                        <a:effectLst/>
                        <a:latin typeface="Arial MT"/>
                      </a:endParaRPr>
                    </a:p>
                  </a:txBody>
                  <a:tcPr marL="5923" marR="5923" marT="0"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91440" rtl="0" fontAlgn="b">
                        <a:buNone/>
                      </a:pPr>
                      <a:r>
                        <a:rPr lang="en-US" sz="2200" dirty="0">
                          <a:effectLst/>
                        </a:rPr>
                        <a:t>Creates a macro (constant or function-like)</a:t>
                      </a:r>
                      <a:endParaRPr lang="en-US" sz="2200" dirty="0">
                        <a:effectLst/>
                        <a:latin typeface="Arial MT"/>
                      </a:endParaRPr>
                    </a:p>
                  </a:txBody>
                  <a:tcPr marL="5923" marR="5923" marT="0"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91440" rtl="0" fontAlgn="b">
                        <a:buNone/>
                      </a:pPr>
                      <a:r>
                        <a:rPr lang="en-US" sz="2200" dirty="0">
                          <a:effectLst/>
                        </a:rPr>
                        <a:t>PI 3.14159</a:t>
                      </a:r>
                      <a:endParaRPr lang="en-US" sz="2200" dirty="0">
                        <a:effectLst/>
                        <a:latin typeface="Arial MT"/>
                      </a:endParaRPr>
                    </a:p>
                  </a:txBody>
                  <a:tcPr marL="5923" marR="5923" marT="0"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8603399"/>
                  </a:ext>
                </a:extLst>
              </a:tr>
              <a:tr h="561413">
                <a:tc>
                  <a:txBody>
                    <a:bodyPr/>
                    <a:lstStyle/>
                    <a:p>
                      <a:pPr marL="91440" rtl="0" fontAlgn="b">
                        <a:buNone/>
                      </a:pPr>
                      <a:r>
                        <a:rPr lang="en-US" sz="2200" b="1" dirty="0">
                          <a:solidFill>
                            <a:srgbClr val="188037"/>
                          </a:solidFill>
                          <a:effectLst/>
                        </a:rPr>
                        <a:t>#include</a:t>
                      </a:r>
                      <a:endParaRPr lang="en-US" sz="2200" b="1" dirty="0">
                        <a:solidFill>
                          <a:srgbClr val="188037"/>
                        </a:solidFill>
                        <a:effectLst/>
                        <a:latin typeface="Arial MT"/>
                      </a:endParaRPr>
                    </a:p>
                  </a:txBody>
                  <a:tcPr marL="5923" marR="5923" marT="3949"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91440" rtl="0" fontAlgn="b">
                        <a:buNone/>
                      </a:pPr>
                      <a:r>
                        <a:rPr lang="en-US" sz="2200" dirty="0">
                          <a:effectLst/>
                        </a:rPr>
                        <a:t>Inserts the contents of another file</a:t>
                      </a:r>
                      <a:endParaRPr lang="en-US" sz="2200" dirty="0">
                        <a:effectLst/>
                        <a:latin typeface="Arial MT"/>
                      </a:endParaRPr>
                    </a:p>
                  </a:txBody>
                  <a:tcPr marL="5923" marR="5923" marT="3949"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91440" rtl="0" fontAlgn="b">
                        <a:buNone/>
                      </a:pPr>
                      <a:r>
                        <a:rPr lang="en-US" sz="2200" dirty="0">
                          <a:effectLst/>
                        </a:rPr>
                        <a:t>&lt;</a:t>
                      </a:r>
                      <a:r>
                        <a:rPr lang="en-US" sz="2200" dirty="0" err="1">
                          <a:effectLst/>
                        </a:rPr>
                        <a:t>stdio.h</a:t>
                      </a:r>
                      <a:r>
                        <a:rPr lang="en-US" sz="2200" dirty="0">
                          <a:effectLst/>
                        </a:rPr>
                        <a:t>&gt; or "</a:t>
                      </a:r>
                      <a:r>
                        <a:rPr lang="en-US" sz="2200" dirty="0" err="1">
                          <a:effectLst/>
                        </a:rPr>
                        <a:t>myheader.h</a:t>
                      </a:r>
                      <a:r>
                        <a:rPr lang="en-US" sz="2200" dirty="0">
                          <a:effectLst/>
                        </a:rPr>
                        <a:t>"</a:t>
                      </a:r>
                      <a:endParaRPr lang="en-US" sz="2200" dirty="0">
                        <a:effectLst/>
                        <a:latin typeface="Arial MT"/>
                      </a:endParaRPr>
                    </a:p>
                  </a:txBody>
                  <a:tcPr marL="0" marR="0" marT="3949"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41798500"/>
                  </a:ext>
                </a:extLst>
              </a:tr>
              <a:tr h="561413">
                <a:tc>
                  <a:txBody>
                    <a:bodyPr/>
                    <a:lstStyle/>
                    <a:p>
                      <a:pPr marL="91440" rtl="0" fontAlgn="b">
                        <a:buNone/>
                      </a:pPr>
                      <a:r>
                        <a:rPr lang="en-US" sz="2200" b="1" dirty="0">
                          <a:solidFill>
                            <a:srgbClr val="188037"/>
                          </a:solidFill>
                          <a:effectLst/>
                        </a:rPr>
                        <a:t>#if / #endif</a:t>
                      </a:r>
                      <a:endParaRPr lang="en-US" sz="2200" b="1" dirty="0">
                        <a:solidFill>
                          <a:srgbClr val="188037"/>
                        </a:solidFill>
                        <a:effectLst/>
                        <a:latin typeface="Arial MT"/>
                      </a:endParaRPr>
                    </a:p>
                  </a:txBody>
                  <a:tcPr marL="5923" marR="5923" marT="3949"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91440" rtl="0" fontAlgn="b">
                        <a:buNone/>
                      </a:pPr>
                      <a:r>
                        <a:rPr lang="en-US" sz="2200" dirty="0">
                          <a:effectLst/>
                        </a:rPr>
                        <a:t>Includes code if a condition is true</a:t>
                      </a:r>
                      <a:endParaRPr lang="en-US" sz="2200" dirty="0">
                        <a:effectLst/>
                        <a:latin typeface="Arial MT"/>
                      </a:endParaRPr>
                    </a:p>
                  </a:txBody>
                  <a:tcPr marL="5923" marR="5923" marT="3949"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91440" rtl="0" fontAlgn="b">
                        <a:buNone/>
                      </a:pPr>
                      <a:r>
                        <a:rPr lang="en-US" sz="2200" dirty="0">
                          <a:effectLst/>
                        </a:rPr>
                        <a:t>DEBUG == 1</a:t>
                      </a:r>
                      <a:endParaRPr lang="en-US" sz="2200" dirty="0">
                        <a:effectLst/>
                        <a:latin typeface="Arial MT"/>
                      </a:endParaRPr>
                    </a:p>
                  </a:txBody>
                  <a:tcPr marL="5923" marR="5923" marT="3949"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115829258"/>
                  </a:ext>
                </a:extLst>
              </a:tr>
              <a:tr h="561413">
                <a:tc>
                  <a:txBody>
                    <a:bodyPr/>
                    <a:lstStyle/>
                    <a:p>
                      <a:pPr marL="91440" rtl="0" fontAlgn="b">
                        <a:buNone/>
                      </a:pPr>
                      <a:r>
                        <a:rPr lang="en-US" sz="2200" b="1" dirty="0">
                          <a:solidFill>
                            <a:srgbClr val="188037"/>
                          </a:solidFill>
                          <a:effectLst/>
                        </a:rPr>
                        <a:t>#ifdef</a:t>
                      </a:r>
                      <a:endParaRPr lang="en-US" sz="2200" b="1" dirty="0">
                        <a:solidFill>
                          <a:srgbClr val="188037"/>
                        </a:solidFill>
                        <a:effectLst/>
                        <a:latin typeface="Arial MT"/>
                      </a:endParaRPr>
                    </a:p>
                  </a:txBody>
                  <a:tcPr marL="5923" marR="5923" marT="3949"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91440" rtl="0" fontAlgn="b">
                        <a:buNone/>
                      </a:pPr>
                      <a:r>
                        <a:rPr lang="en-US" sz="2200" dirty="0">
                          <a:effectLst/>
                        </a:rPr>
                        <a:t>Includes code if a macro is defined</a:t>
                      </a:r>
                      <a:endParaRPr lang="en-US" sz="2200" dirty="0">
                        <a:effectLst/>
                        <a:latin typeface="Arial MT"/>
                      </a:endParaRPr>
                    </a:p>
                  </a:txBody>
                  <a:tcPr marL="5923" marR="5923" marT="3949"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91440" rtl="0" fontAlgn="b">
                        <a:buNone/>
                      </a:pPr>
                      <a:r>
                        <a:rPr lang="en-US" sz="2200" dirty="0">
                          <a:effectLst/>
                        </a:rPr>
                        <a:t>_WIN32 detection</a:t>
                      </a:r>
                      <a:endParaRPr lang="en-US" sz="2200" dirty="0">
                        <a:effectLst/>
                        <a:latin typeface="Arial MT"/>
                      </a:endParaRPr>
                    </a:p>
                  </a:txBody>
                  <a:tcPr marL="0" marR="0" marT="3949"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79876433"/>
                  </a:ext>
                </a:extLst>
              </a:tr>
              <a:tr h="561413">
                <a:tc>
                  <a:txBody>
                    <a:bodyPr/>
                    <a:lstStyle/>
                    <a:p>
                      <a:pPr marL="91440" rtl="0" fontAlgn="b">
                        <a:buNone/>
                      </a:pPr>
                      <a:r>
                        <a:rPr lang="en-US" sz="2200" b="1" dirty="0">
                          <a:solidFill>
                            <a:srgbClr val="188037"/>
                          </a:solidFill>
                          <a:effectLst/>
                        </a:rPr>
                        <a:t>#ifndef</a:t>
                      </a:r>
                      <a:endParaRPr lang="en-US" sz="2200" b="1" dirty="0">
                        <a:solidFill>
                          <a:srgbClr val="188037"/>
                        </a:solidFill>
                        <a:effectLst/>
                        <a:latin typeface="Arial MT"/>
                      </a:endParaRPr>
                    </a:p>
                  </a:txBody>
                  <a:tcPr marL="5923" marR="5923" marT="3949"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91440" rtl="0" fontAlgn="b">
                        <a:buNone/>
                      </a:pPr>
                      <a:r>
                        <a:rPr lang="en-US" sz="2200" dirty="0">
                          <a:effectLst/>
                        </a:rPr>
                        <a:t>Includes code if a macro is not defined</a:t>
                      </a:r>
                      <a:endParaRPr lang="en-US" sz="2200" dirty="0">
                        <a:effectLst/>
                        <a:latin typeface="Arial MT"/>
                      </a:endParaRPr>
                    </a:p>
                  </a:txBody>
                  <a:tcPr marL="5923" marR="5923" marT="3949"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91440" rtl="0" fontAlgn="b">
                        <a:buNone/>
                      </a:pPr>
                      <a:r>
                        <a:rPr lang="en-US" sz="2200" dirty="0">
                          <a:effectLst/>
                        </a:rPr>
                        <a:t>Providing default values</a:t>
                      </a:r>
                      <a:endParaRPr lang="en-US" sz="2200" dirty="0">
                        <a:effectLst/>
                        <a:latin typeface="Arial MT"/>
                      </a:endParaRPr>
                    </a:p>
                  </a:txBody>
                  <a:tcPr marL="0" marR="0" marT="3949" marB="3949" anchor="ct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862620"/>
                  </a:ext>
                </a:extLst>
              </a:tr>
              <a:tr h="469545">
                <a:tc>
                  <a:txBody>
                    <a:bodyPr/>
                    <a:lstStyle/>
                    <a:p>
                      <a:pPr marL="91440" rtl="0" fontAlgn="b">
                        <a:buNone/>
                      </a:pPr>
                      <a:r>
                        <a:rPr lang="en-US" sz="2200" b="1" dirty="0">
                          <a:solidFill>
                            <a:srgbClr val="188037"/>
                          </a:solidFill>
                          <a:effectLst/>
                        </a:rPr>
                        <a:t>#undef</a:t>
                      </a:r>
                      <a:endParaRPr lang="en-US" sz="2200" b="1" dirty="0">
                        <a:solidFill>
                          <a:srgbClr val="188037"/>
                        </a:solidFill>
                        <a:effectLst/>
                        <a:latin typeface="Arial MT"/>
                      </a:endParaRPr>
                    </a:p>
                  </a:txBody>
                  <a:tcPr marL="5923" marR="5923" marT="3949" marB="3949" anchor="ctr">
                    <a:lnT w="9525" cap="flat" cmpd="sng" algn="ctr">
                      <a:solidFill>
                        <a:schemeClr val="bg1">
                          <a:lumMod val="75000"/>
                        </a:schemeClr>
                      </a:solidFill>
                      <a:prstDash val="solid"/>
                      <a:round/>
                      <a:headEnd type="none" w="med" len="med"/>
                      <a:tailEnd type="none" w="med" len="med"/>
                    </a:lnT>
                  </a:tcPr>
                </a:tc>
                <a:tc>
                  <a:txBody>
                    <a:bodyPr/>
                    <a:lstStyle/>
                    <a:p>
                      <a:pPr marL="91440" rtl="0" fontAlgn="b">
                        <a:buNone/>
                      </a:pPr>
                      <a:r>
                        <a:rPr lang="en-US" sz="2200" dirty="0">
                          <a:effectLst/>
                        </a:rPr>
                        <a:t>Removes a macro definition</a:t>
                      </a:r>
                      <a:endParaRPr lang="en-US" sz="2200" dirty="0">
                        <a:effectLst/>
                        <a:latin typeface="Arial MT"/>
                      </a:endParaRPr>
                    </a:p>
                  </a:txBody>
                  <a:tcPr marL="5923" marR="5923" marT="3949" marB="3949" anchor="ctr">
                    <a:lnT w="9525" cap="flat" cmpd="sng" algn="ctr">
                      <a:solidFill>
                        <a:schemeClr val="bg1">
                          <a:lumMod val="75000"/>
                        </a:schemeClr>
                      </a:solidFill>
                      <a:prstDash val="solid"/>
                      <a:round/>
                      <a:headEnd type="none" w="med" len="med"/>
                      <a:tailEnd type="none" w="med" len="med"/>
                    </a:lnT>
                  </a:tcPr>
                </a:tc>
                <a:tc>
                  <a:txBody>
                    <a:bodyPr/>
                    <a:lstStyle/>
                    <a:p>
                      <a:pPr marL="91440" rtl="0" fontAlgn="b">
                        <a:buNone/>
                      </a:pPr>
                      <a:r>
                        <a:rPr lang="en-US" sz="2200" dirty="0">
                          <a:effectLst/>
                        </a:rPr>
                        <a:t>Freeing a name for local use</a:t>
                      </a:r>
                      <a:endParaRPr lang="en-US" sz="2200" dirty="0">
                        <a:effectLst/>
                        <a:latin typeface="Arial MT"/>
                      </a:endParaRPr>
                    </a:p>
                  </a:txBody>
                  <a:tcPr marL="0" marR="0" marT="3949" marB="3949" anchor="ctr">
                    <a:lnT w="9525"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860500145"/>
                  </a:ext>
                </a:extLst>
              </a:tr>
            </a:tbl>
          </a:graphicData>
        </a:graphic>
      </p:graphicFrame>
    </p:spTree>
    <p:extLst>
      <p:ext uri="{BB962C8B-B14F-4D97-AF65-F5344CB8AC3E}">
        <p14:creationId xmlns:p14="http://schemas.microsoft.com/office/powerpoint/2010/main" val="27005745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2761ec8-7198-4440-bea0-e9dd2af28b51}" enabled="1" method="Standard" siteId="{73e15cf5-5dbb-46af-a862-753916269d73}" contentBits="0" removed="0"/>
</clbl:labelList>
</file>

<file path=docProps/app.xml><?xml version="1.0" encoding="utf-8"?>
<Properties xmlns="http://schemas.openxmlformats.org/officeDocument/2006/extended-properties" xmlns:vt="http://schemas.openxmlformats.org/officeDocument/2006/docPropsVTypes">
  <Template/>
  <TotalTime>71</TotalTime>
  <Words>2012</Words>
  <Application>Microsoft Office PowerPoint</Application>
  <PresentationFormat>Widescreen</PresentationFormat>
  <Paragraphs>283</Paragraphs>
  <Slides>17</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Arial MT</vt:lpstr>
      <vt:lpstr>Courier New</vt:lpstr>
      <vt:lpstr>Georgia</vt:lpstr>
      <vt:lpstr>Office Theme</vt:lpstr>
      <vt:lpstr>CSC 362: System Programming</vt:lpstr>
      <vt:lpstr>Status Check</vt:lpstr>
      <vt:lpstr>C Preprocessor Overview</vt:lpstr>
      <vt:lpstr>C Preprocessor Steps</vt:lpstr>
      <vt:lpstr>C Preprocessor Preprocessor Directives</vt:lpstr>
      <vt:lpstr>C Preprocessor Preprocessor Directives</vt:lpstr>
      <vt:lpstr>C Preprocessor Preprocessor Directives</vt:lpstr>
      <vt:lpstr>C Preprocessor Preprocessor Directives</vt:lpstr>
      <vt:lpstr>C Preprocessor Preprocessor Directives</vt:lpstr>
      <vt:lpstr>C Preprocessor Macro Expansion</vt:lpstr>
      <vt:lpstr>C Preprocessor Macro Expansion</vt:lpstr>
      <vt:lpstr>C Preprocessor Macro Expansion</vt:lpstr>
      <vt:lpstr>C Preprocessor File Inclusion</vt:lpstr>
      <vt:lpstr>C Preprocessor File Inclusion</vt:lpstr>
      <vt:lpstr>C Preprocessor File Inclusion</vt:lpstr>
      <vt:lpstr>C Preprocessor File Inclusion</vt:lpstr>
      <vt:lpstr>Summary Table of C Preprocessor Directives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CSC362 - Lecture 7.pptx</dc:title>
  <cp:lastModifiedBy>Richard Johnson</cp:lastModifiedBy>
  <cp:revision>67</cp:revision>
  <dcterms:created xsi:type="dcterms:W3CDTF">2026-01-14T00:58:40Z</dcterms:created>
  <dcterms:modified xsi:type="dcterms:W3CDTF">2026-02-09T14:50:05Z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2026-01-14T00:00:00Z</vt:filetime>
  </property>
  <property fmtid="{D5CDD505-2E9C-101B-9397-08002B2CF9AE}" pid="3" name="Creator">
    <vt:lpwstr>Google</vt:lpwstr>
  </property>
  <property fmtid="{D5CDD505-2E9C-101B-9397-08002B2CF9AE}" pid="4" name="LastSaved">
    <vt:filetime>2026-01-14T00:00:00Z</vt:filetime>
  </property>
</Properties>
</file>