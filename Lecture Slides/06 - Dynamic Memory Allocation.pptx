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6065" autoAdjust="0"/>
  </p:normalViewPr>
  <p:slideViewPr>
    <p:cSldViewPr>
      <p:cViewPr varScale="1">
        <p:scale>
          <a:sx n="52" d="100"/>
          <a:sy n="52" d="100"/>
        </p:scale>
        <p:origin x="1766" y="3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-100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F2E720-C245-44A9-8308-C689E449D10E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7F9967-F352-4302-BAF0-94AF67611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330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Covers</a:t>
            </a:r>
            <a:r>
              <a:rPr lang="en-US" dirty="0"/>
              <a:t>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en-US" dirty="0"/>
              <a:t> family of functions: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calloc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realloc</a:t>
            </a:r>
            <a:r>
              <a:rPr lang="en-US" dirty="0"/>
              <a:t>,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en-US" dirty="0"/>
              <a:t>.</a:t>
            </a:r>
          </a:p>
          <a:p>
            <a:r>
              <a:rPr lang="en-US" b="1" dirty="0"/>
              <a:t>Topics</a:t>
            </a:r>
            <a:r>
              <a:rPr lang="en-US" dirty="0"/>
              <a:t> include common bugs like double frees and dangling pointers.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9390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Understanding malloc</a:t>
            </a:r>
            <a:endParaRPr lang="en-US" dirty="0"/>
          </a:p>
          <a:p>
            <a:r>
              <a:rPr lang="en-US" dirty="0"/>
              <a:t>Used for dynamic memory allocation on the </a:t>
            </a:r>
            <a:r>
              <a:rPr lang="en-US" b="1" dirty="0"/>
              <a:t>heap</a:t>
            </a:r>
            <a:r>
              <a:rPr lang="en-US" dirty="0"/>
              <a:t>.</a:t>
            </a:r>
          </a:p>
          <a:p>
            <a:r>
              <a:rPr lang="en-US" dirty="0"/>
              <a:t>Allocates a specified number of bytes and returns a pointer to the start of the block.</a:t>
            </a:r>
          </a:p>
          <a:p>
            <a:r>
              <a:rPr lang="en-US" dirty="0"/>
              <a:t>The return value should be cast to the appropriate pointer type.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5849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does malloc works?</a:t>
            </a:r>
            <a:endParaRPr lang="en-US" dirty="0"/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Uses system calls like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sbrk</a:t>
            </a:r>
            <a:r>
              <a:rPr lang="en-US" dirty="0"/>
              <a:t> or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mmap</a:t>
            </a:r>
            <a:r>
              <a:rPr lang="en-US" dirty="0"/>
              <a:t> to request memory from the OS.</a:t>
            </a:r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Manages memory via metadata (often using linked lists) to track free and allocated blocks.</a:t>
            </a:r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Efficiently splits large blocks or combines (coalesces) adjacent free blocks.</a:t>
            </a:r>
          </a:p>
          <a:p>
            <a:endParaRPr lang="en-US" dirty="0"/>
          </a:p>
          <a:p>
            <a:r>
              <a:rPr lang="en-US" b="1" u="sng" dirty="0"/>
              <a:t>For reference:</a:t>
            </a:r>
          </a:p>
          <a:p>
            <a:endParaRPr lang="en-US" dirty="0"/>
          </a:p>
          <a:p>
            <a:r>
              <a:rPr lang="en-US" b="1" dirty="0" err="1"/>
              <a:t>sbrk</a:t>
            </a:r>
            <a:r>
              <a:rPr lang="en-US" b="1" dirty="0"/>
              <a:t>: </a:t>
            </a:r>
          </a:p>
          <a:p>
            <a:r>
              <a:rPr lang="en-US" dirty="0"/>
              <a:t>The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sbrk</a:t>
            </a:r>
            <a:r>
              <a:rPr lang="en-US" dirty="0"/>
              <a:t> system call is the traditional way to manage the </a:t>
            </a:r>
            <a:r>
              <a:rPr lang="en-US" b="1" dirty="0"/>
              <a:t>heap</a:t>
            </a:r>
            <a:r>
              <a:rPr lang="en-US" dirty="0"/>
              <a:t>. </a:t>
            </a:r>
          </a:p>
          <a:p>
            <a:r>
              <a:rPr lang="en-US" dirty="0"/>
              <a:t>It changes the location of the "program break," </a:t>
            </a:r>
          </a:p>
          <a:p>
            <a:r>
              <a:rPr lang="en-US" dirty="0"/>
              <a:t>which is the address that marks the end of the process's data segment.</a:t>
            </a:r>
          </a:p>
          <a:p>
            <a:endParaRPr lang="en-US" dirty="0"/>
          </a:p>
          <a:p>
            <a:r>
              <a:rPr lang="en-US" b="1" dirty="0" err="1"/>
              <a:t>mmap</a:t>
            </a:r>
            <a:r>
              <a:rPr lang="en-US" b="1" dirty="0"/>
              <a:t>:</a:t>
            </a:r>
          </a:p>
          <a:p>
            <a:r>
              <a:rPr lang="en-US" dirty="0"/>
              <a:t>The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mmap</a:t>
            </a:r>
            <a:r>
              <a:rPr lang="en-US" dirty="0"/>
              <a:t> system call creates a new </a:t>
            </a:r>
            <a:r>
              <a:rPr lang="en-US" b="1" dirty="0"/>
              <a:t>mapping</a:t>
            </a:r>
            <a:r>
              <a:rPr lang="en-US" dirty="0"/>
              <a:t> in the process's virtual address space.</a:t>
            </a:r>
          </a:p>
          <a:p>
            <a:r>
              <a:rPr lang="en-US" dirty="0"/>
              <a:t>It can map files directly into memory or create "anonymous" mappings (blocks of RAM not backed by a file).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2805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Code Example #1 (Introduction)</a:t>
            </a:r>
          </a:p>
          <a:p>
            <a:r>
              <a:rPr lang="en-US" dirty="0"/>
              <a:t>Demonstrates allocating an integer array, initializing it, printing it, and then freeing it.</a:t>
            </a:r>
          </a:p>
          <a:p>
            <a:endParaRPr lang="en-US" dirty="0"/>
          </a:p>
          <a:p>
            <a:r>
              <a:rPr lang="en-US" b="1" dirty="0"/>
              <a:t>See examples:</a:t>
            </a:r>
          </a:p>
          <a:p>
            <a:r>
              <a:rPr lang="en-US" b="0" dirty="0" err="1"/>
              <a:t>static_allocation.c</a:t>
            </a:r>
            <a:br>
              <a:rPr lang="en-US" b="0" dirty="0"/>
            </a:br>
            <a:r>
              <a:rPr lang="en-US" dirty="0" err="1"/>
              <a:t>dynamic_allocation.c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1458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Key Differences: Static vs. Dynamic</a:t>
            </a:r>
            <a:endParaRPr lang="en-US" dirty="0"/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Dynamic memory is on the heap; </a:t>
            </a:r>
            <a:br>
              <a:rPr lang="en-US" dirty="0"/>
            </a:br>
            <a:r>
              <a:rPr lang="en-US" dirty="0"/>
              <a:t>Static is on the stack.</a:t>
            </a:r>
          </a:p>
          <a:p>
            <a:pPr marL="228600" indent="-228600">
              <a:buFont typeface="+mj-lt"/>
              <a:buAutoNum type="arabicPeriod"/>
            </a:pPr>
            <a:endParaRPr lang="en-US" dirty="0"/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Size can be determined at runtime (e.g., based on user input), </a:t>
            </a:r>
            <a:br>
              <a:rPr lang="en-US" dirty="0"/>
            </a:br>
            <a:r>
              <a:rPr lang="en-US" dirty="0"/>
              <a:t>whereas static size is fixed at compile time.</a:t>
            </a:r>
          </a:p>
          <a:p>
            <a:pPr marL="228600" indent="-228600">
              <a:buFont typeface="+mj-lt"/>
              <a:buAutoNum type="arabicPeriod"/>
            </a:pPr>
            <a:endParaRPr lang="en-US" dirty="0"/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Manual cleanup using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en-US" dirty="0"/>
              <a:t> is mandatory for dynamic memory.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965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Compilation and Monitoring</a:t>
            </a:r>
          </a:p>
          <a:p>
            <a:endParaRPr lang="en-US" dirty="0"/>
          </a:p>
          <a:p>
            <a:r>
              <a:rPr lang="en-US" u="sng" dirty="0"/>
              <a:t>Commands to run: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malloc_test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malloc_test.c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u="sng" dirty="0"/>
              <a:t>Tools for real-time monitoring: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top -o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rsize</a:t>
            </a:r>
            <a:r>
              <a:rPr lang="en-US" dirty="0"/>
              <a:t> (resident memory) and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ps</a:t>
            </a:r>
            <a:r>
              <a:rPr lang="en-US" dirty="0"/>
              <a:t> to check PID and memory usage (RSS vs VSZ).</a:t>
            </a:r>
          </a:p>
          <a:p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u="sng" dirty="0"/>
              <a:t>For reference:</a:t>
            </a:r>
          </a:p>
          <a:p>
            <a:endParaRPr lang="en-US" dirty="0"/>
          </a:p>
          <a:p>
            <a:r>
              <a:rPr lang="en-US" b="1" dirty="0"/>
              <a:t>top: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MacOS: top -o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rsize</a:t>
            </a:r>
            <a:r>
              <a:rPr lang="en-US" dirty="0"/>
              <a:t> </a:t>
            </a:r>
          </a:p>
          <a:p>
            <a:r>
              <a:rPr lang="en-US" dirty="0"/>
              <a:t>Linux: top –o RES</a:t>
            </a:r>
          </a:p>
          <a:p>
            <a:r>
              <a:rPr lang="en-US" dirty="0"/>
              <a:t>Sorts processes by memory percentage (%MEM).</a:t>
            </a:r>
          </a:p>
          <a:p>
            <a:endParaRPr lang="en-US" dirty="0"/>
          </a:p>
          <a:p>
            <a:r>
              <a:rPr lang="en-US" b="1" dirty="0" err="1"/>
              <a:t>vmmap</a:t>
            </a:r>
            <a:r>
              <a:rPr lang="en-US" b="1" dirty="0"/>
              <a:t>:</a:t>
            </a:r>
          </a:p>
          <a:p>
            <a:r>
              <a:rPr lang="en-US" dirty="0"/>
              <a:t>MacOS: </a:t>
            </a:r>
            <a:r>
              <a:rPr lang="en-US" dirty="0" err="1"/>
              <a:t>vmmap</a:t>
            </a:r>
            <a:endParaRPr lang="en-US" dirty="0"/>
          </a:p>
          <a:p>
            <a:r>
              <a:rPr lang="en-US" dirty="0"/>
              <a:t>Linux: </a:t>
            </a:r>
            <a:r>
              <a:rPr lang="en-US" dirty="0" err="1"/>
              <a:t>pmap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RSS (Resident Set Size)</a:t>
            </a:r>
          </a:p>
          <a:p>
            <a:r>
              <a:rPr lang="en-US" dirty="0"/>
              <a:t>This is the </a:t>
            </a:r>
            <a:r>
              <a:rPr lang="en-US" b="1" dirty="0"/>
              <a:t>actual physical RAM</a:t>
            </a:r>
            <a:r>
              <a:rPr lang="en-US" dirty="0"/>
              <a:t> the process is using at this exact moment.</a:t>
            </a:r>
          </a:p>
          <a:p>
            <a:endParaRPr lang="en-US" dirty="0"/>
          </a:p>
          <a:p>
            <a:r>
              <a:rPr lang="en-US" b="1" dirty="0"/>
              <a:t>VSZ (Virtual Memory Size)</a:t>
            </a:r>
          </a:p>
          <a:p>
            <a:r>
              <a:rPr lang="en-US" dirty="0"/>
              <a:t>This is the </a:t>
            </a:r>
            <a:r>
              <a:rPr lang="en-US" b="1" dirty="0"/>
              <a:t>total address space</a:t>
            </a:r>
            <a:r>
              <a:rPr lang="en-US" dirty="0"/>
              <a:t> the process has access to.</a:t>
            </a:r>
          </a:p>
          <a:p>
            <a:endParaRPr lang="en-US" dirty="0"/>
          </a:p>
          <a:p>
            <a:r>
              <a:rPr lang="en-US" b="1" dirty="0"/>
              <a:t>grep: </a:t>
            </a:r>
            <a:r>
              <a:rPr lang="en-US" b="0" dirty="0"/>
              <a:t>(</a:t>
            </a:r>
            <a:r>
              <a:rPr lang="en-US" b="1" dirty="0"/>
              <a:t>G</a:t>
            </a:r>
            <a:r>
              <a:rPr lang="en-US" dirty="0"/>
              <a:t>lobal </a:t>
            </a:r>
            <a:r>
              <a:rPr lang="en-US" b="1" dirty="0"/>
              <a:t>R</a:t>
            </a:r>
            <a:r>
              <a:rPr lang="en-US" dirty="0"/>
              <a:t>egular </a:t>
            </a:r>
            <a:r>
              <a:rPr lang="en-US" b="1" dirty="0"/>
              <a:t>E</a:t>
            </a:r>
            <a:r>
              <a:rPr lang="en-US" dirty="0"/>
              <a:t>xpression </a:t>
            </a:r>
            <a:r>
              <a:rPr lang="en-US" b="1" dirty="0"/>
              <a:t>P</a:t>
            </a:r>
            <a:r>
              <a:rPr lang="en-US" dirty="0"/>
              <a:t>rint.)</a:t>
            </a:r>
          </a:p>
          <a:p>
            <a:r>
              <a:rPr lang="en-US" dirty="0"/>
              <a:t>It searches through files (or input piped from other commands) </a:t>
            </a:r>
          </a:p>
          <a:p>
            <a:r>
              <a:rPr lang="en-US" dirty="0"/>
              <a:t>for lines that match a specific pattern and prints those lines to your terminal.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0680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Code Example #2 (Pointer Sizing)</a:t>
            </a:r>
          </a:p>
          <a:p>
            <a:r>
              <a:rPr lang="en-US" dirty="0"/>
              <a:t>Demonstrates different ways to calculate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en-US" dirty="0"/>
              <a:t> size: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 *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(int)</a:t>
            </a:r>
            <a:r>
              <a:rPr lang="en-US" dirty="0"/>
              <a:t> or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(int[4])</a:t>
            </a:r>
            <a:r>
              <a:rPr lang="en-US" dirty="0"/>
              <a:t> </a:t>
            </a:r>
          </a:p>
          <a:p>
            <a:r>
              <a:rPr lang="en-US" dirty="0"/>
              <a:t>or the safer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 *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*pointer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Handling Allocation Failures</a:t>
            </a:r>
            <a:r>
              <a:rPr lang="en-US" b="0" dirty="0"/>
              <a:t>:</a:t>
            </a:r>
          </a:p>
          <a:p>
            <a:r>
              <a:rPr lang="en-US" dirty="0"/>
              <a:t>If </a:t>
            </a:r>
            <a:r>
              <a:rPr lang="en-US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en-US" dirty="0"/>
              <a:t> fails, it returns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en-US" dirty="0"/>
              <a:t>. </a:t>
            </a:r>
          </a:p>
          <a:p>
            <a:r>
              <a:rPr lang="en-US" dirty="0"/>
              <a:t>Accessing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en-US" dirty="0"/>
              <a:t> pointer will cause a crash.</a:t>
            </a:r>
          </a:p>
          <a:p>
            <a:endParaRPr lang="en-US" dirty="0"/>
          </a:p>
          <a:p>
            <a:r>
              <a:rPr lang="en-US" b="1" u="none" dirty="0"/>
              <a:t>Best practice:</a:t>
            </a:r>
          </a:p>
          <a:p>
            <a:r>
              <a:rPr lang="en-US" dirty="0"/>
              <a:t>Check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en-US" dirty="0"/>
              <a:t> and, if found, print an error to </a:t>
            </a:r>
            <a:r>
              <a:rPr lang="en-US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stderr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en-US" dirty="0"/>
              <a:t> any previously allocated blocks and exit with an error code.</a:t>
            </a:r>
          </a:p>
          <a:p>
            <a:endParaRPr lang="en-US" dirty="0"/>
          </a:p>
          <a:p>
            <a:r>
              <a:rPr lang="en-US" b="1" dirty="0"/>
              <a:t>See example:</a:t>
            </a:r>
          </a:p>
          <a:p>
            <a:r>
              <a:rPr lang="en-US" dirty="0"/>
              <a:t>malloc_demo_1.c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malloc_demo_2.c </a:t>
            </a:r>
            <a:r>
              <a:rPr lang="en-US" i="1" dirty="0"/>
              <a:t>(optional)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---</a:t>
            </a:r>
          </a:p>
          <a:p>
            <a:r>
              <a:rPr lang="en-US" b="1" dirty="0"/>
              <a:t>Long-form Description:</a:t>
            </a:r>
          </a:p>
          <a:p>
            <a:endParaRPr lang="en-US" dirty="0"/>
          </a:p>
          <a:p>
            <a:r>
              <a:rPr lang="en-US" dirty="0"/>
              <a:t>In C programming,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en-US" dirty="0"/>
              <a:t> function is used to allocate a specific number of bytes of uninitialized storage. </a:t>
            </a:r>
          </a:p>
          <a:p>
            <a:r>
              <a:rPr lang="en-US" dirty="0"/>
              <a:t>The code snippets you provided illustrate different ways to calculate that "size" parameter and how to handle the function's return value.</a:t>
            </a:r>
          </a:p>
          <a:p>
            <a:endParaRPr lang="en-US" dirty="0"/>
          </a:p>
          <a:p>
            <a:r>
              <a:rPr lang="en-US" b="1" dirty="0"/>
              <a:t>Allocation Methods</a:t>
            </a:r>
          </a:p>
          <a:p>
            <a:r>
              <a:rPr lang="en-US" dirty="0"/>
              <a:t>The first image shows three common ways to allocate space for 4 integers:</a:t>
            </a:r>
          </a:p>
          <a:p>
            <a:r>
              <a:rPr lang="en-US" b="1" dirty="0"/>
              <a:t>Method 1 (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p1</a:t>
            </a:r>
            <a:r>
              <a:rPr lang="en-US" b="1" dirty="0"/>
              <a:t>):</a:t>
            </a:r>
            <a:r>
              <a:rPr lang="en-US" dirty="0"/>
              <a:t> Explicitly multiplies the number of elements by the size of the type: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 *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(int)</a:t>
            </a:r>
            <a:r>
              <a:rPr lang="en-US" dirty="0"/>
              <a:t>.</a:t>
            </a:r>
          </a:p>
          <a:p>
            <a:r>
              <a:rPr lang="en-US" b="1" dirty="0"/>
              <a:t>Method 2 (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p2</a:t>
            </a:r>
            <a:r>
              <a:rPr lang="en-US" b="1" dirty="0"/>
              <a:t>):</a:t>
            </a:r>
            <a:r>
              <a:rPr lang="en-US" dirty="0"/>
              <a:t> Uses the size of an array type directly: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(int[4])</a:t>
            </a:r>
            <a:r>
              <a:rPr lang="en-US" dirty="0"/>
              <a:t>.</a:t>
            </a:r>
          </a:p>
          <a:p>
            <a:r>
              <a:rPr lang="en-US" b="1" dirty="0"/>
              <a:t>Method 3 (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p3</a:t>
            </a:r>
            <a:r>
              <a:rPr lang="en-US" b="1" dirty="0"/>
              <a:t>):</a:t>
            </a:r>
            <a:r>
              <a:rPr lang="en-US" dirty="0"/>
              <a:t> Uses the size of the dereferenced pointer: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 *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*p3</a:t>
            </a:r>
            <a:r>
              <a:rPr lang="en-US" dirty="0"/>
              <a:t>. </a:t>
            </a:r>
          </a:p>
          <a:p>
            <a:r>
              <a:rPr lang="en-US" dirty="0"/>
              <a:t>This is often considered the safest method because it automatically adjusts if the pointer's type is changed later.</a:t>
            </a:r>
          </a:p>
          <a:p>
            <a:endParaRPr lang="en-US" dirty="0"/>
          </a:p>
          <a:p>
            <a:r>
              <a:rPr lang="en-US" b="1" dirty="0"/>
              <a:t>Handling the Return Value</a:t>
            </a:r>
          </a:p>
          <a:p>
            <a:r>
              <a:rPr lang="en-US" dirty="0"/>
              <a:t>When you call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en-US" dirty="0"/>
              <a:t>, it is crucial to verify if the operation succeeded:</a:t>
            </a:r>
          </a:p>
          <a:p>
            <a:r>
              <a:rPr lang="en-US" b="1" dirty="0"/>
              <a:t>Success:</a:t>
            </a:r>
            <a:r>
              <a:rPr lang="en-US" dirty="0"/>
              <a:t> It returns a pointer to the beginning of the newly allocated memory.</a:t>
            </a:r>
          </a:p>
          <a:p>
            <a:r>
              <a:rPr lang="en-US" b="1" dirty="0"/>
              <a:t>Failure:</a:t>
            </a:r>
            <a:r>
              <a:rPr lang="en-US" dirty="0"/>
              <a:t> It returns a </a:t>
            </a:r>
            <a:r>
              <a:rPr lang="en-US" b="1" dirty="0"/>
              <a:t>null pointer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 second image demonstrates robust error handling. </a:t>
            </a:r>
          </a:p>
          <a:p>
            <a:r>
              <a:rPr lang="en-US" dirty="0"/>
              <a:t>If any of the pointers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p1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p2</a:t>
            </a:r>
            <a:r>
              <a:rPr lang="en-US" dirty="0"/>
              <a:t>, 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p3</a:t>
            </a:r>
            <a:r>
              <a:rPr lang="en-US" dirty="0"/>
              <a:t>) are null, the program prints an error message and terminates. </a:t>
            </a:r>
          </a:p>
          <a:p>
            <a:r>
              <a:rPr lang="en-US" dirty="0"/>
              <a:t>Importantly, it also calls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free()</a:t>
            </a:r>
            <a:r>
              <a:rPr lang="en-US" dirty="0"/>
              <a:t> on the pointers. </a:t>
            </a:r>
          </a:p>
          <a:p>
            <a:r>
              <a:rPr lang="en-US" dirty="0"/>
              <a:t>Passing a null pointer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free()</a:t>
            </a:r>
            <a:r>
              <a:rPr lang="en-US" dirty="0"/>
              <a:t> is safe and does nothing, </a:t>
            </a:r>
          </a:p>
          <a:p>
            <a:r>
              <a:rPr lang="en-US" dirty="0"/>
              <a:t>while passing a valid pointer ensures that memory successfully allocated </a:t>
            </a:r>
          </a:p>
          <a:p>
            <a:r>
              <a:rPr lang="en-US" dirty="0"/>
              <a:t>before the failure is properly released to avoid </a:t>
            </a:r>
            <a:r>
              <a:rPr lang="en-US" b="1" dirty="0"/>
              <a:t>memory leaks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9404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calloc</a:t>
            </a:r>
            <a:r>
              <a:rPr lang="en-US" b="1" dirty="0"/>
              <a:t> Overview</a:t>
            </a:r>
            <a:endParaRPr lang="en-US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calloc</a:t>
            </a:r>
            <a:r>
              <a:rPr lang="en-US" dirty="0"/>
              <a:t> (Contiguous Allocation) allocates memory and automatically initializes all bits to zero.</a:t>
            </a:r>
          </a:p>
          <a:p>
            <a:endParaRPr lang="en-US" b="1" dirty="0"/>
          </a:p>
          <a:p>
            <a:r>
              <a:rPr lang="en-US" b="1" dirty="0"/>
              <a:t>Key Concepts</a:t>
            </a:r>
            <a:r>
              <a:rPr lang="en-US" b="0" dirty="0"/>
              <a:t>:</a:t>
            </a:r>
          </a:p>
          <a:p>
            <a:r>
              <a:rPr lang="en-US" dirty="0"/>
              <a:t>While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en-US" dirty="0"/>
              <a:t> provides uninitialized storage, these new images introduce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calloc</a:t>
            </a:r>
            <a:r>
              <a:rPr lang="en-US" dirty="0"/>
              <a:t>, </a:t>
            </a:r>
          </a:p>
          <a:p>
            <a:r>
              <a:rPr lang="en-US" dirty="0"/>
              <a:t>which serves a similar purpose with two distinct differences:</a:t>
            </a:r>
          </a:p>
          <a:p>
            <a:endParaRPr lang="en-US" b="1" dirty="0"/>
          </a:p>
          <a:p>
            <a:r>
              <a:rPr lang="en-US" b="1" dirty="0"/>
              <a:t>Initialization:</a:t>
            </a:r>
            <a:r>
              <a:rPr lang="en-US" dirty="0"/>
              <a:t> </a:t>
            </a:r>
          </a:p>
          <a:p>
            <a:r>
              <a:rPr lang="en-US" dirty="0"/>
              <a:t>Unlike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calloc</a:t>
            </a:r>
            <a:r>
              <a:rPr lang="en-US" dirty="0"/>
              <a:t> initializes all bits of the allocated memory to zero.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9570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Difference Between malloc and </a:t>
            </a:r>
            <a:r>
              <a:rPr lang="en-US" b="1" dirty="0" err="1"/>
              <a:t>calloc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calloc</a:t>
            </a:r>
            <a:r>
              <a:rPr lang="en-US" dirty="0"/>
              <a:t> takes two arguments: number of elements and size per element.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en-US" dirty="0"/>
              <a:t> is faster but leaves memory uninitialized (undefined content).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b="1" dirty="0"/>
              <a:t>Syntax:</a:t>
            </a:r>
            <a:r>
              <a:rPr lang="en-US" dirty="0"/>
              <a:t> </a:t>
            </a:r>
          </a:p>
          <a:p>
            <a:r>
              <a:rPr lang="en-US" dirty="0"/>
              <a:t>It takes two 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number of elements and the size of each element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rather than a single total byte count.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dirty="0"/>
              <a:t>Proper memory management remains vital. </a:t>
            </a:r>
          </a:p>
          <a:p>
            <a:r>
              <a:rPr lang="en-US" dirty="0"/>
              <a:t>In all examples, the code checks if the returned pointer is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en-US" dirty="0"/>
              <a:t> to handle potential allocation failures. </a:t>
            </a:r>
          </a:p>
          <a:p>
            <a:r>
              <a:rPr lang="en-US" dirty="0"/>
              <a:t>Furthermore, calling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free()</a:t>
            </a:r>
            <a:r>
              <a:rPr lang="en-US" dirty="0"/>
              <a:t> is essential to prevent memory leaks.</a:t>
            </a:r>
          </a:p>
          <a:p>
            <a:endParaRPr lang="en-US" dirty="0"/>
          </a:p>
          <a:p>
            <a:r>
              <a:rPr lang="en-US" b="1" dirty="0"/>
              <a:t>See example:</a:t>
            </a:r>
          </a:p>
          <a:p>
            <a:r>
              <a:rPr lang="en-US" dirty="0"/>
              <a:t>contiguous_allocation_1.c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4937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When to Use Which?</a:t>
            </a:r>
            <a:endParaRPr lang="en-US" dirty="0"/>
          </a:p>
          <a:p>
            <a:r>
              <a:rPr lang="en-US" dirty="0"/>
              <a:t>Use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en-US" dirty="0"/>
              <a:t> for speed when initialization isn't needed.</a:t>
            </a:r>
          </a:p>
          <a:p>
            <a:r>
              <a:rPr lang="en-US" dirty="0"/>
              <a:t>Use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calloc</a:t>
            </a:r>
            <a:r>
              <a:rPr lang="en-US" dirty="0"/>
              <a:t> when you need an array or structure to start with default zero values.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327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Code Example #3 (</a:t>
            </a:r>
            <a:r>
              <a:rPr lang="en-US" b="1" dirty="0" err="1"/>
              <a:t>calloc</a:t>
            </a:r>
            <a:r>
              <a:rPr lang="en-US" b="1" dirty="0"/>
              <a:t>)</a:t>
            </a:r>
            <a:endParaRPr lang="en-US" dirty="0"/>
          </a:p>
          <a:p>
            <a:r>
              <a:rPr lang="en-US" dirty="0"/>
              <a:t>Code showing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calloc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(n,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(int))</a:t>
            </a:r>
            <a:r>
              <a:rPr lang="en-US" dirty="0"/>
              <a:t> to ensure every byte is set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en-US" dirty="0"/>
              <a:t> from the start.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See example:</a:t>
            </a:r>
            <a:endParaRPr lang="en-US" dirty="0"/>
          </a:p>
          <a:p>
            <a:r>
              <a:rPr lang="en-US" dirty="0"/>
              <a:t>contiguous_allocation_2.c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6068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Resizing with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realloc</a:t>
            </a:r>
            <a:endParaRPr lang="en-US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b="1" dirty="0"/>
          </a:p>
          <a:p>
            <a:r>
              <a:rPr lang="en-US" b="1" dirty="0" err="1"/>
              <a:t>realloc</a:t>
            </a:r>
            <a:r>
              <a:rPr lang="en-US" b="1" dirty="0"/>
              <a:t> Overview</a:t>
            </a:r>
            <a:endParaRPr lang="en-US" dirty="0"/>
          </a:p>
          <a:p>
            <a:r>
              <a:rPr lang="en-US" dirty="0"/>
              <a:t>Used to grow or shrink existing memory blocks.</a:t>
            </a:r>
          </a:p>
          <a:p>
            <a:endParaRPr lang="en-US" b="1" dirty="0"/>
          </a:p>
          <a:p>
            <a:r>
              <a:rPr lang="en-US" b="1" dirty="0"/>
              <a:t>Function</a:t>
            </a:r>
            <a:r>
              <a:rPr lang="en-US" dirty="0"/>
              <a:t>: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realloc</a:t>
            </a:r>
            <a:r>
              <a:rPr lang="en-US" dirty="0"/>
              <a:t> changes the size of a previously allocated memory block.</a:t>
            </a:r>
          </a:p>
          <a:p>
            <a:endParaRPr lang="en-US" dirty="0"/>
          </a:p>
          <a:p>
            <a:r>
              <a:rPr lang="en-US" b="1" dirty="0"/>
              <a:t>Expansion</a:t>
            </a:r>
            <a:r>
              <a:rPr lang="en-US" dirty="0"/>
              <a:t>: </a:t>
            </a:r>
          </a:p>
          <a:p>
            <a:r>
              <a:rPr lang="en-US" dirty="0"/>
              <a:t>It allows you to increase the size of an array (e.g., from 5 to 10 integers) while attempting to preserve existing data.</a:t>
            </a:r>
          </a:p>
          <a:p>
            <a:endParaRPr lang="en-US" dirty="0"/>
          </a:p>
          <a:p>
            <a:r>
              <a:rPr lang="en-US" b="1" dirty="0"/>
              <a:t>Failure Handling</a:t>
            </a:r>
            <a:r>
              <a:rPr lang="en-US" dirty="0"/>
              <a:t>:</a:t>
            </a:r>
          </a:p>
          <a:p>
            <a:r>
              <a:rPr lang="en-US" dirty="0"/>
              <a:t>Like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en-US" dirty="0"/>
              <a:t>, it can return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en-US" dirty="0"/>
              <a:t> if it cannot find a large enough contiguous block of memory. </a:t>
            </a:r>
          </a:p>
          <a:p>
            <a:r>
              <a:rPr lang="en-US" dirty="0"/>
              <a:t>The program must check for this to prevent crashes.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0550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Reallocation Process</a:t>
            </a:r>
            <a:endParaRPr lang="en-US" dirty="0"/>
          </a:p>
          <a:p>
            <a:r>
              <a:rPr lang="en-US" dirty="0"/>
              <a:t>Code example showing an array resized from 5 integers to 10 integers.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See example:</a:t>
            </a:r>
          </a:p>
          <a:p>
            <a:r>
              <a:rPr lang="en-US" dirty="0" err="1"/>
              <a:t>reallocation.c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933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Preservation of Data</a:t>
            </a:r>
            <a:endParaRPr lang="en-US" dirty="0"/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realloc</a:t>
            </a:r>
            <a:r>
              <a:rPr lang="en-US" dirty="0"/>
              <a:t> preserves existing data up to the size of the smaller block (new or old).</a:t>
            </a:r>
          </a:p>
          <a:p>
            <a:endParaRPr lang="en-US" dirty="0"/>
          </a:p>
          <a:p>
            <a:r>
              <a:rPr lang="en-US" b="1" dirty="0"/>
              <a:t>Error Handling for </a:t>
            </a:r>
            <a:r>
              <a:rPr lang="en-US" b="1" dirty="0" err="1"/>
              <a:t>realloc</a:t>
            </a:r>
            <a:endParaRPr lang="en-US" dirty="0"/>
          </a:p>
          <a:p>
            <a:r>
              <a:rPr lang="en-US" u="sng" dirty="0"/>
              <a:t>Crucial:</a:t>
            </a:r>
            <a:r>
              <a:rPr lang="en-US" u="none" dirty="0"/>
              <a:t> </a:t>
            </a:r>
            <a:r>
              <a:rPr lang="en-US" dirty="0"/>
              <a:t>If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realloc</a:t>
            </a:r>
            <a:r>
              <a:rPr lang="en-US" dirty="0"/>
              <a:t> returns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en-US" dirty="0"/>
              <a:t>, the original block remains allocated and unchanged.</a:t>
            </a:r>
          </a:p>
          <a:p>
            <a:r>
              <a:rPr lang="en-US" dirty="0"/>
              <a:t>Always assign the result of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realloc</a:t>
            </a:r>
            <a:r>
              <a:rPr lang="en-US" dirty="0"/>
              <a:t> to a temporary pointer first to avoid losing the address of the original block if it fails.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2768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free (Memory Deallocation)</a:t>
            </a:r>
            <a:endParaRPr lang="en-US" dirty="0"/>
          </a:p>
          <a:p>
            <a:r>
              <a:rPr lang="en-US" dirty="0"/>
              <a:t>Returns memory to the system to prevent exhaustion.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196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Understanding Memory Leaks</a:t>
            </a:r>
            <a:endParaRPr lang="en-US" dirty="0"/>
          </a:p>
          <a:p>
            <a:r>
              <a:rPr lang="en-US" dirty="0"/>
              <a:t>Leaks occur when memory is allocated but never freed.</a:t>
            </a:r>
          </a:p>
          <a:p>
            <a:r>
              <a:rPr lang="en-US" dirty="0"/>
              <a:t>Over time, these exhaust the heap and lead to system crashes.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2858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memleak.c</a:t>
            </a:r>
            <a:r>
              <a:rPr lang="en-US" b="1" dirty="0"/>
              <a:t> Example</a:t>
            </a:r>
            <a:endParaRPr lang="en-US" dirty="0"/>
          </a:p>
          <a:p>
            <a:r>
              <a:rPr lang="en-US" dirty="0"/>
              <a:t>A program that deliberately allocates 1MB per second without freeing it.</a:t>
            </a:r>
          </a:p>
          <a:p>
            <a:endParaRPr lang="en-US" dirty="0"/>
          </a:p>
          <a:p>
            <a:r>
              <a:rPr lang="en-US" b="1" dirty="0"/>
              <a:t>See example:</a:t>
            </a:r>
          </a:p>
          <a:p>
            <a:r>
              <a:rPr lang="en-US" dirty="0" err="1"/>
              <a:t>memleak.c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---</a:t>
            </a:r>
          </a:p>
          <a:p>
            <a:r>
              <a:rPr lang="en-US" b="1" dirty="0"/>
              <a:t>Long-form Description:</a:t>
            </a:r>
          </a:p>
          <a:p>
            <a:endParaRPr lang="en-US" dirty="0"/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Understanding the Risks: Memory Leaks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dynamic memory is powerful, failing to manage it correctly leads to serious issues.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provided images highlight the progression from healthy memory usage to system failure: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Cause: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memory leak occurs when malloc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calloc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called inside a loop—as seen in the deliberate "leak" example—without a corresponding call to free(). This keeps memory marked as "in use" even when it is no longer accessible.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Progression: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heap has plenty of available memory for operations.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 Performance: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leaked memory fills the heap, the system may slow down because it struggles to find contiguous blocks for new allocations.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 Crash: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Eventually, the heap is exhausted ($M \times N &gt; K$).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 further allocation attempts return NULL, and the program (or system) may crash if it doesn't handle the failure gracefully.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prevent this, always ensure every allocation is eventually balanced by a free() call,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always check your pointers for NULL to catch failures before they cause a crash.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9181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Detecting Leaks</a:t>
            </a:r>
            <a:endParaRPr lang="en-US" dirty="0"/>
          </a:p>
          <a:p>
            <a:r>
              <a:rPr lang="en-US" dirty="0"/>
              <a:t>Use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top -o mem</a:t>
            </a:r>
            <a:r>
              <a:rPr lang="en-US" dirty="0"/>
              <a:t> to see "</a:t>
            </a:r>
            <a:r>
              <a:rPr lang="en-US" dirty="0" err="1"/>
              <a:t>PhysMem</a:t>
            </a:r>
            <a:r>
              <a:rPr lang="en-US" dirty="0"/>
              <a:t>" (Physical Memory) constantly increasing.</a:t>
            </a:r>
          </a:p>
          <a:p>
            <a:endParaRPr lang="en-US" dirty="0"/>
          </a:p>
          <a:p>
            <a:r>
              <a:rPr lang="en-US" dirty="0"/>
              <a:t>MacOS: top –o mem</a:t>
            </a:r>
          </a:p>
          <a:p>
            <a:r>
              <a:rPr lang="en-US" dirty="0"/>
              <a:t>Linux: top –o RES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6442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Detecting Leaks</a:t>
            </a:r>
            <a:endParaRPr lang="en-US" dirty="0"/>
          </a:p>
          <a:p>
            <a:r>
              <a:rPr lang="en-US" dirty="0"/>
              <a:t>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leaks &lt;PID&gt;</a:t>
            </a:r>
            <a:r>
              <a:rPr lang="en-US" dirty="0"/>
              <a:t> command can be used to generate a detailed leak report identifying specific "ROOT LEAKS" and total leaked bytes.</a:t>
            </a:r>
          </a:p>
          <a:p>
            <a:endParaRPr lang="en-US" dirty="0"/>
          </a:p>
          <a:p>
            <a:r>
              <a:rPr lang="en-US" b="1" dirty="0"/>
              <a:t>See example:</a:t>
            </a:r>
          </a:p>
          <a:p>
            <a:r>
              <a:rPr lang="en-US" dirty="0" err="1"/>
              <a:t>mem_test.c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9967-F352-4302-BAF0-94AF67611A8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0999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133945"/>
            <a:ext cx="12192000" cy="100905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375" y="1689861"/>
            <a:ext cx="4705350" cy="406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85617" y="2229794"/>
            <a:ext cx="6983095" cy="38811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hyperlink" Target="http://www.geeksforgeeks.org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hyperlink" Target="http://www.geeksforgeeks.org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log2base2.com/" TargetMode="External"/><Relationship Id="rId5" Type="http://schemas.openxmlformats.org/officeDocument/2006/relationships/image" Target="../media/image14.jpg"/><Relationship Id="rId4" Type="http://schemas.openxmlformats.org/officeDocument/2006/relationships/hyperlink" Target="http://www.geeksforgeeks.org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log2base2.com/C/pointer/free-in-c.html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62183" y="2702546"/>
            <a:ext cx="8662035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dirty="0"/>
              <a:t>CSC</a:t>
            </a:r>
            <a:r>
              <a:rPr sz="4900" spc="-85" dirty="0"/>
              <a:t> </a:t>
            </a:r>
            <a:r>
              <a:rPr sz="4900" dirty="0"/>
              <a:t>362:</a:t>
            </a:r>
            <a:r>
              <a:rPr sz="4900" spc="-85" dirty="0"/>
              <a:t> </a:t>
            </a:r>
            <a:r>
              <a:rPr sz="4900" dirty="0"/>
              <a:t>System</a:t>
            </a:r>
            <a:r>
              <a:rPr sz="4900" spc="-90" dirty="0"/>
              <a:t> </a:t>
            </a:r>
            <a:r>
              <a:rPr sz="4900" spc="-10" dirty="0"/>
              <a:t>Programming</a:t>
            </a:r>
            <a:endParaRPr sz="4900"/>
          </a:p>
        </p:txBody>
      </p:sp>
      <p:sp>
        <p:nvSpPr>
          <p:cNvPr id="3" name="object 3"/>
          <p:cNvSpPr txBox="1"/>
          <p:nvPr/>
        </p:nvSpPr>
        <p:spPr>
          <a:xfrm>
            <a:off x="5447878" y="3585985"/>
            <a:ext cx="1296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Lecture</a:t>
            </a:r>
            <a:r>
              <a:rPr sz="2400" spc="-1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0F2044"/>
                </a:solidFill>
                <a:latin typeface="Arial MT"/>
                <a:cs typeface="Arial MT"/>
              </a:rPr>
              <a:t>6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6DB772-548B-31D1-922C-3721C1DBA2CE}"/>
              </a:ext>
            </a:extLst>
          </p:cNvPr>
          <p:cNvSpPr txBox="1"/>
          <p:nvPr/>
        </p:nvSpPr>
        <p:spPr>
          <a:xfrm>
            <a:off x="3098244" y="4267200"/>
            <a:ext cx="6094324" cy="6781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Original slides by: Amitabha Dey</a:t>
            </a: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Adapted by: Dr. Richard Johnson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203401" y="5437645"/>
            <a:ext cx="57823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indent="617855">
              <a:lnSpc>
                <a:spcPts val="2590"/>
              </a:lnSpc>
              <a:spcBef>
                <a:spcPts val="425"/>
              </a:spcBef>
            </a:pP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Department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Computer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Science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University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North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Carolina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at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Greensboro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18174" y="4145624"/>
            <a:ext cx="9054465" cy="31115"/>
          </a:xfrm>
          <a:custGeom>
            <a:avLst/>
            <a:gdLst/>
            <a:ahLst/>
            <a:cxnLst/>
            <a:rect l="l" t="t" r="r" b="b"/>
            <a:pathLst>
              <a:path w="9054465" h="31114">
                <a:moveTo>
                  <a:pt x="0" y="0"/>
                </a:moveTo>
                <a:lnTo>
                  <a:pt x="9053999" y="30899"/>
                </a:lnTo>
              </a:path>
            </a:pathLst>
          </a:custGeom>
          <a:ln w="9524">
            <a:solidFill>
              <a:srgbClr val="0F20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35436"/>
            <a:ext cx="1834514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Status</a:t>
            </a:r>
            <a:r>
              <a:rPr spc="-30" dirty="0"/>
              <a:t> </a:t>
            </a:r>
            <a:r>
              <a:rPr spc="-10" dirty="0"/>
              <a:t>Check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1325" y="1967655"/>
            <a:ext cx="3526154" cy="42963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indent="-366395">
              <a:lnSpc>
                <a:spcPct val="114000"/>
              </a:lnSpc>
              <a:spcBef>
                <a:spcPts val="100"/>
              </a:spcBef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Pointers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Strings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50" dirty="0">
                <a:solidFill>
                  <a:srgbClr val="0F2044"/>
                </a:solidFill>
                <a:latin typeface="Arial MT"/>
                <a:cs typeface="Arial MT"/>
              </a:rPr>
              <a:t>C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14000"/>
              </a:lnSpc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Dynamic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1800" spc="-10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Allocation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14000"/>
              </a:lnSpc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Common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Bugs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Null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Bytes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Double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Frees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Dangling</a:t>
            </a:r>
            <a:r>
              <a:rPr sz="18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Pointers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14000"/>
              </a:lnSpc>
              <a:spcBef>
                <a:spcPts val="1570"/>
              </a:spcBef>
            </a:pP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What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we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will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cover</a:t>
            </a:r>
            <a:r>
              <a:rPr sz="25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spc="-20" dirty="0">
                <a:solidFill>
                  <a:srgbClr val="0F2044"/>
                </a:solidFill>
                <a:latin typeface="Georgia"/>
                <a:cs typeface="Georgia"/>
              </a:rPr>
              <a:t>today</a:t>
            </a:r>
            <a:endParaRPr sz="2500" dirty="0">
              <a:latin typeface="Georgia"/>
              <a:cs typeface="Georgia"/>
            </a:endParaRPr>
          </a:p>
          <a:p>
            <a:pPr marL="469265" indent="-366395">
              <a:lnSpc>
                <a:spcPct val="114000"/>
              </a:lnSpc>
              <a:spcBef>
                <a:spcPts val="1540"/>
              </a:spcBef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malloc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family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functions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malloc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calloc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realloc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free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82518" y="2216065"/>
            <a:ext cx="3208348" cy="27438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0375" y="1196848"/>
            <a:ext cx="470535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Understanding</a:t>
            </a:r>
            <a:r>
              <a:rPr spc="-95" dirty="0"/>
              <a:t> </a:t>
            </a:r>
            <a:r>
              <a:rPr spc="-10" dirty="0">
                <a:latin typeface="Courier New"/>
                <a:cs typeface="Courier New"/>
              </a:rPr>
              <a:t>malloc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57200" y="1752600"/>
            <a:ext cx="5885073" cy="4665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  <a:spcAft>
                <a:spcPts val="1200"/>
              </a:spcAft>
            </a:pPr>
            <a:r>
              <a:rPr sz="1900" dirty="0">
                <a:latin typeface="Arial MT"/>
                <a:cs typeface="Arial MT"/>
              </a:rPr>
              <a:t>The</a:t>
            </a:r>
            <a:r>
              <a:rPr sz="1900" spc="-65" dirty="0">
                <a:latin typeface="Arial MT"/>
                <a:cs typeface="Arial MT"/>
              </a:rPr>
              <a:t> </a:t>
            </a:r>
            <a:r>
              <a:rPr sz="1900" b="1" spc="-10" dirty="0">
                <a:solidFill>
                  <a:srgbClr val="188037"/>
                </a:solidFill>
                <a:latin typeface="Courier New"/>
                <a:cs typeface="Courier New"/>
              </a:rPr>
              <a:t>malloc</a:t>
            </a:r>
            <a:r>
              <a:rPr sz="1900" spc="-6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900" dirty="0">
                <a:latin typeface="Arial MT"/>
                <a:cs typeface="Arial MT"/>
              </a:rPr>
              <a:t>function</a:t>
            </a:r>
            <a:r>
              <a:rPr sz="1900" spc="-3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in</a:t>
            </a:r>
            <a:r>
              <a:rPr sz="1900" spc="-3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C</a:t>
            </a:r>
            <a:r>
              <a:rPr sz="1900" spc="-3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is</a:t>
            </a:r>
            <a:r>
              <a:rPr sz="1900" spc="-3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used</a:t>
            </a:r>
            <a:r>
              <a:rPr sz="1900" spc="-3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for</a:t>
            </a:r>
            <a:r>
              <a:rPr sz="1900" spc="-35" dirty="0">
                <a:latin typeface="Arial MT"/>
                <a:cs typeface="Arial MT"/>
              </a:rPr>
              <a:t> </a:t>
            </a:r>
            <a:r>
              <a:rPr sz="1900" spc="-10" dirty="0">
                <a:latin typeface="Arial MT"/>
                <a:cs typeface="Arial MT"/>
              </a:rPr>
              <a:t>dynamic </a:t>
            </a:r>
            <a:br>
              <a:rPr lang="en-US" sz="1900" spc="-10" dirty="0">
                <a:latin typeface="Arial MT"/>
                <a:cs typeface="Arial MT"/>
              </a:rPr>
            </a:br>
            <a:r>
              <a:rPr sz="1900" dirty="0">
                <a:latin typeface="Arial MT"/>
                <a:cs typeface="Arial MT"/>
              </a:rPr>
              <a:t>memory</a:t>
            </a:r>
            <a:r>
              <a:rPr sz="1900" spc="-60" dirty="0">
                <a:latin typeface="Arial MT"/>
                <a:cs typeface="Arial MT"/>
              </a:rPr>
              <a:t> </a:t>
            </a:r>
            <a:r>
              <a:rPr sz="1900" spc="-10" dirty="0">
                <a:latin typeface="Arial MT"/>
                <a:cs typeface="Arial MT"/>
              </a:rPr>
              <a:t>allocation.</a:t>
            </a:r>
            <a:r>
              <a:rPr sz="1900" spc="-5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It</a:t>
            </a:r>
            <a:r>
              <a:rPr sz="1900" spc="-5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allocates</a:t>
            </a:r>
            <a:r>
              <a:rPr sz="1900" spc="-5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a</a:t>
            </a:r>
            <a:r>
              <a:rPr sz="1900" spc="-5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specified</a:t>
            </a:r>
            <a:r>
              <a:rPr sz="1900" spc="-55" dirty="0">
                <a:latin typeface="Arial MT"/>
                <a:cs typeface="Arial MT"/>
              </a:rPr>
              <a:t> </a:t>
            </a:r>
            <a:r>
              <a:rPr sz="1900" spc="-10" dirty="0">
                <a:latin typeface="Arial MT"/>
                <a:cs typeface="Arial MT"/>
              </a:rPr>
              <a:t>number </a:t>
            </a:r>
            <a:br>
              <a:rPr lang="en-US" sz="1900" spc="-10" dirty="0">
                <a:latin typeface="Arial MT"/>
                <a:cs typeface="Arial MT"/>
              </a:rPr>
            </a:br>
            <a:r>
              <a:rPr sz="1900" dirty="0">
                <a:latin typeface="Arial MT"/>
                <a:cs typeface="Arial MT"/>
              </a:rPr>
              <a:t>of</a:t>
            </a:r>
            <a:r>
              <a:rPr sz="1900" spc="-4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bytes</a:t>
            </a:r>
            <a:r>
              <a:rPr sz="1900" spc="-40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and</a:t>
            </a:r>
            <a:r>
              <a:rPr sz="1900" spc="-4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returns</a:t>
            </a:r>
            <a:r>
              <a:rPr sz="1900" spc="-40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a</a:t>
            </a:r>
            <a:r>
              <a:rPr sz="1900" spc="-40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pointer</a:t>
            </a:r>
            <a:r>
              <a:rPr sz="1900" spc="-4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to</a:t>
            </a:r>
            <a:r>
              <a:rPr sz="1900" spc="-40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the</a:t>
            </a:r>
            <a:r>
              <a:rPr sz="1900" spc="-40" dirty="0">
                <a:latin typeface="Arial MT"/>
                <a:cs typeface="Arial MT"/>
              </a:rPr>
              <a:t> </a:t>
            </a:r>
            <a:r>
              <a:rPr sz="1900" spc="-10" dirty="0">
                <a:latin typeface="Arial MT"/>
                <a:cs typeface="Arial MT"/>
              </a:rPr>
              <a:t>allocated </a:t>
            </a:r>
            <a:br>
              <a:rPr lang="en-US" sz="1900" spc="-10" dirty="0">
                <a:latin typeface="Arial MT"/>
                <a:cs typeface="Arial MT"/>
              </a:rPr>
            </a:br>
            <a:r>
              <a:rPr sz="1900" spc="-10" dirty="0">
                <a:latin typeface="Arial MT"/>
                <a:cs typeface="Arial MT"/>
              </a:rPr>
              <a:t>memory.</a:t>
            </a:r>
            <a:endParaRPr lang="en-US" sz="1900" spc="-10" dirty="0">
              <a:latin typeface="Arial MT"/>
              <a:cs typeface="Arial MT"/>
            </a:endParaRPr>
          </a:p>
          <a:p>
            <a:pPr marL="12700" marR="5080">
              <a:lnSpc>
                <a:spcPct val="150000"/>
              </a:lnSpc>
              <a:spcBef>
                <a:spcPts val="100"/>
              </a:spcBef>
              <a:spcAft>
                <a:spcPts val="1200"/>
              </a:spcAft>
            </a:pPr>
            <a:r>
              <a:rPr lang="en-US" sz="1900" spc="-10" dirty="0">
                <a:latin typeface="Arial MT"/>
                <a:cs typeface="Arial MT"/>
              </a:rPr>
              <a:t>Internally,</a:t>
            </a:r>
            <a:r>
              <a:rPr lang="en-US" sz="1900" spc="-100" dirty="0">
                <a:latin typeface="Arial MT"/>
                <a:cs typeface="Arial MT"/>
              </a:rPr>
              <a:t> </a:t>
            </a:r>
            <a:r>
              <a:rPr lang="en-US" sz="1900" b="1" spc="-10" dirty="0">
                <a:solidFill>
                  <a:srgbClr val="188037"/>
                </a:solidFill>
                <a:latin typeface="Courier New"/>
                <a:cs typeface="Courier New"/>
              </a:rPr>
              <a:t>malloc</a:t>
            </a:r>
            <a:r>
              <a:rPr lang="en-US" sz="1900" spc="-6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lang="en-US" sz="1900" dirty="0">
                <a:latin typeface="Arial MT"/>
                <a:cs typeface="Arial MT"/>
              </a:rPr>
              <a:t>interacts</a:t>
            </a:r>
            <a:r>
              <a:rPr lang="en-US" sz="1900" spc="-50" dirty="0">
                <a:latin typeface="Arial MT"/>
                <a:cs typeface="Arial MT"/>
              </a:rPr>
              <a:t> </a:t>
            </a:r>
            <a:r>
              <a:rPr lang="en-US" sz="1900" dirty="0">
                <a:latin typeface="Arial MT"/>
                <a:cs typeface="Arial MT"/>
              </a:rPr>
              <a:t>with</a:t>
            </a:r>
            <a:r>
              <a:rPr lang="en-US" sz="1900" spc="-50" dirty="0">
                <a:latin typeface="Arial MT"/>
                <a:cs typeface="Arial MT"/>
              </a:rPr>
              <a:t> </a:t>
            </a:r>
            <a:r>
              <a:rPr lang="en-US" sz="1900" dirty="0">
                <a:latin typeface="Arial MT"/>
                <a:cs typeface="Arial MT"/>
              </a:rPr>
              <a:t>the</a:t>
            </a:r>
            <a:r>
              <a:rPr lang="en-US" sz="1900" spc="-50" dirty="0">
                <a:latin typeface="Arial MT"/>
                <a:cs typeface="Arial MT"/>
              </a:rPr>
              <a:t> </a:t>
            </a:r>
            <a:r>
              <a:rPr lang="en-US" sz="1900" spc="-10" dirty="0">
                <a:latin typeface="Arial MT"/>
                <a:cs typeface="Arial MT"/>
              </a:rPr>
              <a:t>system’s </a:t>
            </a:r>
            <a:r>
              <a:rPr lang="en-US" sz="1900" dirty="0">
                <a:latin typeface="Arial MT"/>
                <a:cs typeface="Arial MT"/>
              </a:rPr>
              <a:t>memory</a:t>
            </a:r>
            <a:r>
              <a:rPr lang="en-US" sz="1900" spc="-70" dirty="0">
                <a:latin typeface="Arial MT"/>
                <a:cs typeface="Arial MT"/>
              </a:rPr>
              <a:t> </a:t>
            </a:r>
            <a:r>
              <a:rPr lang="en-US" sz="1900" spc="-10" dirty="0">
                <a:latin typeface="Arial MT"/>
                <a:cs typeface="Arial MT"/>
              </a:rPr>
              <a:t>manager,</a:t>
            </a:r>
            <a:r>
              <a:rPr lang="en-US" sz="1900" spc="-65" dirty="0">
                <a:latin typeface="Arial MT"/>
                <a:cs typeface="Arial MT"/>
              </a:rPr>
              <a:t> </a:t>
            </a:r>
            <a:r>
              <a:rPr lang="en-US" sz="1900" spc="-10" dirty="0">
                <a:latin typeface="Arial MT"/>
                <a:cs typeface="Arial MT"/>
              </a:rPr>
              <a:t>requesting</a:t>
            </a:r>
            <a:r>
              <a:rPr lang="en-US" sz="1900" spc="-70" dirty="0">
                <a:latin typeface="Arial MT"/>
                <a:cs typeface="Arial MT"/>
              </a:rPr>
              <a:t> </a:t>
            </a:r>
            <a:r>
              <a:rPr lang="en-US" sz="1900" dirty="0">
                <a:latin typeface="Arial MT"/>
                <a:cs typeface="Arial MT"/>
              </a:rPr>
              <a:t>memory</a:t>
            </a:r>
            <a:r>
              <a:rPr lang="en-US" sz="1900" spc="-65" dirty="0">
                <a:latin typeface="Arial MT"/>
                <a:cs typeface="Arial MT"/>
              </a:rPr>
              <a:t> </a:t>
            </a:r>
            <a:r>
              <a:rPr lang="en-US" sz="1900" dirty="0">
                <a:latin typeface="Arial MT"/>
                <a:cs typeface="Arial MT"/>
              </a:rPr>
              <a:t>from</a:t>
            </a:r>
            <a:r>
              <a:rPr lang="en-US" sz="1900" spc="-70" dirty="0">
                <a:latin typeface="Arial MT"/>
                <a:cs typeface="Arial MT"/>
              </a:rPr>
              <a:t> </a:t>
            </a:r>
            <a:r>
              <a:rPr lang="en-US" sz="1900" spc="-25" dirty="0">
                <a:latin typeface="Arial MT"/>
                <a:cs typeface="Arial MT"/>
              </a:rPr>
              <a:t>the </a:t>
            </a:r>
            <a:r>
              <a:rPr lang="en-US" sz="1900" dirty="0">
                <a:latin typeface="Arial MT"/>
                <a:cs typeface="Arial MT"/>
              </a:rPr>
              <a:t>heap</a:t>
            </a:r>
            <a:r>
              <a:rPr lang="en-US" sz="1900" spc="-70" dirty="0">
                <a:latin typeface="Arial MT"/>
                <a:cs typeface="Arial MT"/>
              </a:rPr>
              <a:t> </a:t>
            </a:r>
            <a:r>
              <a:rPr lang="en-US" sz="1900" dirty="0">
                <a:latin typeface="Arial MT"/>
                <a:cs typeface="Arial MT"/>
              </a:rPr>
              <a:t>and</a:t>
            </a:r>
            <a:r>
              <a:rPr lang="en-US" sz="1900" spc="-70" dirty="0">
                <a:latin typeface="Arial MT"/>
                <a:cs typeface="Arial MT"/>
              </a:rPr>
              <a:t> </a:t>
            </a:r>
            <a:r>
              <a:rPr lang="en-US" sz="1900" dirty="0">
                <a:latin typeface="Arial MT"/>
                <a:cs typeface="Arial MT"/>
              </a:rPr>
              <a:t>managing</a:t>
            </a:r>
            <a:r>
              <a:rPr lang="en-US" sz="1900" spc="-70" dirty="0">
                <a:latin typeface="Arial MT"/>
                <a:cs typeface="Arial MT"/>
              </a:rPr>
              <a:t> </a:t>
            </a:r>
            <a:r>
              <a:rPr lang="en-US" sz="1900" dirty="0">
                <a:latin typeface="Arial MT"/>
                <a:cs typeface="Arial MT"/>
              </a:rPr>
              <a:t>metadata</a:t>
            </a:r>
            <a:r>
              <a:rPr lang="en-US" sz="1900" spc="-70" dirty="0">
                <a:latin typeface="Arial MT"/>
                <a:cs typeface="Arial MT"/>
              </a:rPr>
              <a:t> </a:t>
            </a:r>
            <a:r>
              <a:rPr lang="en-US" sz="1900" dirty="0">
                <a:latin typeface="Arial MT"/>
                <a:cs typeface="Arial MT"/>
              </a:rPr>
              <a:t>to</a:t>
            </a:r>
            <a:r>
              <a:rPr lang="en-US" sz="1900" spc="-70" dirty="0">
                <a:latin typeface="Arial MT"/>
                <a:cs typeface="Arial MT"/>
              </a:rPr>
              <a:t> </a:t>
            </a:r>
            <a:r>
              <a:rPr lang="en-US" sz="1900" dirty="0">
                <a:latin typeface="Arial MT"/>
                <a:cs typeface="Arial MT"/>
              </a:rPr>
              <a:t>keep</a:t>
            </a:r>
            <a:r>
              <a:rPr lang="en-US" sz="1900" spc="-70" dirty="0">
                <a:latin typeface="Arial MT"/>
                <a:cs typeface="Arial MT"/>
              </a:rPr>
              <a:t> </a:t>
            </a:r>
            <a:r>
              <a:rPr lang="en-US" sz="1900" dirty="0">
                <a:latin typeface="Arial MT"/>
                <a:cs typeface="Arial MT"/>
              </a:rPr>
              <a:t>track</a:t>
            </a:r>
            <a:r>
              <a:rPr lang="en-US" sz="1900" spc="-70" dirty="0">
                <a:latin typeface="Arial MT"/>
                <a:cs typeface="Arial MT"/>
              </a:rPr>
              <a:t> </a:t>
            </a:r>
            <a:r>
              <a:rPr lang="en-US" sz="1900" spc="-25" dirty="0">
                <a:latin typeface="Arial MT"/>
                <a:cs typeface="Arial MT"/>
              </a:rPr>
              <a:t>of </a:t>
            </a:r>
            <a:r>
              <a:rPr lang="en-US" sz="1900" spc="-10" dirty="0">
                <a:latin typeface="Arial MT"/>
                <a:cs typeface="Arial MT"/>
              </a:rPr>
              <a:t>allocations.</a:t>
            </a:r>
            <a:endParaRPr lang="en-US" sz="1900" dirty="0">
              <a:latin typeface="Arial MT"/>
              <a:cs typeface="Arial MT"/>
            </a:endParaRPr>
          </a:p>
          <a:p>
            <a:pPr marL="469265" indent="-374015">
              <a:lnSpc>
                <a:spcPct val="150000"/>
              </a:lnSpc>
              <a:buChar char="●"/>
              <a:tabLst>
                <a:tab pos="469265" algn="l"/>
              </a:tabLst>
            </a:pP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Allocates</a:t>
            </a:r>
            <a:r>
              <a:rPr lang="en-US" sz="19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lang="en-US" sz="19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block</a:t>
            </a:r>
            <a:r>
              <a:rPr lang="en-US" sz="19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lang="en-US" sz="19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spc="-10" dirty="0">
                <a:solidFill>
                  <a:srgbClr val="0F2044"/>
                </a:solidFill>
                <a:latin typeface="Arial MT"/>
                <a:cs typeface="Arial MT"/>
              </a:rPr>
              <a:t>memory.</a:t>
            </a:r>
            <a:endParaRPr lang="en-US" sz="1900" dirty="0">
              <a:latin typeface="Arial MT"/>
              <a:cs typeface="Arial MT"/>
            </a:endParaRPr>
          </a:p>
          <a:p>
            <a:pPr marL="469900" marR="271145" indent="-374650">
              <a:lnSpc>
                <a:spcPct val="150000"/>
              </a:lnSpc>
              <a:buChar char="●"/>
              <a:tabLst>
                <a:tab pos="469900" algn="l"/>
              </a:tabLst>
            </a:pP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Returns</a:t>
            </a:r>
            <a:r>
              <a:rPr lang="en-US" sz="19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lang="en-US" sz="19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pointer</a:t>
            </a:r>
            <a:r>
              <a:rPr lang="en-US" sz="19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lang="en-US" sz="19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lang="en-US" sz="19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beginning</a:t>
            </a:r>
            <a:r>
              <a:rPr lang="en-US" sz="19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lang="en-US" sz="19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spc="-25" dirty="0">
                <a:solidFill>
                  <a:srgbClr val="0F2044"/>
                </a:solidFill>
                <a:latin typeface="Arial MT"/>
                <a:cs typeface="Arial MT"/>
              </a:rPr>
              <a:t>the </a:t>
            </a:r>
            <a:r>
              <a:rPr lang="en-US" sz="1900" spc="-10" dirty="0">
                <a:solidFill>
                  <a:srgbClr val="0F2044"/>
                </a:solidFill>
                <a:latin typeface="Arial MT"/>
                <a:cs typeface="Arial MT"/>
              </a:rPr>
              <a:t>block.</a:t>
            </a:r>
            <a:endParaRPr lang="en-US" sz="1900" dirty="0">
              <a:latin typeface="Arial MT"/>
              <a:cs typeface="Arial MT"/>
            </a:endParaRPr>
          </a:p>
          <a:p>
            <a:pPr marL="469265" indent="-374015">
              <a:lnSpc>
                <a:spcPct val="150000"/>
              </a:lnSpc>
              <a:buChar char="●"/>
              <a:tabLst>
                <a:tab pos="469265" algn="l"/>
              </a:tabLst>
            </a:pP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Must</a:t>
            </a:r>
            <a:r>
              <a:rPr lang="en-US" sz="19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be</a:t>
            </a:r>
            <a:r>
              <a:rPr lang="en-US" sz="19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cast</a:t>
            </a:r>
            <a:r>
              <a:rPr lang="en-US" sz="19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lang="en-US" sz="19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spc="-10" dirty="0">
                <a:solidFill>
                  <a:srgbClr val="0F2044"/>
                </a:solidFill>
                <a:latin typeface="Arial MT"/>
                <a:cs typeface="Arial MT"/>
              </a:rPr>
              <a:t>appropriate</a:t>
            </a:r>
            <a:r>
              <a:rPr lang="en-US" sz="19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pointer</a:t>
            </a:r>
            <a:r>
              <a:rPr lang="en-US" sz="19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1900" spc="-10" dirty="0">
                <a:solidFill>
                  <a:srgbClr val="0F2044"/>
                </a:solidFill>
                <a:latin typeface="Arial MT"/>
                <a:cs typeface="Arial MT"/>
              </a:rPr>
              <a:t>type.</a:t>
            </a:r>
            <a:endParaRPr sz="1900" dirty="0">
              <a:latin typeface="Arial MT"/>
              <a:cs typeface="Arial MT"/>
            </a:endParaRPr>
          </a:p>
        </p:txBody>
      </p:sp>
      <p:pic>
        <p:nvPicPr>
          <p:cNvPr id="2" name="object 2" descr="Malloc Visual&#10;Diagram showing malloc allocating a contiguous 20-byte memory block for an integer pointer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07050" y="1074227"/>
            <a:ext cx="5885073" cy="2030324"/>
          </a:xfrm>
          <a:prstGeom prst="rect">
            <a:avLst/>
          </a:prstGeom>
        </p:spPr>
      </p:pic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961324" y="3267295"/>
            <a:ext cx="259905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4"/>
              </a:rPr>
              <a:t>https://www.geeksforgeeks.org/</a:t>
            </a:r>
            <a:endParaRPr sz="1000">
              <a:latin typeface="Arial MT"/>
              <a:cs typeface="Arial MT"/>
            </a:endParaRPr>
          </a:p>
        </p:txBody>
      </p:sp>
      <p:grpSp>
        <p:nvGrpSpPr>
          <p:cNvPr id="7" name="object 7" descr="Malloc Syntax&#10;Hand-drawn breakdown of malloc syntax, explaining the type casting, variable size, and requested length."/>
          <p:cNvGrpSpPr/>
          <p:nvPr/>
        </p:nvGrpSpPr>
        <p:grpSpPr>
          <a:xfrm>
            <a:off x="6619099" y="3553016"/>
            <a:ext cx="5128260" cy="2876550"/>
            <a:chOff x="6619099" y="3553016"/>
            <a:chExt cx="5128260" cy="2876550"/>
          </a:xfrm>
        </p:grpSpPr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628624" y="3562541"/>
              <a:ext cx="5108627" cy="2857182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623861" y="3557778"/>
              <a:ext cx="5118735" cy="2867025"/>
            </a:xfrm>
            <a:custGeom>
              <a:avLst/>
              <a:gdLst/>
              <a:ahLst/>
              <a:cxnLst/>
              <a:rect l="l" t="t" r="r" b="b"/>
              <a:pathLst>
                <a:path w="5118734" h="2867025">
                  <a:moveTo>
                    <a:pt x="0" y="0"/>
                  </a:moveTo>
                  <a:lnTo>
                    <a:pt x="5118153" y="0"/>
                  </a:lnTo>
                  <a:lnTo>
                    <a:pt x="5118153" y="2866707"/>
                  </a:lnTo>
                  <a:lnTo>
                    <a:pt x="0" y="2866707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216950" y="6487670"/>
            <a:ext cx="180467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Zihan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@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Medium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1295400"/>
            <a:ext cx="3628106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0" dirty="0"/>
              <a:t> </a:t>
            </a:r>
            <a:r>
              <a:rPr spc="-10" dirty="0">
                <a:latin typeface="Courier New"/>
                <a:cs typeface="Courier New"/>
              </a:rPr>
              <a:t>malloc</a:t>
            </a:r>
            <a:r>
              <a:rPr spc="-885" dirty="0">
                <a:latin typeface="Courier New"/>
                <a:cs typeface="Courier New"/>
              </a:rPr>
              <a:t> </a:t>
            </a:r>
            <a:r>
              <a:rPr spc="-10" dirty="0"/>
              <a:t>works?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52400" y="1933551"/>
            <a:ext cx="3707129" cy="44672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31800" marR="5080" indent="-419734">
              <a:lnSpc>
                <a:spcPct val="125000"/>
              </a:lnSpc>
              <a:spcBef>
                <a:spcPts val="100"/>
              </a:spcBef>
              <a:spcAft>
                <a:spcPts val="1200"/>
              </a:spcAft>
              <a:buFont typeface="+mj-lt"/>
              <a:buAutoNum type="arabicPeriod"/>
              <a:tabLst>
                <a:tab pos="431800" algn="l"/>
              </a:tabLst>
            </a:pPr>
            <a:r>
              <a:rPr sz="1800" b="1" dirty="0">
                <a:latin typeface="Arial"/>
                <a:cs typeface="Arial"/>
              </a:rPr>
              <a:t>Request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Memory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uses </a:t>
            </a:r>
            <a:r>
              <a:rPr sz="1800" dirty="0">
                <a:latin typeface="Arial MT"/>
                <a:cs typeface="Arial MT"/>
              </a:rPr>
              <a:t>system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calls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like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sbrk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spc="-20" dirty="0">
                <a:solidFill>
                  <a:srgbClr val="188037"/>
                </a:solidFill>
                <a:latin typeface="Courier New"/>
                <a:cs typeface="Courier New"/>
              </a:rPr>
              <a:t>mmap</a:t>
            </a:r>
            <a:r>
              <a:rPr sz="1800" spc="-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request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memory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OS.</a:t>
            </a:r>
            <a:endParaRPr lang="en-US" spc="-25" dirty="0">
              <a:latin typeface="Arial MT"/>
              <a:cs typeface="Arial MT"/>
            </a:endParaRPr>
          </a:p>
          <a:p>
            <a:pPr marL="431800" marR="5080" indent="-419734">
              <a:lnSpc>
                <a:spcPct val="125000"/>
              </a:lnSpc>
              <a:spcBef>
                <a:spcPts val="100"/>
              </a:spcBef>
              <a:spcAft>
                <a:spcPts val="1200"/>
              </a:spcAft>
              <a:buFont typeface="+mj-lt"/>
              <a:buAutoNum type="arabicPeriod"/>
              <a:tabLst>
                <a:tab pos="431800" algn="l"/>
              </a:tabLst>
            </a:pPr>
            <a:r>
              <a:rPr sz="1800" b="1" dirty="0">
                <a:latin typeface="Arial"/>
                <a:cs typeface="Arial"/>
              </a:rPr>
              <a:t>Manage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Metadata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Keeps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track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memory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blocks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(allocated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free)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structures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such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lists.</a:t>
            </a:r>
            <a:endParaRPr lang="en-US" spc="-10" dirty="0">
              <a:latin typeface="Arial MT"/>
              <a:cs typeface="Arial MT"/>
            </a:endParaRPr>
          </a:p>
          <a:p>
            <a:pPr marL="431800" marR="5080" indent="-419734">
              <a:lnSpc>
                <a:spcPct val="125000"/>
              </a:lnSpc>
              <a:spcBef>
                <a:spcPts val="100"/>
              </a:spcBef>
              <a:buFont typeface="+mj-lt"/>
              <a:buAutoNum type="arabicPeriod"/>
              <a:tabLst>
                <a:tab pos="431800" algn="l"/>
              </a:tabLst>
            </a:pPr>
            <a:r>
              <a:rPr sz="1800" b="1" dirty="0">
                <a:latin typeface="Arial"/>
                <a:cs typeface="Arial"/>
              </a:rPr>
              <a:t>Split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and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Coalesce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Blocks</a:t>
            </a:r>
            <a:r>
              <a:rPr sz="1800" spc="-10" dirty="0">
                <a:latin typeface="Arial MT"/>
                <a:cs typeface="Arial MT"/>
              </a:rPr>
              <a:t>: </a:t>
            </a:r>
            <a:r>
              <a:rPr sz="1800" dirty="0">
                <a:latin typeface="Arial MT"/>
                <a:cs typeface="Arial MT"/>
              </a:rPr>
              <a:t>Efficiently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manages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free </a:t>
            </a:r>
            <a:r>
              <a:rPr sz="1800" dirty="0">
                <a:latin typeface="Arial MT"/>
                <a:cs typeface="Arial MT"/>
              </a:rPr>
              <a:t>memory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splitting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larger </a:t>
            </a:r>
            <a:r>
              <a:rPr sz="1800" dirty="0">
                <a:latin typeface="Arial MT"/>
                <a:cs typeface="Arial MT"/>
              </a:rPr>
              <a:t>blocks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combining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adjacent </a:t>
            </a:r>
            <a:r>
              <a:rPr sz="1800" dirty="0">
                <a:latin typeface="Arial MT"/>
                <a:cs typeface="Arial MT"/>
              </a:rPr>
              <a:t>free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blocks.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4" name="object 4" descr="A technical documentation page for the C function malloc, showing its syntax void *malloc( size_t size );, parameters, and return value details."/>
          <p:cNvGrpSpPr/>
          <p:nvPr/>
        </p:nvGrpSpPr>
        <p:grpSpPr>
          <a:xfrm>
            <a:off x="3962400" y="1295401"/>
            <a:ext cx="8229600" cy="5029200"/>
            <a:chOff x="4456924" y="1660015"/>
            <a:chExt cx="7448550" cy="444563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575970" y="1742554"/>
              <a:ext cx="7155348" cy="4234797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461687" y="1664778"/>
              <a:ext cx="7439025" cy="4436110"/>
            </a:xfrm>
            <a:custGeom>
              <a:avLst/>
              <a:gdLst/>
              <a:ahLst/>
              <a:cxnLst/>
              <a:rect l="l" t="t" r="r" b="b"/>
              <a:pathLst>
                <a:path w="7439025" h="4436110">
                  <a:moveTo>
                    <a:pt x="0" y="0"/>
                  </a:moveTo>
                  <a:lnTo>
                    <a:pt x="7438674" y="0"/>
                  </a:lnTo>
                  <a:lnTo>
                    <a:pt x="7438674" y="4435983"/>
                  </a:lnTo>
                  <a:lnTo>
                    <a:pt x="0" y="4435983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Code</a:t>
            </a:r>
            <a:r>
              <a:rPr spc="-105" dirty="0"/>
              <a:t> </a:t>
            </a:r>
            <a:r>
              <a:rPr dirty="0"/>
              <a:t>Example</a:t>
            </a:r>
            <a:r>
              <a:rPr spc="-105" dirty="0"/>
              <a:t> </a:t>
            </a:r>
            <a:r>
              <a:rPr spc="-25" dirty="0"/>
              <a:t>#1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59724" y="2606940"/>
            <a:ext cx="4012275" cy="25719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00"/>
              </a:spcBef>
            </a:pPr>
            <a:r>
              <a:rPr sz="2000" b="1" dirty="0">
                <a:latin typeface="Arial"/>
                <a:cs typeface="Arial"/>
              </a:rPr>
              <a:t>What</a:t>
            </a:r>
            <a:r>
              <a:rPr sz="2000" b="1" spc="-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it</a:t>
            </a:r>
            <a:r>
              <a:rPr sz="2000" b="1" spc="-5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does:</a:t>
            </a:r>
            <a:endParaRPr sz="2000" dirty="0">
              <a:latin typeface="Arial"/>
              <a:cs typeface="Arial"/>
            </a:endParaRPr>
          </a:p>
          <a:p>
            <a:pPr marL="469900" marR="5080" indent="-382270">
              <a:lnSpc>
                <a:spcPct val="150000"/>
              </a:lnSpc>
              <a:spcBef>
                <a:spcPts val="1200"/>
              </a:spcBef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2000" dirty="0">
                <a:latin typeface="Arial MT"/>
                <a:cs typeface="Arial MT"/>
              </a:rPr>
              <a:t>Allocates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memory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an </a:t>
            </a:r>
            <a:r>
              <a:rPr sz="2000" dirty="0">
                <a:latin typeface="Arial MT"/>
                <a:cs typeface="Arial MT"/>
              </a:rPr>
              <a:t>array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of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integers.</a:t>
            </a:r>
            <a:endParaRPr sz="2000" dirty="0">
              <a:latin typeface="Arial MT"/>
              <a:cs typeface="Arial MT"/>
            </a:endParaRPr>
          </a:p>
          <a:p>
            <a:pPr marL="469900" marR="88900" indent="-382270">
              <a:lnSpc>
                <a:spcPct val="150000"/>
              </a:lnSpc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2000" dirty="0">
                <a:latin typeface="Arial MT"/>
                <a:cs typeface="Arial MT"/>
              </a:rPr>
              <a:t>Initializes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prints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the </a:t>
            </a:r>
            <a:r>
              <a:rPr sz="2000" spc="-10" dirty="0">
                <a:latin typeface="Arial MT"/>
                <a:cs typeface="Arial MT"/>
              </a:rPr>
              <a:t>array.</a:t>
            </a:r>
            <a:endParaRPr sz="2000" dirty="0">
              <a:latin typeface="Arial MT"/>
              <a:cs typeface="Arial MT"/>
            </a:endParaRPr>
          </a:p>
          <a:p>
            <a:pPr marL="469900" marR="103505" indent="-382270">
              <a:lnSpc>
                <a:spcPct val="150000"/>
              </a:lnSpc>
              <a:buChar char="●"/>
              <a:tabLst>
                <a:tab pos="469900" algn="l"/>
              </a:tabLst>
            </a:pPr>
            <a:r>
              <a:rPr sz="2000" dirty="0">
                <a:latin typeface="Arial MT"/>
                <a:cs typeface="Arial MT"/>
              </a:rPr>
              <a:t>Frees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memory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after </a:t>
            </a:r>
            <a:r>
              <a:rPr sz="2000" spc="-20" dirty="0">
                <a:latin typeface="Arial MT"/>
                <a:cs typeface="Arial MT"/>
              </a:rPr>
              <a:t>use.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2" name="object 2" descr="A code editor showing a C program that demonstrates dynamic memory allocation using malloc, a loop to initialize an integer array, and free to release the memory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93750" y="1029227"/>
            <a:ext cx="6738599" cy="55989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0375" y="1689861"/>
            <a:ext cx="4705350" cy="6745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Code</a:t>
            </a:r>
            <a:r>
              <a:rPr spc="-105" dirty="0"/>
              <a:t> </a:t>
            </a:r>
            <a:r>
              <a:rPr dirty="0"/>
              <a:t>Example</a:t>
            </a:r>
            <a:r>
              <a:rPr spc="-105" dirty="0"/>
              <a:t> </a:t>
            </a:r>
            <a:r>
              <a:rPr spc="-25" dirty="0"/>
              <a:t>#1</a:t>
            </a:r>
            <a:br>
              <a:rPr lang="en-US" spc="-25" dirty="0"/>
            </a:br>
            <a:r>
              <a:rPr lang="en-US" sz="1800" spc="-25" dirty="0"/>
              <a:t>Key difference</a:t>
            </a:r>
            <a:endParaRPr sz="1800" spc="-25" dirty="0"/>
          </a:p>
        </p:txBody>
      </p:sp>
      <p:sp>
        <p:nvSpPr>
          <p:cNvPr id="4" name="object 4"/>
          <p:cNvSpPr txBox="1"/>
          <p:nvPr/>
        </p:nvSpPr>
        <p:spPr>
          <a:xfrm>
            <a:off x="410375" y="2566808"/>
            <a:ext cx="4390225" cy="39569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6515">
              <a:lnSpc>
                <a:spcPct val="150000"/>
              </a:lnSpc>
              <a:spcBef>
                <a:spcPts val="100"/>
              </a:spcBef>
            </a:pP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Key</a:t>
            </a:r>
            <a:r>
              <a:rPr sz="200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difference</a:t>
            </a:r>
            <a:r>
              <a:rPr sz="20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from</a:t>
            </a:r>
            <a:r>
              <a:rPr sz="20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b="1" dirty="0">
                <a:solidFill>
                  <a:srgbClr val="980000"/>
                </a:solidFill>
                <a:latin typeface="Arial"/>
                <a:cs typeface="Arial"/>
              </a:rPr>
              <a:t>true</a:t>
            </a:r>
            <a:r>
              <a:rPr sz="20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980000"/>
                </a:solidFill>
                <a:latin typeface="Arial"/>
                <a:cs typeface="Arial"/>
              </a:rPr>
              <a:t>static </a:t>
            </a:r>
            <a:r>
              <a:rPr sz="2000" b="1" dirty="0">
                <a:solidFill>
                  <a:srgbClr val="980000"/>
                </a:solidFill>
                <a:latin typeface="Arial"/>
                <a:cs typeface="Arial"/>
              </a:rPr>
              <a:t>allocation</a:t>
            </a:r>
            <a:r>
              <a:rPr sz="2000" b="1" spc="-1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(like</a:t>
            </a:r>
            <a:r>
              <a:rPr sz="20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b="1" dirty="0">
                <a:solidFill>
                  <a:srgbClr val="980000"/>
                </a:solidFill>
                <a:latin typeface="Courier New"/>
                <a:cs typeface="Courier New"/>
              </a:rPr>
              <a:t>int</a:t>
            </a:r>
            <a:r>
              <a:rPr sz="2000" b="1" spc="-50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sz="2000" b="1" dirty="0">
                <a:solidFill>
                  <a:srgbClr val="980000"/>
                </a:solidFill>
                <a:latin typeface="Courier New"/>
                <a:cs typeface="Courier New"/>
              </a:rPr>
              <a:t>arr[5];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)</a:t>
            </a:r>
            <a:r>
              <a:rPr sz="200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980000"/>
                </a:solidFill>
                <a:latin typeface="Arial MT"/>
                <a:cs typeface="Arial MT"/>
              </a:rPr>
              <a:t>is:</a:t>
            </a:r>
            <a:endParaRPr sz="2000" dirty="0">
              <a:latin typeface="Arial MT"/>
              <a:cs typeface="Arial MT"/>
            </a:endParaRPr>
          </a:p>
          <a:p>
            <a:pPr marL="469900" marR="53340" indent="-367030">
              <a:lnSpc>
                <a:spcPct val="150000"/>
              </a:lnSpc>
              <a:spcBef>
                <a:spcPts val="1200"/>
              </a:spcBef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Memory</a:t>
            </a:r>
            <a:r>
              <a:rPr sz="2000" spc="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from</a:t>
            </a:r>
            <a:r>
              <a:rPr sz="2000" spc="1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980000"/>
                </a:solidFill>
                <a:latin typeface="Courier New"/>
                <a:cs typeface="Courier New"/>
              </a:rPr>
              <a:t>malloc</a:t>
            </a:r>
            <a:r>
              <a:rPr sz="2000" spc="-570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sz="2000" spc="-25" dirty="0">
                <a:solidFill>
                  <a:srgbClr val="980000"/>
                </a:solidFill>
                <a:latin typeface="Arial MT"/>
                <a:cs typeface="Arial MT"/>
              </a:rPr>
              <a:t>is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allocated</a:t>
            </a:r>
            <a:r>
              <a:rPr sz="20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on</a:t>
            </a:r>
            <a:r>
              <a:rPr sz="20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the</a:t>
            </a:r>
            <a:r>
              <a:rPr sz="2000" spc="-1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b="1" dirty="0">
                <a:solidFill>
                  <a:srgbClr val="980000"/>
                </a:solidFill>
                <a:latin typeface="Arial"/>
                <a:cs typeface="Arial"/>
              </a:rPr>
              <a:t>heap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,</a:t>
            </a:r>
            <a:r>
              <a:rPr sz="20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not</a:t>
            </a:r>
            <a:r>
              <a:rPr sz="20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980000"/>
                </a:solidFill>
                <a:latin typeface="Arial MT"/>
                <a:cs typeface="Arial MT"/>
              </a:rPr>
              <a:t>the </a:t>
            </a:r>
            <a:r>
              <a:rPr sz="2000" spc="-10" dirty="0">
                <a:solidFill>
                  <a:srgbClr val="980000"/>
                </a:solidFill>
                <a:latin typeface="Arial MT"/>
                <a:cs typeface="Arial MT"/>
              </a:rPr>
              <a:t>stack.</a:t>
            </a:r>
            <a:endParaRPr sz="2000" dirty="0">
              <a:latin typeface="Arial MT"/>
              <a:cs typeface="Arial MT"/>
            </a:endParaRPr>
          </a:p>
          <a:p>
            <a:pPr marL="469900" marR="5080" indent="-367030">
              <a:lnSpc>
                <a:spcPct val="150000"/>
              </a:lnSpc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The</a:t>
            </a:r>
            <a:r>
              <a:rPr sz="20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size</a:t>
            </a:r>
            <a:r>
              <a:rPr sz="20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can</a:t>
            </a:r>
            <a:r>
              <a:rPr sz="20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be</a:t>
            </a:r>
            <a:r>
              <a:rPr sz="20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determined</a:t>
            </a:r>
            <a:r>
              <a:rPr sz="20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980000"/>
                </a:solidFill>
                <a:latin typeface="Arial MT"/>
                <a:cs typeface="Arial MT"/>
              </a:rPr>
              <a:t>at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runtime</a:t>
            </a:r>
            <a:r>
              <a:rPr sz="200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(e.g.,</a:t>
            </a:r>
            <a:r>
              <a:rPr sz="20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user</a:t>
            </a:r>
            <a:r>
              <a:rPr sz="20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input</a:t>
            </a:r>
            <a:r>
              <a:rPr sz="20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for</a:t>
            </a:r>
            <a:r>
              <a:rPr sz="2000" spc="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b="1" spc="-25" dirty="0">
                <a:solidFill>
                  <a:srgbClr val="980000"/>
                </a:solidFill>
                <a:latin typeface="Courier New"/>
                <a:cs typeface="Courier New"/>
              </a:rPr>
              <a:t>n</a:t>
            </a:r>
            <a:r>
              <a:rPr sz="2000" spc="-25" dirty="0">
                <a:solidFill>
                  <a:srgbClr val="980000"/>
                </a:solidFill>
                <a:latin typeface="Arial MT"/>
                <a:cs typeface="Arial MT"/>
              </a:rPr>
              <a:t>).</a:t>
            </a:r>
            <a:endParaRPr sz="2000" dirty="0">
              <a:latin typeface="Arial MT"/>
              <a:cs typeface="Arial MT"/>
            </a:endParaRPr>
          </a:p>
          <a:p>
            <a:pPr marL="469900" marR="172720" indent="-367030">
              <a:lnSpc>
                <a:spcPct val="150000"/>
              </a:lnSpc>
              <a:buChar char="●"/>
              <a:tabLst>
                <a:tab pos="469900" algn="l"/>
              </a:tabLst>
            </a:pPr>
            <a:r>
              <a:rPr sz="2000" spc="-35" dirty="0">
                <a:solidFill>
                  <a:srgbClr val="980000"/>
                </a:solidFill>
                <a:latin typeface="Arial MT"/>
                <a:cs typeface="Arial MT"/>
              </a:rPr>
              <a:t>You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must</a:t>
            </a:r>
            <a:r>
              <a:rPr sz="20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manually</a:t>
            </a:r>
            <a:r>
              <a:rPr sz="2000" spc="-1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980000"/>
                </a:solidFill>
                <a:latin typeface="Courier New"/>
                <a:cs typeface="Courier New"/>
              </a:rPr>
              <a:t>free</a:t>
            </a:r>
            <a:r>
              <a:rPr sz="2000" spc="-585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sz="2000" spc="-25" dirty="0">
                <a:solidFill>
                  <a:srgbClr val="980000"/>
                </a:solidFill>
                <a:latin typeface="Arial MT"/>
                <a:cs typeface="Arial MT"/>
              </a:rPr>
              <a:t>the </a:t>
            </a:r>
            <a:r>
              <a:rPr sz="2000" dirty="0">
                <a:solidFill>
                  <a:srgbClr val="980000"/>
                </a:solidFill>
                <a:latin typeface="Arial MT"/>
                <a:cs typeface="Arial MT"/>
              </a:rPr>
              <a:t>allocated</a:t>
            </a:r>
            <a:r>
              <a:rPr sz="2000" spc="-4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980000"/>
                </a:solidFill>
                <a:latin typeface="Arial MT"/>
                <a:cs typeface="Arial MT"/>
              </a:rPr>
              <a:t>memory.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93750" y="1029227"/>
            <a:ext cx="6738599" cy="55989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47800"/>
            <a:ext cx="4705350" cy="6745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Code</a:t>
            </a:r>
            <a:r>
              <a:rPr spc="-105" dirty="0"/>
              <a:t> </a:t>
            </a:r>
            <a:r>
              <a:rPr dirty="0"/>
              <a:t>Example</a:t>
            </a:r>
            <a:r>
              <a:rPr spc="-105" dirty="0"/>
              <a:t> </a:t>
            </a:r>
            <a:r>
              <a:rPr spc="-25" dirty="0"/>
              <a:t>#1</a:t>
            </a:r>
            <a:br>
              <a:rPr lang="en-US" spc="-25" dirty="0"/>
            </a:br>
            <a:r>
              <a:rPr lang="en-US" sz="1800" spc="-25" dirty="0"/>
              <a:t>Commands</a:t>
            </a:r>
            <a:endParaRPr sz="1800"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04400" y="2343522"/>
            <a:ext cx="301561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Compile</a:t>
            </a:r>
            <a:r>
              <a:rPr sz="1600" b="1" spc="-4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and</a:t>
            </a:r>
            <a:r>
              <a:rPr sz="16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Run</a:t>
            </a:r>
            <a:r>
              <a:rPr sz="16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the</a:t>
            </a:r>
            <a:r>
              <a:rPr sz="16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F2044"/>
                </a:solidFill>
                <a:latin typeface="Arial"/>
                <a:cs typeface="Arial"/>
              </a:rPr>
              <a:t>Program: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43224" y="2658399"/>
            <a:ext cx="3759835" cy="73914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gcc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-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o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malloc_test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malloc_test.c</a:t>
            </a:r>
            <a:endParaRPr sz="1800" dirty="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</a:pP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./malloc_test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80600" y="3638921"/>
            <a:ext cx="348615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Inspect</a:t>
            </a:r>
            <a:r>
              <a:rPr sz="16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Memory</a:t>
            </a:r>
            <a:r>
              <a:rPr sz="16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Usage</a:t>
            </a:r>
            <a:r>
              <a:rPr sz="16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in</a:t>
            </a:r>
            <a:r>
              <a:rPr sz="16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Real</a:t>
            </a:r>
            <a:r>
              <a:rPr sz="16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F2044"/>
                </a:solidFill>
                <a:latin typeface="Arial"/>
                <a:cs typeface="Arial"/>
              </a:rPr>
              <a:t>Time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3224" y="4030000"/>
            <a:ext cx="3759835" cy="4622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top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 -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o</a:t>
            </a:r>
            <a:r>
              <a:rPr sz="1800" spc="-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rsize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00898" y="4787056"/>
            <a:ext cx="3918701" cy="15177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marR="5080" indent="-367030">
              <a:lnSpc>
                <a:spcPct val="125000"/>
              </a:lnSpc>
              <a:spcBef>
                <a:spcPts val="100"/>
              </a:spcBef>
              <a:spcAft>
                <a:spcPts val="600"/>
              </a:spcAft>
              <a:buChar char="●"/>
              <a:tabLst>
                <a:tab pos="379095" algn="l"/>
              </a:tabLst>
            </a:pP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sorts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processes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spc="-25" dirty="0">
                <a:latin typeface="Arial"/>
                <a:cs typeface="Arial"/>
              </a:rPr>
              <a:t>by</a:t>
            </a:r>
            <a:r>
              <a:rPr lang="en-US" sz="1800" b="1" spc="-2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resident</a:t>
            </a:r>
            <a:r>
              <a:rPr lang="en-US" spc="-1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memory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(physical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RAM).</a:t>
            </a:r>
            <a:endParaRPr sz="1800" dirty="0">
              <a:latin typeface="Arial MT"/>
              <a:cs typeface="Arial MT"/>
            </a:endParaRPr>
          </a:p>
          <a:p>
            <a:pPr marL="379095" indent="-366395">
              <a:lnSpc>
                <a:spcPct val="125000"/>
              </a:lnSpc>
              <a:spcAft>
                <a:spcPts val="600"/>
              </a:spcAft>
              <a:buChar char="●"/>
              <a:tabLst>
                <a:tab pos="379095" algn="l"/>
              </a:tabLst>
            </a:pPr>
            <a:r>
              <a:rPr sz="1800" dirty="0">
                <a:latin typeface="Arial MT"/>
                <a:cs typeface="Arial MT"/>
              </a:rPr>
              <a:t>Look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program</a:t>
            </a:r>
            <a:endParaRPr sz="1800" dirty="0">
              <a:latin typeface="Arial MT"/>
              <a:cs typeface="Arial MT"/>
            </a:endParaRPr>
          </a:p>
          <a:p>
            <a:pPr marL="379095" indent="-366395">
              <a:lnSpc>
                <a:spcPct val="125000"/>
              </a:lnSpc>
              <a:buChar char="●"/>
              <a:tabLst>
                <a:tab pos="379095" algn="l"/>
              </a:tabLst>
            </a:pPr>
            <a:r>
              <a:rPr sz="1800" dirty="0">
                <a:latin typeface="Arial MT"/>
                <a:cs typeface="Arial MT"/>
              </a:rPr>
              <a:t>Check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MEM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spc="-10" dirty="0">
                <a:latin typeface="Arial MT"/>
                <a:cs typeface="Arial MT"/>
              </a:rPr>
              <a:t>column.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13349" y="2358971"/>
            <a:ext cx="398589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dirty="0">
                <a:latin typeface="Arial"/>
                <a:cs typeface="Arial"/>
              </a:rPr>
              <a:t>Find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the</a:t>
            </a:r>
            <a:r>
              <a:rPr sz="1600" b="1" spc="-2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process</a:t>
            </a:r>
            <a:r>
              <a:rPr sz="1600" b="1" spc="-2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ID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(PID)</a:t>
            </a:r>
            <a:r>
              <a:rPr sz="1600" b="1" spc="-10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your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program: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727575" y="2709724"/>
            <a:ext cx="4258945" cy="4622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ps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aux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|</a:t>
            </a:r>
            <a:r>
              <a:rPr sz="1800" spc="-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grep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 malloc_test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648200" y="3638921"/>
            <a:ext cx="293878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0F2044"/>
                </a:solidFill>
                <a:latin typeface="Arial MT"/>
                <a:cs typeface="Arial MT"/>
              </a:rPr>
              <a:t>Then,</a:t>
            </a:r>
            <a:r>
              <a:rPr sz="16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0F2044"/>
                </a:solidFill>
                <a:latin typeface="Arial MT"/>
                <a:cs typeface="Arial MT"/>
              </a:rPr>
              <a:t>check</a:t>
            </a:r>
            <a:r>
              <a:rPr sz="16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0F2044"/>
                </a:solidFill>
                <a:latin typeface="Arial MT"/>
                <a:cs typeface="Arial MT"/>
              </a:rPr>
              <a:t>its</a:t>
            </a:r>
            <a:r>
              <a:rPr sz="16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memory</a:t>
            </a:r>
            <a:r>
              <a:rPr sz="1600" b="1" spc="-1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F2044"/>
                </a:solidFill>
                <a:latin typeface="Arial"/>
                <a:cs typeface="Arial"/>
              </a:rPr>
              <a:t>usage</a:t>
            </a:r>
            <a:r>
              <a:rPr sz="1600" spc="-10" dirty="0">
                <a:solidFill>
                  <a:srgbClr val="0F2044"/>
                </a:solidFill>
                <a:latin typeface="Arial MT"/>
                <a:cs typeface="Arial MT"/>
              </a:rPr>
              <a:t>: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727575" y="4005124"/>
            <a:ext cx="4258945" cy="4622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ps</a:t>
            </a:r>
            <a:r>
              <a:rPr sz="180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-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o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pid,rss,vsz,command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-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p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&lt;PID&gt;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800600" y="4785515"/>
            <a:ext cx="4166770" cy="12906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marR="87630" indent="-351790">
              <a:lnSpc>
                <a:spcPct val="125000"/>
              </a:lnSpc>
              <a:spcBef>
                <a:spcPts val="100"/>
              </a:spcBef>
              <a:spcAft>
                <a:spcPts val="600"/>
              </a:spcAft>
              <a:buChar char="●"/>
              <a:tabLst>
                <a:tab pos="363855" algn="l"/>
              </a:tabLst>
            </a:pPr>
            <a:r>
              <a:rPr sz="1600" b="1" dirty="0">
                <a:latin typeface="Arial"/>
                <a:cs typeface="Arial"/>
              </a:rPr>
              <a:t>RSS</a:t>
            </a:r>
            <a:r>
              <a:rPr sz="1600" b="1" spc="-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(Resident</a:t>
            </a:r>
            <a:r>
              <a:rPr sz="1600" b="1" spc="-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Set </a:t>
            </a:r>
            <a:r>
              <a:rPr sz="1600" b="1" spc="-10" dirty="0">
                <a:latin typeface="Arial"/>
                <a:cs typeface="Arial"/>
              </a:rPr>
              <a:t>Size):</a:t>
            </a:r>
            <a:r>
              <a:rPr sz="1600" b="1" spc="-85" dirty="0">
                <a:latin typeface="Arial"/>
                <a:cs typeface="Arial"/>
              </a:rPr>
              <a:t> </a:t>
            </a:r>
            <a:r>
              <a:rPr sz="1600" spc="-10" dirty="0">
                <a:latin typeface="Arial MT"/>
                <a:cs typeface="Arial MT"/>
              </a:rPr>
              <a:t>Actual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RAM.</a:t>
            </a:r>
            <a:endParaRPr sz="1600" dirty="0">
              <a:latin typeface="Arial MT"/>
              <a:cs typeface="Arial MT"/>
            </a:endParaRPr>
          </a:p>
          <a:p>
            <a:pPr marL="363855" marR="5080" indent="-351790">
              <a:lnSpc>
                <a:spcPct val="125000"/>
              </a:lnSpc>
              <a:buChar char="●"/>
              <a:tabLst>
                <a:tab pos="363855" algn="l"/>
              </a:tabLst>
            </a:pPr>
            <a:r>
              <a:rPr sz="1600" b="1" dirty="0">
                <a:latin typeface="Arial"/>
                <a:cs typeface="Arial"/>
              </a:rPr>
              <a:t>VSZ</a:t>
            </a:r>
            <a:r>
              <a:rPr sz="1600" b="1" spc="-7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(Virtual</a:t>
            </a:r>
            <a:r>
              <a:rPr sz="1600" b="1" spc="-6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Memory</a:t>
            </a:r>
            <a:r>
              <a:rPr sz="1600" b="1" spc="-6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Size):</a:t>
            </a:r>
            <a:r>
              <a:rPr sz="1600" b="1" spc="-75" dirty="0">
                <a:latin typeface="Arial"/>
                <a:cs typeface="Arial"/>
              </a:rPr>
              <a:t> </a:t>
            </a:r>
            <a:r>
              <a:rPr sz="1600" spc="-10" dirty="0">
                <a:latin typeface="Arial MT"/>
                <a:cs typeface="Arial MT"/>
              </a:rPr>
              <a:t>Total </a:t>
            </a:r>
            <a:r>
              <a:rPr sz="1600" dirty="0">
                <a:latin typeface="Arial MT"/>
                <a:cs typeface="Arial MT"/>
              </a:rPr>
              <a:t>allocated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including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swap.</a:t>
            </a:r>
            <a:endParaRPr sz="1600" dirty="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466500" y="2350997"/>
            <a:ext cx="2249805" cy="5981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600" dirty="0">
                <a:latin typeface="Arial MT"/>
                <a:cs typeface="Arial MT"/>
              </a:rPr>
              <a:t>Use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vmmap</a:t>
            </a:r>
            <a:r>
              <a:rPr sz="1600" b="1" spc="-1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Detailed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6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Mapping</a:t>
            </a:r>
            <a:endParaRPr sz="1600" dirty="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481349" y="3048000"/>
            <a:ext cx="2164715" cy="4622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vmmap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&lt;PID&gt;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165361"/>
            <a:ext cx="370442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Code</a:t>
            </a:r>
            <a:r>
              <a:rPr spc="-105" dirty="0"/>
              <a:t> </a:t>
            </a:r>
            <a:r>
              <a:rPr dirty="0"/>
              <a:t>Example</a:t>
            </a:r>
            <a:r>
              <a:rPr spc="-105" dirty="0"/>
              <a:t> </a:t>
            </a:r>
            <a:r>
              <a:rPr spc="-25" dirty="0"/>
              <a:t>#2</a:t>
            </a:r>
          </a:p>
        </p:txBody>
      </p:sp>
      <p:pic>
        <p:nvPicPr>
          <p:cNvPr id="3" name="object 3" descr="A close-up of three C code lines demonstrating different ways to allocate memory for four integers using malloc, specifically showing calculations using sizeof(int), sizeof(int[4]), and sizeof *p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7674" y="1774961"/>
            <a:ext cx="4482926" cy="116929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17673" y="3096660"/>
            <a:ext cx="4482926" cy="29833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marR="205104" indent="-351790">
              <a:lnSpc>
                <a:spcPct val="125000"/>
              </a:lnSpc>
              <a:spcBef>
                <a:spcPts val="100"/>
              </a:spcBef>
              <a:spcAft>
                <a:spcPts val="600"/>
              </a:spcAft>
              <a:buChar char="●"/>
              <a:tabLst>
                <a:tab pos="363855" algn="l"/>
              </a:tabLst>
            </a:pPr>
            <a:r>
              <a:rPr sz="1600" dirty="0">
                <a:latin typeface="Arial MT"/>
                <a:cs typeface="Arial MT"/>
              </a:rPr>
              <a:t>We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malloc()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allocate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memory dynamically.</a:t>
            </a:r>
            <a:endParaRPr sz="1600" dirty="0">
              <a:latin typeface="Arial MT"/>
              <a:cs typeface="Arial MT"/>
            </a:endParaRPr>
          </a:p>
          <a:p>
            <a:pPr marL="363855" marR="5080" indent="-351790">
              <a:lnSpc>
                <a:spcPct val="125000"/>
              </a:lnSpc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363855" algn="l"/>
              </a:tabLst>
            </a:pP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malloc(size_in_bytes)</a:t>
            </a:r>
            <a:r>
              <a:rPr sz="1600" b="1" spc="-4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→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Allocates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given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size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returns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spc="-50" dirty="0">
                <a:latin typeface="Arial MT"/>
                <a:cs typeface="Arial MT"/>
              </a:rPr>
              <a:t>a </a:t>
            </a:r>
            <a:r>
              <a:rPr sz="1600" b="1" dirty="0">
                <a:latin typeface="Arial"/>
                <a:cs typeface="Arial"/>
              </a:rPr>
              <a:t>pointer</a:t>
            </a:r>
            <a:r>
              <a:rPr sz="1600" b="1" spc="-4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to</a:t>
            </a:r>
            <a:r>
              <a:rPr sz="1600" b="1" spc="-4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the</a:t>
            </a:r>
            <a:r>
              <a:rPr sz="1600" b="1" spc="-40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allocated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block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363855" marR="141605" indent="-351790">
              <a:lnSpc>
                <a:spcPct val="125000"/>
              </a:lnSpc>
              <a:spcAft>
                <a:spcPts val="600"/>
              </a:spcAft>
              <a:buChar char="●"/>
              <a:tabLst>
                <a:tab pos="363855" algn="l"/>
              </a:tabLst>
            </a:pPr>
            <a:r>
              <a:rPr sz="1600" dirty="0">
                <a:latin typeface="Arial MT"/>
                <a:cs typeface="Arial MT"/>
              </a:rPr>
              <a:t>We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need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4</a:t>
            </a:r>
            <a:r>
              <a:rPr sz="1600" b="1" spc="-4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integers</a:t>
            </a:r>
            <a:r>
              <a:rPr sz="1600" dirty="0">
                <a:latin typeface="Arial MT"/>
                <a:cs typeface="Arial MT"/>
              </a:rPr>
              <a:t>,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so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we </a:t>
            </a:r>
            <a:r>
              <a:rPr sz="1600" dirty="0">
                <a:latin typeface="Arial MT"/>
                <a:cs typeface="Arial MT"/>
              </a:rPr>
              <a:t>calculate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size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using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sizeof(int)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363855" marR="347980" indent="-351790">
              <a:lnSpc>
                <a:spcPct val="125000"/>
              </a:lnSpc>
              <a:buClr>
                <a:srgbClr val="000000"/>
              </a:buClr>
              <a:buFont typeface="Arial MT"/>
              <a:buChar char="●"/>
              <a:tabLst>
                <a:tab pos="363855" algn="l"/>
              </a:tabLst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(int</a:t>
            </a:r>
            <a:r>
              <a:rPr sz="1600" b="1" spc="-7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*)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typecast</a:t>
            </a:r>
            <a:r>
              <a:rPr sz="1600" spc="-25" dirty="0">
                <a:latin typeface="Arial MT"/>
                <a:cs typeface="Arial MT"/>
              </a:rPr>
              <a:t> </a:t>
            </a:r>
            <a:br>
              <a:rPr lang="en-US" sz="1600" spc="-25" dirty="0">
                <a:latin typeface="Arial MT"/>
                <a:cs typeface="Arial MT"/>
              </a:rPr>
            </a:br>
            <a:r>
              <a:rPr sz="1600" dirty="0">
                <a:latin typeface="Arial MT"/>
                <a:cs typeface="Arial MT"/>
              </a:rPr>
              <a:t>(optional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-25" dirty="0">
                <a:latin typeface="Arial MT"/>
                <a:cs typeface="Arial MT"/>
              </a:rPr>
              <a:t> C, </a:t>
            </a:r>
            <a:r>
              <a:rPr sz="1600" dirty="0">
                <a:latin typeface="Arial MT"/>
                <a:cs typeface="Arial MT"/>
              </a:rPr>
              <a:t>required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C++).</a:t>
            </a:r>
            <a:endParaRPr sz="1600" dirty="0">
              <a:latin typeface="Arial MT"/>
              <a:cs typeface="Arial MT"/>
            </a:endParaRPr>
          </a:p>
        </p:txBody>
      </p:sp>
      <p:pic>
        <p:nvPicPr>
          <p:cNvPr id="5" name="object 5" descr="A C code block showing an if statement that checks if three pointers (p1, p2, p3) are null; if so, it prints an error message to stderr, frees the pointers, and returns 1.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144770" y="914400"/>
            <a:ext cx="5672455" cy="2089874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5144770" y="3070361"/>
            <a:ext cx="6513830" cy="35989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25000"/>
              </a:lnSpc>
              <a:spcBef>
                <a:spcPts val="100"/>
              </a:spcBef>
            </a:pPr>
            <a:r>
              <a:rPr sz="1600" b="1" dirty="0">
                <a:latin typeface="Arial"/>
                <a:cs typeface="Arial"/>
              </a:rPr>
              <a:t>Why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check</a:t>
            </a:r>
            <a:r>
              <a:rPr sz="1600" b="1" spc="-10" dirty="0"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malloc()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latin typeface="Arial"/>
                <a:cs typeface="Arial"/>
              </a:rPr>
              <a:t>return</a:t>
            </a:r>
            <a:r>
              <a:rPr sz="1600" b="1" spc="-20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values?</a:t>
            </a:r>
            <a:endParaRPr sz="1600" dirty="0">
              <a:latin typeface="Arial"/>
              <a:cs typeface="Arial"/>
            </a:endParaRPr>
          </a:p>
          <a:p>
            <a:pPr marL="469900" marR="77470" indent="-351790">
              <a:lnSpc>
                <a:spcPct val="125000"/>
              </a:lnSpc>
              <a:spcBef>
                <a:spcPts val="910"/>
              </a:spcBef>
              <a:spcAft>
                <a:spcPts val="300"/>
              </a:spcAft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If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malloc()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fails,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it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returns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NULL</a:t>
            </a:r>
            <a:r>
              <a:rPr sz="1600" dirty="0">
                <a:latin typeface="Arial MT"/>
                <a:cs typeface="Arial MT"/>
              </a:rPr>
              <a:t>,</a:t>
            </a:r>
            <a:r>
              <a:rPr sz="1600" spc="-20" dirty="0">
                <a:latin typeface="Arial MT"/>
                <a:cs typeface="Arial MT"/>
              </a:rPr>
              <a:t> </a:t>
            </a:r>
            <a:br>
              <a:rPr lang="en-US" sz="1600" spc="-20" dirty="0">
                <a:latin typeface="Arial MT"/>
                <a:cs typeface="Arial MT"/>
              </a:rPr>
            </a:b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accessing</a:t>
            </a:r>
            <a:r>
              <a:rPr sz="1600" b="1" spc="-2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a</a:t>
            </a:r>
            <a:r>
              <a:rPr sz="1600" b="1" spc="-5" dirty="0"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NULL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latin typeface="Arial"/>
                <a:cs typeface="Arial"/>
              </a:rPr>
              <a:t>pointer </a:t>
            </a:r>
            <a:r>
              <a:rPr sz="1600" b="1" dirty="0">
                <a:latin typeface="Arial"/>
                <a:cs typeface="Arial"/>
              </a:rPr>
              <a:t>leads</a:t>
            </a:r>
            <a:r>
              <a:rPr sz="1600" b="1" spc="-2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to</a:t>
            </a:r>
            <a:r>
              <a:rPr sz="1600" b="1" spc="-2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a</a:t>
            </a:r>
            <a:r>
              <a:rPr sz="1600" b="1" spc="-20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crash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</a:pPr>
            <a:r>
              <a:rPr lang="en-US" sz="1600" b="1" dirty="0">
                <a:latin typeface="Arial"/>
                <a:cs typeface="Arial"/>
              </a:rPr>
              <a:t>How</a:t>
            </a:r>
            <a:r>
              <a:rPr lang="en-US" sz="1600" b="1" spc="-25" dirty="0">
                <a:latin typeface="Arial"/>
                <a:cs typeface="Arial"/>
              </a:rPr>
              <a:t> </a:t>
            </a:r>
            <a:r>
              <a:rPr lang="en-US" sz="1600" b="1" dirty="0">
                <a:latin typeface="Arial"/>
                <a:cs typeface="Arial"/>
              </a:rPr>
              <a:t>do</a:t>
            </a:r>
            <a:r>
              <a:rPr lang="en-US" sz="1600" b="1" spc="-20" dirty="0">
                <a:latin typeface="Arial"/>
                <a:cs typeface="Arial"/>
              </a:rPr>
              <a:t> </a:t>
            </a:r>
            <a:r>
              <a:rPr lang="en-US" sz="1600" b="1" dirty="0">
                <a:latin typeface="Arial"/>
                <a:cs typeface="Arial"/>
              </a:rPr>
              <a:t>we</a:t>
            </a:r>
            <a:r>
              <a:rPr lang="en-US" sz="1600" b="1" spc="-20" dirty="0">
                <a:latin typeface="Arial"/>
                <a:cs typeface="Arial"/>
              </a:rPr>
              <a:t> </a:t>
            </a:r>
            <a:r>
              <a:rPr lang="en-US" sz="1600" b="1" dirty="0">
                <a:latin typeface="Arial"/>
                <a:cs typeface="Arial"/>
              </a:rPr>
              <a:t>handle</a:t>
            </a:r>
            <a:r>
              <a:rPr lang="en-US" sz="1600" b="1" spc="-25" dirty="0">
                <a:latin typeface="Arial"/>
                <a:cs typeface="Arial"/>
              </a:rPr>
              <a:t> </a:t>
            </a:r>
            <a:r>
              <a:rPr lang="en-US" sz="1600" b="1" spc="-10" dirty="0">
                <a:latin typeface="Arial"/>
                <a:cs typeface="Arial"/>
              </a:rPr>
              <a:t>failure?</a:t>
            </a:r>
            <a:endParaRPr sz="1600" dirty="0">
              <a:latin typeface="Arial MT"/>
              <a:cs typeface="Arial MT"/>
            </a:endParaRPr>
          </a:p>
          <a:p>
            <a:pPr marL="469900" marR="5080" indent="-351790">
              <a:lnSpc>
                <a:spcPct val="125000"/>
              </a:lnSpc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If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any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pointer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NULL</a:t>
            </a:r>
            <a:r>
              <a:rPr sz="1600" dirty="0">
                <a:latin typeface="Arial MT"/>
                <a:cs typeface="Arial MT"/>
              </a:rPr>
              <a:t>,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print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error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message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(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fprintf(stderr,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"Memory</a:t>
            </a:r>
            <a:r>
              <a:rPr sz="1600" b="1" spc="-12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allocation</a:t>
            </a:r>
            <a:r>
              <a:rPr sz="1600" b="1" spc="-12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failed!\n");</a:t>
            </a:r>
            <a:r>
              <a:rPr sz="1600" spc="-10" dirty="0">
                <a:latin typeface="Arial MT"/>
                <a:cs typeface="Arial MT"/>
              </a:rPr>
              <a:t>).</a:t>
            </a:r>
            <a:endParaRPr sz="1600" dirty="0">
              <a:latin typeface="Arial MT"/>
              <a:cs typeface="Arial MT"/>
            </a:endParaRPr>
          </a:p>
          <a:p>
            <a:pPr marL="469900" marR="84455" indent="-351790">
              <a:lnSpc>
                <a:spcPct val="125000"/>
              </a:lnSpc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free(p1);</a:t>
            </a:r>
            <a:r>
              <a:rPr sz="1600" b="1" spc="-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free(p2);</a:t>
            </a:r>
            <a:r>
              <a:rPr sz="1600" b="1" spc="-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free(p3);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→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Releases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any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allocated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7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before</a:t>
            </a:r>
            <a:r>
              <a:rPr sz="1600" spc="-7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exiting.</a:t>
            </a:r>
            <a:endParaRPr sz="1600" dirty="0">
              <a:latin typeface="Arial MT"/>
              <a:cs typeface="Arial MT"/>
            </a:endParaRPr>
          </a:p>
          <a:p>
            <a:pPr marL="469900" marR="243840" indent="-351790">
              <a:lnSpc>
                <a:spcPct val="125000"/>
              </a:lnSpc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return</a:t>
            </a:r>
            <a:r>
              <a:rPr sz="1600" b="1" spc="-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1;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→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Exits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program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with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error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code</a:t>
            </a:r>
            <a:r>
              <a:rPr sz="1600" spc="-25" dirty="0">
                <a:latin typeface="Arial MT"/>
                <a:cs typeface="Arial MT"/>
              </a:rPr>
              <a:t> </a:t>
            </a:r>
            <a:br>
              <a:rPr lang="en-US" sz="1600" spc="-25" dirty="0">
                <a:latin typeface="Arial MT"/>
                <a:cs typeface="Arial MT"/>
              </a:rPr>
            </a:br>
            <a:r>
              <a:rPr sz="1600" spc="-10" dirty="0">
                <a:latin typeface="Arial MT"/>
                <a:cs typeface="Arial MT"/>
              </a:rPr>
              <a:t>(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1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10" dirty="0">
                <a:latin typeface="Arial MT"/>
                <a:cs typeface="Arial MT"/>
              </a:rPr>
              <a:t>indicates failure).</a:t>
            </a:r>
            <a:endParaRPr sz="16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Courier New"/>
                <a:cs typeface="Courier New"/>
              </a:rPr>
              <a:t>calloc</a:t>
            </a:r>
            <a:r>
              <a:rPr spc="-60" dirty="0">
                <a:latin typeface="Courier New"/>
                <a:cs typeface="Courier New"/>
              </a:rPr>
              <a:t> </a:t>
            </a:r>
            <a:r>
              <a:rPr dirty="0"/>
              <a:t>(Contiguous</a:t>
            </a:r>
            <a:r>
              <a:rPr spc="-25" dirty="0"/>
              <a:t> </a:t>
            </a:r>
            <a:r>
              <a:rPr spc="-10" dirty="0"/>
              <a:t>Allocation)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3258" y="2364594"/>
            <a:ext cx="6104890" cy="83580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6715" indent="-374015">
              <a:lnSpc>
                <a:spcPct val="150000"/>
              </a:lnSpc>
              <a:spcBef>
                <a:spcPts val="100"/>
              </a:spcBef>
              <a:buChar char="●"/>
              <a:tabLst>
                <a:tab pos="386715" algn="l"/>
              </a:tabLst>
            </a:pP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Allocates</a:t>
            </a:r>
            <a:r>
              <a:rPr sz="19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19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z="19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initializes</a:t>
            </a:r>
            <a:r>
              <a:rPr sz="19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all</a:t>
            </a:r>
            <a:r>
              <a:rPr sz="19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bits</a:t>
            </a:r>
            <a:r>
              <a:rPr sz="19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9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spc="-10" dirty="0">
                <a:solidFill>
                  <a:srgbClr val="0F2044"/>
                </a:solidFill>
                <a:latin typeface="Arial MT"/>
                <a:cs typeface="Arial MT"/>
              </a:rPr>
              <a:t>zero.</a:t>
            </a:r>
            <a:endParaRPr sz="1900" dirty="0">
              <a:latin typeface="Arial MT"/>
              <a:cs typeface="Arial MT"/>
            </a:endParaRPr>
          </a:p>
          <a:p>
            <a:pPr marL="386715" indent="-374015">
              <a:lnSpc>
                <a:spcPct val="150000"/>
              </a:lnSpc>
              <a:buChar char="●"/>
              <a:tabLst>
                <a:tab pos="386715" algn="l"/>
              </a:tabLst>
            </a:pP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Similar</a:t>
            </a:r>
            <a:r>
              <a:rPr sz="19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9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malloc,</a:t>
            </a:r>
            <a:r>
              <a:rPr sz="19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but</a:t>
            </a:r>
            <a:r>
              <a:rPr sz="19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initializes</a:t>
            </a:r>
            <a:r>
              <a:rPr sz="19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9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dirty="0">
                <a:solidFill>
                  <a:srgbClr val="0F2044"/>
                </a:solidFill>
                <a:latin typeface="Arial MT"/>
                <a:cs typeface="Arial MT"/>
              </a:rPr>
              <a:t>allocated</a:t>
            </a:r>
            <a:r>
              <a:rPr sz="19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900" spc="-10" dirty="0">
                <a:solidFill>
                  <a:srgbClr val="0F2044"/>
                </a:solidFill>
                <a:latin typeface="Arial MT"/>
                <a:cs typeface="Arial MT"/>
              </a:rPr>
              <a:t>memory.</a:t>
            </a:r>
            <a:endParaRPr sz="1900" dirty="0">
              <a:latin typeface="Arial MT"/>
              <a:cs typeface="Arial MT"/>
            </a:endParaRPr>
          </a:p>
        </p:txBody>
      </p:sp>
      <p:pic>
        <p:nvPicPr>
          <p:cNvPr id="5" name="object 5" descr="Calloc Visual&#10;Illustration of calloc allocating 20 bytes as five separate 4-byte blocks, emphasizing its multi-block allocation style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7349" y="3440100"/>
            <a:ext cx="6555189" cy="2261549"/>
          </a:xfrm>
          <a:prstGeom prst="rect">
            <a:avLst/>
          </a:prstGeom>
        </p:spPr>
      </p:pic>
      <p:sp>
        <p:nv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2277100" y="5845795"/>
            <a:ext cx="259905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4"/>
              </a:rPr>
              <a:t>https://www.geeksforgeeks.org/</a:t>
            </a:r>
            <a:endParaRPr sz="1000">
              <a:latin typeface="Arial MT"/>
              <a:cs typeface="Arial MT"/>
            </a:endParaRPr>
          </a:p>
        </p:txBody>
      </p:sp>
      <p:pic>
        <p:nvPicPr>
          <p:cNvPr id="6" name="object 6" descr="Malloc vs Calloc&#10;A comparison graphic showing that malloc memory starts with random &quot;garbage&quot; values while calloc memory is automatically initialized to zero.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044749" y="1626525"/>
            <a:ext cx="4912499" cy="4534624"/>
          </a:xfrm>
          <a:prstGeom prst="rect">
            <a:avLst/>
          </a:prstGeom>
        </p:spPr>
      </p:pic>
      <p:sp>
        <p:nvSp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347300" y="6229095"/>
            <a:ext cx="269367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Nasser</a:t>
            </a:r>
            <a:r>
              <a:rPr sz="1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El-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Din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Basha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@</a:t>
            </a:r>
            <a:r>
              <a:rPr sz="1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LinkedIn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6200" y="1219200"/>
            <a:ext cx="470535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Courier New"/>
                <a:cs typeface="Courier New"/>
              </a:rPr>
              <a:t>calloc</a:t>
            </a:r>
            <a:r>
              <a:rPr spc="-60" dirty="0">
                <a:latin typeface="Courier New"/>
                <a:cs typeface="Courier New"/>
              </a:rPr>
              <a:t> </a:t>
            </a:r>
            <a:r>
              <a:rPr dirty="0"/>
              <a:t>(Contiguous</a:t>
            </a:r>
            <a:r>
              <a:rPr spc="-25" dirty="0"/>
              <a:t> </a:t>
            </a:r>
            <a:r>
              <a:rPr spc="-10" dirty="0"/>
              <a:t>Allocation)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02870" y="1752600"/>
            <a:ext cx="5993130" cy="4913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35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16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latin typeface="Arial"/>
                <a:cs typeface="Arial"/>
              </a:rPr>
              <a:t>Function</a:t>
            </a:r>
            <a:r>
              <a:rPr sz="1600" spc="-10" dirty="0">
                <a:latin typeface="Arial MT"/>
                <a:cs typeface="Arial MT"/>
              </a:rPr>
              <a:t>:</a:t>
            </a:r>
            <a:endParaRPr sz="1600" dirty="0">
              <a:latin typeface="Arial MT"/>
              <a:cs typeface="Arial MT"/>
            </a:endParaRPr>
          </a:p>
          <a:p>
            <a:pPr marL="469900" marR="43815" indent="-351790">
              <a:lnSpc>
                <a:spcPct val="135000"/>
              </a:lnSpc>
              <a:spcBef>
                <a:spcPts val="910"/>
              </a:spcBef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used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dynamically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allocate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array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10" dirty="0">
                <a:solidFill>
                  <a:srgbClr val="188037"/>
                </a:solidFill>
                <a:latin typeface="Courier New"/>
                <a:cs typeface="Courier New"/>
              </a:rPr>
              <a:t>n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10" dirty="0">
                <a:latin typeface="Arial MT"/>
                <a:cs typeface="Arial MT"/>
              </a:rPr>
              <a:t>elements,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where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each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element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size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sizeof(int)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469900" marR="347345" indent="-351790">
              <a:lnSpc>
                <a:spcPct val="135000"/>
              </a:lnSpc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key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difference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between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and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malloc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that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initializes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allocated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zero,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whereas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malloc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leaves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uninitialized.</a:t>
            </a:r>
            <a:endParaRPr sz="1600" dirty="0">
              <a:latin typeface="Arial MT"/>
              <a:cs typeface="Arial MT"/>
            </a:endParaRPr>
          </a:p>
          <a:p>
            <a:pPr marL="469900" marR="134620" indent="-351790">
              <a:lnSpc>
                <a:spcPct val="135000"/>
              </a:lnSpc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function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takes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two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arguments: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number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of </a:t>
            </a:r>
            <a:r>
              <a:rPr sz="1600" dirty="0">
                <a:latin typeface="Arial MT"/>
                <a:cs typeface="Arial MT"/>
              </a:rPr>
              <a:t>elements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n</a:t>
            </a:r>
            <a:r>
              <a:rPr sz="1600" dirty="0">
                <a:latin typeface="Arial MT"/>
                <a:cs typeface="Arial MT"/>
              </a:rPr>
              <a:t>)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size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each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element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(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sizeof(int)</a:t>
            </a:r>
            <a:r>
              <a:rPr sz="1600" spc="-10" dirty="0">
                <a:latin typeface="Arial MT"/>
                <a:cs typeface="Arial MT"/>
              </a:rPr>
              <a:t>).</a:t>
            </a:r>
            <a:endParaRPr sz="1600" dirty="0">
              <a:latin typeface="Arial MT"/>
              <a:cs typeface="Arial MT"/>
            </a:endParaRPr>
          </a:p>
          <a:p>
            <a:pPr marL="12700">
              <a:lnSpc>
                <a:spcPct val="135000"/>
              </a:lnSpc>
              <a:spcBef>
                <a:spcPts val="1490"/>
              </a:spcBef>
            </a:pPr>
            <a:r>
              <a:rPr sz="1600" b="1" dirty="0">
                <a:latin typeface="Arial"/>
                <a:cs typeface="Arial"/>
              </a:rPr>
              <a:t>Memory</a:t>
            </a:r>
            <a:r>
              <a:rPr sz="1600" b="1" spc="-9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Initialization</a:t>
            </a:r>
            <a:r>
              <a:rPr sz="1600" spc="-10" dirty="0">
                <a:latin typeface="Arial MT"/>
                <a:cs typeface="Arial MT"/>
              </a:rPr>
              <a:t>:</a:t>
            </a:r>
            <a:endParaRPr sz="1600" dirty="0">
              <a:latin typeface="Arial MT"/>
              <a:cs typeface="Arial MT"/>
            </a:endParaRPr>
          </a:p>
          <a:p>
            <a:pPr marL="469900" marR="5080" indent="-351790">
              <a:lnSpc>
                <a:spcPct val="135000"/>
              </a:lnSpc>
              <a:spcBef>
                <a:spcPts val="1200"/>
              </a:spcBef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Immediately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after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allocation,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elements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array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are</a:t>
            </a:r>
            <a:r>
              <a:rPr sz="1600" spc="-25" dirty="0">
                <a:latin typeface="Arial MT"/>
                <a:cs typeface="Arial MT"/>
              </a:rPr>
              <a:t> set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0</a:t>
            </a:r>
            <a:r>
              <a:rPr sz="1600" dirty="0">
                <a:latin typeface="Arial MT"/>
                <a:cs typeface="Arial MT"/>
              </a:rPr>
              <a:t>.</a:t>
            </a:r>
            <a:r>
              <a:rPr sz="1600" spc="-6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guaranteed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by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1600" dirty="0">
                <a:latin typeface="Arial MT"/>
                <a:cs typeface="Arial MT"/>
              </a:rPr>
              <a:t>,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unlike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malloc</a:t>
            </a:r>
            <a:r>
              <a:rPr sz="1600" dirty="0">
                <a:latin typeface="Arial MT"/>
                <a:cs typeface="Arial MT"/>
              </a:rPr>
              <a:t>,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where</a:t>
            </a:r>
            <a:r>
              <a:rPr lang="en-US" sz="1600" spc="-4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th</a:t>
            </a:r>
            <a:r>
              <a:rPr lang="en-US" sz="1600" spc="-25" dirty="0">
                <a:latin typeface="Arial MT"/>
                <a:cs typeface="Arial MT"/>
              </a:rPr>
              <a:t>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content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allocated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undefined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until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explicitly initialized.</a:t>
            </a:r>
            <a:endParaRPr sz="1600" dirty="0">
              <a:latin typeface="Arial MT"/>
              <a:cs typeface="Arial MT"/>
            </a:endParaRPr>
          </a:p>
        </p:txBody>
      </p:sp>
      <p:pic>
        <p:nvPicPr>
          <p:cNvPr id="5" name="object 5" descr="A C program demonstrating calloc to allocate and zero-initialize an array, including loops that print the initial values and then the updated values after population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96000" y="1752601"/>
            <a:ext cx="6085952" cy="4518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32BE0-1717-C52E-4CF8-211740673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F6FDC0A-E2B7-4A43-1DF4-8379C46284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200" y="1219200"/>
            <a:ext cx="470535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Courier New"/>
                <a:cs typeface="Courier New"/>
              </a:rPr>
              <a:t>calloc</a:t>
            </a:r>
            <a:r>
              <a:rPr spc="-60" dirty="0">
                <a:latin typeface="Courier New"/>
                <a:cs typeface="Courier New"/>
              </a:rPr>
              <a:t> </a:t>
            </a:r>
            <a:r>
              <a:rPr dirty="0"/>
              <a:t>(Contiguous</a:t>
            </a:r>
            <a:r>
              <a:rPr spc="-25" dirty="0"/>
              <a:t> </a:t>
            </a:r>
            <a:r>
              <a:rPr spc="-10" dirty="0"/>
              <a:t>Allocation)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DDD0647-9945-B883-25FB-40603FEEB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02870" y="1752600"/>
            <a:ext cx="5993130" cy="4913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35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16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latin typeface="Arial"/>
                <a:cs typeface="Arial"/>
              </a:rPr>
              <a:t>Function</a:t>
            </a:r>
            <a:r>
              <a:rPr sz="1600" spc="-10" dirty="0">
                <a:latin typeface="Arial MT"/>
                <a:cs typeface="Arial MT"/>
              </a:rPr>
              <a:t>:</a:t>
            </a:r>
            <a:endParaRPr sz="1600" dirty="0">
              <a:latin typeface="Arial MT"/>
              <a:cs typeface="Arial MT"/>
            </a:endParaRPr>
          </a:p>
          <a:p>
            <a:pPr marL="469900" marR="43815" indent="-351790">
              <a:lnSpc>
                <a:spcPct val="135000"/>
              </a:lnSpc>
              <a:spcBef>
                <a:spcPts val="910"/>
              </a:spcBef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used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dynamically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allocate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array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n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10" dirty="0">
                <a:latin typeface="Arial MT"/>
                <a:cs typeface="Arial MT"/>
              </a:rPr>
              <a:t>elements,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where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each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element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size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10" dirty="0">
                <a:solidFill>
                  <a:srgbClr val="188037"/>
                </a:solidFill>
                <a:latin typeface="Courier New"/>
                <a:cs typeface="Courier New"/>
              </a:rPr>
              <a:t>sizeof(int)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469900" marR="347345" indent="-351790">
              <a:lnSpc>
                <a:spcPct val="135000"/>
              </a:lnSpc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key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difference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between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20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and </a:t>
            </a:r>
            <a:r>
              <a:rPr sz="1600" spc="-20" dirty="0">
                <a:solidFill>
                  <a:srgbClr val="188037"/>
                </a:solidFill>
                <a:latin typeface="Courier New"/>
                <a:cs typeface="Courier New"/>
              </a:rPr>
              <a:t>malloc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that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initializes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allocated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zero,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whereas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malloc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leaves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uninitialized.</a:t>
            </a:r>
            <a:endParaRPr sz="1600" dirty="0">
              <a:latin typeface="Arial MT"/>
              <a:cs typeface="Arial MT"/>
            </a:endParaRPr>
          </a:p>
          <a:p>
            <a:pPr marL="469900" marR="134620" indent="-351790">
              <a:lnSpc>
                <a:spcPct val="135000"/>
              </a:lnSpc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function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takes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two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arguments: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number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of </a:t>
            </a:r>
            <a:r>
              <a:rPr sz="1600" dirty="0">
                <a:latin typeface="Arial MT"/>
                <a:cs typeface="Arial MT"/>
              </a:rPr>
              <a:t>elements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n</a:t>
            </a:r>
            <a:r>
              <a:rPr sz="1600" dirty="0">
                <a:latin typeface="Arial MT"/>
                <a:cs typeface="Arial MT"/>
              </a:rPr>
              <a:t>)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size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each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element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(</a:t>
            </a:r>
            <a:r>
              <a:rPr sz="1600" spc="-10" dirty="0">
                <a:solidFill>
                  <a:srgbClr val="188037"/>
                </a:solidFill>
                <a:latin typeface="Courier New"/>
                <a:cs typeface="Courier New"/>
              </a:rPr>
              <a:t>sizeof(int)</a:t>
            </a:r>
            <a:r>
              <a:rPr sz="1600" spc="-10" dirty="0">
                <a:latin typeface="Arial MT"/>
                <a:cs typeface="Arial MT"/>
              </a:rPr>
              <a:t>).</a:t>
            </a:r>
            <a:endParaRPr sz="1600" dirty="0">
              <a:latin typeface="Arial MT"/>
              <a:cs typeface="Arial MT"/>
            </a:endParaRPr>
          </a:p>
          <a:p>
            <a:pPr marL="12700">
              <a:lnSpc>
                <a:spcPct val="135000"/>
              </a:lnSpc>
              <a:spcBef>
                <a:spcPts val="1490"/>
              </a:spcBef>
            </a:pPr>
            <a:r>
              <a:rPr sz="1600" b="1" dirty="0">
                <a:latin typeface="Arial"/>
                <a:cs typeface="Arial"/>
              </a:rPr>
              <a:t>Memory</a:t>
            </a:r>
            <a:r>
              <a:rPr sz="1600" b="1" spc="-9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Initialization</a:t>
            </a:r>
            <a:r>
              <a:rPr sz="1600" spc="-10" dirty="0">
                <a:latin typeface="Arial MT"/>
                <a:cs typeface="Arial MT"/>
              </a:rPr>
              <a:t>:</a:t>
            </a:r>
            <a:endParaRPr sz="1600" dirty="0">
              <a:latin typeface="Arial MT"/>
              <a:cs typeface="Arial MT"/>
            </a:endParaRPr>
          </a:p>
          <a:p>
            <a:pPr marL="469900" marR="5080" indent="-351790">
              <a:lnSpc>
                <a:spcPct val="135000"/>
              </a:lnSpc>
              <a:spcBef>
                <a:spcPts val="1200"/>
              </a:spcBef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Immediately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after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allocation,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elements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array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are</a:t>
            </a:r>
            <a:r>
              <a:rPr sz="1600" spc="-25" dirty="0">
                <a:latin typeface="Arial MT"/>
                <a:cs typeface="Arial MT"/>
              </a:rPr>
              <a:t> set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0</a:t>
            </a:r>
            <a:r>
              <a:rPr sz="1600" dirty="0">
                <a:latin typeface="Arial MT"/>
                <a:cs typeface="Arial MT"/>
              </a:rPr>
              <a:t>.</a:t>
            </a:r>
            <a:r>
              <a:rPr sz="1600" spc="-6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guaranteed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by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1600" dirty="0">
                <a:latin typeface="Arial MT"/>
                <a:cs typeface="Arial MT"/>
              </a:rPr>
              <a:t>,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unlike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188037"/>
                </a:solidFill>
                <a:latin typeface="Courier New"/>
                <a:cs typeface="Courier New"/>
              </a:rPr>
              <a:t>malloc</a:t>
            </a:r>
            <a:r>
              <a:rPr sz="1600" dirty="0">
                <a:latin typeface="Arial MT"/>
                <a:cs typeface="Arial MT"/>
              </a:rPr>
              <a:t>,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where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th</a:t>
            </a:r>
            <a:r>
              <a:rPr lang="en-US" sz="1600" spc="-25" dirty="0">
                <a:latin typeface="Arial MT"/>
                <a:cs typeface="Arial MT"/>
              </a:rPr>
              <a:t>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content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allocated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undefined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until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explicitly initialized.</a:t>
            </a:r>
            <a:endParaRPr sz="1600" dirty="0">
              <a:latin typeface="Arial MT"/>
              <a:cs typeface="Arial MT"/>
            </a:endParaRP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2F02C8B0-6D5D-8759-C256-8891A4329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96000" y="1752601"/>
            <a:ext cx="6085952" cy="4518280"/>
          </a:xfrm>
          <a:prstGeom prst="rect">
            <a:avLst/>
          </a:prstGeom>
        </p:spPr>
      </p:pic>
      <p:sp>
        <p:nvSpPr>
          <p:cNvPr id="6" name="object 14">
            <a:extLst>
              <a:ext uri="{FF2B5EF4-FFF2-40B4-BE49-F238E27FC236}">
                <a16:creationId xmlns:a16="http://schemas.microsoft.com/office/drawing/2014/main" id="{389C91E5-BE8B-73DF-570F-E57E766E1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56500" y="2322874"/>
            <a:ext cx="6979920" cy="3561715"/>
          </a:xfrm>
          <a:custGeom>
            <a:avLst/>
            <a:gdLst/>
            <a:ahLst/>
            <a:cxnLst/>
            <a:rect l="l" t="t" r="r" b="b"/>
            <a:pathLst>
              <a:path w="6979920" h="3561715">
                <a:moveTo>
                  <a:pt x="6979799" y="3561599"/>
                </a:moveTo>
                <a:lnTo>
                  <a:pt x="0" y="3561599"/>
                </a:lnTo>
                <a:lnTo>
                  <a:pt x="0" y="0"/>
                </a:lnTo>
                <a:lnTo>
                  <a:pt x="6979799" y="0"/>
                </a:lnTo>
                <a:lnTo>
                  <a:pt x="6979799" y="3561599"/>
                </a:lnTo>
                <a:close/>
              </a:path>
            </a:pathLst>
          </a:custGeom>
          <a:solidFill>
            <a:srgbClr val="B6D7A8"/>
          </a:solidFill>
          <a:ln w="76200">
            <a:solidFill>
              <a:schemeClr val="accent5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16">
            <a:extLst>
              <a:ext uri="{FF2B5EF4-FFF2-40B4-BE49-F238E27FC236}">
                <a16:creationId xmlns:a16="http://schemas.microsoft.com/office/drawing/2014/main" id="{BFB35863-C30A-61F1-9301-3E31D468B006}"/>
              </a:ext>
            </a:extLst>
          </p:cNvPr>
          <p:cNvSpPr txBox="1"/>
          <p:nvPr/>
        </p:nvSpPr>
        <p:spPr>
          <a:xfrm>
            <a:off x="2595000" y="2854649"/>
            <a:ext cx="5610860" cy="87915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sz="2000" b="1" dirty="0">
                <a:latin typeface="Arial"/>
                <a:cs typeface="Arial"/>
              </a:rPr>
              <a:t>Use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malloc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When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you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need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allocate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memory </a:t>
            </a:r>
            <a:r>
              <a:rPr sz="2000" dirty="0">
                <a:latin typeface="Arial MT"/>
                <a:cs typeface="Arial MT"/>
              </a:rPr>
              <a:t>quickly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don’t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need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initialized.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8" name="object 17">
            <a:extLst>
              <a:ext uri="{FF2B5EF4-FFF2-40B4-BE49-F238E27FC236}">
                <a16:creationId xmlns:a16="http://schemas.microsoft.com/office/drawing/2014/main" id="{42574D43-04D6-3109-3B2E-1C8B82F1FE15}"/>
              </a:ext>
            </a:extLst>
          </p:cNvPr>
          <p:cNvSpPr txBox="1"/>
          <p:nvPr/>
        </p:nvSpPr>
        <p:spPr>
          <a:xfrm>
            <a:off x="2595000" y="4064989"/>
            <a:ext cx="6175375" cy="134081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sz="2000" b="1" dirty="0">
                <a:latin typeface="Arial"/>
                <a:cs typeface="Arial"/>
              </a:rPr>
              <a:t>Use</a:t>
            </a:r>
            <a:r>
              <a:rPr sz="2000" b="1" spc="-45" dirty="0"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When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you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need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allocated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memory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to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zero-</a:t>
            </a:r>
            <a:r>
              <a:rPr sz="2000" spc="-10" dirty="0">
                <a:latin typeface="Arial MT"/>
                <a:cs typeface="Arial MT"/>
              </a:rPr>
              <a:t>initialized,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typically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arrays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or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structures </a:t>
            </a:r>
            <a:r>
              <a:rPr sz="2000" dirty="0">
                <a:latin typeface="Arial MT"/>
                <a:cs typeface="Arial MT"/>
              </a:rPr>
              <a:t>where</a:t>
            </a:r>
            <a:r>
              <a:rPr sz="2000" spc="-6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default</a:t>
            </a:r>
            <a:r>
              <a:rPr sz="2000" spc="-6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values</a:t>
            </a:r>
            <a:r>
              <a:rPr sz="2000" spc="-6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should</a:t>
            </a:r>
            <a:r>
              <a:rPr sz="2000" spc="-6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6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zero.</a:t>
            </a:r>
            <a:endParaRPr sz="20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296103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Code</a:t>
            </a:r>
            <a:r>
              <a:rPr spc="-105" dirty="0"/>
              <a:t> </a:t>
            </a:r>
            <a:r>
              <a:rPr dirty="0"/>
              <a:t>Example</a:t>
            </a:r>
            <a:r>
              <a:rPr spc="-105" dirty="0"/>
              <a:t> </a:t>
            </a:r>
            <a:r>
              <a:rPr spc="-25" dirty="0"/>
              <a:t>#3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44900" y="2297436"/>
            <a:ext cx="3898499" cy="33413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marR="5080" indent="-367030">
              <a:lnSpc>
                <a:spcPct val="150000"/>
              </a:lnSpc>
              <a:spcBef>
                <a:spcPts val="100"/>
              </a:spcBef>
              <a:spcAft>
                <a:spcPts val="1200"/>
              </a:spcAft>
              <a:buClr>
                <a:srgbClr val="000000"/>
              </a:buClr>
              <a:buFont typeface="Arial MT"/>
              <a:buChar char="●"/>
              <a:tabLst>
                <a:tab pos="379095" algn="l"/>
              </a:tabLst>
            </a:pP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calloc(n,</a:t>
            </a:r>
            <a:r>
              <a:rPr sz="2000" b="1" spc="-4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sizeof(int)) </a:t>
            </a:r>
            <a:r>
              <a:rPr sz="2000" b="1" dirty="0">
                <a:latin typeface="Arial"/>
                <a:cs typeface="Arial"/>
              </a:rPr>
              <a:t>allocates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memory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for</a:t>
            </a:r>
            <a:r>
              <a:rPr sz="2000" b="1" spc="-25" dirty="0">
                <a:latin typeface="Arial"/>
                <a:cs typeface="Arial"/>
              </a:rPr>
              <a:t> </a:t>
            </a:r>
            <a:r>
              <a:rPr sz="2000" b="1" spc="-50" dirty="0">
                <a:solidFill>
                  <a:srgbClr val="188037"/>
                </a:solidFill>
                <a:latin typeface="Courier New"/>
                <a:cs typeface="Courier New"/>
              </a:rPr>
              <a:t>n </a:t>
            </a:r>
            <a:r>
              <a:rPr sz="2000" b="1" dirty="0">
                <a:latin typeface="Arial"/>
                <a:cs typeface="Arial"/>
              </a:rPr>
              <a:t>integers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and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initializes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b="1" spc="-20" dirty="0">
                <a:latin typeface="Arial"/>
                <a:cs typeface="Arial"/>
              </a:rPr>
              <a:t>them </a:t>
            </a:r>
            <a:r>
              <a:rPr sz="2000" b="1" dirty="0">
                <a:latin typeface="Arial"/>
                <a:cs typeface="Arial"/>
              </a:rPr>
              <a:t>to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zero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  <a:p>
            <a:pPr marL="379095" marR="18415" indent="-367030">
              <a:lnSpc>
                <a:spcPct val="150000"/>
              </a:lnSpc>
              <a:buChar char="●"/>
              <a:tabLst>
                <a:tab pos="379095" algn="l"/>
              </a:tabLst>
            </a:pPr>
            <a:r>
              <a:rPr sz="2000" dirty="0">
                <a:latin typeface="Arial MT"/>
                <a:cs typeface="Arial MT"/>
              </a:rPr>
              <a:t>Unlike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malloc</a:t>
            </a:r>
            <a:r>
              <a:rPr sz="2000" dirty="0">
                <a:latin typeface="Arial MT"/>
                <a:cs typeface="Arial MT"/>
              </a:rPr>
              <a:t>,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which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leaves </a:t>
            </a:r>
            <a:r>
              <a:rPr sz="2000" dirty="0">
                <a:latin typeface="Arial MT"/>
                <a:cs typeface="Arial MT"/>
              </a:rPr>
              <a:t>memory </a:t>
            </a:r>
            <a:r>
              <a:rPr sz="2000" b="1" spc="-10" dirty="0">
                <a:latin typeface="Arial"/>
                <a:cs typeface="Arial"/>
              </a:rPr>
              <a:t>uninitialized</a:t>
            </a:r>
            <a:r>
              <a:rPr sz="2000" spc="-10" dirty="0">
                <a:latin typeface="Arial MT"/>
                <a:cs typeface="Arial MT"/>
              </a:rPr>
              <a:t>,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calloc</a:t>
            </a:r>
            <a:r>
              <a:rPr sz="2000" spc="-59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ensures every byte </a:t>
            </a:r>
            <a:r>
              <a:rPr sz="2000" spc="-25" dirty="0">
                <a:latin typeface="Arial MT"/>
                <a:cs typeface="Arial MT"/>
              </a:rPr>
              <a:t>is </a:t>
            </a:r>
            <a:r>
              <a:rPr sz="2000" b="1" dirty="0">
                <a:latin typeface="Arial"/>
                <a:cs typeface="Arial"/>
              </a:rPr>
              <a:t>set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to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spc="-25" dirty="0">
                <a:latin typeface="Arial"/>
                <a:cs typeface="Arial"/>
              </a:rPr>
              <a:t>0</a:t>
            </a:r>
            <a:r>
              <a:rPr sz="2000" spc="-25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3" name="object 3" descr="A complete C source file illustrating the basic lifecycle of dynamic memory using calloc: allocation, error checking, printing the zero-initialized values, and freeing the memory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72000" y="1600200"/>
            <a:ext cx="7479899" cy="49458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524000"/>
            <a:ext cx="470535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Courier New"/>
                <a:cs typeface="Courier New"/>
              </a:rPr>
              <a:t>realloc</a:t>
            </a:r>
            <a:r>
              <a:rPr spc="-35" dirty="0">
                <a:latin typeface="Courier New"/>
                <a:cs typeface="Courier New"/>
              </a:rPr>
              <a:t> </a:t>
            </a:r>
            <a:r>
              <a:rPr spc="-10" dirty="0"/>
              <a:t>(Reallocation)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0899" y="2057400"/>
            <a:ext cx="6372225" cy="792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50000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Changes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size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an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existing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block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memory.</a:t>
            </a:r>
            <a:endParaRPr sz="1800" dirty="0">
              <a:latin typeface="Arial MT"/>
              <a:cs typeface="Arial MT"/>
            </a:endParaRPr>
          </a:p>
          <a:p>
            <a:pPr marL="379095" indent="-366395">
              <a:lnSpc>
                <a:spcPct val="150000"/>
              </a:lnSpc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Useful</a:t>
            </a:r>
            <a:r>
              <a:rPr sz="18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for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dynamically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growing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or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shrinking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data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structures.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5" name="object 5" descr="Realloc Process&#10;A two-part visual showing realloc expanding a 20-byte block to 40 byte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9301" y="3097675"/>
            <a:ext cx="5795775" cy="3260099"/>
          </a:xfrm>
          <a:prstGeom prst="rect">
            <a:avLst/>
          </a:prstGeom>
        </p:spPr>
      </p:pic>
      <p:sp>
        <p:nv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2316400" y="6525595"/>
            <a:ext cx="259905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4"/>
              </a:rPr>
              <a:t>https://www.geeksforgeeks.org/</a:t>
            </a:r>
            <a:endParaRPr sz="1000">
              <a:latin typeface="Arial MT"/>
              <a:cs typeface="Arial MT"/>
            </a:endParaRPr>
          </a:p>
        </p:txBody>
      </p:sp>
      <p:grpSp>
        <p:nvGrpSpPr>
          <p:cNvPr id="6" name="object 6" descr="Reallocation Logic&#10;Diagram illustrating how realloc moves data to a larger memory block and deallocates the old one."/>
          <p:cNvGrpSpPr/>
          <p:nvPr/>
        </p:nvGrpSpPr>
        <p:grpSpPr>
          <a:xfrm>
            <a:off x="6395676" y="3240551"/>
            <a:ext cx="5641340" cy="3002915"/>
            <a:chOff x="6395676" y="3240551"/>
            <a:chExt cx="5641340" cy="3002915"/>
          </a:xfrm>
        </p:grpSpPr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405201" y="3250076"/>
              <a:ext cx="5621949" cy="298357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400438" y="3245313"/>
              <a:ext cx="5631815" cy="2993390"/>
            </a:xfrm>
            <a:custGeom>
              <a:avLst/>
              <a:gdLst/>
              <a:ahLst/>
              <a:cxnLst/>
              <a:rect l="l" t="t" r="r" b="b"/>
              <a:pathLst>
                <a:path w="5631815" h="2993390">
                  <a:moveTo>
                    <a:pt x="0" y="0"/>
                  </a:moveTo>
                  <a:lnTo>
                    <a:pt x="5631474" y="0"/>
                  </a:lnTo>
                  <a:lnTo>
                    <a:pt x="5631474" y="2993100"/>
                  </a:lnTo>
                  <a:lnTo>
                    <a:pt x="0" y="299310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209625" y="6425719"/>
            <a:ext cx="241554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6"/>
              </a:rPr>
              <a:t>https://www.log2base2.com/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0375" y="1066800"/>
            <a:ext cx="470535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Courier New"/>
                <a:cs typeface="Courier New"/>
              </a:rPr>
              <a:t>realloc</a:t>
            </a:r>
            <a:r>
              <a:rPr spc="-35" dirty="0">
                <a:latin typeface="Courier New"/>
                <a:cs typeface="Courier New"/>
              </a:rPr>
              <a:t> </a:t>
            </a:r>
            <a:r>
              <a:rPr spc="-10" dirty="0"/>
              <a:t>(Reallocation)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10374" y="1593520"/>
            <a:ext cx="7209625" cy="5188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25000"/>
              </a:lnSpc>
              <a:spcBef>
                <a:spcPts val="100"/>
              </a:spcBef>
            </a:pPr>
            <a:r>
              <a:rPr b="1" spc="-10" dirty="0">
                <a:latin typeface="Arial"/>
                <a:cs typeface="Arial"/>
              </a:rPr>
              <a:t>Initial</a:t>
            </a:r>
            <a:r>
              <a:rPr b="1" spc="-70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Allocation</a:t>
            </a:r>
            <a:r>
              <a:rPr spc="-10" dirty="0">
                <a:latin typeface="Arial MT"/>
                <a:cs typeface="Arial MT"/>
              </a:rPr>
              <a:t>:</a:t>
            </a:r>
            <a:endParaRPr dirty="0">
              <a:latin typeface="Arial MT"/>
              <a:cs typeface="Arial MT"/>
            </a:endParaRPr>
          </a:p>
          <a:p>
            <a:pPr marL="469265" indent="-351155">
              <a:lnSpc>
                <a:spcPct val="125000"/>
              </a:lnSpc>
              <a:buChar char="●"/>
              <a:tabLst>
                <a:tab pos="469265" algn="l"/>
              </a:tabLst>
            </a:pPr>
            <a:r>
              <a:rPr dirty="0">
                <a:latin typeface="Arial MT"/>
                <a:cs typeface="Arial MT"/>
              </a:rPr>
              <a:t>The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program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begins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by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allocating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memory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for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array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of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5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integers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using</a:t>
            </a:r>
            <a:r>
              <a:rPr lang="en-US" dirty="0">
                <a:latin typeface="Arial MT"/>
                <a:cs typeface="Arial MT"/>
              </a:rPr>
              <a:t> </a:t>
            </a: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malloc</a:t>
            </a:r>
            <a:r>
              <a:rPr spc="-10" dirty="0">
                <a:latin typeface="Arial MT"/>
                <a:cs typeface="Arial MT"/>
              </a:rPr>
              <a:t>.</a:t>
            </a:r>
            <a:endParaRPr dirty="0">
              <a:latin typeface="Arial MT"/>
              <a:cs typeface="Arial MT"/>
            </a:endParaRPr>
          </a:p>
          <a:p>
            <a:pPr marL="469265" indent="-351155">
              <a:lnSpc>
                <a:spcPct val="125000"/>
              </a:lnSpc>
              <a:spcBef>
                <a:spcPts val="290"/>
              </a:spcBef>
              <a:buChar char="●"/>
              <a:tabLst>
                <a:tab pos="469265" algn="l"/>
              </a:tabLst>
            </a:pPr>
            <a:r>
              <a:rPr dirty="0">
                <a:latin typeface="Arial MT"/>
                <a:cs typeface="Arial MT"/>
              </a:rPr>
              <a:t>It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then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populates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this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array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with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values</a:t>
            </a:r>
            <a:r>
              <a:rPr spc="-10" dirty="0">
                <a:latin typeface="Arial MT"/>
                <a:cs typeface="Arial MT"/>
              </a:rPr>
              <a:t> </a:t>
            </a: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1</a:t>
            </a:r>
            <a:r>
              <a:rPr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through</a:t>
            </a:r>
            <a:r>
              <a:rPr spc="-10" dirty="0">
                <a:latin typeface="Arial MT"/>
                <a:cs typeface="Arial MT"/>
              </a:rPr>
              <a:t> </a:t>
            </a:r>
            <a:r>
              <a:rPr b="1" spc="-25" dirty="0">
                <a:solidFill>
                  <a:srgbClr val="188037"/>
                </a:solidFill>
                <a:latin typeface="Courier New"/>
                <a:cs typeface="Courier New"/>
              </a:rPr>
              <a:t>5</a:t>
            </a:r>
            <a:r>
              <a:rPr spc="-25" dirty="0">
                <a:latin typeface="Arial MT"/>
                <a:cs typeface="Arial MT"/>
              </a:rPr>
              <a:t>.</a:t>
            </a:r>
            <a:endParaRPr dirty="0">
              <a:latin typeface="Arial MT"/>
              <a:cs typeface="Arial MT"/>
            </a:endParaRPr>
          </a:p>
          <a:p>
            <a:pPr marL="12700">
              <a:lnSpc>
                <a:spcPct val="125000"/>
              </a:lnSpc>
              <a:spcBef>
                <a:spcPts val="1490"/>
              </a:spcBef>
            </a:pPr>
            <a:r>
              <a:rPr b="1" dirty="0">
                <a:latin typeface="Arial"/>
                <a:cs typeface="Arial"/>
              </a:rPr>
              <a:t>Reallocation</a:t>
            </a:r>
            <a:r>
              <a:rPr b="1" spc="-5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with</a:t>
            </a:r>
            <a:r>
              <a:rPr b="1" spc="-40" dirty="0">
                <a:latin typeface="Arial"/>
                <a:cs typeface="Arial"/>
              </a:rPr>
              <a:t> </a:t>
            </a: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realloc</a:t>
            </a:r>
            <a:r>
              <a:rPr spc="-10" dirty="0">
                <a:latin typeface="Arial MT"/>
                <a:cs typeface="Arial MT"/>
              </a:rPr>
              <a:t>:</a:t>
            </a:r>
            <a:endParaRPr dirty="0">
              <a:latin typeface="Arial MT"/>
              <a:cs typeface="Arial MT"/>
            </a:endParaRPr>
          </a:p>
          <a:p>
            <a:pPr marL="469265" indent="-351155">
              <a:lnSpc>
                <a:spcPct val="125000"/>
              </a:lnSpc>
              <a:spcAft>
                <a:spcPts val="600"/>
              </a:spcAft>
              <a:buChar char="●"/>
              <a:tabLst>
                <a:tab pos="469265" algn="l"/>
              </a:tabLst>
            </a:pPr>
            <a:r>
              <a:rPr dirty="0">
                <a:latin typeface="Arial MT"/>
                <a:cs typeface="Arial MT"/>
              </a:rPr>
              <a:t>The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array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resized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using</a:t>
            </a:r>
            <a:r>
              <a:rPr spc="-10" dirty="0">
                <a:latin typeface="Arial MT"/>
                <a:cs typeface="Arial MT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realloc</a:t>
            </a:r>
            <a:r>
              <a:rPr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hold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10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integers.</a:t>
            </a:r>
            <a:endParaRPr dirty="0">
              <a:latin typeface="Arial MT"/>
              <a:cs typeface="Arial MT"/>
            </a:endParaRPr>
          </a:p>
          <a:p>
            <a:pPr marL="469900" marR="210820" indent="-351790">
              <a:lnSpc>
                <a:spcPct val="125000"/>
              </a:lnSpc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dirty="0">
                <a:latin typeface="Arial MT"/>
                <a:cs typeface="Arial MT"/>
              </a:rPr>
              <a:t>The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original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content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of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array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preserved,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and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additional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memory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spc="-25" dirty="0">
                <a:latin typeface="Arial MT"/>
                <a:cs typeface="Arial MT"/>
              </a:rPr>
              <a:t>is </a:t>
            </a:r>
            <a:r>
              <a:rPr dirty="0">
                <a:latin typeface="Arial MT"/>
                <a:cs typeface="Arial MT"/>
              </a:rPr>
              <a:t>added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accommodate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new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elements.</a:t>
            </a:r>
            <a:endParaRPr dirty="0">
              <a:latin typeface="Arial MT"/>
              <a:cs typeface="Arial MT"/>
            </a:endParaRPr>
          </a:p>
          <a:p>
            <a:pPr marL="469900" marR="580390" indent="-351790">
              <a:lnSpc>
                <a:spcPct val="125000"/>
              </a:lnSpc>
              <a:buChar char="●"/>
              <a:tabLst>
                <a:tab pos="469900" algn="l"/>
              </a:tabLst>
            </a:pPr>
            <a:r>
              <a:rPr dirty="0">
                <a:latin typeface="Arial MT"/>
                <a:cs typeface="Arial MT"/>
              </a:rPr>
              <a:t>The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additional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elements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(from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index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5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9)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are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then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populated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spc="-20" dirty="0">
                <a:latin typeface="Arial MT"/>
                <a:cs typeface="Arial MT"/>
              </a:rPr>
              <a:t>with </a:t>
            </a:r>
            <a:r>
              <a:rPr spc="-10" dirty="0">
                <a:latin typeface="Arial MT"/>
                <a:cs typeface="Arial MT"/>
              </a:rPr>
              <a:t>values.</a:t>
            </a:r>
            <a:endParaRPr dirty="0">
              <a:latin typeface="Arial MT"/>
              <a:cs typeface="Arial MT"/>
            </a:endParaRPr>
          </a:p>
          <a:p>
            <a:pPr marL="12700">
              <a:lnSpc>
                <a:spcPct val="125000"/>
              </a:lnSpc>
              <a:spcBef>
                <a:spcPts val="1200"/>
              </a:spcBef>
            </a:pPr>
            <a:r>
              <a:rPr b="1" dirty="0">
                <a:latin typeface="Arial"/>
                <a:cs typeface="Arial"/>
              </a:rPr>
              <a:t>Memory</a:t>
            </a:r>
            <a:r>
              <a:rPr b="1" spc="-9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Management</a:t>
            </a:r>
            <a:r>
              <a:rPr spc="-10" dirty="0">
                <a:latin typeface="Arial MT"/>
                <a:cs typeface="Arial MT"/>
              </a:rPr>
              <a:t>:</a:t>
            </a:r>
            <a:endParaRPr dirty="0">
              <a:latin typeface="Arial MT"/>
              <a:cs typeface="Arial MT"/>
            </a:endParaRPr>
          </a:p>
          <a:p>
            <a:pPr marL="469900" marR="81915" indent="-351790">
              <a:lnSpc>
                <a:spcPct val="125000"/>
              </a:lnSpc>
              <a:spcBef>
                <a:spcPts val="1200"/>
              </a:spcBef>
              <a:buChar char="●"/>
              <a:tabLst>
                <a:tab pos="469900" algn="l"/>
              </a:tabLst>
            </a:pPr>
            <a:r>
              <a:rPr dirty="0">
                <a:latin typeface="Arial MT"/>
                <a:cs typeface="Arial MT"/>
              </a:rPr>
              <a:t>After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resizing,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array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used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normally,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and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finally,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memory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spc="-20" dirty="0">
                <a:latin typeface="Arial MT"/>
                <a:cs typeface="Arial MT"/>
              </a:rPr>
              <a:t>freed </a:t>
            </a:r>
            <a:r>
              <a:rPr dirty="0">
                <a:latin typeface="Arial MT"/>
                <a:cs typeface="Arial MT"/>
              </a:rPr>
              <a:t>using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free</a:t>
            </a:r>
            <a:r>
              <a:rPr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avoid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memory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leaks.</a:t>
            </a:r>
            <a:endParaRPr dirty="0">
              <a:latin typeface="Arial MT"/>
              <a:cs typeface="Arial MT"/>
            </a:endParaRPr>
          </a:p>
        </p:txBody>
      </p:sp>
      <p:pic>
        <p:nvPicPr>
          <p:cNvPr id="2" name="object 2" descr="A C program demonstrating realloc to resize an existing memory block from 5 to 10 integers, including error handling for both the initial allocation and the resizing step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48600" y="823182"/>
            <a:ext cx="4114449" cy="58911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0375" y="1066800"/>
            <a:ext cx="470535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Courier New"/>
                <a:cs typeface="Courier New"/>
              </a:rPr>
              <a:t>realloc</a:t>
            </a:r>
            <a:r>
              <a:rPr spc="-35" dirty="0">
                <a:latin typeface="Courier New"/>
                <a:cs typeface="Courier New"/>
              </a:rPr>
              <a:t> </a:t>
            </a:r>
            <a:r>
              <a:rPr spc="-10" dirty="0"/>
              <a:t>(Reallocation)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485617" y="1676400"/>
            <a:ext cx="6983095" cy="4697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4335" marR="5080" indent="-382270">
              <a:lnSpc>
                <a:spcPct val="135000"/>
              </a:lnSpc>
              <a:spcBef>
                <a:spcPts val="100"/>
              </a:spcBef>
              <a:spcAft>
                <a:spcPts val="600"/>
              </a:spcAft>
              <a:buFont typeface="Arial"/>
              <a:buChar char="●"/>
              <a:tabLst>
                <a:tab pos="394335" algn="l"/>
              </a:tabLst>
            </a:pPr>
            <a:r>
              <a:rPr b="1" dirty="0">
                <a:latin typeface="Roboto"/>
                <a:cs typeface="Roboto"/>
              </a:rPr>
              <a:t>Preservation</a:t>
            </a:r>
            <a:r>
              <a:rPr b="1" spc="-50" dirty="0">
                <a:latin typeface="Roboto"/>
                <a:cs typeface="Roboto"/>
              </a:rPr>
              <a:t> </a:t>
            </a:r>
            <a:r>
              <a:rPr b="1" dirty="0">
                <a:latin typeface="Roboto"/>
                <a:cs typeface="Roboto"/>
              </a:rPr>
              <a:t>of</a:t>
            </a:r>
            <a:r>
              <a:rPr b="1" spc="-50" dirty="0">
                <a:latin typeface="Roboto"/>
                <a:cs typeface="Roboto"/>
              </a:rPr>
              <a:t> </a:t>
            </a:r>
            <a:r>
              <a:rPr b="1" dirty="0">
                <a:latin typeface="Roboto"/>
                <a:cs typeface="Roboto"/>
              </a:rPr>
              <a:t>Data</a:t>
            </a:r>
            <a:r>
              <a:rPr dirty="0"/>
              <a:t>:</a:t>
            </a:r>
            <a:r>
              <a:rPr spc="-50" dirty="0"/>
              <a:t> </a:t>
            </a:r>
            <a:r>
              <a:rPr b="1" spc="-10" dirty="0">
                <a:solidFill>
                  <a:srgbClr val="188037"/>
                </a:solidFill>
              </a:rPr>
              <a:t>realloc</a:t>
            </a:r>
            <a:r>
              <a:rPr spc="-40" dirty="0">
                <a:solidFill>
                  <a:srgbClr val="188037"/>
                </a:solidFill>
              </a:rPr>
              <a:t> </a:t>
            </a:r>
            <a:r>
              <a:rPr spc="-10" dirty="0"/>
              <a:t>preserves</a:t>
            </a:r>
            <a:r>
              <a:rPr spc="-50" dirty="0"/>
              <a:t> </a:t>
            </a:r>
            <a:r>
              <a:rPr dirty="0"/>
              <a:t>the</a:t>
            </a:r>
            <a:r>
              <a:rPr spc="-50" dirty="0"/>
              <a:t> </a:t>
            </a:r>
            <a:r>
              <a:rPr spc="-20" dirty="0"/>
              <a:t>contents</a:t>
            </a:r>
            <a:r>
              <a:rPr spc="-50" dirty="0"/>
              <a:t> </a:t>
            </a:r>
            <a:r>
              <a:rPr dirty="0"/>
              <a:t>of</a:t>
            </a:r>
            <a:r>
              <a:rPr spc="-40" dirty="0"/>
              <a:t> </a:t>
            </a:r>
            <a:r>
              <a:rPr spc="-25" dirty="0"/>
              <a:t>the </a:t>
            </a:r>
            <a:r>
              <a:rPr spc="-10" dirty="0"/>
              <a:t>original</a:t>
            </a:r>
            <a:r>
              <a:rPr spc="-70" dirty="0"/>
              <a:t> </a:t>
            </a:r>
            <a:r>
              <a:rPr spc="-10" dirty="0"/>
              <a:t>memory</a:t>
            </a:r>
            <a:r>
              <a:rPr spc="-65" dirty="0"/>
              <a:t> </a:t>
            </a:r>
            <a:r>
              <a:rPr dirty="0"/>
              <a:t>block</a:t>
            </a:r>
            <a:r>
              <a:rPr spc="-70" dirty="0"/>
              <a:t> </a:t>
            </a:r>
            <a:r>
              <a:rPr dirty="0"/>
              <a:t>up</a:t>
            </a:r>
            <a:r>
              <a:rPr spc="-65" dirty="0"/>
              <a:t> </a:t>
            </a:r>
            <a:r>
              <a:rPr dirty="0"/>
              <a:t>to</a:t>
            </a:r>
            <a:r>
              <a:rPr spc="-65" dirty="0"/>
              <a:t> </a:t>
            </a:r>
            <a:r>
              <a:rPr dirty="0"/>
              <a:t>the</a:t>
            </a:r>
            <a:r>
              <a:rPr spc="-70" dirty="0"/>
              <a:t> </a:t>
            </a:r>
            <a:r>
              <a:rPr dirty="0"/>
              <a:t>smaller</a:t>
            </a:r>
            <a:r>
              <a:rPr spc="-65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the</a:t>
            </a:r>
            <a:r>
              <a:rPr spc="-70" dirty="0"/>
              <a:t> </a:t>
            </a:r>
            <a:r>
              <a:rPr dirty="0"/>
              <a:t>new</a:t>
            </a:r>
            <a:r>
              <a:rPr spc="-65" dirty="0"/>
              <a:t> </a:t>
            </a:r>
            <a:r>
              <a:rPr spc="-25" dirty="0"/>
              <a:t>and</a:t>
            </a:r>
            <a:r>
              <a:rPr spc="500" dirty="0"/>
              <a:t> </a:t>
            </a:r>
            <a:r>
              <a:rPr dirty="0"/>
              <a:t>old</a:t>
            </a:r>
            <a:r>
              <a:rPr spc="-80" dirty="0"/>
              <a:t> </a:t>
            </a:r>
            <a:r>
              <a:rPr spc="-10" dirty="0"/>
              <a:t>sizes.</a:t>
            </a:r>
            <a:r>
              <a:rPr spc="-114" dirty="0"/>
              <a:t> </a:t>
            </a:r>
            <a:r>
              <a:rPr dirty="0"/>
              <a:t>This</a:t>
            </a:r>
            <a:r>
              <a:rPr spc="-75" dirty="0"/>
              <a:t> </a:t>
            </a:r>
            <a:r>
              <a:rPr dirty="0"/>
              <a:t>means</a:t>
            </a:r>
            <a:r>
              <a:rPr spc="-80" dirty="0"/>
              <a:t> </a:t>
            </a:r>
            <a:r>
              <a:rPr spc="-10" dirty="0"/>
              <a:t>that</a:t>
            </a:r>
            <a:r>
              <a:rPr spc="-75" dirty="0"/>
              <a:t> </a:t>
            </a:r>
            <a:r>
              <a:rPr dirty="0"/>
              <a:t>the</a:t>
            </a:r>
            <a:r>
              <a:rPr spc="-80" dirty="0"/>
              <a:t> </a:t>
            </a:r>
            <a:r>
              <a:rPr dirty="0"/>
              <a:t>ﬁrst</a:t>
            </a:r>
            <a:r>
              <a:rPr spc="-80" dirty="0"/>
              <a:t> </a:t>
            </a:r>
            <a:r>
              <a:rPr dirty="0"/>
              <a:t>5</a:t>
            </a:r>
            <a:r>
              <a:rPr spc="-75" dirty="0"/>
              <a:t> </a:t>
            </a:r>
            <a:r>
              <a:rPr dirty="0"/>
              <a:t>elements</a:t>
            </a:r>
            <a:r>
              <a:rPr spc="-80" dirty="0"/>
              <a:t> </a:t>
            </a:r>
            <a:r>
              <a:rPr spc="-10" dirty="0"/>
              <a:t>retain</a:t>
            </a:r>
            <a:r>
              <a:rPr spc="-80" dirty="0"/>
              <a:t> </a:t>
            </a:r>
            <a:r>
              <a:rPr spc="-10" dirty="0"/>
              <a:t>their </a:t>
            </a:r>
            <a:r>
              <a:rPr spc="-20" dirty="0"/>
              <a:t>values</a:t>
            </a:r>
            <a:r>
              <a:rPr spc="-75" dirty="0"/>
              <a:t> </a:t>
            </a:r>
            <a:r>
              <a:rPr dirty="0"/>
              <a:t>even</a:t>
            </a:r>
            <a:r>
              <a:rPr spc="-75" dirty="0"/>
              <a:t> </a:t>
            </a:r>
            <a:r>
              <a:rPr dirty="0"/>
              <a:t>after</a:t>
            </a:r>
            <a:r>
              <a:rPr spc="-75" dirty="0"/>
              <a:t> </a:t>
            </a:r>
            <a:r>
              <a:rPr dirty="0"/>
              <a:t>the</a:t>
            </a:r>
            <a:r>
              <a:rPr spc="-75" dirty="0"/>
              <a:t> </a:t>
            </a:r>
            <a:r>
              <a:rPr spc="-30" dirty="0"/>
              <a:t>array</a:t>
            </a:r>
            <a:r>
              <a:rPr spc="-75" dirty="0"/>
              <a:t> </a:t>
            </a:r>
            <a:r>
              <a:rPr dirty="0"/>
              <a:t>is</a:t>
            </a:r>
            <a:r>
              <a:rPr spc="-75" dirty="0"/>
              <a:t> </a:t>
            </a:r>
            <a:r>
              <a:rPr spc="-10" dirty="0"/>
              <a:t>resized.</a:t>
            </a:r>
          </a:p>
          <a:p>
            <a:pPr marL="394335" marR="59055" indent="-382270">
              <a:lnSpc>
                <a:spcPct val="135000"/>
              </a:lnSpc>
              <a:spcAft>
                <a:spcPts val="600"/>
              </a:spcAft>
              <a:buFont typeface="Arial"/>
              <a:buChar char="●"/>
              <a:tabLst>
                <a:tab pos="394335" algn="l"/>
              </a:tabLst>
            </a:pPr>
            <a:r>
              <a:rPr b="1" dirty="0">
                <a:latin typeface="Roboto"/>
                <a:cs typeface="Roboto"/>
              </a:rPr>
              <a:t>Flexible</a:t>
            </a:r>
            <a:r>
              <a:rPr b="1" spc="-60" dirty="0">
                <a:latin typeface="Roboto"/>
                <a:cs typeface="Roboto"/>
              </a:rPr>
              <a:t> </a:t>
            </a:r>
            <a:r>
              <a:rPr b="1" dirty="0">
                <a:latin typeface="Roboto"/>
                <a:cs typeface="Roboto"/>
              </a:rPr>
              <a:t>Memory</a:t>
            </a:r>
            <a:r>
              <a:rPr b="1" spc="-55" dirty="0">
                <a:latin typeface="Roboto"/>
                <a:cs typeface="Roboto"/>
              </a:rPr>
              <a:t> </a:t>
            </a:r>
            <a:r>
              <a:rPr b="1" dirty="0">
                <a:latin typeface="Roboto"/>
                <a:cs typeface="Roboto"/>
              </a:rPr>
              <a:t>Usage</a:t>
            </a:r>
            <a:r>
              <a:rPr dirty="0"/>
              <a:t>:</a:t>
            </a:r>
            <a:r>
              <a:rPr spc="-55" dirty="0"/>
              <a:t> </a:t>
            </a:r>
            <a:r>
              <a:rPr b="1" spc="-10" dirty="0">
                <a:solidFill>
                  <a:srgbClr val="188037"/>
                </a:solidFill>
              </a:rPr>
              <a:t>realloc</a:t>
            </a:r>
            <a:r>
              <a:rPr spc="-55" dirty="0">
                <a:solidFill>
                  <a:srgbClr val="188037"/>
                </a:solidFill>
              </a:rPr>
              <a:t> </a:t>
            </a:r>
            <a:r>
              <a:rPr dirty="0"/>
              <a:t>is</a:t>
            </a:r>
            <a:r>
              <a:rPr spc="-55" dirty="0"/>
              <a:t> </a:t>
            </a:r>
            <a:r>
              <a:rPr dirty="0"/>
              <a:t>a</a:t>
            </a:r>
            <a:r>
              <a:rPr spc="-55" dirty="0"/>
              <a:t> </a:t>
            </a:r>
            <a:r>
              <a:rPr dirty="0"/>
              <a:t>powerful</a:t>
            </a:r>
            <a:r>
              <a:rPr spc="-60" dirty="0"/>
              <a:t> </a:t>
            </a:r>
            <a:r>
              <a:rPr dirty="0"/>
              <a:t>tool</a:t>
            </a:r>
            <a:r>
              <a:rPr spc="-55" dirty="0"/>
              <a:t> </a:t>
            </a:r>
            <a:r>
              <a:rPr spc="-20" dirty="0"/>
              <a:t>when </a:t>
            </a:r>
            <a:r>
              <a:rPr spc="-10" dirty="0"/>
              <a:t>you</a:t>
            </a:r>
            <a:r>
              <a:rPr spc="-70" dirty="0"/>
              <a:t> </a:t>
            </a:r>
            <a:r>
              <a:rPr dirty="0"/>
              <a:t>need</a:t>
            </a:r>
            <a:r>
              <a:rPr spc="-65" dirty="0"/>
              <a:t> </a:t>
            </a:r>
            <a:r>
              <a:rPr dirty="0"/>
              <a:t>to</a:t>
            </a:r>
            <a:r>
              <a:rPr spc="-65" dirty="0"/>
              <a:t> </a:t>
            </a:r>
            <a:r>
              <a:rPr spc="-20" dirty="0"/>
              <a:t>adjust</a:t>
            </a:r>
            <a:r>
              <a:rPr spc="-65" dirty="0"/>
              <a:t> </a:t>
            </a:r>
            <a:r>
              <a:rPr dirty="0"/>
              <a:t>the</a:t>
            </a:r>
            <a:r>
              <a:rPr spc="-65" dirty="0"/>
              <a:t> </a:t>
            </a:r>
            <a:r>
              <a:rPr dirty="0"/>
              <a:t>size</a:t>
            </a:r>
            <a:r>
              <a:rPr spc="-65" dirty="0"/>
              <a:t> </a:t>
            </a:r>
            <a:r>
              <a:rPr dirty="0"/>
              <a:t>of</a:t>
            </a:r>
            <a:r>
              <a:rPr spc="-70" dirty="0"/>
              <a:t> </a:t>
            </a:r>
            <a:r>
              <a:rPr dirty="0"/>
              <a:t>an</a:t>
            </a:r>
            <a:r>
              <a:rPr spc="-65" dirty="0"/>
              <a:t> </a:t>
            </a:r>
            <a:r>
              <a:rPr spc="-30" dirty="0"/>
              <a:t>array</a:t>
            </a:r>
            <a:r>
              <a:rPr spc="-65" dirty="0"/>
              <a:t> </a:t>
            </a:r>
            <a:r>
              <a:rPr dirty="0"/>
              <a:t>based</a:t>
            </a:r>
            <a:r>
              <a:rPr spc="-65" dirty="0"/>
              <a:t> </a:t>
            </a:r>
            <a:r>
              <a:rPr dirty="0"/>
              <a:t>on</a:t>
            </a:r>
            <a:r>
              <a:rPr spc="-65" dirty="0"/>
              <a:t> </a:t>
            </a:r>
            <a:r>
              <a:rPr spc="-10" dirty="0"/>
              <a:t>runtime </a:t>
            </a:r>
            <a:r>
              <a:rPr spc="-20" dirty="0"/>
              <a:t>requirements,</a:t>
            </a:r>
            <a:r>
              <a:rPr spc="-75" dirty="0"/>
              <a:t> </a:t>
            </a:r>
            <a:r>
              <a:rPr spc="-10" dirty="0"/>
              <a:t>allowing</a:t>
            </a:r>
            <a:r>
              <a:rPr spc="-70" dirty="0"/>
              <a:t> </a:t>
            </a:r>
            <a:r>
              <a:rPr spc="-10" dirty="0"/>
              <a:t>you</a:t>
            </a:r>
            <a:r>
              <a:rPr spc="-70" dirty="0"/>
              <a:t> </a:t>
            </a:r>
            <a:r>
              <a:rPr dirty="0"/>
              <a:t>to</a:t>
            </a:r>
            <a:r>
              <a:rPr spc="-75" dirty="0"/>
              <a:t> </a:t>
            </a:r>
            <a:r>
              <a:rPr dirty="0"/>
              <a:t>grow</a:t>
            </a:r>
            <a:r>
              <a:rPr spc="-70" dirty="0"/>
              <a:t> </a:t>
            </a:r>
            <a:r>
              <a:rPr dirty="0"/>
              <a:t>(or</a:t>
            </a:r>
            <a:r>
              <a:rPr spc="-70" dirty="0"/>
              <a:t> </a:t>
            </a:r>
            <a:r>
              <a:rPr spc="-10" dirty="0"/>
              <a:t>shrink)</a:t>
            </a:r>
            <a:r>
              <a:rPr spc="-75" dirty="0"/>
              <a:t> </a:t>
            </a:r>
            <a:r>
              <a:rPr dirty="0"/>
              <a:t>the</a:t>
            </a:r>
            <a:r>
              <a:rPr spc="-70" dirty="0"/>
              <a:t> </a:t>
            </a:r>
            <a:r>
              <a:rPr spc="-30" dirty="0"/>
              <a:t>array</a:t>
            </a:r>
            <a:r>
              <a:rPr spc="-70" dirty="0"/>
              <a:t> </a:t>
            </a:r>
            <a:r>
              <a:rPr spc="-25" dirty="0"/>
              <a:t>as </a:t>
            </a:r>
            <a:r>
              <a:rPr spc="-10" dirty="0"/>
              <a:t>needed.</a:t>
            </a:r>
          </a:p>
          <a:p>
            <a:pPr marL="394335" marR="193675" indent="-382270">
              <a:lnSpc>
                <a:spcPct val="135000"/>
              </a:lnSpc>
              <a:buFont typeface="Arial"/>
              <a:buChar char="●"/>
              <a:tabLst>
                <a:tab pos="394335" algn="l"/>
              </a:tabLst>
            </a:pPr>
            <a:r>
              <a:rPr b="1" dirty="0">
                <a:latin typeface="Roboto"/>
                <a:cs typeface="Roboto"/>
              </a:rPr>
              <a:t>Error</a:t>
            </a:r>
            <a:r>
              <a:rPr b="1" spc="-60" dirty="0">
                <a:latin typeface="Roboto"/>
                <a:cs typeface="Roboto"/>
              </a:rPr>
              <a:t> </a:t>
            </a:r>
            <a:r>
              <a:rPr b="1" spc="-10" dirty="0">
                <a:latin typeface="Roboto"/>
                <a:cs typeface="Roboto"/>
              </a:rPr>
              <a:t>Handling</a:t>
            </a:r>
            <a:r>
              <a:rPr spc="-10" dirty="0"/>
              <a:t>:</a:t>
            </a:r>
            <a:r>
              <a:rPr spc="-60" dirty="0"/>
              <a:t> It’s </a:t>
            </a:r>
            <a:r>
              <a:rPr spc="-10" dirty="0"/>
              <a:t>important</a:t>
            </a:r>
            <a:r>
              <a:rPr spc="-60" dirty="0"/>
              <a:t> </a:t>
            </a:r>
            <a:r>
              <a:rPr dirty="0"/>
              <a:t>to</a:t>
            </a:r>
            <a:r>
              <a:rPr spc="-55" dirty="0"/>
              <a:t> </a:t>
            </a:r>
            <a:r>
              <a:rPr dirty="0"/>
              <a:t>check</a:t>
            </a:r>
            <a:r>
              <a:rPr spc="-60" dirty="0"/>
              <a:t> </a:t>
            </a:r>
            <a:r>
              <a:rPr dirty="0"/>
              <a:t>the</a:t>
            </a:r>
            <a:r>
              <a:rPr spc="-60" dirty="0"/>
              <a:t> </a:t>
            </a:r>
            <a:r>
              <a:rPr spc="-20" dirty="0"/>
              <a:t>return</a:t>
            </a:r>
            <a:r>
              <a:rPr spc="-60" dirty="0"/>
              <a:t> </a:t>
            </a:r>
            <a:r>
              <a:rPr spc="-10" dirty="0"/>
              <a:t>value</a:t>
            </a:r>
            <a:r>
              <a:rPr spc="-55" dirty="0"/>
              <a:t> </a:t>
            </a:r>
            <a:r>
              <a:rPr spc="-25" dirty="0"/>
              <a:t>of </a:t>
            </a:r>
            <a:r>
              <a:rPr b="1" spc="-10" dirty="0">
                <a:solidFill>
                  <a:srgbClr val="188037"/>
                </a:solidFill>
              </a:rPr>
              <a:t>realloc</a:t>
            </a:r>
            <a:r>
              <a:rPr spc="-10" dirty="0"/>
              <a:t>.</a:t>
            </a:r>
            <a:r>
              <a:rPr spc="-65" dirty="0"/>
              <a:t> </a:t>
            </a:r>
            <a:r>
              <a:rPr dirty="0"/>
              <a:t>If</a:t>
            </a:r>
            <a:r>
              <a:rPr spc="-60" dirty="0"/>
              <a:t> </a:t>
            </a:r>
            <a:r>
              <a:rPr dirty="0"/>
              <a:t>it</a:t>
            </a:r>
            <a:r>
              <a:rPr spc="-65" dirty="0"/>
              <a:t> </a:t>
            </a:r>
            <a:r>
              <a:rPr spc="-25" dirty="0"/>
              <a:t>returns</a:t>
            </a:r>
            <a:r>
              <a:rPr spc="-55" dirty="0"/>
              <a:t> </a:t>
            </a:r>
            <a:r>
              <a:rPr b="1" spc="-10" dirty="0">
                <a:solidFill>
                  <a:srgbClr val="188037"/>
                </a:solidFill>
              </a:rPr>
              <a:t>NULL</a:t>
            </a:r>
            <a:r>
              <a:rPr spc="-10" dirty="0"/>
              <a:t>,</a:t>
            </a:r>
            <a:r>
              <a:rPr spc="-65" dirty="0"/>
              <a:t> </a:t>
            </a:r>
            <a:r>
              <a:rPr dirty="0"/>
              <a:t>the</a:t>
            </a:r>
            <a:r>
              <a:rPr spc="-60" dirty="0"/>
              <a:t> </a:t>
            </a:r>
            <a:r>
              <a:rPr spc="-20" dirty="0"/>
              <a:t>reallocation</a:t>
            </a:r>
            <a:r>
              <a:rPr spc="-65" dirty="0"/>
              <a:t> </a:t>
            </a:r>
            <a:r>
              <a:rPr dirty="0"/>
              <a:t>failed,</a:t>
            </a:r>
            <a:r>
              <a:rPr spc="-60" dirty="0"/>
              <a:t> </a:t>
            </a:r>
            <a:r>
              <a:rPr dirty="0"/>
              <a:t>and</a:t>
            </a:r>
            <a:r>
              <a:rPr spc="-65" dirty="0"/>
              <a:t> </a:t>
            </a:r>
            <a:r>
              <a:rPr spc="-25" dirty="0"/>
              <a:t>the </a:t>
            </a:r>
            <a:r>
              <a:rPr spc="-10" dirty="0"/>
              <a:t>original</a:t>
            </a:r>
            <a:r>
              <a:rPr spc="-85" dirty="0"/>
              <a:t> </a:t>
            </a:r>
            <a:r>
              <a:rPr spc="-10" dirty="0"/>
              <a:t>memory</a:t>
            </a:r>
            <a:r>
              <a:rPr spc="-80" dirty="0"/>
              <a:t> </a:t>
            </a:r>
            <a:r>
              <a:rPr dirty="0"/>
              <a:t>block</a:t>
            </a:r>
            <a:r>
              <a:rPr spc="-80" dirty="0"/>
              <a:t> </a:t>
            </a:r>
            <a:r>
              <a:rPr spc="-10" dirty="0"/>
              <a:t>remains</a:t>
            </a:r>
            <a:r>
              <a:rPr spc="-80" dirty="0"/>
              <a:t> </a:t>
            </a:r>
            <a:r>
              <a:rPr spc="-10" dirty="0"/>
              <a:t>allocated.</a:t>
            </a:r>
          </a:p>
        </p:txBody>
      </p:sp>
      <p:pic>
        <p:nvPicPr>
          <p:cNvPr id="5" name="object 2">
            <a:extLst>
              <a:ext uri="{FF2B5EF4-FFF2-40B4-BE49-F238E27FC236}">
                <a16:creationId xmlns:a16="http://schemas.microsoft.com/office/drawing/2014/main" id="{D4907BDD-BA59-ED43-DD1A-8B8D1F527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48600" y="823182"/>
            <a:ext cx="4114449" cy="58911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Courier New"/>
                <a:cs typeface="Courier New"/>
              </a:rPr>
              <a:t>free</a:t>
            </a:r>
            <a:r>
              <a:rPr spc="-40" dirty="0">
                <a:latin typeface="Courier New"/>
                <a:cs typeface="Courier New"/>
              </a:rPr>
              <a:t> </a:t>
            </a:r>
            <a:r>
              <a:rPr dirty="0"/>
              <a:t>(Memory</a:t>
            </a:r>
            <a:r>
              <a:rPr spc="-15" dirty="0"/>
              <a:t> </a:t>
            </a:r>
            <a:r>
              <a:rPr spc="-10" dirty="0"/>
              <a:t>Deallocation)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5617" y="2351714"/>
            <a:ext cx="3399790" cy="287969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4335" marR="146050" indent="-382270">
              <a:lnSpc>
                <a:spcPct val="150000"/>
              </a:lnSpc>
              <a:spcBef>
                <a:spcPts val="100"/>
              </a:spcBef>
              <a:spcAft>
                <a:spcPts val="1200"/>
              </a:spcAft>
              <a:buChar char="●"/>
              <a:tabLst>
                <a:tab pos="394335" algn="l"/>
              </a:tabLst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Frees</a:t>
            </a:r>
            <a:r>
              <a:rPr sz="20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20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previously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allocated</a:t>
            </a:r>
            <a:r>
              <a:rPr sz="20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by</a:t>
            </a:r>
            <a:r>
              <a:rPr sz="20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0F2044"/>
                </a:solidFill>
                <a:latin typeface="Courier New"/>
                <a:cs typeface="Courier New"/>
              </a:rPr>
              <a:t>malloc</a:t>
            </a:r>
            <a:r>
              <a:rPr sz="2000" spc="-10" dirty="0">
                <a:solidFill>
                  <a:srgbClr val="0F2044"/>
                </a:solidFill>
                <a:latin typeface="Courier New"/>
                <a:cs typeface="Courier New"/>
              </a:rPr>
              <a:t>, </a:t>
            </a:r>
            <a:r>
              <a:rPr sz="2000" b="1" dirty="0">
                <a:solidFill>
                  <a:srgbClr val="0F2044"/>
                </a:solidFill>
                <a:latin typeface="Courier New"/>
                <a:cs typeface="Courier New"/>
              </a:rPr>
              <a:t>calloc</a:t>
            </a:r>
            <a:r>
              <a:rPr sz="2000" dirty="0">
                <a:solidFill>
                  <a:srgbClr val="0F2044"/>
                </a:solidFill>
                <a:latin typeface="Courier New"/>
                <a:cs typeface="Courier New"/>
              </a:rPr>
              <a:t>,</a:t>
            </a:r>
            <a:r>
              <a:rPr sz="2000" spc="-25" dirty="0">
                <a:solidFill>
                  <a:srgbClr val="0F2044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solidFill>
                  <a:srgbClr val="0F2044"/>
                </a:solidFill>
                <a:latin typeface="Courier New"/>
                <a:cs typeface="Courier New"/>
              </a:rPr>
              <a:t>or</a:t>
            </a:r>
            <a:r>
              <a:rPr sz="2000" spc="-20" dirty="0">
                <a:solidFill>
                  <a:srgbClr val="0F2044"/>
                </a:solidFill>
                <a:latin typeface="Courier New"/>
                <a:cs typeface="Courier New"/>
              </a:rPr>
              <a:t> </a:t>
            </a:r>
            <a:r>
              <a:rPr sz="2000" b="1" spc="-10" dirty="0">
                <a:solidFill>
                  <a:srgbClr val="0F2044"/>
                </a:solidFill>
                <a:latin typeface="Courier New"/>
                <a:cs typeface="Courier New"/>
              </a:rPr>
              <a:t>realloc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  <a:p>
            <a:pPr marL="394335" marR="5080" indent="-382270">
              <a:lnSpc>
                <a:spcPct val="150000"/>
              </a:lnSpc>
              <a:buChar char="●"/>
              <a:tabLst>
                <a:tab pos="394335" algn="l"/>
              </a:tabLst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Prevents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leaks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by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returning</a:t>
            </a:r>
            <a:r>
              <a:rPr sz="2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the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system.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4" name="object 4" descr="Free Function&#10;Diagram showing how the free(ptr) operation releases dynamically allocated memory back to the system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15124" y="2202950"/>
            <a:ext cx="7644509" cy="430002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Memory</a:t>
            </a:r>
            <a:r>
              <a:rPr spc="-30" dirty="0"/>
              <a:t> </a:t>
            </a:r>
            <a:r>
              <a:rPr spc="-10" dirty="0"/>
              <a:t>Leaks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5617" y="2351714"/>
            <a:ext cx="4103370" cy="30335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4335" marR="17145" indent="-382270">
              <a:lnSpc>
                <a:spcPct val="150000"/>
              </a:lnSpc>
              <a:spcBef>
                <a:spcPts val="100"/>
              </a:spcBef>
              <a:spcAft>
                <a:spcPts val="1200"/>
              </a:spcAft>
              <a:buChar char="●"/>
              <a:tabLst>
                <a:tab pos="394335" algn="l"/>
              </a:tabLst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Occur</a:t>
            </a:r>
            <a:r>
              <a:rPr sz="20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when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allocated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is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not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freed.</a:t>
            </a:r>
            <a:endParaRPr sz="2000" dirty="0">
              <a:latin typeface="Arial MT"/>
              <a:cs typeface="Arial MT"/>
            </a:endParaRPr>
          </a:p>
          <a:p>
            <a:pPr marL="394335" marR="217170" indent="-382270">
              <a:lnSpc>
                <a:spcPct val="150000"/>
              </a:lnSpc>
              <a:spcAft>
                <a:spcPts val="1200"/>
              </a:spcAft>
              <a:buChar char="●"/>
              <a:tabLst>
                <a:tab pos="394335" algn="l"/>
              </a:tabLst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Over</a:t>
            </a:r>
            <a:r>
              <a:rPr sz="2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time,</a:t>
            </a:r>
            <a:r>
              <a:rPr sz="2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can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exhaust</a:t>
            </a:r>
            <a:r>
              <a:rPr sz="2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system memory,</a:t>
            </a:r>
            <a:r>
              <a:rPr sz="20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leading</a:t>
            </a:r>
            <a:r>
              <a:rPr sz="20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20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crashes.</a:t>
            </a:r>
            <a:endParaRPr sz="2000" dirty="0">
              <a:latin typeface="Arial MT"/>
              <a:cs typeface="Arial MT"/>
            </a:endParaRPr>
          </a:p>
          <a:p>
            <a:pPr marL="394335" marR="5080" indent="-382270">
              <a:lnSpc>
                <a:spcPct val="150000"/>
              </a:lnSpc>
              <a:buChar char="●"/>
              <a:tabLst>
                <a:tab pos="394335" algn="l"/>
              </a:tabLst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Important</a:t>
            </a:r>
            <a:r>
              <a:rPr sz="20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always</a:t>
            </a:r>
            <a:r>
              <a:rPr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free</a:t>
            </a:r>
            <a:r>
              <a:rPr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memory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when</a:t>
            </a:r>
            <a:r>
              <a:rPr sz="20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it</a:t>
            </a:r>
            <a:r>
              <a:rPr sz="20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no</a:t>
            </a:r>
            <a:r>
              <a:rPr sz="20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longer</a:t>
            </a:r>
            <a:r>
              <a:rPr sz="20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needed.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4" name="object 4" descr="A diagram of a memory heap showing three states: &quot;Normal&quot; with high available memory, &quot;Low Performance&quot; with little available memory, and &quot;System crash&quot; when memory is exhausted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24400" y="1689861"/>
            <a:ext cx="7337299" cy="4572665"/>
          </a:xfrm>
          <a:prstGeom prst="rect">
            <a:avLst/>
          </a:prstGeom>
        </p:spPr>
      </p:pic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00800" y="6400800"/>
            <a:ext cx="370840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4"/>
              </a:rPr>
              <a:t>https://www.log2base2.com/C/pointer/free-in-c.html</a:t>
            </a:r>
            <a:endParaRPr sz="1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Memory</a:t>
            </a:r>
            <a:r>
              <a:rPr spc="-30" dirty="0"/>
              <a:t> </a:t>
            </a:r>
            <a:r>
              <a:rPr spc="-10" dirty="0"/>
              <a:t>Leaks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86575" y="2227656"/>
            <a:ext cx="11944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memleak.c</a:t>
            </a:r>
            <a:endParaRPr sz="1800" dirty="0">
              <a:latin typeface="Arial"/>
              <a:cs typeface="Arial"/>
            </a:endParaRPr>
          </a:p>
        </p:txBody>
      </p:sp>
      <p:pic>
        <p:nvPicPr>
          <p:cNvPr id="3" name="object 3" descr="A C program demonstrating a deliberate memory leak using a while(1) loop that continuously allocates 1MB with malloc without calling free()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3549" y="2626975"/>
            <a:ext cx="7740599" cy="389304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402174" y="3372222"/>
            <a:ext cx="301561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Compile</a:t>
            </a:r>
            <a:r>
              <a:rPr sz="1600" b="1" spc="-4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and</a:t>
            </a:r>
            <a:r>
              <a:rPr sz="16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Run</a:t>
            </a:r>
            <a:r>
              <a:rPr sz="16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F2044"/>
                </a:solidFill>
                <a:latin typeface="Arial"/>
                <a:cs typeface="Arial"/>
              </a:rPr>
              <a:t>the</a:t>
            </a:r>
            <a:r>
              <a:rPr sz="16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F2044"/>
                </a:solidFill>
                <a:latin typeface="Arial"/>
                <a:cs typeface="Arial"/>
              </a:rPr>
              <a:t>Program: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441000" y="3750186"/>
            <a:ext cx="3306445" cy="669414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gcc</a:t>
            </a:r>
            <a:r>
              <a:rPr sz="1800" spc="-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-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o</a:t>
            </a:r>
            <a:r>
              <a:rPr sz="1800" spc="-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memleak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memleak.c</a:t>
            </a:r>
            <a:endParaRPr sz="1800" dirty="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</a:pP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./</a:t>
            </a:r>
            <a:r>
              <a:rPr sz="1800" spc="-10" dirty="0" err="1">
                <a:solidFill>
                  <a:srgbClr val="980000"/>
                </a:solidFill>
                <a:latin typeface="Arial MT"/>
                <a:cs typeface="Arial MT"/>
              </a:rPr>
              <a:t>memleak</a:t>
            </a:r>
            <a:endParaRPr lang="en-US" sz="18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14025" y="4526272"/>
            <a:ext cx="2938145" cy="6412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5000"/>
              </a:lnSpc>
              <a:spcBef>
                <a:spcPts val="100"/>
              </a:spcBef>
            </a:pPr>
            <a:r>
              <a:rPr sz="16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6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0F2044"/>
                </a:solidFill>
                <a:latin typeface="Arial MT"/>
                <a:cs typeface="Arial MT"/>
              </a:rPr>
              <a:t>program</a:t>
            </a:r>
            <a:r>
              <a:rPr sz="16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0F2044"/>
                </a:solidFill>
                <a:latin typeface="Arial MT"/>
                <a:cs typeface="Arial MT"/>
              </a:rPr>
              <a:t>will</a:t>
            </a:r>
            <a:r>
              <a:rPr sz="16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0F2044"/>
                </a:solidFill>
                <a:latin typeface="Arial MT"/>
                <a:cs typeface="Arial MT"/>
              </a:rPr>
              <a:t>keep</a:t>
            </a:r>
            <a:r>
              <a:rPr sz="16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600" spc="-10" dirty="0">
                <a:solidFill>
                  <a:srgbClr val="0F2044"/>
                </a:solidFill>
                <a:latin typeface="Arial MT"/>
                <a:cs typeface="Arial MT"/>
              </a:rPr>
              <a:t>allocating </a:t>
            </a:r>
            <a:r>
              <a:rPr sz="1600" dirty="0">
                <a:solidFill>
                  <a:srgbClr val="0F2044"/>
                </a:solidFill>
                <a:latin typeface="Arial MT"/>
                <a:cs typeface="Arial MT"/>
              </a:rPr>
              <a:t>1MB</a:t>
            </a:r>
            <a:r>
              <a:rPr sz="16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0F2044"/>
                </a:solidFill>
                <a:latin typeface="Arial MT"/>
                <a:cs typeface="Arial MT"/>
              </a:rPr>
              <a:t>per</a:t>
            </a:r>
            <a:r>
              <a:rPr sz="1600" spc="-10" dirty="0">
                <a:solidFill>
                  <a:srgbClr val="0F2044"/>
                </a:solidFill>
                <a:latin typeface="Arial MT"/>
                <a:cs typeface="Arial MT"/>
              </a:rPr>
              <a:t> second.</a:t>
            </a:r>
            <a:endParaRPr sz="16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689861"/>
            <a:ext cx="263762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Memory</a:t>
            </a:r>
            <a:r>
              <a:rPr spc="-30" dirty="0"/>
              <a:t> </a:t>
            </a:r>
            <a:r>
              <a:rPr spc="-10" dirty="0"/>
              <a:t>Leaks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010497" y="1346180"/>
            <a:ext cx="3065780" cy="109376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5000"/>
              </a:lnSpc>
              <a:spcBef>
                <a:spcPts val="100"/>
              </a:spcBef>
            </a:pPr>
            <a:r>
              <a:rPr b="1" dirty="0">
                <a:latin typeface="Arial"/>
                <a:cs typeface="Arial"/>
              </a:rPr>
              <a:t>Use</a:t>
            </a:r>
            <a:r>
              <a:rPr b="1" spc="-15" dirty="0">
                <a:latin typeface="Arial"/>
                <a:cs typeface="Arial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top</a:t>
            </a:r>
            <a:r>
              <a:rPr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b="1" dirty="0">
                <a:latin typeface="Arial"/>
                <a:cs typeface="Arial"/>
              </a:rPr>
              <a:t>to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See</a:t>
            </a:r>
            <a:r>
              <a:rPr b="1" spc="-10" dirty="0">
                <a:latin typeface="Arial"/>
                <a:cs typeface="Arial"/>
              </a:rPr>
              <a:t> Increasing </a:t>
            </a:r>
            <a:r>
              <a:rPr b="1" dirty="0">
                <a:latin typeface="Arial"/>
                <a:cs typeface="Arial"/>
              </a:rPr>
              <a:t>Memory</a:t>
            </a:r>
            <a:r>
              <a:rPr b="1" spc="-4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Usage:</a:t>
            </a:r>
            <a:r>
              <a:rPr b="1" spc="-40" dirty="0">
                <a:latin typeface="Arial"/>
                <a:cs typeface="Arial"/>
              </a:rPr>
              <a:t> </a:t>
            </a:r>
            <a:r>
              <a:rPr dirty="0">
                <a:latin typeface="Arial MT"/>
                <a:cs typeface="Arial MT"/>
              </a:rPr>
              <a:t>Open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another </a:t>
            </a:r>
            <a:r>
              <a:rPr dirty="0">
                <a:latin typeface="Arial MT"/>
                <a:cs typeface="Arial MT"/>
              </a:rPr>
              <a:t>terminal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and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spc="-20" dirty="0">
                <a:latin typeface="Arial MT"/>
                <a:cs typeface="Arial MT"/>
              </a:rPr>
              <a:t>run:</a:t>
            </a:r>
            <a:endParaRPr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376653" y="1458721"/>
            <a:ext cx="3306445" cy="4622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top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 -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o</a:t>
            </a:r>
            <a:r>
              <a:rPr sz="1800" spc="-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mem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554150" y="2126177"/>
            <a:ext cx="2951449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1" dirty="0">
                <a:solidFill>
                  <a:srgbClr val="0F2044"/>
                </a:solidFill>
                <a:latin typeface="Arial"/>
                <a:cs typeface="Arial"/>
              </a:rPr>
              <a:t>PhysMem</a:t>
            </a:r>
            <a:r>
              <a:rPr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keeps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increasing!</a:t>
            </a:r>
            <a:endParaRPr dirty="0">
              <a:latin typeface="Arial MT"/>
              <a:cs typeface="Arial MT"/>
            </a:endParaRPr>
          </a:p>
        </p:txBody>
      </p:sp>
      <p:pic>
        <p:nvPicPr>
          <p:cNvPr id="6" name="object 6" descr="A screenshot of a system terminal running the top command, displaying real-time process statistics including PID, CPU usage, and memory consumption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200" y="2937396"/>
            <a:ext cx="12039600" cy="38168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Memory</a:t>
            </a:r>
            <a:r>
              <a:rPr spc="-30" dirty="0"/>
              <a:t> </a:t>
            </a:r>
            <a:r>
              <a:rPr spc="-10" dirty="0"/>
              <a:t>Leaks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072375" y="2940199"/>
            <a:ext cx="3282950" cy="6412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35000"/>
              </a:lnSpc>
              <a:spcBef>
                <a:spcPts val="100"/>
              </a:spcBef>
            </a:pPr>
            <a:r>
              <a:rPr sz="1600" b="1" dirty="0">
                <a:latin typeface="Arial"/>
                <a:cs typeface="Arial"/>
              </a:rPr>
              <a:t>Use</a:t>
            </a:r>
            <a:r>
              <a:rPr sz="1600" b="1" spc="-50" dirty="0"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ps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latin typeface="Arial"/>
                <a:cs typeface="Arial"/>
              </a:rPr>
              <a:t>to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Inspect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Memory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Usage:</a:t>
            </a:r>
            <a:endParaRPr sz="1600" dirty="0">
              <a:latin typeface="Arial"/>
              <a:cs typeface="Arial"/>
            </a:endParaRPr>
          </a:p>
          <a:p>
            <a:pPr marL="12700">
              <a:lnSpc>
                <a:spcPct val="135000"/>
              </a:lnSpc>
            </a:pPr>
            <a:r>
              <a:rPr sz="1600" dirty="0">
                <a:latin typeface="Arial MT"/>
                <a:cs typeface="Arial MT"/>
              </a:rPr>
              <a:t>Find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your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process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(PID)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with:</a:t>
            </a:r>
            <a:endParaRPr sz="1600"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111200" y="3682174"/>
            <a:ext cx="3306445" cy="4622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ps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aux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|</a:t>
            </a:r>
            <a:r>
              <a:rPr sz="1800" spc="-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grep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 memleak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072375" y="4586496"/>
            <a:ext cx="320802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Arial MT"/>
                <a:cs typeface="Arial MT"/>
              </a:rPr>
              <a:t>Use</a:t>
            </a:r>
            <a:r>
              <a:rPr sz="1600" spc="-60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leaks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Detect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Leak</a:t>
            </a:r>
            <a:endParaRPr sz="1600" dirty="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111200" y="4977574"/>
            <a:ext cx="3306445" cy="4622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leaks</a:t>
            </a:r>
            <a:r>
              <a:rPr sz="1800" spc="-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&lt;PID&gt;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7" name="object 7" descr="A terminal output of a &quot;leaks Report&quot; showing hundreds of detected &quot;ROOT LEAKS&quot; of 1.00MB each, identifying the specific memory addresses and total leaked byte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5750" y="2223841"/>
            <a:ext cx="6156801" cy="44264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2044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295</TotalTime>
  <Words>2972</Words>
  <Application>Microsoft Office PowerPoint</Application>
  <PresentationFormat>Widescreen</PresentationFormat>
  <Paragraphs>354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Arial</vt:lpstr>
      <vt:lpstr>Arial MT</vt:lpstr>
      <vt:lpstr>Courier New</vt:lpstr>
      <vt:lpstr>Georgia</vt:lpstr>
      <vt:lpstr>Roboto</vt:lpstr>
      <vt:lpstr>Office Theme</vt:lpstr>
      <vt:lpstr>CSC 362: System Programming</vt:lpstr>
      <vt:lpstr>Status Check</vt:lpstr>
      <vt:lpstr>Understanding malloc</vt:lpstr>
      <vt:lpstr>How malloc works?</vt:lpstr>
      <vt:lpstr>Code Example #1</vt:lpstr>
      <vt:lpstr>Code Example #1 Key difference</vt:lpstr>
      <vt:lpstr>Code Example #1 Commands</vt:lpstr>
      <vt:lpstr>Code Example #2</vt:lpstr>
      <vt:lpstr>calloc (Contiguous Allocation)</vt:lpstr>
      <vt:lpstr>calloc (Contiguous Allocation)</vt:lpstr>
      <vt:lpstr>calloc (Contiguous Allocation)</vt:lpstr>
      <vt:lpstr>Code Example #3</vt:lpstr>
      <vt:lpstr>realloc (Reallocation)</vt:lpstr>
      <vt:lpstr>realloc (Reallocation)</vt:lpstr>
      <vt:lpstr>realloc (Reallocation)</vt:lpstr>
      <vt:lpstr>free (Memory Deallocation)</vt:lpstr>
      <vt:lpstr>Memory Leaks</vt:lpstr>
      <vt:lpstr>Memory Leaks</vt:lpstr>
      <vt:lpstr>Memory Leaks</vt:lpstr>
      <vt:lpstr>Memory Leaks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CSC362 - Lecture 6.pptx</dc:title>
  <cp:lastModifiedBy>Richard Johnson</cp:lastModifiedBy>
  <cp:revision>138</cp:revision>
  <dcterms:created xsi:type="dcterms:W3CDTF">2026-01-14T00:58:25Z</dcterms:created>
  <dcterms:modified xsi:type="dcterms:W3CDTF">2026-02-06T16:30:08Z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2026-01-14T00:00:00Z</vt:filetime>
  </property>
  <property fmtid="{D5CDD505-2E9C-101B-9397-08002B2CF9AE}" pid="3" name="Creator">
    <vt:lpwstr>Google</vt:lpwstr>
  </property>
  <property fmtid="{D5CDD505-2E9C-101B-9397-08002B2CF9AE}" pid="4" name="LastSaved">
    <vt:filetime>2026-01-14T00:00:00Z</vt:filetime>
  </property>
</Properties>
</file>