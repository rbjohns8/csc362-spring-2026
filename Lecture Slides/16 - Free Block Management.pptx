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89"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8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2581" autoAdjust="0"/>
  </p:normalViewPr>
  <p:slideViewPr>
    <p:cSldViewPr>
      <p:cViewPr>
        <p:scale>
          <a:sx n="66" d="100"/>
          <a:sy n="66" d="100"/>
        </p:scale>
        <p:origin x="1224" y="3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6BD7B703-0A18-4A67-A00C-973245573E61}" type="datetimeFigureOut">
              <a:rPr lang="en-US" smtClean="0"/>
              <a:t>3/24/2026</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AFAF0173-F4FC-4AFC-92E6-E8B88A3FF416}" type="slidenum">
              <a:rPr lang="en-US" smtClean="0"/>
              <a:t>‹#›</a:t>
            </a:fld>
            <a:endParaRPr lang="en-US"/>
          </a:p>
        </p:txBody>
      </p:sp>
    </p:spTree>
    <p:extLst>
      <p:ext uri="{BB962C8B-B14F-4D97-AF65-F5344CB8AC3E}">
        <p14:creationId xmlns:p14="http://schemas.microsoft.com/office/powerpoint/2010/main" val="468461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AF0173-F4FC-4AFC-92E6-E8B88A3FF416}" type="slidenum">
              <a:rPr lang="en-US" smtClean="0"/>
              <a:t>3</a:t>
            </a:fld>
            <a:endParaRPr lang="en-US"/>
          </a:p>
        </p:txBody>
      </p:sp>
    </p:spTree>
    <p:extLst>
      <p:ext uri="{BB962C8B-B14F-4D97-AF65-F5344CB8AC3E}">
        <p14:creationId xmlns:p14="http://schemas.microsoft.com/office/powerpoint/2010/main" val="16480194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Freeing Memory Blocks (Basics)</a:t>
            </a:r>
            <a:endParaRPr lang="en-US" dirty="0"/>
          </a:p>
          <a:p>
            <a:pPr marL="171450" indent="-171450">
              <a:buFont typeface="Arial" panose="020B0604020202020204" pitchFamily="34" charset="0"/>
              <a:buChar char="•"/>
            </a:pPr>
            <a:r>
              <a:rPr lang="en-US" dirty="0"/>
              <a:t>Modern systems are byte-addressed; each address is 1 byte.</a:t>
            </a:r>
          </a:p>
          <a:p>
            <a:pPr marL="171450" indent="-171450">
              <a:buFont typeface="Arial" panose="020B0604020202020204" pitchFamily="34" charset="0"/>
              <a:buChar char="•"/>
            </a:pPr>
            <a:r>
              <a:rPr lang="en-US" dirty="0"/>
              <a:t>The heap is managed in blocks, the size of which is determined by the allocator.</a:t>
            </a:r>
          </a:p>
          <a:p>
            <a:pPr marL="171450" indent="-171450">
              <a:buFont typeface="Arial" panose="020B0604020202020204" pitchFamily="34" charset="0"/>
              <a:buChar char="•"/>
            </a:pPr>
            <a:r>
              <a:rPr lang="en-US" dirty="0"/>
              <a:t>Blocks are usually aligned to the system's word size (e.g., 4 or 8 bytes).</a:t>
            </a:r>
          </a:p>
          <a:p>
            <a:endParaRPr lang="en-US" dirty="0"/>
          </a:p>
        </p:txBody>
      </p:sp>
      <p:sp>
        <p:nvSpPr>
          <p:cNvPr id="4" name="Slide Number Placeholder 3"/>
          <p:cNvSpPr>
            <a:spLocks noGrp="1"/>
          </p:cNvSpPr>
          <p:nvPr>
            <p:ph type="sldNum" sz="quarter" idx="5"/>
          </p:nvPr>
        </p:nvSpPr>
        <p:spPr/>
        <p:txBody>
          <a:bodyPr/>
          <a:lstStyle/>
          <a:p>
            <a:fld id="{AFAF0173-F4FC-4AFC-92E6-E8B88A3FF416}" type="slidenum">
              <a:rPr lang="en-US" smtClean="0"/>
              <a:t>4</a:t>
            </a:fld>
            <a:endParaRPr lang="en-US"/>
          </a:p>
        </p:txBody>
      </p:sp>
    </p:spTree>
    <p:extLst>
      <p:ext uri="{BB962C8B-B14F-4D97-AF65-F5344CB8AC3E}">
        <p14:creationId xmlns:p14="http://schemas.microsoft.com/office/powerpoint/2010/main" val="14231139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Tracking Block Length</a:t>
            </a:r>
            <a:endParaRPr lang="en-US" dirty="0"/>
          </a:p>
          <a:p>
            <a:pPr marL="171450" indent="-171450">
              <a:buFont typeface="Arial" panose="020B0604020202020204" pitchFamily="34" charset="0"/>
              <a:buChar char="•"/>
            </a:pPr>
            <a:r>
              <a:rPr lang="en-US" dirty="0"/>
              <a:t>To know how much to free, allocators typically store the block length in a "header" word immediately preceding the payload.</a:t>
            </a:r>
          </a:p>
          <a:p>
            <a:pPr marL="171450" indent="-171450">
              <a:buFont typeface="Arial" panose="020B0604020202020204" pitchFamily="34" charset="0"/>
              <a:buChar char="•"/>
            </a:pPr>
            <a:r>
              <a:rPr lang="en-US" dirty="0"/>
              <a:t>This requires </a:t>
            </a:r>
            <a:r>
              <a:rPr lang="en-US" u="sng" dirty="0"/>
              <a:t>one extra word of overhead</a:t>
            </a:r>
            <a:r>
              <a:rPr lang="en-US" dirty="0"/>
              <a:t> for every allocated block.</a:t>
            </a:r>
          </a:p>
          <a:p>
            <a:endParaRPr lang="en-US" dirty="0"/>
          </a:p>
        </p:txBody>
      </p:sp>
      <p:sp>
        <p:nvSpPr>
          <p:cNvPr id="4" name="Slide Number Placeholder 3"/>
          <p:cNvSpPr>
            <a:spLocks noGrp="1"/>
          </p:cNvSpPr>
          <p:nvPr>
            <p:ph type="sldNum" sz="quarter" idx="5"/>
          </p:nvPr>
        </p:nvSpPr>
        <p:spPr/>
        <p:txBody>
          <a:bodyPr/>
          <a:lstStyle/>
          <a:p>
            <a:fld id="{AFAF0173-F4FC-4AFC-92E6-E8B88A3FF416}" type="slidenum">
              <a:rPr lang="en-US" smtClean="0"/>
              <a:t>5</a:t>
            </a:fld>
            <a:endParaRPr lang="en-US"/>
          </a:p>
        </p:txBody>
      </p:sp>
    </p:spTree>
    <p:extLst>
      <p:ext uri="{BB962C8B-B14F-4D97-AF65-F5344CB8AC3E}">
        <p14:creationId xmlns:p14="http://schemas.microsoft.com/office/powerpoint/2010/main" val="1114953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Implicit vs. Explicit Lists</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Implicit List:</a:t>
            </a:r>
            <a:r>
              <a:rPr lang="en-US" sz="1200" kern="1200" dirty="0">
                <a:solidFill>
                  <a:schemeClr val="tx1"/>
                </a:solidFill>
                <a:effectLst/>
                <a:latin typeface="+mn-lt"/>
                <a:ea typeface="+mn-ea"/>
                <a:cs typeface="+mn-cs"/>
              </a:rPr>
              <a:t>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Every block has a size/status header; the allocator must scan all blocks (allocated and free) sequentially.</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Explicit List:</a:t>
            </a:r>
            <a:r>
              <a:rPr lang="en-US" sz="1200" kern="1200" dirty="0">
                <a:solidFill>
                  <a:schemeClr val="tx1"/>
                </a:solidFill>
                <a:effectLst/>
                <a:latin typeface="+mn-lt"/>
                <a:ea typeface="+mn-ea"/>
                <a:cs typeface="+mn-cs"/>
              </a:rPr>
              <a:t>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Only free blocks are linked; free blocks contain pointers to the next and previous free blocks.</a:t>
            </a:r>
          </a:p>
          <a:p>
            <a:endParaRPr lang="en-US" dirty="0"/>
          </a:p>
        </p:txBody>
      </p:sp>
      <p:sp>
        <p:nvSpPr>
          <p:cNvPr id="4" name="Slide Number Placeholder 3"/>
          <p:cNvSpPr>
            <a:spLocks noGrp="1"/>
          </p:cNvSpPr>
          <p:nvPr>
            <p:ph type="sldNum" sz="quarter" idx="5"/>
          </p:nvPr>
        </p:nvSpPr>
        <p:spPr/>
        <p:txBody>
          <a:bodyPr/>
          <a:lstStyle/>
          <a:p>
            <a:fld id="{AFAF0173-F4FC-4AFC-92E6-E8B88A3FF416}" type="slidenum">
              <a:rPr lang="en-US" smtClean="0"/>
              <a:t>6</a:t>
            </a:fld>
            <a:endParaRPr lang="en-US"/>
          </a:p>
        </p:txBody>
      </p:sp>
    </p:spTree>
    <p:extLst>
      <p:ext uri="{BB962C8B-B14F-4D97-AF65-F5344CB8AC3E}">
        <p14:creationId xmlns:p14="http://schemas.microsoft.com/office/powerpoint/2010/main" val="18469454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Implicit Free List Details</a:t>
            </a:r>
            <a:endParaRPr lang="en-US" dirty="0"/>
          </a:p>
          <a:p>
            <a:pPr marL="171450" indent="-171450">
              <a:buFont typeface="Arial" panose="020B0604020202020204" pitchFamily="34" charset="0"/>
              <a:buChar char="•"/>
            </a:pPr>
            <a:r>
              <a:rPr lang="en-US" dirty="0"/>
              <a:t>Simplest way to track memory.</a:t>
            </a:r>
          </a:p>
          <a:p>
            <a:pPr marL="171450" indent="-171450">
              <a:buFont typeface="Arial" panose="020B0604020202020204" pitchFamily="34" charset="0"/>
              <a:buChar char="•"/>
            </a:pPr>
            <a:r>
              <a:rPr lang="en-US" dirty="0"/>
              <a:t>Each block has a Header (size and allocation status) and a Payload (user data).</a:t>
            </a:r>
          </a:p>
          <a:p>
            <a:pPr marL="171450" indent="-171450">
              <a:buFont typeface="Arial" panose="020B0604020202020204" pitchFamily="34" charset="0"/>
              <a:buChar char="•"/>
            </a:pPr>
            <a:r>
              <a:rPr lang="en-US" dirty="0"/>
              <a:t>May include an optional Footer for bidirectional coalescing.</a:t>
            </a:r>
          </a:p>
          <a:p>
            <a:endParaRPr lang="en-US" dirty="0"/>
          </a:p>
        </p:txBody>
      </p:sp>
      <p:sp>
        <p:nvSpPr>
          <p:cNvPr id="4" name="Slide Number Placeholder 3"/>
          <p:cNvSpPr>
            <a:spLocks noGrp="1"/>
          </p:cNvSpPr>
          <p:nvPr>
            <p:ph type="sldNum" sz="quarter" idx="5"/>
          </p:nvPr>
        </p:nvSpPr>
        <p:spPr/>
        <p:txBody>
          <a:bodyPr/>
          <a:lstStyle/>
          <a:p>
            <a:fld id="{AFAF0173-F4FC-4AFC-92E6-E8B88A3FF416}" type="slidenum">
              <a:rPr lang="en-US" smtClean="0"/>
              <a:t>7</a:t>
            </a:fld>
            <a:endParaRPr lang="en-US"/>
          </a:p>
        </p:txBody>
      </p:sp>
    </p:spTree>
    <p:extLst>
      <p:ext uri="{BB962C8B-B14F-4D97-AF65-F5344CB8AC3E}">
        <p14:creationId xmlns:p14="http://schemas.microsoft.com/office/powerpoint/2010/main" val="42232790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Implicit Free List (Wastefulness)</a:t>
            </a:r>
            <a:endParaRPr lang="en-US" dirty="0"/>
          </a:p>
          <a:p>
            <a:pPr marL="171450" indent="-171450">
              <a:buFont typeface="Arial" panose="020B0604020202020204" pitchFamily="34" charset="0"/>
              <a:buChar char="•"/>
            </a:pPr>
            <a:r>
              <a:rPr lang="en-US" dirty="0"/>
              <a:t>Linking all blocks means every block needs a </a:t>
            </a:r>
            <a:r>
              <a:rPr lang="en-US" u="sng" dirty="0"/>
              <a:t>size and allocation flag</a:t>
            </a:r>
            <a:r>
              <a:rPr lang="en-US" dirty="0"/>
              <a:t>.</a:t>
            </a:r>
          </a:p>
          <a:p>
            <a:pPr marL="171450" indent="-171450">
              <a:buFont typeface="Arial" panose="020B0604020202020204" pitchFamily="34" charset="0"/>
              <a:buChar char="•"/>
            </a:pPr>
            <a:r>
              <a:rPr lang="en-US" dirty="0"/>
              <a:t>Using </a:t>
            </a:r>
            <a:r>
              <a:rPr lang="en-US" u="sng" dirty="0"/>
              <a:t>two separate words</a:t>
            </a:r>
            <a:r>
              <a:rPr lang="en-US" dirty="0"/>
              <a:t> for this is considered </a:t>
            </a:r>
            <a:r>
              <a:rPr lang="en-US" u="sng" dirty="0"/>
              <a:t>wasteful</a:t>
            </a:r>
            <a:r>
              <a:rPr lang="en-US" dirty="0"/>
              <a:t>.</a:t>
            </a:r>
          </a:p>
          <a:p>
            <a:endParaRPr lang="en-US" dirty="0"/>
          </a:p>
        </p:txBody>
      </p:sp>
      <p:sp>
        <p:nvSpPr>
          <p:cNvPr id="4" name="Slide Number Placeholder 3"/>
          <p:cNvSpPr>
            <a:spLocks noGrp="1"/>
          </p:cNvSpPr>
          <p:nvPr>
            <p:ph type="sldNum" sz="quarter" idx="5"/>
          </p:nvPr>
        </p:nvSpPr>
        <p:spPr/>
        <p:txBody>
          <a:bodyPr/>
          <a:lstStyle/>
          <a:p>
            <a:fld id="{AFAF0173-F4FC-4AFC-92E6-E8B88A3FF416}" type="slidenum">
              <a:rPr lang="en-US" smtClean="0"/>
              <a:t>8</a:t>
            </a:fld>
            <a:endParaRPr lang="en-US"/>
          </a:p>
        </p:txBody>
      </p:sp>
    </p:spTree>
    <p:extLst>
      <p:ext uri="{BB962C8B-B14F-4D97-AF65-F5344CB8AC3E}">
        <p14:creationId xmlns:p14="http://schemas.microsoft.com/office/powerpoint/2010/main" val="17125437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Memory Alignment</a:t>
            </a:r>
            <a:endParaRPr lang="en-US" dirty="0"/>
          </a:p>
          <a:p>
            <a:pPr marL="171450" indent="-171450">
              <a:buFont typeface="Arial" panose="020B0604020202020204" pitchFamily="34" charset="0"/>
              <a:buChar char="•"/>
            </a:pPr>
            <a:r>
              <a:rPr lang="en-US" dirty="0"/>
              <a:t>Data structures start at specific boundaries (e.g., 8-byte alignment).</a:t>
            </a:r>
          </a:p>
          <a:p>
            <a:pPr marL="171450" indent="-171450">
              <a:buFont typeface="Arial" panose="020B0604020202020204" pitchFamily="34" charset="0"/>
              <a:buChar char="•"/>
            </a:pPr>
            <a:r>
              <a:rPr lang="en-US" dirty="0"/>
              <a:t>If 8-byte aligned, every block address must be a multiple of 8.</a:t>
            </a:r>
          </a:p>
          <a:p>
            <a:endParaRPr lang="en-US" dirty="0"/>
          </a:p>
        </p:txBody>
      </p:sp>
      <p:sp>
        <p:nvSpPr>
          <p:cNvPr id="4" name="Slide Number Placeholder 3"/>
          <p:cNvSpPr>
            <a:spLocks noGrp="1"/>
          </p:cNvSpPr>
          <p:nvPr>
            <p:ph type="sldNum" sz="quarter" idx="5"/>
          </p:nvPr>
        </p:nvSpPr>
        <p:spPr/>
        <p:txBody>
          <a:bodyPr/>
          <a:lstStyle/>
          <a:p>
            <a:fld id="{AFAF0173-F4FC-4AFC-92E6-E8B88A3FF416}" type="slidenum">
              <a:rPr lang="en-US" smtClean="0"/>
              <a:t>9</a:t>
            </a:fld>
            <a:endParaRPr lang="en-US"/>
          </a:p>
        </p:txBody>
      </p:sp>
    </p:spTree>
    <p:extLst>
      <p:ext uri="{BB962C8B-B14F-4D97-AF65-F5344CB8AC3E}">
        <p14:creationId xmlns:p14="http://schemas.microsoft.com/office/powerpoint/2010/main" val="9292881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Implicit Free List Optimization</a:t>
            </a:r>
            <a:endParaRPr lang="en-US" dirty="0"/>
          </a:p>
          <a:p>
            <a:pPr marL="171450" indent="-171450">
              <a:buFont typeface="Arial" panose="020B0604020202020204" pitchFamily="34" charset="0"/>
              <a:buChar char="•"/>
            </a:pPr>
            <a:r>
              <a:rPr lang="en-US" b="1" dirty="0"/>
              <a:t>Observation:</a:t>
            </a:r>
            <a:r>
              <a:rPr lang="en-US" dirty="0"/>
              <a:t> </a:t>
            </a:r>
            <a:br>
              <a:rPr lang="en-US" dirty="0"/>
            </a:br>
            <a:r>
              <a:rPr lang="en-US" dirty="0"/>
              <a:t>Due to alignment (e.g., 8-byte), the lower three bits of a block size are always zero.</a:t>
            </a:r>
          </a:p>
          <a:p>
            <a:pPr marL="171450" indent="-171450">
              <a:buFont typeface="Arial" panose="020B0604020202020204" pitchFamily="34" charset="0"/>
              <a:buChar char="•"/>
            </a:pPr>
            <a:r>
              <a:rPr lang="en-US" b="1" dirty="0"/>
              <a:t>Optimization:</a:t>
            </a:r>
            <a:r>
              <a:rPr lang="en-US" dirty="0"/>
              <a:t> </a:t>
            </a:r>
            <a:br>
              <a:rPr lang="en-US" dirty="0"/>
            </a:br>
            <a:r>
              <a:rPr lang="en-US" dirty="0"/>
              <a:t>Repurpose the least significant bit (LSB) as an allocation flag (a=0 for free, a=1 for allocated).</a:t>
            </a:r>
          </a:p>
          <a:p>
            <a:pPr marL="0" indent="0">
              <a:buFont typeface="Arial" panose="020B0604020202020204" pitchFamily="34" charset="0"/>
              <a:buNone/>
            </a:pPr>
            <a:endParaRPr lang="en-US" dirty="0"/>
          </a:p>
          <a:p>
            <a:r>
              <a:rPr lang="en-US" b="1" dirty="0"/>
              <a:t>Note:</a:t>
            </a:r>
            <a:r>
              <a:rPr lang="en-US" dirty="0"/>
              <a:t> </a:t>
            </a:r>
            <a:br>
              <a:rPr lang="en-US" dirty="0"/>
            </a:br>
            <a:r>
              <a:rPr lang="en-US" dirty="0"/>
              <a:t>When reading the size, the allocator must mask out the LSB (least significant bit).</a:t>
            </a:r>
          </a:p>
          <a:p>
            <a:endParaRPr lang="en-US" dirty="0"/>
          </a:p>
        </p:txBody>
      </p:sp>
      <p:sp>
        <p:nvSpPr>
          <p:cNvPr id="4" name="Slide Number Placeholder 3"/>
          <p:cNvSpPr>
            <a:spLocks noGrp="1"/>
          </p:cNvSpPr>
          <p:nvPr>
            <p:ph type="sldNum" sz="quarter" idx="5"/>
          </p:nvPr>
        </p:nvSpPr>
        <p:spPr/>
        <p:txBody>
          <a:bodyPr/>
          <a:lstStyle/>
          <a:p>
            <a:fld id="{AFAF0173-F4FC-4AFC-92E6-E8B88A3FF416}" type="slidenum">
              <a:rPr lang="en-US" smtClean="0"/>
              <a:t>10</a:t>
            </a:fld>
            <a:endParaRPr lang="en-US"/>
          </a:p>
        </p:txBody>
      </p:sp>
    </p:spTree>
    <p:extLst>
      <p:ext uri="{BB962C8B-B14F-4D97-AF65-F5344CB8AC3E}">
        <p14:creationId xmlns:p14="http://schemas.microsoft.com/office/powerpoint/2010/main" val="35963283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Block size/status</a:t>
            </a:r>
          </a:p>
          <a:p>
            <a:pPr marL="171450" indent="-171450">
              <a:buFont typeface="Arial" panose="020B0604020202020204" pitchFamily="34" charset="0"/>
              <a:buChar char="•"/>
            </a:pPr>
            <a:r>
              <a:rPr lang="en-US" dirty="0"/>
              <a:t>4/0 (free)</a:t>
            </a:r>
          </a:p>
          <a:p>
            <a:pPr marL="171450" indent="-171450">
              <a:buFont typeface="Arial" panose="020B0604020202020204" pitchFamily="34" charset="0"/>
              <a:buChar char="•"/>
            </a:pPr>
            <a:r>
              <a:rPr lang="en-US" dirty="0"/>
              <a:t>4/1 (allocated)</a:t>
            </a:r>
          </a:p>
          <a:p>
            <a:pPr marL="171450" indent="-171450">
              <a:buFont typeface="Arial" panose="020B0604020202020204" pitchFamily="34" charset="0"/>
              <a:buChar char="•"/>
            </a:pPr>
            <a:r>
              <a:rPr lang="en-US" dirty="0"/>
              <a:t>6/0 (free)</a:t>
            </a:r>
          </a:p>
          <a:p>
            <a:pPr marL="171450" indent="-171450">
              <a:buFont typeface="Arial" panose="020B0604020202020204" pitchFamily="34" charset="0"/>
              <a:buChar char="•"/>
            </a:pPr>
            <a:r>
              <a:rPr lang="en-US" dirty="0"/>
              <a:t>2/1 (allocated)</a:t>
            </a:r>
          </a:p>
          <a:p>
            <a:pPr marL="171450" indent="-171450">
              <a:buFont typeface="Arial" panose="020B0604020202020204" pitchFamily="34" charset="0"/>
              <a:buChar char="•"/>
            </a:pPr>
            <a:r>
              <a:rPr lang="en-US" dirty="0"/>
              <a:t>0/1 terminator</a:t>
            </a:r>
          </a:p>
          <a:p>
            <a:endParaRPr lang="en-US" sz="1200" b="1"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AFAF0173-F4FC-4AFC-92E6-E8B88A3FF416}" type="slidenum">
              <a:rPr lang="en-US" smtClean="0"/>
              <a:t>11</a:t>
            </a:fld>
            <a:endParaRPr lang="en-US"/>
          </a:p>
        </p:txBody>
      </p:sp>
    </p:spTree>
    <p:extLst>
      <p:ext uri="{BB962C8B-B14F-4D97-AF65-F5344CB8AC3E}">
        <p14:creationId xmlns:p14="http://schemas.microsoft.com/office/powerpoint/2010/main" val="22581231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Splitting Blocks</a:t>
            </a:r>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If a free block is larger than needed,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allocator may split it into two parts: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 allocated block and a remaining free block.</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Decision factor:</a:t>
            </a:r>
            <a:r>
              <a:rPr lang="en-US" sz="1200" kern="1200" dirty="0">
                <a:solidFill>
                  <a:schemeClr val="tx1"/>
                </a:solidFill>
                <a:effectLst/>
                <a:latin typeface="+mn-lt"/>
                <a:ea typeface="+mn-ea"/>
                <a:cs typeface="+mn-cs"/>
              </a:rPr>
              <a:t>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How much internal fragmentation is tolerable?</a:t>
            </a:r>
          </a:p>
          <a:p>
            <a:endParaRPr lang="en-US" b="1" dirty="0"/>
          </a:p>
          <a:p>
            <a:r>
              <a:rPr lang="en-US" b="1" dirty="0"/>
              <a:t>Splitting a free block:</a:t>
            </a:r>
            <a:endParaRPr lang="en-US" dirty="0"/>
          </a:p>
          <a:p>
            <a:r>
              <a:rPr lang="en-US" dirty="0"/>
              <a:t>A larger free block (6/0) is divided into a </a:t>
            </a:r>
          </a:p>
          <a:p>
            <a:pPr marL="171450" indent="-171450">
              <a:buFont typeface="Arial" panose="020B0604020202020204" pitchFamily="34" charset="0"/>
              <a:buChar char="•"/>
            </a:pPr>
            <a:r>
              <a:rPr lang="en-US" dirty="0"/>
              <a:t>4/1 allocated segment and a </a:t>
            </a:r>
          </a:p>
          <a:p>
            <a:pPr marL="171450" indent="-171450">
              <a:buFont typeface="Arial" panose="020B0604020202020204" pitchFamily="34" charset="0"/>
              <a:buChar char="•"/>
            </a:pPr>
            <a:r>
              <a:rPr lang="en-US" dirty="0"/>
              <a:t>2/0 free segment </a:t>
            </a:r>
          </a:p>
          <a:p>
            <a:r>
              <a:rPr lang="en-US" dirty="0"/>
              <a:t>to </a:t>
            </a:r>
            <a:r>
              <a:rPr lang="en-US" b="1" dirty="0"/>
              <a:t>minimize</a:t>
            </a:r>
            <a:r>
              <a:rPr lang="en-US" dirty="0"/>
              <a:t> </a:t>
            </a:r>
            <a:r>
              <a:rPr lang="en-US" b="1" u="sng" dirty="0"/>
              <a:t>internal fragmentation</a:t>
            </a:r>
            <a:r>
              <a:rPr lang="en-US" dirty="0"/>
              <a:t>.</a:t>
            </a:r>
          </a:p>
          <a:p>
            <a:endParaRPr lang="en-US" dirty="0"/>
          </a:p>
        </p:txBody>
      </p:sp>
      <p:sp>
        <p:nvSpPr>
          <p:cNvPr id="4" name="Slide Number Placeholder 3"/>
          <p:cNvSpPr>
            <a:spLocks noGrp="1"/>
          </p:cNvSpPr>
          <p:nvPr>
            <p:ph type="sldNum" sz="quarter" idx="5"/>
          </p:nvPr>
        </p:nvSpPr>
        <p:spPr/>
        <p:txBody>
          <a:bodyPr/>
          <a:lstStyle/>
          <a:p>
            <a:fld id="{AFAF0173-F4FC-4AFC-92E6-E8B88A3FF416}" type="slidenum">
              <a:rPr lang="en-US" smtClean="0"/>
              <a:t>12</a:t>
            </a:fld>
            <a:endParaRPr lang="en-US"/>
          </a:p>
        </p:txBody>
      </p:sp>
    </p:spTree>
    <p:extLst>
      <p:ext uri="{BB962C8B-B14F-4D97-AF65-F5344CB8AC3E}">
        <p14:creationId xmlns:p14="http://schemas.microsoft.com/office/powerpoint/2010/main" val="5920401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AF0173-F4FC-4AFC-92E6-E8B88A3FF416}" type="slidenum">
              <a:rPr lang="en-US" smtClean="0"/>
              <a:t>13</a:t>
            </a:fld>
            <a:endParaRPr lang="en-US"/>
          </a:p>
        </p:txBody>
      </p:sp>
    </p:spTree>
    <p:extLst>
      <p:ext uri="{BB962C8B-B14F-4D97-AF65-F5344CB8AC3E}">
        <p14:creationId xmlns:p14="http://schemas.microsoft.com/office/powerpoint/2010/main" val="42052825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AF0173-F4FC-4AFC-92E6-E8B88A3FF416}" type="slidenum">
              <a:rPr lang="en-US" smtClean="0"/>
              <a:t>14</a:t>
            </a:fld>
            <a:endParaRPr lang="en-US"/>
          </a:p>
        </p:txBody>
      </p:sp>
    </p:spTree>
    <p:extLst>
      <p:ext uri="{BB962C8B-B14F-4D97-AF65-F5344CB8AC3E}">
        <p14:creationId xmlns:p14="http://schemas.microsoft.com/office/powerpoint/2010/main" val="4341012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Fragmentation &amp; Coalescing</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Adjacent free blocks can cause "false fragmentation," </a:t>
            </a:r>
          </a:p>
          <a:p>
            <a:r>
              <a:rPr lang="en-US" sz="1200" kern="1200" dirty="0">
                <a:solidFill>
                  <a:schemeClr val="tx1"/>
                </a:solidFill>
                <a:effectLst/>
                <a:latin typeface="+mn-lt"/>
                <a:ea typeface="+mn-ea"/>
                <a:cs typeface="+mn-cs"/>
              </a:rPr>
              <a:t>where the total free memory is enough for a request, </a:t>
            </a:r>
          </a:p>
          <a:p>
            <a:r>
              <a:rPr lang="en-US" sz="1200" kern="1200" dirty="0">
                <a:solidFill>
                  <a:schemeClr val="tx1"/>
                </a:solidFill>
                <a:effectLst/>
                <a:latin typeface="+mn-lt"/>
                <a:ea typeface="+mn-ea"/>
                <a:cs typeface="+mn-cs"/>
              </a:rPr>
              <a:t>but the individual chopped-up blocks are too small.</a:t>
            </a:r>
          </a:p>
          <a:p>
            <a:endParaRPr lang="en-US"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Immediate Coalescing:</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Merge blocks as soon as one is freed; </a:t>
            </a:r>
          </a:p>
          <a:p>
            <a:r>
              <a:rPr lang="en-US" sz="1200" kern="1200" dirty="0">
                <a:solidFill>
                  <a:schemeClr val="tx1"/>
                </a:solidFill>
                <a:effectLst/>
                <a:latin typeface="+mn-lt"/>
                <a:ea typeface="+mn-ea"/>
                <a:cs typeface="+mn-cs"/>
              </a:rPr>
              <a:t>simple and prevents fragmentation build-up but can cause "thrashing" if blocks are immediately re-split.</a:t>
            </a: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Deferred Coalescing:</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Delay merging until a request fails or a scan is triggered; </a:t>
            </a:r>
          </a:p>
          <a:p>
            <a:r>
              <a:rPr lang="en-US" sz="1200" kern="1200" dirty="0">
                <a:solidFill>
                  <a:schemeClr val="tx1"/>
                </a:solidFill>
                <a:effectLst/>
                <a:latin typeface="+mn-lt"/>
                <a:ea typeface="+mn-ea"/>
                <a:cs typeface="+mn-cs"/>
              </a:rPr>
              <a:t>more efficient under heavy cycles but less predictable.</a:t>
            </a:r>
          </a:p>
          <a:p>
            <a:endParaRPr lang="en-US" dirty="0"/>
          </a:p>
        </p:txBody>
      </p:sp>
      <p:sp>
        <p:nvSpPr>
          <p:cNvPr id="4" name="Slide Number Placeholder 3"/>
          <p:cNvSpPr>
            <a:spLocks noGrp="1"/>
          </p:cNvSpPr>
          <p:nvPr>
            <p:ph type="sldNum" sz="quarter" idx="5"/>
          </p:nvPr>
        </p:nvSpPr>
        <p:spPr/>
        <p:txBody>
          <a:bodyPr/>
          <a:lstStyle/>
          <a:p>
            <a:fld id="{AFAF0173-F4FC-4AFC-92E6-E8B88A3FF416}" type="slidenum">
              <a:rPr lang="en-US" smtClean="0"/>
              <a:t>15</a:t>
            </a:fld>
            <a:endParaRPr lang="en-US"/>
          </a:p>
        </p:txBody>
      </p:sp>
    </p:spTree>
    <p:extLst>
      <p:ext uri="{BB962C8B-B14F-4D97-AF65-F5344CB8AC3E}">
        <p14:creationId xmlns:p14="http://schemas.microsoft.com/office/powerpoint/2010/main" val="41163283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AF0173-F4FC-4AFC-92E6-E8B88A3FF416}" type="slidenum">
              <a:rPr lang="en-US" smtClean="0"/>
              <a:t>16</a:t>
            </a:fld>
            <a:endParaRPr lang="en-US"/>
          </a:p>
        </p:txBody>
      </p:sp>
    </p:spTree>
    <p:extLst>
      <p:ext uri="{BB962C8B-B14F-4D97-AF65-F5344CB8AC3E}">
        <p14:creationId xmlns:p14="http://schemas.microsoft.com/office/powerpoint/2010/main" val="11723732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Bidirectional Coalescing &amp; Boundary Tags</a:t>
            </a:r>
            <a:endParaRPr lang="en-US" dirty="0"/>
          </a:p>
          <a:p>
            <a:pPr marL="171450" indent="-171450">
              <a:buFont typeface="Arial" panose="020B0604020202020204" pitchFamily="34" charset="0"/>
              <a:buChar char="•"/>
            </a:pPr>
            <a:r>
              <a:rPr lang="en-US" b="1" dirty="0"/>
              <a:t>Challenge:</a:t>
            </a:r>
            <a:r>
              <a:rPr lang="en-US" dirty="0"/>
              <a:t> </a:t>
            </a:r>
            <a:br>
              <a:rPr lang="en-US" dirty="0"/>
            </a:br>
            <a:r>
              <a:rPr lang="en-US" dirty="0"/>
              <a:t>Coalescing with the </a:t>
            </a:r>
            <a:r>
              <a:rPr lang="en-US" i="1" dirty="0"/>
              <a:t>next</a:t>
            </a:r>
            <a:r>
              <a:rPr lang="en-US" dirty="0"/>
              <a:t> block is easy (forward search), </a:t>
            </a:r>
            <a:br>
              <a:rPr lang="en-US" dirty="0"/>
            </a:br>
            <a:r>
              <a:rPr lang="en-US" dirty="0"/>
              <a:t>but finding the </a:t>
            </a:r>
            <a:r>
              <a:rPr lang="en-US" i="1" dirty="0"/>
              <a:t>previous</a:t>
            </a:r>
            <a:r>
              <a:rPr lang="en-US" dirty="0"/>
              <a:t> block's start and status is difficult.</a:t>
            </a:r>
            <a:br>
              <a:rPr lang="en-US" dirty="0"/>
            </a:br>
            <a:endParaRPr lang="en-US" dirty="0"/>
          </a:p>
          <a:p>
            <a:pPr marL="171450" indent="-171450">
              <a:buFont typeface="Arial" panose="020B0604020202020204" pitchFamily="34" charset="0"/>
              <a:buChar char="•"/>
            </a:pPr>
            <a:r>
              <a:rPr lang="en-US" b="1" dirty="0"/>
              <a:t>Solution:</a:t>
            </a:r>
            <a:r>
              <a:rPr lang="en-US" dirty="0"/>
              <a:t> </a:t>
            </a:r>
            <a:br>
              <a:rPr lang="en-US" dirty="0"/>
            </a:br>
            <a:r>
              <a:rPr lang="en-US" dirty="0"/>
              <a:t>Replicate the header as a "footer" at the end of the block.</a:t>
            </a:r>
            <a:br>
              <a:rPr lang="en-US" dirty="0"/>
            </a:br>
            <a:r>
              <a:rPr lang="en-US" dirty="0"/>
              <a:t>Together, header and footer are "boundary tags," </a:t>
            </a:r>
            <a:br>
              <a:rPr lang="en-US" dirty="0"/>
            </a:br>
            <a:r>
              <a:rPr lang="en-US" dirty="0"/>
              <a:t>allowing the allocator to traverse memory both forward and backward.</a:t>
            </a:r>
          </a:p>
          <a:p>
            <a:endParaRPr lang="en-US" dirty="0"/>
          </a:p>
        </p:txBody>
      </p:sp>
      <p:sp>
        <p:nvSpPr>
          <p:cNvPr id="4" name="Slide Number Placeholder 3"/>
          <p:cNvSpPr>
            <a:spLocks noGrp="1"/>
          </p:cNvSpPr>
          <p:nvPr>
            <p:ph type="sldNum" sz="quarter" idx="5"/>
          </p:nvPr>
        </p:nvSpPr>
        <p:spPr/>
        <p:txBody>
          <a:bodyPr/>
          <a:lstStyle/>
          <a:p>
            <a:fld id="{AFAF0173-F4FC-4AFC-92E6-E8B88A3FF416}" type="slidenum">
              <a:rPr lang="en-US" smtClean="0"/>
              <a:t>19</a:t>
            </a:fld>
            <a:endParaRPr lang="en-US"/>
          </a:p>
        </p:txBody>
      </p:sp>
    </p:spTree>
    <p:extLst>
      <p:ext uri="{BB962C8B-B14F-4D97-AF65-F5344CB8AC3E}">
        <p14:creationId xmlns:p14="http://schemas.microsoft.com/office/powerpoint/2010/main" val="35491300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Bidirectional coalescing using headers and footers.</a:t>
            </a:r>
          </a:p>
          <a:p>
            <a:endParaRPr lang="en-US" dirty="0"/>
          </a:p>
        </p:txBody>
      </p:sp>
      <p:sp>
        <p:nvSpPr>
          <p:cNvPr id="4" name="Slide Number Placeholder 3"/>
          <p:cNvSpPr>
            <a:spLocks noGrp="1"/>
          </p:cNvSpPr>
          <p:nvPr>
            <p:ph type="sldNum" sz="quarter" idx="5"/>
          </p:nvPr>
        </p:nvSpPr>
        <p:spPr/>
        <p:txBody>
          <a:bodyPr/>
          <a:lstStyle/>
          <a:p>
            <a:fld id="{AFAF0173-F4FC-4AFC-92E6-E8B88A3FF416}" type="slidenum">
              <a:rPr lang="en-US" smtClean="0"/>
              <a:t>20</a:t>
            </a:fld>
            <a:endParaRPr lang="en-US"/>
          </a:p>
        </p:txBody>
      </p:sp>
    </p:spTree>
    <p:extLst>
      <p:ext uri="{BB962C8B-B14F-4D97-AF65-F5344CB8AC3E}">
        <p14:creationId xmlns:p14="http://schemas.microsoft.com/office/powerpoint/2010/main" val="41600889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Footer Optimization</a:t>
            </a:r>
            <a:endParaRPr lang="en-US" dirty="0"/>
          </a:p>
          <a:p>
            <a:r>
              <a:rPr lang="en-US" dirty="0"/>
              <a:t>Always using footers is wasteful for small or allocated blocks.</a:t>
            </a:r>
          </a:p>
          <a:p>
            <a:endParaRPr lang="en-US" dirty="0"/>
          </a:p>
          <a:p>
            <a:r>
              <a:rPr lang="en-US" b="1" dirty="0"/>
              <a:t>Optimization:</a:t>
            </a:r>
            <a:r>
              <a:rPr lang="en-US" dirty="0"/>
              <a:t> </a:t>
            </a:r>
          </a:p>
          <a:p>
            <a:r>
              <a:rPr lang="en-US" dirty="0"/>
              <a:t>Only free blocks require footers; </a:t>
            </a:r>
          </a:p>
          <a:p>
            <a:r>
              <a:rPr lang="en-US" dirty="0"/>
              <a:t>this is sufficient for a freed block to check its neighbors for merging.</a:t>
            </a:r>
          </a:p>
          <a:p>
            <a:endParaRPr lang="en-US" dirty="0"/>
          </a:p>
        </p:txBody>
      </p:sp>
      <p:sp>
        <p:nvSpPr>
          <p:cNvPr id="4" name="Slide Number Placeholder 3"/>
          <p:cNvSpPr>
            <a:spLocks noGrp="1"/>
          </p:cNvSpPr>
          <p:nvPr>
            <p:ph type="sldNum" sz="quarter" idx="5"/>
          </p:nvPr>
        </p:nvSpPr>
        <p:spPr/>
        <p:txBody>
          <a:bodyPr/>
          <a:lstStyle/>
          <a:p>
            <a:fld id="{AFAF0173-F4FC-4AFC-92E6-E8B88A3FF416}" type="slidenum">
              <a:rPr lang="en-US" smtClean="0"/>
              <a:t>21</a:t>
            </a:fld>
            <a:endParaRPr lang="en-US"/>
          </a:p>
        </p:txBody>
      </p:sp>
    </p:spTree>
    <p:extLst>
      <p:ext uri="{BB962C8B-B14F-4D97-AF65-F5344CB8AC3E}">
        <p14:creationId xmlns:p14="http://schemas.microsoft.com/office/powerpoint/2010/main" val="39537773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Explicit Free List Advantages</a:t>
            </a:r>
            <a:endParaRPr lang="en-US" dirty="0"/>
          </a:p>
          <a:p>
            <a:pPr marL="171450" indent="-171450">
              <a:buFont typeface="Arial" panose="020B0604020202020204" pitchFamily="34" charset="0"/>
              <a:buChar char="•"/>
            </a:pPr>
            <a:r>
              <a:rPr lang="en-US" dirty="0"/>
              <a:t>Instead of scanning all blocks, the allocator only looks at free blocks.</a:t>
            </a:r>
          </a:p>
          <a:p>
            <a:pPr marL="171450" indent="-171450">
              <a:buFont typeface="Arial" panose="020B0604020202020204" pitchFamily="34" charset="0"/>
              <a:buChar char="•"/>
            </a:pPr>
            <a:r>
              <a:rPr lang="en-US" dirty="0"/>
              <a:t>Search time becomes proportional to the number of </a:t>
            </a:r>
            <a:r>
              <a:rPr lang="en-US" i="1" dirty="0"/>
              <a:t>free</a:t>
            </a:r>
            <a:r>
              <a:rPr lang="en-US" dirty="0"/>
              <a:t> blocks rather than total blocks.</a:t>
            </a:r>
          </a:p>
          <a:p>
            <a:endParaRPr lang="en-US" dirty="0"/>
          </a:p>
        </p:txBody>
      </p:sp>
      <p:sp>
        <p:nvSpPr>
          <p:cNvPr id="4" name="Slide Number Placeholder 3"/>
          <p:cNvSpPr>
            <a:spLocks noGrp="1"/>
          </p:cNvSpPr>
          <p:nvPr>
            <p:ph type="sldNum" sz="quarter" idx="5"/>
          </p:nvPr>
        </p:nvSpPr>
        <p:spPr/>
        <p:txBody>
          <a:bodyPr/>
          <a:lstStyle/>
          <a:p>
            <a:fld id="{AFAF0173-F4FC-4AFC-92E6-E8B88A3FF416}" type="slidenum">
              <a:rPr lang="en-US" smtClean="0"/>
              <a:t>22</a:t>
            </a:fld>
            <a:endParaRPr lang="en-US"/>
          </a:p>
        </p:txBody>
      </p:sp>
    </p:spTree>
    <p:extLst>
      <p:ext uri="{BB962C8B-B14F-4D97-AF65-F5344CB8AC3E}">
        <p14:creationId xmlns:p14="http://schemas.microsoft.com/office/powerpoint/2010/main" val="7054290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AF0173-F4FC-4AFC-92E6-E8B88A3FF416}" type="slidenum">
              <a:rPr lang="en-US" smtClean="0"/>
              <a:t>24</a:t>
            </a:fld>
            <a:endParaRPr lang="en-US"/>
          </a:p>
        </p:txBody>
      </p:sp>
    </p:spTree>
    <p:extLst>
      <p:ext uri="{BB962C8B-B14F-4D97-AF65-F5344CB8AC3E}">
        <p14:creationId xmlns:p14="http://schemas.microsoft.com/office/powerpoint/2010/main" val="26788605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Explicit Free List Structure</a:t>
            </a:r>
            <a:endParaRPr lang="en-US" dirty="0"/>
          </a:p>
          <a:p>
            <a:pPr marL="171450" indent="-171450">
              <a:buFont typeface="Arial" panose="020B0604020202020204" pitchFamily="34" charset="0"/>
              <a:buChar char="•"/>
            </a:pPr>
            <a:r>
              <a:rPr lang="en-US" dirty="0"/>
              <a:t>Logically a doubly linked list, but physically blocks may be scattered across memory.</a:t>
            </a:r>
          </a:p>
          <a:p>
            <a:pPr marL="171450" indent="-171450">
              <a:buFont typeface="Arial" panose="020B0604020202020204" pitchFamily="34" charset="0"/>
              <a:buChar char="•"/>
            </a:pPr>
            <a:r>
              <a:rPr lang="en-US" dirty="0"/>
              <a:t>Connection order is "jumbled" because memory is freed in random order.</a:t>
            </a:r>
          </a:p>
          <a:p>
            <a:endParaRPr lang="en-US" dirty="0"/>
          </a:p>
        </p:txBody>
      </p:sp>
      <p:sp>
        <p:nvSpPr>
          <p:cNvPr id="4" name="Slide Number Placeholder 3"/>
          <p:cNvSpPr>
            <a:spLocks noGrp="1"/>
          </p:cNvSpPr>
          <p:nvPr>
            <p:ph type="sldNum" sz="quarter" idx="5"/>
          </p:nvPr>
        </p:nvSpPr>
        <p:spPr/>
        <p:txBody>
          <a:bodyPr/>
          <a:lstStyle/>
          <a:p>
            <a:fld id="{AFAF0173-F4FC-4AFC-92E6-E8B88A3FF416}" type="slidenum">
              <a:rPr lang="en-US" smtClean="0"/>
              <a:t>25</a:t>
            </a:fld>
            <a:endParaRPr lang="en-US"/>
          </a:p>
        </p:txBody>
      </p:sp>
    </p:spTree>
    <p:extLst>
      <p:ext uri="{BB962C8B-B14F-4D97-AF65-F5344CB8AC3E}">
        <p14:creationId xmlns:p14="http://schemas.microsoft.com/office/powerpoint/2010/main" val="30857217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Case 1 (No Coalescing):</a:t>
            </a:r>
            <a:r>
              <a:rPr lang="en-US" dirty="0"/>
              <a:t> </a:t>
            </a:r>
            <a:endParaRPr lang="en-US" b="1" dirty="0"/>
          </a:p>
          <a:p>
            <a:pPr marL="171450" indent="-171450">
              <a:buFont typeface="Arial" panose="020B0604020202020204" pitchFamily="34" charset="0"/>
              <a:buChar char="•"/>
            </a:pPr>
            <a:r>
              <a:rPr lang="en-US" dirty="0"/>
              <a:t>Newly freed block is inserted at the root of the list, </a:t>
            </a:r>
          </a:p>
          <a:p>
            <a:pPr marL="171450" indent="-171450">
              <a:buFont typeface="Arial" panose="020B0604020202020204" pitchFamily="34" charset="0"/>
              <a:buChar char="•"/>
            </a:pPr>
            <a:r>
              <a:rPr lang="en-US" dirty="0"/>
              <a:t>with pointers updated to make it the first element in the sequence.</a:t>
            </a:r>
          </a:p>
          <a:p>
            <a:endParaRPr lang="en-US" dirty="0"/>
          </a:p>
        </p:txBody>
      </p:sp>
      <p:sp>
        <p:nvSpPr>
          <p:cNvPr id="4" name="Slide Number Placeholder 3"/>
          <p:cNvSpPr>
            <a:spLocks noGrp="1"/>
          </p:cNvSpPr>
          <p:nvPr>
            <p:ph type="sldNum" sz="quarter" idx="5"/>
          </p:nvPr>
        </p:nvSpPr>
        <p:spPr/>
        <p:txBody>
          <a:bodyPr/>
          <a:lstStyle/>
          <a:p>
            <a:fld id="{AFAF0173-F4FC-4AFC-92E6-E8B88A3FF416}" type="slidenum">
              <a:rPr lang="en-US" smtClean="0"/>
              <a:t>26</a:t>
            </a:fld>
            <a:endParaRPr lang="en-US"/>
          </a:p>
        </p:txBody>
      </p:sp>
    </p:spTree>
    <p:extLst>
      <p:ext uri="{BB962C8B-B14F-4D97-AF65-F5344CB8AC3E}">
        <p14:creationId xmlns:p14="http://schemas.microsoft.com/office/powerpoint/2010/main" val="14452189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AF0173-F4FC-4AFC-92E6-E8B88A3FF416}" type="slidenum">
              <a:rPr lang="en-US" smtClean="0"/>
              <a:t>27</a:t>
            </a:fld>
            <a:endParaRPr lang="en-US"/>
          </a:p>
        </p:txBody>
      </p:sp>
    </p:spTree>
    <p:extLst>
      <p:ext uri="{BB962C8B-B14F-4D97-AF65-F5344CB8AC3E}">
        <p14:creationId xmlns:p14="http://schemas.microsoft.com/office/powerpoint/2010/main" val="3226932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Case 2 (Previous Block Free):</a:t>
            </a:r>
          </a:p>
          <a:p>
            <a:pPr marL="171450" indent="-171450">
              <a:buFont typeface="Arial" panose="020B0604020202020204" pitchFamily="34" charset="0"/>
              <a:buChar char="•"/>
            </a:pPr>
            <a:r>
              <a:rPr lang="en-US" dirty="0"/>
              <a:t>A block is freed adjacent to a predecessor free block.</a:t>
            </a:r>
          </a:p>
          <a:p>
            <a:pPr marL="171450" indent="-171450">
              <a:buFont typeface="Arial" panose="020B0604020202020204" pitchFamily="34" charset="0"/>
              <a:buChar char="•"/>
            </a:pPr>
            <a:r>
              <a:rPr lang="en-US" dirty="0"/>
              <a:t>The two are coalesced into a single larger block </a:t>
            </a:r>
            <a:br>
              <a:rPr lang="en-US" dirty="0"/>
            </a:br>
            <a:r>
              <a:rPr lang="en-US" dirty="0"/>
              <a:t>and then moved to the root of the list.</a:t>
            </a:r>
          </a:p>
          <a:p>
            <a:endParaRPr lang="en-US" dirty="0"/>
          </a:p>
        </p:txBody>
      </p:sp>
      <p:sp>
        <p:nvSpPr>
          <p:cNvPr id="4" name="Slide Number Placeholder 3"/>
          <p:cNvSpPr>
            <a:spLocks noGrp="1"/>
          </p:cNvSpPr>
          <p:nvPr>
            <p:ph type="sldNum" sz="quarter" idx="5"/>
          </p:nvPr>
        </p:nvSpPr>
        <p:spPr/>
        <p:txBody>
          <a:bodyPr/>
          <a:lstStyle/>
          <a:p>
            <a:fld id="{AFAF0173-F4FC-4AFC-92E6-E8B88A3FF416}" type="slidenum">
              <a:rPr lang="en-US" smtClean="0"/>
              <a:t>28</a:t>
            </a:fld>
            <a:endParaRPr lang="en-US"/>
          </a:p>
        </p:txBody>
      </p:sp>
    </p:spTree>
    <p:extLst>
      <p:ext uri="{BB962C8B-B14F-4D97-AF65-F5344CB8AC3E}">
        <p14:creationId xmlns:p14="http://schemas.microsoft.com/office/powerpoint/2010/main" val="24051229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AF0173-F4FC-4AFC-92E6-E8B88A3FF416}" type="slidenum">
              <a:rPr lang="en-US" smtClean="0"/>
              <a:t>29</a:t>
            </a:fld>
            <a:endParaRPr lang="en-US"/>
          </a:p>
        </p:txBody>
      </p:sp>
    </p:spTree>
    <p:extLst>
      <p:ext uri="{BB962C8B-B14F-4D97-AF65-F5344CB8AC3E}">
        <p14:creationId xmlns:p14="http://schemas.microsoft.com/office/powerpoint/2010/main" val="33010603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Case 3 (Next Block Free):</a:t>
            </a:r>
          </a:p>
          <a:p>
            <a:pPr marL="171450" indent="-171450">
              <a:buFont typeface="Arial" panose="020B0604020202020204" pitchFamily="34" charset="0"/>
              <a:buChar char="•"/>
            </a:pPr>
            <a:r>
              <a:rPr lang="en-US" dirty="0"/>
              <a:t>Splicing of a successor block and </a:t>
            </a:r>
          </a:p>
          <a:p>
            <a:pPr marL="171450" indent="-171450">
              <a:buFont typeface="Arial" panose="020B0604020202020204" pitchFamily="34" charset="0"/>
              <a:buChar char="•"/>
            </a:pPr>
            <a:r>
              <a:rPr lang="en-US" dirty="0"/>
              <a:t>the subsequent coalescence into a new free block positioned at the list root.</a:t>
            </a:r>
          </a:p>
          <a:p>
            <a:endParaRPr lang="en-US" dirty="0"/>
          </a:p>
        </p:txBody>
      </p:sp>
      <p:sp>
        <p:nvSpPr>
          <p:cNvPr id="4" name="Slide Number Placeholder 3"/>
          <p:cNvSpPr>
            <a:spLocks noGrp="1"/>
          </p:cNvSpPr>
          <p:nvPr>
            <p:ph type="sldNum" sz="quarter" idx="5"/>
          </p:nvPr>
        </p:nvSpPr>
        <p:spPr/>
        <p:txBody>
          <a:bodyPr/>
          <a:lstStyle/>
          <a:p>
            <a:fld id="{AFAF0173-F4FC-4AFC-92E6-E8B88A3FF416}" type="slidenum">
              <a:rPr lang="en-US" smtClean="0"/>
              <a:t>30</a:t>
            </a:fld>
            <a:endParaRPr lang="en-US"/>
          </a:p>
        </p:txBody>
      </p:sp>
    </p:spTree>
    <p:extLst>
      <p:ext uri="{BB962C8B-B14F-4D97-AF65-F5344CB8AC3E}">
        <p14:creationId xmlns:p14="http://schemas.microsoft.com/office/powerpoint/2010/main" val="28332918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Case 4 (Both Adjacent Free):</a:t>
            </a:r>
          </a:p>
          <a:p>
            <a:pPr marL="171450" indent="-171450">
              <a:buFont typeface="Arial" panose="020B0604020202020204" pitchFamily="34" charset="0"/>
              <a:buChar char="•"/>
            </a:pPr>
            <a:r>
              <a:rPr lang="en-US" dirty="0"/>
              <a:t>A block is freed between two existing free blocks.</a:t>
            </a:r>
          </a:p>
          <a:p>
            <a:pPr marL="171450" indent="-171450">
              <a:buFont typeface="Arial" panose="020B0604020202020204" pitchFamily="34" charset="0"/>
              <a:buChar char="•"/>
            </a:pPr>
            <a:r>
              <a:rPr lang="en-US" dirty="0"/>
              <a:t>All three are coalesced into one large block, </a:t>
            </a:r>
            <a:br>
              <a:rPr lang="en-US" dirty="0"/>
            </a:br>
            <a:r>
              <a:rPr lang="en-US" dirty="0"/>
              <a:t>which is then linked at the root of the free list.</a:t>
            </a:r>
          </a:p>
          <a:p>
            <a:endParaRPr lang="en-US" dirty="0"/>
          </a:p>
        </p:txBody>
      </p:sp>
      <p:sp>
        <p:nvSpPr>
          <p:cNvPr id="4" name="Slide Number Placeholder 3"/>
          <p:cNvSpPr>
            <a:spLocks noGrp="1"/>
          </p:cNvSpPr>
          <p:nvPr>
            <p:ph type="sldNum" sz="quarter" idx="5"/>
          </p:nvPr>
        </p:nvSpPr>
        <p:spPr/>
        <p:txBody>
          <a:bodyPr/>
          <a:lstStyle/>
          <a:p>
            <a:fld id="{AFAF0173-F4FC-4AFC-92E6-E8B88A3FF416}" type="slidenum">
              <a:rPr lang="en-US" smtClean="0"/>
              <a:t>31</a:t>
            </a:fld>
            <a:endParaRPr lang="en-US"/>
          </a:p>
        </p:txBody>
      </p:sp>
    </p:spTree>
    <p:extLst>
      <p:ext uri="{BB962C8B-B14F-4D97-AF65-F5344CB8AC3E}">
        <p14:creationId xmlns:p14="http://schemas.microsoft.com/office/powerpoint/2010/main" val="35496013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AF0173-F4FC-4AFC-92E6-E8B88A3FF416}" type="slidenum">
              <a:rPr lang="en-US" smtClean="0"/>
              <a:t>32</a:t>
            </a:fld>
            <a:endParaRPr lang="en-US"/>
          </a:p>
        </p:txBody>
      </p:sp>
    </p:spTree>
    <p:extLst>
      <p:ext uri="{BB962C8B-B14F-4D97-AF65-F5344CB8AC3E}">
        <p14:creationId xmlns:p14="http://schemas.microsoft.com/office/powerpoint/2010/main" val="17380581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10375" y="1689861"/>
            <a:ext cx="5596255" cy="406400"/>
          </a:xfrm>
          <a:prstGeom prst="rect">
            <a:avLst/>
          </a:prstGeom>
        </p:spPr>
        <p:txBody>
          <a:bodyPr wrap="square" lIns="0" tIns="0" rIns="0" bIns="0">
            <a:spAutoFit/>
          </a:bodyPr>
          <a:lstStyle>
            <a:lvl1pPr>
              <a:defRPr sz="2500" b="0" i="0">
                <a:solidFill>
                  <a:srgbClr val="0F2044"/>
                </a:solidFill>
                <a:latin typeface="Georgia"/>
                <a:cs typeface="Georgia"/>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600" b="0" i="0">
                <a:solidFill>
                  <a:srgbClr val="0F2044"/>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00" b="0" i="0">
                <a:solidFill>
                  <a:srgbClr val="0F2044"/>
                </a:solidFill>
                <a:latin typeface="Georgia"/>
                <a:cs typeface="Georgia"/>
              </a:defRPr>
            </a:lvl1pPr>
          </a:lstStyle>
          <a:p>
            <a:endParaRPr/>
          </a:p>
        </p:txBody>
      </p:sp>
      <p:sp>
        <p:nvSpPr>
          <p:cNvPr id="3" name="Holder 3"/>
          <p:cNvSpPr>
            <a:spLocks noGrp="1"/>
          </p:cNvSpPr>
          <p:nvPr>
            <p:ph type="body" idx="1"/>
          </p:nvPr>
        </p:nvSpPr>
        <p:spPr/>
        <p:txBody>
          <a:bodyPr lIns="0" tIns="0" rIns="0" bIns="0"/>
          <a:lstStyle>
            <a:lvl1pPr>
              <a:defRPr sz="1600" b="0" i="0">
                <a:solidFill>
                  <a:srgbClr val="0F2044"/>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00" b="0" i="0">
                <a:solidFill>
                  <a:srgbClr val="0F2044"/>
                </a:solidFill>
                <a:latin typeface="Georgia"/>
                <a:cs typeface="Georgia"/>
              </a:defRPr>
            </a:lvl1pPr>
          </a:lstStyle>
          <a:p>
            <a:endParaRPr/>
          </a:p>
        </p:txBody>
      </p:sp>
      <p:sp>
        <p:nvSpPr>
          <p:cNvPr id="3" name="Holder 3"/>
          <p:cNvSpPr>
            <a:spLocks noGrp="1"/>
          </p:cNvSpPr>
          <p:nvPr>
            <p:ph sz="half" idx="2"/>
          </p:nvPr>
        </p:nvSpPr>
        <p:spPr>
          <a:xfrm>
            <a:off x="337349" y="2685125"/>
            <a:ext cx="5482590" cy="3994784"/>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3/24/2026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00" b="0" i="0">
                <a:solidFill>
                  <a:srgbClr val="0F2044"/>
                </a:solidFill>
                <a:latin typeface="Georgia"/>
                <a:cs typeface="Georgi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3/24/2026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3/24/2026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133945"/>
            <a:ext cx="12192000" cy="1009054"/>
          </a:xfrm>
          <a:prstGeom prst="rect">
            <a:avLst/>
          </a:prstGeom>
        </p:spPr>
      </p:pic>
      <p:sp>
        <p:nvSpPr>
          <p:cNvPr id="2" name="Holder 2"/>
          <p:cNvSpPr>
            <a:spLocks noGrp="1"/>
          </p:cNvSpPr>
          <p:nvPr>
            <p:ph type="title"/>
          </p:nvPr>
        </p:nvSpPr>
        <p:spPr>
          <a:xfrm>
            <a:off x="410375" y="1689861"/>
            <a:ext cx="6452870" cy="406400"/>
          </a:xfrm>
          <a:prstGeom prst="rect">
            <a:avLst/>
          </a:prstGeom>
        </p:spPr>
        <p:txBody>
          <a:bodyPr wrap="square" lIns="0" tIns="0" rIns="0" bIns="0">
            <a:spAutoFit/>
          </a:bodyPr>
          <a:lstStyle>
            <a:lvl1pPr>
              <a:defRPr sz="2500" b="0" i="0">
                <a:solidFill>
                  <a:srgbClr val="0F2044"/>
                </a:solidFill>
                <a:latin typeface="Georgia"/>
                <a:cs typeface="Georgia"/>
              </a:defRPr>
            </a:lvl1pPr>
          </a:lstStyle>
          <a:p>
            <a:endParaRPr/>
          </a:p>
        </p:txBody>
      </p:sp>
      <p:sp>
        <p:nvSpPr>
          <p:cNvPr id="3" name="Holder 3"/>
          <p:cNvSpPr>
            <a:spLocks noGrp="1"/>
          </p:cNvSpPr>
          <p:nvPr>
            <p:ph type="body" idx="1"/>
          </p:nvPr>
        </p:nvSpPr>
        <p:spPr>
          <a:xfrm>
            <a:off x="5520576" y="2252272"/>
            <a:ext cx="6299200" cy="3683000"/>
          </a:xfrm>
          <a:prstGeom prst="rect">
            <a:avLst/>
          </a:prstGeom>
        </p:spPr>
        <p:txBody>
          <a:bodyPr wrap="square" lIns="0" tIns="0" rIns="0" bIns="0">
            <a:spAutoFit/>
          </a:bodyPr>
          <a:lstStyle>
            <a:lvl1pPr>
              <a:defRPr sz="1600" b="0" i="0">
                <a:solidFill>
                  <a:srgbClr val="0F2044"/>
                </a:solidFill>
                <a:latin typeface="Arial MT"/>
                <a:cs typeface="Arial MT"/>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3/24/2026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7.jpg"/></Relationships>
</file>

<file path=ppt/slides/_rels/slide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7.jp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8.jpg"/></Relationships>
</file>

<file path=ppt/slides/_rels/slide21.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1.jpg"/></Relationships>
</file>

<file path=ppt/slides/_rels/slide25.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hyperlink" Target="https://youtu.be/UTii4dyhR5c?feature=shared" TargetMode="External"/><Relationship Id="rId3" Type="http://schemas.openxmlformats.org/officeDocument/2006/relationships/hyperlink" Target="https://csit.kutztown.edu/~schwesin/fall20/csc235/lectures/Dynamic_Memory_Allocation_Basic.html" TargetMode="External"/><Relationship Id="rId7" Type="http://schemas.openxmlformats.org/officeDocument/2006/relationships/hyperlink" Target="https://www.youtube.com/watch?v=rhLk2lf6QXA" TargetMode="External"/><Relationship Id="rId2" Type="http://schemas.openxmlformats.org/officeDocument/2006/relationships/hyperlink" Target="https://awb.fyi/courses/cs208/s22/notes/free-lists.html" TargetMode="External"/><Relationship Id="rId1" Type="http://schemas.openxmlformats.org/officeDocument/2006/relationships/slideLayout" Target="../slideLayouts/slideLayout2.xml"/><Relationship Id="rId6" Type="http://schemas.openxmlformats.org/officeDocument/2006/relationships/hyperlink" Target="https://www.youtube.com/watch?v=74s0m4YoHgM" TargetMode="External"/><Relationship Id="rId5" Type="http://schemas.openxmlformats.org/officeDocument/2006/relationships/hyperlink" Target="https://www2.lawrence.edu/fast/GREGGJ/CMSC480/malloc/malloc.html" TargetMode="External"/><Relationship Id="rId4" Type="http://schemas.openxmlformats.org/officeDocument/2006/relationships/hyperlink" Target="https://velog.io/%40junttang/SP-6.3-Explicit-Segregated-Free-List" TargetMode="External"/><Relationship Id="rId9" Type="http://schemas.openxmlformats.org/officeDocument/2006/relationships/image" Target="../media/image29.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62183" y="2702546"/>
            <a:ext cx="8662035" cy="772160"/>
          </a:xfrm>
          <a:prstGeom prst="rect">
            <a:avLst/>
          </a:prstGeom>
        </p:spPr>
        <p:txBody>
          <a:bodyPr vert="horz" wrap="square" lIns="0" tIns="12700" rIns="0" bIns="0" rtlCol="0">
            <a:spAutoFit/>
          </a:bodyPr>
          <a:lstStyle/>
          <a:p>
            <a:pPr marL="12700">
              <a:lnSpc>
                <a:spcPct val="100000"/>
              </a:lnSpc>
              <a:spcBef>
                <a:spcPts val="100"/>
              </a:spcBef>
            </a:pPr>
            <a:r>
              <a:rPr sz="4900" dirty="0"/>
              <a:t>CSC</a:t>
            </a:r>
            <a:r>
              <a:rPr sz="4900" spc="-85" dirty="0"/>
              <a:t> </a:t>
            </a:r>
            <a:r>
              <a:rPr sz="4900" dirty="0"/>
              <a:t>362:</a:t>
            </a:r>
            <a:r>
              <a:rPr sz="4900" spc="-85" dirty="0"/>
              <a:t> </a:t>
            </a:r>
            <a:r>
              <a:rPr sz="4900" dirty="0"/>
              <a:t>System</a:t>
            </a:r>
            <a:r>
              <a:rPr sz="4900" spc="-90" dirty="0"/>
              <a:t> </a:t>
            </a:r>
            <a:r>
              <a:rPr sz="4900" spc="-10" dirty="0"/>
              <a:t>Programming</a:t>
            </a:r>
            <a:endParaRPr sz="4900"/>
          </a:p>
        </p:txBody>
      </p:sp>
      <p:sp>
        <p:nvSpPr>
          <p:cNvPr id="3" name="object 3"/>
          <p:cNvSpPr txBox="1"/>
          <p:nvPr/>
        </p:nvSpPr>
        <p:spPr>
          <a:xfrm>
            <a:off x="5363120" y="3585985"/>
            <a:ext cx="146558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F2044"/>
                </a:solidFill>
                <a:latin typeface="Arial MT"/>
                <a:cs typeface="Arial MT"/>
              </a:rPr>
              <a:t>Lecture</a:t>
            </a:r>
            <a:r>
              <a:rPr sz="2400" spc="-120" dirty="0">
                <a:solidFill>
                  <a:srgbClr val="0F2044"/>
                </a:solidFill>
                <a:latin typeface="Arial MT"/>
                <a:cs typeface="Arial MT"/>
              </a:rPr>
              <a:t> </a:t>
            </a:r>
            <a:r>
              <a:rPr sz="2400" spc="-25" dirty="0">
                <a:solidFill>
                  <a:srgbClr val="0F2044"/>
                </a:solidFill>
                <a:latin typeface="Arial MT"/>
                <a:cs typeface="Arial MT"/>
              </a:rPr>
              <a:t>16</a:t>
            </a:r>
            <a:endParaRPr sz="2400">
              <a:latin typeface="Arial MT"/>
              <a:cs typeface="Arial MT"/>
            </a:endParaRPr>
          </a:p>
        </p:txBody>
      </p:sp>
      <p:sp>
        <p:nvSpPr>
          <p:cNvPr id="6" name="object 6">
            <a:extLst>
              <a:ext uri="{C183D7F6-B498-43B3-948B-1728B52AA6E4}">
                <adec:decorative xmlns:adec="http://schemas.microsoft.com/office/drawing/2017/decorative" val="1"/>
              </a:ext>
            </a:extLst>
          </p:cNvPr>
          <p:cNvSpPr/>
          <p:nvPr/>
        </p:nvSpPr>
        <p:spPr>
          <a:xfrm>
            <a:off x="1618174" y="4145624"/>
            <a:ext cx="9054465" cy="31115"/>
          </a:xfrm>
          <a:custGeom>
            <a:avLst/>
            <a:gdLst/>
            <a:ahLst/>
            <a:cxnLst/>
            <a:rect l="l" t="t" r="r" b="b"/>
            <a:pathLst>
              <a:path w="9054465" h="31114">
                <a:moveTo>
                  <a:pt x="0" y="0"/>
                </a:moveTo>
                <a:lnTo>
                  <a:pt x="9053999" y="30899"/>
                </a:lnTo>
              </a:path>
            </a:pathLst>
          </a:custGeom>
          <a:ln w="9524">
            <a:solidFill>
              <a:srgbClr val="0F2044"/>
            </a:solidFill>
          </a:ln>
        </p:spPr>
        <p:txBody>
          <a:bodyPr wrap="square" lIns="0" tIns="0" rIns="0" bIns="0" rtlCol="0"/>
          <a:lstStyle/>
          <a:p>
            <a:endParaRPr/>
          </a:p>
        </p:txBody>
      </p:sp>
      <p:sp>
        <p:nvSpPr>
          <p:cNvPr id="7" name="TextBox 6">
            <a:extLst>
              <a:ext uri="{FF2B5EF4-FFF2-40B4-BE49-F238E27FC236}">
                <a16:creationId xmlns:a16="http://schemas.microsoft.com/office/drawing/2014/main" id="{0E3DE39F-BE0F-A97A-F9E7-79C18494A678}"/>
              </a:ext>
            </a:extLst>
          </p:cNvPr>
          <p:cNvSpPr txBox="1"/>
          <p:nvPr/>
        </p:nvSpPr>
        <p:spPr>
          <a:xfrm>
            <a:off x="3098244" y="4267200"/>
            <a:ext cx="6094324" cy="678134"/>
          </a:xfrm>
          <a:prstGeom prst="rect">
            <a:avLst/>
          </a:prstGeom>
          <a:noFill/>
        </p:spPr>
        <p:txBody>
          <a:bodyPr wrap="square">
            <a:spAutoFit/>
          </a:bodyPr>
          <a:lstStyle/>
          <a:p>
            <a:pPr marL="0" marR="0" lvl="0" indent="0" algn="ctr" rtl="0">
              <a:lnSpc>
                <a:spcPct val="110000"/>
              </a:lnSpc>
              <a:spcBef>
                <a:spcPts val="0"/>
              </a:spcBef>
              <a:spcAft>
                <a:spcPts val="0"/>
              </a:spcAft>
              <a:buClr>
                <a:schemeClr val="dk2"/>
              </a:buClr>
              <a:buSzPts val="2400"/>
              <a:buFont typeface="Arial"/>
              <a:buNone/>
            </a:pPr>
            <a:r>
              <a:rPr lang="en-US" dirty="0"/>
              <a:t>Original slides by: Amitabha Dey</a:t>
            </a:r>
          </a:p>
          <a:p>
            <a:pPr marL="0" marR="0" lvl="0" indent="0" algn="ctr" rtl="0">
              <a:lnSpc>
                <a:spcPct val="110000"/>
              </a:lnSpc>
              <a:spcBef>
                <a:spcPts val="0"/>
              </a:spcBef>
              <a:spcAft>
                <a:spcPts val="0"/>
              </a:spcAft>
              <a:buClr>
                <a:schemeClr val="dk2"/>
              </a:buClr>
              <a:buSzPts val="2400"/>
              <a:buFont typeface="Arial"/>
              <a:buNone/>
            </a:pPr>
            <a:r>
              <a:rPr lang="en-US" dirty="0"/>
              <a:t>Adapted by: Dr. Richard Johnson</a:t>
            </a:r>
          </a:p>
        </p:txBody>
      </p:sp>
      <p:sp>
        <p:nvSpPr>
          <p:cNvPr id="5" name="object 5"/>
          <p:cNvSpPr txBox="1"/>
          <p:nvPr/>
        </p:nvSpPr>
        <p:spPr>
          <a:xfrm>
            <a:off x="3203401" y="5437645"/>
            <a:ext cx="5782310" cy="720725"/>
          </a:xfrm>
          <a:prstGeom prst="rect">
            <a:avLst/>
          </a:prstGeom>
        </p:spPr>
        <p:txBody>
          <a:bodyPr vert="horz" wrap="square" lIns="0" tIns="53975" rIns="0" bIns="0" rtlCol="0">
            <a:spAutoFit/>
          </a:bodyPr>
          <a:lstStyle/>
          <a:p>
            <a:pPr marL="12700" marR="5080" indent="617855">
              <a:lnSpc>
                <a:spcPts val="2590"/>
              </a:lnSpc>
              <a:spcBef>
                <a:spcPts val="425"/>
              </a:spcBef>
            </a:pPr>
            <a:r>
              <a:rPr sz="2400" spc="-10" dirty="0">
                <a:solidFill>
                  <a:srgbClr val="0F2044"/>
                </a:solidFill>
                <a:latin typeface="Arial MT"/>
                <a:cs typeface="Arial MT"/>
              </a:rPr>
              <a:t>Department</a:t>
            </a:r>
            <a:r>
              <a:rPr sz="2400" spc="-70" dirty="0">
                <a:solidFill>
                  <a:srgbClr val="0F2044"/>
                </a:solidFill>
                <a:latin typeface="Arial MT"/>
                <a:cs typeface="Arial MT"/>
              </a:rPr>
              <a:t> </a:t>
            </a:r>
            <a:r>
              <a:rPr sz="2400" dirty="0">
                <a:solidFill>
                  <a:srgbClr val="0F2044"/>
                </a:solidFill>
                <a:latin typeface="Arial MT"/>
                <a:cs typeface="Arial MT"/>
              </a:rPr>
              <a:t>of</a:t>
            </a:r>
            <a:r>
              <a:rPr sz="2400" spc="-65" dirty="0">
                <a:solidFill>
                  <a:srgbClr val="0F2044"/>
                </a:solidFill>
                <a:latin typeface="Arial MT"/>
                <a:cs typeface="Arial MT"/>
              </a:rPr>
              <a:t> </a:t>
            </a:r>
            <a:r>
              <a:rPr sz="2400" dirty="0">
                <a:solidFill>
                  <a:srgbClr val="0F2044"/>
                </a:solidFill>
                <a:latin typeface="Arial MT"/>
                <a:cs typeface="Arial MT"/>
              </a:rPr>
              <a:t>Computer</a:t>
            </a:r>
            <a:r>
              <a:rPr sz="2400" spc="-65" dirty="0">
                <a:solidFill>
                  <a:srgbClr val="0F2044"/>
                </a:solidFill>
                <a:latin typeface="Arial MT"/>
                <a:cs typeface="Arial MT"/>
              </a:rPr>
              <a:t> </a:t>
            </a:r>
            <a:r>
              <a:rPr sz="2400" spc="-10" dirty="0">
                <a:solidFill>
                  <a:srgbClr val="0F2044"/>
                </a:solidFill>
                <a:latin typeface="Arial MT"/>
                <a:cs typeface="Arial MT"/>
              </a:rPr>
              <a:t>Science </a:t>
            </a:r>
            <a:r>
              <a:rPr sz="2400" dirty="0">
                <a:solidFill>
                  <a:srgbClr val="0F2044"/>
                </a:solidFill>
                <a:latin typeface="Arial MT"/>
                <a:cs typeface="Arial MT"/>
              </a:rPr>
              <a:t>University</a:t>
            </a:r>
            <a:r>
              <a:rPr sz="2400" spc="-70" dirty="0">
                <a:solidFill>
                  <a:srgbClr val="0F2044"/>
                </a:solidFill>
                <a:latin typeface="Arial MT"/>
                <a:cs typeface="Arial MT"/>
              </a:rPr>
              <a:t> </a:t>
            </a:r>
            <a:r>
              <a:rPr sz="2400" dirty="0">
                <a:solidFill>
                  <a:srgbClr val="0F2044"/>
                </a:solidFill>
                <a:latin typeface="Arial MT"/>
                <a:cs typeface="Arial MT"/>
              </a:rPr>
              <a:t>of</a:t>
            </a:r>
            <a:r>
              <a:rPr sz="2400" spc="-70" dirty="0">
                <a:solidFill>
                  <a:srgbClr val="0F2044"/>
                </a:solidFill>
                <a:latin typeface="Arial MT"/>
                <a:cs typeface="Arial MT"/>
              </a:rPr>
              <a:t> </a:t>
            </a:r>
            <a:r>
              <a:rPr sz="2400" dirty="0">
                <a:solidFill>
                  <a:srgbClr val="0F2044"/>
                </a:solidFill>
                <a:latin typeface="Arial MT"/>
                <a:cs typeface="Arial MT"/>
              </a:rPr>
              <a:t>North</a:t>
            </a:r>
            <a:r>
              <a:rPr sz="2400" spc="-70" dirty="0">
                <a:solidFill>
                  <a:srgbClr val="0F2044"/>
                </a:solidFill>
                <a:latin typeface="Arial MT"/>
                <a:cs typeface="Arial MT"/>
              </a:rPr>
              <a:t> </a:t>
            </a:r>
            <a:r>
              <a:rPr sz="2400" dirty="0">
                <a:solidFill>
                  <a:srgbClr val="0F2044"/>
                </a:solidFill>
                <a:latin typeface="Arial MT"/>
                <a:cs typeface="Arial MT"/>
              </a:rPr>
              <a:t>Carolina</a:t>
            </a:r>
            <a:r>
              <a:rPr sz="2400" spc="-70" dirty="0">
                <a:solidFill>
                  <a:srgbClr val="0F2044"/>
                </a:solidFill>
                <a:latin typeface="Arial MT"/>
                <a:cs typeface="Arial MT"/>
              </a:rPr>
              <a:t> </a:t>
            </a:r>
            <a:r>
              <a:rPr sz="2400" dirty="0">
                <a:solidFill>
                  <a:srgbClr val="0F2044"/>
                </a:solidFill>
                <a:latin typeface="Arial MT"/>
                <a:cs typeface="Arial MT"/>
              </a:rPr>
              <a:t>at</a:t>
            </a:r>
            <a:r>
              <a:rPr sz="2400" spc="-65" dirty="0">
                <a:solidFill>
                  <a:srgbClr val="0F2044"/>
                </a:solidFill>
                <a:latin typeface="Arial MT"/>
                <a:cs typeface="Arial MT"/>
              </a:rPr>
              <a:t> </a:t>
            </a:r>
            <a:r>
              <a:rPr sz="2400" spc="-10" dirty="0">
                <a:solidFill>
                  <a:srgbClr val="0F2044"/>
                </a:solidFill>
                <a:latin typeface="Arial MT"/>
                <a:cs typeface="Arial MT"/>
              </a:rPr>
              <a:t>Greensboro</a:t>
            </a:r>
            <a:endParaRPr sz="2400">
              <a:latin typeface="Arial MT"/>
              <a:cs typeface="Arial M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0375" y="1435436"/>
            <a:ext cx="1834514" cy="406400"/>
          </a:xfrm>
          <a:prstGeom prst="rect">
            <a:avLst/>
          </a:prstGeom>
        </p:spPr>
        <p:txBody>
          <a:bodyPr vert="horz" wrap="square" lIns="0" tIns="12700" rIns="0" bIns="0" rtlCol="0">
            <a:spAutoFit/>
          </a:bodyPr>
          <a:lstStyle/>
          <a:p>
            <a:pPr marL="12700">
              <a:lnSpc>
                <a:spcPct val="100000"/>
              </a:lnSpc>
              <a:spcBef>
                <a:spcPts val="100"/>
              </a:spcBef>
            </a:pPr>
            <a:r>
              <a:rPr dirty="0"/>
              <a:t>Status</a:t>
            </a:r>
            <a:r>
              <a:rPr spc="-30" dirty="0"/>
              <a:t> </a:t>
            </a:r>
            <a:r>
              <a:rPr spc="-10" dirty="0"/>
              <a:t>Check</a:t>
            </a:r>
          </a:p>
        </p:txBody>
      </p:sp>
      <p:sp>
        <p:nvSpPr>
          <p:cNvPr id="3" name="object 3"/>
          <p:cNvSpPr txBox="1"/>
          <p:nvPr/>
        </p:nvSpPr>
        <p:spPr>
          <a:xfrm>
            <a:off x="654862" y="1854879"/>
            <a:ext cx="4585970" cy="1397000"/>
          </a:xfrm>
          <a:prstGeom prst="rect">
            <a:avLst/>
          </a:prstGeom>
        </p:spPr>
        <p:txBody>
          <a:bodyPr vert="horz" wrap="square" lIns="0" tIns="127000" rIns="0" bIns="0" rtlCol="0">
            <a:spAutoFit/>
          </a:bodyPr>
          <a:lstStyle/>
          <a:p>
            <a:pPr marL="356235" indent="-343535">
              <a:lnSpc>
                <a:spcPct val="100000"/>
              </a:lnSpc>
              <a:spcBef>
                <a:spcPts val="1000"/>
              </a:spcBef>
              <a:buChar char="●"/>
              <a:tabLst>
                <a:tab pos="356235" algn="l"/>
              </a:tabLst>
            </a:pPr>
            <a:r>
              <a:rPr sz="1500" dirty="0">
                <a:solidFill>
                  <a:srgbClr val="0F2044"/>
                </a:solidFill>
                <a:latin typeface="Arial MT"/>
                <a:cs typeface="Arial MT"/>
              </a:rPr>
              <a:t>Memory</a:t>
            </a:r>
            <a:r>
              <a:rPr sz="1500" spc="-60" dirty="0">
                <a:solidFill>
                  <a:srgbClr val="0F2044"/>
                </a:solidFill>
                <a:latin typeface="Arial MT"/>
                <a:cs typeface="Arial MT"/>
              </a:rPr>
              <a:t> </a:t>
            </a:r>
            <a:r>
              <a:rPr sz="1500" spc="-10" dirty="0">
                <a:solidFill>
                  <a:srgbClr val="0F2044"/>
                </a:solidFill>
                <a:latin typeface="Arial MT"/>
                <a:cs typeface="Arial MT"/>
              </a:rPr>
              <a:t>Fragmentation</a:t>
            </a:r>
            <a:endParaRPr sz="1500">
              <a:latin typeface="Arial MT"/>
              <a:cs typeface="Arial MT"/>
            </a:endParaRPr>
          </a:p>
          <a:p>
            <a:pPr marL="356235" indent="-343535">
              <a:lnSpc>
                <a:spcPct val="100000"/>
              </a:lnSpc>
              <a:spcBef>
                <a:spcPts val="900"/>
              </a:spcBef>
              <a:buChar char="●"/>
              <a:tabLst>
                <a:tab pos="356235" algn="l"/>
              </a:tabLst>
            </a:pPr>
            <a:r>
              <a:rPr sz="1500" dirty="0">
                <a:solidFill>
                  <a:srgbClr val="0F2044"/>
                </a:solidFill>
                <a:latin typeface="Arial MT"/>
                <a:cs typeface="Arial MT"/>
              </a:rPr>
              <a:t>Memory</a:t>
            </a:r>
            <a:r>
              <a:rPr sz="1500" spc="-45" dirty="0">
                <a:solidFill>
                  <a:srgbClr val="0F2044"/>
                </a:solidFill>
                <a:latin typeface="Arial MT"/>
                <a:cs typeface="Arial MT"/>
              </a:rPr>
              <a:t> </a:t>
            </a:r>
            <a:r>
              <a:rPr sz="1500" spc="-10" dirty="0">
                <a:solidFill>
                  <a:srgbClr val="0F2044"/>
                </a:solidFill>
                <a:latin typeface="Arial MT"/>
                <a:cs typeface="Arial MT"/>
              </a:rPr>
              <a:t>Placement</a:t>
            </a:r>
            <a:r>
              <a:rPr sz="1500" spc="-45" dirty="0">
                <a:solidFill>
                  <a:srgbClr val="0F2044"/>
                </a:solidFill>
                <a:latin typeface="Arial MT"/>
                <a:cs typeface="Arial MT"/>
              </a:rPr>
              <a:t> </a:t>
            </a:r>
            <a:r>
              <a:rPr sz="1500" spc="-10" dirty="0">
                <a:solidFill>
                  <a:srgbClr val="0F2044"/>
                </a:solidFill>
                <a:latin typeface="Arial MT"/>
                <a:cs typeface="Arial MT"/>
              </a:rPr>
              <a:t>Strategies</a:t>
            </a:r>
            <a:endParaRPr sz="1500">
              <a:latin typeface="Arial MT"/>
              <a:cs typeface="Arial MT"/>
            </a:endParaRPr>
          </a:p>
          <a:p>
            <a:pPr marL="813435" lvl="1" indent="-344170">
              <a:lnSpc>
                <a:spcPct val="100000"/>
              </a:lnSpc>
              <a:spcBef>
                <a:spcPts val="900"/>
              </a:spcBef>
              <a:buChar char="○"/>
              <a:tabLst>
                <a:tab pos="813435" algn="l"/>
              </a:tabLst>
            </a:pPr>
            <a:r>
              <a:rPr sz="1500" dirty="0">
                <a:solidFill>
                  <a:srgbClr val="0F2044"/>
                </a:solidFill>
                <a:latin typeface="Arial MT"/>
                <a:cs typeface="Arial MT"/>
              </a:rPr>
              <a:t>First</a:t>
            </a:r>
            <a:r>
              <a:rPr sz="1500" spc="-30" dirty="0">
                <a:solidFill>
                  <a:srgbClr val="0F2044"/>
                </a:solidFill>
                <a:latin typeface="Arial MT"/>
                <a:cs typeface="Arial MT"/>
              </a:rPr>
              <a:t> </a:t>
            </a:r>
            <a:r>
              <a:rPr sz="1500" dirty="0">
                <a:solidFill>
                  <a:srgbClr val="0F2044"/>
                </a:solidFill>
                <a:latin typeface="Arial MT"/>
                <a:cs typeface="Arial MT"/>
              </a:rPr>
              <a:t>Fit,</a:t>
            </a:r>
            <a:r>
              <a:rPr sz="1500" spc="-25" dirty="0">
                <a:solidFill>
                  <a:srgbClr val="0F2044"/>
                </a:solidFill>
                <a:latin typeface="Arial MT"/>
                <a:cs typeface="Arial MT"/>
              </a:rPr>
              <a:t> </a:t>
            </a:r>
            <a:r>
              <a:rPr sz="1500" dirty="0">
                <a:solidFill>
                  <a:srgbClr val="0F2044"/>
                </a:solidFill>
                <a:latin typeface="Arial MT"/>
                <a:cs typeface="Arial MT"/>
              </a:rPr>
              <a:t>Best</a:t>
            </a:r>
            <a:r>
              <a:rPr sz="1500" spc="-20" dirty="0">
                <a:solidFill>
                  <a:srgbClr val="0F2044"/>
                </a:solidFill>
                <a:latin typeface="Arial MT"/>
                <a:cs typeface="Arial MT"/>
              </a:rPr>
              <a:t> </a:t>
            </a:r>
            <a:r>
              <a:rPr sz="1500" dirty="0">
                <a:solidFill>
                  <a:srgbClr val="0F2044"/>
                </a:solidFill>
                <a:latin typeface="Arial MT"/>
                <a:cs typeface="Arial MT"/>
              </a:rPr>
              <a:t>Fit,</a:t>
            </a:r>
            <a:r>
              <a:rPr sz="1500" spc="-20" dirty="0">
                <a:solidFill>
                  <a:srgbClr val="0F2044"/>
                </a:solidFill>
                <a:latin typeface="Arial MT"/>
                <a:cs typeface="Arial MT"/>
              </a:rPr>
              <a:t> </a:t>
            </a:r>
            <a:r>
              <a:rPr sz="1500" dirty="0">
                <a:solidFill>
                  <a:srgbClr val="0F2044"/>
                </a:solidFill>
                <a:latin typeface="Arial MT"/>
                <a:cs typeface="Arial MT"/>
              </a:rPr>
              <a:t>Worst</a:t>
            </a:r>
            <a:r>
              <a:rPr sz="1500" spc="-25" dirty="0">
                <a:solidFill>
                  <a:srgbClr val="0F2044"/>
                </a:solidFill>
                <a:latin typeface="Arial MT"/>
                <a:cs typeface="Arial MT"/>
              </a:rPr>
              <a:t> </a:t>
            </a:r>
            <a:r>
              <a:rPr sz="1500" dirty="0">
                <a:solidFill>
                  <a:srgbClr val="0F2044"/>
                </a:solidFill>
                <a:latin typeface="Arial MT"/>
                <a:cs typeface="Arial MT"/>
              </a:rPr>
              <a:t>Fit,</a:t>
            </a:r>
            <a:r>
              <a:rPr sz="1500" spc="-20" dirty="0">
                <a:solidFill>
                  <a:srgbClr val="0F2044"/>
                </a:solidFill>
                <a:latin typeface="Arial MT"/>
                <a:cs typeface="Arial MT"/>
              </a:rPr>
              <a:t> </a:t>
            </a:r>
            <a:r>
              <a:rPr sz="1500" spc="-10" dirty="0">
                <a:solidFill>
                  <a:srgbClr val="0F2044"/>
                </a:solidFill>
                <a:latin typeface="Arial MT"/>
                <a:cs typeface="Arial MT"/>
              </a:rPr>
              <a:t>Buddy</a:t>
            </a:r>
            <a:r>
              <a:rPr sz="1500" spc="-95" dirty="0">
                <a:solidFill>
                  <a:srgbClr val="0F2044"/>
                </a:solidFill>
                <a:latin typeface="Arial MT"/>
                <a:cs typeface="Arial MT"/>
              </a:rPr>
              <a:t> </a:t>
            </a:r>
            <a:r>
              <a:rPr sz="1500" spc="-10" dirty="0">
                <a:solidFill>
                  <a:srgbClr val="0F2044"/>
                </a:solidFill>
                <a:latin typeface="Arial MT"/>
                <a:cs typeface="Arial MT"/>
              </a:rPr>
              <a:t>Allocation</a:t>
            </a:r>
            <a:endParaRPr sz="1500">
              <a:latin typeface="Arial MT"/>
              <a:cs typeface="Arial MT"/>
            </a:endParaRPr>
          </a:p>
          <a:p>
            <a:pPr marL="356235" indent="-343535">
              <a:lnSpc>
                <a:spcPct val="100000"/>
              </a:lnSpc>
              <a:spcBef>
                <a:spcPts val="900"/>
              </a:spcBef>
              <a:buChar char="●"/>
              <a:tabLst>
                <a:tab pos="356235" algn="l"/>
              </a:tabLst>
            </a:pPr>
            <a:r>
              <a:rPr sz="1500" dirty="0">
                <a:solidFill>
                  <a:srgbClr val="0F2044"/>
                </a:solidFill>
                <a:latin typeface="Arial MT"/>
                <a:cs typeface="Arial MT"/>
              </a:rPr>
              <a:t>Memory</a:t>
            </a:r>
            <a:r>
              <a:rPr sz="1500" spc="-40" dirty="0">
                <a:solidFill>
                  <a:srgbClr val="0F2044"/>
                </a:solidFill>
                <a:latin typeface="Arial MT"/>
                <a:cs typeface="Arial MT"/>
              </a:rPr>
              <a:t> </a:t>
            </a:r>
            <a:r>
              <a:rPr sz="1500" spc="-10" dirty="0">
                <a:solidFill>
                  <a:srgbClr val="0F2044"/>
                </a:solidFill>
                <a:latin typeface="Arial MT"/>
                <a:cs typeface="Arial MT"/>
              </a:rPr>
              <a:t>Coalescing</a:t>
            </a:r>
            <a:r>
              <a:rPr sz="1500" spc="-35" dirty="0">
                <a:solidFill>
                  <a:srgbClr val="0F2044"/>
                </a:solidFill>
                <a:latin typeface="Arial MT"/>
                <a:cs typeface="Arial MT"/>
              </a:rPr>
              <a:t> </a:t>
            </a:r>
            <a:r>
              <a:rPr sz="1500" dirty="0">
                <a:solidFill>
                  <a:srgbClr val="0F2044"/>
                </a:solidFill>
                <a:latin typeface="Arial MT"/>
                <a:cs typeface="Arial MT"/>
              </a:rPr>
              <a:t>&amp;</a:t>
            </a:r>
            <a:r>
              <a:rPr sz="1500" spc="-40" dirty="0">
                <a:solidFill>
                  <a:srgbClr val="0F2044"/>
                </a:solidFill>
                <a:latin typeface="Arial MT"/>
                <a:cs typeface="Arial MT"/>
              </a:rPr>
              <a:t> </a:t>
            </a:r>
            <a:r>
              <a:rPr sz="1500" dirty="0">
                <a:solidFill>
                  <a:srgbClr val="0F2044"/>
                </a:solidFill>
                <a:latin typeface="Arial MT"/>
                <a:cs typeface="Arial MT"/>
              </a:rPr>
              <a:t>Memory</a:t>
            </a:r>
            <a:r>
              <a:rPr sz="1500" spc="-35" dirty="0">
                <a:solidFill>
                  <a:srgbClr val="0F2044"/>
                </a:solidFill>
                <a:latin typeface="Arial MT"/>
                <a:cs typeface="Arial MT"/>
              </a:rPr>
              <a:t> </a:t>
            </a:r>
            <a:r>
              <a:rPr sz="1500" spc="-10" dirty="0">
                <a:solidFill>
                  <a:srgbClr val="0F2044"/>
                </a:solidFill>
                <a:latin typeface="Arial MT"/>
                <a:cs typeface="Arial MT"/>
              </a:rPr>
              <a:t>Compaction</a:t>
            </a:r>
            <a:endParaRPr sz="1500">
              <a:latin typeface="Arial MT"/>
              <a:cs typeface="Arial MT"/>
            </a:endParaRPr>
          </a:p>
        </p:txBody>
      </p:sp>
      <p:sp>
        <p:nvSpPr>
          <p:cNvPr id="4" name="object 4"/>
          <p:cNvSpPr txBox="1"/>
          <p:nvPr/>
        </p:nvSpPr>
        <p:spPr>
          <a:xfrm>
            <a:off x="541325" y="3508217"/>
            <a:ext cx="3526154" cy="406400"/>
          </a:xfrm>
          <a:prstGeom prst="rect">
            <a:avLst/>
          </a:prstGeom>
        </p:spPr>
        <p:txBody>
          <a:bodyPr vert="horz" wrap="square" lIns="0" tIns="12700" rIns="0" bIns="0" rtlCol="0">
            <a:spAutoFit/>
          </a:bodyPr>
          <a:lstStyle/>
          <a:p>
            <a:pPr marL="12700">
              <a:lnSpc>
                <a:spcPct val="100000"/>
              </a:lnSpc>
              <a:spcBef>
                <a:spcPts val="100"/>
              </a:spcBef>
            </a:pPr>
            <a:r>
              <a:rPr sz="2500" dirty="0">
                <a:solidFill>
                  <a:srgbClr val="0F2044"/>
                </a:solidFill>
                <a:latin typeface="Georgia"/>
                <a:cs typeface="Georgia"/>
              </a:rPr>
              <a:t>What</a:t>
            </a:r>
            <a:r>
              <a:rPr sz="2500" spc="-35" dirty="0">
                <a:solidFill>
                  <a:srgbClr val="0F2044"/>
                </a:solidFill>
                <a:latin typeface="Georgia"/>
                <a:cs typeface="Georgia"/>
              </a:rPr>
              <a:t> </a:t>
            </a:r>
            <a:r>
              <a:rPr sz="2500" dirty="0">
                <a:solidFill>
                  <a:srgbClr val="0F2044"/>
                </a:solidFill>
                <a:latin typeface="Georgia"/>
                <a:cs typeface="Georgia"/>
              </a:rPr>
              <a:t>we</a:t>
            </a:r>
            <a:r>
              <a:rPr sz="2500" spc="-35" dirty="0">
                <a:solidFill>
                  <a:srgbClr val="0F2044"/>
                </a:solidFill>
                <a:latin typeface="Georgia"/>
                <a:cs typeface="Georgia"/>
              </a:rPr>
              <a:t> </a:t>
            </a:r>
            <a:r>
              <a:rPr sz="2500" dirty="0">
                <a:solidFill>
                  <a:srgbClr val="0F2044"/>
                </a:solidFill>
                <a:latin typeface="Georgia"/>
                <a:cs typeface="Georgia"/>
              </a:rPr>
              <a:t>will</a:t>
            </a:r>
            <a:r>
              <a:rPr sz="2500" spc="-35" dirty="0">
                <a:solidFill>
                  <a:srgbClr val="0F2044"/>
                </a:solidFill>
                <a:latin typeface="Georgia"/>
                <a:cs typeface="Georgia"/>
              </a:rPr>
              <a:t> </a:t>
            </a:r>
            <a:r>
              <a:rPr sz="2500" dirty="0">
                <a:solidFill>
                  <a:srgbClr val="0F2044"/>
                </a:solidFill>
                <a:latin typeface="Georgia"/>
                <a:cs typeface="Georgia"/>
              </a:rPr>
              <a:t>cover</a:t>
            </a:r>
            <a:r>
              <a:rPr sz="2500" spc="-30" dirty="0">
                <a:solidFill>
                  <a:srgbClr val="0F2044"/>
                </a:solidFill>
                <a:latin typeface="Georgia"/>
                <a:cs typeface="Georgia"/>
              </a:rPr>
              <a:t> </a:t>
            </a:r>
            <a:r>
              <a:rPr sz="2500" spc="-20" dirty="0">
                <a:solidFill>
                  <a:srgbClr val="0F2044"/>
                </a:solidFill>
                <a:latin typeface="Georgia"/>
                <a:cs typeface="Georgia"/>
              </a:rPr>
              <a:t>today</a:t>
            </a:r>
            <a:endParaRPr sz="2500">
              <a:latin typeface="Georgia"/>
              <a:cs typeface="Georgia"/>
            </a:endParaRPr>
          </a:p>
        </p:txBody>
      </p:sp>
      <p:sp>
        <p:nvSpPr>
          <p:cNvPr id="6" name="object 6"/>
          <p:cNvSpPr txBox="1"/>
          <p:nvPr/>
        </p:nvSpPr>
        <p:spPr>
          <a:xfrm>
            <a:off x="654862" y="3951605"/>
            <a:ext cx="3216275" cy="2082800"/>
          </a:xfrm>
          <a:prstGeom prst="rect">
            <a:avLst/>
          </a:prstGeom>
        </p:spPr>
        <p:txBody>
          <a:bodyPr vert="horz" wrap="square" lIns="0" tIns="127000" rIns="0" bIns="0" rtlCol="0">
            <a:spAutoFit/>
          </a:bodyPr>
          <a:lstStyle/>
          <a:p>
            <a:pPr marL="356235" indent="-343535">
              <a:lnSpc>
                <a:spcPct val="100000"/>
              </a:lnSpc>
              <a:spcBef>
                <a:spcPts val="1000"/>
              </a:spcBef>
              <a:buChar char="●"/>
              <a:tabLst>
                <a:tab pos="356235" algn="l"/>
              </a:tabLst>
            </a:pPr>
            <a:r>
              <a:rPr sz="1500" dirty="0">
                <a:solidFill>
                  <a:srgbClr val="0F2044"/>
                </a:solidFill>
                <a:latin typeface="Arial MT"/>
                <a:cs typeface="Arial MT"/>
              </a:rPr>
              <a:t>Implicit</a:t>
            </a:r>
            <a:r>
              <a:rPr sz="1500" spc="-70" dirty="0">
                <a:solidFill>
                  <a:srgbClr val="0F2044"/>
                </a:solidFill>
                <a:latin typeface="Arial MT"/>
                <a:cs typeface="Arial MT"/>
              </a:rPr>
              <a:t> </a:t>
            </a:r>
            <a:r>
              <a:rPr sz="1500" dirty="0">
                <a:solidFill>
                  <a:srgbClr val="0F2044"/>
                </a:solidFill>
                <a:latin typeface="Arial MT"/>
                <a:cs typeface="Arial MT"/>
              </a:rPr>
              <a:t>Free</a:t>
            </a:r>
            <a:r>
              <a:rPr sz="1500" spc="-70" dirty="0">
                <a:solidFill>
                  <a:srgbClr val="0F2044"/>
                </a:solidFill>
                <a:latin typeface="Arial MT"/>
                <a:cs typeface="Arial MT"/>
              </a:rPr>
              <a:t> </a:t>
            </a:r>
            <a:r>
              <a:rPr sz="1500" spc="-20" dirty="0">
                <a:solidFill>
                  <a:srgbClr val="0F2044"/>
                </a:solidFill>
                <a:latin typeface="Arial MT"/>
                <a:cs typeface="Arial MT"/>
              </a:rPr>
              <a:t>List</a:t>
            </a:r>
            <a:endParaRPr sz="1500">
              <a:latin typeface="Arial MT"/>
              <a:cs typeface="Arial MT"/>
            </a:endParaRPr>
          </a:p>
          <a:p>
            <a:pPr marL="356235" indent="-343535">
              <a:lnSpc>
                <a:spcPct val="100000"/>
              </a:lnSpc>
              <a:spcBef>
                <a:spcPts val="900"/>
              </a:spcBef>
              <a:buChar char="●"/>
              <a:tabLst>
                <a:tab pos="356235" algn="l"/>
              </a:tabLst>
            </a:pPr>
            <a:r>
              <a:rPr sz="1500" dirty="0">
                <a:solidFill>
                  <a:srgbClr val="0F2044"/>
                </a:solidFill>
                <a:latin typeface="Arial MT"/>
                <a:cs typeface="Arial MT"/>
              </a:rPr>
              <a:t>Explicit</a:t>
            </a:r>
            <a:r>
              <a:rPr sz="1500" spc="-70" dirty="0">
                <a:solidFill>
                  <a:srgbClr val="0F2044"/>
                </a:solidFill>
                <a:latin typeface="Arial MT"/>
                <a:cs typeface="Arial MT"/>
              </a:rPr>
              <a:t> </a:t>
            </a:r>
            <a:r>
              <a:rPr sz="1500" dirty="0">
                <a:solidFill>
                  <a:srgbClr val="0F2044"/>
                </a:solidFill>
                <a:latin typeface="Arial MT"/>
                <a:cs typeface="Arial MT"/>
              </a:rPr>
              <a:t>Free</a:t>
            </a:r>
            <a:r>
              <a:rPr sz="1500" spc="-70" dirty="0">
                <a:solidFill>
                  <a:srgbClr val="0F2044"/>
                </a:solidFill>
                <a:latin typeface="Arial MT"/>
                <a:cs typeface="Arial MT"/>
              </a:rPr>
              <a:t> </a:t>
            </a:r>
            <a:r>
              <a:rPr sz="1500" spc="-20" dirty="0">
                <a:solidFill>
                  <a:srgbClr val="0F2044"/>
                </a:solidFill>
                <a:latin typeface="Arial MT"/>
                <a:cs typeface="Arial MT"/>
              </a:rPr>
              <a:t>List</a:t>
            </a:r>
            <a:endParaRPr sz="1500">
              <a:latin typeface="Arial MT"/>
              <a:cs typeface="Arial MT"/>
            </a:endParaRPr>
          </a:p>
          <a:p>
            <a:pPr marL="356235" indent="-343535">
              <a:lnSpc>
                <a:spcPct val="100000"/>
              </a:lnSpc>
              <a:spcBef>
                <a:spcPts val="900"/>
              </a:spcBef>
              <a:buChar char="●"/>
              <a:tabLst>
                <a:tab pos="356235" algn="l"/>
              </a:tabLst>
            </a:pPr>
            <a:r>
              <a:rPr sz="1500" spc="-10" dirty="0">
                <a:solidFill>
                  <a:srgbClr val="0F2044"/>
                </a:solidFill>
                <a:latin typeface="Arial MT"/>
                <a:cs typeface="Arial MT"/>
              </a:rPr>
              <a:t>Bidirectional</a:t>
            </a:r>
            <a:r>
              <a:rPr sz="1500" spc="-20" dirty="0">
                <a:solidFill>
                  <a:srgbClr val="0F2044"/>
                </a:solidFill>
                <a:latin typeface="Arial MT"/>
                <a:cs typeface="Arial MT"/>
              </a:rPr>
              <a:t> </a:t>
            </a:r>
            <a:r>
              <a:rPr sz="1500" spc="-10" dirty="0">
                <a:solidFill>
                  <a:srgbClr val="0F2044"/>
                </a:solidFill>
                <a:latin typeface="Arial MT"/>
                <a:cs typeface="Arial MT"/>
              </a:rPr>
              <a:t>Coalescing</a:t>
            </a:r>
            <a:endParaRPr sz="1500">
              <a:latin typeface="Arial MT"/>
              <a:cs typeface="Arial MT"/>
            </a:endParaRPr>
          </a:p>
          <a:p>
            <a:pPr marL="356235" indent="-343535">
              <a:lnSpc>
                <a:spcPct val="100000"/>
              </a:lnSpc>
              <a:spcBef>
                <a:spcPts val="900"/>
              </a:spcBef>
              <a:buChar char="●"/>
              <a:tabLst>
                <a:tab pos="356235" algn="l"/>
              </a:tabLst>
            </a:pPr>
            <a:r>
              <a:rPr sz="1500" dirty="0">
                <a:solidFill>
                  <a:srgbClr val="0F2044"/>
                </a:solidFill>
                <a:latin typeface="Arial MT"/>
                <a:cs typeface="Arial MT"/>
              </a:rPr>
              <a:t>Splitting</a:t>
            </a:r>
            <a:r>
              <a:rPr sz="1500" spc="-70" dirty="0">
                <a:solidFill>
                  <a:srgbClr val="0F2044"/>
                </a:solidFill>
                <a:latin typeface="Arial MT"/>
                <a:cs typeface="Arial MT"/>
              </a:rPr>
              <a:t> </a:t>
            </a:r>
            <a:r>
              <a:rPr sz="1500" dirty="0">
                <a:solidFill>
                  <a:srgbClr val="0F2044"/>
                </a:solidFill>
                <a:latin typeface="Arial MT"/>
                <a:cs typeface="Arial MT"/>
              </a:rPr>
              <a:t>and</a:t>
            </a:r>
            <a:r>
              <a:rPr sz="1500" spc="-65" dirty="0">
                <a:solidFill>
                  <a:srgbClr val="0F2044"/>
                </a:solidFill>
                <a:latin typeface="Arial MT"/>
                <a:cs typeface="Arial MT"/>
              </a:rPr>
              <a:t> </a:t>
            </a:r>
            <a:r>
              <a:rPr sz="1500" dirty="0">
                <a:solidFill>
                  <a:srgbClr val="0F2044"/>
                </a:solidFill>
                <a:latin typeface="Arial MT"/>
                <a:cs typeface="Arial MT"/>
              </a:rPr>
              <a:t>False</a:t>
            </a:r>
            <a:r>
              <a:rPr sz="1500" spc="-70" dirty="0">
                <a:solidFill>
                  <a:srgbClr val="0F2044"/>
                </a:solidFill>
                <a:latin typeface="Arial MT"/>
                <a:cs typeface="Arial MT"/>
              </a:rPr>
              <a:t> </a:t>
            </a:r>
            <a:r>
              <a:rPr sz="1500" spc="-10" dirty="0">
                <a:solidFill>
                  <a:srgbClr val="0F2044"/>
                </a:solidFill>
                <a:latin typeface="Arial MT"/>
                <a:cs typeface="Arial MT"/>
              </a:rPr>
              <a:t>Fragmentation</a:t>
            </a:r>
            <a:endParaRPr sz="1500">
              <a:latin typeface="Arial MT"/>
              <a:cs typeface="Arial MT"/>
            </a:endParaRPr>
          </a:p>
          <a:p>
            <a:pPr marL="356235" indent="-343535">
              <a:lnSpc>
                <a:spcPct val="100000"/>
              </a:lnSpc>
              <a:spcBef>
                <a:spcPts val="900"/>
              </a:spcBef>
              <a:buChar char="●"/>
              <a:tabLst>
                <a:tab pos="356235" algn="l"/>
              </a:tabLst>
            </a:pPr>
            <a:r>
              <a:rPr sz="1500" dirty="0">
                <a:solidFill>
                  <a:srgbClr val="0F2044"/>
                </a:solidFill>
                <a:latin typeface="Arial MT"/>
                <a:cs typeface="Arial MT"/>
              </a:rPr>
              <a:t>Boundary</a:t>
            </a:r>
            <a:r>
              <a:rPr sz="1500" spc="-95" dirty="0">
                <a:solidFill>
                  <a:srgbClr val="0F2044"/>
                </a:solidFill>
                <a:latin typeface="Arial MT"/>
                <a:cs typeface="Arial MT"/>
              </a:rPr>
              <a:t> </a:t>
            </a:r>
            <a:r>
              <a:rPr sz="1500" spc="-20" dirty="0">
                <a:solidFill>
                  <a:srgbClr val="0F2044"/>
                </a:solidFill>
                <a:latin typeface="Arial MT"/>
                <a:cs typeface="Arial MT"/>
              </a:rPr>
              <a:t>Tags</a:t>
            </a:r>
            <a:endParaRPr sz="1500">
              <a:latin typeface="Arial MT"/>
              <a:cs typeface="Arial MT"/>
            </a:endParaRPr>
          </a:p>
          <a:p>
            <a:pPr marL="356235" indent="-343535">
              <a:lnSpc>
                <a:spcPct val="100000"/>
              </a:lnSpc>
              <a:spcBef>
                <a:spcPts val="900"/>
              </a:spcBef>
              <a:buChar char="●"/>
              <a:tabLst>
                <a:tab pos="356235" algn="l"/>
              </a:tabLst>
            </a:pPr>
            <a:r>
              <a:rPr sz="1500" dirty="0">
                <a:solidFill>
                  <a:srgbClr val="0F2044"/>
                </a:solidFill>
                <a:latin typeface="Arial MT"/>
                <a:cs typeface="Arial MT"/>
              </a:rPr>
              <a:t>Free</a:t>
            </a:r>
            <a:r>
              <a:rPr sz="1500" spc="-55" dirty="0">
                <a:solidFill>
                  <a:srgbClr val="0F2044"/>
                </a:solidFill>
                <a:latin typeface="Arial MT"/>
                <a:cs typeface="Arial MT"/>
              </a:rPr>
              <a:t> </a:t>
            </a:r>
            <a:r>
              <a:rPr sz="1500" dirty="0">
                <a:solidFill>
                  <a:srgbClr val="0F2044"/>
                </a:solidFill>
                <a:latin typeface="Arial MT"/>
                <a:cs typeface="Arial MT"/>
              </a:rPr>
              <a:t>Block</a:t>
            </a:r>
            <a:r>
              <a:rPr sz="1500" spc="-50" dirty="0">
                <a:solidFill>
                  <a:srgbClr val="0F2044"/>
                </a:solidFill>
                <a:latin typeface="Arial MT"/>
                <a:cs typeface="Arial MT"/>
              </a:rPr>
              <a:t> </a:t>
            </a:r>
            <a:r>
              <a:rPr sz="1500" dirty="0">
                <a:solidFill>
                  <a:srgbClr val="0F2044"/>
                </a:solidFill>
                <a:latin typeface="Arial MT"/>
                <a:cs typeface="Arial MT"/>
              </a:rPr>
              <a:t>Insertion</a:t>
            </a:r>
            <a:r>
              <a:rPr sz="1500" spc="-50" dirty="0">
                <a:solidFill>
                  <a:srgbClr val="0F2044"/>
                </a:solidFill>
                <a:latin typeface="Arial MT"/>
                <a:cs typeface="Arial MT"/>
              </a:rPr>
              <a:t> </a:t>
            </a:r>
            <a:r>
              <a:rPr sz="1500" dirty="0">
                <a:solidFill>
                  <a:srgbClr val="0F2044"/>
                </a:solidFill>
                <a:latin typeface="Arial MT"/>
                <a:cs typeface="Arial MT"/>
              </a:rPr>
              <a:t>Policy</a:t>
            </a:r>
            <a:r>
              <a:rPr sz="1500" spc="-50" dirty="0">
                <a:solidFill>
                  <a:srgbClr val="0F2044"/>
                </a:solidFill>
                <a:latin typeface="Arial MT"/>
                <a:cs typeface="Arial MT"/>
              </a:rPr>
              <a:t> </a:t>
            </a:r>
            <a:r>
              <a:rPr sz="1500" dirty="0">
                <a:solidFill>
                  <a:srgbClr val="0F2044"/>
                </a:solidFill>
                <a:latin typeface="Arial MT"/>
                <a:cs typeface="Arial MT"/>
              </a:rPr>
              <a:t>-</a:t>
            </a:r>
            <a:r>
              <a:rPr sz="1500" spc="-50" dirty="0">
                <a:solidFill>
                  <a:srgbClr val="0F2044"/>
                </a:solidFill>
                <a:latin typeface="Arial MT"/>
                <a:cs typeface="Arial MT"/>
              </a:rPr>
              <a:t> </a:t>
            </a:r>
            <a:r>
              <a:rPr sz="1500" spc="-20" dirty="0">
                <a:solidFill>
                  <a:srgbClr val="0F2044"/>
                </a:solidFill>
                <a:latin typeface="Arial MT"/>
                <a:cs typeface="Arial MT"/>
              </a:rPr>
              <a:t>LIFO</a:t>
            </a:r>
            <a:endParaRPr sz="1500">
              <a:latin typeface="Arial MT"/>
              <a:cs typeface="Arial MT"/>
            </a:endParaRPr>
          </a:p>
        </p:txBody>
      </p:sp>
      <p:pic>
        <p:nvPicPr>
          <p:cNvPr id="5" name="object 5">
            <a:extLst>
              <a:ext uri="{C183D7F6-B498-43B3-948B-1728B52AA6E4}">
                <adec:decorative xmlns:adec="http://schemas.microsoft.com/office/drawing/2017/decorative" val="1"/>
              </a:ext>
            </a:extLst>
          </p:cNvPr>
          <p:cNvPicPr/>
          <p:nvPr/>
        </p:nvPicPr>
        <p:blipFill>
          <a:blip r:embed="rId2" cstate="print"/>
          <a:stretch>
            <a:fillRect/>
          </a:stretch>
        </p:blipFill>
        <p:spPr>
          <a:xfrm>
            <a:off x="7882518" y="2216065"/>
            <a:ext cx="3208348" cy="274389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Difficult</a:t>
            </a:r>
            <a:r>
              <a:rPr spc="-140" dirty="0"/>
              <a:t> </a:t>
            </a:r>
            <a:r>
              <a:rPr spc="-10" dirty="0"/>
              <a:t>Questions</a:t>
            </a:r>
          </a:p>
        </p:txBody>
      </p:sp>
      <p:sp>
        <p:nvSpPr>
          <p:cNvPr id="3" name="object 3"/>
          <p:cNvSpPr txBox="1"/>
          <p:nvPr/>
        </p:nvSpPr>
        <p:spPr>
          <a:xfrm>
            <a:off x="513876" y="2177546"/>
            <a:ext cx="6845300" cy="4140200"/>
          </a:xfrm>
          <a:prstGeom prst="rect">
            <a:avLst/>
          </a:prstGeom>
        </p:spPr>
        <p:txBody>
          <a:bodyPr vert="horz" wrap="square" lIns="0" tIns="12700" rIns="0" bIns="0" rtlCol="0">
            <a:spAutoFit/>
          </a:bodyPr>
          <a:lstStyle/>
          <a:p>
            <a:pPr marL="431800" marR="308610" indent="-419734">
              <a:lnSpc>
                <a:spcPct val="150000"/>
              </a:lnSpc>
              <a:spcBef>
                <a:spcPts val="100"/>
              </a:spcBef>
              <a:buFont typeface="Arial MT"/>
              <a:buAutoNum type="arabicPeriod"/>
              <a:tabLst>
                <a:tab pos="431800" algn="l"/>
              </a:tabLst>
            </a:pPr>
            <a:r>
              <a:rPr sz="1800" b="1" dirty="0">
                <a:latin typeface="Arial"/>
                <a:cs typeface="Arial"/>
              </a:rPr>
              <a:t>Freeing:</a:t>
            </a:r>
            <a:r>
              <a:rPr sz="1800" b="1" spc="-35" dirty="0">
                <a:latin typeface="Arial"/>
                <a:cs typeface="Arial"/>
              </a:rPr>
              <a:t> </a:t>
            </a:r>
            <a:r>
              <a:rPr sz="1800" dirty="0">
                <a:latin typeface="Arial MT"/>
                <a:cs typeface="Arial MT"/>
              </a:rPr>
              <a:t>Given</a:t>
            </a:r>
            <a:r>
              <a:rPr sz="1800" spc="-25" dirty="0">
                <a:latin typeface="Arial MT"/>
                <a:cs typeface="Arial MT"/>
              </a:rPr>
              <a:t> </a:t>
            </a:r>
            <a:r>
              <a:rPr sz="1800" dirty="0">
                <a:latin typeface="Arial MT"/>
                <a:cs typeface="Arial MT"/>
              </a:rPr>
              <a:t>only</a:t>
            </a:r>
            <a:r>
              <a:rPr sz="1800" spc="-25" dirty="0">
                <a:latin typeface="Arial MT"/>
                <a:cs typeface="Arial MT"/>
              </a:rPr>
              <a:t> </a:t>
            </a:r>
            <a:r>
              <a:rPr sz="1800" dirty="0">
                <a:latin typeface="Arial MT"/>
                <a:cs typeface="Arial MT"/>
              </a:rPr>
              <a:t>a</a:t>
            </a:r>
            <a:r>
              <a:rPr sz="1800" spc="-25" dirty="0">
                <a:latin typeface="Arial MT"/>
                <a:cs typeface="Arial MT"/>
              </a:rPr>
              <a:t> </a:t>
            </a:r>
            <a:r>
              <a:rPr sz="1800" dirty="0">
                <a:latin typeface="Arial MT"/>
                <a:cs typeface="Arial MT"/>
              </a:rPr>
              <a:t>pointer,</a:t>
            </a:r>
            <a:r>
              <a:rPr sz="1800" spc="-20" dirty="0">
                <a:latin typeface="Arial MT"/>
                <a:cs typeface="Arial MT"/>
              </a:rPr>
              <a:t> </a:t>
            </a:r>
            <a:r>
              <a:rPr sz="1800" dirty="0">
                <a:latin typeface="Arial MT"/>
                <a:cs typeface="Arial MT"/>
              </a:rPr>
              <a:t>how</a:t>
            </a:r>
            <a:r>
              <a:rPr sz="1800" spc="-25" dirty="0">
                <a:latin typeface="Arial MT"/>
                <a:cs typeface="Arial MT"/>
              </a:rPr>
              <a:t> </a:t>
            </a:r>
            <a:r>
              <a:rPr sz="1800" dirty="0">
                <a:latin typeface="Arial MT"/>
                <a:cs typeface="Arial MT"/>
              </a:rPr>
              <a:t>much</a:t>
            </a:r>
            <a:r>
              <a:rPr sz="1800" spc="-25" dirty="0">
                <a:latin typeface="Arial MT"/>
                <a:cs typeface="Arial MT"/>
              </a:rPr>
              <a:t> </a:t>
            </a:r>
            <a:r>
              <a:rPr sz="1800" dirty="0">
                <a:latin typeface="Arial MT"/>
                <a:cs typeface="Arial MT"/>
              </a:rPr>
              <a:t>memory</a:t>
            </a:r>
            <a:r>
              <a:rPr sz="1800" spc="-25" dirty="0">
                <a:latin typeface="Arial MT"/>
                <a:cs typeface="Arial MT"/>
              </a:rPr>
              <a:t> </a:t>
            </a:r>
            <a:r>
              <a:rPr sz="1800" dirty="0">
                <a:latin typeface="Arial MT"/>
                <a:cs typeface="Arial MT"/>
              </a:rPr>
              <a:t>should</a:t>
            </a:r>
            <a:r>
              <a:rPr sz="1800" spc="-20" dirty="0">
                <a:latin typeface="Arial MT"/>
                <a:cs typeface="Arial MT"/>
              </a:rPr>
              <a:t> </a:t>
            </a:r>
            <a:r>
              <a:rPr sz="1800" spc="-25" dirty="0">
                <a:latin typeface="Arial MT"/>
                <a:cs typeface="Arial MT"/>
              </a:rPr>
              <a:t>be </a:t>
            </a:r>
            <a:r>
              <a:rPr sz="1800" spc="-10" dirty="0">
                <a:latin typeface="Arial MT"/>
                <a:cs typeface="Arial MT"/>
              </a:rPr>
              <a:t>deallocated?</a:t>
            </a:r>
            <a:endParaRPr sz="1800" dirty="0">
              <a:latin typeface="Arial MT"/>
              <a:cs typeface="Arial MT"/>
            </a:endParaRPr>
          </a:p>
          <a:p>
            <a:pPr marL="431800" marR="490855" indent="-419734">
              <a:lnSpc>
                <a:spcPct val="150000"/>
              </a:lnSpc>
              <a:buFont typeface="Arial MT"/>
              <a:buAutoNum type="arabicPeriod"/>
              <a:tabLst>
                <a:tab pos="431800" algn="l"/>
              </a:tabLst>
            </a:pPr>
            <a:r>
              <a:rPr sz="1800" b="1" dirty="0">
                <a:latin typeface="Arial"/>
                <a:cs typeface="Arial"/>
              </a:rPr>
              <a:t>Free</a:t>
            </a:r>
            <a:r>
              <a:rPr sz="1800" b="1" spc="-30" dirty="0">
                <a:latin typeface="Arial"/>
                <a:cs typeface="Arial"/>
              </a:rPr>
              <a:t> </a:t>
            </a:r>
            <a:r>
              <a:rPr sz="1800" b="1" dirty="0">
                <a:latin typeface="Arial"/>
                <a:cs typeface="Arial"/>
              </a:rPr>
              <a:t>Block</a:t>
            </a:r>
            <a:r>
              <a:rPr sz="1800" b="1" spc="-15" dirty="0">
                <a:latin typeface="Arial"/>
                <a:cs typeface="Arial"/>
              </a:rPr>
              <a:t> </a:t>
            </a:r>
            <a:r>
              <a:rPr sz="1800" b="1" dirty="0">
                <a:latin typeface="Arial"/>
                <a:cs typeface="Arial"/>
              </a:rPr>
              <a:t>Organization:</a:t>
            </a:r>
            <a:r>
              <a:rPr sz="1800" b="1" spc="-15" dirty="0">
                <a:latin typeface="Arial"/>
                <a:cs typeface="Arial"/>
              </a:rPr>
              <a:t> </a:t>
            </a:r>
            <a:r>
              <a:rPr sz="1800" dirty="0">
                <a:latin typeface="Arial MT"/>
                <a:cs typeface="Arial MT"/>
              </a:rPr>
              <a:t>How</a:t>
            </a:r>
            <a:r>
              <a:rPr sz="1800" spc="-15" dirty="0">
                <a:latin typeface="Arial MT"/>
                <a:cs typeface="Arial MT"/>
              </a:rPr>
              <a:t> </a:t>
            </a:r>
            <a:r>
              <a:rPr sz="1800" dirty="0">
                <a:latin typeface="Arial MT"/>
                <a:cs typeface="Arial MT"/>
              </a:rPr>
              <a:t>do</a:t>
            </a:r>
            <a:r>
              <a:rPr sz="1800" spc="-15" dirty="0">
                <a:latin typeface="Arial MT"/>
                <a:cs typeface="Arial MT"/>
              </a:rPr>
              <a:t> </a:t>
            </a:r>
            <a:r>
              <a:rPr sz="1800" dirty="0">
                <a:latin typeface="Arial MT"/>
                <a:cs typeface="Arial MT"/>
              </a:rPr>
              <a:t>we</a:t>
            </a:r>
            <a:r>
              <a:rPr sz="1800" spc="-20" dirty="0">
                <a:latin typeface="Arial MT"/>
                <a:cs typeface="Arial MT"/>
              </a:rPr>
              <a:t> </a:t>
            </a:r>
            <a:r>
              <a:rPr sz="1800" dirty="0">
                <a:latin typeface="Arial MT"/>
                <a:cs typeface="Arial MT"/>
              </a:rPr>
              <a:t>efficiently</a:t>
            </a:r>
            <a:r>
              <a:rPr sz="1800" spc="-15" dirty="0">
                <a:latin typeface="Arial MT"/>
                <a:cs typeface="Arial MT"/>
              </a:rPr>
              <a:t> </a:t>
            </a:r>
            <a:r>
              <a:rPr sz="1800" dirty="0">
                <a:latin typeface="Arial MT"/>
                <a:cs typeface="Arial MT"/>
              </a:rPr>
              <a:t>track</a:t>
            </a:r>
            <a:r>
              <a:rPr sz="1800" spc="-15" dirty="0">
                <a:latin typeface="Arial MT"/>
                <a:cs typeface="Arial MT"/>
              </a:rPr>
              <a:t> </a:t>
            </a:r>
            <a:r>
              <a:rPr sz="1800" spc="-25" dirty="0">
                <a:latin typeface="Arial MT"/>
                <a:cs typeface="Arial MT"/>
              </a:rPr>
              <a:t>and </a:t>
            </a:r>
            <a:r>
              <a:rPr sz="1800" dirty="0">
                <a:latin typeface="Arial MT"/>
                <a:cs typeface="Arial MT"/>
              </a:rPr>
              <a:t>manage</a:t>
            </a:r>
            <a:r>
              <a:rPr sz="1800" spc="-20" dirty="0">
                <a:latin typeface="Arial MT"/>
                <a:cs typeface="Arial MT"/>
              </a:rPr>
              <a:t> </a:t>
            </a:r>
            <a:r>
              <a:rPr sz="1800" dirty="0">
                <a:latin typeface="Arial MT"/>
                <a:cs typeface="Arial MT"/>
              </a:rPr>
              <a:t>free</a:t>
            </a:r>
            <a:r>
              <a:rPr sz="1800" spc="-20" dirty="0">
                <a:latin typeface="Arial MT"/>
                <a:cs typeface="Arial MT"/>
              </a:rPr>
              <a:t> </a:t>
            </a:r>
            <a:r>
              <a:rPr sz="1800" dirty="0">
                <a:latin typeface="Arial MT"/>
                <a:cs typeface="Arial MT"/>
              </a:rPr>
              <a:t>memory</a:t>
            </a:r>
            <a:r>
              <a:rPr sz="1800" spc="-15" dirty="0">
                <a:latin typeface="Arial MT"/>
                <a:cs typeface="Arial MT"/>
              </a:rPr>
              <a:t> </a:t>
            </a:r>
            <a:r>
              <a:rPr sz="1800" spc="-10" dirty="0">
                <a:latin typeface="Arial MT"/>
                <a:cs typeface="Arial MT"/>
              </a:rPr>
              <a:t>blocks?</a:t>
            </a:r>
            <a:endParaRPr sz="1800" dirty="0">
              <a:latin typeface="Arial MT"/>
              <a:cs typeface="Arial MT"/>
            </a:endParaRPr>
          </a:p>
          <a:p>
            <a:pPr marL="431800" marR="5080" indent="-419734">
              <a:lnSpc>
                <a:spcPct val="150000"/>
              </a:lnSpc>
              <a:buFont typeface="Arial MT"/>
              <a:buAutoNum type="arabicPeriod"/>
              <a:tabLst>
                <a:tab pos="431800" algn="l"/>
              </a:tabLst>
            </a:pPr>
            <a:r>
              <a:rPr sz="1800" b="1" dirty="0">
                <a:latin typeface="Arial"/>
                <a:cs typeface="Arial"/>
              </a:rPr>
              <a:t>Placement:</a:t>
            </a:r>
            <a:r>
              <a:rPr sz="1800" b="1" spc="-30" dirty="0">
                <a:latin typeface="Arial"/>
                <a:cs typeface="Arial"/>
              </a:rPr>
              <a:t> </a:t>
            </a:r>
            <a:r>
              <a:rPr sz="1800" dirty="0">
                <a:latin typeface="Arial MT"/>
                <a:cs typeface="Arial MT"/>
              </a:rPr>
              <a:t>Which</a:t>
            </a:r>
            <a:r>
              <a:rPr sz="1800" spc="-20" dirty="0">
                <a:latin typeface="Arial MT"/>
                <a:cs typeface="Arial MT"/>
              </a:rPr>
              <a:t> </a:t>
            </a:r>
            <a:r>
              <a:rPr sz="1800" dirty="0">
                <a:latin typeface="Arial MT"/>
                <a:cs typeface="Arial MT"/>
              </a:rPr>
              <a:t>free</a:t>
            </a:r>
            <a:r>
              <a:rPr sz="1800" spc="-20" dirty="0">
                <a:latin typeface="Arial MT"/>
                <a:cs typeface="Arial MT"/>
              </a:rPr>
              <a:t> </a:t>
            </a:r>
            <a:r>
              <a:rPr sz="1800" dirty="0">
                <a:latin typeface="Arial MT"/>
                <a:cs typeface="Arial MT"/>
              </a:rPr>
              <a:t>block</a:t>
            </a:r>
            <a:r>
              <a:rPr sz="1800" spc="-20" dirty="0">
                <a:latin typeface="Arial MT"/>
                <a:cs typeface="Arial MT"/>
              </a:rPr>
              <a:t> </a:t>
            </a:r>
            <a:r>
              <a:rPr sz="1800" dirty="0">
                <a:latin typeface="Arial MT"/>
                <a:cs typeface="Arial MT"/>
              </a:rPr>
              <a:t>should</a:t>
            </a:r>
            <a:r>
              <a:rPr sz="1800" spc="-20" dirty="0">
                <a:latin typeface="Arial MT"/>
                <a:cs typeface="Arial MT"/>
              </a:rPr>
              <a:t> </a:t>
            </a:r>
            <a:r>
              <a:rPr sz="1800" dirty="0">
                <a:latin typeface="Arial MT"/>
                <a:cs typeface="Arial MT"/>
              </a:rPr>
              <a:t>be</a:t>
            </a:r>
            <a:r>
              <a:rPr sz="1800" spc="-20" dirty="0">
                <a:latin typeface="Arial MT"/>
                <a:cs typeface="Arial MT"/>
              </a:rPr>
              <a:t> </a:t>
            </a:r>
            <a:r>
              <a:rPr sz="1800" dirty="0">
                <a:latin typeface="Arial MT"/>
                <a:cs typeface="Arial MT"/>
              </a:rPr>
              <a:t>selected</a:t>
            </a:r>
            <a:r>
              <a:rPr sz="1800" spc="-20" dirty="0">
                <a:latin typeface="Arial MT"/>
                <a:cs typeface="Arial MT"/>
              </a:rPr>
              <a:t> </a:t>
            </a:r>
            <a:r>
              <a:rPr sz="1800" dirty="0">
                <a:latin typeface="Arial MT"/>
                <a:cs typeface="Arial MT"/>
              </a:rPr>
              <a:t>to</a:t>
            </a:r>
            <a:r>
              <a:rPr sz="1800" spc="-20" dirty="0">
                <a:latin typeface="Arial MT"/>
                <a:cs typeface="Arial MT"/>
              </a:rPr>
              <a:t> </a:t>
            </a:r>
            <a:r>
              <a:rPr sz="1800" dirty="0">
                <a:latin typeface="Arial MT"/>
                <a:cs typeface="Arial MT"/>
              </a:rPr>
              <a:t>best</a:t>
            </a:r>
            <a:r>
              <a:rPr sz="1800" spc="-20" dirty="0">
                <a:latin typeface="Arial MT"/>
                <a:cs typeface="Arial MT"/>
              </a:rPr>
              <a:t> </a:t>
            </a:r>
            <a:r>
              <a:rPr sz="1800" dirty="0">
                <a:latin typeface="Arial MT"/>
                <a:cs typeface="Arial MT"/>
              </a:rPr>
              <a:t>fulfill</a:t>
            </a:r>
            <a:r>
              <a:rPr sz="1800" spc="-20" dirty="0">
                <a:latin typeface="Arial MT"/>
                <a:cs typeface="Arial MT"/>
              </a:rPr>
              <a:t> </a:t>
            </a:r>
            <a:r>
              <a:rPr sz="1800" spc="-50" dirty="0">
                <a:latin typeface="Arial MT"/>
                <a:cs typeface="Arial MT"/>
              </a:rPr>
              <a:t>a </a:t>
            </a:r>
            <a:r>
              <a:rPr sz="1800" dirty="0">
                <a:latin typeface="Arial MT"/>
                <a:cs typeface="Arial MT"/>
              </a:rPr>
              <a:t>process's</a:t>
            </a:r>
            <a:r>
              <a:rPr sz="1800" spc="-5" dirty="0">
                <a:latin typeface="Arial MT"/>
                <a:cs typeface="Arial MT"/>
              </a:rPr>
              <a:t> </a:t>
            </a:r>
            <a:r>
              <a:rPr sz="1800" dirty="0">
                <a:latin typeface="Arial MT"/>
                <a:cs typeface="Arial MT"/>
              </a:rPr>
              <a:t>memory</a:t>
            </a:r>
            <a:r>
              <a:rPr sz="1800" spc="-5" dirty="0">
                <a:latin typeface="Arial MT"/>
                <a:cs typeface="Arial MT"/>
              </a:rPr>
              <a:t> </a:t>
            </a:r>
            <a:r>
              <a:rPr sz="1800" spc="-10" dirty="0">
                <a:latin typeface="Arial MT"/>
                <a:cs typeface="Arial MT"/>
              </a:rPr>
              <a:t>request?</a:t>
            </a:r>
            <a:endParaRPr sz="1800" dirty="0">
              <a:latin typeface="Arial MT"/>
              <a:cs typeface="Arial MT"/>
            </a:endParaRPr>
          </a:p>
          <a:p>
            <a:pPr marL="431800" marR="398145" indent="-419734">
              <a:lnSpc>
                <a:spcPct val="150000"/>
              </a:lnSpc>
              <a:buFont typeface="Arial MT"/>
              <a:buAutoNum type="arabicPeriod"/>
              <a:tabLst>
                <a:tab pos="431800" algn="l"/>
              </a:tabLst>
            </a:pPr>
            <a:r>
              <a:rPr sz="1800" b="1" dirty="0">
                <a:latin typeface="Arial"/>
                <a:cs typeface="Arial"/>
              </a:rPr>
              <a:t>Splitting:</a:t>
            </a:r>
            <a:r>
              <a:rPr sz="1800" b="1" spc="-35" dirty="0">
                <a:latin typeface="Arial"/>
                <a:cs typeface="Arial"/>
              </a:rPr>
              <a:t> </a:t>
            </a:r>
            <a:r>
              <a:rPr sz="1800" dirty="0">
                <a:latin typeface="Arial MT"/>
                <a:cs typeface="Arial MT"/>
              </a:rPr>
              <a:t>How</a:t>
            </a:r>
            <a:r>
              <a:rPr sz="1800" spc="-30" dirty="0">
                <a:latin typeface="Arial MT"/>
                <a:cs typeface="Arial MT"/>
              </a:rPr>
              <a:t> </a:t>
            </a:r>
            <a:r>
              <a:rPr sz="1800" dirty="0">
                <a:latin typeface="Arial MT"/>
                <a:cs typeface="Arial MT"/>
              </a:rPr>
              <a:t>should</a:t>
            </a:r>
            <a:r>
              <a:rPr sz="1800" spc="-30" dirty="0">
                <a:latin typeface="Arial MT"/>
                <a:cs typeface="Arial MT"/>
              </a:rPr>
              <a:t> </a:t>
            </a:r>
            <a:r>
              <a:rPr sz="1800" dirty="0">
                <a:latin typeface="Arial MT"/>
                <a:cs typeface="Arial MT"/>
              </a:rPr>
              <a:t>we</a:t>
            </a:r>
            <a:r>
              <a:rPr sz="1800" spc="-30" dirty="0">
                <a:latin typeface="Arial MT"/>
                <a:cs typeface="Arial MT"/>
              </a:rPr>
              <a:t> </a:t>
            </a:r>
            <a:r>
              <a:rPr sz="1800" dirty="0">
                <a:latin typeface="Arial MT"/>
                <a:cs typeface="Arial MT"/>
              </a:rPr>
              <a:t>handle</a:t>
            </a:r>
            <a:r>
              <a:rPr sz="1800" spc="-30" dirty="0">
                <a:latin typeface="Arial MT"/>
                <a:cs typeface="Arial MT"/>
              </a:rPr>
              <a:t> </a:t>
            </a:r>
            <a:r>
              <a:rPr sz="1800" dirty="0">
                <a:latin typeface="Arial MT"/>
                <a:cs typeface="Arial MT"/>
              </a:rPr>
              <a:t>the</a:t>
            </a:r>
            <a:r>
              <a:rPr sz="1800" spc="-30" dirty="0">
                <a:latin typeface="Arial MT"/>
                <a:cs typeface="Arial MT"/>
              </a:rPr>
              <a:t> </a:t>
            </a:r>
            <a:r>
              <a:rPr sz="1800" dirty="0">
                <a:latin typeface="Arial MT"/>
                <a:cs typeface="Arial MT"/>
              </a:rPr>
              <a:t>remaining</a:t>
            </a:r>
            <a:r>
              <a:rPr sz="1800" spc="-30" dirty="0">
                <a:latin typeface="Arial MT"/>
                <a:cs typeface="Arial MT"/>
              </a:rPr>
              <a:t> </a:t>
            </a:r>
            <a:r>
              <a:rPr sz="1800" dirty="0">
                <a:latin typeface="Arial MT"/>
                <a:cs typeface="Arial MT"/>
              </a:rPr>
              <a:t>portion</a:t>
            </a:r>
            <a:r>
              <a:rPr sz="1800" spc="-30" dirty="0">
                <a:latin typeface="Arial MT"/>
                <a:cs typeface="Arial MT"/>
              </a:rPr>
              <a:t> </a:t>
            </a:r>
            <a:r>
              <a:rPr sz="1800" dirty="0">
                <a:latin typeface="Arial MT"/>
                <a:cs typeface="Arial MT"/>
              </a:rPr>
              <a:t>of</a:t>
            </a:r>
            <a:r>
              <a:rPr sz="1800" spc="-30" dirty="0">
                <a:latin typeface="Arial MT"/>
                <a:cs typeface="Arial MT"/>
              </a:rPr>
              <a:t> </a:t>
            </a:r>
            <a:r>
              <a:rPr sz="1800" spc="-50" dirty="0">
                <a:latin typeface="Arial MT"/>
                <a:cs typeface="Arial MT"/>
              </a:rPr>
              <a:t>a </a:t>
            </a:r>
            <a:r>
              <a:rPr sz="1800" dirty="0">
                <a:latin typeface="Arial MT"/>
                <a:cs typeface="Arial MT"/>
              </a:rPr>
              <a:t>free</a:t>
            </a:r>
            <a:r>
              <a:rPr sz="1800" spc="-15" dirty="0">
                <a:latin typeface="Arial MT"/>
                <a:cs typeface="Arial MT"/>
              </a:rPr>
              <a:t> </a:t>
            </a:r>
            <a:r>
              <a:rPr sz="1800" dirty="0">
                <a:latin typeface="Arial MT"/>
                <a:cs typeface="Arial MT"/>
              </a:rPr>
              <a:t>block</a:t>
            </a:r>
            <a:r>
              <a:rPr sz="1800" spc="-15" dirty="0">
                <a:latin typeface="Arial MT"/>
                <a:cs typeface="Arial MT"/>
              </a:rPr>
              <a:t> </a:t>
            </a:r>
            <a:r>
              <a:rPr sz="1800" dirty="0">
                <a:latin typeface="Arial MT"/>
                <a:cs typeface="Arial MT"/>
              </a:rPr>
              <a:t>after</a:t>
            </a:r>
            <a:r>
              <a:rPr sz="1800" spc="-15" dirty="0">
                <a:latin typeface="Arial MT"/>
                <a:cs typeface="Arial MT"/>
              </a:rPr>
              <a:t> </a:t>
            </a:r>
            <a:r>
              <a:rPr sz="1800" dirty="0">
                <a:latin typeface="Arial MT"/>
                <a:cs typeface="Arial MT"/>
              </a:rPr>
              <a:t>a</a:t>
            </a:r>
            <a:r>
              <a:rPr sz="1800" spc="-15" dirty="0">
                <a:latin typeface="Arial MT"/>
                <a:cs typeface="Arial MT"/>
              </a:rPr>
              <a:t> </a:t>
            </a:r>
            <a:r>
              <a:rPr sz="1800" dirty="0">
                <a:latin typeface="Arial MT"/>
                <a:cs typeface="Arial MT"/>
              </a:rPr>
              <a:t>partial</a:t>
            </a:r>
            <a:r>
              <a:rPr sz="1800" spc="-10" dirty="0">
                <a:latin typeface="Arial MT"/>
                <a:cs typeface="Arial MT"/>
              </a:rPr>
              <a:t> allocation?</a:t>
            </a:r>
            <a:endParaRPr sz="1800" dirty="0">
              <a:latin typeface="Arial MT"/>
              <a:cs typeface="Arial MT"/>
            </a:endParaRPr>
          </a:p>
          <a:p>
            <a:pPr marL="431800" marR="17145" indent="-419734">
              <a:lnSpc>
                <a:spcPct val="150000"/>
              </a:lnSpc>
              <a:buFont typeface="Arial MT"/>
              <a:buAutoNum type="arabicPeriod"/>
              <a:tabLst>
                <a:tab pos="431800" algn="l"/>
              </a:tabLst>
            </a:pPr>
            <a:r>
              <a:rPr sz="1800" b="1" dirty="0">
                <a:latin typeface="Arial"/>
                <a:cs typeface="Arial"/>
              </a:rPr>
              <a:t>Coalescing:</a:t>
            </a:r>
            <a:r>
              <a:rPr sz="1800" b="1" spc="-25" dirty="0">
                <a:latin typeface="Arial"/>
                <a:cs typeface="Arial"/>
              </a:rPr>
              <a:t> </a:t>
            </a:r>
            <a:r>
              <a:rPr sz="1800" dirty="0">
                <a:latin typeface="Arial MT"/>
                <a:cs typeface="Arial MT"/>
              </a:rPr>
              <a:t>What</a:t>
            </a:r>
            <a:r>
              <a:rPr sz="1800" spc="-15" dirty="0">
                <a:latin typeface="Arial MT"/>
                <a:cs typeface="Arial MT"/>
              </a:rPr>
              <a:t> </a:t>
            </a:r>
            <a:r>
              <a:rPr sz="1800" dirty="0">
                <a:latin typeface="Arial MT"/>
                <a:cs typeface="Arial MT"/>
              </a:rPr>
              <a:t>steps</a:t>
            </a:r>
            <a:r>
              <a:rPr sz="1800" spc="-10" dirty="0">
                <a:latin typeface="Arial MT"/>
                <a:cs typeface="Arial MT"/>
              </a:rPr>
              <a:t> </a:t>
            </a:r>
            <a:r>
              <a:rPr sz="1800" dirty="0">
                <a:latin typeface="Arial MT"/>
                <a:cs typeface="Arial MT"/>
              </a:rPr>
              <a:t>should</a:t>
            </a:r>
            <a:r>
              <a:rPr sz="1800" spc="-15" dirty="0">
                <a:latin typeface="Arial MT"/>
                <a:cs typeface="Arial MT"/>
              </a:rPr>
              <a:t> </a:t>
            </a:r>
            <a:r>
              <a:rPr sz="1800" dirty="0">
                <a:latin typeface="Arial MT"/>
                <a:cs typeface="Arial MT"/>
              </a:rPr>
              <a:t>be</a:t>
            </a:r>
            <a:r>
              <a:rPr sz="1800" spc="-10" dirty="0">
                <a:latin typeface="Arial MT"/>
                <a:cs typeface="Arial MT"/>
              </a:rPr>
              <a:t> </a:t>
            </a:r>
            <a:r>
              <a:rPr sz="1800" dirty="0">
                <a:latin typeface="Arial MT"/>
                <a:cs typeface="Arial MT"/>
              </a:rPr>
              <a:t>taken</a:t>
            </a:r>
            <a:r>
              <a:rPr sz="1800" spc="-15" dirty="0">
                <a:latin typeface="Arial MT"/>
                <a:cs typeface="Arial MT"/>
              </a:rPr>
              <a:t> </a:t>
            </a:r>
            <a:r>
              <a:rPr sz="1800" dirty="0">
                <a:latin typeface="Arial MT"/>
                <a:cs typeface="Arial MT"/>
              </a:rPr>
              <a:t>when</a:t>
            </a:r>
            <a:r>
              <a:rPr sz="1800" spc="-15" dirty="0">
                <a:latin typeface="Arial MT"/>
                <a:cs typeface="Arial MT"/>
              </a:rPr>
              <a:t> </a:t>
            </a:r>
            <a:r>
              <a:rPr sz="1800" dirty="0">
                <a:latin typeface="Arial MT"/>
                <a:cs typeface="Arial MT"/>
              </a:rPr>
              <a:t>a</a:t>
            </a:r>
            <a:r>
              <a:rPr sz="1800" spc="-10" dirty="0">
                <a:latin typeface="Arial MT"/>
                <a:cs typeface="Arial MT"/>
              </a:rPr>
              <a:t> </a:t>
            </a:r>
            <a:r>
              <a:rPr sz="1800" dirty="0">
                <a:latin typeface="Arial MT"/>
                <a:cs typeface="Arial MT"/>
              </a:rPr>
              <a:t>block</a:t>
            </a:r>
            <a:r>
              <a:rPr sz="1800" spc="-15" dirty="0">
                <a:latin typeface="Arial MT"/>
                <a:cs typeface="Arial MT"/>
              </a:rPr>
              <a:t> </a:t>
            </a:r>
            <a:r>
              <a:rPr sz="1800" dirty="0">
                <a:latin typeface="Arial MT"/>
                <a:cs typeface="Arial MT"/>
              </a:rPr>
              <a:t>is</a:t>
            </a:r>
            <a:r>
              <a:rPr sz="1800" spc="-10" dirty="0">
                <a:latin typeface="Arial MT"/>
                <a:cs typeface="Arial MT"/>
              </a:rPr>
              <a:t> freed </a:t>
            </a:r>
            <a:r>
              <a:rPr sz="1800" dirty="0">
                <a:latin typeface="Arial MT"/>
                <a:cs typeface="Arial MT"/>
              </a:rPr>
              <a:t>to</a:t>
            </a:r>
            <a:r>
              <a:rPr sz="1800" spc="-20" dirty="0">
                <a:latin typeface="Arial MT"/>
                <a:cs typeface="Arial MT"/>
              </a:rPr>
              <a:t> </a:t>
            </a:r>
            <a:r>
              <a:rPr sz="1800" dirty="0">
                <a:latin typeface="Arial MT"/>
                <a:cs typeface="Arial MT"/>
              </a:rPr>
              <a:t>optimize</a:t>
            </a:r>
            <a:r>
              <a:rPr sz="1800" spc="-20" dirty="0">
                <a:latin typeface="Arial MT"/>
                <a:cs typeface="Arial MT"/>
              </a:rPr>
              <a:t> </a:t>
            </a:r>
            <a:r>
              <a:rPr sz="1800" dirty="0">
                <a:latin typeface="Arial MT"/>
                <a:cs typeface="Arial MT"/>
              </a:rPr>
              <a:t>memory</a:t>
            </a:r>
            <a:r>
              <a:rPr sz="1800" spc="-15" dirty="0">
                <a:latin typeface="Arial MT"/>
                <a:cs typeface="Arial MT"/>
              </a:rPr>
              <a:t> </a:t>
            </a:r>
            <a:r>
              <a:rPr sz="1800" spc="-10" dirty="0">
                <a:latin typeface="Arial MT"/>
                <a:cs typeface="Arial MT"/>
              </a:rPr>
              <a:t>usage?</a:t>
            </a:r>
            <a:endParaRPr sz="1800" dirty="0">
              <a:latin typeface="Arial MT"/>
              <a:cs typeface="Arial MT"/>
            </a:endParaRPr>
          </a:p>
        </p:txBody>
      </p:sp>
      <p:pic>
        <p:nvPicPr>
          <p:cNvPr id="4" name="object 4">
            <a:extLst>
              <a:ext uri="{C183D7F6-B498-43B3-948B-1728B52AA6E4}">
                <adec:decorative xmlns:adec="http://schemas.microsoft.com/office/drawing/2017/decorative" val="1"/>
              </a:ext>
            </a:extLst>
          </p:cNvPr>
          <p:cNvPicPr/>
          <p:nvPr/>
        </p:nvPicPr>
        <p:blipFill>
          <a:blip r:embed="rId3" cstate="print"/>
          <a:stretch>
            <a:fillRect/>
          </a:stretch>
        </p:blipFill>
        <p:spPr>
          <a:xfrm>
            <a:off x="7941025" y="2721525"/>
            <a:ext cx="3864199" cy="242154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Freeing</a:t>
            </a:r>
            <a:r>
              <a:rPr spc="-75" dirty="0"/>
              <a:t> </a:t>
            </a:r>
            <a:r>
              <a:rPr dirty="0"/>
              <a:t>memory</a:t>
            </a:r>
            <a:r>
              <a:rPr spc="-75" dirty="0"/>
              <a:t> </a:t>
            </a:r>
            <a:r>
              <a:rPr spc="-10" dirty="0"/>
              <a:t>blocks</a:t>
            </a:r>
          </a:p>
        </p:txBody>
      </p:sp>
      <p:sp>
        <p:nvSpPr>
          <p:cNvPr id="3" name="object 3"/>
          <p:cNvSpPr txBox="1"/>
          <p:nvPr/>
        </p:nvSpPr>
        <p:spPr>
          <a:xfrm>
            <a:off x="442844" y="2537180"/>
            <a:ext cx="5195956" cy="3482620"/>
          </a:xfrm>
          <a:prstGeom prst="rect">
            <a:avLst/>
          </a:prstGeom>
        </p:spPr>
        <p:txBody>
          <a:bodyPr vert="horz" wrap="square" lIns="0" tIns="12700" rIns="0" bIns="0" rtlCol="0">
            <a:spAutoFit/>
          </a:bodyPr>
          <a:lstStyle/>
          <a:p>
            <a:pPr marL="12700">
              <a:lnSpc>
                <a:spcPct val="114000"/>
              </a:lnSpc>
              <a:spcBef>
                <a:spcPts val="100"/>
              </a:spcBef>
            </a:pPr>
            <a:r>
              <a:rPr sz="1800" dirty="0">
                <a:latin typeface="Arial MT"/>
                <a:cs typeface="Arial MT"/>
              </a:rPr>
              <a:t>Modern</a:t>
            </a:r>
            <a:r>
              <a:rPr sz="1800" spc="-10" dirty="0">
                <a:latin typeface="Arial MT"/>
                <a:cs typeface="Arial MT"/>
              </a:rPr>
              <a:t> </a:t>
            </a:r>
            <a:r>
              <a:rPr sz="1800" dirty="0">
                <a:latin typeface="Arial MT"/>
                <a:cs typeface="Arial MT"/>
              </a:rPr>
              <a:t>systems</a:t>
            </a:r>
            <a:r>
              <a:rPr sz="1800" spc="-10" dirty="0">
                <a:latin typeface="Arial MT"/>
                <a:cs typeface="Arial MT"/>
              </a:rPr>
              <a:t> </a:t>
            </a:r>
            <a:r>
              <a:rPr sz="1800" dirty="0">
                <a:latin typeface="Arial MT"/>
                <a:cs typeface="Arial MT"/>
              </a:rPr>
              <a:t>are</a:t>
            </a:r>
            <a:r>
              <a:rPr sz="1800" spc="-5" dirty="0">
                <a:latin typeface="Arial MT"/>
                <a:cs typeface="Arial MT"/>
              </a:rPr>
              <a:t> </a:t>
            </a:r>
            <a:r>
              <a:rPr sz="1800" spc="-10" dirty="0">
                <a:latin typeface="Arial MT"/>
                <a:cs typeface="Arial MT"/>
              </a:rPr>
              <a:t>byte-addressed.</a:t>
            </a:r>
            <a:endParaRPr sz="1800" dirty="0">
              <a:latin typeface="Arial MT"/>
              <a:cs typeface="Arial MT"/>
            </a:endParaRPr>
          </a:p>
          <a:p>
            <a:pPr marL="12700" marR="228600">
              <a:lnSpc>
                <a:spcPct val="114000"/>
              </a:lnSpc>
              <a:spcBef>
                <a:spcPts val="1200"/>
              </a:spcBef>
            </a:pPr>
            <a:r>
              <a:rPr sz="1800" dirty="0">
                <a:latin typeface="Arial MT"/>
                <a:cs typeface="Arial MT"/>
              </a:rPr>
              <a:t>Each</a:t>
            </a:r>
            <a:r>
              <a:rPr sz="1800" spc="-15" dirty="0">
                <a:latin typeface="Arial MT"/>
                <a:cs typeface="Arial MT"/>
              </a:rPr>
              <a:t> </a:t>
            </a:r>
            <a:r>
              <a:rPr sz="1800" dirty="0">
                <a:latin typeface="Arial MT"/>
                <a:cs typeface="Arial MT"/>
              </a:rPr>
              <a:t>memory</a:t>
            </a:r>
            <a:r>
              <a:rPr sz="1800" spc="-10" dirty="0">
                <a:latin typeface="Arial MT"/>
                <a:cs typeface="Arial MT"/>
              </a:rPr>
              <a:t> </a:t>
            </a:r>
            <a:r>
              <a:rPr sz="1800" dirty="0">
                <a:latin typeface="Arial MT"/>
                <a:cs typeface="Arial MT"/>
              </a:rPr>
              <a:t>address</a:t>
            </a:r>
            <a:r>
              <a:rPr sz="1800" spc="-10" dirty="0">
                <a:latin typeface="Arial MT"/>
                <a:cs typeface="Arial MT"/>
              </a:rPr>
              <a:t> </a:t>
            </a:r>
            <a:r>
              <a:rPr sz="1800" dirty="0">
                <a:latin typeface="Arial MT"/>
                <a:cs typeface="Arial MT"/>
              </a:rPr>
              <a:t>refers</a:t>
            </a:r>
            <a:r>
              <a:rPr sz="1800" spc="-15" dirty="0">
                <a:latin typeface="Arial MT"/>
                <a:cs typeface="Arial MT"/>
              </a:rPr>
              <a:t> </a:t>
            </a:r>
            <a:r>
              <a:rPr sz="1800" dirty="0">
                <a:latin typeface="Arial MT"/>
                <a:cs typeface="Arial MT"/>
              </a:rPr>
              <a:t>to</a:t>
            </a:r>
            <a:r>
              <a:rPr sz="1800" spc="-10" dirty="0">
                <a:latin typeface="Arial MT"/>
                <a:cs typeface="Arial MT"/>
              </a:rPr>
              <a:t> </a:t>
            </a:r>
            <a:r>
              <a:rPr sz="1800" dirty="0">
                <a:latin typeface="Arial MT"/>
                <a:cs typeface="Arial MT"/>
              </a:rPr>
              <a:t>one</a:t>
            </a:r>
            <a:r>
              <a:rPr sz="1800" spc="-10" dirty="0">
                <a:latin typeface="Arial MT"/>
                <a:cs typeface="Arial MT"/>
              </a:rPr>
              <a:t> </a:t>
            </a:r>
            <a:r>
              <a:rPr sz="1800" dirty="0">
                <a:latin typeface="Arial MT"/>
                <a:cs typeface="Arial MT"/>
              </a:rPr>
              <a:t>byte</a:t>
            </a:r>
            <a:r>
              <a:rPr sz="1800" spc="-10" dirty="0">
                <a:latin typeface="Arial MT"/>
                <a:cs typeface="Arial MT"/>
              </a:rPr>
              <a:t> </a:t>
            </a:r>
            <a:r>
              <a:rPr sz="1800" spc="-25" dirty="0">
                <a:latin typeface="Arial MT"/>
                <a:cs typeface="Arial MT"/>
              </a:rPr>
              <a:t>(8 </a:t>
            </a:r>
            <a:r>
              <a:rPr sz="1800" spc="-10" dirty="0">
                <a:latin typeface="Arial MT"/>
                <a:cs typeface="Arial MT"/>
              </a:rPr>
              <a:t>bits).</a:t>
            </a:r>
            <a:endParaRPr sz="1800" dirty="0">
              <a:latin typeface="Arial MT"/>
              <a:cs typeface="Arial MT"/>
            </a:endParaRPr>
          </a:p>
          <a:p>
            <a:pPr marL="12700">
              <a:lnSpc>
                <a:spcPct val="114000"/>
              </a:lnSpc>
              <a:spcBef>
                <a:spcPts val="1520"/>
              </a:spcBef>
            </a:pPr>
            <a:r>
              <a:rPr sz="1800" dirty="0">
                <a:latin typeface="Arial MT"/>
                <a:cs typeface="Arial MT"/>
              </a:rPr>
              <a:t>A</a:t>
            </a:r>
            <a:r>
              <a:rPr sz="1800" spc="-120" dirty="0">
                <a:latin typeface="Arial MT"/>
                <a:cs typeface="Arial MT"/>
              </a:rPr>
              <a:t> </a:t>
            </a:r>
            <a:r>
              <a:rPr sz="1800" dirty="0">
                <a:latin typeface="Arial MT"/>
                <a:cs typeface="Arial MT"/>
              </a:rPr>
              <a:t>block</a:t>
            </a:r>
            <a:r>
              <a:rPr sz="1800" spc="-10" dirty="0">
                <a:latin typeface="Arial MT"/>
                <a:cs typeface="Arial MT"/>
              </a:rPr>
              <a:t> </a:t>
            </a:r>
            <a:r>
              <a:rPr sz="1800" dirty="0">
                <a:latin typeface="Arial MT"/>
                <a:cs typeface="Arial MT"/>
              </a:rPr>
              <a:t>is</a:t>
            </a:r>
            <a:r>
              <a:rPr sz="1800" spc="-10" dirty="0">
                <a:latin typeface="Arial MT"/>
                <a:cs typeface="Arial MT"/>
              </a:rPr>
              <a:t> </a:t>
            </a:r>
            <a:r>
              <a:rPr sz="1800" dirty="0">
                <a:latin typeface="Arial MT"/>
                <a:cs typeface="Arial MT"/>
              </a:rPr>
              <a:t>a</a:t>
            </a:r>
            <a:r>
              <a:rPr sz="1800" spc="-10" dirty="0">
                <a:latin typeface="Arial MT"/>
                <a:cs typeface="Arial MT"/>
              </a:rPr>
              <a:t> </a:t>
            </a:r>
            <a:r>
              <a:rPr sz="1800" dirty="0">
                <a:latin typeface="Arial MT"/>
                <a:cs typeface="Arial MT"/>
              </a:rPr>
              <a:t>group</a:t>
            </a:r>
            <a:r>
              <a:rPr sz="1800" spc="-10" dirty="0">
                <a:latin typeface="Arial MT"/>
                <a:cs typeface="Arial MT"/>
              </a:rPr>
              <a:t> </a:t>
            </a:r>
            <a:r>
              <a:rPr sz="1800" dirty="0">
                <a:latin typeface="Arial MT"/>
                <a:cs typeface="Arial MT"/>
              </a:rPr>
              <a:t>of</a:t>
            </a:r>
            <a:r>
              <a:rPr sz="1800" spc="-5" dirty="0">
                <a:latin typeface="Arial MT"/>
                <a:cs typeface="Arial MT"/>
              </a:rPr>
              <a:t> </a:t>
            </a:r>
            <a:r>
              <a:rPr sz="1800" spc="-10" dirty="0">
                <a:latin typeface="Arial MT"/>
                <a:cs typeface="Arial MT"/>
              </a:rPr>
              <a:t>bytes.</a:t>
            </a:r>
            <a:endParaRPr sz="1800" dirty="0">
              <a:latin typeface="Arial MT"/>
              <a:cs typeface="Arial MT"/>
            </a:endParaRPr>
          </a:p>
          <a:p>
            <a:pPr marL="12700" marR="5080">
              <a:lnSpc>
                <a:spcPct val="114000"/>
              </a:lnSpc>
              <a:spcBef>
                <a:spcPts val="1200"/>
              </a:spcBef>
            </a:pPr>
            <a:r>
              <a:rPr sz="1800" dirty="0">
                <a:latin typeface="Arial MT"/>
                <a:cs typeface="Arial MT"/>
              </a:rPr>
              <a:t>The</a:t>
            </a:r>
            <a:r>
              <a:rPr sz="1800" spc="-20" dirty="0">
                <a:latin typeface="Arial MT"/>
                <a:cs typeface="Arial MT"/>
              </a:rPr>
              <a:t> </a:t>
            </a:r>
            <a:r>
              <a:rPr sz="1800" b="1" dirty="0">
                <a:latin typeface="Arial"/>
                <a:cs typeface="Arial"/>
              </a:rPr>
              <a:t>heap</a:t>
            </a:r>
            <a:r>
              <a:rPr sz="1800" b="1" spc="-10" dirty="0">
                <a:latin typeface="Arial"/>
                <a:cs typeface="Arial"/>
              </a:rPr>
              <a:t> </a:t>
            </a:r>
            <a:r>
              <a:rPr sz="1800" dirty="0">
                <a:latin typeface="Arial MT"/>
                <a:cs typeface="Arial MT"/>
              </a:rPr>
              <a:t>(dynamic</a:t>
            </a:r>
            <a:r>
              <a:rPr sz="1800" spc="-15" dirty="0">
                <a:latin typeface="Arial MT"/>
                <a:cs typeface="Arial MT"/>
              </a:rPr>
              <a:t> </a:t>
            </a:r>
            <a:r>
              <a:rPr sz="1800" dirty="0">
                <a:latin typeface="Arial MT"/>
                <a:cs typeface="Arial MT"/>
              </a:rPr>
              <a:t>memory)</a:t>
            </a:r>
            <a:r>
              <a:rPr sz="1800" spc="-15" dirty="0">
                <a:latin typeface="Arial MT"/>
                <a:cs typeface="Arial MT"/>
              </a:rPr>
              <a:t> </a:t>
            </a:r>
            <a:r>
              <a:rPr sz="1800" dirty="0">
                <a:latin typeface="Arial MT"/>
                <a:cs typeface="Arial MT"/>
              </a:rPr>
              <a:t>is</a:t>
            </a:r>
            <a:r>
              <a:rPr sz="1800" spc="-15" dirty="0">
                <a:latin typeface="Arial MT"/>
                <a:cs typeface="Arial MT"/>
              </a:rPr>
              <a:t> </a:t>
            </a:r>
            <a:r>
              <a:rPr sz="1800" dirty="0">
                <a:latin typeface="Arial MT"/>
                <a:cs typeface="Arial MT"/>
              </a:rPr>
              <a:t>managed</a:t>
            </a:r>
            <a:r>
              <a:rPr sz="1800" spc="-10" dirty="0">
                <a:latin typeface="Arial MT"/>
                <a:cs typeface="Arial MT"/>
              </a:rPr>
              <a:t> </a:t>
            </a:r>
            <a:r>
              <a:rPr sz="1800" spc="-25" dirty="0">
                <a:latin typeface="Arial MT"/>
                <a:cs typeface="Arial MT"/>
              </a:rPr>
              <a:t>in </a:t>
            </a:r>
            <a:r>
              <a:rPr sz="1800" b="1" dirty="0">
                <a:latin typeface="Arial"/>
                <a:cs typeface="Arial"/>
              </a:rPr>
              <a:t>blocks</a:t>
            </a:r>
            <a:r>
              <a:rPr sz="1800" b="1" spc="-35" dirty="0">
                <a:latin typeface="Arial"/>
                <a:cs typeface="Arial"/>
              </a:rPr>
              <a:t> </a:t>
            </a:r>
            <a:r>
              <a:rPr sz="1800" dirty="0">
                <a:latin typeface="Arial MT"/>
                <a:cs typeface="Arial MT"/>
              </a:rPr>
              <a:t>of</a:t>
            </a:r>
            <a:r>
              <a:rPr sz="1800" spc="-25" dirty="0">
                <a:latin typeface="Arial MT"/>
                <a:cs typeface="Arial MT"/>
              </a:rPr>
              <a:t> </a:t>
            </a:r>
            <a:r>
              <a:rPr sz="1800" spc="-10" dirty="0">
                <a:latin typeface="Arial MT"/>
                <a:cs typeface="Arial MT"/>
              </a:rPr>
              <a:t>memory,</a:t>
            </a:r>
            <a:r>
              <a:rPr sz="1800" spc="-25" dirty="0">
                <a:latin typeface="Arial MT"/>
                <a:cs typeface="Arial MT"/>
              </a:rPr>
              <a:t> </a:t>
            </a:r>
            <a:r>
              <a:rPr sz="1800" dirty="0">
                <a:latin typeface="Arial MT"/>
                <a:cs typeface="Arial MT"/>
              </a:rPr>
              <a:t>and</a:t>
            </a:r>
            <a:r>
              <a:rPr sz="1800" spc="-20" dirty="0">
                <a:latin typeface="Arial MT"/>
                <a:cs typeface="Arial MT"/>
              </a:rPr>
              <a:t> </a:t>
            </a:r>
            <a:r>
              <a:rPr sz="1800" dirty="0">
                <a:latin typeface="Arial MT"/>
                <a:cs typeface="Arial MT"/>
              </a:rPr>
              <a:t>the</a:t>
            </a:r>
            <a:r>
              <a:rPr sz="1800" spc="-25" dirty="0">
                <a:latin typeface="Arial MT"/>
                <a:cs typeface="Arial MT"/>
              </a:rPr>
              <a:t> </a:t>
            </a:r>
            <a:r>
              <a:rPr sz="1800" dirty="0">
                <a:latin typeface="Arial MT"/>
                <a:cs typeface="Arial MT"/>
              </a:rPr>
              <a:t>size</a:t>
            </a:r>
            <a:r>
              <a:rPr sz="1800" spc="-25" dirty="0">
                <a:latin typeface="Arial MT"/>
                <a:cs typeface="Arial MT"/>
              </a:rPr>
              <a:t> </a:t>
            </a:r>
            <a:r>
              <a:rPr sz="1800" dirty="0">
                <a:latin typeface="Arial MT"/>
                <a:cs typeface="Arial MT"/>
              </a:rPr>
              <a:t>of</a:t>
            </a:r>
            <a:r>
              <a:rPr sz="1800" spc="-25" dirty="0">
                <a:latin typeface="Arial MT"/>
                <a:cs typeface="Arial MT"/>
              </a:rPr>
              <a:t> </a:t>
            </a:r>
            <a:r>
              <a:rPr sz="1800" dirty="0">
                <a:latin typeface="Arial MT"/>
                <a:cs typeface="Arial MT"/>
              </a:rPr>
              <a:t>each</a:t>
            </a:r>
            <a:r>
              <a:rPr sz="1800" spc="-20" dirty="0">
                <a:latin typeface="Arial MT"/>
                <a:cs typeface="Arial MT"/>
              </a:rPr>
              <a:t> </a:t>
            </a:r>
            <a:r>
              <a:rPr sz="1800" spc="-10" dirty="0">
                <a:latin typeface="Arial MT"/>
                <a:cs typeface="Arial MT"/>
              </a:rPr>
              <a:t>block </a:t>
            </a:r>
            <a:r>
              <a:rPr sz="1800" dirty="0">
                <a:latin typeface="Arial MT"/>
                <a:cs typeface="Arial MT"/>
              </a:rPr>
              <a:t>depends</a:t>
            </a:r>
            <a:r>
              <a:rPr sz="1800" spc="-20" dirty="0">
                <a:latin typeface="Arial MT"/>
                <a:cs typeface="Arial MT"/>
              </a:rPr>
              <a:t> </a:t>
            </a:r>
            <a:r>
              <a:rPr sz="1800" dirty="0">
                <a:latin typeface="Arial MT"/>
                <a:cs typeface="Arial MT"/>
              </a:rPr>
              <a:t>on</a:t>
            </a:r>
            <a:r>
              <a:rPr sz="1800" spc="-10" dirty="0">
                <a:latin typeface="Arial MT"/>
                <a:cs typeface="Arial MT"/>
              </a:rPr>
              <a:t> </a:t>
            </a:r>
            <a:r>
              <a:rPr sz="1800" dirty="0">
                <a:latin typeface="Arial MT"/>
                <a:cs typeface="Arial MT"/>
              </a:rPr>
              <a:t>the</a:t>
            </a:r>
            <a:r>
              <a:rPr sz="1800" spc="-10" dirty="0">
                <a:latin typeface="Arial MT"/>
                <a:cs typeface="Arial MT"/>
              </a:rPr>
              <a:t> </a:t>
            </a:r>
            <a:r>
              <a:rPr sz="1800" dirty="0">
                <a:latin typeface="Arial MT"/>
                <a:cs typeface="Arial MT"/>
              </a:rPr>
              <a:t>memory</a:t>
            </a:r>
            <a:r>
              <a:rPr sz="1800" spc="-5" dirty="0">
                <a:latin typeface="Arial MT"/>
                <a:cs typeface="Arial MT"/>
              </a:rPr>
              <a:t> </a:t>
            </a:r>
            <a:r>
              <a:rPr sz="1800" spc="-10" dirty="0">
                <a:latin typeface="Arial MT"/>
                <a:cs typeface="Arial MT"/>
              </a:rPr>
              <a:t>allocator.</a:t>
            </a:r>
            <a:endParaRPr sz="1800" dirty="0">
              <a:latin typeface="Arial MT"/>
              <a:cs typeface="Arial MT"/>
            </a:endParaRPr>
          </a:p>
          <a:p>
            <a:pPr marL="12700" marR="142875">
              <a:lnSpc>
                <a:spcPct val="114000"/>
              </a:lnSpc>
              <a:spcBef>
                <a:spcPts val="1200"/>
              </a:spcBef>
            </a:pPr>
            <a:r>
              <a:rPr sz="1800" dirty="0">
                <a:latin typeface="Arial MT"/>
                <a:cs typeface="Arial MT"/>
              </a:rPr>
              <a:t>Blocks</a:t>
            </a:r>
            <a:r>
              <a:rPr sz="1800" spc="-30" dirty="0">
                <a:latin typeface="Arial MT"/>
                <a:cs typeface="Arial MT"/>
              </a:rPr>
              <a:t> </a:t>
            </a:r>
            <a:r>
              <a:rPr sz="1800" dirty="0">
                <a:latin typeface="Arial MT"/>
                <a:cs typeface="Arial MT"/>
              </a:rPr>
              <a:t>are</a:t>
            </a:r>
            <a:r>
              <a:rPr sz="1800" spc="-20" dirty="0">
                <a:latin typeface="Arial MT"/>
                <a:cs typeface="Arial MT"/>
              </a:rPr>
              <a:t> </a:t>
            </a:r>
            <a:r>
              <a:rPr sz="1800" b="1" dirty="0">
                <a:latin typeface="Arial"/>
                <a:cs typeface="Arial"/>
              </a:rPr>
              <a:t>multiple</a:t>
            </a:r>
            <a:r>
              <a:rPr sz="1800" b="1" spc="-25" dirty="0">
                <a:latin typeface="Arial"/>
                <a:cs typeface="Arial"/>
              </a:rPr>
              <a:t> </a:t>
            </a:r>
            <a:r>
              <a:rPr sz="1800" b="1" dirty="0">
                <a:latin typeface="Arial"/>
                <a:cs typeface="Arial"/>
              </a:rPr>
              <a:t>bytes</a:t>
            </a:r>
            <a:r>
              <a:rPr sz="1800" b="1" spc="-30" dirty="0">
                <a:latin typeface="Arial"/>
                <a:cs typeface="Arial"/>
              </a:rPr>
              <a:t> </a:t>
            </a:r>
            <a:r>
              <a:rPr sz="1800" b="1" dirty="0">
                <a:latin typeface="Arial"/>
                <a:cs typeface="Arial"/>
              </a:rPr>
              <a:t>long</a:t>
            </a:r>
            <a:r>
              <a:rPr sz="1800" dirty="0">
                <a:latin typeface="Arial MT"/>
                <a:cs typeface="Arial MT"/>
              </a:rPr>
              <a:t>,</a:t>
            </a:r>
            <a:r>
              <a:rPr sz="1800" spc="-25" dirty="0">
                <a:latin typeface="Arial MT"/>
                <a:cs typeface="Arial MT"/>
              </a:rPr>
              <a:t> </a:t>
            </a:r>
            <a:r>
              <a:rPr sz="1800" spc="-10" dirty="0">
                <a:latin typeface="Arial MT"/>
                <a:cs typeface="Arial MT"/>
              </a:rPr>
              <a:t>usually </a:t>
            </a:r>
            <a:r>
              <a:rPr sz="1800" dirty="0">
                <a:latin typeface="Arial MT"/>
                <a:cs typeface="Arial MT"/>
              </a:rPr>
              <a:t>aligned</a:t>
            </a:r>
            <a:r>
              <a:rPr sz="1800" spc="-20" dirty="0">
                <a:latin typeface="Arial MT"/>
                <a:cs typeface="Arial MT"/>
              </a:rPr>
              <a:t> </a:t>
            </a:r>
            <a:r>
              <a:rPr sz="1800" dirty="0">
                <a:latin typeface="Arial MT"/>
                <a:cs typeface="Arial MT"/>
              </a:rPr>
              <a:t>to</a:t>
            </a:r>
            <a:r>
              <a:rPr sz="1800" spc="-20" dirty="0">
                <a:latin typeface="Arial MT"/>
                <a:cs typeface="Arial MT"/>
              </a:rPr>
              <a:t> </a:t>
            </a:r>
            <a:r>
              <a:rPr sz="1800" dirty="0">
                <a:latin typeface="Arial MT"/>
                <a:cs typeface="Arial MT"/>
              </a:rPr>
              <a:t>the</a:t>
            </a:r>
            <a:r>
              <a:rPr sz="1800" spc="-20" dirty="0">
                <a:latin typeface="Arial MT"/>
                <a:cs typeface="Arial MT"/>
              </a:rPr>
              <a:t> </a:t>
            </a:r>
            <a:r>
              <a:rPr sz="1800" dirty="0">
                <a:latin typeface="Arial MT"/>
                <a:cs typeface="Arial MT"/>
              </a:rPr>
              <a:t>system's</a:t>
            </a:r>
            <a:r>
              <a:rPr sz="1800" spc="-10" dirty="0">
                <a:latin typeface="Arial MT"/>
                <a:cs typeface="Arial MT"/>
              </a:rPr>
              <a:t> </a:t>
            </a:r>
            <a:r>
              <a:rPr sz="1800" b="1" dirty="0">
                <a:latin typeface="Arial"/>
                <a:cs typeface="Arial"/>
              </a:rPr>
              <a:t>word</a:t>
            </a:r>
            <a:r>
              <a:rPr sz="1800" b="1" spc="-20" dirty="0">
                <a:latin typeface="Arial"/>
                <a:cs typeface="Arial"/>
              </a:rPr>
              <a:t> </a:t>
            </a:r>
            <a:r>
              <a:rPr sz="1800" b="1" dirty="0">
                <a:latin typeface="Arial"/>
                <a:cs typeface="Arial"/>
              </a:rPr>
              <a:t>size</a:t>
            </a:r>
            <a:r>
              <a:rPr sz="1800" b="1" spc="-10" dirty="0">
                <a:latin typeface="Arial"/>
                <a:cs typeface="Arial"/>
              </a:rPr>
              <a:t> </a:t>
            </a:r>
            <a:r>
              <a:rPr sz="1800" dirty="0">
                <a:latin typeface="Arial MT"/>
                <a:cs typeface="Arial MT"/>
              </a:rPr>
              <a:t>(e.g.,</a:t>
            </a:r>
            <a:r>
              <a:rPr sz="1800" spc="-15" dirty="0">
                <a:latin typeface="Arial MT"/>
                <a:cs typeface="Arial MT"/>
              </a:rPr>
              <a:t> </a:t>
            </a:r>
            <a:r>
              <a:rPr sz="1800" spc="-50" dirty="0">
                <a:latin typeface="Arial MT"/>
                <a:cs typeface="Arial MT"/>
              </a:rPr>
              <a:t>4 </a:t>
            </a:r>
            <a:r>
              <a:rPr sz="1800" dirty="0">
                <a:latin typeface="Arial MT"/>
                <a:cs typeface="Arial MT"/>
              </a:rPr>
              <a:t>bytes</a:t>
            </a:r>
            <a:r>
              <a:rPr sz="1800" spc="-20" dirty="0">
                <a:latin typeface="Arial MT"/>
                <a:cs typeface="Arial MT"/>
              </a:rPr>
              <a:t> </a:t>
            </a:r>
            <a:r>
              <a:rPr sz="1800" dirty="0">
                <a:latin typeface="Arial MT"/>
                <a:cs typeface="Arial MT"/>
              </a:rPr>
              <a:t>on</a:t>
            </a:r>
            <a:r>
              <a:rPr sz="1800" spc="-5" dirty="0">
                <a:latin typeface="Arial MT"/>
                <a:cs typeface="Arial MT"/>
              </a:rPr>
              <a:t> </a:t>
            </a:r>
            <a:r>
              <a:rPr sz="1800" dirty="0">
                <a:latin typeface="Arial MT"/>
                <a:cs typeface="Arial MT"/>
              </a:rPr>
              <a:t>a</a:t>
            </a:r>
            <a:r>
              <a:rPr sz="1800" spc="-10" dirty="0">
                <a:latin typeface="Arial MT"/>
                <a:cs typeface="Arial MT"/>
              </a:rPr>
              <a:t> </a:t>
            </a:r>
            <a:br>
              <a:rPr lang="en-US" sz="1800" spc="-10" dirty="0">
                <a:latin typeface="Arial MT"/>
                <a:cs typeface="Arial MT"/>
              </a:rPr>
            </a:br>
            <a:r>
              <a:rPr sz="1800" spc="-10" dirty="0">
                <a:latin typeface="Arial MT"/>
                <a:cs typeface="Arial MT"/>
              </a:rPr>
              <a:t>32-</a:t>
            </a:r>
            <a:r>
              <a:rPr sz="1800" dirty="0">
                <a:latin typeface="Arial MT"/>
                <a:cs typeface="Arial MT"/>
              </a:rPr>
              <a:t>bit</a:t>
            </a:r>
            <a:r>
              <a:rPr sz="1800" spc="-5" dirty="0">
                <a:latin typeface="Arial MT"/>
                <a:cs typeface="Arial MT"/>
              </a:rPr>
              <a:t> </a:t>
            </a:r>
            <a:r>
              <a:rPr sz="1800" dirty="0">
                <a:latin typeface="Arial MT"/>
                <a:cs typeface="Arial MT"/>
              </a:rPr>
              <a:t>system,</a:t>
            </a:r>
            <a:r>
              <a:rPr sz="1800" spc="-10" dirty="0">
                <a:latin typeface="Arial MT"/>
                <a:cs typeface="Arial MT"/>
              </a:rPr>
              <a:t> </a:t>
            </a:r>
            <a:r>
              <a:rPr sz="1800" dirty="0">
                <a:latin typeface="Arial MT"/>
                <a:cs typeface="Arial MT"/>
              </a:rPr>
              <a:t>8</a:t>
            </a:r>
            <a:r>
              <a:rPr sz="1800" spc="-5" dirty="0">
                <a:latin typeface="Arial MT"/>
                <a:cs typeface="Arial MT"/>
              </a:rPr>
              <a:t> </a:t>
            </a:r>
            <a:r>
              <a:rPr sz="1800" dirty="0">
                <a:latin typeface="Arial MT"/>
                <a:cs typeface="Arial MT"/>
              </a:rPr>
              <a:t>bytes</a:t>
            </a:r>
            <a:r>
              <a:rPr sz="1800" spc="-10" dirty="0">
                <a:latin typeface="Arial MT"/>
                <a:cs typeface="Arial MT"/>
              </a:rPr>
              <a:t> </a:t>
            </a:r>
            <a:r>
              <a:rPr sz="1800" dirty="0">
                <a:latin typeface="Arial MT"/>
                <a:cs typeface="Arial MT"/>
              </a:rPr>
              <a:t>on</a:t>
            </a:r>
            <a:r>
              <a:rPr sz="1800" spc="-5" dirty="0">
                <a:latin typeface="Arial MT"/>
                <a:cs typeface="Arial MT"/>
              </a:rPr>
              <a:t> </a:t>
            </a:r>
            <a:r>
              <a:rPr sz="1800" dirty="0">
                <a:latin typeface="Arial MT"/>
                <a:cs typeface="Arial MT"/>
              </a:rPr>
              <a:t>a</a:t>
            </a:r>
            <a:r>
              <a:rPr sz="1800" spc="-5" dirty="0">
                <a:latin typeface="Arial MT"/>
                <a:cs typeface="Arial MT"/>
              </a:rPr>
              <a:t> </a:t>
            </a:r>
            <a:r>
              <a:rPr sz="1800" spc="-10" dirty="0">
                <a:latin typeface="Arial MT"/>
                <a:cs typeface="Arial MT"/>
              </a:rPr>
              <a:t>64-</a:t>
            </a:r>
            <a:r>
              <a:rPr sz="1800" spc="-25" dirty="0">
                <a:latin typeface="Arial MT"/>
                <a:cs typeface="Arial MT"/>
              </a:rPr>
              <a:t>bit </a:t>
            </a:r>
            <a:r>
              <a:rPr sz="1800" spc="-10" dirty="0">
                <a:latin typeface="Arial MT"/>
                <a:cs typeface="Arial MT"/>
              </a:rPr>
              <a:t>system).</a:t>
            </a:r>
            <a:endParaRPr sz="1800" dirty="0">
              <a:latin typeface="Arial MT"/>
              <a:cs typeface="Arial MT"/>
            </a:endParaRPr>
          </a:p>
        </p:txBody>
      </p:sp>
      <p:grpSp>
        <p:nvGrpSpPr>
          <p:cNvPr id="13" name="Group 12" descr="A conceptual diagram of a heap represented as a grid of 16 blocks. Five blocks are colored red (allocated) and five are colored green (free), illustrating the fragmentation of memory into 4-word allocated and 3-word free segments.">
            <a:extLst>
              <a:ext uri="{FF2B5EF4-FFF2-40B4-BE49-F238E27FC236}">
                <a16:creationId xmlns:a16="http://schemas.microsoft.com/office/drawing/2014/main" id="{43FFA50D-1F34-E33D-DD58-289907FEE41B}"/>
              </a:ext>
            </a:extLst>
          </p:cNvPr>
          <p:cNvGrpSpPr/>
          <p:nvPr/>
        </p:nvGrpSpPr>
        <p:grpSpPr>
          <a:xfrm>
            <a:off x="5754119" y="2141981"/>
            <a:ext cx="5828281" cy="1662190"/>
            <a:chOff x="5754119" y="2141981"/>
            <a:chExt cx="5828281" cy="1662190"/>
          </a:xfrm>
        </p:grpSpPr>
        <p:sp>
          <p:nvSpPr>
            <p:cNvPr id="7" name="object 7"/>
            <p:cNvSpPr txBox="1"/>
            <p:nvPr/>
          </p:nvSpPr>
          <p:spPr>
            <a:xfrm>
              <a:off x="8393226" y="2141981"/>
              <a:ext cx="584200" cy="299720"/>
            </a:xfrm>
            <a:prstGeom prst="rect">
              <a:avLst/>
            </a:prstGeom>
          </p:spPr>
          <p:txBody>
            <a:bodyPr vert="horz" wrap="square" lIns="0" tIns="12700" rIns="0" bIns="0" rtlCol="0">
              <a:spAutoFit/>
            </a:bodyPr>
            <a:lstStyle/>
            <a:p>
              <a:pPr marL="12700">
                <a:lnSpc>
                  <a:spcPct val="100000"/>
                </a:lnSpc>
                <a:spcBef>
                  <a:spcPts val="100"/>
                </a:spcBef>
              </a:pPr>
              <a:r>
                <a:rPr sz="1800" b="1" spc="-20" dirty="0">
                  <a:solidFill>
                    <a:srgbClr val="0F2044"/>
                  </a:solidFill>
                  <a:latin typeface="Arial"/>
                  <a:cs typeface="Arial"/>
                </a:rPr>
                <a:t>Heap</a:t>
              </a:r>
              <a:endParaRPr sz="1800" dirty="0">
                <a:latin typeface="Arial"/>
                <a:cs typeface="Arial"/>
              </a:endParaRPr>
            </a:p>
          </p:txBody>
        </p:sp>
        <p:sp>
          <p:nvSpPr>
            <p:cNvPr id="5" name="object 5"/>
            <p:cNvSpPr txBox="1"/>
            <p:nvPr/>
          </p:nvSpPr>
          <p:spPr>
            <a:xfrm>
              <a:off x="6289938" y="3298904"/>
              <a:ext cx="894156" cy="505267"/>
            </a:xfrm>
            <a:prstGeom prst="rect">
              <a:avLst/>
            </a:prstGeom>
          </p:spPr>
          <p:txBody>
            <a:bodyPr vert="horz" wrap="none" lIns="0" tIns="12700" rIns="0" bIns="0" rtlCol="0">
              <a:spAutoFit/>
            </a:bodyPr>
            <a:lstStyle/>
            <a:p>
              <a:pPr marL="12700" marR="5080" indent="12065">
                <a:lnSpc>
                  <a:spcPct val="100000"/>
                </a:lnSpc>
                <a:spcBef>
                  <a:spcPts val="100"/>
                </a:spcBef>
              </a:pPr>
              <a:r>
                <a:rPr sz="1600" spc="-10" dirty="0">
                  <a:solidFill>
                    <a:srgbClr val="0F2044"/>
                  </a:solidFill>
                  <a:latin typeface="Arial MT"/>
                  <a:cs typeface="Arial MT"/>
                </a:rPr>
                <a:t>allocated </a:t>
              </a:r>
              <a:br>
                <a:rPr lang="en-US" sz="1600" spc="-10" dirty="0">
                  <a:solidFill>
                    <a:srgbClr val="0F2044"/>
                  </a:solidFill>
                  <a:latin typeface="Arial MT"/>
                  <a:cs typeface="Arial MT"/>
                </a:rPr>
              </a:br>
              <a:r>
                <a:rPr sz="1600" dirty="0">
                  <a:solidFill>
                    <a:srgbClr val="0F2044"/>
                  </a:solidFill>
                  <a:latin typeface="Arial MT"/>
                  <a:cs typeface="Arial MT"/>
                </a:rPr>
                <a:t>(4</a:t>
              </a:r>
              <a:r>
                <a:rPr sz="1600" spc="-10" dirty="0">
                  <a:solidFill>
                    <a:srgbClr val="0F2044"/>
                  </a:solidFill>
                  <a:latin typeface="Arial MT"/>
                  <a:cs typeface="Arial MT"/>
                </a:rPr>
                <a:t> words)</a:t>
              </a:r>
              <a:endParaRPr sz="1600" dirty="0">
                <a:latin typeface="Arial MT"/>
                <a:cs typeface="Arial MT"/>
              </a:endParaRPr>
            </a:p>
          </p:txBody>
        </p:sp>
        <p:sp>
          <p:nvSpPr>
            <p:cNvPr id="6" name="object 6"/>
            <p:cNvSpPr txBox="1"/>
            <p:nvPr/>
          </p:nvSpPr>
          <p:spPr>
            <a:xfrm>
              <a:off x="10128375" y="3298904"/>
              <a:ext cx="847027" cy="505267"/>
            </a:xfrm>
            <a:prstGeom prst="rect">
              <a:avLst/>
            </a:prstGeom>
          </p:spPr>
          <p:txBody>
            <a:bodyPr vert="horz" wrap="none" lIns="0" tIns="12700" rIns="0" bIns="0" rtlCol="0">
              <a:spAutoFit/>
            </a:bodyPr>
            <a:lstStyle/>
            <a:p>
              <a:pPr algn="ctr">
                <a:lnSpc>
                  <a:spcPct val="100000"/>
                </a:lnSpc>
                <a:spcBef>
                  <a:spcPts val="100"/>
                </a:spcBef>
              </a:pPr>
              <a:r>
                <a:rPr sz="1600" spc="-20" dirty="0">
                  <a:solidFill>
                    <a:srgbClr val="0F2044"/>
                  </a:solidFill>
                  <a:latin typeface="Arial MT"/>
                  <a:cs typeface="Arial MT"/>
                </a:rPr>
                <a:t>free</a:t>
              </a:r>
              <a:endParaRPr sz="1600" dirty="0">
                <a:latin typeface="Arial MT"/>
                <a:cs typeface="Arial MT"/>
              </a:endParaRPr>
            </a:p>
            <a:p>
              <a:pPr algn="ctr">
                <a:lnSpc>
                  <a:spcPct val="100000"/>
                </a:lnSpc>
              </a:pPr>
              <a:r>
                <a:rPr sz="1600" dirty="0">
                  <a:solidFill>
                    <a:srgbClr val="0F2044"/>
                  </a:solidFill>
                  <a:latin typeface="Arial MT"/>
                  <a:cs typeface="Arial MT"/>
                </a:rPr>
                <a:t>(3</a:t>
              </a:r>
              <a:r>
                <a:rPr sz="1600" spc="-10" dirty="0">
                  <a:solidFill>
                    <a:srgbClr val="0F2044"/>
                  </a:solidFill>
                  <a:latin typeface="Arial MT"/>
                  <a:cs typeface="Arial MT"/>
                </a:rPr>
                <a:t> words)</a:t>
              </a:r>
              <a:endParaRPr sz="1600" dirty="0">
                <a:latin typeface="Arial MT"/>
                <a:cs typeface="Arial MT"/>
              </a:endParaRPr>
            </a:p>
          </p:txBody>
        </p:sp>
        <p:pic>
          <p:nvPicPr>
            <p:cNvPr id="12" name="Picture 11">
              <a:extLst>
                <a:ext uri="{FF2B5EF4-FFF2-40B4-BE49-F238E27FC236}">
                  <a16:creationId xmlns:a16="http://schemas.microsoft.com/office/drawing/2014/main" id="{CF318ABE-3C15-C3BE-6C5F-B07B5A0C19CA}"/>
                </a:ext>
              </a:extLst>
            </p:cNvPr>
            <p:cNvPicPr>
              <a:picLocks noChangeAspect="1"/>
            </p:cNvPicPr>
            <p:nvPr/>
          </p:nvPicPr>
          <p:blipFill>
            <a:blip r:embed="rId3"/>
            <a:stretch>
              <a:fillRect/>
            </a:stretch>
          </p:blipFill>
          <p:spPr>
            <a:xfrm>
              <a:off x="5754119" y="2613764"/>
              <a:ext cx="5828281" cy="493819"/>
            </a:xfrm>
            <a:prstGeom prst="rect">
              <a:avLst/>
            </a:prstGeom>
          </p:spPr>
        </p:pic>
      </p:grpSp>
      <p:sp>
        <p:nvSpPr>
          <p:cNvPr id="8" name="object 8"/>
          <p:cNvSpPr txBox="1"/>
          <p:nvPr/>
        </p:nvSpPr>
        <p:spPr>
          <a:xfrm>
            <a:off x="5782000" y="4269449"/>
            <a:ext cx="2185670" cy="1708416"/>
          </a:xfrm>
          <a:prstGeom prst="rect">
            <a:avLst/>
          </a:prstGeom>
          <a:ln w="9524">
            <a:solidFill>
              <a:srgbClr val="000000"/>
            </a:solidFill>
          </a:ln>
        </p:spPr>
        <p:txBody>
          <a:bodyPr vert="horz" wrap="square" lIns="0" tIns="76200" rIns="0" bIns="0" rtlCol="0">
            <a:spAutoFit/>
          </a:bodyPr>
          <a:lstStyle/>
          <a:p>
            <a:pPr marL="85090" marR="574675" algn="just">
              <a:lnSpc>
                <a:spcPct val="120000"/>
              </a:lnSpc>
              <a:spcBef>
                <a:spcPts val="600"/>
              </a:spcBef>
            </a:pPr>
            <a:r>
              <a:rPr sz="1800" dirty="0">
                <a:solidFill>
                  <a:srgbClr val="0F2044"/>
                </a:solidFill>
                <a:latin typeface="Arial MT"/>
                <a:cs typeface="Arial MT"/>
              </a:rPr>
              <a:t>p1</a:t>
            </a:r>
            <a:r>
              <a:rPr sz="1800" spc="-10" dirty="0">
                <a:solidFill>
                  <a:srgbClr val="0F2044"/>
                </a:solidFill>
                <a:latin typeface="Arial MT"/>
                <a:cs typeface="Arial MT"/>
              </a:rPr>
              <a:t> </a:t>
            </a:r>
            <a:r>
              <a:rPr sz="1800" dirty="0">
                <a:solidFill>
                  <a:srgbClr val="0F2044"/>
                </a:solidFill>
                <a:latin typeface="Arial MT"/>
                <a:cs typeface="Arial MT"/>
              </a:rPr>
              <a:t>=</a:t>
            </a:r>
            <a:r>
              <a:rPr sz="1800" spc="-5" dirty="0">
                <a:solidFill>
                  <a:srgbClr val="0F2044"/>
                </a:solidFill>
                <a:latin typeface="Arial MT"/>
                <a:cs typeface="Arial MT"/>
              </a:rPr>
              <a:t> </a:t>
            </a:r>
            <a:r>
              <a:rPr sz="1800" dirty="0">
                <a:solidFill>
                  <a:srgbClr val="0F2044"/>
                </a:solidFill>
                <a:latin typeface="Arial MT"/>
                <a:cs typeface="Arial MT"/>
              </a:rPr>
              <a:t>malloc</a:t>
            </a:r>
            <a:r>
              <a:rPr sz="1800" spc="-5" dirty="0">
                <a:solidFill>
                  <a:srgbClr val="0F2044"/>
                </a:solidFill>
                <a:latin typeface="Arial MT"/>
                <a:cs typeface="Arial MT"/>
              </a:rPr>
              <a:t> </a:t>
            </a:r>
            <a:r>
              <a:rPr sz="1800" spc="-25" dirty="0">
                <a:solidFill>
                  <a:srgbClr val="0F2044"/>
                </a:solidFill>
                <a:latin typeface="Arial MT"/>
                <a:cs typeface="Arial MT"/>
              </a:rPr>
              <a:t>(4) </a:t>
            </a:r>
            <a:r>
              <a:rPr sz="1800" dirty="0">
                <a:solidFill>
                  <a:srgbClr val="0F2044"/>
                </a:solidFill>
                <a:latin typeface="Arial MT"/>
                <a:cs typeface="Arial MT"/>
              </a:rPr>
              <a:t>p2</a:t>
            </a:r>
            <a:r>
              <a:rPr sz="1800" spc="-10" dirty="0">
                <a:solidFill>
                  <a:srgbClr val="0F2044"/>
                </a:solidFill>
                <a:latin typeface="Arial MT"/>
                <a:cs typeface="Arial MT"/>
              </a:rPr>
              <a:t> </a:t>
            </a:r>
            <a:r>
              <a:rPr sz="1800" dirty="0">
                <a:solidFill>
                  <a:srgbClr val="0F2044"/>
                </a:solidFill>
                <a:latin typeface="Arial MT"/>
                <a:cs typeface="Arial MT"/>
              </a:rPr>
              <a:t>=</a:t>
            </a:r>
            <a:r>
              <a:rPr sz="1800" spc="-5" dirty="0">
                <a:solidFill>
                  <a:srgbClr val="0F2044"/>
                </a:solidFill>
                <a:latin typeface="Arial MT"/>
                <a:cs typeface="Arial MT"/>
              </a:rPr>
              <a:t> </a:t>
            </a:r>
            <a:r>
              <a:rPr sz="1800" dirty="0">
                <a:solidFill>
                  <a:srgbClr val="0F2044"/>
                </a:solidFill>
                <a:latin typeface="Arial MT"/>
                <a:cs typeface="Arial MT"/>
              </a:rPr>
              <a:t>malloc</a:t>
            </a:r>
            <a:r>
              <a:rPr sz="1800" spc="-5" dirty="0">
                <a:solidFill>
                  <a:srgbClr val="0F2044"/>
                </a:solidFill>
                <a:latin typeface="Arial MT"/>
                <a:cs typeface="Arial MT"/>
              </a:rPr>
              <a:t> </a:t>
            </a:r>
            <a:r>
              <a:rPr sz="1800" spc="-25" dirty="0">
                <a:solidFill>
                  <a:srgbClr val="0F2044"/>
                </a:solidFill>
                <a:latin typeface="Arial MT"/>
                <a:cs typeface="Arial MT"/>
              </a:rPr>
              <a:t>(5) </a:t>
            </a:r>
            <a:r>
              <a:rPr sz="1800" dirty="0">
                <a:solidFill>
                  <a:srgbClr val="0F2044"/>
                </a:solidFill>
                <a:latin typeface="Arial MT"/>
                <a:cs typeface="Arial MT"/>
              </a:rPr>
              <a:t>p3</a:t>
            </a:r>
            <a:r>
              <a:rPr sz="1800" spc="-10" dirty="0">
                <a:solidFill>
                  <a:srgbClr val="0F2044"/>
                </a:solidFill>
                <a:latin typeface="Arial MT"/>
                <a:cs typeface="Arial MT"/>
              </a:rPr>
              <a:t> </a:t>
            </a:r>
            <a:r>
              <a:rPr sz="1800" dirty="0">
                <a:solidFill>
                  <a:srgbClr val="0F2044"/>
                </a:solidFill>
                <a:latin typeface="Arial MT"/>
                <a:cs typeface="Arial MT"/>
              </a:rPr>
              <a:t>=</a:t>
            </a:r>
            <a:r>
              <a:rPr sz="1800" spc="-5" dirty="0">
                <a:solidFill>
                  <a:srgbClr val="0F2044"/>
                </a:solidFill>
                <a:latin typeface="Arial MT"/>
                <a:cs typeface="Arial MT"/>
              </a:rPr>
              <a:t> </a:t>
            </a:r>
            <a:r>
              <a:rPr sz="1800" dirty="0">
                <a:solidFill>
                  <a:srgbClr val="0F2044"/>
                </a:solidFill>
                <a:latin typeface="Arial MT"/>
                <a:cs typeface="Arial MT"/>
              </a:rPr>
              <a:t>malloc</a:t>
            </a:r>
            <a:r>
              <a:rPr sz="1800" spc="-5" dirty="0">
                <a:solidFill>
                  <a:srgbClr val="0F2044"/>
                </a:solidFill>
                <a:latin typeface="Arial MT"/>
                <a:cs typeface="Arial MT"/>
              </a:rPr>
              <a:t> </a:t>
            </a:r>
            <a:r>
              <a:rPr sz="1800" spc="-25" dirty="0">
                <a:solidFill>
                  <a:srgbClr val="0F2044"/>
                </a:solidFill>
                <a:latin typeface="Arial MT"/>
                <a:cs typeface="Arial MT"/>
              </a:rPr>
              <a:t>(6) </a:t>
            </a:r>
            <a:r>
              <a:rPr sz="1800" dirty="0">
                <a:solidFill>
                  <a:srgbClr val="0F2044"/>
                </a:solidFill>
                <a:latin typeface="Arial MT"/>
                <a:cs typeface="Arial MT"/>
              </a:rPr>
              <a:t>free</a:t>
            </a:r>
            <a:r>
              <a:rPr sz="1800" spc="-20" dirty="0">
                <a:solidFill>
                  <a:srgbClr val="0F2044"/>
                </a:solidFill>
                <a:latin typeface="Arial MT"/>
                <a:cs typeface="Arial MT"/>
              </a:rPr>
              <a:t> (p2)</a:t>
            </a:r>
            <a:endParaRPr sz="1800" dirty="0">
              <a:latin typeface="Arial MT"/>
              <a:cs typeface="Arial MT"/>
            </a:endParaRPr>
          </a:p>
          <a:p>
            <a:pPr marL="85090" algn="just">
              <a:lnSpc>
                <a:spcPct val="120000"/>
              </a:lnSpc>
              <a:spcAft>
                <a:spcPts val="600"/>
              </a:spcAft>
            </a:pPr>
            <a:r>
              <a:rPr sz="1800" dirty="0">
                <a:solidFill>
                  <a:srgbClr val="0F2044"/>
                </a:solidFill>
                <a:latin typeface="Arial MT"/>
                <a:cs typeface="Arial MT"/>
              </a:rPr>
              <a:t>p4</a:t>
            </a:r>
            <a:r>
              <a:rPr sz="1800" spc="-10" dirty="0">
                <a:solidFill>
                  <a:srgbClr val="0F2044"/>
                </a:solidFill>
                <a:latin typeface="Arial MT"/>
                <a:cs typeface="Arial MT"/>
              </a:rPr>
              <a:t> </a:t>
            </a:r>
            <a:r>
              <a:rPr sz="1800" dirty="0">
                <a:solidFill>
                  <a:srgbClr val="0F2044"/>
                </a:solidFill>
                <a:latin typeface="Arial MT"/>
                <a:cs typeface="Arial MT"/>
              </a:rPr>
              <a:t>=</a:t>
            </a:r>
            <a:r>
              <a:rPr sz="1800" spc="-5" dirty="0">
                <a:solidFill>
                  <a:srgbClr val="0F2044"/>
                </a:solidFill>
                <a:latin typeface="Arial MT"/>
                <a:cs typeface="Arial MT"/>
              </a:rPr>
              <a:t> </a:t>
            </a:r>
            <a:r>
              <a:rPr sz="1800" dirty="0">
                <a:solidFill>
                  <a:srgbClr val="0F2044"/>
                </a:solidFill>
                <a:latin typeface="Arial MT"/>
                <a:cs typeface="Arial MT"/>
              </a:rPr>
              <a:t>malloc</a:t>
            </a:r>
            <a:r>
              <a:rPr sz="1800" spc="-5" dirty="0">
                <a:solidFill>
                  <a:srgbClr val="0F2044"/>
                </a:solidFill>
                <a:latin typeface="Arial MT"/>
                <a:cs typeface="Arial MT"/>
              </a:rPr>
              <a:t> </a:t>
            </a:r>
            <a:r>
              <a:rPr sz="1800" spc="-25" dirty="0">
                <a:solidFill>
                  <a:srgbClr val="0F2044"/>
                </a:solidFill>
                <a:latin typeface="Arial MT"/>
                <a:cs typeface="Arial MT"/>
              </a:rPr>
              <a:t>(2)</a:t>
            </a:r>
            <a:endParaRPr sz="1800" dirty="0">
              <a:latin typeface="Arial MT"/>
              <a:cs typeface="Arial MT"/>
            </a:endParaRPr>
          </a:p>
        </p:txBody>
      </p:sp>
      <p:sp>
        <p:nvSpPr>
          <p:cNvPr id="9" name="object 9"/>
          <p:cNvSpPr txBox="1"/>
          <p:nvPr/>
        </p:nvSpPr>
        <p:spPr>
          <a:xfrm>
            <a:off x="8236301" y="4748831"/>
            <a:ext cx="3213735" cy="618054"/>
          </a:xfrm>
          <a:prstGeom prst="rect">
            <a:avLst/>
          </a:prstGeom>
        </p:spPr>
        <p:txBody>
          <a:bodyPr vert="horz" wrap="square" lIns="0" tIns="12700" rIns="0" bIns="0" rtlCol="0">
            <a:spAutoFit/>
          </a:bodyPr>
          <a:lstStyle/>
          <a:p>
            <a:pPr marL="12700" marR="5080">
              <a:lnSpc>
                <a:spcPct val="114000"/>
              </a:lnSpc>
              <a:spcBef>
                <a:spcPts val="100"/>
              </a:spcBef>
            </a:pPr>
            <a:r>
              <a:rPr sz="1800" dirty="0">
                <a:solidFill>
                  <a:srgbClr val="0F2044"/>
                </a:solidFill>
                <a:latin typeface="Arial MT"/>
                <a:cs typeface="Arial MT"/>
              </a:rPr>
              <a:t>What</a:t>
            </a:r>
            <a:r>
              <a:rPr sz="1800" spc="-30" dirty="0">
                <a:solidFill>
                  <a:srgbClr val="0F2044"/>
                </a:solidFill>
                <a:latin typeface="Arial MT"/>
                <a:cs typeface="Arial MT"/>
              </a:rPr>
              <a:t> </a:t>
            </a:r>
            <a:r>
              <a:rPr sz="1800" dirty="0">
                <a:solidFill>
                  <a:srgbClr val="0F2044"/>
                </a:solidFill>
                <a:latin typeface="Arial MT"/>
                <a:cs typeface="Arial MT"/>
              </a:rPr>
              <a:t>information</a:t>
            </a:r>
            <a:r>
              <a:rPr sz="1800" spc="-25" dirty="0">
                <a:solidFill>
                  <a:srgbClr val="0F2044"/>
                </a:solidFill>
                <a:latin typeface="Arial MT"/>
                <a:cs typeface="Arial MT"/>
              </a:rPr>
              <a:t> </a:t>
            </a:r>
            <a:r>
              <a:rPr sz="1800" dirty="0">
                <a:solidFill>
                  <a:srgbClr val="0F2044"/>
                </a:solidFill>
                <a:latin typeface="Arial MT"/>
                <a:cs typeface="Arial MT"/>
              </a:rPr>
              <a:t>does</a:t>
            </a:r>
            <a:r>
              <a:rPr sz="1800" spc="-25" dirty="0">
                <a:solidFill>
                  <a:srgbClr val="0F2044"/>
                </a:solidFill>
                <a:latin typeface="Arial MT"/>
                <a:cs typeface="Arial MT"/>
              </a:rPr>
              <a:t> the </a:t>
            </a:r>
            <a:r>
              <a:rPr sz="1800" dirty="0">
                <a:solidFill>
                  <a:srgbClr val="0F2044"/>
                </a:solidFill>
                <a:latin typeface="Arial MT"/>
                <a:cs typeface="Arial MT"/>
              </a:rPr>
              <a:t>allocator</a:t>
            </a:r>
            <a:r>
              <a:rPr sz="1800" spc="-25" dirty="0">
                <a:solidFill>
                  <a:srgbClr val="0F2044"/>
                </a:solidFill>
                <a:latin typeface="Arial MT"/>
                <a:cs typeface="Arial MT"/>
              </a:rPr>
              <a:t> </a:t>
            </a:r>
            <a:r>
              <a:rPr sz="1800" dirty="0">
                <a:solidFill>
                  <a:srgbClr val="0F2044"/>
                </a:solidFill>
                <a:latin typeface="Arial MT"/>
                <a:cs typeface="Arial MT"/>
              </a:rPr>
              <a:t>need</a:t>
            </a:r>
            <a:r>
              <a:rPr sz="1800" spc="-10" dirty="0">
                <a:solidFill>
                  <a:srgbClr val="0F2044"/>
                </a:solidFill>
                <a:latin typeface="Arial MT"/>
                <a:cs typeface="Arial MT"/>
              </a:rPr>
              <a:t> </a:t>
            </a:r>
            <a:r>
              <a:rPr sz="1800" dirty="0">
                <a:solidFill>
                  <a:srgbClr val="0F2044"/>
                </a:solidFill>
                <a:latin typeface="Arial MT"/>
                <a:cs typeface="Arial MT"/>
              </a:rPr>
              <a:t>to</a:t>
            </a:r>
            <a:r>
              <a:rPr sz="1800" spc="-15" dirty="0">
                <a:solidFill>
                  <a:srgbClr val="0F2044"/>
                </a:solidFill>
                <a:latin typeface="Arial MT"/>
                <a:cs typeface="Arial MT"/>
              </a:rPr>
              <a:t> </a:t>
            </a:r>
            <a:r>
              <a:rPr sz="1800" dirty="0">
                <a:solidFill>
                  <a:srgbClr val="0F2044"/>
                </a:solidFill>
                <a:latin typeface="Arial MT"/>
                <a:cs typeface="Arial MT"/>
              </a:rPr>
              <a:t>keep</a:t>
            </a:r>
            <a:r>
              <a:rPr sz="1800" spc="-10" dirty="0">
                <a:solidFill>
                  <a:srgbClr val="0F2044"/>
                </a:solidFill>
                <a:latin typeface="Arial MT"/>
                <a:cs typeface="Arial MT"/>
              </a:rPr>
              <a:t> </a:t>
            </a:r>
            <a:r>
              <a:rPr sz="1800" dirty="0">
                <a:solidFill>
                  <a:srgbClr val="0F2044"/>
                </a:solidFill>
                <a:latin typeface="Arial MT"/>
                <a:cs typeface="Arial MT"/>
              </a:rPr>
              <a:t>track</a:t>
            </a:r>
            <a:r>
              <a:rPr sz="1800" spc="-10" dirty="0">
                <a:solidFill>
                  <a:srgbClr val="0F2044"/>
                </a:solidFill>
                <a:latin typeface="Arial MT"/>
                <a:cs typeface="Arial MT"/>
              </a:rPr>
              <a:t> </a:t>
            </a:r>
            <a:r>
              <a:rPr sz="1800" spc="-25" dirty="0">
                <a:solidFill>
                  <a:srgbClr val="0F2044"/>
                </a:solidFill>
                <a:latin typeface="Arial MT"/>
                <a:cs typeface="Arial MT"/>
              </a:rPr>
              <a:t>of?</a:t>
            </a:r>
            <a:endParaRPr sz="1800">
              <a:latin typeface="Arial MT"/>
              <a:cs typeface="Arial M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Freeing</a:t>
            </a:r>
            <a:r>
              <a:rPr spc="-75" dirty="0"/>
              <a:t> </a:t>
            </a:r>
            <a:r>
              <a:rPr dirty="0"/>
              <a:t>memory</a:t>
            </a:r>
            <a:r>
              <a:rPr spc="-75" dirty="0"/>
              <a:t> </a:t>
            </a:r>
            <a:r>
              <a:rPr spc="-10" dirty="0"/>
              <a:t>blocks</a:t>
            </a:r>
          </a:p>
        </p:txBody>
      </p:sp>
      <p:sp>
        <p:nvSpPr>
          <p:cNvPr id="3" name="object 3"/>
          <p:cNvSpPr txBox="1"/>
          <p:nvPr/>
        </p:nvSpPr>
        <p:spPr>
          <a:xfrm>
            <a:off x="410375" y="3286056"/>
            <a:ext cx="3632835" cy="1398905"/>
          </a:xfrm>
          <a:prstGeom prst="rect">
            <a:avLst/>
          </a:prstGeom>
        </p:spPr>
        <p:txBody>
          <a:bodyPr vert="horz" wrap="square" lIns="0" tIns="12700" rIns="0" bIns="0" rtlCol="0">
            <a:spAutoFit/>
          </a:bodyPr>
          <a:lstStyle/>
          <a:p>
            <a:pPr marL="12700">
              <a:lnSpc>
                <a:spcPct val="114000"/>
              </a:lnSpc>
              <a:spcBef>
                <a:spcPts val="100"/>
              </a:spcBef>
            </a:pPr>
            <a:r>
              <a:rPr sz="1800" b="1" dirty="0">
                <a:latin typeface="Arial"/>
                <a:cs typeface="Arial"/>
              </a:rPr>
              <a:t>free</a:t>
            </a:r>
            <a:r>
              <a:rPr sz="1800" b="1" spc="-20" dirty="0">
                <a:latin typeface="Arial"/>
                <a:cs typeface="Arial"/>
              </a:rPr>
              <a:t> (p);</a:t>
            </a:r>
            <a:endParaRPr sz="1800" dirty="0">
              <a:latin typeface="Arial"/>
              <a:cs typeface="Arial"/>
            </a:endParaRPr>
          </a:p>
          <a:p>
            <a:pPr marL="12700" marR="5080">
              <a:lnSpc>
                <a:spcPct val="114000"/>
              </a:lnSpc>
              <a:spcBef>
                <a:spcPts val="1200"/>
              </a:spcBef>
            </a:pPr>
            <a:r>
              <a:rPr sz="1800" dirty="0">
                <a:latin typeface="Arial MT"/>
                <a:cs typeface="Arial MT"/>
              </a:rPr>
              <a:t>Keep</a:t>
            </a:r>
            <a:r>
              <a:rPr sz="1800" spc="-15" dirty="0">
                <a:latin typeface="Arial MT"/>
                <a:cs typeface="Arial MT"/>
              </a:rPr>
              <a:t> </a:t>
            </a:r>
            <a:r>
              <a:rPr sz="1800" dirty="0">
                <a:latin typeface="Arial MT"/>
                <a:cs typeface="Arial MT"/>
              </a:rPr>
              <a:t>the</a:t>
            </a:r>
            <a:r>
              <a:rPr sz="1800" spc="-15" dirty="0">
                <a:latin typeface="Arial MT"/>
                <a:cs typeface="Arial MT"/>
              </a:rPr>
              <a:t> </a:t>
            </a:r>
            <a:r>
              <a:rPr sz="1800" dirty="0">
                <a:latin typeface="Arial MT"/>
                <a:cs typeface="Arial MT"/>
              </a:rPr>
              <a:t>length</a:t>
            </a:r>
            <a:r>
              <a:rPr sz="1800" spc="-15" dirty="0">
                <a:latin typeface="Arial MT"/>
                <a:cs typeface="Arial MT"/>
              </a:rPr>
              <a:t> </a:t>
            </a:r>
            <a:r>
              <a:rPr sz="1800" dirty="0">
                <a:latin typeface="Arial MT"/>
                <a:cs typeface="Arial MT"/>
              </a:rPr>
              <a:t>of</a:t>
            </a:r>
            <a:r>
              <a:rPr sz="1800" spc="-15" dirty="0">
                <a:latin typeface="Arial MT"/>
                <a:cs typeface="Arial MT"/>
              </a:rPr>
              <a:t> </a:t>
            </a:r>
            <a:r>
              <a:rPr sz="1800" dirty="0">
                <a:latin typeface="Arial MT"/>
                <a:cs typeface="Arial MT"/>
              </a:rPr>
              <a:t>the</a:t>
            </a:r>
            <a:r>
              <a:rPr sz="1800" spc="-15" dirty="0">
                <a:latin typeface="Arial MT"/>
                <a:cs typeface="Arial MT"/>
              </a:rPr>
              <a:t> </a:t>
            </a:r>
            <a:r>
              <a:rPr sz="1800" dirty="0">
                <a:latin typeface="Arial MT"/>
                <a:cs typeface="Arial MT"/>
              </a:rPr>
              <a:t>block</a:t>
            </a:r>
            <a:r>
              <a:rPr sz="1800" spc="-15" dirty="0">
                <a:latin typeface="Arial MT"/>
                <a:cs typeface="Arial MT"/>
              </a:rPr>
              <a:t> </a:t>
            </a:r>
            <a:r>
              <a:rPr sz="1800" dirty="0">
                <a:latin typeface="Arial MT"/>
                <a:cs typeface="Arial MT"/>
              </a:rPr>
              <a:t>in</a:t>
            </a:r>
            <a:r>
              <a:rPr sz="1800" spc="-15" dirty="0">
                <a:latin typeface="Arial MT"/>
                <a:cs typeface="Arial MT"/>
              </a:rPr>
              <a:t> </a:t>
            </a:r>
            <a:r>
              <a:rPr sz="1800" spc="-25" dirty="0">
                <a:latin typeface="Arial MT"/>
                <a:cs typeface="Arial MT"/>
              </a:rPr>
              <a:t>the </a:t>
            </a:r>
            <a:r>
              <a:rPr sz="1800" dirty="0">
                <a:latin typeface="Arial MT"/>
                <a:cs typeface="Arial MT"/>
              </a:rPr>
              <a:t>word</a:t>
            </a:r>
            <a:r>
              <a:rPr sz="1800" spc="-30" dirty="0">
                <a:latin typeface="Arial MT"/>
                <a:cs typeface="Arial MT"/>
              </a:rPr>
              <a:t> </a:t>
            </a:r>
            <a:r>
              <a:rPr sz="1800" dirty="0">
                <a:latin typeface="Arial MT"/>
                <a:cs typeface="Arial MT"/>
              </a:rPr>
              <a:t>preceding</a:t>
            </a:r>
            <a:r>
              <a:rPr sz="1800" spc="-20" dirty="0">
                <a:latin typeface="Arial MT"/>
                <a:cs typeface="Arial MT"/>
              </a:rPr>
              <a:t> </a:t>
            </a:r>
            <a:r>
              <a:rPr sz="1800" dirty="0">
                <a:latin typeface="Arial MT"/>
                <a:cs typeface="Arial MT"/>
              </a:rPr>
              <a:t>the</a:t>
            </a:r>
            <a:r>
              <a:rPr sz="1800" spc="-15" dirty="0">
                <a:latin typeface="Arial MT"/>
                <a:cs typeface="Arial MT"/>
              </a:rPr>
              <a:t> </a:t>
            </a:r>
            <a:r>
              <a:rPr sz="1800" dirty="0">
                <a:latin typeface="Arial MT"/>
                <a:cs typeface="Arial MT"/>
              </a:rPr>
              <a:t>block</a:t>
            </a:r>
            <a:r>
              <a:rPr sz="1800" spc="-20" dirty="0">
                <a:latin typeface="Arial MT"/>
                <a:cs typeface="Arial MT"/>
              </a:rPr>
              <a:t> </a:t>
            </a:r>
            <a:r>
              <a:rPr sz="1800" dirty="0">
                <a:latin typeface="Arial MT"/>
                <a:cs typeface="Arial MT"/>
              </a:rPr>
              <a:t>→</a:t>
            </a:r>
            <a:r>
              <a:rPr sz="1800" spc="-15" dirty="0">
                <a:latin typeface="Arial MT"/>
                <a:cs typeface="Arial MT"/>
              </a:rPr>
              <a:t> </a:t>
            </a:r>
            <a:r>
              <a:rPr sz="1800" spc="-10" dirty="0">
                <a:latin typeface="Arial MT"/>
                <a:cs typeface="Arial MT"/>
              </a:rPr>
              <a:t>header </a:t>
            </a:r>
            <a:r>
              <a:rPr sz="1800" dirty="0">
                <a:latin typeface="Arial MT"/>
                <a:cs typeface="Arial MT"/>
              </a:rPr>
              <a:t>field</a:t>
            </a:r>
            <a:r>
              <a:rPr sz="1800" spc="-15" dirty="0">
                <a:latin typeface="Arial MT"/>
                <a:cs typeface="Arial MT"/>
              </a:rPr>
              <a:t> </a:t>
            </a:r>
            <a:r>
              <a:rPr sz="1800" dirty="0">
                <a:latin typeface="Arial MT"/>
                <a:cs typeface="Arial MT"/>
              </a:rPr>
              <a:t>or</a:t>
            </a:r>
            <a:r>
              <a:rPr sz="1800" spc="-15" dirty="0">
                <a:latin typeface="Arial MT"/>
                <a:cs typeface="Arial MT"/>
              </a:rPr>
              <a:t> </a:t>
            </a:r>
            <a:r>
              <a:rPr sz="1800" spc="-10" dirty="0">
                <a:latin typeface="Arial MT"/>
                <a:cs typeface="Arial MT"/>
              </a:rPr>
              <a:t>header</a:t>
            </a:r>
            <a:endParaRPr sz="1800" dirty="0">
              <a:latin typeface="Arial MT"/>
              <a:cs typeface="Arial MT"/>
            </a:endParaRPr>
          </a:p>
        </p:txBody>
      </p:sp>
      <p:grpSp>
        <p:nvGrpSpPr>
          <p:cNvPr id="30" name="Group 29" descr="A diagram showing the result of a malloc(4) call. A pointer p0 points to a payload of 4 units, preceded by a block header marked with the number 5, representing the total block size.">
            <a:extLst>
              <a:ext uri="{FF2B5EF4-FFF2-40B4-BE49-F238E27FC236}">
                <a16:creationId xmlns:a16="http://schemas.microsoft.com/office/drawing/2014/main" id="{E97656BE-9168-8969-F6EF-E8E504D4A877}"/>
              </a:ext>
            </a:extLst>
          </p:cNvPr>
          <p:cNvGrpSpPr/>
          <p:nvPr/>
        </p:nvGrpSpPr>
        <p:grpSpPr>
          <a:xfrm>
            <a:off x="3819250" y="3216121"/>
            <a:ext cx="7200173" cy="2773770"/>
            <a:chOff x="3819250" y="3216121"/>
            <a:chExt cx="7200173" cy="2773770"/>
          </a:xfrm>
        </p:grpSpPr>
        <p:pic>
          <p:nvPicPr>
            <p:cNvPr id="26" name="Picture 25">
              <a:extLst>
                <a:ext uri="{FF2B5EF4-FFF2-40B4-BE49-F238E27FC236}">
                  <a16:creationId xmlns:a16="http://schemas.microsoft.com/office/drawing/2014/main" id="{E539A39F-C795-F796-03F9-94747DAD49D8}"/>
                </a:ext>
              </a:extLst>
            </p:cNvPr>
            <p:cNvPicPr>
              <a:picLocks noChangeAspect="1"/>
            </p:cNvPicPr>
            <p:nvPr/>
          </p:nvPicPr>
          <p:blipFill>
            <a:blip r:embed="rId3"/>
            <a:stretch>
              <a:fillRect/>
            </a:stretch>
          </p:blipFill>
          <p:spPr>
            <a:xfrm>
              <a:off x="5007518" y="4038614"/>
              <a:ext cx="5828281" cy="493819"/>
            </a:xfrm>
            <a:prstGeom prst="rect">
              <a:avLst/>
            </a:prstGeom>
          </p:spPr>
        </p:pic>
        <p:sp>
          <p:nvSpPr>
            <p:cNvPr id="8" name="object 8"/>
            <p:cNvSpPr txBox="1"/>
            <p:nvPr/>
          </p:nvSpPr>
          <p:spPr>
            <a:xfrm>
              <a:off x="5476325" y="3216121"/>
              <a:ext cx="5543098" cy="259045"/>
            </a:xfrm>
            <a:prstGeom prst="rect">
              <a:avLst/>
            </a:prstGeom>
          </p:spPr>
          <p:txBody>
            <a:bodyPr vert="horz" wrap="square" lIns="0" tIns="12700" rIns="0" bIns="0" rtlCol="0">
              <a:spAutoFit/>
            </a:bodyPr>
            <a:lstStyle/>
            <a:p>
              <a:pPr marL="3439160">
                <a:lnSpc>
                  <a:spcPct val="100000"/>
                </a:lnSpc>
              </a:pPr>
              <a:r>
                <a:rPr sz="1600" spc="-25" dirty="0">
                  <a:solidFill>
                    <a:srgbClr val="0F2044"/>
                  </a:solidFill>
                  <a:latin typeface="Arial MT"/>
                  <a:cs typeface="Arial MT"/>
                </a:rPr>
                <a:t>p0</a:t>
              </a:r>
              <a:endParaRPr sz="1600" dirty="0">
                <a:latin typeface="Arial MT"/>
                <a:cs typeface="Arial MT"/>
              </a:endParaRPr>
            </a:p>
          </p:txBody>
        </p:sp>
        <p:sp>
          <p:nvSpPr>
            <p:cNvPr id="5" name="object 5"/>
            <p:cNvSpPr txBox="1"/>
            <p:nvPr/>
          </p:nvSpPr>
          <p:spPr>
            <a:xfrm>
              <a:off x="7633475" y="3643031"/>
              <a:ext cx="584200" cy="299720"/>
            </a:xfrm>
            <a:prstGeom prst="rect">
              <a:avLst/>
            </a:prstGeom>
          </p:spPr>
          <p:txBody>
            <a:bodyPr vert="horz" wrap="square" lIns="0" tIns="12700" rIns="0" bIns="0" rtlCol="0">
              <a:spAutoFit/>
            </a:bodyPr>
            <a:lstStyle/>
            <a:p>
              <a:pPr marL="12700">
                <a:lnSpc>
                  <a:spcPct val="100000"/>
                </a:lnSpc>
                <a:spcBef>
                  <a:spcPts val="100"/>
                </a:spcBef>
              </a:pPr>
              <a:r>
                <a:rPr sz="1800" b="1" spc="-20" dirty="0">
                  <a:solidFill>
                    <a:srgbClr val="0F2044"/>
                  </a:solidFill>
                  <a:latin typeface="Arial"/>
                  <a:cs typeface="Arial"/>
                </a:rPr>
                <a:t>Heap</a:t>
              </a:r>
              <a:endParaRPr sz="1800" dirty="0">
                <a:latin typeface="Arial"/>
                <a:cs typeface="Arial"/>
              </a:endParaRPr>
            </a:p>
          </p:txBody>
        </p:sp>
        <p:sp>
          <p:nvSpPr>
            <p:cNvPr id="6" name="object 6"/>
            <p:cNvSpPr txBox="1"/>
            <p:nvPr/>
          </p:nvSpPr>
          <p:spPr>
            <a:xfrm>
              <a:off x="3819250" y="5141531"/>
              <a:ext cx="1619250"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0F2044"/>
                  </a:solidFill>
                  <a:latin typeface="Arial"/>
                  <a:cs typeface="Arial"/>
                </a:rPr>
                <a:t>p0</a:t>
              </a:r>
              <a:r>
                <a:rPr sz="1800" b="1" spc="-15" dirty="0">
                  <a:solidFill>
                    <a:srgbClr val="0F2044"/>
                  </a:solidFill>
                  <a:latin typeface="Arial"/>
                  <a:cs typeface="Arial"/>
                </a:rPr>
                <a:t> </a:t>
              </a:r>
              <a:r>
                <a:rPr sz="1800" b="1" dirty="0">
                  <a:solidFill>
                    <a:srgbClr val="0F2044"/>
                  </a:solidFill>
                  <a:latin typeface="Arial"/>
                  <a:cs typeface="Arial"/>
                </a:rPr>
                <a:t>=</a:t>
              </a:r>
              <a:r>
                <a:rPr sz="1800" b="1" spc="-15" dirty="0">
                  <a:solidFill>
                    <a:srgbClr val="0F2044"/>
                  </a:solidFill>
                  <a:latin typeface="Arial"/>
                  <a:cs typeface="Arial"/>
                </a:rPr>
                <a:t> </a:t>
              </a:r>
              <a:r>
                <a:rPr sz="1800" b="1" dirty="0">
                  <a:solidFill>
                    <a:srgbClr val="0F2044"/>
                  </a:solidFill>
                  <a:latin typeface="Arial"/>
                  <a:cs typeface="Arial"/>
                </a:rPr>
                <a:t>malloc</a:t>
              </a:r>
              <a:r>
                <a:rPr sz="1800" b="1" spc="-15" dirty="0">
                  <a:solidFill>
                    <a:srgbClr val="0F2044"/>
                  </a:solidFill>
                  <a:latin typeface="Arial"/>
                  <a:cs typeface="Arial"/>
                </a:rPr>
                <a:t> </a:t>
              </a:r>
              <a:r>
                <a:rPr sz="1800" b="1" spc="-25" dirty="0">
                  <a:solidFill>
                    <a:srgbClr val="0F2044"/>
                  </a:solidFill>
                  <a:latin typeface="Arial"/>
                  <a:cs typeface="Arial"/>
                </a:rPr>
                <a:t>(4)</a:t>
              </a:r>
              <a:endParaRPr sz="1800">
                <a:latin typeface="Arial"/>
                <a:cs typeface="Arial"/>
              </a:endParaRPr>
            </a:p>
          </p:txBody>
        </p:sp>
        <p:sp>
          <p:nvSpPr>
            <p:cNvPr id="7" name="object 7"/>
            <p:cNvSpPr txBox="1"/>
            <p:nvPr/>
          </p:nvSpPr>
          <p:spPr>
            <a:xfrm>
              <a:off x="3819250" y="5690171"/>
              <a:ext cx="927100"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0F2044"/>
                  </a:solidFill>
                  <a:latin typeface="Arial"/>
                  <a:cs typeface="Arial"/>
                </a:rPr>
                <a:t>free</a:t>
              </a:r>
              <a:r>
                <a:rPr sz="1800" b="1" spc="-20" dirty="0">
                  <a:solidFill>
                    <a:srgbClr val="0F2044"/>
                  </a:solidFill>
                  <a:latin typeface="Arial"/>
                  <a:cs typeface="Arial"/>
                </a:rPr>
                <a:t> (p0)</a:t>
              </a:r>
              <a:endParaRPr sz="1800">
                <a:latin typeface="Arial"/>
                <a:cs typeface="Arial"/>
              </a:endParaRPr>
            </a:p>
          </p:txBody>
        </p:sp>
        <p:grpSp>
          <p:nvGrpSpPr>
            <p:cNvPr id="9" name="object 9"/>
            <p:cNvGrpSpPr/>
            <p:nvPr/>
          </p:nvGrpSpPr>
          <p:grpSpPr>
            <a:xfrm>
              <a:off x="9030828" y="3502950"/>
              <a:ext cx="31750" cy="431554"/>
              <a:chOff x="9030828" y="3502950"/>
              <a:chExt cx="31750" cy="431554"/>
            </a:xfrm>
          </p:grpSpPr>
          <p:sp>
            <p:nvSpPr>
              <p:cNvPr id="10" name="object 10"/>
              <p:cNvSpPr/>
              <p:nvPr/>
            </p:nvSpPr>
            <p:spPr>
              <a:xfrm>
                <a:off x="9046299" y="3502950"/>
                <a:ext cx="635" cy="387985"/>
              </a:xfrm>
              <a:custGeom>
                <a:avLst/>
                <a:gdLst/>
                <a:ahLst/>
                <a:cxnLst/>
                <a:rect l="l" t="t" r="r" b="b"/>
                <a:pathLst>
                  <a:path w="634" h="387985">
                    <a:moveTo>
                      <a:pt x="0" y="0"/>
                    </a:moveTo>
                    <a:lnTo>
                      <a:pt x="261" y="387749"/>
                    </a:lnTo>
                  </a:path>
                </a:pathLst>
              </a:custGeom>
              <a:ln w="9524">
                <a:solidFill>
                  <a:srgbClr val="0F2044"/>
                </a:solidFill>
              </a:ln>
            </p:spPr>
            <p:txBody>
              <a:bodyPr wrap="square" lIns="0" tIns="0" rIns="0" bIns="0" rtlCol="0"/>
              <a:lstStyle/>
              <a:p>
                <a:endParaRPr/>
              </a:p>
            </p:txBody>
          </p:sp>
          <p:sp>
            <p:nvSpPr>
              <p:cNvPr id="11" name="object 11"/>
              <p:cNvSpPr/>
              <p:nvPr/>
            </p:nvSpPr>
            <p:spPr>
              <a:xfrm>
                <a:off x="9030828" y="3890689"/>
                <a:ext cx="31750" cy="43815"/>
              </a:xfrm>
              <a:custGeom>
                <a:avLst/>
                <a:gdLst/>
                <a:ahLst/>
                <a:cxnLst/>
                <a:rect l="l" t="t" r="r" b="b"/>
                <a:pathLst>
                  <a:path w="31750" h="43814">
                    <a:moveTo>
                      <a:pt x="15761" y="43235"/>
                    </a:moveTo>
                    <a:lnTo>
                      <a:pt x="0" y="20"/>
                    </a:lnTo>
                    <a:lnTo>
                      <a:pt x="31465" y="0"/>
                    </a:lnTo>
                    <a:lnTo>
                      <a:pt x="15761" y="43235"/>
                    </a:lnTo>
                    <a:close/>
                  </a:path>
                </a:pathLst>
              </a:custGeom>
              <a:solidFill>
                <a:srgbClr val="0F2044"/>
              </a:solidFill>
            </p:spPr>
            <p:txBody>
              <a:bodyPr wrap="square" lIns="0" tIns="0" rIns="0" bIns="0" rtlCol="0"/>
              <a:lstStyle/>
              <a:p>
                <a:endParaRPr/>
              </a:p>
            </p:txBody>
          </p:sp>
          <p:sp>
            <p:nvSpPr>
              <p:cNvPr id="12" name="object 12"/>
              <p:cNvSpPr/>
              <p:nvPr/>
            </p:nvSpPr>
            <p:spPr>
              <a:xfrm>
                <a:off x="9030828" y="3890689"/>
                <a:ext cx="31750" cy="43815"/>
              </a:xfrm>
              <a:custGeom>
                <a:avLst/>
                <a:gdLst/>
                <a:ahLst/>
                <a:cxnLst/>
                <a:rect l="l" t="t" r="r" b="b"/>
                <a:pathLst>
                  <a:path w="31750" h="43814">
                    <a:moveTo>
                      <a:pt x="0" y="20"/>
                    </a:moveTo>
                    <a:lnTo>
                      <a:pt x="15761" y="43235"/>
                    </a:lnTo>
                    <a:lnTo>
                      <a:pt x="31465" y="0"/>
                    </a:lnTo>
                    <a:lnTo>
                      <a:pt x="0" y="20"/>
                    </a:lnTo>
                    <a:close/>
                  </a:path>
                </a:pathLst>
              </a:custGeom>
              <a:ln w="9524">
                <a:solidFill>
                  <a:srgbClr val="0F2044"/>
                </a:solidFill>
              </a:ln>
            </p:spPr>
            <p:txBody>
              <a:bodyPr wrap="square" lIns="0" tIns="0" rIns="0" bIns="0" rtlCol="0"/>
              <a:lstStyle/>
              <a:p>
                <a:endParaRPr/>
              </a:p>
            </p:txBody>
          </p:sp>
        </p:grpSp>
        <p:sp>
          <p:nvSpPr>
            <p:cNvPr id="13" name="object 13"/>
            <p:cNvSpPr txBox="1"/>
            <p:nvPr/>
          </p:nvSpPr>
          <p:spPr>
            <a:xfrm>
              <a:off x="8243024" y="5144579"/>
              <a:ext cx="1043849" cy="259045"/>
            </a:xfrm>
            <a:prstGeom prst="rect">
              <a:avLst/>
            </a:prstGeom>
          </p:spPr>
          <p:txBody>
            <a:bodyPr vert="horz" wrap="square" lIns="0" tIns="12700" rIns="0" bIns="0" rtlCol="0">
              <a:spAutoFit/>
            </a:bodyPr>
            <a:lstStyle/>
            <a:p>
              <a:pPr marL="12700">
                <a:lnSpc>
                  <a:spcPct val="100000"/>
                </a:lnSpc>
                <a:spcBef>
                  <a:spcPts val="100"/>
                </a:spcBef>
              </a:pPr>
              <a:r>
                <a:rPr sz="1600" dirty="0">
                  <a:solidFill>
                    <a:srgbClr val="0F2044"/>
                  </a:solidFill>
                  <a:latin typeface="Arial MT"/>
                  <a:cs typeface="Arial MT"/>
                </a:rPr>
                <a:t>block</a:t>
              </a:r>
              <a:r>
                <a:rPr sz="1600" spc="-5" dirty="0">
                  <a:solidFill>
                    <a:srgbClr val="0F2044"/>
                  </a:solidFill>
                  <a:latin typeface="Arial MT"/>
                  <a:cs typeface="Arial MT"/>
                </a:rPr>
                <a:t> </a:t>
              </a:r>
              <a:r>
                <a:rPr sz="1600" spc="-20" dirty="0">
                  <a:solidFill>
                    <a:srgbClr val="0F2044"/>
                  </a:solidFill>
                  <a:latin typeface="Arial MT"/>
                  <a:cs typeface="Arial MT"/>
                </a:rPr>
                <a:t>size</a:t>
              </a:r>
              <a:endParaRPr sz="1600" dirty="0">
                <a:latin typeface="Arial MT"/>
                <a:cs typeface="Arial MT"/>
              </a:endParaRPr>
            </a:p>
          </p:txBody>
        </p:sp>
        <p:grpSp>
          <p:nvGrpSpPr>
            <p:cNvPr id="14" name="object 14"/>
            <p:cNvGrpSpPr/>
            <p:nvPr/>
          </p:nvGrpSpPr>
          <p:grpSpPr>
            <a:xfrm>
              <a:off x="8675212" y="4644270"/>
              <a:ext cx="31750" cy="433739"/>
              <a:chOff x="8675212" y="4644270"/>
              <a:chExt cx="31750" cy="433739"/>
            </a:xfrm>
          </p:grpSpPr>
          <p:sp>
            <p:nvSpPr>
              <p:cNvPr id="15" name="object 15"/>
              <p:cNvSpPr/>
              <p:nvPr/>
            </p:nvSpPr>
            <p:spPr>
              <a:xfrm>
                <a:off x="8690941" y="4687484"/>
                <a:ext cx="9525" cy="390525"/>
              </a:xfrm>
              <a:custGeom>
                <a:avLst/>
                <a:gdLst/>
                <a:ahLst/>
                <a:cxnLst/>
                <a:rect l="l" t="t" r="r" b="b"/>
                <a:pathLst>
                  <a:path w="9525" h="390525">
                    <a:moveTo>
                      <a:pt x="9158" y="390165"/>
                    </a:moveTo>
                    <a:lnTo>
                      <a:pt x="0" y="0"/>
                    </a:lnTo>
                  </a:path>
                </a:pathLst>
              </a:custGeom>
              <a:ln w="9524">
                <a:solidFill>
                  <a:srgbClr val="0F2044"/>
                </a:solidFill>
              </a:ln>
            </p:spPr>
            <p:txBody>
              <a:bodyPr wrap="square" lIns="0" tIns="0" rIns="0" bIns="0" rtlCol="0"/>
              <a:lstStyle/>
              <a:p>
                <a:endParaRPr/>
              </a:p>
            </p:txBody>
          </p:sp>
          <p:sp>
            <p:nvSpPr>
              <p:cNvPr id="16" name="object 16"/>
              <p:cNvSpPr/>
              <p:nvPr/>
            </p:nvSpPr>
            <p:spPr>
              <a:xfrm>
                <a:off x="8675212" y="4644270"/>
                <a:ext cx="31750" cy="43815"/>
              </a:xfrm>
              <a:custGeom>
                <a:avLst/>
                <a:gdLst/>
                <a:ahLst/>
                <a:cxnLst/>
                <a:rect l="l" t="t" r="r" b="b"/>
                <a:pathLst>
                  <a:path w="31750" h="43814">
                    <a:moveTo>
                      <a:pt x="0" y="43582"/>
                    </a:moveTo>
                    <a:lnTo>
                      <a:pt x="14713" y="0"/>
                    </a:lnTo>
                    <a:lnTo>
                      <a:pt x="31456" y="42844"/>
                    </a:lnTo>
                    <a:lnTo>
                      <a:pt x="0" y="43582"/>
                    </a:lnTo>
                    <a:close/>
                  </a:path>
                </a:pathLst>
              </a:custGeom>
              <a:solidFill>
                <a:srgbClr val="0F2044"/>
              </a:solidFill>
            </p:spPr>
            <p:txBody>
              <a:bodyPr wrap="square" lIns="0" tIns="0" rIns="0" bIns="0" rtlCol="0"/>
              <a:lstStyle/>
              <a:p>
                <a:endParaRPr/>
              </a:p>
            </p:txBody>
          </p:sp>
          <p:sp>
            <p:nvSpPr>
              <p:cNvPr id="17" name="object 17"/>
              <p:cNvSpPr/>
              <p:nvPr/>
            </p:nvSpPr>
            <p:spPr>
              <a:xfrm>
                <a:off x="8675212" y="4644270"/>
                <a:ext cx="31750" cy="43815"/>
              </a:xfrm>
              <a:custGeom>
                <a:avLst/>
                <a:gdLst/>
                <a:ahLst/>
                <a:cxnLst/>
                <a:rect l="l" t="t" r="r" b="b"/>
                <a:pathLst>
                  <a:path w="31750" h="43814">
                    <a:moveTo>
                      <a:pt x="31456" y="42844"/>
                    </a:moveTo>
                    <a:lnTo>
                      <a:pt x="14713" y="0"/>
                    </a:lnTo>
                    <a:lnTo>
                      <a:pt x="0" y="43582"/>
                    </a:lnTo>
                    <a:lnTo>
                      <a:pt x="31456" y="42844"/>
                    </a:lnTo>
                    <a:close/>
                  </a:path>
                </a:pathLst>
              </a:custGeom>
              <a:ln w="9524">
                <a:solidFill>
                  <a:srgbClr val="0F2044"/>
                </a:solidFill>
              </a:ln>
            </p:spPr>
            <p:txBody>
              <a:bodyPr wrap="square" lIns="0" tIns="0" rIns="0" bIns="0" rtlCol="0"/>
              <a:lstStyle/>
              <a:p>
                <a:endParaRPr/>
              </a:p>
            </p:txBody>
          </p:sp>
        </p:grpSp>
        <p:grpSp>
          <p:nvGrpSpPr>
            <p:cNvPr id="18" name="object 18"/>
            <p:cNvGrpSpPr/>
            <p:nvPr/>
          </p:nvGrpSpPr>
          <p:grpSpPr>
            <a:xfrm>
              <a:off x="4968775" y="4332675"/>
              <a:ext cx="3571503" cy="1569326"/>
              <a:chOff x="4968775" y="4332675"/>
              <a:chExt cx="3571503" cy="1569326"/>
            </a:xfrm>
          </p:grpSpPr>
          <p:sp>
            <p:nvSpPr>
              <p:cNvPr id="20" name="object 20"/>
              <p:cNvSpPr/>
              <p:nvPr/>
            </p:nvSpPr>
            <p:spPr>
              <a:xfrm>
                <a:off x="8493923" y="4332675"/>
                <a:ext cx="46355" cy="32384"/>
              </a:xfrm>
              <a:custGeom>
                <a:avLst/>
                <a:gdLst/>
                <a:ahLst/>
                <a:cxnLst/>
                <a:rect l="l" t="t" r="r" b="b"/>
                <a:pathLst>
                  <a:path w="46354" h="32385">
                    <a:moveTo>
                      <a:pt x="12656" y="31789"/>
                    </a:moveTo>
                    <a:lnTo>
                      <a:pt x="0" y="2981"/>
                    </a:lnTo>
                    <a:lnTo>
                      <a:pt x="45902" y="0"/>
                    </a:lnTo>
                    <a:lnTo>
                      <a:pt x="12656" y="31789"/>
                    </a:lnTo>
                    <a:close/>
                  </a:path>
                </a:pathLst>
              </a:custGeom>
              <a:solidFill>
                <a:srgbClr val="0F2044"/>
              </a:solidFill>
            </p:spPr>
            <p:txBody>
              <a:bodyPr wrap="square" lIns="0" tIns="0" rIns="0" bIns="0" rtlCol="0"/>
              <a:lstStyle/>
              <a:p>
                <a:endParaRPr/>
              </a:p>
            </p:txBody>
          </p:sp>
          <p:sp>
            <p:nvSpPr>
              <p:cNvPr id="21" name="object 21"/>
              <p:cNvSpPr/>
              <p:nvPr/>
            </p:nvSpPr>
            <p:spPr>
              <a:xfrm>
                <a:off x="8493923" y="4332675"/>
                <a:ext cx="46355" cy="32384"/>
              </a:xfrm>
              <a:custGeom>
                <a:avLst/>
                <a:gdLst/>
                <a:ahLst/>
                <a:cxnLst/>
                <a:rect l="l" t="t" r="r" b="b"/>
                <a:pathLst>
                  <a:path w="46354" h="32385">
                    <a:moveTo>
                      <a:pt x="12656" y="31789"/>
                    </a:moveTo>
                    <a:lnTo>
                      <a:pt x="45902" y="0"/>
                    </a:lnTo>
                    <a:lnTo>
                      <a:pt x="0" y="2981"/>
                    </a:lnTo>
                    <a:lnTo>
                      <a:pt x="12656" y="31789"/>
                    </a:lnTo>
                    <a:close/>
                  </a:path>
                </a:pathLst>
              </a:custGeom>
              <a:ln w="9524">
                <a:solidFill>
                  <a:srgbClr val="0F2044"/>
                </a:solidFill>
              </a:ln>
            </p:spPr>
            <p:txBody>
              <a:bodyPr wrap="square" lIns="0" tIns="0" rIns="0" bIns="0" rtlCol="0"/>
              <a:lstStyle/>
              <a:p>
                <a:endParaRPr/>
              </a:p>
            </p:txBody>
          </p:sp>
          <p:sp>
            <p:nvSpPr>
              <p:cNvPr id="19" name="object 19"/>
              <p:cNvSpPr/>
              <p:nvPr/>
            </p:nvSpPr>
            <p:spPr>
              <a:xfrm>
                <a:off x="4968775" y="4350061"/>
                <a:ext cx="3531870" cy="1551940"/>
              </a:xfrm>
              <a:custGeom>
                <a:avLst/>
                <a:gdLst/>
                <a:ahLst/>
                <a:cxnLst/>
                <a:rect l="l" t="t" r="r" b="b"/>
                <a:pathLst>
                  <a:path w="3531870" h="1551939">
                    <a:moveTo>
                      <a:pt x="0" y="1551413"/>
                    </a:moveTo>
                    <a:lnTo>
                      <a:pt x="3531476" y="0"/>
                    </a:lnTo>
                  </a:path>
                </a:pathLst>
              </a:custGeom>
              <a:ln w="9524">
                <a:solidFill>
                  <a:srgbClr val="0F2044"/>
                </a:solidFill>
              </a:ln>
            </p:spPr>
            <p:txBody>
              <a:bodyPr wrap="square" lIns="0" tIns="0" rIns="0" bIns="0" rtlCol="0"/>
              <a:lstStyle/>
              <a:p>
                <a:endParaRPr/>
              </a:p>
            </p:txBody>
          </p:sp>
        </p:grpSp>
        <p:sp>
          <p:nvSpPr>
            <p:cNvPr id="22" name="object 22"/>
            <p:cNvSpPr txBox="1"/>
            <p:nvPr/>
          </p:nvSpPr>
          <p:spPr>
            <a:xfrm>
              <a:off x="9303226" y="4642880"/>
              <a:ext cx="929550" cy="259045"/>
            </a:xfrm>
            <a:prstGeom prst="rect">
              <a:avLst/>
            </a:prstGeom>
          </p:spPr>
          <p:txBody>
            <a:bodyPr vert="horz" wrap="square" lIns="0" tIns="12700" rIns="0" bIns="0" rtlCol="0">
              <a:spAutoFit/>
            </a:bodyPr>
            <a:lstStyle/>
            <a:p>
              <a:pPr marL="12700">
                <a:lnSpc>
                  <a:spcPct val="100000"/>
                </a:lnSpc>
                <a:spcBef>
                  <a:spcPts val="100"/>
                </a:spcBef>
              </a:pPr>
              <a:r>
                <a:rPr sz="1600" spc="-10" dirty="0">
                  <a:solidFill>
                    <a:srgbClr val="0F2044"/>
                  </a:solidFill>
                  <a:latin typeface="Arial MT"/>
                  <a:cs typeface="Arial MT"/>
                </a:rPr>
                <a:t>payload</a:t>
              </a:r>
              <a:endParaRPr sz="1600" dirty="0">
                <a:latin typeface="Arial MT"/>
                <a:cs typeface="Arial MT"/>
              </a:endParaRPr>
            </a:p>
          </p:txBody>
        </p:sp>
      </p:grpSp>
      <p:sp>
        <p:nvSpPr>
          <p:cNvPr id="29" name="object 82">
            <a:extLst>
              <a:ext uri="{FF2B5EF4-FFF2-40B4-BE49-F238E27FC236}">
                <a16:creationId xmlns:a16="http://schemas.microsoft.com/office/drawing/2014/main" id="{F616F8A1-037B-411E-C9D3-2E219C75F303}"/>
              </a:ext>
            </a:extLst>
          </p:cNvPr>
          <p:cNvSpPr txBox="1"/>
          <p:nvPr/>
        </p:nvSpPr>
        <p:spPr>
          <a:xfrm>
            <a:off x="5476325" y="2590800"/>
            <a:ext cx="5292725" cy="289823"/>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980000"/>
                </a:solidFill>
                <a:latin typeface="Arial"/>
                <a:cs typeface="Arial"/>
              </a:rPr>
              <a:t>Requires</a:t>
            </a:r>
            <a:r>
              <a:rPr sz="1800" b="1" spc="-30" dirty="0">
                <a:solidFill>
                  <a:srgbClr val="980000"/>
                </a:solidFill>
                <a:latin typeface="Arial"/>
                <a:cs typeface="Arial"/>
              </a:rPr>
              <a:t> </a:t>
            </a:r>
            <a:r>
              <a:rPr sz="1800" b="1" dirty="0">
                <a:solidFill>
                  <a:srgbClr val="980000"/>
                </a:solidFill>
                <a:latin typeface="Arial"/>
                <a:cs typeface="Arial"/>
              </a:rPr>
              <a:t>an</a:t>
            </a:r>
            <a:r>
              <a:rPr sz="1800" b="1" spc="-30" dirty="0">
                <a:solidFill>
                  <a:srgbClr val="980000"/>
                </a:solidFill>
                <a:latin typeface="Arial"/>
                <a:cs typeface="Arial"/>
              </a:rPr>
              <a:t> </a:t>
            </a:r>
            <a:r>
              <a:rPr sz="1800" b="1" dirty="0">
                <a:solidFill>
                  <a:srgbClr val="980000"/>
                </a:solidFill>
                <a:latin typeface="Arial"/>
                <a:cs typeface="Arial"/>
              </a:rPr>
              <a:t>extra</a:t>
            </a:r>
            <a:r>
              <a:rPr sz="1800" b="1" spc="-30" dirty="0">
                <a:solidFill>
                  <a:srgbClr val="980000"/>
                </a:solidFill>
                <a:latin typeface="Arial"/>
                <a:cs typeface="Arial"/>
              </a:rPr>
              <a:t> </a:t>
            </a:r>
            <a:r>
              <a:rPr sz="1800" b="1" dirty="0">
                <a:solidFill>
                  <a:srgbClr val="980000"/>
                </a:solidFill>
                <a:latin typeface="Arial"/>
                <a:cs typeface="Arial"/>
              </a:rPr>
              <a:t>word</a:t>
            </a:r>
            <a:r>
              <a:rPr sz="1800" b="1" spc="-30" dirty="0">
                <a:solidFill>
                  <a:srgbClr val="980000"/>
                </a:solidFill>
                <a:latin typeface="Arial"/>
                <a:cs typeface="Arial"/>
              </a:rPr>
              <a:t> </a:t>
            </a:r>
            <a:r>
              <a:rPr sz="1800" b="1" dirty="0">
                <a:solidFill>
                  <a:srgbClr val="980000"/>
                </a:solidFill>
                <a:latin typeface="Arial"/>
                <a:cs typeface="Arial"/>
              </a:rPr>
              <a:t>for</a:t>
            </a:r>
            <a:r>
              <a:rPr sz="1800" b="1" spc="-30" dirty="0">
                <a:solidFill>
                  <a:srgbClr val="980000"/>
                </a:solidFill>
                <a:latin typeface="Arial"/>
                <a:cs typeface="Arial"/>
              </a:rPr>
              <a:t> </a:t>
            </a:r>
            <a:r>
              <a:rPr sz="1800" b="1" dirty="0">
                <a:solidFill>
                  <a:srgbClr val="980000"/>
                </a:solidFill>
                <a:latin typeface="Arial"/>
                <a:cs typeface="Arial"/>
              </a:rPr>
              <a:t>every</a:t>
            </a:r>
            <a:r>
              <a:rPr sz="1800" b="1" spc="-25" dirty="0">
                <a:solidFill>
                  <a:srgbClr val="980000"/>
                </a:solidFill>
                <a:latin typeface="Arial"/>
                <a:cs typeface="Arial"/>
              </a:rPr>
              <a:t> </a:t>
            </a:r>
            <a:r>
              <a:rPr sz="1800" b="1" dirty="0">
                <a:solidFill>
                  <a:srgbClr val="980000"/>
                </a:solidFill>
                <a:latin typeface="Arial"/>
                <a:cs typeface="Arial"/>
              </a:rPr>
              <a:t>allocated</a:t>
            </a:r>
            <a:r>
              <a:rPr sz="1800" b="1" spc="-30" dirty="0">
                <a:solidFill>
                  <a:srgbClr val="980000"/>
                </a:solidFill>
                <a:latin typeface="Arial"/>
                <a:cs typeface="Arial"/>
              </a:rPr>
              <a:t> </a:t>
            </a:r>
            <a:r>
              <a:rPr sz="1800" b="1" spc="-10" dirty="0">
                <a:solidFill>
                  <a:srgbClr val="980000"/>
                </a:solidFill>
                <a:latin typeface="Arial"/>
                <a:cs typeface="Arial"/>
              </a:rPr>
              <a:t>block</a:t>
            </a:r>
            <a:endParaRPr sz="1800" dirty="0">
              <a:latin typeface="Arial"/>
              <a:cs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Keeping</a:t>
            </a:r>
            <a:r>
              <a:rPr spc="-80" dirty="0"/>
              <a:t> </a:t>
            </a:r>
            <a:r>
              <a:rPr dirty="0"/>
              <a:t>Track</a:t>
            </a:r>
            <a:r>
              <a:rPr spc="-80" dirty="0"/>
              <a:t> </a:t>
            </a:r>
            <a:r>
              <a:rPr dirty="0"/>
              <a:t>of</a:t>
            </a:r>
            <a:r>
              <a:rPr spc="-80" dirty="0"/>
              <a:t> </a:t>
            </a:r>
            <a:r>
              <a:rPr dirty="0"/>
              <a:t>Free</a:t>
            </a:r>
            <a:r>
              <a:rPr spc="-75" dirty="0"/>
              <a:t> </a:t>
            </a:r>
            <a:r>
              <a:rPr spc="-10" dirty="0"/>
              <a:t>Blocks</a:t>
            </a:r>
          </a:p>
        </p:txBody>
      </p:sp>
      <p:pic>
        <p:nvPicPr>
          <p:cNvPr id="3" name="object 3" descr="A comparison between &quot;Implicit List&quot; and &quot;Explicit List&quot; block structures. The implicit list uses only headers and footers (size and allocation bit), while the explicit list adds &quot;Next&quot; and &quot;Prev&quot; pointers within the free block's payload area."/>
          <p:cNvPicPr/>
          <p:nvPr/>
        </p:nvPicPr>
        <p:blipFill>
          <a:blip r:embed="rId3">
            <a:extLst>
              <a:ext uri="{28A0092B-C50C-407E-A947-70E740481C1C}">
                <a14:useLocalDpi xmlns:a14="http://schemas.microsoft.com/office/drawing/2010/main" val="0"/>
              </a:ext>
            </a:extLst>
          </a:blip>
          <a:srcRect/>
          <a:stretch/>
        </p:blipFill>
        <p:spPr>
          <a:xfrm>
            <a:off x="533400" y="2521410"/>
            <a:ext cx="4830989" cy="2877630"/>
          </a:xfrm>
          <a:prstGeom prst="rect">
            <a:avLst/>
          </a:prstGeom>
        </p:spPr>
      </p:pic>
      <p:pic>
        <p:nvPicPr>
          <p:cNvPr id="5" name="object 5" descr="Two horizontal bars comparing an Implicit Free List and an Explicit Free List. The implicit list shows arrows skipping over allocated blocks, while the explicit list uses pointers within free blocks to link directly to the next available free block."/>
          <p:cNvPicPr/>
          <p:nvPr/>
        </p:nvPicPr>
        <p:blipFill>
          <a:blip r:embed="rId4" cstate="print"/>
          <a:stretch>
            <a:fillRect/>
          </a:stretch>
        </p:blipFill>
        <p:spPr>
          <a:xfrm>
            <a:off x="6476735" y="3383901"/>
            <a:ext cx="5258065" cy="1947695"/>
          </a:xfrm>
          <a:prstGeom prst="rect">
            <a:avLst/>
          </a:prstGeom>
        </p:spPr>
      </p:pic>
      <p:sp>
        <p:nvSpPr>
          <p:cNvPr id="4" name="object 4">
            <a:extLst>
              <a:ext uri="{C183D7F6-B498-43B3-948B-1728B52AA6E4}">
                <adec:decorative xmlns:adec="http://schemas.microsoft.com/office/drawing/2017/decorative" val="1"/>
              </a:ext>
            </a:extLst>
          </p:cNvPr>
          <p:cNvSpPr txBox="1"/>
          <p:nvPr/>
        </p:nvSpPr>
        <p:spPr>
          <a:xfrm>
            <a:off x="5594450" y="5809303"/>
            <a:ext cx="202120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0F2044"/>
                </a:solidFill>
                <a:latin typeface="Arial MT"/>
                <a:cs typeface="Arial MT"/>
              </a:rPr>
              <a:t>Image</a:t>
            </a:r>
            <a:r>
              <a:rPr sz="1200" spc="-25" dirty="0">
                <a:solidFill>
                  <a:srgbClr val="0F2044"/>
                </a:solidFill>
                <a:latin typeface="Arial MT"/>
                <a:cs typeface="Arial MT"/>
              </a:rPr>
              <a:t> </a:t>
            </a:r>
            <a:r>
              <a:rPr sz="1200" dirty="0">
                <a:solidFill>
                  <a:srgbClr val="0F2044"/>
                </a:solidFill>
                <a:latin typeface="Arial MT"/>
                <a:cs typeface="Arial MT"/>
              </a:rPr>
              <a:t>credit</a:t>
            </a:r>
            <a:r>
              <a:rPr sz="1200" spc="-20" dirty="0">
                <a:solidFill>
                  <a:srgbClr val="0F2044"/>
                </a:solidFill>
                <a:latin typeface="Arial MT"/>
                <a:cs typeface="Arial MT"/>
              </a:rPr>
              <a:t> </a:t>
            </a:r>
            <a:r>
              <a:rPr sz="1200" dirty="0">
                <a:solidFill>
                  <a:srgbClr val="0F2044"/>
                </a:solidFill>
                <a:latin typeface="Arial MT"/>
                <a:cs typeface="Arial MT"/>
              </a:rPr>
              <a:t>-</a:t>
            </a:r>
            <a:r>
              <a:rPr sz="1200" spc="-20" dirty="0">
                <a:solidFill>
                  <a:srgbClr val="0F2044"/>
                </a:solidFill>
                <a:latin typeface="Arial MT"/>
                <a:cs typeface="Arial MT"/>
              </a:rPr>
              <a:t> </a:t>
            </a:r>
            <a:r>
              <a:rPr sz="1200" spc="-10" dirty="0">
                <a:solidFill>
                  <a:srgbClr val="0F2044"/>
                </a:solidFill>
                <a:latin typeface="Arial MT"/>
                <a:cs typeface="Arial MT"/>
              </a:rPr>
              <a:t>https://velog.io/</a:t>
            </a:r>
            <a:endParaRPr sz="1200" dirty="0">
              <a:latin typeface="Arial MT"/>
              <a:cs typeface="Arial M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0375" y="1480997"/>
            <a:ext cx="6452870" cy="406400"/>
          </a:xfrm>
          <a:prstGeom prst="rect">
            <a:avLst/>
          </a:prstGeom>
        </p:spPr>
        <p:txBody>
          <a:bodyPr vert="horz" wrap="square" lIns="0" tIns="12700" rIns="0" bIns="0" rtlCol="0">
            <a:spAutoFit/>
          </a:bodyPr>
          <a:lstStyle/>
          <a:p>
            <a:pPr marL="12700">
              <a:lnSpc>
                <a:spcPct val="100000"/>
              </a:lnSpc>
              <a:spcBef>
                <a:spcPts val="100"/>
              </a:spcBef>
            </a:pPr>
            <a:r>
              <a:rPr dirty="0"/>
              <a:t>Implicit</a:t>
            </a:r>
            <a:r>
              <a:rPr spc="-100" dirty="0"/>
              <a:t> </a:t>
            </a:r>
            <a:r>
              <a:rPr dirty="0"/>
              <a:t>Free</a:t>
            </a:r>
            <a:r>
              <a:rPr spc="-100" dirty="0"/>
              <a:t> </a:t>
            </a:r>
            <a:r>
              <a:rPr spc="-20" dirty="0"/>
              <a:t>List</a:t>
            </a:r>
          </a:p>
        </p:txBody>
      </p:sp>
      <p:sp>
        <p:nvSpPr>
          <p:cNvPr id="3" name="object 3"/>
          <p:cNvSpPr txBox="1"/>
          <p:nvPr/>
        </p:nvSpPr>
        <p:spPr>
          <a:xfrm>
            <a:off x="475925" y="2070281"/>
            <a:ext cx="5336540" cy="4406719"/>
          </a:xfrm>
          <a:prstGeom prst="rect">
            <a:avLst/>
          </a:prstGeom>
        </p:spPr>
        <p:txBody>
          <a:bodyPr vert="horz" wrap="square" lIns="0" tIns="12700" rIns="0" bIns="0" rtlCol="0">
            <a:spAutoFit/>
          </a:bodyPr>
          <a:lstStyle/>
          <a:p>
            <a:pPr marL="469900" marR="5080" indent="-351790">
              <a:lnSpc>
                <a:spcPct val="114000"/>
              </a:lnSpc>
              <a:spcBef>
                <a:spcPts val="100"/>
              </a:spcBef>
              <a:spcAft>
                <a:spcPts val="600"/>
              </a:spcAft>
              <a:buChar char="●"/>
              <a:tabLst>
                <a:tab pos="469900" algn="l"/>
              </a:tabLst>
            </a:pPr>
            <a:r>
              <a:rPr sz="1600" dirty="0">
                <a:latin typeface="Arial MT"/>
                <a:cs typeface="Arial MT"/>
              </a:rPr>
              <a:t>The</a:t>
            </a:r>
            <a:r>
              <a:rPr sz="1600" spc="-30" dirty="0">
                <a:latin typeface="Arial MT"/>
                <a:cs typeface="Arial MT"/>
              </a:rPr>
              <a:t> </a:t>
            </a:r>
            <a:r>
              <a:rPr sz="1600" b="1" dirty="0">
                <a:latin typeface="Arial"/>
                <a:cs typeface="Arial"/>
              </a:rPr>
              <a:t>implicit</a:t>
            </a:r>
            <a:r>
              <a:rPr sz="1600" b="1" spc="-30" dirty="0">
                <a:latin typeface="Arial"/>
                <a:cs typeface="Arial"/>
              </a:rPr>
              <a:t> </a:t>
            </a:r>
            <a:r>
              <a:rPr sz="1600" b="1" dirty="0">
                <a:latin typeface="Arial"/>
                <a:cs typeface="Arial"/>
              </a:rPr>
              <a:t>free</a:t>
            </a:r>
            <a:r>
              <a:rPr sz="1600" b="1" spc="-25" dirty="0">
                <a:latin typeface="Arial"/>
                <a:cs typeface="Arial"/>
              </a:rPr>
              <a:t> </a:t>
            </a:r>
            <a:r>
              <a:rPr sz="1600" b="1" dirty="0">
                <a:latin typeface="Arial"/>
                <a:cs typeface="Arial"/>
              </a:rPr>
              <a:t>list</a:t>
            </a:r>
            <a:r>
              <a:rPr sz="1600" b="1" spc="-30" dirty="0">
                <a:latin typeface="Arial"/>
                <a:cs typeface="Arial"/>
              </a:rPr>
              <a:t> </a:t>
            </a:r>
            <a:r>
              <a:rPr sz="1600" dirty="0">
                <a:latin typeface="Arial MT"/>
                <a:cs typeface="Arial MT"/>
              </a:rPr>
              <a:t>is</a:t>
            </a:r>
            <a:r>
              <a:rPr sz="1600" spc="-30" dirty="0">
                <a:latin typeface="Arial MT"/>
                <a:cs typeface="Arial MT"/>
              </a:rPr>
              <a:t> </a:t>
            </a:r>
            <a:r>
              <a:rPr sz="1600" dirty="0">
                <a:latin typeface="Arial MT"/>
                <a:cs typeface="Arial MT"/>
              </a:rPr>
              <a:t>a</a:t>
            </a:r>
            <a:r>
              <a:rPr sz="1600" spc="-25" dirty="0">
                <a:latin typeface="Arial MT"/>
                <a:cs typeface="Arial MT"/>
              </a:rPr>
              <a:t> </a:t>
            </a:r>
            <a:r>
              <a:rPr sz="1600" dirty="0">
                <a:latin typeface="Arial MT"/>
                <a:cs typeface="Arial MT"/>
              </a:rPr>
              <a:t>simple</a:t>
            </a:r>
            <a:r>
              <a:rPr sz="1600" spc="-30" dirty="0">
                <a:latin typeface="Arial MT"/>
                <a:cs typeface="Arial MT"/>
              </a:rPr>
              <a:t> </a:t>
            </a:r>
            <a:r>
              <a:rPr sz="1600" dirty="0">
                <a:latin typeface="Arial MT"/>
                <a:cs typeface="Arial MT"/>
              </a:rPr>
              <a:t>way</a:t>
            </a:r>
            <a:r>
              <a:rPr sz="1600" spc="-30" dirty="0">
                <a:latin typeface="Arial MT"/>
                <a:cs typeface="Arial MT"/>
              </a:rPr>
              <a:t> </a:t>
            </a:r>
            <a:r>
              <a:rPr sz="1600" dirty="0">
                <a:latin typeface="Arial MT"/>
                <a:cs typeface="Arial MT"/>
              </a:rPr>
              <a:t>to</a:t>
            </a:r>
            <a:r>
              <a:rPr sz="1600" spc="-25" dirty="0">
                <a:latin typeface="Arial MT"/>
                <a:cs typeface="Arial MT"/>
              </a:rPr>
              <a:t> </a:t>
            </a:r>
            <a:r>
              <a:rPr sz="1600" dirty="0">
                <a:latin typeface="Arial MT"/>
                <a:cs typeface="Arial MT"/>
              </a:rPr>
              <a:t>track</a:t>
            </a:r>
            <a:r>
              <a:rPr sz="1600" spc="-30" dirty="0">
                <a:latin typeface="Arial MT"/>
                <a:cs typeface="Arial MT"/>
              </a:rPr>
              <a:t> </a:t>
            </a:r>
            <a:r>
              <a:rPr sz="1600" dirty="0">
                <a:latin typeface="Arial MT"/>
                <a:cs typeface="Arial MT"/>
              </a:rPr>
              <a:t>free</a:t>
            </a:r>
            <a:r>
              <a:rPr sz="1600" spc="-25" dirty="0">
                <a:latin typeface="Arial MT"/>
                <a:cs typeface="Arial MT"/>
              </a:rPr>
              <a:t> and </a:t>
            </a:r>
            <a:r>
              <a:rPr sz="1600" dirty="0">
                <a:latin typeface="Arial MT"/>
                <a:cs typeface="Arial MT"/>
              </a:rPr>
              <a:t>allocated</a:t>
            </a:r>
            <a:r>
              <a:rPr sz="1600" spc="-35" dirty="0">
                <a:latin typeface="Arial MT"/>
                <a:cs typeface="Arial MT"/>
              </a:rPr>
              <a:t> </a:t>
            </a:r>
            <a:r>
              <a:rPr sz="1600" dirty="0">
                <a:latin typeface="Arial MT"/>
                <a:cs typeface="Arial MT"/>
              </a:rPr>
              <a:t>memory</a:t>
            </a:r>
            <a:r>
              <a:rPr sz="1600" spc="-30" dirty="0">
                <a:latin typeface="Arial MT"/>
                <a:cs typeface="Arial MT"/>
              </a:rPr>
              <a:t> </a:t>
            </a:r>
            <a:r>
              <a:rPr sz="1600" dirty="0">
                <a:latin typeface="Arial MT"/>
                <a:cs typeface="Arial MT"/>
              </a:rPr>
              <a:t>blocks</a:t>
            </a:r>
            <a:r>
              <a:rPr sz="1600" spc="-30" dirty="0">
                <a:latin typeface="Arial MT"/>
                <a:cs typeface="Arial MT"/>
              </a:rPr>
              <a:t> </a:t>
            </a:r>
            <a:r>
              <a:rPr sz="1600" dirty="0">
                <a:latin typeface="Arial MT"/>
                <a:cs typeface="Arial MT"/>
              </a:rPr>
              <a:t>in</a:t>
            </a:r>
            <a:r>
              <a:rPr sz="1600" spc="-30" dirty="0">
                <a:latin typeface="Arial MT"/>
                <a:cs typeface="Arial MT"/>
              </a:rPr>
              <a:t> </a:t>
            </a:r>
            <a:r>
              <a:rPr sz="1600" b="1" dirty="0">
                <a:latin typeface="Arial"/>
                <a:cs typeface="Arial"/>
              </a:rPr>
              <a:t>dynamic</a:t>
            </a:r>
            <a:r>
              <a:rPr sz="1600" b="1" spc="-30" dirty="0">
                <a:latin typeface="Arial"/>
                <a:cs typeface="Arial"/>
              </a:rPr>
              <a:t> </a:t>
            </a:r>
            <a:r>
              <a:rPr sz="1600" b="1" spc="-10" dirty="0">
                <a:latin typeface="Arial"/>
                <a:cs typeface="Arial"/>
              </a:rPr>
              <a:t>memory allocators</a:t>
            </a:r>
            <a:r>
              <a:rPr sz="1600" spc="-10" dirty="0">
                <a:latin typeface="Arial MT"/>
                <a:cs typeface="Arial MT"/>
              </a:rPr>
              <a:t>.</a:t>
            </a:r>
            <a:endParaRPr sz="1600" dirty="0">
              <a:latin typeface="Arial MT"/>
              <a:cs typeface="Arial MT"/>
            </a:endParaRPr>
          </a:p>
          <a:p>
            <a:pPr marL="469900" marR="297180" indent="-351790">
              <a:lnSpc>
                <a:spcPct val="114000"/>
              </a:lnSpc>
              <a:spcAft>
                <a:spcPts val="600"/>
              </a:spcAft>
              <a:buChar char="●"/>
              <a:tabLst>
                <a:tab pos="469900" algn="l"/>
              </a:tabLst>
            </a:pPr>
            <a:r>
              <a:rPr sz="1600" dirty="0">
                <a:latin typeface="Arial MT"/>
                <a:cs typeface="Arial MT"/>
              </a:rPr>
              <a:t>Each</a:t>
            </a:r>
            <a:r>
              <a:rPr sz="1600" spc="-25" dirty="0">
                <a:latin typeface="Arial MT"/>
                <a:cs typeface="Arial MT"/>
              </a:rPr>
              <a:t> </a:t>
            </a:r>
            <a:r>
              <a:rPr sz="1600" dirty="0">
                <a:latin typeface="Arial MT"/>
                <a:cs typeface="Arial MT"/>
              </a:rPr>
              <a:t>block</a:t>
            </a:r>
            <a:r>
              <a:rPr sz="1600" spc="-25" dirty="0">
                <a:latin typeface="Arial MT"/>
                <a:cs typeface="Arial MT"/>
              </a:rPr>
              <a:t> </a:t>
            </a:r>
            <a:r>
              <a:rPr sz="1600" dirty="0">
                <a:latin typeface="Arial MT"/>
                <a:cs typeface="Arial MT"/>
              </a:rPr>
              <a:t>contains</a:t>
            </a:r>
            <a:r>
              <a:rPr sz="1600" spc="-20" dirty="0">
                <a:latin typeface="Arial MT"/>
                <a:cs typeface="Arial MT"/>
              </a:rPr>
              <a:t> </a:t>
            </a:r>
            <a:r>
              <a:rPr sz="1600" b="1" dirty="0">
                <a:latin typeface="Arial"/>
                <a:cs typeface="Arial"/>
              </a:rPr>
              <a:t>a</a:t>
            </a:r>
            <a:r>
              <a:rPr sz="1600" b="1" spc="-20" dirty="0">
                <a:latin typeface="Arial"/>
                <a:cs typeface="Arial"/>
              </a:rPr>
              <a:t> </a:t>
            </a:r>
            <a:r>
              <a:rPr sz="1600" b="1" dirty="0">
                <a:latin typeface="Arial"/>
                <a:cs typeface="Arial"/>
              </a:rPr>
              <a:t>header</a:t>
            </a:r>
            <a:r>
              <a:rPr sz="1600" b="1" spc="-25" dirty="0">
                <a:latin typeface="Arial"/>
                <a:cs typeface="Arial"/>
              </a:rPr>
              <a:t> </a:t>
            </a:r>
            <a:r>
              <a:rPr sz="1600" dirty="0">
                <a:latin typeface="Arial MT"/>
                <a:cs typeface="Arial MT"/>
              </a:rPr>
              <a:t>storing</a:t>
            </a:r>
            <a:r>
              <a:rPr sz="1600" spc="-25" dirty="0">
                <a:latin typeface="Arial MT"/>
                <a:cs typeface="Arial MT"/>
              </a:rPr>
              <a:t> </a:t>
            </a:r>
            <a:r>
              <a:rPr sz="1600" dirty="0">
                <a:latin typeface="Arial MT"/>
                <a:cs typeface="Arial MT"/>
              </a:rPr>
              <a:t>the</a:t>
            </a:r>
            <a:r>
              <a:rPr sz="1600" spc="-15" dirty="0">
                <a:latin typeface="Arial MT"/>
                <a:cs typeface="Arial MT"/>
              </a:rPr>
              <a:t> </a:t>
            </a:r>
            <a:r>
              <a:rPr sz="1600" b="1" dirty="0">
                <a:latin typeface="Arial"/>
                <a:cs typeface="Arial"/>
              </a:rPr>
              <a:t>size</a:t>
            </a:r>
            <a:r>
              <a:rPr sz="1600" b="1" spc="-25" dirty="0">
                <a:latin typeface="Arial"/>
                <a:cs typeface="Arial"/>
              </a:rPr>
              <a:t> and </a:t>
            </a:r>
            <a:r>
              <a:rPr sz="1600" b="1" spc="-10" dirty="0">
                <a:latin typeface="Arial"/>
                <a:cs typeface="Arial"/>
              </a:rPr>
              <a:t>allocation</a:t>
            </a:r>
            <a:r>
              <a:rPr sz="1600" b="1" spc="-25" dirty="0">
                <a:latin typeface="Arial"/>
                <a:cs typeface="Arial"/>
              </a:rPr>
              <a:t> </a:t>
            </a:r>
            <a:r>
              <a:rPr sz="1600" b="1" spc="-10" dirty="0">
                <a:latin typeface="Arial"/>
                <a:cs typeface="Arial"/>
              </a:rPr>
              <a:t>status</a:t>
            </a:r>
            <a:r>
              <a:rPr sz="1600" spc="-10" dirty="0">
                <a:latin typeface="Arial MT"/>
                <a:cs typeface="Arial MT"/>
              </a:rPr>
              <a:t>.</a:t>
            </a:r>
            <a:endParaRPr sz="1600" dirty="0">
              <a:latin typeface="Arial MT"/>
              <a:cs typeface="Arial MT"/>
            </a:endParaRPr>
          </a:p>
          <a:p>
            <a:pPr marL="469900" marR="59690" indent="-351790">
              <a:lnSpc>
                <a:spcPct val="114000"/>
              </a:lnSpc>
              <a:buChar char="●"/>
              <a:tabLst>
                <a:tab pos="469900" algn="l"/>
              </a:tabLst>
            </a:pPr>
            <a:r>
              <a:rPr sz="1600" dirty="0">
                <a:latin typeface="Arial MT"/>
                <a:cs typeface="Arial MT"/>
              </a:rPr>
              <a:t>The</a:t>
            </a:r>
            <a:r>
              <a:rPr sz="1600" spc="-25" dirty="0">
                <a:latin typeface="Arial MT"/>
                <a:cs typeface="Arial MT"/>
              </a:rPr>
              <a:t> </a:t>
            </a:r>
            <a:r>
              <a:rPr sz="1600" dirty="0">
                <a:latin typeface="Arial MT"/>
                <a:cs typeface="Arial MT"/>
              </a:rPr>
              <a:t>allocator</a:t>
            </a:r>
            <a:r>
              <a:rPr sz="1600" spc="-20" dirty="0">
                <a:latin typeface="Arial MT"/>
                <a:cs typeface="Arial MT"/>
              </a:rPr>
              <a:t> </a:t>
            </a:r>
            <a:r>
              <a:rPr sz="1600" b="1" dirty="0">
                <a:latin typeface="Arial"/>
                <a:cs typeface="Arial"/>
              </a:rPr>
              <a:t>traverses</a:t>
            </a:r>
            <a:r>
              <a:rPr sz="1600" b="1" spc="-25" dirty="0">
                <a:latin typeface="Arial"/>
                <a:cs typeface="Arial"/>
              </a:rPr>
              <a:t> </a:t>
            </a:r>
            <a:r>
              <a:rPr sz="1600" b="1" dirty="0">
                <a:latin typeface="Arial"/>
                <a:cs typeface="Arial"/>
              </a:rPr>
              <a:t>the</a:t>
            </a:r>
            <a:r>
              <a:rPr sz="1600" b="1" spc="-20" dirty="0">
                <a:latin typeface="Arial"/>
                <a:cs typeface="Arial"/>
              </a:rPr>
              <a:t> </a:t>
            </a:r>
            <a:r>
              <a:rPr sz="1600" b="1" dirty="0">
                <a:latin typeface="Arial"/>
                <a:cs typeface="Arial"/>
              </a:rPr>
              <a:t>heap</a:t>
            </a:r>
            <a:r>
              <a:rPr sz="1600" b="1" spc="-25" dirty="0">
                <a:latin typeface="Arial"/>
                <a:cs typeface="Arial"/>
              </a:rPr>
              <a:t> </a:t>
            </a:r>
            <a:r>
              <a:rPr sz="1600" b="1" spc="-10" dirty="0">
                <a:latin typeface="Arial"/>
                <a:cs typeface="Arial"/>
              </a:rPr>
              <a:t>sequentially </a:t>
            </a:r>
            <a:r>
              <a:rPr sz="1600" spc="-20" dirty="0">
                <a:latin typeface="Arial MT"/>
                <a:cs typeface="Arial MT"/>
              </a:rPr>
              <a:t>when </a:t>
            </a:r>
            <a:r>
              <a:rPr sz="1600" dirty="0">
                <a:latin typeface="Arial MT"/>
                <a:cs typeface="Arial MT"/>
              </a:rPr>
              <a:t>searching</a:t>
            </a:r>
            <a:r>
              <a:rPr sz="1600" spc="-40" dirty="0">
                <a:latin typeface="Arial MT"/>
                <a:cs typeface="Arial MT"/>
              </a:rPr>
              <a:t> </a:t>
            </a:r>
            <a:r>
              <a:rPr sz="1600" dirty="0">
                <a:latin typeface="Arial MT"/>
                <a:cs typeface="Arial MT"/>
              </a:rPr>
              <a:t>for</a:t>
            </a:r>
            <a:r>
              <a:rPr sz="1600" spc="-40" dirty="0">
                <a:latin typeface="Arial MT"/>
                <a:cs typeface="Arial MT"/>
              </a:rPr>
              <a:t> </a:t>
            </a:r>
            <a:r>
              <a:rPr sz="1600" dirty="0">
                <a:latin typeface="Arial MT"/>
                <a:cs typeface="Arial MT"/>
              </a:rPr>
              <a:t>free</a:t>
            </a:r>
            <a:r>
              <a:rPr sz="1600" spc="-40" dirty="0">
                <a:latin typeface="Arial MT"/>
                <a:cs typeface="Arial MT"/>
              </a:rPr>
              <a:t> </a:t>
            </a:r>
            <a:r>
              <a:rPr sz="1600" spc="-10" dirty="0">
                <a:latin typeface="Arial MT"/>
                <a:cs typeface="Arial MT"/>
              </a:rPr>
              <a:t>blocks.</a:t>
            </a:r>
            <a:endParaRPr sz="1600" dirty="0">
              <a:latin typeface="Arial MT"/>
              <a:cs typeface="Arial MT"/>
            </a:endParaRPr>
          </a:p>
          <a:p>
            <a:pPr>
              <a:lnSpc>
                <a:spcPct val="114000"/>
              </a:lnSpc>
              <a:spcBef>
                <a:spcPts val="15"/>
              </a:spcBef>
            </a:pPr>
            <a:endParaRPr sz="1600" dirty="0">
              <a:latin typeface="Arial MT"/>
              <a:cs typeface="Arial MT"/>
            </a:endParaRPr>
          </a:p>
          <a:p>
            <a:pPr marL="12700">
              <a:lnSpc>
                <a:spcPct val="114000"/>
              </a:lnSpc>
              <a:spcAft>
                <a:spcPts val="1000"/>
              </a:spcAft>
            </a:pPr>
            <a:r>
              <a:rPr sz="1600" dirty="0">
                <a:latin typeface="Arial MT"/>
                <a:cs typeface="Arial MT"/>
              </a:rPr>
              <a:t>Each</a:t>
            </a:r>
            <a:r>
              <a:rPr sz="1600" spc="-20" dirty="0">
                <a:latin typeface="Arial MT"/>
                <a:cs typeface="Arial MT"/>
              </a:rPr>
              <a:t> </a:t>
            </a:r>
            <a:r>
              <a:rPr sz="1600" dirty="0">
                <a:latin typeface="Arial MT"/>
                <a:cs typeface="Arial MT"/>
              </a:rPr>
              <a:t>block</a:t>
            </a:r>
            <a:r>
              <a:rPr sz="1600" spc="-10" dirty="0">
                <a:latin typeface="Arial MT"/>
                <a:cs typeface="Arial MT"/>
              </a:rPr>
              <a:t> </a:t>
            </a:r>
            <a:r>
              <a:rPr sz="1600" dirty="0">
                <a:latin typeface="Arial MT"/>
                <a:cs typeface="Arial MT"/>
              </a:rPr>
              <a:t>consists</a:t>
            </a:r>
            <a:r>
              <a:rPr sz="1600" spc="-10" dirty="0">
                <a:latin typeface="Arial MT"/>
                <a:cs typeface="Arial MT"/>
              </a:rPr>
              <a:t> </a:t>
            </a:r>
            <a:r>
              <a:rPr sz="1600" spc="-25" dirty="0">
                <a:latin typeface="Arial MT"/>
                <a:cs typeface="Arial MT"/>
              </a:rPr>
              <a:t>of:</a:t>
            </a:r>
            <a:endParaRPr lang="en-US" sz="1600" spc="-25" dirty="0">
              <a:latin typeface="Arial MT"/>
              <a:cs typeface="Arial MT"/>
            </a:endParaRPr>
          </a:p>
          <a:p>
            <a:pPr marL="457200" marR="194310" indent="-398145">
              <a:lnSpc>
                <a:spcPct val="114000"/>
              </a:lnSpc>
              <a:spcBef>
                <a:spcPts val="100"/>
              </a:spcBef>
              <a:spcAft>
                <a:spcPts val="600"/>
              </a:spcAft>
              <a:buFont typeface="Arial MT"/>
              <a:buAutoNum type="arabicPeriod"/>
              <a:tabLst>
                <a:tab pos="410209" algn="l"/>
              </a:tabLst>
            </a:pPr>
            <a:r>
              <a:rPr lang="en-US" sz="1600" b="1" dirty="0">
                <a:latin typeface="Arial"/>
                <a:cs typeface="Arial"/>
              </a:rPr>
              <a:t>Header</a:t>
            </a:r>
            <a:r>
              <a:rPr lang="en-US" sz="1600" dirty="0">
                <a:latin typeface="Arial MT"/>
                <a:cs typeface="Arial MT"/>
              </a:rPr>
              <a:t>:</a:t>
            </a:r>
            <a:r>
              <a:rPr lang="en-US" sz="1600" spc="-35" dirty="0">
                <a:latin typeface="Arial MT"/>
                <a:cs typeface="Arial MT"/>
              </a:rPr>
              <a:t> </a:t>
            </a:r>
            <a:r>
              <a:rPr lang="en-US" sz="1600" dirty="0">
                <a:latin typeface="Arial MT"/>
                <a:cs typeface="Arial MT"/>
              </a:rPr>
              <a:t>Contains</a:t>
            </a:r>
            <a:r>
              <a:rPr lang="en-US" sz="1600" spc="-35" dirty="0">
                <a:latin typeface="Arial MT"/>
                <a:cs typeface="Arial MT"/>
              </a:rPr>
              <a:t> </a:t>
            </a:r>
            <a:r>
              <a:rPr lang="en-US" sz="1600" dirty="0">
                <a:latin typeface="Arial MT"/>
                <a:cs typeface="Arial MT"/>
              </a:rPr>
              <a:t>metadata</a:t>
            </a:r>
            <a:r>
              <a:rPr lang="en-US" sz="1600" spc="-30" dirty="0">
                <a:latin typeface="Arial MT"/>
                <a:cs typeface="Arial MT"/>
              </a:rPr>
              <a:t> </a:t>
            </a:r>
            <a:r>
              <a:rPr lang="en-US" sz="1600" dirty="0">
                <a:latin typeface="Arial MT"/>
                <a:cs typeface="Arial MT"/>
              </a:rPr>
              <a:t>such</a:t>
            </a:r>
            <a:r>
              <a:rPr lang="en-US" sz="1600" spc="-35" dirty="0">
                <a:latin typeface="Arial MT"/>
                <a:cs typeface="Arial MT"/>
              </a:rPr>
              <a:t> </a:t>
            </a:r>
            <a:r>
              <a:rPr lang="en-US" sz="1600" dirty="0">
                <a:latin typeface="Arial MT"/>
                <a:cs typeface="Arial MT"/>
              </a:rPr>
              <a:t>as</a:t>
            </a:r>
            <a:r>
              <a:rPr lang="en-US" sz="1600" spc="-35" dirty="0">
                <a:latin typeface="Arial MT"/>
                <a:cs typeface="Arial MT"/>
              </a:rPr>
              <a:t> </a:t>
            </a:r>
            <a:r>
              <a:rPr lang="en-US" sz="1600" dirty="0">
                <a:latin typeface="Arial MT"/>
                <a:cs typeface="Arial MT"/>
              </a:rPr>
              <a:t>the</a:t>
            </a:r>
            <a:r>
              <a:rPr lang="en-US" sz="1600" spc="-30" dirty="0">
                <a:latin typeface="Arial MT"/>
                <a:cs typeface="Arial MT"/>
              </a:rPr>
              <a:t> </a:t>
            </a:r>
            <a:r>
              <a:rPr lang="en-US" sz="1600" dirty="0">
                <a:latin typeface="Arial MT"/>
                <a:cs typeface="Arial MT"/>
              </a:rPr>
              <a:t>size</a:t>
            </a:r>
            <a:r>
              <a:rPr lang="en-US" sz="1600" spc="-35" dirty="0">
                <a:latin typeface="Arial MT"/>
                <a:cs typeface="Arial MT"/>
              </a:rPr>
              <a:t> </a:t>
            </a:r>
            <a:r>
              <a:rPr lang="en-US" sz="1600" spc="-25" dirty="0">
                <a:latin typeface="Arial MT"/>
                <a:cs typeface="Arial MT"/>
              </a:rPr>
              <a:t>and </a:t>
            </a:r>
            <a:r>
              <a:rPr lang="en-US" sz="1600" dirty="0">
                <a:latin typeface="Arial MT"/>
                <a:cs typeface="Arial MT"/>
              </a:rPr>
              <a:t>allocation</a:t>
            </a:r>
            <a:r>
              <a:rPr lang="en-US" sz="1600" spc="-50" dirty="0">
                <a:latin typeface="Arial MT"/>
                <a:cs typeface="Arial MT"/>
              </a:rPr>
              <a:t> </a:t>
            </a:r>
            <a:r>
              <a:rPr lang="en-US" sz="1600" spc="-10" dirty="0">
                <a:latin typeface="Arial MT"/>
                <a:cs typeface="Arial MT"/>
              </a:rPr>
              <a:t>status.</a:t>
            </a:r>
            <a:endParaRPr lang="en-US" sz="1600" dirty="0">
              <a:latin typeface="Arial MT"/>
              <a:cs typeface="Arial MT"/>
            </a:endParaRPr>
          </a:p>
          <a:p>
            <a:pPr marL="457200" marR="379095" indent="-398145">
              <a:lnSpc>
                <a:spcPct val="114000"/>
              </a:lnSpc>
              <a:spcAft>
                <a:spcPts val="600"/>
              </a:spcAft>
              <a:buFont typeface="Arial MT"/>
              <a:buAutoNum type="arabicPeriod"/>
              <a:tabLst>
                <a:tab pos="410209" algn="l"/>
              </a:tabLst>
            </a:pPr>
            <a:r>
              <a:rPr lang="en-US" sz="1600" b="1" dirty="0">
                <a:latin typeface="Arial"/>
                <a:cs typeface="Arial"/>
              </a:rPr>
              <a:t>Payload</a:t>
            </a:r>
            <a:r>
              <a:rPr lang="en-US" sz="1600" dirty="0">
                <a:latin typeface="Arial MT"/>
                <a:cs typeface="Arial MT"/>
              </a:rPr>
              <a:t>:</a:t>
            </a:r>
            <a:r>
              <a:rPr lang="en-US" sz="1600" spc="-65" dirty="0">
                <a:latin typeface="Arial MT"/>
                <a:cs typeface="Arial MT"/>
              </a:rPr>
              <a:t> </a:t>
            </a:r>
            <a:r>
              <a:rPr lang="en-US" sz="1600" dirty="0">
                <a:latin typeface="Arial MT"/>
                <a:cs typeface="Arial MT"/>
              </a:rPr>
              <a:t>The</a:t>
            </a:r>
            <a:r>
              <a:rPr lang="en-US" sz="1600" spc="-40" dirty="0">
                <a:latin typeface="Arial MT"/>
                <a:cs typeface="Arial MT"/>
              </a:rPr>
              <a:t> </a:t>
            </a:r>
            <a:r>
              <a:rPr lang="en-US" sz="1600" dirty="0">
                <a:latin typeface="Arial MT"/>
                <a:cs typeface="Arial MT"/>
              </a:rPr>
              <a:t>actual</a:t>
            </a:r>
            <a:r>
              <a:rPr lang="en-US" sz="1600" spc="-35" dirty="0">
                <a:latin typeface="Arial MT"/>
                <a:cs typeface="Arial MT"/>
              </a:rPr>
              <a:t> </a:t>
            </a:r>
            <a:r>
              <a:rPr lang="en-US" sz="1600" dirty="0">
                <a:latin typeface="Arial MT"/>
                <a:cs typeface="Arial MT"/>
              </a:rPr>
              <a:t>memory</a:t>
            </a:r>
            <a:r>
              <a:rPr lang="en-US" sz="1600" spc="-35" dirty="0">
                <a:latin typeface="Arial MT"/>
                <a:cs typeface="Arial MT"/>
              </a:rPr>
              <a:t> </a:t>
            </a:r>
            <a:r>
              <a:rPr lang="en-US" sz="1600" dirty="0">
                <a:latin typeface="Arial MT"/>
                <a:cs typeface="Arial MT"/>
              </a:rPr>
              <a:t>available</a:t>
            </a:r>
            <a:r>
              <a:rPr lang="en-US" sz="1600" spc="-35" dirty="0">
                <a:latin typeface="Arial MT"/>
                <a:cs typeface="Arial MT"/>
              </a:rPr>
              <a:t> </a:t>
            </a:r>
            <a:r>
              <a:rPr lang="en-US" sz="1600" dirty="0">
                <a:latin typeface="Arial MT"/>
                <a:cs typeface="Arial MT"/>
              </a:rPr>
              <a:t>for</a:t>
            </a:r>
            <a:r>
              <a:rPr lang="en-US" sz="1600" spc="-40" dirty="0">
                <a:latin typeface="Arial MT"/>
                <a:cs typeface="Arial MT"/>
              </a:rPr>
              <a:t> </a:t>
            </a:r>
            <a:r>
              <a:rPr lang="en-US" sz="1600" spc="-20" dirty="0">
                <a:latin typeface="Arial MT"/>
                <a:cs typeface="Arial MT"/>
              </a:rPr>
              <a:t>user </a:t>
            </a:r>
            <a:r>
              <a:rPr lang="en-US" sz="1600" spc="-10" dirty="0">
                <a:latin typeface="Arial MT"/>
                <a:cs typeface="Arial MT"/>
              </a:rPr>
              <a:t>allocation.</a:t>
            </a:r>
            <a:endParaRPr lang="en-US" sz="1600" dirty="0">
              <a:latin typeface="Arial MT"/>
              <a:cs typeface="Arial MT"/>
            </a:endParaRPr>
          </a:p>
          <a:p>
            <a:pPr marL="457200" indent="-397510">
              <a:lnSpc>
                <a:spcPct val="114000"/>
              </a:lnSpc>
              <a:spcBef>
                <a:spcPts val="285"/>
              </a:spcBef>
              <a:buFont typeface="Arial MT"/>
              <a:buAutoNum type="arabicPeriod"/>
              <a:tabLst>
                <a:tab pos="410209" algn="l"/>
              </a:tabLst>
            </a:pPr>
            <a:r>
              <a:rPr lang="en-US" sz="1600" b="1" dirty="0">
                <a:latin typeface="Arial"/>
                <a:cs typeface="Arial"/>
              </a:rPr>
              <a:t>Optional</a:t>
            </a:r>
            <a:r>
              <a:rPr lang="en-US" sz="1600" b="1" spc="-50" dirty="0">
                <a:latin typeface="Arial"/>
                <a:cs typeface="Arial"/>
              </a:rPr>
              <a:t> </a:t>
            </a:r>
            <a:r>
              <a:rPr lang="en-US" sz="1600" b="1" dirty="0">
                <a:latin typeface="Arial"/>
                <a:cs typeface="Arial"/>
              </a:rPr>
              <a:t>Footer</a:t>
            </a:r>
            <a:r>
              <a:rPr lang="en-US" sz="1600" dirty="0">
                <a:latin typeface="Arial MT"/>
                <a:cs typeface="Arial MT"/>
              </a:rPr>
              <a:t>:</a:t>
            </a:r>
            <a:r>
              <a:rPr lang="en-US" sz="1600" spc="-50" dirty="0">
                <a:latin typeface="Arial MT"/>
                <a:cs typeface="Arial MT"/>
              </a:rPr>
              <a:t> </a:t>
            </a:r>
            <a:r>
              <a:rPr lang="en-US" sz="1600" dirty="0">
                <a:latin typeface="Arial MT"/>
                <a:cs typeface="Arial MT"/>
              </a:rPr>
              <a:t>Used</a:t>
            </a:r>
            <a:r>
              <a:rPr lang="en-US" sz="1600" spc="-50" dirty="0">
                <a:latin typeface="Arial MT"/>
                <a:cs typeface="Arial MT"/>
              </a:rPr>
              <a:t> </a:t>
            </a:r>
            <a:r>
              <a:rPr lang="en-US" sz="1600" dirty="0">
                <a:latin typeface="Arial MT"/>
                <a:cs typeface="Arial MT"/>
              </a:rPr>
              <a:t>for</a:t>
            </a:r>
            <a:r>
              <a:rPr lang="en-US" sz="1600" spc="-45" dirty="0">
                <a:latin typeface="Arial MT"/>
                <a:cs typeface="Arial MT"/>
              </a:rPr>
              <a:t> </a:t>
            </a:r>
            <a:r>
              <a:rPr lang="en-US" sz="1600" dirty="0">
                <a:latin typeface="Arial MT"/>
                <a:cs typeface="Arial MT"/>
              </a:rPr>
              <a:t>bidirectional</a:t>
            </a:r>
            <a:r>
              <a:rPr lang="en-US" sz="1600" spc="-50" dirty="0">
                <a:latin typeface="Arial MT"/>
                <a:cs typeface="Arial MT"/>
              </a:rPr>
              <a:t> </a:t>
            </a:r>
            <a:r>
              <a:rPr lang="en-US" sz="1600" spc="-10" dirty="0">
                <a:latin typeface="Arial MT"/>
                <a:cs typeface="Arial MT"/>
              </a:rPr>
              <a:t>coalescing</a:t>
            </a:r>
            <a:endParaRPr sz="1600" dirty="0">
              <a:latin typeface="Arial MT"/>
              <a:cs typeface="Arial MT"/>
            </a:endParaRPr>
          </a:p>
        </p:txBody>
      </p:sp>
      <p:grpSp>
        <p:nvGrpSpPr>
          <p:cNvPr id="6" name="object 6" descr="A detailed layout of a memory block. It features a 64-bit Header containing the block size and an allocation bit (a=1 for allocated, a=0 for free), followed by the Payload and optional Padding."/>
          <p:cNvGrpSpPr/>
          <p:nvPr/>
        </p:nvGrpSpPr>
        <p:grpSpPr>
          <a:xfrm>
            <a:off x="6040849" y="2955425"/>
            <a:ext cx="5972175" cy="2632075"/>
            <a:chOff x="6040849" y="2955425"/>
            <a:chExt cx="5972175" cy="2632075"/>
          </a:xfrm>
        </p:grpSpPr>
        <p:pic>
          <p:nvPicPr>
            <p:cNvPr id="7" name="object 7"/>
            <p:cNvPicPr/>
            <p:nvPr/>
          </p:nvPicPr>
          <p:blipFill>
            <a:blip r:embed="rId3" cstate="print"/>
            <a:stretch>
              <a:fillRect/>
            </a:stretch>
          </p:blipFill>
          <p:spPr>
            <a:xfrm>
              <a:off x="6128380" y="3159938"/>
              <a:ext cx="5694382" cy="2144876"/>
            </a:xfrm>
            <a:prstGeom prst="rect">
              <a:avLst/>
            </a:prstGeom>
          </p:spPr>
        </p:pic>
        <p:sp>
          <p:nvSpPr>
            <p:cNvPr id="8" name="object 8"/>
            <p:cNvSpPr/>
            <p:nvPr/>
          </p:nvSpPr>
          <p:spPr>
            <a:xfrm>
              <a:off x="6045612" y="2960187"/>
              <a:ext cx="5962650" cy="2622550"/>
            </a:xfrm>
            <a:custGeom>
              <a:avLst/>
              <a:gdLst/>
              <a:ahLst/>
              <a:cxnLst/>
              <a:rect l="l" t="t" r="r" b="b"/>
              <a:pathLst>
                <a:path w="5962650" h="2622550">
                  <a:moveTo>
                    <a:pt x="0" y="0"/>
                  </a:moveTo>
                  <a:lnTo>
                    <a:pt x="5962299" y="0"/>
                  </a:lnTo>
                  <a:lnTo>
                    <a:pt x="5962299" y="2622374"/>
                  </a:lnTo>
                  <a:lnTo>
                    <a:pt x="0" y="2622374"/>
                  </a:lnTo>
                  <a:lnTo>
                    <a:pt x="0" y="0"/>
                  </a:lnTo>
                  <a:close/>
                </a:path>
              </a:pathLst>
            </a:custGeom>
            <a:ln w="9524">
              <a:solidFill>
                <a:srgbClr val="0F2044"/>
              </a:solidFill>
            </a:ln>
          </p:spPr>
          <p:txBody>
            <a:bodyPr wrap="square" lIns="0" tIns="0" rIns="0" bIns="0" rtlCol="0"/>
            <a:lstStyle/>
            <a:p>
              <a:endParaRPr/>
            </a:p>
          </p:txBody>
        </p:sp>
      </p:grpSp>
      <p:sp>
        <p:nvSpPr>
          <p:cNvPr id="5" name="object 5">
            <a:extLst>
              <a:ext uri="{C183D7F6-B498-43B3-948B-1728B52AA6E4}">
                <adec:decorative xmlns:adec="http://schemas.microsoft.com/office/drawing/2017/decorative" val="1"/>
              </a:ext>
            </a:extLst>
          </p:cNvPr>
          <p:cNvSpPr txBox="1"/>
          <p:nvPr/>
        </p:nvSpPr>
        <p:spPr>
          <a:xfrm>
            <a:off x="8169374" y="5767645"/>
            <a:ext cx="1646555" cy="177800"/>
          </a:xfrm>
          <a:prstGeom prst="rect">
            <a:avLst/>
          </a:prstGeom>
        </p:spPr>
        <p:txBody>
          <a:bodyPr vert="horz" wrap="square" lIns="0" tIns="12700" rIns="0" bIns="0" rtlCol="0">
            <a:spAutoFit/>
          </a:bodyPr>
          <a:lstStyle/>
          <a:p>
            <a:pPr marL="12700">
              <a:lnSpc>
                <a:spcPct val="100000"/>
              </a:lnSpc>
              <a:spcBef>
                <a:spcPts val="100"/>
              </a:spcBef>
            </a:pPr>
            <a:r>
              <a:rPr sz="1000" dirty="0">
                <a:solidFill>
                  <a:srgbClr val="0F2044"/>
                </a:solidFill>
                <a:latin typeface="Arial MT"/>
                <a:cs typeface="Arial MT"/>
              </a:rPr>
              <a:t>Image</a:t>
            </a:r>
            <a:r>
              <a:rPr sz="1000" spc="-25" dirty="0">
                <a:solidFill>
                  <a:srgbClr val="0F2044"/>
                </a:solidFill>
                <a:latin typeface="Arial MT"/>
                <a:cs typeface="Arial MT"/>
              </a:rPr>
              <a:t> </a:t>
            </a:r>
            <a:r>
              <a:rPr sz="1000" dirty="0">
                <a:solidFill>
                  <a:srgbClr val="0F2044"/>
                </a:solidFill>
                <a:latin typeface="Arial MT"/>
                <a:cs typeface="Arial MT"/>
              </a:rPr>
              <a:t>credit</a:t>
            </a:r>
            <a:r>
              <a:rPr sz="1000" spc="-20" dirty="0">
                <a:solidFill>
                  <a:srgbClr val="0F2044"/>
                </a:solidFill>
                <a:latin typeface="Arial MT"/>
                <a:cs typeface="Arial MT"/>
              </a:rPr>
              <a:t> </a:t>
            </a:r>
            <a:r>
              <a:rPr sz="1000" dirty="0">
                <a:solidFill>
                  <a:srgbClr val="0F2044"/>
                </a:solidFill>
                <a:latin typeface="Arial MT"/>
                <a:cs typeface="Arial MT"/>
              </a:rPr>
              <a:t>-</a:t>
            </a:r>
            <a:r>
              <a:rPr sz="1000" spc="-25" dirty="0">
                <a:solidFill>
                  <a:srgbClr val="0F2044"/>
                </a:solidFill>
                <a:latin typeface="Arial MT"/>
                <a:cs typeface="Arial MT"/>
              </a:rPr>
              <a:t> </a:t>
            </a:r>
            <a:r>
              <a:rPr sz="1000" spc="-10" dirty="0">
                <a:solidFill>
                  <a:srgbClr val="0F2044"/>
                </a:solidFill>
                <a:latin typeface="Arial MT"/>
                <a:cs typeface="Arial MT"/>
              </a:rPr>
              <a:t>https://awb.fyi/</a:t>
            </a:r>
            <a:endParaRPr sz="1000" dirty="0">
              <a:latin typeface="Arial MT"/>
              <a:cs typeface="Arial M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Implicit</a:t>
            </a:r>
            <a:r>
              <a:rPr spc="-100" dirty="0"/>
              <a:t> </a:t>
            </a:r>
            <a:r>
              <a:rPr dirty="0"/>
              <a:t>Free</a:t>
            </a:r>
            <a:r>
              <a:rPr spc="-100" dirty="0"/>
              <a:t> </a:t>
            </a:r>
            <a:r>
              <a:rPr spc="-20" dirty="0"/>
              <a:t>List</a:t>
            </a:r>
          </a:p>
        </p:txBody>
      </p:sp>
      <p:sp>
        <p:nvSpPr>
          <p:cNvPr id="3" name="object 3"/>
          <p:cNvSpPr txBox="1"/>
          <p:nvPr/>
        </p:nvSpPr>
        <p:spPr>
          <a:xfrm>
            <a:off x="484300" y="3086982"/>
            <a:ext cx="3401900" cy="2086405"/>
          </a:xfrm>
          <a:prstGeom prst="rect">
            <a:avLst/>
          </a:prstGeom>
        </p:spPr>
        <p:txBody>
          <a:bodyPr vert="horz" wrap="square" lIns="0" tIns="12700" rIns="0" bIns="0" rtlCol="0">
            <a:spAutoFit/>
          </a:bodyPr>
          <a:lstStyle/>
          <a:p>
            <a:pPr marL="12700" marR="513715">
              <a:lnSpc>
                <a:spcPct val="114000"/>
              </a:lnSpc>
              <a:spcBef>
                <a:spcPts val="100"/>
              </a:spcBef>
            </a:pPr>
            <a:r>
              <a:rPr sz="1800" b="1" dirty="0">
                <a:latin typeface="Arial"/>
                <a:cs typeface="Arial"/>
              </a:rPr>
              <a:t>Implicit</a:t>
            </a:r>
            <a:r>
              <a:rPr sz="1800" b="1" spc="-10" dirty="0">
                <a:latin typeface="Arial"/>
                <a:cs typeface="Arial"/>
              </a:rPr>
              <a:t> </a:t>
            </a:r>
            <a:r>
              <a:rPr sz="1800" b="1" dirty="0">
                <a:latin typeface="Arial"/>
                <a:cs typeface="Arial"/>
              </a:rPr>
              <a:t>Free</a:t>
            </a:r>
            <a:r>
              <a:rPr sz="1800" b="1" spc="-10" dirty="0">
                <a:latin typeface="Arial"/>
                <a:cs typeface="Arial"/>
              </a:rPr>
              <a:t> </a:t>
            </a:r>
            <a:r>
              <a:rPr sz="1800" b="1" dirty="0">
                <a:latin typeface="Arial"/>
                <a:cs typeface="Arial"/>
              </a:rPr>
              <a:t>List</a:t>
            </a:r>
            <a:r>
              <a:rPr lang="en-US" b="1" spc="-5" dirty="0">
                <a:latin typeface="Arial"/>
                <a:cs typeface="Arial"/>
              </a:rPr>
              <a:t>:</a:t>
            </a:r>
            <a:br>
              <a:rPr lang="en-US" sz="1800" b="1" spc="-5" dirty="0">
                <a:latin typeface="Arial"/>
                <a:cs typeface="Arial"/>
              </a:rPr>
            </a:br>
            <a:r>
              <a:rPr sz="1800" dirty="0">
                <a:latin typeface="Arial MT"/>
                <a:cs typeface="Arial MT"/>
              </a:rPr>
              <a:t>links</a:t>
            </a:r>
            <a:r>
              <a:rPr sz="1800" spc="-5" dirty="0">
                <a:latin typeface="Arial MT"/>
                <a:cs typeface="Arial MT"/>
              </a:rPr>
              <a:t> </a:t>
            </a:r>
            <a:r>
              <a:rPr sz="1800" spc="-25" dirty="0">
                <a:latin typeface="Arial MT"/>
                <a:cs typeface="Arial MT"/>
              </a:rPr>
              <a:t>all </a:t>
            </a:r>
            <a:r>
              <a:rPr sz="1800" spc="-10" dirty="0">
                <a:latin typeface="Arial MT"/>
                <a:cs typeface="Arial MT"/>
              </a:rPr>
              <a:t>blocks.</a:t>
            </a:r>
            <a:endParaRPr sz="1800" dirty="0">
              <a:latin typeface="Arial MT"/>
              <a:cs typeface="Arial MT"/>
            </a:endParaRPr>
          </a:p>
          <a:p>
            <a:pPr>
              <a:lnSpc>
                <a:spcPct val="114000"/>
              </a:lnSpc>
              <a:spcBef>
                <a:spcPts val="409"/>
              </a:spcBef>
            </a:pPr>
            <a:endParaRPr sz="1800" dirty="0">
              <a:latin typeface="Arial MT"/>
              <a:cs typeface="Arial MT"/>
            </a:endParaRPr>
          </a:p>
          <a:p>
            <a:pPr marL="12700" marR="5080">
              <a:lnSpc>
                <a:spcPct val="114000"/>
              </a:lnSpc>
              <a:spcBef>
                <a:spcPts val="5"/>
              </a:spcBef>
              <a:spcAft>
                <a:spcPts val="1200"/>
              </a:spcAft>
            </a:pPr>
            <a:r>
              <a:rPr sz="1800" dirty="0">
                <a:latin typeface="Arial MT"/>
                <a:cs typeface="Arial MT"/>
              </a:rPr>
              <a:t>For</a:t>
            </a:r>
            <a:r>
              <a:rPr sz="1800" spc="-20" dirty="0">
                <a:latin typeface="Arial MT"/>
                <a:cs typeface="Arial MT"/>
              </a:rPr>
              <a:t> </a:t>
            </a:r>
            <a:r>
              <a:rPr sz="1800" dirty="0">
                <a:latin typeface="Arial MT"/>
                <a:cs typeface="Arial MT"/>
              </a:rPr>
              <a:t>each</a:t>
            </a:r>
            <a:r>
              <a:rPr sz="1800" spc="-15" dirty="0">
                <a:latin typeface="Arial MT"/>
                <a:cs typeface="Arial MT"/>
              </a:rPr>
              <a:t> </a:t>
            </a:r>
            <a:r>
              <a:rPr sz="1800" dirty="0">
                <a:latin typeface="Arial MT"/>
                <a:cs typeface="Arial MT"/>
              </a:rPr>
              <a:t>block,</a:t>
            </a:r>
            <a:r>
              <a:rPr sz="1800" spc="-20" dirty="0">
                <a:latin typeface="Arial MT"/>
                <a:cs typeface="Arial MT"/>
              </a:rPr>
              <a:t> </a:t>
            </a:r>
            <a:br>
              <a:rPr lang="en-US" sz="1800" spc="-20" dirty="0">
                <a:latin typeface="Arial MT"/>
                <a:cs typeface="Arial MT"/>
              </a:rPr>
            </a:br>
            <a:r>
              <a:rPr sz="1800" dirty="0">
                <a:latin typeface="Arial MT"/>
                <a:cs typeface="Arial MT"/>
              </a:rPr>
              <a:t>we</a:t>
            </a:r>
            <a:r>
              <a:rPr sz="1800" spc="-15" dirty="0">
                <a:latin typeface="Arial MT"/>
                <a:cs typeface="Arial MT"/>
              </a:rPr>
              <a:t> </a:t>
            </a:r>
            <a:r>
              <a:rPr sz="1800" dirty="0">
                <a:latin typeface="Arial MT"/>
                <a:cs typeface="Arial MT"/>
              </a:rPr>
              <a:t>need</a:t>
            </a:r>
            <a:r>
              <a:rPr sz="1800" spc="5" dirty="0">
                <a:latin typeface="Arial MT"/>
                <a:cs typeface="Arial MT"/>
              </a:rPr>
              <a:t> </a:t>
            </a:r>
            <a:r>
              <a:rPr sz="1800" i="1" spc="-20" dirty="0">
                <a:latin typeface="Arial"/>
                <a:cs typeface="Arial"/>
              </a:rPr>
              <a:t>size </a:t>
            </a:r>
            <a:r>
              <a:rPr sz="1800" dirty="0">
                <a:latin typeface="Arial MT"/>
                <a:cs typeface="Arial MT"/>
              </a:rPr>
              <a:t>and</a:t>
            </a:r>
            <a:r>
              <a:rPr sz="1800" spc="-15" dirty="0">
                <a:latin typeface="Arial MT"/>
                <a:cs typeface="Arial MT"/>
              </a:rPr>
              <a:t> </a:t>
            </a:r>
            <a:r>
              <a:rPr sz="1800" u="heavy" dirty="0">
                <a:uFill>
                  <a:solidFill>
                    <a:srgbClr val="000000"/>
                  </a:solidFill>
                </a:uFill>
                <a:latin typeface="Arial MT"/>
                <a:cs typeface="Arial MT"/>
              </a:rPr>
              <a:t>allocation</a:t>
            </a:r>
            <a:r>
              <a:rPr sz="1800" u="heavy" spc="-15" dirty="0">
                <a:uFill>
                  <a:solidFill>
                    <a:srgbClr val="000000"/>
                  </a:solidFill>
                </a:uFill>
                <a:latin typeface="Arial MT"/>
                <a:cs typeface="Arial MT"/>
              </a:rPr>
              <a:t> </a:t>
            </a:r>
            <a:r>
              <a:rPr sz="1800" u="heavy" dirty="0">
                <a:uFill>
                  <a:solidFill>
                    <a:srgbClr val="000000"/>
                  </a:solidFill>
                </a:uFill>
                <a:latin typeface="Arial MT"/>
                <a:cs typeface="Arial MT"/>
              </a:rPr>
              <a:t>flag</a:t>
            </a:r>
            <a:r>
              <a:rPr sz="1800" spc="-15" dirty="0">
                <a:latin typeface="Arial MT"/>
                <a:cs typeface="Arial MT"/>
              </a:rPr>
              <a:t> </a:t>
            </a:r>
            <a:endParaRPr lang="en-US" sz="1800" spc="-15" dirty="0">
              <a:latin typeface="Arial MT"/>
              <a:cs typeface="Arial MT"/>
            </a:endParaRPr>
          </a:p>
          <a:p>
            <a:pPr marL="12700" marR="5080">
              <a:lnSpc>
                <a:spcPct val="114000"/>
              </a:lnSpc>
              <a:spcBef>
                <a:spcPts val="5"/>
              </a:spcBef>
            </a:pPr>
            <a:r>
              <a:rPr lang="en-US" sz="1800" spc="-15" dirty="0">
                <a:latin typeface="Arial MT"/>
                <a:cs typeface="Arial MT"/>
              </a:rPr>
              <a:t>       </a:t>
            </a:r>
            <a:r>
              <a:rPr sz="1800" dirty="0">
                <a:latin typeface="Arial MT"/>
                <a:cs typeface="Arial MT"/>
              </a:rPr>
              <a:t>→</a:t>
            </a:r>
            <a:r>
              <a:rPr sz="1800" spc="-15" dirty="0">
                <a:latin typeface="Arial MT"/>
                <a:cs typeface="Arial MT"/>
              </a:rPr>
              <a:t> </a:t>
            </a:r>
            <a:r>
              <a:rPr sz="1800" dirty="0">
                <a:latin typeface="Arial MT"/>
                <a:cs typeface="Arial MT"/>
              </a:rPr>
              <a:t>2</a:t>
            </a:r>
            <a:r>
              <a:rPr sz="1800" spc="-15" dirty="0">
                <a:latin typeface="Arial MT"/>
                <a:cs typeface="Arial MT"/>
              </a:rPr>
              <a:t> </a:t>
            </a:r>
            <a:r>
              <a:rPr sz="1800" dirty="0">
                <a:latin typeface="Arial MT"/>
                <a:cs typeface="Arial MT"/>
              </a:rPr>
              <a:t>words</a:t>
            </a:r>
            <a:r>
              <a:rPr lang="en-US" sz="1800" dirty="0">
                <a:latin typeface="Arial MT"/>
                <a:cs typeface="Arial MT"/>
              </a:rPr>
              <a:t> -</a:t>
            </a:r>
            <a:r>
              <a:rPr lang="en-US" spc="-50" dirty="0">
                <a:latin typeface="Arial MT"/>
                <a:cs typeface="Arial MT"/>
              </a:rPr>
              <a:t> </a:t>
            </a:r>
            <a:r>
              <a:rPr sz="1800" b="1" spc="-10" dirty="0">
                <a:solidFill>
                  <a:srgbClr val="FF0000"/>
                </a:solidFill>
                <a:latin typeface="Arial MT"/>
                <a:cs typeface="Arial MT"/>
              </a:rPr>
              <a:t>wasteful!</a:t>
            </a:r>
            <a:endParaRPr sz="1800" b="1" dirty="0">
              <a:solidFill>
                <a:srgbClr val="FF0000"/>
              </a:solidFill>
              <a:latin typeface="Arial MT"/>
              <a:cs typeface="Arial MT"/>
            </a:endParaRPr>
          </a:p>
        </p:txBody>
      </p:sp>
      <p:grpSp>
        <p:nvGrpSpPr>
          <p:cNvPr id="4" name="object 4" descr="A technical visualization of a full heap. It shows a sequence of blocks with metadata (size | allocation_status), highlighting alignment rules (16-byte), internal fragmentation, and a special &quot;end-heap&quot; word of zero size."/>
          <p:cNvGrpSpPr/>
          <p:nvPr/>
        </p:nvGrpSpPr>
        <p:grpSpPr>
          <a:xfrm>
            <a:off x="4414125" y="2341524"/>
            <a:ext cx="7406640" cy="3783329"/>
            <a:chOff x="4414125" y="2341524"/>
            <a:chExt cx="7406640" cy="3783329"/>
          </a:xfrm>
        </p:grpSpPr>
        <p:pic>
          <p:nvPicPr>
            <p:cNvPr id="5" name="object 5"/>
            <p:cNvPicPr/>
            <p:nvPr/>
          </p:nvPicPr>
          <p:blipFill>
            <a:blip r:embed="rId3" cstate="print"/>
            <a:stretch>
              <a:fillRect/>
            </a:stretch>
          </p:blipFill>
          <p:spPr>
            <a:xfrm>
              <a:off x="4594951" y="2564919"/>
              <a:ext cx="7023334" cy="3307845"/>
            </a:xfrm>
            <a:prstGeom prst="rect">
              <a:avLst/>
            </a:prstGeom>
          </p:spPr>
        </p:pic>
        <p:sp>
          <p:nvSpPr>
            <p:cNvPr id="6" name="object 6"/>
            <p:cNvSpPr/>
            <p:nvPr/>
          </p:nvSpPr>
          <p:spPr>
            <a:xfrm>
              <a:off x="4418887" y="2346287"/>
              <a:ext cx="7397115" cy="3773804"/>
            </a:xfrm>
            <a:custGeom>
              <a:avLst/>
              <a:gdLst/>
              <a:ahLst/>
              <a:cxnLst/>
              <a:rect l="l" t="t" r="r" b="b"/>
              <a:pathLst>
                <a:path w="7397115" h="3773804">
                  <a:moveTo>
                    <a:pt x="0" y="0"/>
                  </a:moveTo>
                  <a:lnTo>
                    <a:pt x="7396873" y="0"/>
                  </a:lnTo>
                  <a:lnTo>
                    <a:pt x="7396873" y="3773625"/>
                  </a:lnTo>
                  <a:lnTo>
                    <a:pt x="0" y="3773625"/>
                  </a:lnTo>
                  <a:lnTo>
                    <a:pt x="0" y="0"/>
                  </a:lnTo>
                  <a:close/>
                </a:path>
              </a:pathLst>
            </a:custGeom>
            <a:ln w="9524">
              <a:solidFill>
                <a:srgbClr val="0F2044"/>
              </a:solidFill>
            </a:ln>
          </p:spPr>
          <p:txBody>
            <a:bodyPr wrap="square" lIns="0" tIns="0" rIns="0" bIns="0" rtlCol="0"/>
            <a:lstStyle/>
            <a:p>
              <a:endParaRPr/>
            </a:p>
          </p:txBody>
        </p:sp>
      </p:grpSp>
      <p:sp>
        <p:nvSpPr>
          <p:cNvPr id="7" name="object 7">
            <a:extLst>
              <a:ext uri="{C183D7F6-B498-43B3-948B-1728B52AA6E4}">
                <adec:decorative xmlns:adec="http://schemas.microsoft.com/office/drawing/2017/decorative" val="1"/>
              </a:ext>
            </a:extLst>
          </p:cNvPr>
          <p:cNvSpPr txBox="1"/>
          <p:nvPr/>
        </p:nvSpPr>
        <p:spPr>
          <a:xfrm>
            <a:off x="7531775" y="6224845"/>
            <a:ext cx="1646555" cy="177800"/>
          </a:xfrm>
          <a:prstGeom prst="rect">
            <a:avLst/>
          </a:prstGeom>
        </p:spPr>
        <p:txBody>
          <a:bodyPr vert="horz" wrap="square" lIns="0" tIns="12700" rIns="0" bIns="0" rtlCol="0">
            <a:spAutoFit/>
          </a:bodyPr>
          <a:lstStyle/>
          <a:p>
            <a:pPr marL="12700">
              <a:lnSpc>
                <a:spcPct val="100000"/>
              </a:lnSpc>
              <a:spcBef>
                <a:spcPts val="100"/>
              </a:spcBef>
            </a:pPr>
            <a:r>
              <a:rPr sz="1000" dirty="0">
                <a:solidFill>
                  <a:srgbClr val="0F2044"/>
                </a:solidFill>
                <a:latin typeface="Arial MT"/>
                <a:cs typeface="Arial MT"/>
              </a:rPr>
              <a:t>Image</a:t>
            </a:r>
            <a:r>
              <a:rPr sz="1000" spc="-25" dirty="0">
                <a:solidFill>
                  <a:srgbClr val="0F2044"/>
                </a:solidFill>
                <a:latin typeface="Arial MT"/>
                <a:cs typeface="Arial MT"/>
              </a:rPr>
              <a:t> </a:t>
            </a:r>
            <a:r>
              <a:rPr sz="1000" dirty="0">
                <a:solidFill>
                  <a:srgbClr val="0F2044"/>
                </a:solidFill>
                <a:latin typeface="Arial MT"/>
                <a:cs typeface="Arial MT"/>
              </a:rPr>
              <a:t>credit</a:t>
            </a:r>
            <a:r>
              <a:rPr sz="1000" spc="-20" dirty="0">
                <a:solidFill>
                  <a:srgbClr val="0F2044"/>
                </a:solidFill>
                <a:latin typeface="Arial MT"/>
                <a:cs typeface="Arial MT"/>
              </a:rPr>
              <a:t> </a:t>
            </a:r>
            <a:r>
              <a:rPr sz="1000" dirty="0">
                <a:solidFill>
                  <a:srgbClr val="0F2044"/>
                </a:solidFill>
                <a:latin typeface="Arial MT"/>
                <a:cs typeface="Arial MT"/>
              </a:rPr>
              <a:t>-</a:t>
            </a:r>
            <a:r>
              <a:rPr sz="1000" spc="-25" dirty="0">
                <a:solidFill>
                  <a:srgbClr val="0F2044"/>
                </a:solidFill>
                <a:latin typeface="Arial MT"/>
                <a:cs typeface="Arial MT"/>
              </a:rPr>
              <a:t> </a:t>
            </a:r>
            <a:r>
              <a:rPr sz="1000" spc="-10" dirty="0">
                <a:solidFill>
                  <a:srgbClr val="0F2044"/>
                </a:solidFill>
                <a:latin typeface="Arial MT"/>
                <a:cs typeface="Arial MT"/>
              </a:rPr>
              <a:t>https://awb.fyi/</a:t>
            </a:r>
            <a:endParaRPr sz="1000">
              <a:latin typeface="Arial MT"/>
              <a:cs typeface="Arial M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Implicit</a:t>
            </a:r>
            <a:r>
              <a:rPr spc="-100" dirty="0"/>
              <a:t> </a:t>
            </a:r>
            <a:r>
              <a:rPr dirty="0"/>
              <a:t>Free</a:t>
            </a:r>
            <a:r>
              <a:rPr spc="-100" dirty="0"/>
              <a:t> </a:t>
            </a:r>
            <a:r>
              <a:rPr spc="-20" dirty="0"/>
              <a:t>List</a:t>
            </a:r>
          </a:p>
        </p:txBody>
      </p:sp>
      <p:sp>
        <p:nvSpPr>
          <p:cNvPr id="3" name="object 3"/>
          <p:cNvSpPr txBox="1"/>
          <p:nvPr/>
        </p:nvSpPr>
        <p:spPr>
          <a:xfrm>
            <a:off x="484300" y="2442331"/>
            <a:ext cx="3401900" cy="3246979"/>
          </a:xfrm>
          <a:prstGeom prst="rect">
            <a:avLst/>
          </a:prstGeom>
        </p:spPr>
        <p:txBody>
          <a:bodyPr vert="horz" wrap="square" lIns="0" tIns="12700" rIns="0" bIns="0" rtlCol="0">
            <a:spAutoFit/>
          </a:bodyPr>
          <a:lstStyle/>
          <a:p>
            <a:pPr marL="12700">
              <a:lnSpc>
                <a:spcPct val="114000"/>
              </a:lnSpc>
              <a:spcBef>
                <a:spcPts val="100"/>
              </a:spcBef>
            </a:pPr>
            <a:r>
              <a:rPr sz="1800" b="1" dirty="0">
                <a:latin typeface="Arial"/>
                <a:cs typeface="Arial"/>
              </a:rPr>
              <a:t>Aligned</a:t>
            </a:r>
            <a:r>
              <a:rPr sz="1800" b="1" spc="-110" dirty="0">
                <a:latin typeface="Arial"/>
                <a:cs typeface="Arial"/>
              </a:rPr>
              <a:t> </a:t>
            </a:r>
            <a:r>
              <a:rPr sz="1800" b="1" spc="-10" dirty="0">
                <a:latin typeface="Arial"/>
                <a:cs typeface="Arial"/>
              </a:rPr>
              <a:t>Blocks</a:t>
            </a:r>
            <a:endParaRPr sz="1800" dirty="0">
              <a:latin typeface="Arial"/>
              <a:cs typeface="Arial"/>
            </a:endParaRPr>
          </a:p>
          <a:p>
            <a:pPr>
              <a:lnSpc>
                <a:spcPct val="114000"/>
              </a:lnSpc>
              <a:spcBef>
                <a:spcPts val="409"/>
              </a:spcBef>
            </a:pPr>
            <a:endParaRPr sz="1800" dirty="0">
              <a:latin typeface="Arial"/>
              <a:cs typeface="Arial"/>
            </a:endParaRPr>
          </a:p>
          <a:p>
            <a:pPr marL="12700" marR="43180">
              <a:lnSpc>
                <a:spcPct val="114000"/>
              </a:lnSpc>
              <a:spcBef>
                <a:spcPts val="5"/>
              </a:spcBef>
            </a:pPr>
            <a:r>
              <a:rPr sz="1800" dirty="0">
                <a:latin typeface="Arial MT"/>
                <a:cs typeface="Arial MT"/>
              </a:rPr>
              <a:t>Memory</a:t>
            </a:r>
            <a:r>
              <a:rPr sz="1800" spc="-30" dirty="0">
                <a:latin typeface="Arial MT"/>
                <a:cs typeface="Arial MT"/>
              </a:rPr>
              <a:t> </a:t>
            </a:r>
            <a:r>
              <a:rPr sz="1800" dirty="0">
                <a:latin typeface="Arial MT"/>
                <a:cs typeface="Arial MT"/>
              </a:rPr>
              <a:t>alignment</a:t>
            </a:r>
            <a:r>
              <a:rPr sz="1800" spc="-20" dirty="0">
                <a:latin typeface="Arial MT"/>
                <a:cs typeface="Arial MT"/>
              </a:rPr>
              <a:t> </a:t>
            </a:r>
            <a:r>
              <a:rPr sz="1800" dirty="0">
                <a:latin typeface="Arial MT"/>
                <a:cs typeface="Arial MT"/>
              </a:rPr>
              <a:t>means</a:t>
            </a:r>
            <a:r>
              <a:rPr sz="1800" spc="-15" dirty="0">
                <a:latin typeface="Arial MT"/>
                <a:cs typeface="Arial MT"/>
              </a:rPr>
              <a:t> </a:t>
            </a:r>
            <a:r>
              <a:rPr sz="1800" spc="-25" dirty="0">
                <a:latin typeface="Arial MT"/>
                <a:cs typeface="Arial MT"/>
              </a:rPr>
              <a:t>the </a:t>
            </a:r>
            <a:r>
              <a:rPr sz="1800" dirty="0">
                <a:latin typeface="Arial MT"/>
                <a:cs typeface="Arial MT"/>
              </a:rPr>
              <a:t>memory</a:t>
            </a:r>
            <a:r>
              <a:rPr sz="1800" spc="-5" dirty="0">
                <a:latin typeface="Arial MT"/>
                <a:cs typeface="Arial MT"/>
              </a:rPr>
              <a:t> </a:t>
            </a:r>
            <a:r>
              <a:rPr sz="1800" dirty="0">
                <a:latin typeface="Arial MT"/>
                <a:cs typeface="Arial MT"/>
              </a:rPr>
              <a:t>addresses</a:t>
            </a:r>
            <a:r>
              <a:rPr sz="1800" spc="-5" dirty="0">
                <a:latin typeface="Arial MT"/>
                <a:cs typeface="Arial MT"/>
              </a:rPr>
              <a:t> </a:t>
            </a:r>
            <a:r>
              <a:rPr sz="1800" dirty="0">
                <a:latin typeface="Arial MT"/>
                <a:cs typeface="Arial MT"/>
              </a:rPr>
              <a:t>for</a:t>
            </a:r>
            <a:r>
              <a:rPr sz="1800" spc="-5" dirty="0">
                <a:latin typeface="Arial MT"/>
                <a:cs typeface="Arial MT"/>
              </a:rPr>
              <a:t> </a:t>
            </a:r>
            <a:r>
              <a:rPr sz="1800" spc="-20" dirty="0">
                <a:latin typeface="Arial MT"/>
                <a:cs typeface="Arial MT"/>
              </a:rPr>
              <a:t>data </a:t>
            </a:r>
            <a:r>
              <a:rPr sz="1800" dirty="0">
                <a:latin typeface="Arial MT"/>
                <a:cs typeface="Arial MT"/>
              </a:rPr>
              <a:t>structures</a:t>
            </a:r>
            <a:r>
              <a:rPr sz="1800" spc="-30" dirty="0">
                <a:latin typeface="Arial MT"/>
                <a:cs typeface="Arial MT"/>
              </a:rPr>
              <a:t> </a:t>
            </a:r>
            <a:r>
              <a:rPr sz="1800" dirty="0">
                <a:latin typeface="Arial MT"/>
                <a:cs typeface="Arial MT"/>
              </a:rPr>
              <a:t>are</a:t>
            </a:r>
            <a:r>
              <a:rPr sz="1800" spc="-15" dirty="0">
                <a:latin typeface="Arial MT"/>
                <a:cs typeface="Arial MT"/>
              </a:rPr>
              <a:t> </a:t>
            </a:r>
            <a:r>
              <a:rPr sz="1800" dirty="0">
                <a:latin typeface="Arial MT"/>
                <a:cs typeface="Arial MT"/>
              </a:rPr>
              <a:t>arranged</a:t>
            </a:r>
            <a:r>
              <a:rPr sz="1800" spc="-20" dirty="0">
                <a:latin typeface="Arial MT"/>
                <a:cs typeface="Arial MT"/>
              </a:rPr>
              <a:t> </a:t>
            </a:r>
            <a:r>
              <a:rPr sz="1800" dirty="0">
                <a:latin typeface="Arial MT"/>
                <a:cs typeface="Arial MT"/>
              </a:rPr>
              <a:t>to</a:t>
            </a:r>
            <a:r>
              <a:rPr sz="1800" spc="-15" dirty="0">
                <a:latin typeface="Arial MT"/>
                <a:cs typeface="Arial MT"/>
              </a:rPr>
              <a:t> </a:t>
            </a:r>
            <a:r>
              <a:rPr sz="1800" spc="-10" dirty="0">
                <a:latin typeface="Arial MT"/>
                <a:cs typeface="Arial MT"/>
              </a:rPr>
              <a:t>start </a:t>
            </a:r>
            <a:r>
              <a:rPr sz="1800" dirty="0">
                <a:latin typeface="Arial MT"/>
                <a:cs typeface="Arial MT"/>
              </a:rPr>
              <a:t>at</a:t>
            </a:r>
            <a:r>
              <a:rPr sz="1800" spc="-20" dirty="0">
                <a:latin typeface="Arial MT"/>
                <a:cs typeface="Arial MT"/>
              </a:rPr>
              <a:t> </a:t>
            </a:r>
            <a:r>
              <a:rPr sz="1800" dirty="0">
                <a:latin typeface="Arial MT"/>
                <a:cs typeface="Arial MT"/>
              </a:rPr>
              <a:t>specific</a:t>
            </a:r>
            <a:r>
              <a:rPr sz="1800" spc="-5" dirty="0">
                <a:latin typeface="Arial MT"/>
                <a:cs typeface="Arial MT"/>
              </a:rPr>
              <a:t> </a:t>
            </a:r>
            <a:r>
              <a:rPr sz="1800" spc="-10" dirty="0">
                <a:latin typeface="Arial MT"/>
                <a:cs typeface="Arial MT"/>
              </a:rPr>
              <a:t>boundaries.</a:t>
            </a:r>
            <a:endParaRPr sz="1800" dirty="0">
              <a:latin typeface="Arial MT"/>
              <a:cs typeface="Arial MT"/>
            </a:endParaRPr>
          </a:p>
          <a:p>
            <a:pPr>
              <a:lnSpc>
                <a:spcPct val="114000"/>
              </a:lnSpc>
              <a:spcBef>
                <a:spcPts val="409"/>
              </a:spcBef>
            </a:pPr>
            <a:endParaRPr sz="1800" dirty="0">
              <a:latin typeface="Arial MT"/>
              <a:cs typeface="Arial MT"/>
            </a:endParaRPr>
          </a:p>
          <a:p>
            <a:pPr marL="12700" marR="5080">
              <a:lnSpc>
                <a:spcPct val="114000"/>
              </a:lnSpc>
            </a:pPr>
            <a:r>
              <a:rPr sz="1800" dirty="0">
                <a:latin typeface="Arial MT"/>
                <a:cs typeface="Arial MT"/>
              </a:rPr>
              <a:t>If</a:t>
            </a:r>
            <a:r>
              <a:rPr sz="1800" spc="-15" dirty="0">
                <a:latin typeface="Arial MT"/>
                <a:cs typeface="Arial MT"/>
              </a:rPr>
              <a:t> </a:t>
            </a:r>
            <a:r>
              <a:rPr sz="1800" dirty="0">
                <a:latin typeface="Arial MT"/>
                <a:cs typeface="Arial MT"/>
              </a:rPr>
              <a:t>memory</a:t>
            </a:r>
            <a:r>
              <a:rPr sz="1800" spc="-15" dirty="0">
                <a:latin typeface="Arial MT"/>
                <a:cs typeface="Arial MT"/>
              </a:rPr>
              <a:t> </a:t>
            </a:r>
            <a:r>
              <a:rPr sz="1800" dirty="0">
                <a:latin typeface="Arial MT"/>
                <a:cs typeface="Arial MT"/>
              </a:rPr>
              <a:t>blocks</a:t>
            </a:r>
            <a:r>
              <a:rPr sz="1800" spc="-15" dirty="0">
                <a:latin typeface="Arial MT"/>
                <a:cs typeface="Arial MT"/>
              </a:rPr>
              <a:t> </a:t>
            </a:r>
            <a:r>
              <a:rPr sz="1800" dirty="0">
                <a:latin typeface="Arial MT"/>
                <a:cs typeface="Arial MT"/>
              </a:rPr>
              <a:t>are</a:t>
            </a:r>
            <a:r>
              <a:rPr sz="1800" spc="-15" dirty="0">
                <a:latin typeface="Arial MT"/>
                <a:cs typeface="Arial MT"/>
              </a:rPr>
              <a:t> </a:t>
            </a:r>
            <a:r>
              <a:rPr sz="1800" dirty="0">
                <a:latin typeface="Arial MT"/>
                <a:cs typeface="Arial MT"/>
              </a:rPr>
              <a:t>aligned</a:t>
            </a:r>
            <a:r>
              <a:rPr sz="1800" spc="-10" dirty="0">
                <a:latin typeface="Arial MT"/>
                <a:cs typeface="Arial MT"/>
              </a:rPr>
              <a:t> </a:t>
            </a:r>
            <a:r>
              <a:rPr sz="1800" spc="-25" dirty="0">
                <a:latin typeface="Arial MT"/>
                <a:cs typeface="Arial MT"/>
              </a:rPr>
              <a:t>to </a:t>
            </a:r>
            <a:br>
              <a:rPr lang="en-US" sz="1800" spc="-25" dirty="0">
                <a:latin typeface="Arial MT"/>
                <a:cs typeface="Arial MT"/>
              </a:rPr>
            </a:br>
            <a:r>
              <a:rPr sz="1800" dirty="0">
                <a:latin typeface="Arial MT"/>
                <a:cs typeface="Arial MT"/>
              </a:rPr>
              <a:t>8</a:t>
            </a:r>
            <a:r>
              <a:rPr sz="1800" spc="-30" dirty="0">
                <a:latin typeface="Arial MT"/>
                <a:cs typeface="Arial MT"/>
              </a:rPr>
              <a:t> </a:t>
            </a:r>
            <a:r>
              <a:rPr sz="1800" dirty="0">
                <a:latin typeface="Arial MT"/>
                <a:cs typeface="Arial MT"/>
              </a:rPr>
              <a:t>bytes,</a:t>
            </a:r>
            <a:r>
              <a:rPr sz="1800" spc="-15" dirty="0">
                <a:latin typeface="Arial MT"/>
                <a:cs typeface="Arial MT"/>
              </a:rPr>
              <a:t> </a:t>
            </a:r>
            <a:r>
              <a:rPr sz="1800" dirty="0">
                <a:latin typeface="Arial MT"/>
                <a:cs typeface="Arial MT"/>
              </a:rPr>
              <a:t>each</a:t>
            </a:r>
            <a:r>
              <a:rPr sz="1800" spc="-15" dirty="0">
                <a:latin typeface="Arial MT"/>
                <a:cs typeface="Arial MT"/>
              </a:rPr>
              <a:t> </a:t>
            </a:r>
            <a:r>
              <a:rPr sz="1800" dirty="0">
                <a:latin typeface="Arial MT"/>
                <a:cs typeface="Arial MT"/>
              </a:rPr>
              <a:t>block</a:t>
            </a:r>
            <a:r>
              <a:rPr sz="1800" spc="-15" dirty="0">
                <a:latin typeface="Arial MT"/>
                <a:cs typeface="Arial MT"/>
              </a:rPr>
              <a:t> </a:t>
            </a:r>
            <a:r>
              <a:rPr sz="1800" dirty="0">
                <a:latin typeface="Arial MT"/>
                <a:cs typeface="Arial MT"/>
              </a:rPr>
              <a:t>must</a:t>
            </a:r>
            <a:r>
              <a:rPr sz="1800" spc="-15" dirty="0">
                <a:latin typeface="Arial MT"/>
                <a:cs typeface="Arial MT"/>
              </a:rPr>
              <a:t> </a:t>
            </a:r>
            <a:r>
              <a:rPr sz="1800" spc="-10" dirty="0">
                <a:latin typeface="Arial MT"/>
                <a:cs typeface="Arial MT"/>
              </a:rPr>
              <a:t>start </a:t>
            </a:r>
            <a:r>
              <a:rPr sz="1800" dirty="0">
                <a:latin typeface="Arial MT"/>
                <a:cs typeface="Arial MT"/>
              </a:rPr>
              <a:t>at</a:t>
            </a:r>
            <a:r>
              <a:rPr sz="1800" spc="-20" dirty="0">
                <a:latin typeface="Arial MT"/>
                <a:cs typeface="Arial MT"/>
              </a:rPr>
              <a:t> </a:t>
            </a:r>
            <a:r>
              <a:rPr sz="1800" dirty="0">
                <a:latin typeface="Arial MT"/>
                <a:cs typeface="Arial MT"/>
              </a:rPr>
              <a:t>an</a:t>
            </a:r>
            <a:r>
              <a:rPr sz="1800" spc="-10" dirty="0">
                <a:latin typeface="Arial MT"/>
                <a:cs typeface="Arial MT"/>
              </a:rPr>
              <a:t> </a:t>
            </a:r>
            <a:r>
              <a:rPr sz="1800" dirty="0">
                <a:latin typeface="Arial MT"/>
                <a:cs typeface="Arial MT"/>
              </a:rPr>
              <a:t>address</a:t>
            </a:r>
            <a:r>
              <a:rPr sz="1800" spc="-10" dirty="0">
                <a:latin typeface="Arial MT"/>
                <a:cs typeface="Arial MT"/>
              </a:rPr>
              <a:t> </a:t>
            </a:r>
            <a:r>
              <a:rPr sz="1800" dirty="0">
                <a:latin typeface="Arial MT"/>
                <a:cs typeface="Arial MT"/>
              </a:rPr>
              <a:t>that</a:t>
            </a:r>
            <a:r>
              <a:rPr sz="1800" spc="-10" dirty="0">
                <a:latin typeface="Arial MT"/>
                <a:cs typeface="Arial MT"/>
              </a:rPr>
              <a:t> </a:t>
            </a:r>
            <a:r>
              <a:rPr sz="1800" dirty="0">
                <a:latin typeface="Arial MT"/>
                <a:cs typeface="Arial MT"/>
              </a:rPr>
              <a:t>is</a:t>
            </a:r>
            <a:r>
              <a:rPr sz="1800" spc="-10" dirty="0">
                <a:latin typeface="Arial MT"/>
                <a:cs typeface="Arial MT"/>
              </a:rPr>
              <a:t> </a:t>
            </a:r>
            <a:r>
              <a:rPr sz="1800" dirty="0">
                <a:latin typeface="Arial MT"/>
                <a:cs typeface="Arial MT"/>
              </a:rPr>
              <a:t>a</a:t>
            </a:r>
            <a:r>
              <a:rPr sz="1800" spc="-5" dirty="0">
                <a:latin typeface="Arial MT"/>
                <a:cs typeface="Arial MT"/>
              </a:rPr>
              <a:t> </a:t>
            </a:r>
            <a:r>
              <a:rPr sz="1800" spc="-10" dirty="0">
                <a:latin typeface="Arial MT"/>
                <a:cs typeface="Arial MT"/>
              </a:rPr>
              <a:t>multiple </a:t>
            </a:r>
            <a:r>
              <a:rPr sz="1800" dirty="0">
                <a:latin typeface="Arial MT"/>
                <a:cs typeface="Arial MT"/>
              </a:rPr>
              <a:t>of</a:t>
            </a:r>
            <a:r>
              <a:rPr sz="1800" spc="-10" dirty="0">
                <a:latin typeface="Arial MT"/>
                <a:cs typeface="Arial MT"/>
              </a:rPr>
              <a:t> </a:t>
            </a:r>
            <a:r>
              <a:rPr sz="1800" spc="-50" dirty="0">
                <a:latin typeface="Arial MT"/>
                <a:cs typeface="Arial MT"/>
              </a:rPr>
              <a:t>8</a:t>
            </a:r>
            <a:r>
              <a:rPr lang="en-US" sz="1800" spc="-50" dirty="0">
                <a:latin typeface="Arial MT"/>
                <a:cs typeface="Arial MT"/>
              </a:rPr>
              <a:t>.</a:t>
            </a:r>
            <a:endParaRPr sz="1800" dirty="0">
              <a:latin typeface="Arial MT"/>
              <a:cs typeface="Arial MT"/>
            </a:endParaRPr>
          </a:p>
        </p:txBody>
      </p:sp>
      <p:grpSp>
        <p:nvGrpSpPr>
          <p:cNvPr id="4" name="object 4">
            <a:extLst>
              <a:ext uri="{C183D7F6-B498-43B3-948B-1728B52AA6E4}">
                <adec:decorative xmlns:adec="http://schemas.microsoft.com/office/drawing/2017/decorative" val="1"/>
              </a:ext>
            </a:extLst>
          </p:cNvPr>
          <p:cNvGrpSpPr/>
          <p:nvPr/>
        </p:nvGrpSpPr>
        <p:grpSpPr>
          <a:xfrm>
            <a:off x="4414125" y="2341524"/>
            <a:ext cx="7406640" cy="3783329"/>
            <a:chOff x="4414125" y="2341524"/>
            <a:chExt cx="7406640" cy="3783329"/>
          </a:xfrm>
        </p:grpSpPr>
        <p:pic>
          <p:nvPicPr>
            <p:cNvPr id="5" name="object 5"/>
            <p:cNvPicPr/>
            <p:nvPr/>
          </p:nvPicPr>
          <p:blipFill>
            <a:blip r:embed="rId3" cstate="print"/>
            <a:stretch>
              <a:fillRect/>
            </a:stretch>
          </p:blipFill>
          <p:spPr>
            <a:xfrm>
              <a:off x="4594951" y="2564919"/>
              <a:ext cx="7023334" cy="3307845"/>
            </a:xfrm>
            <a:prstGeom prst="rect">
              <a:avLst/>
            </a:prstGeom>
          </p:spPr>
        </p:pic>
        <p:sp>
          <p:nvSpPr>
            <p:cNvPr id="6" name="object 6"/>
            <p:cNvSpPr/>
            <p:nvPr/>
          </p:nvSpPr>
          <p:spPr>
            <a:xfrm>
              <a:off x="4418887" y="2346287"/>
              <a:ext cx="7397115" cy="3773804"/>
            </a:xfrm>
            <a:custGeom>
              <a:avLst/>
              <a:gdLst/>
              <a:ahLst/>
              <a:cxnLst/>
              <a:rect l="l" t="t" r="r" b="b"/>
              <a:pathLst>
                <a:path w="7397115" h="3773804">
                  <a:moveTo>
                    <a:pt x="0" y="0"/>
                  </a:moveTo>
                  <a:lnTo>
                    <a:pt x="7396873" y="0"/>
                  </a:lnTo>
                  <a:lnTo>
                    <a:pt x="7396873" y="3773625"/>
                  </a:lnTo>
                  <a:lnTo>
                    <a:pt x="0" y="3773625"/>
                  </a:lnTo>
                  <a:lnTo>
                    <a:pt x="0" y="0"/>
                  </a:lnTo>
                  <a:close/>
                </a:path>
              </a:pathLst>
            </a:custGeom>
            <a:ln w="9524">
              <a:solidFill>
                <a:srgbClr val="0F2044"/>
              </a:solidFill>
            </a:ln>
          </p:spPr>
          <p:txBody>
            <a:bodyPr wrap="square" lIns="0" tIns="0" rIns="0" bIns="0" rtlCol="0"/>
            <a:lstStyle/>
            <a:p>
              <a:endParaRPr/>
            </a:p>
          </p:txBody>
        </p:sp>
      </p:grpSp>
      <p:sp>
        <p:nvSpPr>
          <p:cNvPr id="7" name="object 7">
            <a:extLst>
              <a:ext uri="{C183D7F6-B498-43B3-948B-1728B52AA6E4}">
                <adec:decorative xmlns:adec="http://schemas.microsoft.com/office/drawing/2017/decorative" val="1"/>
              </a:ext>
            </a:extLst>
          </p:cNvPr>
          <p:cNvSpPr txBox="1"/>
          <p:nvPr/>
        </p:nvSpPr>
        <p:spPr>
          <a:xfrm>
            <a:off x="7531775" y="6224845"/>
            <a:ext cx="1646555" cy="177800"/>
          </a:xfrm>
          <a:prstGeom prst="rect">
            <a:avLst/>
          </a:prstGeom>
        </p:spPr>
        <p:txBody>
          <a:bodyPr vert="horz" wrap="square" lIns="0" tIns="12700" rIns="0" bIns="0" rtlCol="0">
            <a:spAutoFit/>
          </a:bodyPr>
          <a:lstStyle/>
          <a:p>
            <a:pPr marL="12700">
              <a:lnSpc>
                <a:spcPct val="100000"/>
              </a:lnSpc>
              <a:spcBef>
                <a:spcPts val="100"/>
              </a:spcBef>
            </a:pPr>
            <a:r>
              <a:rPr sz="1000" dirty="0">
                <a:solidFill>
                  <a:srgbClr val="0F2044"/>
                </a:solidFill>
                <a:latin typeface="Arial MT"/>
                <a:cs typeface="Arial MT"/>
              </a:rPr>
              <a:t>Image</a:t>
            </a:r>
            <a:r>
              <a:rPr sz="1000" spc="-25" dirty="0">
                <a:solidFill>
                  <a:srgbClr val="0F2044"/>
                </a:solidFill>
                <a:latin typeface="Arial MT"/>
                <a:cs typeface="Arial MT"/>
              </a:rPr>
              <a:t> </a:t>
            </a:r>
            <a:r>
              <a:rPr sz="1000" dirty="0">
                <a:solidFill>
                  <a:srgbClr val="0F2044"/>
                </a:solidFill>
                <a:latin typeface="Arial MT"/>
                <a:cs typeface="Arial MT"/>
              </a:rPr>
              <a:t>credit</a:t>
            </a:r>
            <a:r>
              <a:rPr sz="1000" spc="-20" dirty="0">
                <a:solidFill>
                  <a:srgbClr val="0F2044"/>
                </a:solidFill>
                <a:latin typeface="Arial MT"/>
                <a:cs typeface="Arial MT"/>
              </a:rPr>
              <a:t> </a:t>
            </a:r>
            <a:r>
              <a:rPr sz="1000" dirty="0">
                <a:solidFill>
                  <a:srgbClr val="0F2044"/>
                </a:solidFill>
                <a:latin typeface="Arial MT"/>
                <a:cs typeface="Arial MT"/>
              </a:rPr>
              <a:t>-</a:t>
            </a:r>
            <a:r>
              <a:rPr sz="1000" spc="-25" dirty="0">
                <a:solidFill>
                  <a:srgbClr val="0F2044"/>
                </a:solidFill>
                <a:latin typeface="Arial MT"/>
                <a:cs typeface="Arial MT"/>
              </a:rPr>
              <a:t> </a:t>
            </a:r>
            <a:r>
              <a:rPr sz="1000" spc="-10" dirty="0">
                <a:solidFill>
                  <a:srgbClr val="0F2044"/>
                </a:solidFill>
                <a:latin typeface="Arial MT"/>
                <a:cs typeface="Arial MT"/>
              </a:rPr>
              <a:t>https://awb.fyi/</a:t>
            </a:r>
            <a:endParaRPr sz="1000" dirty="0">
              <a:latin typeface="Arial MT"/>
              <a:cs typeface="Arial M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10375" y="1689861"/>
            <a:ext cx="4380230" cy="406400"/>
          </a:xfrm>
          <a:prstGeom prst="rect">
            <a:avLst/>
          </a:prstGeom>
        </p:spPr>
        <p:txBody>
          <a:bodyPr vert="horz" wrap="square" lIns="0" tIns="12700" rIns="0" bIns="0" rtlCol="0">
            <a:spAutoFit/>
          </a:bodyPr>
          <a:lstStyle/>
          <a:p>
            <a:pPr marL="12700">
              <a:lnSpc>
                <a:spcPct val="100000"/>
              </a:lnSpc>
              <a:spcBef>
                <a:spcPts val="100"/>
              </a:spcBef>
            </a:pPr>
            <a:r>
              <a:rPr sz="2500" dirty="0">
                <a:solidFill>
                  <a:srgbClr val="0F2044"/>
                </a:solidFill>
                <a:latin typeface="Georgia"/>
                <a:cs typeface="Georgia"/>
              </a:rPr>
              <a:t>Implicit</a:t>
            </a:r>
            <a:r>
              <a:rPr sz="2500" spc="-90" dirty="0">
                <a:solidFill>
                  <a:srgbClr val="0F2044"/>
                </a:solidFill>
                <a:latin typeface="Georgia"/>
                <a:cs typeface="Georgia"/>
              </a:rPr>
              <a:t> </a:t>
            </a:r>
            <a:r>
              <a:rPr sz="2500" dirty="0">
                <a:solidFill>
                  <a:srgbClr val="0F2044"/>
                </a:solidFill>
                <a:latin typeface="Georgia"/>
                <a:cs typeface="Georgia"/>
              </a:rPr>
              <a:t>Free</a:t>
            </a:r>
            <a:r>
              <a:rPr sz="2500" spc="-85" dirty="0">
                <a:solidFill>
                  <a:srgbClr val="0F2044"/>
                </a:solidFill>
                <a:latin typeface="Georgia"/>
                <a:cs typeface="Georgia"/>
              </a:rPr>
              <a:t> </a:t>
            </a:r>
            <a:r>
              <a:rPr sz="2500" dirty="0">
                <a:solidFill>
                  <a:srgbClr val="0F2044"/>
                </a:solidFill>
                <a:latin typeface="Georgia"/>
                <a:cs typeface="Georgia"/>
              </a:rPr>
              <a:t>List</a:t>
            </a:r>
            <a:r>
              <a:rPr sz="2500" spc="-85" dirty="0">
                <a:solidFill>
                  <a:srgbClr val="0F2044"/>
                </a:solidFill>
                <a:latin typeface="Georgia"/>
                <a:cs typeface="Georgia"/>
              </a:rPr>
              <a:t> </a:t>
            </a:r>
            <a:r>
              <a:rPr sz="2500" spc="-10" dirty="0">
                <a:solidFill>
                  <a:srgbClr val="0F2044"/>
                </a:solidFill>
                <a:latin typeface="Georgia"/>
                <a:cs typeface="Georgia"/>
              </a:rPr>
              <a:t>Optimization</a:t>
            </a:r>
            <a:endParaRPr sz="2500" dirty="0">
              <a:latin typeface="Georgia"/>
              <a:cs typeface="Georgia"/>
            </a:endParaRPr>
          </a:p>
        </p:txBody>
      </p:sp>
      <p:graphicFrame>
        <p:nvGraphicFramePr>
          <p:cNvPr id="3" name="object 3"/>
          <p:cNvGraphicFramePr>
            <a:graphicFrameLocks noGrp="1"/>
          </p:cNvGraphicFramePr>
          <p:nvPr>
            <p:extLst>
              <p:ext uri="{D42A27DB-BD31-4B8C-83A1-F6EECF244321}">
                <p14:modId xmlns:p14="http://schemas.microsoft.com/office/powerpoint/2010/main" val="3412890597"/>
              </p:ext>
            </p:extLst>
          </p:nvPr>
        </p:nvGraphicFramePr>
        <p:xfrm>
          <a:off x="436247" y="2433637"/>
          <a:ext cx="4973953" cy="2940685"/>
        </p:xfrm>
        <a:graphic>
          <a:graphicData uri="http://schemas.openxmlformats.org/drawingml/2006/table">
            <a:tbl>
              <a:tblPr firstRow="1" bandRow="1">
                <a:tableStyleId>{2D5ABB26-0587-4C30-8999-92F81FD0307C}</a:tableStyleId>
              </a:tblPr>
              <a:tblGrid>
                <a:gridCol w="2078353">
                  <a:extLst>
                    <a:ext uri="{9D8B030D-6E8A-4147-A177-3AD203B41FA5}">
                      <a16:colId xmlns:a16="http://schemas.microsoft.com/office/drawing/2014/main" val="20000"/>
                    </a:ext>
                  </a:extLst>
                </a:gridCol>
                <a:gridCol w="1410336">
                  <a:extLst>
                    <a:ext uri="{9D8B030D-6E8A-4147-A177-3AD203B41FA5}">
                      <a16:colId xmlns:a16="http://schemas.microsoft.com/office/drawing/2014/main" val="20001"/>
                    </a:ext>
                  </a:extLst>
                </a:gridCol>
                <a:gridCol w="1485264">
                  <a:extLst>
                    <a:ext uri="{9D8B030D-6E8A-4147-A177-3AD203B41FA5}">
                      <a16:colId xmlns:a16="http://schemas.microsoft.com/office/drawing/2014/main" val="20002"/>
                    </a:ext>
                  </a:extLst>
                </a:gridCol>
              </a:tblGrid>
              <a:tr h="608965">
                <a:tc>
                  <a:txBody>
                    <a:bodyPr/>
                    <a:lstStyle/>
                    <a:p>
                      <a:pPr algn="ctr">
                        <a:lnSpc>
                          <a:spcPct val="100000"/>
                        </a:lnSpc>
                        <a:spcBef>
                          <a:spcPts val="1500"/>
                        </a:spcBef>
                      </a:pPr>
                      <a:r>
                        <a:rPr sz="1600" b="1" dirty="0">
                          <a:latin typeface="Arial"/>
                          <a:cs typeface="Arial"/>
                        </a:rPr>
                        <a:t>base</a:t>
                      </a:r>
                      <a:r>
                        <a:rPr sz="1600" b="1" spc="-15" dirty="0">
                          <a:latin typeface="Arial"/>
                          <a:cs typeface="Arial"/>
                        </a:rPr>
                        <a:t> </a:t>
                      </a:r>
                      <a:r>
                        <a:rPr sz="1600" b="1" dirty="0">
                          <a:latin typeface="Arial"/>
                          <a:cs typeface="Arial"/>
                        </a:rPr>
                        <a:t>2</a:t>
                      </a:r>
                      <a:r>
                        <a:rPr sz="1600" b="1" spc="-10" dirty="0">
                          <a:latin typeface="Arial"/>
                          <a:cs typeface="Arial"/>
                        </a:rPr>
                        <a:t> (binary)</a:t>
                      </a:r>
                      <a:endParaRPr sz="1600" dirty="0">
                        <a:latin typeface="Arial"/>
                        <a:cs typeface="Arial"/>
                      </a:endParaRPr>
                    </a:p>
                  </a:txBody>
                  <a:tcPr marL="0" marR="0" marT="19050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182880" marR="344170" indent="0" algn="ctr">
                        <a:lnSpc>
                          <a:spcPct val="100000"/>
                        </a:lnSpc>
                        <a:spcBef>
                          <a:spcPts val="660"/>
                        </a:spcBef>
                      </a:pPr>
                      <a:r>
                        <a:rPr sz="1600" b="1" dirty="0">
                          <a:latin typeface="Arial"/>
                          <a:cs typeface="Arial"/>
                        </a:rPr>
                        <a:t>base</a:t>
                      </a:r>
                      <a:r>
                        <a:rPr sz="1600" b="1" spc="-20" dirty="0">
                          <a:latin typeface="Arial"/>
                          <a:cs typeface="Arial"/>
                        </a:rPr>
                        <a:t> </a:t>
                      </a:r>
                      <a:r>
                        <a:rPr sz="1600" b="1" spc="-25" dirty="0">
                          <a:latin typeface="Arial"/>
                          <a:cs typeface="Arial"/>
                        </a:rPr>
                        <a:t>10 </a:t>
                      </a:r>
                      <a:r>
                        <a:rPr sz="1600" b="1" spc="-10" dirty="0">
                          <a:latin typeface="Arial"/>
                          <a:cs typeface="Arial"/>
                        </a:rPr>
                        <a:t>(decimal)</a:t>
                      </a:r>
                      <a:endParaRPr sz="1600" dirty="0">
                        <a:latin typeface="Arial"/>
                        <a:cs typeface="Arial"/>
                      </a:endParaRPr>
                    </a:p>
                  </a:txBody>
                  <a:tcPr marL="0" marR="0" marT="8382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algn="ctr">
                        <a:lnSpc>
                          <a:spcPct val="100000"/>
                        </a:lnSpc>
                        <a:spcBef>
                          <a:spcPts val="1500"/>
                        </a:spcBef>
                      </a:pPr>
                      <a:r>
                        <a:rPr sz="1600" b="1" dirty="0">
                          <a:latin typeface="Arial"/>
                          <a:cs typeface="Arial"/>
                        </a:rPr>
                        <a:t>block</a:t>
                      </a:r>
                      <a:r>
                        <a:rPr sz="1600" b="1" spc="-25" dirty="0">
                          <a:latin typeface="Arial"/>
                          <a:cs typeface="Arial"/>
                        </a:rPr>
                        <a:t> </a:t>
                      </a:r>
                      <a:r>
                        <a:rPr sz="1600" b="1" spc="-10" dirty="0">
                          <a:latin typeface="Arial"/>
                          <a:cs typeface="Arial"/>
                        </a:rPr>
                        <a:t>position</a:t>
                      </a:r>
                      <a:endParaRPr sz="1600" dirty="0">
                        <a:latin typeface="Arial"/>
                        <a:cs typeface="Arial"/>
                      </a:endParaRPr>
                    </a:p>
                  </a:txBody>
                  <a:tcPr marL="0" marR="0" marT="19050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extLst>
                  <a:ext uri="{0D108BD9-81ED-4DB2-BD59-A6C34878D82A}">
                    <a16:rowId xmlns:a16="http://schemas.microsoft.com/office/drawing/2014/main" val="10000"/>
                  </a:ext>
                </a:extLst>
              </a:tr>
              <a:tr h="582930">
                <a:tc>
                  <a:txBody>
                    <a:bodyPr/>
                    <a:lstStyle/>
                    <a:p>
                      <a:pPr algn="ctr">
                        <a:lnSpc>
                          <a:spcPct val="100000"/>
                        </a:lnSpc>
                        <a:spcBef>
                          <a:spcPts val="620"/>
                        </a:spcBef>
                      </a:pPr>
                      <a:r>
                        <a:rPr sz="1600" dirty="0">
                          <a:latin typeface="Arial MT"/>
                          <a:cs typeface="Arial MT"/>
                        </a:rPr>
                        <a:t>0000</a:t>
                      </a:r>
                      <a:r>
                        <a:rPr sz="1600" spc="-20" dirty="0">
                          <a:latin typeface="Arial MT"/>
                          <a:cs typeface="Arial MT"/>
                        </a:rPr>
                        <a:t> </a:t>
                      </a:r>
                      <a:r>
                        <a:rPr sz="1600" dirty="0">
                          <a:latin typeface="Arial MT"/>
                          <a:cs typeface="Arial MT"/>
                        </a:rPr>
                        <a:t>0000</a:t>
                      </a:r>
                      <a:r>
                        <a:rPr sz="1600" spc="-20" dirty="0">
                          <a:latin typeface="Arial MT"/>
                          <a:cs typeface="Arial MT"/>
                        </a:rPr>
                        <a:t> </a:t>
                      </a:r>
                      <a:r>
                        <a:rPr sz="1600" dirty="0">
                          <a:latin typeface="Arial MT"/>
                          <a:cs typeface="Arial MT"/>
                        </a:rPr>
                        <a:t>0000</a:t>
                      </a:r>
                      <a:r>
                        <a:rPr sz="1600" spc="-20" dirty="0">
                          <a:latin typeface="Arial MT"/>
                          <a:cs typeface="Arial MT"/>
                        </a:rPr>
                        <a:t> 0000</a:t>
                      </a:r>
                      <a:endParaRPr sz="1600" dirty="0">
                        <a:latin typeface="Arial MT"/>
                        <a:cs typeface="Arial MT"/>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algn="ctr">
                        <a:lnSpc>
                          <a:spcPct val="100000"/>
                        </a:lnSpc>
                        <a:spcBef>
                          <a:spcPts val="620"/>
                        </a:spcBef>
                      </a:pPr>
                      <a:r>
                        <a:rPr sz="1600" spc="-50" dirty="0">
                          <a:latin typeface="Arial MT"/>
                          <a:cs typeface="Arial MT"/>
                        </a:rPr>
                        <a:t>0</a:t>
                      </a:r>
                      <a:endParaRPr sz="1600" dirty="0">
                        <a:latin typeface="Arial MT"/>
                        <a:cs typeface="Arial MT"/>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algn="ctr">
                        <a:lnSpc>
                          <a:spcPct val="100000"/>
                        </a:lnSpc>
                        <a:spcBef>
                          <a:spcPts val="620"/>
                        </a:spcBef>
                      </a:pPr>
                      <a:r>
                        <a:rPr sz="1600" dirty="0">
                          <a:latin typeface="Arial MT"/>
                          <a:cs typeface="Arial MT"/>
                        </a:rPr>
                        <a:t>Start</a:t>
                      </a:r>
                      <a:r>
                        <a:rPr sz="1600" spc="-25" dirty="0">
                          <a:latin typeface="Arial MT"/>
                          <a:cs typeface="Arial MT"/>
                        </a:rPr>
                        <a:t> </a:t>
                      </a:r>
                      <a:r>
                        <a:rPr sz="1600" dirty="0">
                          <a:latin typeface="Arial MT"/>
                          <a:cs typeface="Arial MT"/>
                        </a:rPr>
                        <a:t>of</a:t>
                      </a:r>
                      <a:r>
                        <a:rPr sz="1600" spc="-25" dirty="0">
                          <a:latin typeface="Arial MT"/>
                          <a:cs typeface="Arial MT"/>
                        </a:rPr>
                        <a:t> </a:t>
                      </a:r>
                      <a:r>
                        <a:rPr sz="1600" dirty="0">
                          <a:latin typeface="Arial MT"/>
                          <a:cs typeface="Arial MT"/>
                        </a:rPr>
                        <a:t>Block</a:t>
                      </a:r>
                      <a:r>
                        <a:rPr sz="1600" spc="-25" dirty="0">
                          <a:latin typeface="Arial MT"/>
                          <a:cs typeface="Arial MT"/>
                        </a:rPr>
                        <a:t> </a:t>
                      </a:r>
                      <a:r>
                        <a:rPr sz="1600" spc="-50" dirty="0">
                          <a:latin typeface="Arial MT"/>
                          <a:cs typeface="Arial MT"/>
                        </a:rPr>
                        <a:t>1</a:t>
                      </a:r>
                      <a:endParaRPr sz="1600">
                        <a:latin typeface="Arial MT"/>
                        <a:cs typeface="Arial MT"/>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extLst>
                  <a:ext uri="{0D108BD9-81ED-4DB2-BD59-A6C34878D82A}">
                    <a16:rowId xmlns:a16="http://schemas.microsoft.com/office/drawing/2014/main" val="10001"/>
                  </a:ext>
                </a:extLst>
              </a:tr>
              <a:tr h="582930">
                <a:tc>
                  <a:txBody>
                    <a:bodyPr/>
                    <a:lstStyle/>
                    <a:p>
                      <a:pPr algn="ctr">
                        <a:lnSpc>
                          <a:spcPct val="100000"/>
                        </a:lnSpc>
                        <a:spcBef>
                          <a:spcPts val="615"/>
                        </a:spcBef>
                      </a:pPr>
                      <a:r>
                        <a:rPr sz="1600" dirty="0">
                          <a:latin typeface="Arial MT"/>
                          <a:cs typeface="Arial MT"/>
                        </a:rPr>
                        <a:t>0000</a:t>
                      </a:r>
                      <a:r>
                        <a:rPr sz="1600" spc="-20" dirty="0">
                          <a:latin typeface="Arial MT"/>
                          <a:cs typeface="Arial MT"/>
                        </a:rPr>
                        <a:t> </a:t>
                      </a:r>
                      <a:r>
                        <a:rPr sz="1600" dirty="0">
                          <a:latin typeface="Arial MT"/>
                          <a:cs typeface="Arial MT"/>
                        </a:rPr>
                        <a:t>0000</a:t>
                      </a:r>
                      <a:r>
                        <a:rPr sz="1600" spc="-20" dirty="0">
                          <a:latin typeface="Arial MT"/>
                          <a:cs typeface="Arial MT"/>
                        </a:rPr>
                        <a:t> </a:t>
                      </a:r>
                      <a:r>
                        <a:rPr sz="1600" dirty="0">
                          <a:latin typeface="Arial MT"/>
                          <a:cs typeface="Arial MT"/>
                        </a:rPr>
                        <a:t>0000</a:t>
                      </a:r>
                      <a:r>
                        <a:rPr sz="1600" spc="-20" dirty="0">
                          <a:latin typeface="Arial MT"/>
                          <a:cs typeface="Arial MT"/>
                        </a:rPr>
                        <a:t> 1000</a:t>
                      </a:r>
                      <a:endParaRPr sz="1600" dirty="0">
                        <a:latin typeface="Arial MT"/>
                        <a:cs typeface="Arial MT"/>
                      </a:endParaRPr>
                    </a:p>
                  </a:txBody>
                  <a:tcPr marL="0" marR="0" marT="78105"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algn="ctr">
                        <a:lnSpc>
                          <a:spcPct val="100000"/>
                        </a:lnSpc>
                        <a:spcBef>
                          <a:spcPts val="615"/>
                        </a:spcBef>
                      </a:pPr>
                      <a:r>
                        <a:rPr sz="1600" spc="-50" dirty="0">
                          <a:latin typeface="Arial MT"/>
                          <a:cs typeface="Arial MT"/>
                        </a:rPr>
                        <a:t>8</a:t>
                      </a:r>
                      <a:endParaRPr sz="1600">
                        <a:latin typeface="Arial MT"/>
                        <a:cs typeface="Arial MT"/>
                      </a:endParaRPr>
                    </a:p>
                  </a:txBody>
                  <a:tcPr marL="0" marR="0" marT="78105"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algn="ctr">
                        <a:lnSpc>
                          <a:spcPct val="100000"/>
                        </a:lnSpc>
                        <a:spcBef>
                          <a:spcPts val="615"/>
                        </a:spcBef>
                      </a:pPr>
                      <a:r>
                        <a:rPr sz="1600" dirty="0">
                          <a:latin typeface="Arial MT"/>
                          <a:cs typeface="Arial MT"/>
                        </a:rPr>
                        <a:t>Start</a:t>
                      </a:r>
                      <a:r>
                        <a:rPr sz="1600" spc="-25" dirty="0">
                          <a:latin typeface="Arial MT"/>
                          <a:cs typeface="Arial MT"/>
                        </a:rPr>
                        <a:t> </a:t>
                      </a:r>
                      <a:r>
                        <a:rPr sz="1600" dirty="0">
                          <a:latin typeface="Arial MT"/>
                          <a:cs typeface="Arial MT"/>
                        </a:rPr>
                        <a:t>of</a:t>
                      </a:r>
                      <a:r>
                        <a:rPr sz="1600" spc="-25" dirty="0">
                          <a:latin typeface="Arial MT"/>
                          <a:cs typeface="Arial MT"/>
                        </a:rPr>
                        <a:t> </a:t>
                      </a:r>
                      <a:r>
                        <a:rPr sz="1600" dirty="0">
                          <a:latin typeface="Arial MT"/>
                          <a:cs typeface="Arial MT"/>
                        </a:rPr>
                        <a:t>Block</a:t>
                      </a:r>
                      <a:r>
                        <a:rPr sz="1600" spc="-25" dirty="0">
                          <a:latin typeface="Arial MT"/>
                          <a:cs typeface="Arial MT"/>
                        </a:rPr>
                        <a:t> </a:t>
                      </a:r>
                      <a:r>
                        <a:rPr sz="1600" spc="-50" dirty="0">
                          <a:latin typeface="Arial MT"/>
                          <a:cs typeface="Arial MT"/>
                        </a:rPr>
                        <a:t>2</a:t>
                      </a:r>
                      <a:endParaRPr sz="1600">
                        <a:latin typeface="Arial MT"/>
                        <a:cs typeface="Arial MT"/>
                      </a:endParaRPr>
                    </a:p>
                  </a:txBody>
                  <a:tcPr marL="0" marR="0" marT="78105"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extLst>
                  <a:ext uri="{0D108BD9-81ED-4DB2-BD59-A6C34878D82A}">
                    <a16:rowId xmlns:a16="http://schemas.microsoft.com/office/drawing/2014/main" val="10002"/>
                  </a:ext>
                </a:extLst>
              </a:tr>
              <a:tr h="582930">
                <a:tc>
                  <a:txBody>
                    <a:bodyPr/>
                    <a:lstStyle/>
                    <a:p>
                      <a:pPr algn="ctr">
                        <a:lnSpc>
                          <a:spcPct val="100000"/>
                        </a:lnSpc>
                        <a:spcBef>
                          <a:spcPts val="620"/>
                        </a:spcBef>
                      </a:pPr>
                      <a:r>
                        <a:rPr sz="1600" dirty="0">
                          <a:latin typeface="Arial MT"/>
                          <a:cs typeface="Arial MT"/>
                        </a:rPr>
                        <a:t>0000</a:t>
                      </a:r>
                      <a:r>
                        <a:rPr sz="1600" spc="-20" dirty="0">
                          <a:latin typeface="Arial MT"/>
                          <a:cs typeface="Arial MT"/>
                        </a:rPr>
                        <a:t> </a:t>
                      </a:r>
                      <a:r>
                        <a:rPr sz="1600" dirty="0">
                          <a:latin typeface="Arial MT"/>
                          <a:cs typeface="Arial MT"/>
                        </a:rPr>
                        <a:t>0000</a:t>
                      </a:r>
                      <a:r>
                        <a:rPr sz="1600" spc="-20" dirty="0">
                          <a:latin typeface="Arial MT"/>
                          <a:cs typeface="Arial MT"/>
                        </a:rPr>
                        <a:t> </a:t>
                      </a:r>
                      <a:r>
                        <a:rPr sz="1600" dirty="0">
                          <a:latin typeface="Arial MT"/>
                          <a:cs typeface="Arial MT"/>
                        </a:rPr>
                        <a:t>0001</a:t>
                      </a:r>
                      <a:r>
                        <a:rPr sz="1600" spc="-20" dirty="0">
                          <a:latin typeface="Arial MT"/>
                          <a:cs typeface="Arial MT"/>
                        </a:rPr>
                        <a:t> 0000</a:t>
                      </a:r>
                      <a:endParaRPr sz="1600">
                        <a:latin typeface="Arial MT"/>
                        <a:cs typeface="Arial MT"/>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algn="ctr">
                        <a:lnSpc>
                          <a:spcPct val="100000"/>
                        </a:lnSpc>
                        <a:spcBef>
                          <a:spcPts val="620"/>
                        </a:spcBef>
                      </a:pPr>
                      <a:r>
                        <a:rPr sz="1600" spc="-25" dirty="0">
                          <a:latin typeface="Arial MT"/>
                          <a:cs typeface="Arial MT"/>
                        </a:rPr>
                        <a:t>16</a:t>
                      </a:r>
                      <a:endParaRPr sz="1600" dirty="0">
                        <a:latin typeface="Arial MT"/>
                        <a:cs typeface="Arial MT"/>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algn="ctr">
                        <a:lnSpc>
                          <a:spcPct val="100000"/>
                        </a:lnSpc>
                        <a:spcBef>
                          <a:spcPts val="620"/>
                        </a:spcBef>
                      </a:pPr>
                      <a:r>
                        <a:rPr sz="1600" dirty="0">
                          <a:latin typeface="Arial MT"/>
                          <a:cs typeface="Arial MT"/>
                        </a:rPr>
                        <a:t>Start</a:t>
                      </a:r>
                      <a:r>
                        <a:rPr sz="1600" spc="-25" dirty="0">
                          <a:latin typeface="Arial MT"/>
                          <a:cs typeface="Arial MT"/>
                        </a:rPr>
                        <a:t> </a:t>
                      </a:r>
                      <a:r>
                        <a:rPr sz="1600" dirty="0">
                          <a:latin typeface="Arial MT"/>
                          <a:cs typeface="Arial MT"/>
                        </a:rPr>
                        <a:t>of</a:t>
                      </a:r>
                      <a:r>
                        <a:rPr sz="1600" spc="-25" dirty="0">
                          <a:latin typeface="Arial MT"/>
                          <a:cs typeface="Arial MT"/>
                        </a:rPr>
                        <a:t> </a:t>
                      </a:r>
                      <a:r>
                        <a:rPr sz="1600" dirty="0">
                          <a:latin typeface="Arial MT"/>
                          <a:cs typeface="Arial MT"/>
                        </a:rPr>
                        <a:t>Block</a:t>
                      </a:r>
                      <a:r>
                        <a:rPr sz="1600" spc="-25" dirty="0">
                          <a:latin typeface="Arial MT"/>
                          <a:cs typeface="Arial MT"/>
                        </a:rPr>
                        <a:t> </a:t>
                      </a:r>
                      <a:r>
                        <a:rPr sz="1600" spc="-50" dirty="0">
                          <a:latin typeface="Arial MT"/>
                          <a:cs typeface="Arial MT"/>
                        </a:rPr>
                        <a:t>3</a:t>
                      </a:r>
                      <a:endParaRPr sz="1600">
                        <a:latin typeface="Arial MT"/>
                        <a:cs typeface="Arial MT"/>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extLst>
                  <a:ext uri="{0D108BD9-81ED-4DB2-BD59-A6C34878D82A}">
                    <a16:rowId xmlns:a16="http://schemas.microsoft.com/office/drawing/2014/main" val="10003"/>
                  </a:ext>
                </a:extLst>
              </a:tr>
              <a:tr h="582930">
                <a:tc>
                  <a:txBody>
                    <a:bodyPr/>
                    <a:lstStyle/>
                    <a:p>
                      <a:pPr algn="ctr">
                        <a:lnSpc>
                          <a:spcPct val="100000"/>
                        </a:lnSpc>
                        <a:spcBef>
                          <a:spcPts val="620"/>
                        </a:spcBef>
                      </a:pPr>
                      <a:r>
                        <a:rPr sz="1600" dirty="0">
                          <a:latin typeface="Arial MT"/>
                          <a:cs typeface="Arial MT"/>
                        </a:rPr>
                        <a:t>0000</a:t>
                      </a:r>
                      <a:r>
                        <a:rPr sz="1600" spc="-20" dirty="0">
                          <a:latin typeface="Arial MT"/>
                          <a:cs typeface="Arial MT"/>
                        </a:rPr>
                        <a:t> </a:t>
                      </a:r>
                      <a:r>
                        <a:rPr sz="1600" dirty="0">
                          <a:latin typeface="Arial MT"/>
                          <a:cs typeface="Arial MT"/>
                        </a:rPr>
                        <a:t>0000</a:t>
                      </a:r>
                      <a:r>
                        <a:rPr sz="1600" spc="-20" dirty="0">
                          <a:latin typeface="Arial MT"/>
                          <a:cs typeface="Arial MT"/>
                        </a:rPr>
                        <a:t> </a:t>
                      </a:r>
                      <a:r>
                        <a:rPr sz="1600" dirty="0">
                          <a:latin typeface="Arial MT"/>
                          <a:cs typeface="Arial MT"/>
                        </a:rPr>
                        <a:t>0010</a:t>
                      </a:r>
                      <a:r>
                        <a:rPr sz="1600" spc="-20" dirty="0">
                          <a:latin typeface="Arial MT"/>
                          <a:cs typeface="Arial MT"/>
                        </a:rPr>
                        <a:t> 0000</a:t>
                      </a:r>
                      <a:endParaRPr sz="1600" dirty="0">
                        <a:latin typeface="Arial MT"/>
                        <a:cs typeface="Arial MT"/>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algn="ctr">
                        <a:lnSpc>
                          <a:spcPct val="100000"/>
                        </a:lnSpc>
                        <a:spcBef>
                          <a:spcPts val="620"/>
                        </a:spcBef>
                      </a:pPr>
                      <a:r>
                        <a:rPr sz="1600" spc="-25" dirty="0">
                          <a:latin typeface="Arial MT"/>
                          <a:cs typeface="Arial MT"/>
                        </a:rPr>
                        <a:t>32</a:t>
                      </a:r>
                      <a:endParaRPr sz="1600">
                        <a:latin typeface="Arial MT"/>
                        <a:cs typeface="Arial MT"/>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algn="ctr">
                        <a:lnSpc>
                          <a:spcPct val="100000"/>
                        </a:lnSpc>
                        <a:spcBef>
                          <a:spcPts val="620"/>
                        </a:spcBef>
                      </a:pPr>
                      <a:r>
                        <a:rPr sz="1600" dirty="0">
                          <a:latin typeface="Arial MT"/>
                          <a:cs typeface="Arial MT"/>
                        </a:rPr>
                        <a:t>Start</a:t>
                      </a:r>
                      <a:r>
                        <a:rPr sz="1600" spc="-25" dirty="0">
                          <a:latin typeface="Arial MT"/>
                          <a:cs typeface="Arial MT"/>
                        </a:rPr>
                        <a:t> </a:t>
                      </a:r>
                      <a:r>
                        <a:rPr sz="1600" dirty="0">
                          <a:latin typeface="Arial MT"/>
                          <a:cs typeface="Arial MT"/>
                        </a:rPr>
                        <a:t>of</a:t>
                      </a:r>
                      <a:r>
                        <a:rPr sz="1600" spc="-25" dirty="0">
                          <a:latin typeface="Arial MT"/>
                          <a:cs typeface="Arial MT"/>
                        </a:rPr>
                        <a:t> </a:t>
                      </a:r>
                      <a:r>
                        <a:rPr sz="1600" dirty="0">
                          <a:latin typeface="Arial MT"/>
                          <a:cs typeface="Arial MT"/>
                        </a:rPr>
                        <a:t>Block</a:t>
                      </a:r>
                      <a:r>
                        <a:rPr sz="1600" spc="-25" dirty="0">
                          <a:latin typeface="Arial MT"/>
                          <a:cs typeface="Arial MT"/>
                        </a:rPr>
                        <a:t> </a:t>
                      </a:r>
                      <a:r>
                        <a:rPr sz="1600" spc="-50" dirty="0">
                          <a:latin typeface="Arial MT"/>
                          <a:cs typeface="Arial MT"/>
                        </a:rPr>
                        <a:t>4</a:t>
                      </a:r>
                      <a:endParaRPr sz="1600" dirty="0">
                        <a:latin typeface="Arial MT"/>
                        <a:cs typeface="Arial MT"/>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extLst>
                  <a:ext uri="{0D108BD9-81ED-4DB2-BD59-A6C34878D82A}">
                    <a16:rowId xmlns:a16="http://schemas.microsoft.com/office/drawing/2014/main" val="10004"/>
                  </a:ext>
                </a:extLst>
              </a:tr>
            </a:tbl>
          </a:graphicData>
        </a:graphic>
      </p:graphicFrame>
      <p:sp>
        <p:nvSpPr>
          <p:cNvPr id="6" name="object 6"/>
          <p:cNvSpPr txBox="1"/>
          <p:nvPr/>
        </p:nvSpPr>
        <p:spPr>
          <a:xfrm>
            <a:off x="5811074" y="1295400"/>
            <a:ext cx="5980430" cy="5122493"/>
          </a:xfrm>
          <a:prstGeom prst="rect">
            <a:avLst/>
          </a:prstGeom>
        </p:spPr>
        <p:txBody>
          <a:bodyPr vert="horz" wrap="square" lIns="0" tIns="12700" rIns="0" bIns="0" rtlCol="0">
            <a:spAutoFit/>
          </a:bodyPr>
          <a:lstStyle/>
          <a:p>
            <a:pPr marL="12700">
              <a:lnSpc>
                <a:spcPct val="114000"/>
              </a:lnSpc>
              <a:spcBef>
                <a:spcPts val="100"/>
              </a:spcBef>
              <a:spcAft>
                <a:spcPts val="600"/>
              </a:spcAft>
            </a:pPr>
            <a:r>
              <a:rPr lang="en-US" sz="1800" b="1" spc="-10" dirty="0">
                <a:latin typeface="Arial"/>
                <a:cs typeface="Arial"/>
              </a:rPr>
              <a:t>Observation:</a:t>
            </a:r>
            <a:endParaRPr lang="en-US" b="1" spc="-10" dirty="0">
              <a:solidFill>
                <a:srgbClr val="0F2044"/>
              </a:solidFill>
              <a:latin typeface="Arial"/>
              <a:cs typeface="Arial"/>
            </a:endParaRPr>
          </a:p>
          <a:p>
            <a:pPr marL="12700">
              <a:lnSpc>
                <a:spcPct val="114000"/>
              </a:lnSpc>
              <a:spcBef>
                <a:spcPts val="100"/>
              </a:spcBef>
              <a:spcAft>
                <a:spcPts val="2400"/>
              </a:spcAft>
            </a:pPr>
            <a:r>
              <a:rPr lang="en-US" sz="1800" dirty="0">
                <a:solidFill>
                  <a:srgbClr val="0F2044"/>
                </a:solidFill>
                <a:latin typeface="Arial MT"/>
                <a:cs typeface="Arial MT"/>
              </a:rPr>
              <a:t>Lower</a:t>
            </a:r>
            <a:r>
              <a:rPr lang="en-US" sz="1800" spc="-25" dirty="0">
                <a:solidFill>
                  <a:srgbClr val="0F2044"/>
                </a:solidFill>
                <a:latin typeface="Arial MT"/>
                <a:cs typeface="Arial MT"/>
              </a:rPr>
              <a:t> </a:t>
            </a:r>
            <a:r>
              <a:rPr lang="en-US" sz="1800" dirty="0">
                <a:solidFill>
                  <a:srgbClr val="0F2044"/>
                </a:solidFill>
                <a:latin typeface="Arial MT"/>
                <a:cs typeface="Arial MT"/>
              </a:rPr>
              <a:t>three</a:t>
            </a:r>
            <a:r>
              <a:rPr lang="en-US" sz="1800" spc="-10" dirty="0">
                <a:solidFill>
                  <a:srgbClr val="0F2044"/>
                </a:solidFill>
                <a:latin typeface="Arial MT"/>
                <a:cs typeface="Arial MT"/>
              </a:rPr>
              <a:t> </a:t>
            </a:r>
            <a:r>
              <a:rPr lang="en-US" sz="1800" dirty="0">
                <a:solidFill>
                  <a:srgbClr val="0F2044"/>
                </a:solidFill>
                <a:latin typeface="Arial MT"/>
                <a:cs typeface="Arial MT"/>
              </a:rPr>
              <a:t>bits</a:t>
            </a:r>
            <a:r>
              <a:rPr lang="en-US" sz="1800" spc="-10" dirty="0">
                <a:solidFill>
                  <a:srgbClr val="0F2044"/>
                </a:solidFill>
                <a:latin typeface="Arial MT"/>
                <a:cs typeface="Arial MT"/>
              </a:rPr>
              <a:t> </a:t>
            </a:r>
            <a:r>
              <a:rPr lang="en-US" sz="1800" dirty="0">
                <a:solidFill>
                  <a:srgbClr val="0F2044"/>
                </a:solidFill>
                <a:latin typeface="Arial MT"/>
                <a:cs typeface="Arial MT"/>
              </a:rPr>
              <a:t>are</a:t>
            </a:r>
            <a:r>
              <a:rPr lang="en-US" sz="1800" spc="-10" dirty="0">
                <a:solidFill>
                  <a:srgbClr val="0F2044"/>
                </a:solidFill>
                <a:latin typeface="Arial MT"/>
                <a:cs typeface="Arial MT"/>
              </a:rPr>
              <a:t> </a:t>
            </a:r>
            <a:r>
              <a:rPr lang="en-US" sz="1800" dirty="0">
                <a:solidFill>
                  <a:srgbClr val="0F2044"/>
                </a:solidFill>
                <a:latin typeface="Arial MT"/>
                <a:cs typeface="Arial MT"/>
              </a:rPr>
              <a:t>always</a:t>
            </a:r>
            <a:r>
              <a:rPr lang="en-US" sz="1800" spc="-10" dirty="0">
                <a:solidFill>
                  <a:srgbClr val="0F2044"/>
                </a:solidFill>
                <a:latin typeface="Arial MT"/>
                <a:cs typeface="Arial MT"/>
              </a:rPr>
              <a:t> </a:t>
            </a:r>
            <a:r>
              <a:rPr lang="en-US" sz="1800" spc="-25" dirty="0">
                <a:solidFill>
                  <a:srgbClr val="0F2044"/>
                </a:solidFill>
                <a:latin typeface="Arial MT"/>
                <a:cs typeface="Arial MT"/>
              </a:rPr>
              <a:t>0.</a:t>
            </a:r>
            <a:endParaRPr lang="en-US" sz="1800" dirty="0">
              <a:solidFill>
                <a:srgbClr val="0F2044"/>
              </a:solidFill>
              <a:latin typeface="Arial MT"/>
              <a:cs typeface="Arial MT"/>
            </a:endParaRPr>
          </a:p>
          <a:p>
            <a:pPr marL="12700">
              <a:lnSpc>
                <a:spcPct val="114000"/>
              </a:lnSpc>
              <a:spcBef>
                <a:spcPts val="100"/>
              </a:spcBef>
              <a:spcAft>
                <a:spcPts val="600"/>
              </a:spcAft>
            </a:pPr>
            <a:r>
              <a:rPr lang="en-US" sz="1800" b="1" spc="-10" dirty="0">
                <a:latin typeface="Arial"/>
                <a:cs typeface="Arial"/>
              </a:rPr>
              <a:t>Optimization:</a:t>
            </a:r>
            <a:endParaRPr lang="en-US" b="1" spc="-10" dirty="0">
              <a:solidFill>
                <a:srgbClr val="0F2044"/>
              </a:solidFill>
              <a:latin typeface="Arial"/>
              <a:cs typeface="Arial"/>
            </a:endParaRPr>
          </a:p>
          <a:p>
            <a:pPr marL="12700">
              <a:lnSpc>
                <a:spcPct val="114000"/>
              </a:lnSpc>
              <a:spcBef>
                <a:spcPts val="100"/>
              </a:spcBef>
              <a:spcAft>
                <a:spcPts val="600"/>
              </a:spcAft>
            </a:pPr>
            <a:r>
              <a:rPr sz="1800" dirty="0">
                <a:solidFill>
                  <a:srgbClr val="0F2044"/>
                </a:solidFill>
                <a:latin typeface="Arial MT"/>
                <a:cs typeface="Arial MT"/>
              </a:rPr>
              <a:t>Repurpose</a:t>
            </a:r>
            <a:r>
              <a:rPr sz="1800" spc="-35" dirty="0">
                <a:solidFill>
                  <a:srgbClr val="0F2044"/>
                </a:solidFill>
                <a:latin typeface="Arial MT"/>
                <a:cs typeface="Arial MT"/>
              </a:rPr>
              <a:t> </a:t>
            </a:r>
            <a:r>
              <a:rPr sz="1800" dirty="0">
                <a:solidFill>
                  <a:srgbClr val="0F2044"/>
                </a:solidFill>
                <a:latin typeface="Arial MT"/>
                <a:cs typeface="Arial MT"/>
              </a:rPr>
              <a:t>LSBs</a:t>
            </a:r>
            <a:r>
              <a:rPr sz="1800" spc="-25" dirty="0">
                <a:solidFill>
                  <a:srgbClr val="0F2044"/>
                </a:solidFill>
                <a:latin typeface="Arial MT"/>
                <a:cs typeface="Arial MT"/>
              </a:rPr>
              <a:t> </a:t>
            </a:r>
            <a:r>
              <a:rPr sz="1800" dirty="0">
                <a:solidFill>
                  <a:srgbClr val="0F2044"/>
                </a:solidFill>
                <a:latin typeface="Arial MT"/>
                <a:cs typeface="Arial MT"/>
              </a:rPr>
              <a:t>to</a:t>
            </a:r>
            <a:r>
              <a:rPr sz="1800" spc="-20" dirty="0">
                <a:solidFill>
                  <a:srgbClr val="0F2044"/>
                </a:solidFill>
                <a:latin typeface="Arial MT"/>
                <a:cs typeface="Arial MT"/>
              </a:rPr>
              <a:t> </a:t>
            </a:r>
            <a:r>
              <a:rPr sz="1800" dirty="0">
                <a:solidFill>
                  <a:srgbClr val="0F2044"/>
                </a:solidFill>
                <a:latin typeface="Arial MT"/>
                <a:cs typeface="Arial MT"/>
              </a:rPr>
              <a:t>carry</a:t>
            </a:r>
            <a:r>
              <a:rPr sz="1800" spc="-25" dirty="0">
                <a:solidFill>
                  <a:srgbClr val="0F2044"/>
                </a:solidFill>
                <a:latin typeface="Arial MT"/>
                <a:cs typeface="Arial MT"/>
              </a:rPr>
              <a:t> </a:t>
            </a:r>
            <a:r>
              <a:rPr sz="1800" dirty="0">
                <a:solidFill>
                  <a:srgbClr val="0F2044"/>
                </a:solidFill>
                <a:latin typeface="Arial MT"/>
                <a:cs typeface="Arial MT"/>
              </a:rPr>
              <a:t>allocation</a:t>
            </a:r>
            <a:r>
              <a:rPr sz="1800" spc="-20" dirty="0">
                <a:solidFill>
                  <a:srgbClr val="0F2044"/>
                </a:solidFill>
                <a:latin typeface="Arial MT"/>
                <a:cs typeface="Arial MT"/>
              </a:rPr>
              <a:t> </a:t>
            </a:r>
            <a:r>
              <a:rPr sz="1800" spc="-10" dirty="0">
                <a:solidFill>
                  <a:srgbClr val="0F2044"/>
                </a:solidFill>
                <a:latin typeface="Arial MT"/>
                <a:cs typeface="Arial MT"/>
              </a:rPr>
              <a:t>flag.</a:t>
            </a:r>
            <a:endParaRPr sz="1800" dirty="0">
              <a:latin typeface="Arial MT"/>
              <a:cs typeface="Arial MT"/>
            </a:endParaRPr>
          </a:p>
          <a:p>
            <a:pPr marL="12700">
              <a:lnSpc>
                <a:spcPct val="114000"/>
              </a:lnSpc>
            </a:pPr>
            <a:r>
              <a:rPr sz="1800" dirty="0">
                <a:solidFill>
                  <a:srgbClr val="0F2044"/>
                </a:solidFill>
                <a:latin typeface="Arial MT"/>
                <a:cs typeface="Arial MT"/>
              </a:rPr>
              <a:t>a</a:t>
            </a:r>
            <a:r>
              <a:rPr sz="1800" spc="-5" dirty="0">
                <a:solidFill>
                  <a:srgbClr val="0F2044"/>
                </a:solidFill>
                <a:latin typeface="Arial MT"/>
                <a:cs typeface="Arial MT"/>
              </a:rPr>
              <a:t> </a:t>
            </a:r>
            <a:r>
              <a:rPr sz="1800" dirty="0">
                <a:solidFill>
                  <a:srgbClr val="0F2044"/>
                </a:solidFill>
                <a:latin typeface="Arial MT"/>
                <a:cs typeface="Arial MT"/>
              </a:rPr>
              <a:t>=</a:t>
            </a:r>
            <a:r>
              <a:rPr sz="1800" spc="-5" dirty="0">
                <a:solidFill>
                  <a:srgbClr val="0F2044"/>
                </a:solidFill>
                <a:latin typeface="Arial MT"/>
                <a:cs typeface="Arial MT"/>
              </a:rPr>
              <a:t> </a:t>
            </a:r>
            <a:r>
              <a:rPr sz="1800" dirty="0">
                <a:solidFill>
                  <a:srgbClr val="0F2044"/>
                </a:solidFill>
                <a:latin typeface="Arial MT"/>
                <a:cs typeface="Arial MT"/>
              </a:rPr>
              <a:t>0</a:t>
            </a:r>
            <a:r>
              <a:rPr sz="1800" spc="-5" dirty="0">
                <a:solidFill>
                  <a:srgbClr val="0F2044"/>
                </a:solidFill>
                <a:latin typeface="Arial MT"/>
                <a:cs typeface="Arial MT"/>
              </a:rPr>
              <a:t> </a:t>
            </a:r>
            <a:r>
              <a:rPr sz="1800" spc="-10" dirty="0">
                <a:solidFill>
                  <a:srgbClr val="0F2044"/>
                </a:solidFill>
                <a:latin typeface="Arial MT"/>
                <a:cs typeface="Arial MT"/>
              </a:rPr>
              <a:t>(free)</a:t>
            </a:r>
            <a:endParaRPr sz="1800" dirty="0">
              <a:latin typeface="Arial MT"/>
              <a:cs typeface="Arial MT"/>
            </a:endParaRPr>
          </a:p>
          <a:p>
            <a:pPr marL="12700">
              <a:lnSpc>
                <a:spcPct val="114000"/>
              </a:lnSpc>
              <a:spcAft>
                <a:spcPts val="2400"/>
              </a:spcAft>
            </a:pPr>
            <a:r>
              <a:rPr sz="1800" dirty="0">
                <a:solidFill>
                  <a:srgbClr val="0F2044"/>
                </a:solidFill>
                <a:latin typeface="Arial MT"/>
                <a:cs typeface="Arial MT"/>
              </a:rPr>
              <a:t>a</a:t>
            </a:r>
            <a:r>
              <a:rPr sz="1800" spc="-5" dirty="0">
                <a:solidFill>
                  <a:srgbClr val="0F2044"/>
                </a:solidFill>
                <a:latin typeface="Arial MT"/>
                <a:cs typeface="Arial MT"/>
              </a:rPr>
              <a:t> </a:t>
            </a:r>
            <a:r>
              <a:rPr sz="1800" dirty="0">
                <a:solidFill>
                  <a:srgbClr val="0F2044"/>
                </a:solidFill>
                <a:latin typeface="Arial MT"/>
                <a:cs typeface="Arial MT"/>
              </a:rPr>
              <a:t>=</a:t>
            </a:r>
            <a:r>
              <a:rPr sz="1800" spc="-5" dirty="0">
                <a:solidFill>
                  <a:srgbClr val="0F2044"/>
                </a:solidFill>
                <a:latin typeface="Arial MT"/>
                <a:cs typeface="Arial MT"/>
              </a:rPr>
              <a:t> </a:t>
            </a:r>
            <a:r>
              <a:rPr sz="1800" dirty="0">
                <a:solidFill>
                  <a:srgbClr val="0F2044"/>
                </a:solidFill>
                <a:latin typeface="Arial MT"/>
                <a:cs typeface="Arial MT"/>
              </a:rPr>
              <a:t>1</a:t>
            </a:r>
            <a:r>
              <a:rPr sz="1800" spc="-5" dirty="0">
                <a:solidFill>
                  <a:srgbClr val="0F2044"/>
                </a:solidFill>
                <a:latin typeface="Arial MT"/>
                <a:cs typeface="Arial MT"/>
              </a:rPr>
              <a:t> </a:t>
            </a:r>
            <a:r>
              <a:rPr sz="1800" spc="-10" dirty="0">
                <a:solidFill>
                  <a:srgbClr val="0F2044"/>
                </a:solidFill>
                <a:latin typeface="Arial MT"/>
                <a:cs typeface="Arial MT"/>
              </a:rPr>
              <a:t>(allocated)</a:t>
            </a:r>
            <a:endParaRPr sz="1800" dirty="0">
              <a:latin typeface="Arial MT"/>
              <a:cs typeface="Arial MT"/>
            </a:endParaRPr>
          </a:p>
          <a:p>
            <a:pPr marL="12700" marR="361315">
              <a:lnSpc>
                <a:spcPct val="114000"/>
              </a:lnSpc>
              <a:spcAft>
                <a:spcPts val="600"/>
              </a:spcAft>
            </a:pPr>
            <a:r>
              <a:rPr lang="en-US" sz="1800" b="1" spc="-10" dirty="0">
                <a:latin typeface="Arial"/>
                <a:cs typeface="Arial"/>
              </a:rPr>
              <a:t>Masking:</a:t>
            </a:r>
            <a:endParaRPr lang="en-US" b="1" spc="-10" dirty="0">
              <a:solidFill>
                <a:srgbClr val="0F2044"/>
              </a:solidFill>
              <a:latin typeface="Arial"/>
              <a:cs typeface="Arial"/>
            </a:endParaRPr>
          </a:p>
          <a:p>
            <a:pPr marL="12700" marR="361315">
              <a:lnSpc>
                <a:spcPct val="114000"/>
              </a:lnSpc>
              <a:spcAft>
                <a:spcPts val="2400"/>
              </a:spcAft>
            </a:pPr>
            <a:r>
              <a:rPr sz="1800" dirty="0">
                <a:solidFill>
                  <a:srgbClr val="0F2044"/>
                </a:solidFill>
                <a:latin typeface="Arial MT"/>
                <a:cs typeface="Arial MT"/>
              </a:rPr>
              <a:t>When</a:t>
            </a:r>
            <a:r>
              <a:rPr sz="1800" spc="-30" dirty="0">
                <a:solidFill>
                  <a:srgbClr val="0F2044"/>
                </a:solidFill>
                <a:latin typeface="Arial MT"/>
                <a:cs typeface="Arial MT"/>
              </a:rPr>
              <a:t> </a:t>
            </a:r>
            <a:r>
              <a:rPr sz="1800" dirty="0">
                <a:solidFill>
                  <a:srgbClr val="0F2044"/>
                </a:solidFill>
                <a:latin typeface="Arial MT"/>
                <a:cs typeface="Arial MT"/>
              </a:rPr>
              <a:t>reading</a:t>
            </a:r>
            <a:r>
              <a:rPr sz="1800" spc="-15" dirty="0">
                <a:solidFill>
                  <a:srgbClr val="0F2044"/>
                </a:solidFill>
                <a:latin typeface="Arial MT"/>
                <a:cs typeface="Arial MT"/>
              </a:rPr>
              <a:t> </a:t>
            </a:r>
            <a:r>
              <a:rPr sz="1800" dirty="0">
                <a:solidFill>
                  <a:srgbClr val="0F2044"/>
                </a:solidFill>
                <a:latin typeface="Arial MT"/>
                <a:cs typeface="Arial MT"/>
              </a:rPr>
              <a:t>size,</a:t>
            </a:r>
            <a:r>
              <a:rPr sz="1800" spc="-15" dirty="0">
                <a:solidFill>
                  <a:srgbClr val="0F2044"/>
                </a:solidFill>
                <a:latin typeface="Arial MT"/>
                <a:cs typeface="Arial MT"/>
              </a:rPr>
              <a:t> </a:t>
            </a:r>
            <a:r>
              <a:rPr sz="1800" dirty="0">
                <a:solidFill>
                  <a:srgbClr val="0F2044"/>
                </a:solidFill>
                <a:latin typeface="Arial MT"/>
                <a:cs typeface="Arial MT"/>
              </a:rPr>
              <a:t>we</a:t>
            </a:r>
            <a:r>
              <a:rPr sz="1800" spc="-15" dirty="0">
                <a:solidFill>
                  <a:srgbClr val="0F2044"/>
                </a:solidFill>
                <a:latin typeface="Arial MT"/>
                <a:cs typeface="Arial MT"/>
              </a:rPr>
              <a:t> </a:t>
            </a:r>
            <a:r>
              <a:rPr sz="1800" dirty="0">
                <a:solidFill>
                  <a:srgbClr val="0F2044"/>
                </a:solidFill>
                <a:latin typeface="Arial MT"/>
                <a:cs typeface="Arial MT"/>
              </a:rPr>
              <a:t>must</a:t>
            </a:r>
            <a:r>
              <a:rPr sz="1800" spc="-20" dirty="0">
                <a:solidFill>
                  <a:srgbClr val="0F2044"/>
                </a:solidFill>
                <a:latin typeface="Arial MT"/>
                <a:cs typeface="Arial MT"/>
              </a:rPr>
              <a:t> </a:t>
            </a:r>
            <a:r>
              <a:rPr sz="1800" dirty="0">
                <a:solidFill>
                  <a:srgbClr val="0F2044"/>
                </a:solidFill>
                <a:latin typeface="Arial MT"/>
                <a:cs typeface="Arial MT"/>
              </a:rPr>
              <a:t>remember</a:t>
            </a:r>
            <a:r>
              <a:rPr sz="1800" spc="-15" dirty="0">
                <a:solidFill>
                  <a:srgbClr val="0F2044"/>
                </a:solidFill>
                <a:latin typeface="Arial MT"/>
                <a:cs typeface="Arial MT"/>
              </a:rPr>
              <a:t> </a:t>
            </a:r>
            <a:r>
              <a:rPr sz="1800" dirty="0">
                <a:solidFill>
                  <a:srgbClr val="0F2044"/>
                </a:solidFill>
                <a:latin typeface="Arial MT"/>
                <a:cs typeface="Arial MT"/>
              </a:rPr>
              <a:t>to</a:t>
            </a:r>
            <a:r>
              <a:rPr sz="1800" spc="-15" dirty="0">
                <a:solidFill>
                  <a:srgbClr val="0F2044"/>
                </a:solidFill>
                <a:latin typeface="Arial MT"/>
                <a:cs typeface="Arial MT"/>
              </a:rPr>
              <a:t> </a:t>
            </a:r>
            <a:r>
              <a:rPr sz="1800" dirty="0">
                <a:solidFill>
                  <a:srgbClr val="0F2044"/>
                </a:solidFill>
                <a:latin typeface="Arial MT"/>
                <a:cs typeface="Arial MT"/>
              </a:rPr>
              <a:t>mask</a:t>
            </a:r>
            <a:r>
              <a:rPr sz="1800" spc="-15" dirty="0">
                <a:solidFill>
                  <a:srgbClr val="0F2044"/>
                </a:solidFill>
                <a:latin typeface="Arial MT"/>
                <a:cs typeface="Arial MT"/>
              </a:rPr>
              <a:t> </a:t>
            </a:r>
            <a:r>
              <a:rPr sz="1800" dirty="0">
                <a:solidFill>
                  <a:srgbClr val="0F2044"/>
                </a:solidFill>
                <a:latin typeface="Arial MT"/>
                <a:cs typeface="Arial MT"/>
              </a:rPr>
              <a:t>out</a:t>
            </a:r>
            <a:r>
              <a:rPr sz="1800" spc="-15" dirty="0">
                <a:solidFill>
                  <a:srgbClr val="0F2044"/>
                </a:solidFill>
                <a:latin typeface="Arial MT"/>
                <a:cs typeface="Arial MT"/>
              </a:rPr>
              <a:t> </a:t>
            </a:r>
            <a:r>
              <a:rPr sz="1800" spc="-25" dirty="0">
                <a:solidFill>
                  <a:srgbClr val="0F2044"/>
                </a:solidFill>
                <a:latin typeface="Arial MT"/>
                <a:cs typeface="Arial MT"/>
              </a:rPr>
              <a:t>the </a:t>
            </a:r>
            <a:r>
              <a:rPr sz="1800" dirty="0">
                <a:solidFill>
                  <a:srgbClr val="0F2044"/>
                </a:solidFill>
                <a:latin typeface="Arial MT"/>
                <a:cs typeface="Arial MT"/>
              </a:rPr>
              <a:t>least</a:t>
            </a:r>
            <a:r>
              <a:rPr sz="1800" spc="-40" dirty="0">
                <a:solidFill>
                  <a:srgbClr val="0F2044"/>
                </a:solidFill>
                <a:latin typeface="Arial MT"/>
                <a:cs typeface="Arial MT"/>
              </a:rPr>
              <a:t> </a:t>
            </a:r>
            <a:r>
              <a:rPr sz="1800" dirty="0">
                <a:solidFill>
                  <a:srgbClr val="0F2044"/>
                </a:solidFill>
                <a:latin typeface="Arial MT"/>
                <a:cs typeface="Arial MT"/>
              </a:rPr>
              <a:t>significant</a:t>
            </a:r>
            <a:r>
              <a:rPr sz="1800" spc="-40" dirty="0">
                <a:solidFill>
                  <a:srgbClr val="0F2044"/>
                </a:solidFill>
                <a:latin typeface="Arial MT"/>
                <a:cs typeface="Arial MT"/>
              </a:rPr>
              <a:t> </a:t>
            </a:r>
            <a:r>
              <a:rPr sz="1800" spc="-20" dirty="0">
                <a:solidFill>
                  <a:srgbClr val="0F2044"/>
                </a:solidFill>
                <a:latin typeface="Arial MT"/>
                <a:cs typeface="Arial MT"/>
              </a:rPr>
              <a:t>bit.</a:t>
            </a:r>
            <a:endParaRPr sz="1800" dirty="0">
              <a:latin typeface="Arial MT"/>
              <a:cs typeface="Arial MT"/>
            </a:endParaRPr>
          </a:p>
          <a:p>
            <a:pPr marL="12700">
              <a:lnSpc>
                <a:spcPct val="114000"/>
              </a:lnSpc>
              <a:spcAft>
                <a:spcPts val="600"/>
              </a:spcAft>
            </a:pPr>
            <a:r>
              <a:rPr sz="1800" b="1" dirty="0">
                <a:solidFill>
                  <a:srgbClr val="0F2044"/>
                </a:solidFill>
                <a:latin typeface="Arial MT"/>
                <a:cs typeface="Arial MT"/>
              </a:rPr>
              <a:t>Using</a:t>
            </a:r>
            <a:r>
              <a:rPr sz="1800" b="1" spc="-25" dirty="0">
                <a:solidFill>
                  <a:srgbClr val="0F2044"/>
                </a:solidFill>
                <a:latin typeface="Arial MT"/>
                <a:cs typeface="Arial MT"/>
              </a:rPr>
              <a:t> </a:t>
            </a:r>
            <a:r>
              <a:rPr sz="1800" b="1" dirty="0">
                <a:solidFill>
                  <a:srgbClr val="0F2044"/>
                </a:solidFill>
                <a:latin typeface="Arial MT"/>
                <a:cs typeface="Arial MT"/>
              </a:rPr>
              <a:t>the</a:t>
            </a:r>
            <a:r>
              <a:rPr sz="1800" b="1" spc="-25" dirty="0">
                <a:solidFill>
                  <a:srgbClr val="0F2044"/>
                </a:solidFill>
                <a:latin typeface="Arial MT"/>
                <a:cs typeface="Arial MT"/>
              </a:rPr>
              <a:t> </a:t>
            </a:r>
            <a:r>
              <a:rPr sz="1800" b="1" dirty="0">
                <a:solidFill>
                  <a:srgbClr val="0F2044"/>
                </a:solidFill>
                <a:latin typeface="Arial MT"/>
                <a:cs typeface="Arial MT"/>
              </a:rPr>
              <a:t>lowest</a:t>
            </a:r>
            <a:r>
              <a:rPr sz="1800" b="1" spc="-20" dirty="0">
                <a:solidFill>
                  <a:srgbClr val="0F2044"/>
                </a:solidFill>
                <a:latin typeface="Arial MT"/>
                <a:cs typeface="Arial MT"/>
              </a:rPr>
              <a:t> </a:t>
            </a:r>
            <a:r>
              <a:rPr sz="1800" b="1" spc="-25" dirty="0">
                <a:solidFill>
                  <a:srgbClr val="0F2044"/>
                </a:solidFill>
                <a:latin typeface="Arial MT"/>
                <a:cs typeface="Arial MT"/>
              </a:rPr>
              <a:t>bit</a:t>
            </a:r>
            <a:r>
              <a:rPr lang="en-US" sz="1800" b="1" spc="-25" dirty="0">
                <a:solidFill>
                  <a:srgbClr val="0F2044"/>
                </a:solidFill>
                <a:latin typeface="Arial MT"/>
                <a:cs typeface="Arial MT"/>
              </a:rPr>
              <a:t>:</a:t>
            </a:r>
            <a:endParaRPr sz="1800" b="1" dirty="0">
              <a:latin typeface="Arial MT"/>
              <a:cs typeface="Arial MT"/>
            </a:endParaRPr>
          </a:p>
          <a:p>
            <a:pPr marL="12700" marR="5080">
              <a:lnSpc>
                <a:spcPct val="114000"/>
              </a:lnSpc>
            </a:pPr>
            <a:r>
              <a:rPr sz="1800" dirty="0">
                <a:solidFill>
                  <a:srgbClr val="0F2044"/>
                </a:solidFill>
                <a:latin typeface="Arial MT"/>
                <a:cs typeface="Arial MT"/>
              </a:rPr>
              <a:t>Instead</a:t>
            </a:r>
            <a:r>
              <a:rPr sz="1800" spc="-25" dirty="0">
                <a:solidFill>
                  <a:srgbClr val="0F2044"/>
                </a:solidFill>
                <a:latin typeface="Arial MT"/>
                <a:cs typeface="Arial MT"/>
              </a:rPr>
              <a:t> </a:t>
            </a:r>
            <a:r>
              <a:rPr sz="1800" dirty="0">
                <a:solidFill>
                  <a:srgbClr val="0F2044"/>
                </a:solidFill>
                <a:latin typeface="Arial MT"/>
                <a:cs typeface="Arial MT"/>
              </a:rPr>
              <a:t>of</a:t>
            </a:r>
            <a:r>
              <a:rPr sz="1800" spc="-15" dirty="0">
                <a:solidFill>
                  <a:srgbClr val="0F2044"/>
                </a:solidFill>
                <a:latin typeface="Arial MT"/>
                <a:cs typeface="Arial MT"/>
              </a:rPr>
              <a:t> </a:t>
            </a:r>
            <a:r>
              <a:rPr sz="1800" dirty="0">
                <a:solidFill>
                  <a:srgbClr val="0F2044"/>
                </a:solidFill>
                <a:latin typeface="Arial MT"/>
                <a:cs typeface="Arial MT"/>
              </a:rPr>
              <a:t>wasting</a:t>
            </a:r>
            <a:r>
              <a:rPr sz="1800" spc="-15" dirty="0">
                <a:solidFill>
                  <a:srgbClr val="0F2044"/>
                </a:solidFill>
                <a:latin typeface="Arial MT"/>
                <a:cs typeface="Arial MT"/>
              </a:rPr>
              <a:t> </a:t>
            </a:r>
            <a:r>
              <a:rPr sz="1800" dirty="0">
                <a:solidFill>
                  <a:srgbClr val="0F2044"/>
                </a:solidFill>
                <a:latin typeface="Arial MT"/>
                <a:cs typeface="Arial MT"/>
              </a:rPr>
              <a:t>an</a:t>
            </a:r>
            <a:r>
              <a:rPr sz="1800" spc="-15" dirty="0">
                <a:solidFill>
                  <a:srgbClr val="0F2044"/>
                </a:solidFill>
                <a:latin typeface="Arial MT"/>
                <a:cs typeface="Arial MT"/>
              </a:rPr>
              <a:t> </a:t>
            </a:r>
            <a:r>
              <a:rPr sz="1800" spc="-10" dirty="0">
                <a:solidFill>
                  <a:srgbClr val="0F2044"/>
                </a:solidFill>
                <a:latin typeface="Arial MT"/>
                <a:cs typeface="Arial MT"/>
              </a:rPr>
              <a:t>always-</a:t>
            </a:r>
            <a:r>
              <a:rPr sz="1800" dirty="0">
                <a:solidFill>
                  <a:srgbClr val="0F2044"/>
                </a:solidFill>
                <a:latin typeface="Arial MT"/>
                <a:cs typeface="Arial MT"/>
              </a:rPr>
              <a:t>zero</a:t>
            </a:r>
            <a:r>
              <a:rPr sz="1800" spc="-15" dirty="0">
                <a:solidFill>
                  <a:srgbClr val="0F2044"/>
                </a:solidFill>
                <a:latin typeface="Arial MT"/>
                <a:cs typeface="Arial MT"/>
              </a:rPr>
              <a:t> </a:t>
            </a:r>
            <a:r>
              <a:rPr sz="1800" dirty="0">
                <a:solidFill>
                  <a:srgbClr val="0F2044"/>
                </a:solidFill>
                <a:latin typeface="Arial MT"/>
                <a:cs typeface="Arial MT"/>
              </a:rPr>
              <a:t>bit,</a:t>
            </a:r>
            <a:r>
              <a:rPr sz="1800" spc="-15" dirty="0">
                <a:solidFill>
                  <a:srgbClr val="0F2044"/>
                </a:solidFill>
                <a:latin typeface="Arial MT"/>
                <a:cs typeface="Arial MT"/>
              </a:rPr>
              <a:t> </a:t>
            </a:r>
            <a:r>
              <a:rPr sz="1800" dirty="0">
                <a:solidFill>
                  <a:srgbClr val="0F2044"/>
                </a:solidFill>
                <a:latin typeface="Arial MT"/>
                <a:cs typeface="Arial MT"/>
              </a:rPr>
              <a:t>it</a:t>
            </a:r>
            <a:r>
              <a:rPr sz="1800" spc="-15" dirty="0">
                <a:solidFill>
                  <a:srgbClr val="0F2044"/>
                </a:solidFill>
                <a:latin typeface="Arial MT"/>
                <a:cs typeface="Arial MT"/>
              </a:rPr>
              <a:t> </a:t>
            </a:r>
            <a:r>
              <a:rPr sz="1800" dirty="0">
                <a:solidFill>
                  <a:srgbClr val="0F2044"/>
                </a:solidFill>
                <a:latin typeface="Arial MT"/>
                <a:cs typeface="Arial MT"/>
              </a:rPr>
              <a:t>can</a:t>
            </a:r>
            <a:r>
              <a:rPr sz="1800" spc="-15" dirty="0">
                <a:solidFill>
                  <a:srgbClr val="0F2044"/>
                </a:solidFill>
                <a:latin typeface="Arial MT"/>
                <a:cs typeface="Arial MT"/>
              </a:rPr>
              <a:t> </a:t>
            </a:r>
            <a:r>
              <a:rPr sz="1800" dirty="0">
                <a:solidFill>
                  <a:srgbClr val="0F2044"/>
                </a:solidFill>
                <a:latin typeface="Arial MT"/>
                <a:cs typeface="Arial MT"/>
              </a:rPr>
              <a:t>be</a:t>
            </a:r>
            <a:r>
              <a:rPr sz="1800" spc="-10" dirty="0">
                <a:solidFill>
                  <a:srgbClr val="0F2044"/>
                </a:solidFill>
                <a:latin typeface="Arial MT"/>
                <a:cs typeface="Arial MT"/>
              </a:rPr>
              <a:t> repurposed </a:t>
            </a:r>
            <a:r>
              <a:rPr sz="1800" dirty="0">
                <a:solidFill>
                  <a:srgbClr val="0F2044"/>
                </a:solidFill>
                <a:latin typeface="Arial MT"/>
                <a:cs typeface="Arial MT"/>
              </a:rPr>
              <a:t>as</a:t>
            </a:r>
            <a:r>
              <a:rPr sz="1800" spc="-15" dirty="0">
                <a:solidFill>
                  <a:srgbClr val="0F2044"/>
                </a:solidFill>
                <a:latin typeface="Arial MT"/>
                <a:cs typeface="Arial MT"/>
              </a:rPr>
              <a:t> </a:t>
            </a:r>
            <a:r>
              <a:rPr sz="1800" dirty="0">
                <a:solidFill>
                  <a:srgbClr val="0F2044"/>
                </a:solidFill>
                <a:latin typeface="Arial MT"/>
                <a:cs typeface="Arial MT"/>
              </a:rPr>
              <a:t>a</a:t>
            </a:r>
            <a:r>
              <a:rPr sz="1800" spc="-15" dirty="0">
                <a:solidFill>
                  <a:srgbClr val="0F2044"/>
                </a:solidFill>
                <a:latin typeface="Arial MT"/>
                <a:cs typeface="Arial MT"/>
              </a:rPr>
              <a:t> </a:t>
            </a:r>
            <a:r>
              <a:rPr sz="1800" dirty="0">
                <a:solidFill>
                  <a:srgbClr val="0F2044"/>
                </a:solidFill>
                <a:latin typeface="Arial MT"/>
                <a:cs typeface="Arial MT"/>
              </a:rPr>
              <a:t>flag</a:t>
            </a:r>
            <a:r>
              <a:rPr sz="1800" spc="-15" dirty="0">
                <a:solidFill>
                  <a:srgbClr val="0F2044"/>
                </a:solidFill>
                <a:latin typeface="Arial MT"/>
                <a:cs typeface="Arial MT"/>
              </a:rPr>
              <a:t> </a:t>
            </a:r>
            <a:r>
              <a:rPr sz="1800" dirty="0">
                <a:solidFill>
                  <a:srgbClr val="0F2044"/>
                </a:solidFill>
                <a:latin typeface="Arial MT"/>
                <a:cs typeface="Arial MT"/>
              </a:rPr>
              <a:t>to</a:t>
            </a:r>
            <a:r>
              <a:rPr sz="1800" spc="-15" dirty="0">
                <a:solidFill>
                  <a:srgbClr val="0F2044"/>
                </a:solidFill>
                <a:latin typeface="Arial MT"/>
                <a:cs typeface="Arial MT"/>
              </a:rPr>
              <a:t> </a:t>
            </a:r>
            <a:r>
              <a:rPr sz="1800" dirty="0">
                <a:solidFill>
                  <a:srgbClr val="0F2044"/>
                </a:solidFill>
                <a:latin typeface="Arial MT"/>
                <a:cs typeface="Arial MT"/>
              </a:rPr>
              <a:t>indicate</a:t>
            </a:r>
            <a:r>
              <a:rPr sz="1800" spc="-15" dirty="0">
                <a:solidFill>
                  <a:srgbClr val="0F2044"/>
                </a:solidFill>
                <a:latin typeface="Arial MT"/>
                <a:cs typeface="Arial MT"/>
              </a:rPr>
              <a:t> </a:t>
            </a:r>
            <a:r>
              <a:rPr sz="1800" dirty="0">
                <a:solidFill>
                  <a:srgbClr val="0F2044"/>
                </a:solidFill>
                <a:latin typeface="Arial MT"/>
                <a:cs typeface="Arial MT"/>
              </a:rPr>
              <a:t>if</a:t>
            </a:r>
            <a:r>
              <a:rPr sz="1800" spc="-10" dirty="0">
                <a:solidFill>
                  <a:srgbClr val="0F2044"/>
                </a:solidFill>
                <a:latin typeface="Arial MT"/>
                <a:cs typeface="Arial MT"/>
              </a:rPr>
              <a:t> </a:t>
            </a:r>
            <a:r>
              <a:rPr sz="1800" dirty="0">
                <a:solidFill>
                  <a:srgbClr val="0F2044"/>
                </a:solidFill>
                <a:latin typeface="Arial MT"/>
                <a:cs typeface="Arial MT"/>
              </a:rPr>
              <a:t>a</a:t>
            </a:r>
            <a:r>
              <a:rPr sz="1800" spc="-15" dirty="0">
                <a:solidFill>
                  <a:srgbClr val="0F2044"/>
                </a:solidFill>
                <a:latin typeface="Arial MT"/>
                <a:cs typeface="Arial MT"/>
              </a:rPr>
              <a:t> </a:t>
            </a:r>
            <a:r>
              <a:rPr sz="1800" dirty="0">
                <a:solidFill>
                  <a:srgbClr val="0F2044"/>
                </a:solidFill>
                <a:latin typeface="Arial MT"/>
                <a:cs typeface="Arial MT"/>
              </a:rPr>
              <a:t>block</a:t>
            </a:r>
            <a:r>
              <a:rPr sz="1800" spc="-15" dirty="0">
                <a:solidFill>
                  <a:srgbClr val="0F2044"/>
                </a:solidFill>
                <a:latin typeface="Arial MT"/>
                <a:cs typeface="Arial MT"/>
              </a:rPr>
              <a:t> </a:t>
            </a:r>
            <a:r>
              <a:rPr sz="1800" dirty="0">
                <a:solidFill>
                  <a:srgbClr val="0F2044"/>
                </a:solidFill>
                <a:latin typeface="Arial MT"/>
                <a:cs typeface="Arial MT"/>
              </a:rPr>
              <a:t>is</a:t>
            </a:r>
            <a:r>
              <a:rPr sz="1800" spc="-15" dirty="0">
                <a:solidFill>
                  <a:srgbClr val="0F2044"/>
                </a:solidFill>
                <a:latin typeface="Arial MT"/>
                <a:cs typeface="Arial MT"/>
              </a:rPr>
              <a:t> </a:t>
            </a:r>
            <a:r>
              <a:rPr sz="1800" dirty="0">
                <a:solidFill>
                  <a:srgbClr val="0F2044"/>
                </a:solidFill>
                <a:latin typeface="Arial MT"/>
                <a:cs typeface="Arial MT"/>
              </a:rPr>
              <a:t>allocated</a:t>
            </a:r>
            <a:r>
              <a:rPr sz="1800" spc="-15" dirty="0">
                <a:solidFill>
                  <a:srgbClr val="0F2044"/>
                </a:solidFill>
                <a:latin typeface="Arial MT"/>
                <a:cs typeface="Arial MT"/>
              </a:rPr>
              <a:t> </a:t>
            </a:r>
            <a:r>
              <a:rPr sz="1800" dirty="0">
                <a:solidFill>
                  <a:srgbClr val="0F2044"/>
                </a:solidFill>
                <a:latin typeface="Arial MT"/>
                <a:cs typeface="Arial MT"/>
              </a:rPr>
              <a:t>or</a:t>
            </a:r>
            <a:r>
              <a:rPr sz="1800" spc="-10" dirty="0">
                <a:solidFill>
                  <a:srgbClr val="0F2044"/>
                </a:solidFill>
                <a:latin typeface="Arial MT"/>
                <a:cs typeface="Arial MT"/>
              </a:rPr>
              <a:t> </a:t>
            </a:r>
            <a:r>
              <a:rPr sz="1800" spc="-20" dirty="0">
                <a:solidFill>
                  <a:srgbClr val="0F2044"/>
                </a:solidFill>
                <a:latin typeface="Arial MT"/>
                <a:cs typeface="Arial MT"/>
              </a:rPr>
              <a:t>not.</a:t>
            </a:r>
            <a:endParaRPr sz="1800" dirty="0">
              <a:latin typeface="Arial MT"/>
              <a:cs typeface="Arial M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fade">
                                      <p:cBhvr>
                                        <p:cTn id="10" dur="500"/>
                                        <p:tgtEl>
                                          <p:spTgt spid="6">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fade">
                                      <p:cBhvr>
                                        <p:cTn id="15" dur="500"/>
                                        <p:tgtEl>
                                          <p:spTgt spid="6">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6">
                                            <p:txEl>
                                              <p:pRg st="3" end="3"/>
                                            </p:txEl>
                                          </p:spTgt>
                                        </p:tgtEl>
                                        <p:attrNameLst>
                                          <p:attrName>style.visibility</p:attrName>
                                        </p:attrNameLst>
                                      </p:cBhvr>
                                      <p:to>
                                        <p:strVal val="visible"/>
                                      </p:to>
                                    </p:set>
                                    <p:animEffect transition="in" filter="fade">
                                      <p:cBhvr>
                                        <p:cTn id="18" dur="500"/>
                                        <p:tgtEl>
                                          <p:spTgt spid="6">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animEffect transition="in" filter="fade">
                                      <p:cBhvr>
                                        <p:cTn id="21" dur="500"/>
                                        <p:tgtEl>
                                          <p:spTgt spid="6">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6">
                                            <p:txEl>
                                              <p:pRg st="5" end="5"/>
                                            </p:txEl>
                                          </p:spTgt>
                                        </p:tgtEl>
                                        <p:attrNameLst>
                                          <p:attrName>style.visibility</p:attrName>
                                        </p:attrNameLst>
                                      </p:cBhvr>
                                      <p:to>
                                        <p:strVal val="visible"/>
                                      </p:to>
                                    </p:set>
                                    <p:animEffect transition="in" filter="fade">
                                      <p:cBhvr>
                                        <p:cTn id="24" dur="500"/>
                                        <p:tgtEl>
                                          <p:spTgt spid="6">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6">
                                            <p:txEl>
                                              <p:pRg st="6" end="6"/>
                                            </p:txEl>
                                          </p:spTgt>
                                        </p:tgtEl>
                                        <p:attrNameLst>
                                          <p:attrName>style.visibility</p:attrName>
                                        </p:attrNameLst>
                                      </p:cBhvr>
                                      <p:to>
                                        <p:strVal val="visible"/>
                                      </p:to>
                                    </p:set>
                                    <p:animEffect transition="in" filter="fade">
                                      <p:cBhvr>
                                        <p:cTn id="29" dur="500"/>
                                        <p:tgtEl>
                                          <p:spTgt spid="6">
                                            <p:txEl>
                                              <p:pRg st="6" end="6"/>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6">
                                            <p:txEl>
                                              <p:pRg st="7" end="7"/>
                                            </p:txEl>
                                          </p:spTgt>
                                        </p:tgtEl>
                                        <p:attrNameLst>
                                          <p:attrName>style.visibility</p:attrName>
                                        </p:attrNameLst>
                                      </p:cBhvr>
                                      <p:to>
                                        <p:strVal val="visible"/>
                                      </p:to>
                                    </p:set>
                                    <p:animEffect transition="in" filter="fade">
                                      <p:cBhvr>
                                        <p:cTn id="32" dur="500"/>
                                        <p:tgtEl>
                                          <p:spTgt spid="6">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
                                            <p:txEl>
                                              <p:pRg st="8" end="8"/>
                                            </p:txEl>
                                          </p:spTgt>
                                        </p:tgtEl>
                                        <p:attrNameLst>
                                          <p:attrName>style.visibility</p:attrName>
                                        </p:attrNameLst>
                                      </p:cBhvr>
                                      <p:to>
                                        <p:strVal val="visible"/>
                                      </p:to>
                                    </p:set>
                                    <p:animEffect transition="in" filter="fade">
                                      <p:cBhvr>
                                        <p:cTn id="37" dur="500"/>
                                        <p:tgtEl>
                                          <p:spTgt spid="6">
                                            <p:txEl>
                                              <p:pRg st="8" end="8"/>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6">
                                            <p:txEl>
                                              <p:pRg st="9" end="9"/>
                                            </p:txEl>
                                          </p:spTgt>
                                        </p:tgtEl>
                                        <p:attrNameLst>
                                          <p:attrName>style.visibility</p:attrName>
                                        </p:attrNameLst>
                                      </p:cBhvr>
                                      <p:to>
                                        <p:strVal val="visible"/>
                                      </p:to>
                                    </p:set>
                                    <p:animEffect transition="in" filter="fade">
                                      <p:cBhvr>
                                        <p:cTn id="40" dur="500"/>
                                        <p:tgtEl>
                                          <p:spTgt spid="6">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Implicit</a:t>
            </a:r>
            <a:r>
              <a:rPr spc="-100" dirty="0"/>
              <a:t> </a:t>
            </a:r>
            <a:r>
              <a:rPr dirty="0"/>
              <a:t>Free</a:t>
            </a:r>
            <a:r>
              <a:rPr spc="-100" dirty="0"/>
              <a:t> </a:t>
            </a:r>
            <a:r>
              <a:rPr spc="-20" dirty="0"/>
              <a:t>List</a:t>
            </a:r>
          </a:p>
        </p:txBody>
      </p:sp>
      <p:grpSp>
        <p:nvGrpSpPr>
          <p:cNvPr id="18" name="Group 17" descr="A diagram of an implicit free list showing a sequence of blocks with metadata (size/status). The blocks are marked as 4/0 (free), 4/1 (allocated), 6/0 (free), 2/1 (allocated), and a 0/1 terminator.">
            <a:extLst>
              <a:ext uri="{FF2B5EF4-FFF2-40B4-BE49-F238E27FC236}">
                <a16:creationId xmlns:a16="http://schemas.microsoft.com/office/drawing/2014/main" id="{982729BB-1535-4B92-5E22-DA78116BFD38}"/>
              </a:ext>
            </a:extLst>
          </p:cNvPr>
          <p:cNvGrpSpPr/>
          <p:nvPr/>
        </p:nvGrpSpPr>
        <p:grpSpPr>
          <a:xfrm>
            <a:off x="434970" y="2419637"/>
            <a:ext cx="10309230" cy="856963"/>
            <a:chOff x="434970" y="2419637"/>
            <a:chExt cx="10309230" cy="856963"/>
          </a:xfrm>
        </p:grpSpPr>
        <p:grpSp>
          <p:nvGrpSpPr>
            <p:cNvPr id="4" name="object 4"/>
            <p:cNvGrpSpPr/>
            <p:nvPr/>
          </p:nvGrpSpPr>
          <p:grpSpPr>
            <a:xfrm>
              <a:off x="649112" y="2419637"/>
              <a:ext cx="2482850" cy="218440"/>
              <a:chOff x="649112" y="2419637"/>
              <a:chExt cx="2482850" cy="218440"/>
            </a:xfrm>
          </p:grpSpPr>
          <p:sp>
            <p:nvSpPr>
              <p:cNvPr id="5" name="object 5"/>
              <p:cNvSpPr/>
              <p:nvPr/>
            </p:nvSpPr>
            <p:spPr>
              <a:xfrm>
                <a:off x="653875" y="2424400"/>
                <a:ext cx="2473325" cy="208915"/>
              </a:xfrm>
              <a:custGeom>
                <a:avLst/>
                <a:gdLst/>
                <a:ahLst/>
                <a:cxnLst/>
                <a:rect l="l" t="t" r="r" b="b"/>
                <a:pathLst>
                  <a:path w="2473325" h="208914">
                    <a:moveTo>
                      <a:pt x="52199" y="208799"/>
                    </a:moveTo>
                    <a:lnTo>
                      <a:pt x="0" y="208799"/>
                    </a:lnTo>
                    <a:lnTo>
                      <a:pt x="0" y="91349"/>
                    </a:lnTo>
                    <a:lnTo>
                      <a:pt x="26755" y="26755"/>
                    </a:lnTo>
                    <a:lnTo>
                      <a:pt x="91349" y="0"/>
                    </a:lnTo>
                    <a:lnTo>
                      <a:pt x="2355749" y="0"/>
                    </a:lnTo>
                    <a:lnTo>
                      <a:pt x="2406430" y="15347"/>
                    </a:lnTo>
                    <a:lnTo>
                      <a:pt x="2437908" y="52199"/>
                    </a:lnTo>
                    <a:lnTo>
                      <a:pt x="91349" y="52199"/>
                    </a:lnTo>
                    <a:lnTo>
                      <a:pt x="76111" y="55276"/>
                    </a:lnTo>
                    <a:lnTo>
                      <a:pt x="63666" y="63666"/>
                    </a:lnTo>
                    <a:lnTo>
                      <a:pt x="55276" y="76111"/>
                    </a:lnTo>
                    <a:lnTo>
                      <a:pt x="52199" y="91349"/>
                    </a:lnTo>
                    <a:lnTo>
                      <a:pt x="52199" y="208799"/>
                    </a:lnTo>
                    <a:close/>
                  </a:path>
                  <a:path w="2473325" h="208914">
                    <a:moveTo>
                      <a:pt x="2447099" y="104399"/>
                    </a:moveTo>
                    <a:lnTo>
                      <a:pt x="2394899" y="104399"/>
                    </a:lnTo>
                    <a:lnTo>
                      <a:pt x="2394899" y="91349"/>
                    </a:lnTo>
                    <a:lnTo>
                      <a:pt x="2391823" y="76111"/>
                    </a:lnTo>
                    <a:lnTo>
                      <a:pt x="2383433" y="63666"/>
                    </a:lnTo>
                    <a:lnTo>
                      <a:pt x="2370988" y="55276"/>
                    </a:lnTo>
                    <a:lnTo>
                      <a:pt x="2355749" y="52199"/>
                    </a:lnTo>
                    <a:lnTo>
                      <a:pt x="2437908" y="52199"/>
                    </a:lnTo>
                    <a:lnTo>
                      <a:pt x="2440146" y="56391"/>
                    </a:lnTo>
                    <a:lnTo>
                      <a:pt x="2445328" y="73445"/>
                    </a:lnTo>
                    <a:lnTo>
                      <a:pt x="2447099" y="91349"/>
                    </a:lnTo>
                    <a:lnTo>
                      <a:pt x="2447099" y="104399"/>
                    </a:lnTo>
                    <a:close/>
                  </a:path>
                  <a:path w="2473325" h="208914">
                    <a:moveTo>
                      <a:pt x="2420999" y="156599"/>
                    </a:moveTo>
                    <a:lnTo>
                      <a:pt x="2368799" y="104399"/>
                    </a:lnTo>
                    <a:lnTo>
                      <a:pt x="2473199" y="104399"/>
                    </a:lnTo>
                    <a:lnTo>
                      <a:pt x="2420999" y="156599"/>
                    </a:lnTo>
                    <a:close/>
                  </a:path>
                </a:pathLst>
              </a:custGeom>
              <a:solidFill>
                <a:srgbClr val="BEC0C1"/>
              </a:solidFill>
            </p:spPr>
            <p:txBody>
              <a:bodyPr wrap="square" lIns="0" tIns="0" rIns="0" bIns="0" rtlCol="0"/>
              <a:lstStyle/>
              <a:p>
                <a:endParaRPr/>
              </a:p>
            </p:txBody>
          </p:sp>
          <p:sp>
            <p:nvSpPr>
              <p:cNvPr id="6" name="object 6"/>
              <p:cNvSpPr/>
              <p:nvPr/>
            </p:nvSpPr>
            <p:spPr>
              <a:xfrm>
                <a:off x="653875" y="2424400"/>
                <a:ext cx="2473325" cy="208915"/>
              </a:xfrm>
              <a:custGeom>
                <a:avLst/>
                <a:gdLst/>
                <a:ahLst/>
                <a:cxnLst/>
                <a:rect l="l" t="t" r="r" b="b"/>
                <a:pathLst>
                  <a:path w="2473325" h="208914">
                    <a:moveTo>
                      <a:pt x="0" y="208799"/>
                    </a:moveTo>
                    <a:lnTo>
                      <a:pt x="0" y="91349"/>
                    </a:lnTo>
                    <a:lnTo>
                      <a:pt x="7178" y="55792"/>
                    </a:lnTo>
                    <a:lnTo>
                      <a:pt x="26755" y="26755"/>
                    </a:lnTo>
                    <a:lnTo>
                      <a:pt x="55792" y="7178"/>
                    </a:lnTo>
                    <a:lnTo>
                      <a:pt x="91349" y="0"/>
                    </a:lnTo>
                    <a:lnTo>
                      <a:pt x="2355749" y="0"/>
                    </a:lnTo>
                    <a:lnTo>
                      <a:pt x="2406430" y="15347"/>
                    </a:lnTo>
                    <a:lnTo>
                      <a:pt x="2440146" y="56391"/>
                    </a:lnTo>
                    <a:lnTo>
                      <a:pt x="2447099" y="91349"/>
                    </a:lnTo>
                    <a:lnTo>
                      <a:pt x="2447099" y="104399"/>
                    </a:lnTo>
                    <a:lnTo>
                      <a:pt x="2473199" y="104399"/>
                    </a:lnTo>
                    <a:lnTo>
                      <a:pt x="2420999" y="156599"/>
                    </a:lnTo>
                    <a:lnTo>
                      <a:pt x="2368799" y="104399"/>
                    </a:lnTo>
                    <a:lnTo>
                      <a:pt x="2394899" y="104399"/>
                    </a:lnTo>
                    <a:lnTo>
                      <a:pt x="2394899" y="91349"/>
                    </a:lnTo>
                    <a:lnTo>
                      <a:pt x="2391823" y="76111"/>
                    </a:lnTo>
                    <a:lnTo>
                      <a:pt x="2383433" y="63666"/>
                    </a:lnTo>
                    <a:lnTo>
                      <a:pt x="2370988" y="55276"/>
                    </a:lnTo>
                    <a:lnTo>
                      <a:pt x="2355749" y="52199"/>
                    </a:lnTo>
                    <a:lnTo>
                      <a:pt x="91349" y="52199"/>
                    </a:lnTo>
                    <a:lnTo>
                      <a:pt x="76111" y="55276"/>
                    </a:lnTo>
                    <a:lnTo>
                      <a:pt x="63666" y="63666"/>
                    </a:lnTo>
                    <a:lnTo>
                      <a:pt x="55276" y="76111"/>
                    </a:lnTo>
                    <a:lnTo>
                      <a:pt x="52199" y="91349"/>
                    </a:lnTo>
                    <a:lnTo>
                      <a:pt x="52199" y="208799"/>
                    </a:lnTo>
                    <a:lnTo>
                      <a:pt x="0" y="208799"/>
                    </a:lnTo>
                    <a:close/>
                  </a:path>
                </a:pathLst>
              </a:custGeom>
              <a:ln w="9524">
                <a:solidFill>
                  <a:srgbClr val="0F2044"/>
                </a:solidFill>
              </a:ln>
            </p:spPr>
            <p:txBody>
              <a:bodyPr wrap="square" lIns="0" tIns="0" rIns="0" bIns="0" rtlCol="0"/>
              <a:lstStyle/>
              <a:p>
                <a:endParaRPr/>
              </a:p>
            </p:txBody>
          </p:sp>
        </p:grpSp>
        <p:grpSp>
          <p:nvGrpSpPr>
            <p:cNvPr id="7" name="object 7"/>
            <p:cNvGrpSpPr/>
            <p:nvPr/>
          </p:nvGrpSpPr>
          <p:grpSpPr>
            <a:xfrm>
              <a:off x="3182762" y="2419637"/>
              <a:ext cx="2347595" cy="218440"/>
              <a:chOff x="3182762" y="2419637"/>
              <a:chExt cx="2347595" cy="218440"/>
            </a:xfrm>
          </p:grpSpPr>
          <p:sp>
            <p:nvSpPr>
              <p:cNvPr id="8" name="object 8"/>
              <p:cNvSpPr/>
              <p:nvPr/>
            </p:nvSpPr>
            <p:spPr>
              <a:xfrm>
                <a:off x="3187524" y="2424400"/>
                <a:ext cx="2338070" cy="208915"/>
              </a:xfrm>
              <a:custGeom>
                <a:avLst/>
                <a:gdLst/>
                <a:ahLst/>
                <a:cxnLst/>
                <a:rect l="l" t="t" r="r" b="b"/>
                <a:pathLst>
                  <a:path w="2338070" h="208914">
                    <a:moveTo>
                      <a:pt x="52199" y="208799"/>
                    </a:moveTo>
                    <a:lnTo>
                      <a:pt x="0" y="208799"/>
                    </a:lnTo>
                    <a:lnTo>
                      <a:pt x="0" y="91349"/>
                    </a:lnTo>
                    <a:lnTo>
                      <a:pt x="7057" y="56391"/>
                    </a:lnTo>
                    <a:lnTo>
                      <a:pt x="7178" y="55792"/>
                    </a:lnTo>
                    <a:lnTo>
                      <a:pt x="26755" y="26755"/>
                    </a:lnTo>
                    <a:lnTo>
                      <a:pt x="55792" y="7178"/>
                    </a:lnTo>
                    <a:lnTo>
                      <a:pt x="91349" y="0"/>
                    </a:lnTo>
                    <a:lnTo>
                      <a:pt x="2220149" y="0"/>
                    </a:lnTo>
                    <a:lnTo>
                      <a:pt x="2270831" y="15347"/>
                    </a:lnTo>
                    <a:lnTo>
                      <a:pt x="2302308" y="52199"/>
                    </a:lnTo>
                    <a:lnTo>
                      <a:pt x="91349" y="52199"/>
                    </a:lnTo>
                    <a:lnTo>
                      <a:pt x="76111" y="55276"/>
                    </a:lnTo>
                    <a:lnTo>
                      <a:pt x="63666" y="63666"/>
                    </a:lnTo>
                    <a:lnTo>
                      <a:pt x="55276" y="76111"/>
                    </a:lnTo>
                    <a:lnTo>
                      <a:pt x="52199" y="91349"/>
                    </a:lnTo>
                    <a:lnTo>
                      <a:pt x="52199" y="208799"/>
                    </a:lnTo>
                    <a:close/>
                  </a:path>
                  <a:path w="2338070" h="208914">
                    <a:moveTo>
                      <a:pt x="2311499" y="104399"/>
                    </a:moveTo>
                    <a:lnTo>
                      <a:pt x="2259299" y="104399"/>
                    </a:lnTo>
                    <a:lnTo>
                      <a:pt x="2259299" y="91349"/>
                    </a:lnTo>
                    <a:lnTo>
                      <a:pt x="2256223" y="76111"/>
                    </a:lnTo>
                    <a:lnTo>
                      <a:pt x="2247833" y="63666"/>
                    </a:lnTo>
                    <a:lnTo>
                      <a:pt x="2235388" y="55276"/>
                    </a:lnTo>
                    <a:lnTo>
                      <a:pt x="2220149" y="52199"/>
                    </a:lnTo>
                    <a:lnTo>
                      <a:pt x="2302308" y="52199"/>
                    </a:lnTo>
                    <a:lnTo>
                      <a:pt x="2304546" y="56391"/>
                    </a:lnTo>
                    <a:lnTo>
                      <a:pt x="2309728" y="73445"/>
                    </a:lnTo>
                    <a:lnTo>
                      <a:pt x="2311499" y="91349"/>
                    </a:lnTo>
                    <a:lnTo>
                      <a:pt x="2311499" y="104399"/>
                    </a:lnTo>
                    <a:close/>
                  </a:path>
                  <a:path w="2338070" h="208914">
                    <a:moveTo>
                      <a:pt x="2285399" y="156599"/>
                    </a:moveTo>
                    <a:lnTo>
                      <a:pt x="2233199" y="104399"/>
                    </a:lnTo>
                    <a:lnTo>
                      <a:pt x="2337599" y="104399"/>
                    </a:lnTo>
                    <a:lnTo>
                      <a:pt x="2285399" y="156599"/>
                    </a:lnTo>
                    <a:close/>
                  </a:path>
                </a:pathLst>
              </a:custGeom>
              <a:solidFill>
                <a:srgbClr val="BEC0C1"/>
              </a:solidFill>
            </p:spPr>
            <p:txBody>
              <a:bodyPr wrap="square" lIns="0" tIns="0" rIns="0" bIns="0" rtlCol="0"/>
              <a:lstStyle/>
              <a:p>
                <a:endParaRPr/>
              </a:p>
            </p:txBody>
          </p:sp>
          <p:sp>
            <p:nvSpPr>
              <p:cNvPr id="9" name="object 9"/>
              <p:cNvSpPr/>
              <p:nvPr/>
            </p:nvSpPr>
            <p:spPr>
              <a:xfrm>
                <a:off x="3187525" y="2424400"/>
                <a:ext cx="2338070" cy="208915"/>
              </a:xfrm>
              <a:custGeom>
                <a:avLst/>
                <a:gdLst/>
                <a:ahLst/>
                <a:cxnLst/>
                <a:rect l="l" t="t" r="r" b="b"/>
                <a:pathLst>
                  <a:path w="2338070" h="208914">
                    <a:moveTo>
                      <a:pt x="0" y="208799"/>
                    </a:moveTo>
                    <a:lnTo>
                      <a:pt x="0" y="91349"/>
                    </a:lnTo>
                    <a:lnTo>
                      <a:pt x="7178" y="55792"/>
                    </a:lnTo>
                    <a:lnTo>
                      <a:pt x="26755" y="26755"/>
                    </a:lnTo>
                    <a:lnTo>
                      <a:pt x="55792" y="7178"/>
                    </a:lnTo>
                    <a:lnTo>
                      <a:pt x="91349" y="0"/>
                    </a:lnTo>
                    <a:lnTo>
                      <a:pt x="2220149" y="0"/>
                    </a:lnTo>
                    <a:lnTo>
                      <a:pt x="2270831" y="15347"/>
                    </a:lnTo>
                    <a:lnTo>
                      <a:pt x="2304546" y="56391"/>
                    </a:lnTo>
                    <a:lnTo>
                      <a:pt x="2311499" y="91349"/>
                    </a:lnTo>
                    <a:lnTo>
                      <a:pt x="2311499" y="104399"/>
                    </a:lnTo>
                    <a:lnTo>
                      <a:pt x="2337599" y="104399"/>
                    </a:lnTo>
                    <a:lnTo>
                      <a:pt x="2285399" y="156599"/>
                    </a:lnTo>
                    <a:lnTo>
                      <a:pt x="2233199" y="104399"/>
                    </a:lnTo>
                    <a:lnTo>
                      <a:pt x="2259299" y="104399"/>
                    </a:lnTo>
                    <a:lnTo>
                      <a:pt x="2259299" y="91349"/>
                    </a:lnTo>
                    <a:lnTo>
                      <a:pt x="2256223" y="76111"/>
                    </a:lnTo>
                    <a:lnTo>
                      <a:pt x="2247833" y="63666"/>
                    </a:lnTo>
                    <a:lnTo>
                      <a:pt x="2235388" y="55276"/>
                    </a:lnTo>
                    <a:lnTo>
                      <a:pt x="2220149" y="52199"/>
                    </a:lnTo>
                    <a:lnTo>
                      <a:pt x="91349" y="52199"/>
                    </a:lnTo>
                    <a:lnTo>
                      <a:pt x="76111" y="55276"/>
                    </a:lnTo>
                    <a:lnTo>
                      <a:pt x="63666" y="63666"/>
                    </a:lnTo>
                    <a:lnTo>
                      <a:pt x="55276" y="76111"/>
                    </a:lnTo>
                    <a:lnTo>
                      <a:pt x="52199" y="91349"/>
                    </a:lnTo>
                    <a:lnTo>
                      <a:pt x="52199" y="208799"/>
                    </a:lnTo>
                    <a:lnTo>
                      <a:pt x="0" y="208799"/>
                    </a:lnTo>
                    <a:close/>
                  </a:path>
                </a:pathLst>
              </a:custGeom>
              <a:ln w="9524">
                <a:solidFill>
                  <a:srgbClr val="0F2044"/>
                </a:solidFill>
              </a:ln>
            </p:spPr>
            <p:txBody>
              <a:bodyPr wrap="square" lIns="0" tIns="0" rIns="0" bIns="0" rtlCol="0"/>
              <a:lstStyle/>
              <a:p>
                <a:endParaRPr/>
              </a:p>
            </p:txBody>
          </p:sp>
        </p:grpSp>
        <p:grpSp>
          <p:nvGrpSpPr>
            <p:cNvPr id="10" name="object 10"/>
            <p:cNvGrpSpPr/>
            <p:nvPr/>
          </p:nvGrpSpPr>
          <p:grpSpPr>
            <a:xfrm>
              <a:off x="5655962" y="2419637"/>
              <a:ext cx="3558540" cy="218440"/>
              <a:chOff x="5655962" y="2419637"/>
              <a:chExt cx="3558540" cy="218440"/>
            </a:xfrm>
          </p:grpSpPr>
          <p:sp>
            <p:nvSpPr>
              <p:cNvPr id="11" name="object 11"/>
              <p:cNvSpPr/>
              <p:nvPr/>
            </p:nvSpPr>
            <p:spPr>
              <a:xfrm>
                <a:off x="5660724" y="2424400"/>
                <a:ext cx="3549015" cy="208915"/>
              </a:xfrm>
              <a:custGeom>
                <a:avLst/>
                <a:gdLst/>
                <a:ahLst/>
                <a:cxnLst/>
                <a:rect l="l" t="t" r="r" b="b"/>
                <a:pathLst>
                  <a:path w="3549015" h="208914">
                    <a:moveTo>
                      <a:pt x="52199" y="208799"/>
                    </a:moveTo>
                    <a:lnTo>
                      <a:pt x="0" y="208799"/>
                    </a:lnTo>
                    <a:lnTo>
                      <a:pt x="0" y="91349"/>
                    </a:lnTo>
                    <a:lnTo>
                      <a:pt x="7057" y="56391"/>
                    </a:lnTo>
                    <a:lnTo>
                      <a:pt x="7178" y="55792"/>
                    </a:lnTo>
                    <a:lnTo>
                      <a:pt x="26755" y="26755"/>
                    </a:lnTo>
                    <a:lnTo>
                      <a:pt x="55792" y="7178"/>
                    </a:lnTo>
                    <a:lnTo>
                      <a:pt x="91349" y="0"/>
                    </a:lnTo>
                    <a:lnTo>
                      <a:pt x="3431549" y="0"/>
                    </a:lnTo>
                    <a:lnTo>
                      <a:pt x="3482231" y="15347"/>
                    </a:lnTo>
                    <a:lnTo>
                      <a:pt x="3513708" y="52199"/>
                    </a:lnTo>
                    <a:lnTo>
                      <a:pt x="91349" y="52199"/>
                    </a:lnTo>
                    <a:lnTo>
                      <a:pt x="76111" y="55276"/>
                    </a:lnTo>
                    <a:lnTo>
                      <a:pt x="63666" y="63666"/>
                    </a:lnTo>
                    <a:lnTo>
                      <a:pt x="55276" y="76111"/>
                    </a:lnTo>
                    <a:lnTo>
                      <a:pt x="52199" y="91349"/>
                    </a:lnTo>
                    <a:lnTo>
                      <a:pt x="52199" y="208799"/>
                    </a:lnTo>
                    <a:close/>
                  </a:path>
                  <a:path w="3549015" h="208914">
                    <a:moveTo>
                      <a:pt x="3522899" y="104399"/>
                    </a:moveTo>
                    <a:lnTo>
                      <a:pt x="3470699" y="104399"/>
                    </a:lnTo>
                    <a:lnTo>
                      <a:pt x="3470699" y="91349"/>
                    </a:lnTo>
                    <a:lnTo>
                      <a:pt x="3467623" y="76111"/>
                    </a:lnTo>
                    <a:lnTo>
                      <a:pt x="3459233" y="63666"/>
                    </a:lnTo>
                    <a:lnTo>
                      <a:pt x="3446788" y="55276"/>
                    </a:lnTo>
                    <a:lnTo>
                      <a:pt x="3431549" y="52199"/>
                    </a:lnTo>
                    <a:lnTo>
                      <a:pt x="3513708" y="52199"/>
                    </a:lnTo>
                    <a:lnTo>
                      <a:pt x="3515946" y="56391"/>
                    </a:lnTo>
                    <a:lnTo>
                      <a:pt x="3521128" y="73445"/>
                    </a:lnTo>
                    <a:lnTo>
                      <a:pt x="3522899" y="91349"/>
                    </a:lnTo>
                    <a:lnTo>
                      <a:pt x="3522899" y="104399"/>
                    </a:lnTo>
                    <a:close/>
                  </a:path>
                  <a:path w="3549015" h="208914">
                    <a:moveTo>
                      <a:pt x="3496799" y="156599"/>
                    </a:moveTo>
                    <a:lnTo>
                      <a:pt x="3444599" y="104399"/>
                    </a:lnTo>
                    <a:lnTo>
                      <a:pt x="3548999" y="104399"/>
                    </a:lnTo>
                    <a:lnTo>
                      <a:pt x="3496799" y="156599"/>
                    </a:lnTo>
                    <a:close/>
                  </a:path>
                </a:pathLst>
              </a:custGeom>
              <a:solidFill>
                <a:srgbClr val="BEC0C1"/>
              </a:solidFill>
            </p:spPr>
            <p:txBody>
              <a:bodyPr wrap="square" lIns="0" tIns="0" rIns="0" bIns="0" rtlCol="0"/>
              <a:lstStyle/>
              <a:p>
                <a:endParaRPr/>
              </a:p>
            </p:txBody>
          </p:sp>
          <p:sp>
            <p:nvSpPr>
              <p:cNvPr id="12" name="object 12"/>
              <p:cNvSpPr/>
              <p:nvPr/>
            </p:nvSpPr>
            <p:spPr>
              <a:xfrm>
                <a:off x="5660725" y="2424400"/>
                <a:ext cx="3549015" cy="208915"/>
              </a:xfrm>
              <a:custGeom>
                <a:avLst/>
                <a:gdLst/>
                <a:ahLst/>
                <a:cxnLst/>
                <a:rect l="l" t="t" r="r" b="b"/>
                <a:pathLst>
                  <a:path w="3549015" h="208914">
                    <a:moveTo>
                      <a:pt x="0" y="208799"/>
                    </a:moveTo>
                    <a:lnTo>
                      <a:pt x="0" y="91349"/>
                    </a:lnTo>
                    <a:lnTo>
                      <a:pt x="7178" y="55792"/>
                    </a:lnTo>
                    <a:lnTo>
                      <a:pt x="26755" y="26755"/>
                    </a:lnTo>
                    <a:lnTo>
                      <a:pt x="55792" y="7178"/>
                    </a:lnTo>
                    <a:lnTo>
                      <a:pt x="91349" y="0"/>
                    </a:lnTo>
                    <a:lnTo>
                      <a:pt x="3431549" y="0"/>
                    </a:lnTo>
                    <a:lnTo>
                      <a:pt x="3482231" y="15347"/>
                    </a:lnTo>
                    <a:lnTo>
                      <a:pt x="3515946" y="56391"/>
                    </a:lnTo>
                    <a:lnTo>
                      <a:pt x="3522899" y="91349"/>
                    </a:lnTo>
                    <a:lnTo>
                      <a:pt x="3522899" y="104399"/>
                    </a:lnTo>
                    <a:lnTo>
                      <a:pt x="3548999" y="104399"/>
                    </a:lnTo>
                    <a:lnTo>
                      <a:pt x="3496799" y="156599"/>
                    </a:lnTo>
                    <a:lnTo>
                      <a:pt x="3444599" y="104399"/>
                    </a:lnTo>
                    <a:lnTo>
                      <a:pt x="3470699" y="104399"/>
                    </a:lnTo>
                    <a:lnTo>
                      <a:pt x="3470699" y="91349"/>
                    </a:lnTo>
                    <a:lnTo>
                      <a:pt x="3467623" y="76111"/>
                    </a:lnTo>
                    <a:lnTo>
                      <a:pt x="3459233" y="63666"/>
                    </a:lnTo>
                    <a:lnTo>
                      <a:pt x="3446788" y="55276"/>
                    </a:lnTo>
                    <a:lnTo>
                      <a:pt x="3431549" y="52199"/>
                    </a:lnTo>
                    <a:lnTo>
                      <a:pt x="91349" y="52199"/>
                    </a:lnTo>
                    <a:lnTo>
                      <a:pt x="76111" y="55276"/>
                    </a:lnTo>
                    <a:lnTo>
                      <a:pt x="63666" y="63666"/>
                    </a:lnTo>
                    <a:lnTo>
                      <a:pt x="55276" y="76111"/>
                    </a:lnTo>
                    <a:lnTo>
                      <a:pt x="52199" y="91349"/>
                    </a:lnTo>
                    <a:lnTo>
                      <a:pt x="52199" y="208799"/>
                    </a:lnTo>
                    <a:lnTo>
                      <a:pt x="0" y="208799"/>
                    </a:lnTo>
                    <a:close/>
                  </a:path>
                </a:pathLst>
              </a:custGeom>
              <a:ln w="9524">
                <a:solidFill>
                  <a:srgbClr val="0F2044"/>
                </a:solidFill>
              </a:ln>
            </p:spPr>
            <p:txBody>
              <a:bodyPr wrap="square" lIns="0" tIns="0" rIns="0" bIns="0" rtlCol="0"/>
              <a:lstStyle/>
              <a:p>
                <a:endParaRPr/>
              </a:p>
            </p:txBody>
          </p:sp>
        </p:grpSp>
        <p:grpSp>
          <p:nvGrpSpPr>
            <p:cNvPr id="13" name="object 13"/>
            <p:cNvGrpSpPr/>
            <p:nvPr/>
          </p:nvGrpSpPr>
          <p:grpSpPr>
            <a:xfrm>
              <a:off x="9296887" y="2419637"/>
              <a:ext cx="1221105" cy="218440"/>
              <a:chOff x="9296887" y="2419637"/>
              <a:chExt cx="1221105" cy="218440"/>
            </a:xfrm>
          </p:grpSpPr>
          <p:sp>
            <p:nvSpPr>
              <p:cNvPr id="14" name="object 14"/>
              <p:cNvSpPr/>
              <p:nvPr/>
            </p:nvSpPr>
            <p:spPr>
              <a:xfrm>
                <a:off x="9301650" y="2424400"/>
                <a:ext cx="1211580" cy="208915"/>
              </a:xfrm>
              <a:custGeom>
                <a:avLst/>
                <a:gdLst/>
                <a:ahLst/>
                <a:cxnLst/>
                <a:rect l="l" t="t" r="r" b="b"/>
                <a:pathLst>
                  <a:path w="1211579" h="208914">
                    <a:moveTo>
                      <a:pt x="52199" y="208799"/>
                    </a:moveTo>
                    <a:lnTo>
                      <a:pt x="0" y="208799"/>
                    </a:lnTo>
                    <a:lnTo>
                      <a:pt x="0" y="91349"/>
                    </a:lnTo>
                    <a:lnTo>
                      <a:pt x="26755" y="26755"/>
                    </a:lnTo>
                    <a:lnTo>
                      <a:pt x="91349" y="0"/>
                    </a:lnTo>
                    <a:lnTo>
                      <a:pt x="1093949" y="0"/>
                    </a:lnTo>
                    <a:lnTo>
                      <a:pt x="1144631" y="15347"/>
                    </a:lnTo>
                    <a:lnTo>
                      <a:pt x="1176108" y="52199"/>
                    </a:lnTo>
                    <a:lnTo>
                      <a:pt x="91349" y="52199"/>
                    </a:lnTo>
                    <a:lnTo>
                      <a:pt x="76111" y="55276"/>
                    </a:lnTo>
                    <a:lnTo>
                      <a:pt x="63666" y="63666"/>
                    </a:lnTo>
                    <a:lnTo>
                      <a:pt x="55276" y="76111"/>
                    </a:lnTo>
                    <a:lnTo>
                      <a:pt x="52199" y="91349"/>
                    </a:lnTo>
                    <a:lnTo>
                      <a:pt x="52199" y="208799"/>
                    </a:lnTo>
                    <a:close/>
                  </a:path>
                  <a:path w="1211579" h="208914">
                    <a:moveTo>
                      <a:pt x="1185299" y="104399"/>
                    </a:moveTo>
                    <a:lnTo>
                      <a:pt x="1133099" y="104399"/>
                    </a:lnTo>
                    <a:lnTo>
                      <a:pt x="1133099" y="91349"/>
                    </a:lnTo>
                    <a:lnTo>
                      <a:pt x="1130023" y="76111"/>
                    </a:lnTo>
                    <a:lnTo>
                      <a:pt x="1121633" y="63666"/>
                    </a:lnTo>
                    <a:lnTo>
                      <a:pt x="1109188" y="55276"/>
                    </a:lnTo>
                    <a:lnTo>
                      <a:pt x="1093949" y="52199"/>
                    </a:lnTo>
                    <a:lnTo>
                      <a:pt x="1176108" y="52199"/>
                    </a:lnTo>
                    <a:lnTo>
                      <a:pt x="1178346" y="56391"/>
                    </a:lnTo>
                    <a:lnTo>
                      <a:pt x="1183528" y="73445"/>
                    </a:lnTo>
                    <a:lnTo>
                      <a:pt x="1185299" y="91349"/>
                    </a:lnTo>
                    <a:lnTo>
                      <a:pt x="1185299" y="104399"/>
                    </a:lnTo>
                    <a:close/>
                  </a:path>
                  <a:path w="1211579" h="208914">
                    <a:moveTo>
                      <a:pt x="1159199" y="156599"/>
                    </a:moveTo>
                    <a:lnTo>
                      <a:pt x="1106999" y="104399"/>
                    </a:lnTo>
                    <a:lnTo>
                      <a:pt x="1211399" y="104399"/>
                    </a:lnTo>
                    <a:lnTo>
                      <a:pt x="1159199" y="156599"/>
                    </a:lnTo>
                    <a:close/>
                  </a:path>
                </a:pathLst>
              </a:custGeom>
              <a:solidFill>
                <a:srgbClr val="BEC0C1"/>
              </a:solidFill>
            </p:spPr>
            <p:txBody>
              <a:bodyPr wrap="square" lIns="0" tIns="0" rIns="0" bIns="0" rtlCol="0"/>
              <a:lstStyle/>
              <a:p>
                <a:endParaRPr/>
              </a:p>
            </p:txBody>
          </p:sp>
          <p:sp>
            <p:nvSpPr>
              <p:cNvPr id="15" name="object 15"/>
              <p:cNvSpPr/>
              <p:nvPr/>
            </p:nvSpPr>
            <p:spPr>
              <a:xfrm>
                <a:off x="9301650" y="2424400"/>
                <a:ext cx="1211580" cy="208915"/>
              </a:xfrm>
              <a:custGeom>
                <a:avLst/>
                <a:gdLst/>
                <a:ahLst/>
                <a:cxnLst/>
                <a:rect l="l" t="t" r="r" b="b"/>
                <a:pathLst>
                  <a:path w="1211579" h="208914">
                    <a:moveTo>
                      <a:pt x="0" y="208799"/>
                    </a:moveTo>
                    <a:lnTo>
                      <a:pt x="0" y="91349"/>
                    </a:lnTo>
                    <a:lnTo>
                      <a:pt x="7178" y="55792"/>
                    </a:lnTo>
                    <a:lnTo>
                      <a:pt x="26755" y="26755"/>
                    </a:lnTo>
                    <a:lnTo>
                      <a:pt x="55792" y="7178"/>
                    </a:lnTo>
                    <a:lnTo>
                      <a:pt x="91349" y="0"/>
                    </a:lnTo>
                    <a:lnTo>
                      <a:pt x="1093949" y="0"/>
                    </a:lnTo>
                    <a:lnTo>
                      <a:pt x="1144631" y="15347"/>
                    </a:lnTo>
                    <a:lnTo>
                      <a:pt x="1178346" y="56391"/>
                    </a:lnTo>
                    <a:lnTo>
                      <a:pt x="1185299" y="91349"/>
                    </a:lnTo>
                    <a:lnTo>
                      <a:pt x="1185299" y="104399"/>
                    </a:lnTo>
                    <a:lnTo>
                      <a:pt x="1211399" y="104399"/>
                    </a:lnTo>
                    <a:lnTo>
                      <a:pt x="1159199" y="156599"/>
                    </a:lnTo>
                    <a:lnTo>
                      <a:pt x="1106999" y="104399"/>
                    </a:lnTo>
                    <a:lnTo>
                      <a:pt x="1133099" y="104399"/>
                    </a:lnTo>
                    <a:lnTo>
                      <a:pt x="1133099" y="91349"/>
                    </a:lnTo>
                    <a:lnTo>
                      <a:pt x="1130023" y="76111"/>
                    </a:lnTo>
                    <a:lnTo>
                      <a:pt x="1121633" y="63666"/>
                    </a:lnTo>
                    <a:lnTo>
                      <a:pt x="1109188" y="55276"/>
                    </a:lnTo>
                    <a:lnTo>
                      <a:pt x="1093949" y="52199"/>
                    </a:lnTo>
                    <a:lnTo>
                      <a:pt x="91349" y="52199"/>
                    </a:lnTo>
                    <a:lnTo>
                      <a:pt x="76111" y="55276"/>
                    </a:lnTo>
                    <a:lnTo>
                      <a:pt x="63666" y="63666"/>
                    </a:lnTo>
                    <a:lnTo>
                      <a:pt x="55276" y="76111"/>
                    </a:lnTo>
                    <a:lnTo>
                      <a:pt x="52199" y="91349"/>
                    </a:lnTo>
                    <a:lnTo>
                      <a:pt x="52199" y="208799"/>
                    </a:lnTo>
                    <a:lnTo>
                      <a:pt x="0" y="208799"/>
                    </a:lnTo>
                    <a:close/>
                  </a:path>
                </a:pathLst>
              </a:custGeom>
              <a:ln w="9524">
                <a:solidFill>
                  <a:srgbClr val="0F2044"/>
                </a:solidFill>
              </a:ln>
            </p:spPr>
            <p:txBody>
              <a:bodyPr wrap="square" lIns="0" tIns="0" rIns="0" bIns="0" rtlCol="0"/>
              <a:lstStyle/>
              <a:p>
                <a:endParaRPr/>
              </a:p>
            </p:txBody>
          </p:sp>
        </p:grpSp>
        <p:pic>
          <p:nvPicPr>
            <p:cNvPr id="17" name="Picture 16">
              <a:extLst>
                <a:ext uri="{FF2B5EF4-FFF2-40B4-BE49-F238E27FC236}">
                  <a16:creationId xmlns:a16="http://schemas.microsoft.com/office/drawing/2014/main" id="{85034E5C-DB97-C582-00A3-67FFCE126627}"/>
                </a:ext>
              </a:extLst>
            </p:cNvPr>
            <p:cNvPicPr>
              <a:picLocks noChangeAspect="1"/>
            </p:cNvPicPr>
            <p:nvPr/>
          </p:nvPicPr>
          <p:blipFill>
            <a:blip r:embed="rId3"/>
            <a:stretch>
              <a:fillRect/>
            </a:stretch>
          </p:blipFill>
          <p:spPr>
            <a:xfrm>
              <a:off x="434970" y="2819360"/>
              <a:ext cx="10309230" cy="457240"/>
            </a:xfrm>
            <a:prstGeom prst="rect">
              <a:avLst/>
            </a:prstGeom>
          </p:spPr>
        </p:pic>
      </p:grpSp>
      <p:sp>
        <p:nvSpPr>
          <p:cNvPr id="16" name="object 16"/>
          <p:cNvSpPr txBox="1"/>
          <p:nvPr/>
        </p:nvSpPr>
        <p:spPr>
          <a:xfrm>
            <a:off x="2971800" y="4050831"/>
            <a:ext cx="5486400" cy="320601"/>
          </a:xfrm>
          <a:prstGeom prst="rect">
            <a:avLst/>
          </a:prstGeom>
        </p:spPr>
        <p:txBody>
          <a:bodyPr vert="horz" wrap="square" lIns="0" tIns="12700" rIns="0" bIns="0" rtlCol="0">
            <a:spAutoFit/>
          </a:bodyPr>
          <a:lstStyle/>
          <a:p>
            <a:pPr marL="12700">
              <a:lnSpc>
                <a:spcPct val="100000"/>
              </a:lnSpc>
              <a:spcBef>
                <a:spcPts val="100"/>
              </a:spcBef>
            </a:pPr>
            <a:r>
              <a:rPr sz="2000" b="1" dirty="0">
                <a:solidFill>
                  <a:srgbClr val="980000"/>
                </a:solidFill>
                <a:latin typeface="Arial"/>
                <a:cs typeface="Arial"/>
              </a:rPr>
              <a:t>How</a:t>
            </a:r>
            <a:r>
              <a:rPr sz="2000" b="1" spc="-35" dirty="0">
                <a:solidFill>
                  <a:srgbClr val="980000"/>
                </a:solidFill>
                <a:latin typeface="Arial"/>
                <a:cs typeface="Arial"/>
              </a:rPr>
              <a:t> </a:t>
            </a:r>
            <a:r>
              <a:rPr sz="2000" b="1" dirty="0">
                <a:solidFill>
                  <a:srgbClr val="980000"/>
                </a:solidFill>
                <a:latin typeface="Arial"/>
                <a:cs typeface="Arial"/>
              </a:rPr>
              <a:t>would</a:t>
            </a:r>
            <a:r>
              <a:rPr sz="2000" b="1" spc="-35" dirty="0">
                <a:solidFill>
                  <a:srgbClr val="980000"/>
                </a:solidFill>
                <a:latin typeface="Arial"/>
                <a:cs typeface="Arial"/>
              </a:rPr>
              <a:t> </a:t>
            </a:r>
            <a:r>
              <a:rPr sz="2000" b="1" dirty="0">
                <a:solidFill>
                  <a:srgbClr val="980000"/>
                </a:solidFill>
                <a:latin typeface="Arial"/>
                <a:cs typeface="Arial"/>
              </a:rPr>
              <a:t>you</a:t>
            </a:r>
            <a:r>
              <a:rPr sz="2000" b="1" spc="-35" dirty="0">
                <a:solidFill>
                  <a:srgbClr val="980000"/>
                </a:solidFill>
                <a:latin typeface="Arial"/>
                <a:cs typeface="Arial"/>
              </a:rPr>
              <a:t> </a:t>
            </a:r>
            <a:r>
              <a:rPr sz="2000" b="1" dirty="0">
                <a:solidFill>
                  <a:srgbClr val="980000"/>
                </a:solidFill>
                <a:latin typeface="Arial"/>
                <a:cs typeface="Arial"/>
              </a:rPr>
              <a:t>fulfill</a:t>
            </a:r>
            <a:r>
              <a:rPr sz="2000" b="1" spc="-35" dirty="0">
                <a:solidFill>
                  <a:srgbClr val="980000"/>
                </a:solidFill>
                <a:latin typeface="Arial"/>
                <a:cs typeface="Arial"/>
              </a:rPr>
              <a:t> </a:t>
            </a:r>
            <a:r>
              <a:rPr sz="2000" b="1" dirty="0">
                <a:solidFill>
                  <a:srgbClr val="980000"/>
                </a:solidFill>
                <a:latin typeface="Arial"/>
                <a:cs typeface="Arial"/>
              </a:rPr>
              <a:t>p0</a:t>
            </a:r>
            <a:r>
              <a:rPr sz="2000" b="1" spc="-35" dirty="0">
                <a:solidFill>
                  <a:srgbClr val="980000"/>
                </a:solidFill>
                <a:latin typeface="Arial"/>
                <a:cs typeface="Arial"/>
              </a:rPr>
              <a:t> </a:t>
            </a:r>
            <a:r>
              <a:rPr sz="2000" b="1" dirty="0">
                <a:solidFill>
                  <a:srgbClr val="980000"/>
                </a:solidFill>
                <a:latin typeface="Arial"/>
                <a:cs typeface="Arial"/>
              </a:rPr>
              <a:t>=</a:t>
            </a:r>
            <a:r>
              <a:rPr sz="2000" b="1" spc="-35" dirty="0">
                <a:solidFill>
                  <a:srgbClr val="980000"/>
                </a:solidFill>
                <a:latin typeface="Arial"/>
                <a:cs typeface="Arial"/>
              </a:rPr>
              <a:t> </a:t>
            </a:r>
            <a:r>
              <a:rPr sz="2000" b="1" dirty="0">
                <a:solidFill>
                  <a:srgbClr val="980000"/>
                </a:solidFill>
                <a:latin typeface="Arial"/>
                <a:cs typeface="Arial"/>
              </a:rPr>
              <a:t>malloc(3)</a:t>
            </a:r>
            <a:r>
              <a:rPr sz="2000" b="1" spc="-35" dirty="0">
                <a:solidFill>
                  <a:srgbClr val="980000"/>
                </a:solidFill>
                <a:latin typeface="Arial"/>
                <a:cs typeface="Arial"/>
              </a:rPr>
              <a:t> </a:t>
            </a:r>
            <a:r>
              <a:rPr sz="2000" b="1" spc="-10" dirty="0">
                <a:solidFill>
                  <a:srgbClr val="980000"/>
                </a:solidFill>
                <a:latin typeface="Arial"/>
                <a:cs typeface="Arial"/>
              </a:rPr>
              <a:t>request?</a:t>
            </a:r>
            <a:endParaRPr sz="2000" dirty="0">
              <a:latin typeface="Arial"/>
              <a:cs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Implicit</a:t>
            </a:r>
            <a:r>
              <a:rPr spc="-100" dirty="0"/>
              <a:t> </a:t>
            </a:r>
            <a:r>
              <a:rPr dirty="0"/>
              <a:t>Free</a:t>
            </a:r>
            <a:r>
              <a:rPr spc="-100" dirty="0"/>
              <a:t> </a:t>
            </a:r>
            <a:r>
              <a:rPr spc="-20" dirty="0"/>
              <a:t>List</a:t>
            </a:r>
          </a:p>
        </p:txBody>
      </p:sp>
      <p:grpSp>
        <p:nvGrpSpPr>
          <p:cNvPr id="43" name="Group 42" descr="An illustration of splitting a free block. A larger free block (6/0) is divided into a 4/1 allocated segment and a 2/0 free segment to minimize internal fragmentation.">
            <a:extLst>
              <a:ext uri="{FF2B5EF4-FFF2-40B4-BE49-F238E27FC236}">
                <a16:creationId xmlns:a16="http://schemas.microsoft.com/office/drawing/2014/main" id="{41456037-A068-D56B-9EBF-B3A413355FA9}"/>
              </a:ext>
            </a:extLst>
          </p:cNvPr>
          <p:cNvGrpSpPr/>
          <p:nvPr/>
        </p:nvGrpSpPr>
        <p:grpSpPr>
          <a:xfrm>
            <a:off x="434970" y="2419637"/>
            <a:ext cx="10309230" cy="2652481"/>
            <a:chOff x="434970" y="2419637"/>
            <a:chExt cx="10309230" cy="2652481"/>
          </a:xfrm>
        </p:grpSpPr>
        <p:sp>
          <p:nvSpPr>
            <p:cNvPr id="18" name="object 18"/>
            <p:cNvSpPr/>
            <p:nvPr/>
          </p:nvSpPr>
          <p:spPr>
            <a:xfrm>
              <a:off x="7000258" y="3383280"/>
              <a:ext cx="10142" cy="502920"/>
            </a:xfrm>
            <a:custGeom>
              <a:avLst/>
              <a:gdLst/>
              <a:ahLst/>
              <a:cxnLst/>
              <a:rect l="l" t="t" r="r" b="b"/>
              <a:pathLst>
                <a:path w="7620" h="502920">
                  <a:moveTo>
                    <a:pt x="0" y="0"/>
                  </a:moveTo>
                  <a:lnTo>
                    <a:pt x="7542" y="502656"/>
                  </a:lnTo>
                </a:path>
              </a:pathLst>
            </a:custGeom>
            <a:ln w="12700">
              <a:solidFill>
                <a:srgbClr val="0F2044"/>
              </a:solidFill>
              <a:tailEnd type="triangle"/>
            </a:ln>
          </p:spPr>
          <p:txBody>
            <a:bodyPr wrap="square" lIns="0" tIns="0" rIns="0" bIns="0" rtlCol="0"/>
            <a:lstStyle/>
            <a:p>
              <a:endParaRPr/>
            </a:p>
          </p:txBody>
        </p:sp>
        <p:sp>
          <p:nvSpPr>
            <p:cNvPr id="21" name="object 21"/>
            <p:cNvSpPr txBox="1"/>
            <p:nvPr/>
          </p:nvSpPr>
          <p:spPr>
            <a:xfrm>
              <a:off x="7327550" y="3521796"/>
              <a:ext cx="742030" cy="259045"/>
            </a:xfrm>
            <a:prstGeom prst="rect">
              <a:avLst/>
            </a:prstGeom>
          </p:spPr>
          <p:txBody>
            <a:bodyPr vert="horz" wrap="square" lIns="0" tIns="12700" rIns="0" bIns="0" rtlCol="0">
              <a:spAutoFit/>
            </a:bodyPr>
            <a:lstStyle/>
            <a:p>
              <a:pPr marL="12700">
                <a:lnSpc>
                  <a:spcPct val="100000"/>
                </a:lnSpc>
                <a:spcBef>
                  <a:spcPts val="100"/>
                </a:spcBef>
              </a:pPr>
              <a:r>
                <a:rPr sz="1600" spc="-10" dirty="0">
                  <a:solidFill>
                    <a:srgbClr val="0F2044"/>
                  </a:solidFill>
                  <a:latin typeface="Arial MT"/>
                  <a:cs typeface="Arial MT"/>
                </a:rPr>
                <a:t>splitting</a:t>
              </a:r>
              <a:endParaRPr sz="1600" dirty="0">
                <a:latin typeface="Arial MT"/>
                <a:cs typeface="Arial MT"/>
              </a:endParaRPr>
            </a:p>
          </p:txBody>
        </p:sp>
        <p:sp>
          <p:nvSpPr>
            <p:cNvPr id="22" name="object 22"/>
            <p:cNvSpPr/>
            <p:nvPr/>
          </p:nvSpPr>
          <p:spPr>
            <a:xfrm>
              <a:off x="2574501" y="3577225"/>
              <a:ext cx="4196715" cy="709295"/>
            </a:xfrm>
            <a:custGeom>
              <a:avLst/>
              <a:gdLst/>
              <a:ahLst/>
              <a:cxnLst/>
              <a:rect l="l" t="t" r="r" b="b"/>
              <a:pathLst>
                <a:path w="4196715" h="709295">
                  <a:moveTo>
                    <a:pt x="4196448" y="0"/>
                  </a:moveTo>
                  <a:lnTo>
                    <a:pt x="0" y="708979"/>
                  </a:lnTo>
                </a:path>
              </a:pathLst>
            </a:custGeom>
            <a:ln w="12700">
              <a:solidFill>
                <a:srgbClr val="0F2044"/>
              </a:solidFill>
              <a:tailEnd type="triangle"/>
            </a:ln>
          </p:spPr>
          <p:txBody>
            <a:bodyPr wrap="square" lIns="0" tIns="0" rIns="0" bIns="0" rtlCol="0"/>
            <a:lstStyle/>
            <a:p>
              <a:endParaRPr/>
            </a:p>
          </p:txBody>
        </p:sp>
        <p:sp>
          <p:nvSpPr>
            <p:cNvPr id="26" name="object 26"/>
            <p:cNvSpPr txBox="1"/>
            <p:nvPr/>
          </p:nvSpPr>
          <p:spPr>
            <a:xfrm>
              <a:off x="457200" y="3822481"/>
              <a:ext cx="1917700" cy="1249637"/>
            </a:xfrm>
            <a:prstGeom prst="rect">
              <a:avLst/>
            </a:prstGeom>
          </p:spPr>
          <p:txBody>
            <a:bodyPr vert="horz" wrap="square" lIns="0" tIns="12700" rIns="0" bIns="0" rtlCol="0">
              <a:spAutoFit/>
            </a:bodyPr>
            <a:lstStyle/>
            <a:p>
              <a:pPr marL="12700" marR="5080">
                <a:lnSpc>
                  <a:spcPct val="114000"/>
                </a:lnSpc>
                <a:spcBef>
                  <a:spcPts val="100"/>
                </a:spcBef>
              </a:pPr>
              <a:r>
                <a:rPr sz="1800" dirty="0">
                  <a:solidFill>
                    <a:srgbClr val="0F2044"/>
                  </a:solidFill>
                  <a:latin typeface="Arial MT"/>
                  <a:cs typeface="Arial MT"/>
                </a:rPr>
                <a:t>How</a:t>
              </a:r>
              <a:r>
                <a:rPr sz="1800" spc="-30" dirty="0">
                  <a:solidFill>
                    <a:srgbClr val="0F2044"/>
                  </a:solidFill>
                  <a:latin typeface="Arial MT"/>
                  <a:cs typeface="Arial MT"/>
                </a:rPr>
                <a:t> </a:t>
              </a:r>
              <a:r>
                <a:rPr sz="1800" dirty="0">
                  <a:solidFill>
                    <a:srgbClr val="0F2044"/>
                  </a:solidFill>
                  <a:latin typeface="Arial MT"/>
                  <a:cs typeface="Arial MT"/>
                </a:rPr>
                <a:t>much</a:t>
              </a:r>
              <a:r>
                <a:rPr sz="1800" spc="-15" dirty="0">
                  <a:solidFill>
                    <a:srgbClr val="0F2044"/>
                  </a:solidFill>
                  <a:latin typeface="Arial MT"/>
                  <a:cs typeface="Arial MT"/>
                </a:rPr>
                <a:t> </a:t>
              </a:r>
              <a:r>
                <a:rPr sz="1800" spc="-10" dirty="0">
                  <a:solidFill>
                    <a:srgbClr val="0F2044"/>
                  </a:solidFill>
                  <a:latin typeface="Arial MT"/>
                  <a:cs typeface="Arial MT"/>
                </a:rPr>
                <a:t>internal </a:t>
              </a:r>
              <a:r>
                <a:rPr sz="1800" dirty="0">
                  <a:solidFill>
                    <a:srgbClr val="0F2044"/>
                  </a:solidFill>
                  <a:latin typeface="Arial MT"/>
                  <a:cs typeface="Arial MT"/>
                </a:rPr>
                <a:t>fragmentation</a:t>
              </a:r>
              <a:r>
                <a:rPr sz="1800" spc="-65" dirty="0">
                  <a:solidFill>
                    <a:srgbClr val="0F2044"/>
                  </a:solidFill>
                  <a:latin typeface="Arial MT"/>
                  <a:cs typeface="Arial MT"/>
                </a:rPr>
                <a:t> </a:t>
              </a:r>
              <a:r>
                <a:rPr sz="1800" spc="-25" dirty="0">
                  <a:solidFill>
                    <a:srgbClr val="0F2044"/>
                  </a:solidFill>
                  <a:latin typeface="Arial MT"/>
                  <a:cs typeface="Arial MT"/>
                </a:rPr>
                <a:t>are </a:t>
              </a:r>
              <a:r>
                <a:rPr sz="1800" dirty="0">
                  <a:solidFill>
                    <a:srgbClr val="0F2044"/>
                  </a:solidFill>
                  <a:latin typeface="Arial MT"/>
                  <a:cs typeface="Arial MT"/>
                </a:rPr>
                <a:t>we</a:t>
              </a:r>
              <a:r>
                <a:rPr sz="1800" spc="-25" dirty="0">
                  <a:solidFill>
                    <a:srgbClr val="0F2044"/>
                  </a:solidFill>
                  <a:latin typeface="Arial MT"/>
                  <a:cs typeface="Arial MT"/>
                </a:rPr>
                <a:t> </a:t>
              </a:r>
              <a:r>
                <a:rPr sz="1800" dirty="0">
                  <a:solidFill>
                    <a:srgbClr val="0F2044"/>
                  </a:solidFill>
                  <a:latin typeface="Arial MT"/>
                  <a:cs typeface="Arial MT"/>
                </a:rPr>
                <a:t>willing</a:t>
              </a:r>
              <a:r>
                <a:rPr sz="1800" spc="-20" dirty="0">
                  <a:solidFill>
                    <a:srgbClr val="0F2044"/>
                  </a:solidFill>
                  <a:latin typeface="Arial MT"/>
                  <a:cs typeface="Arial MT"/>
                </a:rPr>
                <a:t> </a:t>
              </a:r>
              <a:r>
                <a:rPr sz="1800" spc="-25" dirty="0">
                  <a:solidFill>
                    <a:srgbClr val="0F2044"/>
                  </a:solidFill>
                  <a:latin typeface="Arial MT"/>
                  <a:cs typeface="Arial MT"/>
                </a:rPr>
                <a:t>to </a:t>
              </a:r>
              <a:r>
                <a:rPr sz="1800" spc="-10" dirty="0">
                  <a:solidFill>
                    <a:srgbClr val="0F2044"/>
                  </a:solidFill>
                  <a:latin typeface="Arial MT"/>
                  <a:cs typeface="Arial MT"/>
                </a:rPr>
                <a:t>tolerate?</a:t>
              </a:r>
              <a:endParaRPr sz="1800" dirty="0">
                <a:latin typeface="Arial MT"/>
                <a:cs typeface="Arial MT"/>
              </a:endParaRPr>
            </a:p>
          </p:txBody>
        </p:sp>
        <p:grpSp>
          <p:nvGrpSpPr>
            <p:cNvPr id="28" name="Group 27">
              <a:extLst>
                <a:ext uri="{FF2B5EF4-FFF2-40B4-BE49-F238E27FC236}">
                  <a16:creationId xmlns:a16="http://schemas.microsoft.com/office/drawing/2014/main" id="{29FA8A7A-3E88-3F23-4CFC-9547F213295A}"/>
                </a:ext>
              </a:extLst>
            </p:cNvPr>
            <p:cNvGrpSpPr/>
            <p:nvPr/>
          </p:nvGrpSpPr>
          <p:grpSpPr>
            <a:xfrm>
              <a:off x="434970" y="2419637"/>
              <a:ext cx="10309230" cy="856963"/>
              <a:chOff x="434970" y="2419637"/>
              <a:chExt cx="10309230" cy="856963"/>
            </a:xfrm>
          </p:grpSpPr>
          <p:grpSp>
            <p:nvGrpSpPr>
              <p:cNvPr id="29" name="object 4">
                <a:extLst>
                  <a:ext uri="{FF2B5EF4-FFF2-40B4-BE49-F238E27FC236}">
                    <a16:creationId xmlns:a16="http://schemas.microsoft.com/office/drawing/2014/main" id="{0079EA15-4AA6-6D31-DF0E-471D15018660}"/>
                  </a:ext>
                </a:extLst>
              </p:cNvPr>
              <p:cNvGrpSpPr/>
              <p:nvPr/>
            </p:nvGrpSpPr>
            <p:grpSpPr>
              <a:xfrm>
                <a:off x="649112" y="2419637"/>
                <a:ext cx="2482850" cy="218440"/>
                <a:chOff x="649112" y="2419637"/>
                <a:chExt cx="2482850" cy="218440"/>
              </a:xfrm>
            </p:grpSpPr>
            <p:sp>
              <p:nvSpPr>
                <p:cNvPr id="40" name="object 5">
                  <a:extLst>
                    <a:ext uri="{FF2B5EF4-FFF2-40B4-BE49-F238E27FC236}">
                      <a16:creationId xmlns:a16="http://schemas.microsoft.com/office/drawing/2014/main" id="{C5525A1C-726F-28DF-C1DD-F26BA0D77966}"/>
                    </a:ext>
                  </a:extLst>
                </p:cNvPr>
                <p:cNvSpPr/>
                <p:nvPr/>
              </p:nvSpPr>
              <p:spPr>
                <a:xfrm>
                  <a:off x="653875" y="2424400"/>
                  <a:ext cx="2473325" cy="208915"/>
                </a:xfrm>
                <a:custGeom>
                  <a:avLst/>
                  <a:gdLst/>
                  <a:ahLst/>
                  <a:cxnLst/>
                  <a:rect l="l" t="t" r="r" b="b"/>
                  <a:pathLst>
                    <a:path w="2473325" h="208914">
                      <a:moveTo>
                        <a:pt x="52199" y="208799"/>
                      </a:moveTo>
                      <a:lnTo>
                        <a:pt x="0" y="208799"/>
                      </a:lnTo>
                      <a:lnTo>
                        <a:pt x="0" y="91349"/>
                      </a:lnTo>
                      <a:lnTo>
                        <a:pt x="26755" y="26755"/>
                      </a:lnTo>
                      <a:lnTo>
                        <a:pt x="91349" y="0"/>
                      </a:lnTo>
                      <a:lnTo>
                        <a:pt x="2355749" y="0"/>
                      </a:lnTo>
                      <a:lnTo>
                        <a:pt x="2406430" y="15347"/>
                      </a:lnTo>
                      <a:lnTo>
                        <a:pt x="2437908" y="52199"/>
                      </a:lnTo>
                      <a:lnTo>
                        <a:pt x="91349" y="52199"/>
                      </a:lnTo>
                      <a:lnTo>
                        <a:pt x="76111" y="55276"/>
                      </a:lnTo>
                      <a:lnTo>
                        <a:pt x="63666" y="63666"/>
                      </a:lnTo>
                      <a:lnTo>
                        <a:pt x="55276" y="76111"/>
                      </a:lnTo>
                      <a:lnTo>
                        <a:pt x="52199" y="91349"/>
                      </a:lnTo>
                      <a:lnTo>
                        <a:pt x="52199" y="208799"/>
                      </a:lnTo>
                      <a:close/>
                    </a:path>
                    <a:path w="2473325" h="208914">
                      <a:moveTo>
                        <a:pt x="2447099" y="104399"/>
                      </a:moveTo>
                      <a:lnTo>
                        <a:pt x="2394899" y="104399"/>
                      </a:lnTo>
                      <a:lnTo>
                        <a:pt x="2394899" y="91349"/>
                      </a:lnTo>
                      <a:lnTo>
                        <a:pt x="2391823" y="76111"/>
                      </a:lnTo>
                      <a:lnTo>
                        <a:pt x="2383433" y="63666"/>
                      </a:lnTo>
                      <a:lnTo>
                        <a:pt x="2370988" y="55276"/>
                      </a:lnTo>
                      <a:lnTo>
                        <a:pt x="2355749" y="52199"/>
                      </a:lnTo>
                      <a:lnTo>
                        <a:pt x="2437908" y="52199"/>
                      </a:lnTo>
                      <a:lnTo>
                        <a:pt x="2440146" y="56391"/>
                      </a:lnTo>
                      <a:lnTo>
                        <a:pt x="2445328" y="73445"/>
                      </a:lnTo>
                      <a:lnTo>
                        <a:pt x="2447099" y="91349"/>
                      </a:lnTo>
                      <a:lnTo>
                        <a:pt x="2447099" y="104399"/>
                      </a:lnTo>
                      <a:close/>
                    </a:path>
                    <a:path w="2473325" h="208914">
                      <a:moveTo>
                        <a:pt x="2420999" y="156599"/>
                      </a:moveTo>
                      <a:lnTo>
                        <a:pt x="2368799" y="104399"/>
                      </a:lnTo>
                      <a:lnTo>
                        <a:pt x="2473199" y="104399"/>
                      </a:lnTo>
                      <a:lnTo>
                        <a:pt x="2420999" y="156599"/>
                      </a:lnTo>
                      <a:close/>
                    </a:path>
                  </a:pathLst>
                </a:custGeom>
                <a:solidFill>
                  <a:srgbClr val="BEC0C1"/>
                </a:solidFill>
              </p:spPr>
              <p:txBody>
                <a:bodyPr wrap="square" lIns="0" tIns="0" rIns="0" bIns="0" rtlCol="0"/>
                <a:lstStyle/>
                <a:p>
                  <a:endParaRPr/>
                </a:p>
              </p:txBody>
            </p:sp>
            <p:sp>
              <p:nvSpPr>
                <p:cNvPr id="41" name="object 6">
                  <a:extLst>
                    <a:ext uri="{FF2B5EF4-FFF2-40B4-BE49-F238E27FC236}">
                      <a16:creationId xmlns:a16="http://schemas.microsoft.com/office/drawing/2014/main" id="{F8234364-FE02-F565-17C5-B6E7C916F5E1}"/>
                    </a:ext>
                  </a:extLst>
                </p:cNvPr>
                <p:cNvSpPr/>
                <p:nvPr/>
              </p:nvSpPr>
              <p:spPr>
                <a:xfrm>
                  <a:off x="653875" y="2424400"/>
                  <a:ext cx="2473325" cy="208915"/>
                </a:xfrm>
                <a:custGeom>
                  <a:avLst/>
                  <a:gdLst/>
                  <a:ahLst/>
                  <a:cxnLst/>
                  <a:rect l="l" t="t" r="r" b="b"/>
                  <a:pathLst>
                    <a:path w="2473325" h="208914">
                      <a:moveTo>
                        <a:pt x="0" y="208799"/>
                      </a:moveTo>
                      <a:lnTo>
                        <a:pt x="0" y="91349"/>
                      </a:lnTo>
                      <a:lnTo>
                        <a:pt x="7178" y="55792"/>
                      </a:lnTo>
                      <a:lnTo>
                        <a:pt x="26755" y="26755"/>
                      </a:lnTo>
                      <a:lnTo>
                        <a:pt x="55792" y="7178"/>
                      </a:lnTo>
                      <a:lnTo>
                        <a:pt x="91349" y="0"/>
                      </a:lnTo>
                      <a:lnTo>
                        <a:pt x="2355749" y="0"/>
                      </a:lnTo>
                      <a:lnTo>
                        <a:pt x="2406430" y="15347"/>
                      </a:lnTo>
                      <a:lnTo>
                        <a:pt x="2440146" y="56391"/>
                      </a:lnTo>
                      <a:lnTo>
                        <a:pt x="2447099" y="91349"/>
                      </a:lnTo>
                      <a:lnTo>
                        <a:pt x="2447099" y="104399"/>
                      </a:lnTo>
                      <a:lnTo>
                        <a:pt x="2473199" y="104399"/>
                      </a:lnTo>
                      <a:lnTo>
                        <a:pt x="2420999" y="156599"/>
                      </a:lnTo>
                      <a:lnTo>
                        <a:pt x="2368799" y="104399"/>
                      </a:lnTo>
                      <a:lnTo>
                        <a:pt x="2394899" y="104399"/>
                      </a:lnTo>
                      <a:lnTo>
                        <a:pt x="2394899" y="91349"/>
                      </a:lnTo>
                      <a:lnTo>
                        <a:pt x="2391823" y="76111"/>
                      </a:lnTo>
                      <a:lnTo>
                        <a:pt x="2383433" y="63666"/>
                      </a:lnTo>
                      <a:lnTo>
                        <a:pt x="2370988" y="55276"/>
                      </a:lnTo>
                      <a:lnTo>
                        <a:pt x="2355749" y="52199"/>
                      </a:lnTo>
                      <a:lnTo>
                        <a:pt x="91349" y="52199"/>
                      </a:lnTo>
                      <a:lnTo>
                        <a:pt x="76111" y="55276"/>
                      </a:lnTo>
                      <a:lnTo>
                        <a:pt x="63666" y="63666"/>
                      </a:lnTo>
                      <a:lnTo>
                        <a:pt x="55276" y="76111"/>
                      </a:lnTo>
                      <a:lnTo>
                        <a:pt x="52199" y="91349"/>
                      </a:lnTo>
                      <a:lnTo>
                        <a:pt x="52199" y="208799"/>
                      </a:lnTo>
                      <a:lnTo>
                        <a:pt x="0" y="208799"/>
                      </a:lnTo>
                      <a:close/>
                    </a:path>
                  </a:pathLst>
                </a:custGeom>
                <a:ln w="9524">
                  <a:solidFill>
                    <a:srgbClr val="0F2044"/>
                  </a:solidFill>
                </a:ln>
              </p:spPr>
              <p:txBody>
                <a:bodyPr wrap="square" lIns="0" tIns="0" rIns="0" bIns="0" rtlCol="0"/>
                <a:lstStyle/>
                <a:p>
                  <a:endParaRPr/>
                </a:p>
              </p:txBody>
            </p:sp>
          </p:grpSp>
          <p:grpSp>
            <p:nvGrpSpPr>
              <p:cNvPr id="30" name="object 7">
                <a:extLst>
                  <a:ext uri="{FF2B5EF4-FFF2-40B4-BE49-F238E27FC236}">
                    <a16:creationId xmlns:a16="http://schemas.microsoft.com/office/drawing/2014/main" id="{87CC418C-C978-102B-B142-96006941E47D}"/>
                  </a:ext>
                </a:extLst>
              </p:cNvPr>
              <p:cNvGrpSpPr/>
              <p:nvPr/>
            </p:nvGrpSpPr>
            <p:grpSpPr>
              <a:xfrm>
                <a:off x="3182762" y="2419637"/>
                <a:ext cx="2347595" cy="218440"/>
                <a:chOff x="3182762" y="2419637"/>
                <a:chExt cx="2347595" cy="218440"/>
              </a:xfrm>
            </p:grpSpPr>
            <p:sp>
              <p:nvSpPr>
                <p:cNvPr id="38" name="object 8">
                  <a:extLst>
                    <a:ext uri="{FF2B5EF4-FFF2-40B4-BE49-F238E27FC236}">
                      <a16:creationId xmlns:a16="http://schemas.microsoft.com/office/drawing/2014/main" id="{AB646C8D-1555-F4F7-13CC-C9329C8ED077}"/>
                    </a:ext>
                  </a:extLst>
                </p:cNvPr>
                <p:cNvSpPr/>
                <p:nvPr/>
              </p:nvSpPr>
              <p:spPr>
                <a:xfrm>
                  <a:off x="3187524" y="2424400"/>
                  <a:ext cx="2338070" cy="208915"/>
                </a:xfrm>
                <a:custGeom>
                  <a:avLst/>
                  <a:gdLst/>
                  <a:ahLst/>
                  <a:cxnLst/>
                  <a:rect l="l" t="t" r="r" b="b"/>
                  <a:pathLst>
                    <a:path w="2338070" h="208914">
                      <a:moveTo>
                        <a:pt x="52199" y="208799"/>
                      </a:moveTo>
                      <a:lnTo>
                        <a:pt x="0" y="208799"/>
                      </a:lnTo>
                      <a:lnTo>
                        <a:pt x="0" y="91349"/>
                      </a:lnTo>
                      <a:lnTo>
                        <a:pt x="7057" y="56391"/>
                      </a:lnTo>
                      <a:lnTo>
                        <a:pt x="7178" y="55792"/>
                      </a:lnTo>
                      <a:lnTo>
                        <a:pt x="26755" y="26755"/>
                      </a:lnTo>
                      <a:lnTo>
                        <a:pt x="55792" y="7178"/>
                      </a:lnTo>
                      <a:lnTo>
                        <a:pt x="91349" y="0"/>
                      </a:lnTo>
                      <a:lnTo>
                        <a:pt x="2220149" y="0"/>
                      </a:lnTo>
                      <a:lnTo>
                        <a:pt x="2270831" y="15347"/>
                      </a:lnTo>
                      <a:lnTo>
                        <a:pt x="2302308" y="52199"/>
                      </a:lnTo>
                      <a:lnTo>
                        <a:pt x="91349" y="52199"/>
                      </a:lnTo>
                      <a:lnTo>
                        <a:pt x="76111" y="55276"/>
                      </a:lnTo>
                      <a:lnTo>
                        <a:pt x="63666" y="63666"/>
                      </a:lnTo>
                      <a:lnTo>
                        <a:pt x="55276" y="76111"/>
                      </a:lnTo>
                      <a:lnTo>
                        <a:pt x="52199" y="91349"/>
                      </a:lnTo>
                      <a:lnTo>
                        <a:pt x="52199" y="208799"/>
                      </a:lnTo>
                      <a:close/>
                    </a:path>
                    <a:path w="2338070" h="208914">
                      <a:moveTo>
                        <a:pt x="2311499" y="104399"/>
                      </a:moveTo>
                      <a:lnTo>
                        <a:pt x="2259299" y="104399"/>
                      </a:lnTo>
                      <a:lnTo>
                        <a:pt x="2259299" y="91349"/>
                      </a:lnTo>
                      <a:lnTo>
                        <a:pt x="2256223" y="76111"/>
                      </a:lnTo>
                      <a:lnTo>
                        <a:pt x="2247833" y="63666"/>
                      </a:lnTo>
                      <a:lnTo>
                        <a:pt x="2235388" y="55276"/>
                      </a:lnTo>
                      <a:lnTo>
                        <a:pt x="2220149" y="52199"/>
                      </a:lnTo>
                      <a:lnTo>
                        <a:pt x="2302308" y="52199"/>
                      </a:lnTo>
                      <a:lnTo>
                        <a:pt x="2304546" y="56391"/>
                      </a:lnTo>
                      <a:lnTo>
                        <a:pt x="2309728" y="73445"/>
                      </a:lnTo>
                      <a:lnTo>
                        <a:pt x="2311499" y="91349"/>
                      </a:lnTo>
                      <a:lnTo>
                        <a:pt x="2311499" y="104399"/>
                      </a:lnTo>
                      <a:close/>
                    </a:path>
                    <a:path w="2338070" h="208914">
                      <a:moveTo>
                        <a:pt x="2285399" y="156599"/>
                      </a:moveTo>
                      <a:lnTo>
                        <a:pt x="2233199" y="104399"/>
                      </a:lnTo>
                      <a:lnTo>
                        <a:pt x="2337599" y="104399"/>
                      </a:lnTo>
                      <a:lnTo>
                        <a:pt x="2285399" y="156599"/>
                      </a:lnTo>
                      <a:close/>
                    </a:path>
                  </a:pathLst>
                </a:custGeom>
                <a:solidFill>
                  <a:srgbClr val="BEC0C1"/>
                </a:solidFill>
              </p:spPr>
              <p:txBody>
                <a:bodyPr wrap="square" lIns="0" tIns="0" rIns="0" bIns="0" rtlCol="0"/>
                <a:lstStyle/>
                <a:p>
                  <a:endParaRPr/>
                </a:p>
              </p:txBody>
            </p:sp>
            <p:sp>
              <p:nvSpPr>
                <p:cNvPr id="39" name="object 9">
                  <a:extLst>
                    <a:ext uri="{FF2B5EF4-FFF2-40B4-BE49-F238E27FC236}">
                      <a16:creationId xmlns:a16="http://schemas.microsoft.com/office/drawing/2014/main" id="{02436655-B28D-1042-A4B6-DA7EA2CF0CC7}"/>
                    </a:ext>
                  </a:extLst>
                </p:cNvPr>
                <p:cNvSpPr/>
                <p:nvPr/>
              </p:nvSpPr>
              <p:spPr>
                <a:xfrm>
                  <a:off x="3187525" y="2424400"/>
                  <a:ext cx="2338070" cy="208915"/>
                </a:xfrm>
                <a:custGeom>
                  <a:avLst/>
                  <a:gdLst/>
                  <a:ahLst/>
                  <a:cxnLst/>
                  <a:rect l="l" t="t" r="r" b="b"/>
                  <a:pathLst>
                    <a:path w="2338070" h="208914">
                      <a:moveTo>
                        <a:pt x="0" y="208799"/>
                      </a:moveTo>
                      <a:lnTo>
                        <a:pt x="0" y="91349"/>
                      </a:lnTo>
                      <a:lnTo>
                        <a:pt x="7178" y="55792"/>
                      </a:lnTo>
                      <a:lnTo>
                        <a:pt x="26755" y="26755"/>
                      </a:lnTo>
                      <a:lnTo>
                        <a:pt x="55792" y="7178"/>
                      </a:lnTo>
                      <a:lnTo>
                        <a:pt x="91349" y="0"/>
                      </a:lnTo>
                      <a:lnTo>
                        <a:pt x="2220149" y="0"/>
                      </a:lnTo>
                      <a:lnTo>
                        <a:pt x="2270831" y="15347"/>
                      </a:lnTo>
                      <a:lnTo>
                        <a:pt x="2304546" y="56391"/>
                      </a:lnTo>
                      <a:lnTo>
                        <a:pt x="2311499" y="91349"/>
                      </a:lnTo>
                      <a:lnTo>
                        <a:pt x="2311499" y="104399"/>
                      </a:lnTo>
                      <a:lnTo>
                        <a:pt x="2337599" y="104399"/>
                      </a:lnTo>
                      <a:lnTo>
                        <a:pt x="2285399" y="156599"/>
                      </a:lnTo>
                      <a:lnTo>
                        <a:pt x="2233199" y="104399"/>
                      </a:lnTo>
                      <a:lnTo>
                        <a:pt x="2259299" y="104399"/>
                      </a:lnTo>
                      <a:lnTo>
                        <a:pt x="2259299" y="91349"/>
                      </a:lnTo>
                      <a:lnTo>
                        <a:pt x="2256223" y="76111"/>
                      </a:lnTo>
                      <a:lnTo>
                        <a:pt x="2247833" y="63666"/>
                      </a:lnTo>
                      <a:lnTo>
                        <a:pt x="2235388" y="55276"/>
                      </a:lnTo>
                      <a:lnTo>
                        <a:pt x="2220149" y="52199"/>
                      </a:lnTo>
                      <a:lnTo>
                        <a:pt x="91349" y="52199"/>
                      </a:lnTo>
                      <a:lnTo>
                        <a:pt x="76111" y="55276"/>
                      </a:lnTo>
                      <a:lnTo>
                        <a:pt x="63666" y="63666"/>
                      </a:lnTo>
                      <a:lnTo>
                        <a:pt x="55276" y="76111"/>
                      </a:lnTo>
                      <a:lnTo>
                        <a:pt x="52199" y="91349"/>
                      </a:lnTo>
                      <a:lnTo>
                        <a:pt x="52199" y="208799"/>
                      </a:lnTo>
                      <a:lnTo>
                        <a:pt x="0" y="208799"/>
                      </a:lnTo>
                      <a:close/>
                    </a:path>
                  </a:pathLst>
                </a:custGeom>
                <a:ln w="9524">
                  <a:solidFill>
                    <a:srgbClr val="0F2044"/>
                  </a:solidFill>
                </a:ln>
              </p:spPr>
              <p:txBody>
                <a:bodyPr wrap="square" lIns="0" tIns="0" rIns="0" bIns="0" rtlCol="0"/>
                <a:lstStyle/>
                <a:p>
                  <a:endParaRPr/>
                </a:p>
              </p:txBody>
            </p:sp>
          </p:grpSp>
          <p:grpSp>
            <p:nvGrpSpPr>
              <p:cNvPr id="31" name="object 10">
                <a:extLst>
                  <a:ext uri="{FF2B5EF4-FFF2-40B4-BE49-F238E27FC236}">
                    <a16:creationId xmlns:a16="http://schemas.microsoft.com/office/drawing/2014/main" id="{6EF747D8-93A8-E40D-2964-C5B0F919E324}"/>
                  </a:ext>
                </a:extLst>
              </p:cNvPr>
              <p:cNvGrpSpPr/>
              <p:nvPr/>
            </p:nvGrpSpPr>
            <p:grpSpPr>
              <a:xfrm>
                <a:off x="5655962" y="2419637"/>
                <a:ext cx="3558540" cy="218440"/>
                <a:chOff x="5655962" y="2419637"/>
                <a:chExt cx="3558540" cy="218440"/>
              </a:xfrm>
            </p:grpSpPr>
            <p:sp>
              <p:nvSpPr>
                <p:cNvPr id="36" name="object 11">
                  <a:extLst>
                    <a:ext uri="{FF2B5EF4-FFF2-40B4-BE49-F238E27FC236}">
                      <a16:creationId xmlns:a16="http://schemas.microsoft.com/office/drawing/2014/main" id="{095EE140-CFC4-DD8B-1F93-03CA4DFEA58F}"/>
                    </a:ext>
                  </a:extLst>
                </p:cNvPr>
                <p:cNvSpPr/>
                <p:nvPr/>
              </p:nvSpPr>
              <p:spPr>
                <a:xfrm>
                  <a:off x="5660724" y="2424400"/>
                  <a:ext cx="3549015" cy="208915"/>
                </a:xfrm>
                <a:custGeom>
                  <a:avLst/>
                  <a:gdLst/>
                  <a:ahLst/>
                  <a:cxnLst/>
                  <a:rect l="l" t="t" r="r" b="b"/>
                  <a:pathLst>
                    <a:path w="3549015" h="208914">
                      <a:moveTo>
                        <a:pt x="52199" y="208799"/>
                      </a:moveTo>
                      <a:lnTo>
                        <a:pt x="0" y="208799"/>
                      </a:lnTo>
                      <a:lnTo>
                        <a:pt x="0" y="91349"/>
                      </a:lnTo>
                      <a:lnTo>
                        <a:pt x="7057" y="56391"/>
                      </a:lnTo>
                      <a:lnTo>
                        <a:pt x="7178" y="55792"/>
                      </a:lnTo>
                      <a:lnTo>
                        <a:pt x="26755" y="26755"/>
                      </a:lnTo>
                      <a:lnTo>
                        <a:pt x="55792" y="7178"/>
                      </a:lnTo>
                      <a:lnTo>
                        <a:pt x="91349" y="0"/>
                      </a:lnTo>
                      <a:lnTo>
                        <a:pt x="3431549" y="0"/>
                      </a:lnTo>
                      <a:lnTo>
                        <a:pt x="3482231" y="15347"/>
                      </a:lnTo>
                      <a:lnTo>
                        <a:pt x="3513708" y="52199"/>
                      </a:lnTo>
                      <a:lnTo>
                        <a:pt x="91349" y="52199"/>
                      </a:lnTo>
                      <a:lnTo>
                        <a:pt x="76111" y="55276"/>
                      </a:lnTo>
                      <a:lnTo>
                        <a:pt x="63666" y="63666"/>
                      </a:lnTo>
                      <a:lnTo>
                        <a:pt x="55276" y="76111"/>
                      </a:lnTo>
                      <a:lnTo>
                        <a:pt x="52199" y="91349"/>
                      </a:lnTo>
                      <a:lnTo>
                        <a:pt x="52199" y="208799"/>
                      </a:lnTo>
                      <a:close/>
                    </a:path>
                    <a:path w="3549015" h="208914">
                      <a:moveTo>
                        <a:pt x="3522899" y="104399"/>
                      </a:moveTo>
                      <a:lnTo>
                        <a:pt x="3470699" y="104399"/>
                      </a:lnTo>
                      <a:lnTo>
                        <a:pt x="3470699" y="91349"/>
                      </a:lnTo>
                      <a:lnTo>
                        <a:pt x="3467623" y="76111"/>
                      </a:lnTo>
                      <a:lnTo>
                        <a:pt x="3459233" y="63666"/>
                      </a:lnTo>
                      <a:lnTo>
                        <a:pt x="3446788" y="55276"/>
                      </a:lnTo>
                      <a:lnTo>
                        <a:pt x="3431549" y="52199"/>
                      </a:lnTo>
                      <a:lnTo>
                        <a:pt x="3513708" y="52199"/>
                      </a:lnTo>
                      <a:lnTo>
                        <a:pt x="3515946" y="56391"/>
                      </a:lnTo>
                      <a:lnTo>
                        <a:pt x="3521128" y="73445"/>
                      </a:lnTo>
                      <a:lnTo>
                        <a:pt x="3522899" y="91349"/>
                      </a:lnTo>
                      <a:lnTo>
                        <a:pt x="3522899" y="104399"/>
                      </a:lnTo>
                      <a:close/>
                    </a:path>
                    <a:path w="3549015" h="208914">
                      <a:moveTo>
                        <a:pt x="3496799" y="156599"/>
                      </a:moveTo>
                      <a:lnTo>
                        <a:pt x="3444599" y="104399"/>
                      </a:lnTo>
                      <a:lnTo>
                        <a:pt x="3548999" y="104399"/>
                      </a:lnTo>
                      <a:lnTo>
                        <a:pt x="3496799" y="156599"/>
                      </a:lnTo>
                      <a:close/>
                    </a:path>
                  </a:pathLst>
                </a:custGeom>
                <a:solidFill>
                  <a:srgbClr val="BEC0C1"/>
                </a:solidFill>
              </p:spPr>
              <p:txBody>
                <a:bodyPr wrap="square" lIns="0" tIns="0" rIns="0" bIns="0" rtlCol="0"/>
                <a:lstStyle/>
                <a:p>
                  <a:endParaRPr/>
                </a:p>
              </p:txBody>
            </p:sp>
            <p:sp>
              <p:nvSpPr>
                <p:cNvPr id="37" name="object 12">
                  <a:extLst>
                    <a:ext uri="{FF2B5EF4-FFF2-40B4-BE49-F238E27FC236}">
                      <a16:creationId xmlns:a16="http://schemas.microsoft.com/office/drawing/2014/main" id="{D2EBFDEA-7C4E-D003-038E-A97456E78192}"/>
                    </a:ext>
                  </a:extLst>
                </p:cNvPr>
                <p:cNvSpPr/>
                <p:nvPr/>
              </p:nvSpPr>
              <p:spPr>
                <a:xfrm>
                  <a:off x="5660725" y="2424400"/>
                  <a:ext cx="3549015" cy="208915"/>
                </a:xfrm>
                <a:custGeom>
                  <a:avLst/>
                  <a:gdLst/>
                  <a:ahLst/>
                  <a:cxnLst/>
                  <a:rect l="l" t="t" r="r" b="b"/>
                  <a:pathLst>
                    <a:path w="3549015" h="208914">
                      <a:moveTo>
                        <a:pt x="0" y="208799"/>
                      </a:moveTo>
                      <a:lnTo>
                        <a:pt x="0" y="91349"/>
                      </a:lnTo>
                      <a:lnTo>
                        <a:pt x="7178" y="55792"/>
                      </a:lnTo>
                      <a:lnTo>
                        <a:pt x="26755" y="26755"/>
                      </a:lnTo>
                      <a:lnTo>
                        <a:pt x="55792" y="7178"/>
                      </a:lnTo>
                      <a:lnTo>
                        <a:pt x="91349" y="0"/>
                      </a:lnTo>
                      <a:lnTo>
                        <a:pt x="3431549" y="0"/>
                      </a:lnTo>
                      <a:lnTo>
                        <a:pt x="3482231" y="15347"/>
                      </a:lnTo>
                      <a:lnTo>
                        <a:pt x="3515946" y="56391"/>
                      </a:lnTo>
                      <a:lnTo>
                        <a:pt x="3522899" y="91349"/>
                      </a:lnTo>
                      <a:lnTo>
                        <a:pt x="3522899" y="104399"/>
                      </a:lnTo>
                      <a:lnTo>
                        <a:pt x="3548999" y="104399"/>
                      </a:lnTo>
                      <a:lnTo>
                        <a:pt x="3496799" y="156599"/>
                      </a:lnTo>
                      <a:lnTo>
                        <a:pt x="3444599" y="104399"/>
                      </a:lnTo>
                      <a:lnTo>
                        <a:pt x="3470699" y="104399"/>
                      </a:lnTo>
                      <a:lnTo>
                        <a:pt x="3470699" y="91349"/>
                      </a:lnTo>
                      <a:lnTo>
                        <a:pt x="3467623" y="76111"/>
                      </a:lnTo>
                      <a:lnTo>
                        <a:pt x="3459233" y="63666"/>
                      </a:lnTo>
                      <a:lnTo>
                        <a:pt x="3446788" y="55276"/>
                      </a:lnTo>
                      <a:lnTo>
                        <a:pt x="3431549" y="52199"/>
                      </a:lnTo>
                      <a:lnTo>
                        <a:pt x="91349" y="52199"/>
                      </a:lnTo>
                      <a:lnTo>
                        <a:pt x="76111" y="55276"/>
                      </a:lnTo>
                      <a:lnTo>
                        <a:pt x="63666" y="63666"/>
                      </a:lnTo>
                      <a:lnTo>
                        <a:pt x="55276" y="76111"/>
                      </a:lnTo>
                      <a:lnTo>
                        <a:pt x="52199" y="91349"/>
                      </a:lnTo>
                      <a:lnTo>
                        <a:pt x="52199" y="208799"/>
                      </a:lnTo>
                      <a:lnTo>
                        <a:pt x="0" y="208799"/>
                      </a:lnTo>
                      <a:close/>
                    </a:path>
                  </a:pathLst>
                </a:custGeom>
                <a:ln w="9524">
                  <a:solidFill>
                    <a:srgbClr val="0F2044"/>
                  </a:solidFill>
                </a:ln>
              </p:spPr>
              <p:txBody>
                <a:bodyPr wrap="square" lIns="0" tIns="0" rIns="0" bIns="0" rtlCol="0"/>
                <a:lstStyle/>
                <a:p>
                  <a:endParaRPr/>
                </a:p>
              </p:txBody>
            </p:sp>
          </p:grpSp>
          <p:grpSp>
            <p:nvGrpSpPr>
              <p:cNvPr id="32" name="object 13">
                <a:extLst>
                  <a:ext uri="{FF2B5EF4-FFF2-40B4-BE49-F238E27FC236}">
                    <a16:creationId xmlns:a16="http://schemas.microsoft.com/office/drawing/2014/main" id="{8C4576F4-E2A1-812A-E89A-6506E7050393}"/>
                  </a:ext>
                </a:extLst>
              </p:cNvPr>
              <p:cNvGrpSpPr/>
              <p:nvPr/>
            </p:nvGrpSpPr>
            <p:grpSpPr>
              <a:xfrm>
                <a:off x="9296887" y="2419637"/>
                <a:ext cx="1221105" cy="218440"/>
                <a:chOff x="9296887" y="2419637"/>
                <a:chExt cx="1221105" cy="218440"/>
              </a:xfrm>
            </p:grpSpPr>
            <p:sp>
              <p:nvSpPr>
                <p:cNvPr id="34" name="object 14">
                  <a:extLst>
                    <a:ext uri="{FF2B5EF4-FFF2-40B4-BE49-F238E27FC236}">
                      <a16:creationId xmlns:a16="http://schemas.microsoft.com/office/drawing/2014/main" id="{B141FE1F-ABA4-4F09-65EB-4406EAB30C6F}"/>
                    </a:ext>
                  </a:extLst>
                </p:cNvPr>
                <p:cNvSpPr/>
                <p:nvPr/>
              </p:nvSpPr>
              <p:spPr>
                <a:xfrm>
                  <a:off x="9301650" y="2424400"/>
                  <a:ext cx="1211580" cy="208915"/>
                </a:xfrm>
                <a:custGeom>
                  <a:avLst/>
                  <a:gdLst/>
                  <a:ahLst/>
                  <a:cxnLst/>
                  <a:rect l="l" t="t" r="r" b="b"/>
                  <a:pathLst>
                    <a:path w="1211579" h="208914">
                      <a:moveTo>
                        <a:pt x="52199" y="208799"/>
                      </a:moveTo>
                      <a:lnTo>
                        <a:pt x="0" y="208799"/>
                      </a:lnTo>
                      <a:lnTo>
                        <a:pt x="0" y="91349"/>
                      </a:lnTo>
                      <a:lnTo>
                        <a:pt x="26755" y="26755"/>
                      </a:lnTo>
                      <a:lnTo>
                        <a:pt x="91349" y="0"/>
                      </a:lnTo>
                      <a:lnTo>
                        <a:pt x="1093949" y="0"/>
                      </a:lnTo>
                      <a:lnTo>
                        <a:pt x="1144631" y="15347"/>
                      </a:lnTo>
                      <a:lnTo>
                        <a:pt x="1176108" y="52199"/>
                      </a:lnTo>
                      <a:lnTo>
                        <a:pt x="91349" y="52199"/>
                      </a:lnTo>
                      <a:lnTo>
                        <a:pt x="76111" y="55276"/>
                      </a:lnTo>
                      <a:lnTo>
                        <a:pt x="63666" y="63666"/>
                      </a:lnTo>
                      <a:lnTo>
                        <a:pt x="55276" y="76111"/>
                      </a:lnTo>
                      <a:lnTo>
                        <a:pt x="52199" y="91349"/>
                      </a:lnTo>
                      <a:lnTo>
                        <a:pt x="52199" y="208799"/>
                      </a:lnTo>
                      <a:close/>
                    </a:path>
                    <a:path w="1211579" h="208914">
                      <a:moveTo>
                        <a:pt x="1185299" y="104399"/>
                      </a:moveTo>
                      <a:lnTo>
                        <a:pt x="1133099" y="104399"/>
                      </a:lnTo>
                      <a:lnTo>
                        <a:pt x="1133099" y="91349"/>
                      </a:lnTo>
                      <a:lnTo>
                        <a:pt x="1130023" y="76111"/>
                      </a:lnTo>
                      <a:lnTo>
                        <a:pt x="1121633" y="63666"/>
                      </a:lnTo>
                      <a:lnTo>
                        <a:pt x="1109188" y="55276"/>
                      </a:lnTo>
                      <a:lnTo>
                        <a:pt x="1093949" y="52199"/>
                      </a:lnTo>
                      <a:lnTo>
                        <a:pt x="1176108" y="52199"/>
                      </a:lnTo>
                      <a:lnTo>
                        <a:pt x="1178346" y="56391"/>
                      </a:lnTo>
                      <a:lnTo>
                        <a:pt x="1183528" y="73445"/>
                      </a:lnTo>
                      <a:lnTo>
                        <a:pt x="1185299" y="91349"/>
                      </a:lnTo>
                      <a:lnTo>
                        <a:pt x="1185299" y="104399"/>
                      </a:lnTo>
                      <a:close/>
                    </a:path>
                    <a:path w="1211579" h="208914">
                      <a:moveTo>
                        <a:pt x="1159199" y="156599"/>
                      </a:moveTo>
                      <a:lnTo>
                        <a:pt x="1106999" y="104399"/>
                      </a:lnTo>
                      <a:lnTo>
                        <a:pt x="1211399" y="104399"/>
                      </a:lnTo>
                      <a:lnTo>
                        <a:pt x="1159199" y="156599"/>
                      </a:lnTo>
                      <a:close/>
                    </a:path>
                  </a:pathLst>
                </a:custGeom>
                <a:solidFill>
                  <a:srgbClr val="BEC0C1"/>
                </a:solidFill>
              </p:spPr>
              <p:txBody>
                <a:bodyPr wrap="square" lIns="0" tIns="0" rIns="0" bIns="0" rtlCol="0"/>
                <a:lstStyle/>
                <a:p>
                  <a:endParaRPr/>
                </a:p>
              </p:txBody>
            </p:sp>
            <p:sp>
              <p:nvSpPr>
                <p:cNvPr id="35" name="object 15">
                  <a:extLst>
                    <a:ext uri="{FF2B5EF4-FFF2-40B4-BE49-F238E27FC236}">
                      <a16:creationId xmlns:a16="http://schemas.microsoft.com/office/drawing/2014/main" id="{77E85C7B-FF7B-6272-2501-A4681DA9AA65}"/>
                    </a:ext>
                  </a:extLst>
                </p:cNvPr>
                <p:cNvSpPr/>
                <p:nvPr/>
              </p:nvSpPr>
              <p:spPr>
                <a:xfrm>
                  <a:off x="9301650" y="2424400"/>
                  <a:ext cx="1211580" cy="208915"/>
                </a:xfrm>
                <a:custGeom>
                  <a:avLst/>
                  <a:gdLst/>
                  <a:ahLst/>
                  <a:cxnLst/>
                  <a:rect l="l" t="t" r="r" b="b"/>
                  <a:pathLst>
                    <a:path w="1211579" h="208914">
                      <a:moveTo>
                        <a:pt x="0" y="208799"/>
                      </a:moveTo>
                      <a:lnTo>
                        <a:pt x="0" y="91349"/>
                      </a:lnTo>
                      <a:lnTo>
                        <a:pt x="7178" y="55792"/>
                      </a:lnTo>
                      <a:lnTo>
                        <a:pt x="26755" y="26755"/>
                      </a:lnTo>
                      <a:lnTo>
                        <a:pt x="55792" y="7178"/>
                      </a:lnTo>
                      <a:lnTo>
                        <a:pt x="91349" y="0"/>
                      </a:lnTo>
                      <a:lnTo>
                        <a:pt x="1093949" y="0"/>
                      </a:lnTo>
                      <a:lnTo>
                        <a:pt x="1144631" y="15347"/>
                      </a:lnTo>
                      <a:lnTo>
                        <a:pt x="1178346" y="56391"/>
                      </a:lnTo>
                      <a:lnTo>
                        <a:pt x="1185299" y="91349"/>
                      </a:lnTo>
                      <a:lnTo>
                        <a:pt x="1185299" y="104399"/>
                      </a:lnTo>
                      <a:lnTo>
                        <a:pt x="1211399" y="104399"/>
                      </a:lnTo>
                      <a:lnTo>
                        <a:pt x="1159199" y="156599"/>
                      </a:lnTo>
                      <a:lnTo>
                        <a:pt x="1106999" y="104399"/>
                      </a:lnTo>
                      <a:lnTo>
                        <a:pt x="1133099" y="104399"/>
                      </a:lnTo>
                      <a:lnTo>
                        <a:pt x="1133099" y="91349"/>
                      </a:lnTo>
                      <a:lnTo>
                        <a:pt x="1130023" y="76111"/>
                      </a:lnTo>
                      <a:lnTo>
                        <a:pt x="1121633" y="63666"/>
                      </a:lnTo>
                      <a:lnTo>
                        <a:pt x="1109188" y="55276"/>
                      </a:lnTo>
                      <a:lnTo>
                        <a:pt x="1093949" y="52199"/>
                      </a:lnTo>
                      <a:lnTo>
                        <a:pt x="91349" y="52199"/>
                      </a:lnTo>
                      <a:lnTo>
                        <a:pt x="76111" y="55276"/>
                      </a:lnTo>
                      <a:lnTo>
                        <a:pt x="63666" y="63666"/>
                      </a:lnTo>
                      <a:lnTo>
                        <a:pt x="55276" y="76111"/>
                      </a:lnTo>
                      <a:lnTo>
                        <a:pt x="52199" y="91349"/>
                      </a:lnTo>
                      <a:lnTo>
                        <a:pt x="52199" y="208799"/>
                      </a:lnTo>
                      <a:lnTo>
                        <a:pt x="0" y="208799"/>
                      </a:lnTo>
                      <a:close/>
                    </a:path>
                  </a:pathLst>
                </a:custGeom>
                <a:ln w="9524">
                  <a:solidFill>
                    <a:srgbClr val="0F2044"/>
                  </a:solidFill>
                </a:ln>
              </p:spPr>
              <p:txBody>
                <a:bodyPr wrap="square" lIns="0" tIns="0" rIns="0" bIns="0" rtlCol="0"/>
                <a:lstStyle/>
                <a:p>
                  <a:endParaRPr/>
                </a:p>
              </p:txBody>
            </p:sp>
          </p:grpSp>
          <p:pic>
            <p:nvPicPr>
              <p:cNvPr id="33" name="Picture 32">
                <a:extLst>
                  <a:ext uri="{FF2B5EF4-FFF2-40B4-BE49-F238E27FC236}">
                    <a16:creationId xmlns:a16="http://schemas.microsoft.com/office/drawing/2014/main" id="{BAAD9D29-5675-47C3-4CDF-AFF3BE313F30}"/>
                  </a:ext>
                </a:extLst>
              </p:cNvPr>
              <p:cNvPicPr>
                <a:picLocks noChangeAspect="1"/>
              </p:cNvPicPr>
              <p:nvPr/>
            </p:nvPicPr>
            <p:blipFill>
              <a:blip r:embed="rId3"/>
              <a:stretch>
                <a:fillRect/>
              </a:stretch>
            </p:blipFill>
            <p:spPr>
              <a:xfrm>
                <a:off x="434970" y="2819360"/>
                <a:ext cx="10309230" cy="457240"/>
              </a:xfrm>
              <a:prstGeom prst="rect">
                <a:avLst/>
              </a:prstGeom>
            </p:spPr>
          </p:pic>
        </p:grpSp>
        <p:pic>
          <p:nvPicPr>
            <p:cNvPr id="42" name="Picture 41">
              <a:extLst>
                <a:ext uri="{FF2B5EF4-FFF2-40B4-BE49-F238E27FC236}">
                  <a16:creationId xmlns:a16="http://schemas.microsoft.com/office/drawing/2014/main" id="{16753699-42E6-5421-935B-50C198AF536A}"/>
                </a:ext>
              </a:extLst>
            </p:cNvPr>
            <p:cNvPicPr>
              <a:picLocks noChangeAspect="1"/>
            </p:cNvPicPr>
            <p:nvPr/>
          </p:nvPicPr>
          <p:blipFill>
            <a:blip r:embed="rId4"/>
            <a:stretch>
              <a:fillRect/>
            </a:stretch>
          </p:blipFill>
          <p:spPr>
            <a:xfrm>
              <a:off x="5279037" y="4056377"/>
              <a:ext cx="3651821" cy="475529"/>
            </a:xfrm>
            <a:prstGeom prst="rect">
              <a:avLst/>
            </a:prstGeom>
          </p:spPr>
        </p:pic>
      </p:grpSp>
      <p:sp>
        <p:nvSpPr>
          <p:cNvPr id="27" name="object 27"/>
          <p:cNvSpPr txBox="1"/>
          <p:nvPr/>
        </p:nvSpPr>
        <p:spPr>
          <a:xfrm>
            <a:off x="9301650" y="3524324"/>
            <a:ext cx="2570480" cy="1417955"/>
          </a:xfrm>
          <a:prstGeom prst="rect">
            <a:avLst/>
          </a:prstGeom>
          <a:ln w="9524">
            <a:solidFill>
              <a:srgbClr val="000000"/>
            </a:solidFill>
          </a:ln>
        </p:spPr>
        <p:txBody>
          <a:bodyPr vert="horz" wrap="square" lIns="0" tIns="35560" rIns="0" bIns="0" rtlCol="0">
            <a:spAutoFit/>
          </a:bodyPr>
          <a:lstStyle/>
          <a:p>
            <a:pPr marL="85725" marR="139700">
              <a:lnSpc>
                <a:spcPct val="114999"/>
              </a:lnSpc>
              <a:spcBef>
                <a:spcPts val="280"/>
              </a:spcBef>
            </a:pPr>
            <a:r>
              <a:rPr sz="1800" dirty="0">
                <a:latin typeface="Arial MT"/>
                <a:cs typeface="Arial MT"/>
              </a:rPr>
              <a:t>If</a:t>
            </a:r>
            <a:r>
              <a:rPr sz="1800" spc="-25" dirty="0">
                <a:latin typeface="Arial MT"/>
                <a:cs typeface="Arial MT"/>
              </a:rPr>
              <a:t> </a:t>
            </a:r>
            <a:r>
              <a:rPr sz="1800" dirty="0">
                <a:latin typeface="Arial MT"/>
                <a:cs typeface="Arial MT"/>
              </a:rPr>
              <a:t>the</a:t>
            </a:r>
            <a:r>
              <a:rPr sz="1800" spc="-15" dirty="0">
                <a:latin typeface="Arial MT"/>
                <a:cs typeface="Arial MT"/>
              </a:rPr>
              <a:t> </a:t>
            </a:r>
            <a:r>
              <a:rPr sz="1800" dirty="0">
                <a:latin typeface="Arial MT"/>
                <a:cs typeface="Arial MT"/>
              </a:rPr>
              <a:t>fit</a:t>
            </a:r>
            <a:r>
              <a:rPr sz="1800" spc="-15" dirty="0">
                <a:latin typeface="Arial MT"/>
                <a:cs typeface="Arial MT"/>
              </a:rPr>
              <a:t> </a:t>
            </a:r>
            <a:r>
              <a:rPr sz="1800" dirty="0">
                <a:latin typeface="Arial MT"/>
                <a:cs typeface="Arial MT"/>
              </a:rPr>
              <a:t>is</a:t>
            </a:r>
            <a:r>
              <a:rPr sz="1800" spc="-15" dirty="0">
                <a:latin typeface="Arial MT"/>
                <a:cs typeface="Arial MT"/>
              </a:rPr>
              <a:t> </a:t>
            </a:r>
            <a:r>
              <a:rPr sz="1800" dirty="0">
                <a:latin typeface="Arial MT"/>
                <a:cs typeface="Arial MT"/>
              </a:rPr>
              <a:t>not</a:t>
            </a:r>
            <a:r>
              <a:rPr sz="1800" spc="-15" dirty="0">
                <a:latin typeface="Arial MT"/>
                <a:cs typeface="Arial MT"/>
              </a:rPr>
              <a:t> </a:t>
            </a:r>
            <a:r>
              <a:rPr sz="1800" dirty="0">
                <a:latin typeface="Arial MT"/>
                <a:cs typeface="Arial MT"/>
              </a:rPr>
              <a:t>good,</a:t>
            </a:r>
            <a:r>
              <a:rPr sz="1800" spc="-10" dirty="0">
                <a:latin typeface="Arial MT"/>
                <a:cs typeface="Arial MT"/>
              </a:rPr>
              <a:t> </a:t>
            </a:r>
            <a:r>
              <a:rPr sz="1800" spc="-25" dirty="0">
                <a:latin typeface="Arial MT"/>
                <a:cs typeface="Arial MT"/>
              </a:rPr>
              <a:t>an </a:t>
            </a:r>
            <a:r>
              <a:rPr sz="1800" dirty="0">
                <a:latin typeface="Arial MT"/>
                <a:cs typeface="Arial MT"/>
              </a:rPr>
              <a:t>allocator</a:t>
            </a:r>
            <a:r>
              <a:rPr sz="1800" spc="-15" dirty="0">
                <a:latin typeface="Arial MT"/>
                <a:cs typeface="Arial MT"/>
              </a:rPr>
              <a:t> </a:t>
            </a:r>
            <a:r>
              <a:rPr sz="1800" dirty="0">
                <a:latin typeface="Arial MT"/>
                <a:cs typeface="Arial MT"/>
              </a:rPr>
              <a:t>might</a:t>
            </a:r>
            <a:r>
              <a:rPr sz="1800" spc="-15" dirty="0">
                <a:latin typeface="Arial MT"/>
                <a:cs typeface="Arial MT"/>
              </a:rPr>
              <a:t> </a:t>
            </a:r>
            <a:r>
              <a:rPr sz="1800" dirty="0">
                <a:latin typeface="Arial MT"/>
                <a:cs typeface="Arial MT"/>
              </a:rPr>
              <a:t>opt</a:t>
            </a:r>
            <a:r>
              <a:rPr sz="1800" spc="-15" dirty="0">
                <a:latin typeface="Arial MT"/>
                <a:cs typeface="Arial MT"/>
              </a:rPr>
              <a:t> </a:t>
            </a:r>
            <a:r>
              <a:rPr sz="1800" spc="-25" dirty="0">
                <a:latin typeface="Arial MT"/>
                <a:cs typeface="Arial MT"/>
              </a:rPr>
              <a:t>to </a:t>
            </a:r>
            <a:r>
              <a:rPr sz="1800" b="1" i="1" dirty="0">
                <a:latin typeface="Arial"/>
                <a:cs typeface="Arial"/>
              </a:rPr>
              <a:t>split</a:t>
            </a:r>
            <a:r>
              <a:rPr sz="1800" b="1" i="1" spc="-15" dirty="0">
                <a:latin typeface="Arial"/>
                <a:cs typeface="Arial"/>
              </a:rPr>
              <a:t> </a:t>
            </a:r>
            <a:r>
              <a:rPr sz="1800" dirty="0">
                <a:latin typeface="Arial MT"/>
                <a:cs typeface="Arial MT"/>
              </a:rPr>
              <a:t>the</a:t>
            </a:r>
            <a:r>
              <a:rPr sz="1800" spc="-10" dirty="0">
                <a:latin typeface="Arial MT"/>
                <a:cs typeface="Arial MT"/>
              </a:rPr>
              <a:t> </a:t>
            </a:r>
            <a:r>
              <a:rPr sz="1800" dirty="0">
                <a:latin typeface="Arial MT"/>
                <a:cs typeface="Arial MT"/>
              </a:rPr>
              <a:t>free</a:t>
            </a:r>
            <a:r>
              <a:rPr sz="1800" spc="-10" dirty="0">
                <a:latin typeface="Arial MT"/>
                <a:cs typeface="Arial MT"/>
              </a:rPr>
              <a:t> </a:t>
            </a:r>
            <a:r>
              <a:rPr sz="1800" dirty="0">
                <a:latin typeface="Arial MT"/>
                <a:cs typeface="Arial MT"/>
              </a:rPr>
              <a:t>block</a:t>
            </a:r>
            <a:r>
              <a:rPr sz="1800" spc="-10" dirty="0">
                <a:latin typeface="Arial MT"/>
                <a:cs typeface="Arial MT"/>
              </a:rPr>
              <a:t> </a:t>
            </a:r>
            <a:r>
              <a:rPr sz="1800" spc="-20" dirty="0">
                <a:latin typeface="Arial MT"/>
                <a:cs typeface="Arial MT"/>
              </a:rPr>
              <a:t>into </a:t>
            </a:r>
            <a:r>
              <a:rPr sz="1800" dirty="0">
                <a:latin typeface="Arial MT"/>
                <a:cs typeface="Arial MT"/>
              </a:rPr>
              <a:t>two</a:t>
            </a:r>
            <a:r>
              <a:rPr sz="1800" spc="-15" dirty="0">
                <a:latin typeface="Arial MT"/>
                <a:cs typeface="Arial MT"/>
              </a:rPr>
              <a:t> </a:t>
            </a:r>
            <a:r>
              <a:rPr sz="1800" spc="-10" dirty="0">
                <a:latin typeface="Arial MT"/>
                <a:cs typeface="Arial MT"/>
              </a:rPr>
              <a:t>parts</a:t>
            </a:r>
            <a:endParaRPr sz="1800" dirty="0">
              <a:latin typeface="Arial MT"/>
              <a:cs typeface="Arial MT"/>
            </a:endParaRPr>
          </a:p>
        </p:txBody>
      </p:sp>
      <p:sp>
        <p:nvSpPr>
          <p:cNvPr id="3" name="object 16">
            <a:extLst>
              <a:ext uri="{FF2B5EF4-FFF2-40B4-BE49-F238E27FC236}">
                <a16:creationId xmlns:a16="http://schemas.microsoft.com/office/drawing/2014/main" id="{CD832D7B-232F-2731-F9E6-69DF5FF088B8}"/>
              </a:ext>
            </a:extLst>
          </p:cNvPr>
          <p:cNvSpPr txBox="1"/>
          <p:nvPr/>
        </p:nvSpPr>
        <p:spPr>
          <a:xfrm>
            <a:off x="3924300" y="5867400"/>
            <a:ext cx="4343400" cy="320601"/>
          </a:xfrm>
          <a:prstGeom prst="rect">
            <a:avLst/>
          </a:prstGeom>
        </p:spPr>
        <p:txBody>
          <a:bodyPr vert="horz" wrap="square" lIns="0" tIns="12700" rIns="0" bIns="0" rtlCol="0">
            <a:spAutoFit/>
          </a:bodyPr>
          <a:lstStyle/>
          <a:p>
            <a:pPr marL="12700">
              <a:lnSpc>
                <a:spcPct val="100000"/>
              </a:lnSpc>
              <a:spcBef>
                <a:spcPts val="100"/>
              </a:spcBef>
            </a:pPr>
            <a:r>
              <a:rPr lang="en-US" sz="2000" b="1" dirty="0">
                <a:solidFill>
                  <a:srgbClr val="980000"/>
                </a:solidFill>
                <a:latin typeface="Arial"/>
                <a:cs typeface="Arial"/>
              </a:rPr>
              <a:t>What happens if we now free p0</a:t>
            </a:r>
            <a:r>
              <a:rPr sz="2000" b="1" spc="-10" dirty="0">
                <a:solidFill>
                  <a:srgbClr val="980000"/>
                </a:solidFill>
                <a:latin typeface="Arial"/>
                <a:cs typeface="Arial"/>
              </a:rPr>
              <a:t>?</a:t>
            </a:r>
            <a:endParaRPr sz="2000" dirty="0">
              <a:latin typeface="Arial"/>
              <a:cs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Implicit</a:t>
            </a:r>
            <a:r>
              <a:rPr spc="-100" dirty="0"/>
              <a:t> </a:t>
            </a:r>
            <a:r>
              <a:rPr dirty="0"/>
              <a:t>Free</a:t>
            </a:r>
            <a:r>
              <a:rPr spc="-100" dirty="0"/>
              <a:t> </a:t>
            </a:r>
            <a:r>
              <a:rPr spc="-20" dirty="0"/>
              <a:t>List</a:t>
            </a:r>
          </a:p>
        </p:txBody>
      </p:sp>
      <p:grpSp>
        <p:nvGrpSpPr>
          <p:cNvPr id="69" name="Group 68" descr="A sequence showing the state of memory after a block is split, with the newly allocated block highlighted in red and the remaining free portion in green.">
            <a:extLst>
              <a:ext uri="{FF2B5EF4-FFF2-40B4-BE49-F238E27FC236}">
                <a16:creationId xmlns:a16="http://schemas.microsoft.com/office/drawing/2014/main" id="{DA1B34DB-0D0C-554F-6DE1-06BCCA829487}"/>
              </a:ext>
            </a:extLst>
          </p:cNvPr>
          <p:cNvGrpSpPr/>
          <p:nvPr/>
        </p:nvGrpSpPr>
        <p:grpSpPr>
          <a:xfrm>
            <a:off x="434970" y="2419637"/>
            <a:ext cx="10309230" cy="2801418"/>
            <a:chOff x="434970" y="2419637"/>
            <a:chExt cx="10309230" cy="2801418"/>
          </a:xfrm>
        </p:grpSpPr>
        <p:grpSp>
          <p:nvGrpSpPr>
            <p:cNvPr id="66" name="Group 65">
              <a:extLst>
                <a:ext uri="{FF2B5EF4-FFF2-40B4-BE49-F238E27FC236}">
                  <a16:creationId xmlns:a16="http://schemas.microsoft.com/office/drawing/2014/main" id="{C9F7B946-EB54-BFA3-EA59-73B91688E0B5}"/>
                </a:ext>
              </a:extLst>
            </p:cNvPr>
            <p:cNvGrpSpPr/>
            <p:nvPr/>
          </p:nvGrpSpPr>
          <p:grpSpPr>
            <a:xfrm>
              <a:off x="434970" y="2419637"/>
              <a:ext cx="10309230" cy="2801418"/>
              <a:chOff x="434970" y="2419637"/>
              <a:chExt cx="10309230" cy="2801418"/>
            </a:xfrm>
          </p:grpSpPr>
          <p:sp>
            <p:nvSpPr>
              <p:cNvPr id="21" name="object 21"/>
              <p:cNvSpPr txBox="1"/>
              <p:nvPr/>
            </p:nvSpPr>
            <p:spPr>
              <a:xfrm>
                <a:off x="7327550" y="3521796"/>
                <a:ext cx="818230" cy="259045"/>
              </a:xfrm>
              <a:prstGeom prst="rect">
                <a:avLst/>
              </a:prstGeom>
            </p:spPr>
            <p:txBody>
              <a:bodyPr vert="horz" wrap="square" lIns="0" tIns="12700" rIns="0" bIns="0" rtlCol="0">
                <a:spAutoFit/>
              </a:bodyPr>
              <a:lstStyle/>
              <a:p>
                <a:pPr marL="12700">
                  <a:lnSpc>
                    <a:spcPct val="100000"/>
                  </a:lnSpc>
                  <a:spcBef>
                    <a:spcPts val="100"/>
                  </a:spcBef>
                </a:pPr>
                <a:r>
                  <a:rPr sz="1600" spc="-10" dirty="0">
                    <a:solidFill>
                      <a:srgbClr val="0F2044"/>
                    </a:solidFill>
                    <a:latin typeface="Arial MT"/>
                    <a:cs typeface="Arial MT"/>
                  </a:rPr>
                  <a:t>splitting</a:t>
                </a:r>
                <a:endParaRPr sz="1600" dirty="0">
                  <a:latin typeface="Arial MT"/>
                  <a:cs typeface="Arial MT"/>
                </a:endParaRPr>
              </a:p>
            </p:txBody>
          </p:sp>
          <p:sp>
            <p:nvSpPr>
              <p:cNvPr id="23" name="object 23"/>
              <p:cNvSpPr txBox="1"/>
              <p:nvPr/>
            </p:nvSpPr>
            <p:spPr>
              <a:xfrm>
                <a:off x="3260550" y="4820630"/>
                <a:ext cx="927100"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980000"/>
                    </a:solidFill>
                    <a:latin typeface="Arial"/>
                    <a:cs typeface="Arial"/>
                  </a:rPr>
                  <a:t>free</a:t>
                </a:r>
                <a:r>
                  <a:rPr sz="1800" b="1" spc="-20" dirty="0">
                    <a:solidFill>
                      <a:srgbClr val="980000"/>
                    </a:solidFill>
                    <a:latin typeface="Arial"/>
                    <a:cs typeface="Arial"/>
                  </a:rPr>
                  <a:t> (p0)</a:t>
                </a:r>
                <a:endParaRPr sz="1800" dirty="0">
                  <a:latin typeface="Arial"/>
                  <a:cs typeface="Arial"/>
                </a:endParaRPr>
              </a:p>
            </p:txBody>
          </p:sp>
          <p:sp>
            <p:nvSpPr>
              <p:cNvPr id="25" name="object 25"/>
              <p:cNvSpPr/>
              <p:nvPr/>
            </p:nvSpPr>
            <p:spPr>
              <a:xfrm>
                <a:off x="4398924" y="4987599"/>
                <a:ext cx="720090" cy="5080"/>
              </a:xfrm>
              <a:custGeom>
                <a:avLst/>
                <a:gdLst/>
                <a:ahLst/>
                <a:cxnLst/>
                <a:rect l="l" t="t" r="r" b="b"/>
                <a:pathLst>
                  <a:path w="720089" h="5079">
                    <a:moveTo>
                      <a:pt x="0" y="0"/>
                    </a:moveTo>
                    <a:lnTo>
                      <a:pt x="719851" y="4724"/>
                    </a:lnTo>
                  </a:path>
                </a:pathLst>
              </a:custGeom>
              <a:ln w="12700">
                <a:solidFill>
                  <a:srgbClr val="980000"/>
                </a:solidFill>
                <a:tailEnd type="triangle"/>
              </a:ln>
            </p:spPr>
            <p:txBody>
              <a:bodyPr wrap="square" lIns="0" tIns="0" rIns="0" bIns="0" rtlCol="0"/>
              <a:lstStyle/>
              <a:p>
                <a:endParaRPr/>
              </a:p>
            </p:txBody>
          </p:sp>
          <p:sp>
            <p:nvSpPr>
              <p:cNvPr id="32" name="object 32"/>
              <p:cNvSpPr txBox="1"/>
              <p:nvPr/>
            </p:nvSpPr>
            <p:spPr>
              <a:xfrm>
                <a:off x="457200" y="3822481"/>
                <a:ext cx="1917700" cy="1249637"/>
              </a:xfrm>
              <a:prstGeom prst="rect">
                <a:avLst/>
              </a:prstGeom>
            </p:spPr>
            <p:txBody>
              <a:bodyPr vert="horz" wrap="square" lIns="0" tIns="12700" rIns="0" bIns="0" rtlCol="0">
                <a:spAutoFit/>
              </a:bodyPr>
              <a:lstStyle/>
              <a:p>
                <a:pPr marL="12700" marR="5080">
                  <a:lnSpc>
                    <a:spcPct val="114000"/>
                  </a:lnSpc>
                  <a:spcBef>
                    <a:spcPts val="100"/>
                  </a:spcBef>
                </a:pPr>
                <a:r>
                  <a:rPr sz="1800" dirty="0">
                    <a:solidFill>
                      <a:srgbClr val="0F2044"/>
                    </a:solidFill>
                    <a:latin typeface="Arial MT"/>
                    <a:cs typeface="Arial MT"/>
                  </a:rPr>
                  <a:t>How</a:t>
                </a:r>
                <a:r>
                  <a:rPr sz="1800" spc="-30" dirty="0">
                    <a:solidFill>
                      <a:srgbClr val="0F2044"/>
                    </a:solidFill>
                    <a:latin typeface="Arial MT"/>
                    <a:cs typeface="Arial MT"/>
                  </a:rPr>
                  <a:t> </a:t>
                </a:r>
                <a:r>
                  <a:rPr sz="1800" dirty="0">
                    <a:solidFill>
                      <a:srgbClr val="0F2044"/>
                    </a:solidFill>
                    <a:latin typeface="Arial MT"/>
                    <a:cs typeface="Arial MT"/>
                  </a:rPr>
                  <a:t>much</a:t>
                </a:r>
                <a:r>
                  <a:rPr sz="1800" spc="-15" dirty="0">
                    <a:solidFill>
                      <a:srgbClr val="0F2044"/>
                    </a:solidFill>
                    <a:latin typeface="Arial MT"/>
                    <a:cs typeface="Arial MT"/>
                  </a:rPr>
                  <a:t> </a:t>
                </a:r>
                <a:r>
                  <a:rPr sz="1800" spc="-10" dirty="0">
                    <a:solidFill>
                      <a:srgbClr val="0F2044"/>
                    </a:solidFill>
                    <a:latin typeface="Arial MT"/>
                    <a:cs typeface="Arial MT"/>
                  </a:rPr>
                  <a:t>internal </a:t>
                </a:r>
                <a:r>
                  <a:rPr sz="1800" dirty="0">
                    <a:solidFill>
                      <a:srgbClr val="0F2044"/>
                    </a:solidFill>
                    <a:latin typeface="Arial MT"/>
                    <a:cs typeface="Arial MT"/>
                  </a:rPr>
                  <a:t>fragmentation</a:t>
                </a:r>
                <a:r>
                  <a:rPr sz="1800" spc="-65" dirty="0">
                    <a:solidFill>
                      <a:srgbClr val="0F2044"/>
                    </a:solidFill>
                    <a:latin typeface="Arial MT"/>
                    <a:cs typeface="Arial MT"/>
                  </a:rPr>
                  <a:t> </a:t>
                </a:r>
                <a:r>
                  <a:rPr sz="1800" spc="-25" dirty="0">
                    <a:solidFill>
                      <a:srgbClr val="0F2044"/>
                    </a:solidFill>
                    <a:latin typeface="Arial MT"/>
                    <a:cs typeface="Arial MT"/>
                  </a:rPr>
                  <a:t>are </a:t>
                </a:r>
                <a:r>
                  <a:rPr sz="1800" dirty="0">
                    <a:solidFill>
                      <a:srgbClr val="0F2044"/>
                    </a:solidFill>
                    <a:latin typeface="Arial MT"/>
                    <a:cs typeface="Arial MT"/>
                  </a:rPr>
                  <a:t>we</a:t>
                </a:r>
                <a:r>
                  <a:rPr sz="1800" spc="-25" dirty="0">
                    <a:solidFill>
                      <a:srgbClr val="0F2044"/>
                    </a:solidFill>
                    <a:latin typeface="Arial MT"/>
                    <a:cs typeface="Arial MT"/>
                  </a:rPr>
                  <a:t> </a:t>
                </a:r>
                <a:r>
                  <a:rPr sz="1800" dirty="0">
                    <a:solidFill>
                      <a:srgbClr val="0F2044"/>
                    </a:solidFill>
                    <a:latin typeface="Arial MT"/>
                    <a:cs typeface="Arial MT"/>
                  </a:rPr>
                  <a:t>willing</a:t>
                </a:r>
                <a:r>
                  <a:rPr sz="1800" spc="-20" dirty="0">
                    <a:solidFill>
                      <a:srgbClr val="0F2044"/>
                    </a:solidFill>
                    <a:latin typeface="Arial MT"/>
                    <a:cs typeface="Arial MT"/>
                  </a:rPr>
                  <a:t> </a:t>
                </a:r>
                <a:r>
                  <a:rPr sz="1800" spc="-25" dirty="0">
                    <a:solidFill>
                      <a:srgbClr val="0F2044"/>
                    </a:solidFill>
                    <a:latin typeface="Arial MT"/>
                    <a:cs typeface="Arial MT"/>
                  </a:rPr>
                  <a:t>to </a:t>
                </a:r>
                <a:r>
                  <a:rPr sz="1800" spc="-10" dirty="0">
                    <a:solidFill>
                      <a:srgbClr val="0F2044"/>
                    </a:solidFill>
                    <a:latin typeface="Arial MT"/>
                    <a:cs typeface="Arial MT"/>
                  </a:rPr>
                  <a:t>tolerate?</a:t>
                </a:r>
                <a:endParaRPr sz="1800" dirty="0">
                  <a:latin typeface="Arial MT"/>
                  <a:cs typeface="Arial MT"/>
                </a:endParaRPr>
              </a:p>
            </p:txBody>
          </p:sp>
          <p:grpSp>
            <p:nvGrpSpPr>
              <p:cNvPr id="48" name="Group 47">
                <a:extLst>
                  <a:ext uri="{FF2B5EF4-FFF2-40B4-BE49-F238E27FC236}">
                    <a16:creationId xmlns:a16="http://schemas.microsoft.com/office/drawing/2014/main" id="{D747D0FE-71B2-43FF-1B29-AAF283F2925B}"/>
                  </a:ext>
                </a:extLst>
              </p:cNvPr>
              <p:cNvGrpSpPr/>
              <p:nvPr/>
            </p:nvGrpSpPr>
            <p:grpSpPr>
              <a:xfrm>
                <a:off x="434970" y="2419637"/>
                <a:ext cx="10309230" cy="856963"/>
                <a:chOff x="434970" y="2419637"/>
                <a:chExt cx="10309230" cy="856963"/>
              </a:xfrm>
            </p:grpSpPr>
            <p:grpSp>
              <p:nvGrpSpPr>
                <p:cNvPr id="49" name="object 4">
                  <a:extLst>
                    <a:ext uri="{FF2B5EF4-FFF2-40B4-BE49-F238E27FC236}">
                      <a16:creationId xmlns:a16="http://schemas.microsoft.com/office/drawing/2014/main" id="{0395F95B-42A0-B179-8C59-3AC00F3AB20D}"/>
                    </a:ext>
                  </a:extLst>
                </p:cNvPr>
                <p:cNvGrpSpPr/>
                <p:nvPr/>
              </p:nvGrpSpPr>
              <p:grpSpPr>
                <a:xfrm>
                  <a:off x="649112" y="2419637"/>
                  <a:ext cx="2482850" cy="218440"/>
                  <a:chOff x="649112" y="2419637"/>
                  <a:chExt cx="2482850" cy="218440"/>
                </a:xfrm>
              </p:grpSpPr>
              <p:sp>
                <p:nvSpPr>
                  <p:cNvPr id="60" name="object 5">
                    <a:extLst>
                      <a:ext uri="{FF2B5EF4-FFF2-40B4-BE49-F238E27FC236}">
                        <a16:creationId xmlns:a16="http://schemas.microsoft.com/office/drawing/2014/main" id="{9D91CA91-FC83-9D14-AAD4-AC9F11B09F57}"/>
                      </a:ext>
                    </a:extLst>
                  </p:cNvPr>
                  <p:cNvSpPr/>
                  <p:nvPr/>
                </p:nvSpPr>
                <p:spPr>
                  <a:xfrm>
                    <a:off x="653875" y="2424400"/>
                    <a:ext cx="2473325" cy="208915"/>
                  </a:xfrm>
                  <a:custGeom>
                    <a:avLst/>
                    <a:gdLst/>
                    <a:ahLst/>
                    <a:cxnLst/>
                    <a:rect l="l" t="t" r="r" b="b"/>
                    <a:pathLst>
                      <a:path w="2473325" h="208914">
                        <a:moveTo>
                          <a:pt x="52199" y="208799"/>
                        </a:moveTo>
                        <a:lnTo>
                          <a:pt x="0" y="208799"/>
                        </a:lnTo>
                        <a:lnTo>
                          <a:pt x="0" y="91349"/>
                        </a:lnTo>
                        <a:lnTo>
                          <a:pt x="26755" y="26755"/>
                        </a:lnTo>
                        <a:lnTo>
                          <a:pt x="91349" y="0"/>
                        </a:lnTo>
                        <a:lnTo>
                          <a:pt x="2355749" y="0"/>
                        </a:lnTo>
                        <a:lnTo>
                          <a:pt x="2406430" y="15347"/>
                        </a:lnTo>
                        <a:lnTo>
                          <a:pt x="2437908" y="52199"/>
                        </a:lnTo>
                        <a:lnTo>
                          <a:pt x="91349" y="52199"/>
                        </a:lnTo>
                        <a:lnTo>
                          <a:pt x="76111" y="55276"/>
                        </a:lnTo>
                        <a:lnTo>
                          <a:pt x="63666" y="63666"/>
                        </a:lnTo>
                        <a:lnTo>
                          <a:pt x="55276" y="76111"/>
                        </a:lnTo>
                        <a:lnTo>
                          <a:pt x="52199" y="91349"/>
                        </a:lnTo>
                        <a:lnTo>
                          <a:pt x="52199" y="208799"/>
                        </a:lnTo>
                        <a:close/>
                      </a:path>
                      <a:path w="2473325" h="208914">
                        <a:moveTo>
                          <a:pt x="2447099" y="104399"/>
                        </a:moveTo>
                        <a:lnTo>
                          <a:pt x="2394899" y="104399"/>
                        </a:lnTo>
                        <a:lnTo>
                          <a:pt x="2394899" y="91349"/>
                        </a:lnTo>
                        <a:lnTo>
                          <a:pt x="2391823" y="76111"/>
                        </a:lnTo>
                        <a:lnTo>
                          <a:pt x="2383433" y="63666"/>
                        </a:lnTo>
                        <a:lnTo>
                          <a:pt x="2370988" y="55276"/>
                        </a:lnTo>
                        <a:lnTo>
                          <a:pt x="2355749" y="52199"/>
                        </a:lnTo>
                        <a:lnTo>
                          <a:pt x="2437908" y="52199"/>
                        </a:lnTo>
                        <a:lnTo>
                          <a:pt x="2440146" y="56391"/>
                        </a:lnTo>
                        <a:lnTo>
                          <a:pt x="2445328" y="73445"/>
                        </a:lnTo>
                        <a:lnTo>
                          <a:pt x="2447099" y="91349"/>
                        </a:lnTo>
                        <a:lnTo>
                          <a:pt x="2447099" y="104399"/>
                        </a:lnTo>
                        <a:close/>
                      </a:path>
                      <a:path w="2473325" h="208914">
                        <a:moveTo>
                          <a:pt x="2420999" y="156599"/>
                        </a:moveTo>
                        <a:lnTo>
                          <a:pt x="2368799" y="104399"/>
                        </a:lnTo>
                        <a:lnTo>
                          <a:pt x="2473199" y="104399"/>
                        </a:lnTo>
                        <a:lnTo>
                          <a:pt x="2420999" y="156599"/>
                        </a:lnTo>
                        <a:close/>
                      </a:path>
                    </a:pathLst>
                  </a:custGeom>
                  <a:solidFill>
                    <a:srgbClr val="BEC0C1"/>
                  </a:solidFill>
                </p:spPr>
                <p:txBody>
                  <a:bodyPr wrap="square" lIns="0" tIns="0" rIns="0" bIns="0" rtlCol="0"/>
                  <a:lstStyle/>
                  <a:p>
                    <a:endParaRPr/>
                  </a:p>
                </p:txBody>
              </p:sp>
              <p:sp>
                <p:nvSpPr>
                  <p:cNvPr id="61" name="object 6">
                    <a:extLst>
                      <a:ext uri="{FF2B5EF4-FFF2-40B4-BE49-F238E27FC236}">
                        <a16:creationId xmlns:a16="http://schemas.microsoft.com/office/drawing/2014/main" id="{5037DBEE-ECBC-E2D3-842D-493D1D63F0AE}"/>
                      </a:ext>
                    </a:extLst>
                  </p:cNvPr>
                  <p:cNvSpPr/>
                  <p:nvPr/>
                </p:nvSpPr>
                <p:spPr>
                  <a:xfrm>
                    <a:off x="653875" y="2424400"/>
                    <a:ext cx="2473325" cy="208915"/>
                  </a:xfrm>
                  <a:custGeom>
                    <a:avLst/>
                    <a:gdLst/>
                    <a:ahLst/>
                    <a:cxnLst/>
                    <a:rect l="l" t="t" r="r" b="b"/>
                    <a:pathLst>
                      <a:path w="2473325" h="208914">
                        <a:moveTo>
                          <a:pt x="0" y="208799"/>
                        </a:moveTo>
                        <a:lnTo>
                          <a:pt x="0" y="91349"/>
                        </a:lnTo>
                        <a:lnTo>
                          <a:pt x="7178" y="55792"/>
                        </a:lnTo>
                        <a:lnTo>
                          <a:pt x="26755" y="26755"/>
                        </a:lnTo>
                        <a:lnTo>
                          <a:pt x="55792" y="7178"/>
                        </a:lnTo>
                        <a:lnTo>
                          <a:pt x="91349" y="0"/>
                        </a:lnTo>
                        <a:lnTo>
                          <a:pt x="2355749" y="0"/>
                        </a:lnTo>
                        <a:lnTo>
                          <a:pt x="2406430" y="15347"/>
                        </a:lnTo>
                        <a:lnTo>
                          <a:pt x="2440146" y="56391"/>
                        </a:lnTo>
                        <a:lnTo>
                          <a:pt x="2447099" y="91349"/>
                        </a:lnTo>
                        <a:lnTo>
                          <a:pt x="2447099" y="104399"/>
                        </a:lnTo>
                        <a:lnTo>
                          <a:pt x="2473199" y="104399"/>
                        </a:lnTo>
                        <a:lnTo>
                          <a:pt x="2420999" y="156599"/>
                        </a:lnTo>
                        <a:lnTo>
                          <a:pt x="2368799" y="104399"/>
                        </a:lnTo>
                        <a:lnTo>
                          <a:pt x="2394899" y="104399"/>
                        </a:lnTo>
                        <a:lnTo>
                          <a:pt x="2394899" y="91349"/>
                        </a:lnTo>
                        <a:lnTo>
                          <a:pt x="2391823" y="76111"/>
                        </a:lnTo>
                        <a:lnTo>
                          <a:pt x="2383433" y="63666"/>
                        </a:lnTo>
                        <a:lnTo>
                          <a:pt x="2370988" y="55276"/>
                        </a:lnTo>
                        <a:lnTo>
                          <a:pt x="2355749" y="52199"/>
                        </a:lnTo>
                        <a:lnTo>
                          <a:pt x="91349" y="52199"/>
                        </a:lnTo>
                        <a:lnTo>
                          <a:pt x="76111" y="55276"/>
                        </a:lnTo>
                        <a:lnTo>
                          <a:pt x="63666" y="63666"/>
                        </a:lnTo>
                        <a:lnTo>
                          <a:pt x="55276" y="76111"/>
                        </a:lnTo>
                        <a:lnTo>
                          <a:pt x="52199" y="91349"/>
                        </a:lnTo>
                        <a:lnTo>
                          <a:pt x="52199" y="208799"/>
                        </a:lnTo>
                        <a:lnTo>
                          <a:pt x="0" y="208799"/>
                        </a:lnTo>
                        <a:close/>
                      </a:path>
                    </a:pathLst>
                  </a:custGeom>
                  <a:ln w="9524">
                    <a:solidFill>
                      <a:srgbClr val="0F2044"/>
                    </a:solidFill>
                  </a:ln>
                </p:spPr>
                <p:txBody>
                  <a:bodyPr wrap="square" lIns="0" tIns="0" rIns="0" bIns="0" rtlCol="0"/>
                  <a:lstStyle/>
                  <a:p>
                    <a:endParaRPr/>
                  </a:p>
                </p:txBody>
              </p:sp>
            </p:grpSp>
            <p:grpSp>
              <p:nvGrpSpPr>
                <p:cNvPr id="50" name="object 7">
                  <a:extLst>
                    <a:ext uri="{FF2B5EF4-FFF2-40B4-BE49-F238E27FC236}">
                      <a16:creationId xmlns:a16="http://schemas.microsoft.com/office/drawing/2014/main" id="{20E7D700-5EDA-7809-1131-CA6FC61C1D94}"/>
                    </a:ext>
                  </a:extLst>
                </p:cNvPr>
                <p:cNvGrpSpPr/>
                <p:nvPr/>
              </p:nvGrpSpPr>
              <p:grpSpPr>
                <a:xfrm>
                  <a:off x="3182762" y="2419637"/>
                  <a:ext cx="2347595" cy="218440"/>
                  <a:chOff x="3182762" y="2419637"/>
                  <a:chExt cx="2347595" cy="218440"/>
                </a:xfrm>
              </p:grpSpPr>
              <p:sp>
                <p:nvSpPr>
                  <p:cNvPr id="58" name="object 8">
                    <a:extLst>
                      <a:ext uri="{FF2B5EF4-FFF2-40B4-BE49-F238E27FC236}">
                        <a16:creationId xmlns:a16="http://schemas.microsoft.com/office/drawing/2014/main" id="{8F1F0C79-8E3A-7BA5-057A-75B8B8A54EF3}"/>
                      </a:ext>
                    </a:extLst>
                  </p:cNvPr>
                  <p:cNvSpPr/>
                  <p:nvPr/>
                </p:nvSpPr>
                <p:spPr>
                  <a:xfrm>
                    <a:off x="3187524" y="2424400"/>
                    <a:ext cx="2338070" cy="208915"/>
                  </a:xfrm>
                  <a:custGeom>
                    <a:avLst/>
                    <a:gdLst/>
                    <a:ahLst/>
                    <a:cxnLst/>
                    <a:rect l="l" t="t" r="r" b="b"/>
                    <a:pathLst>
                      <a:path w="2338070" h="208914">
                        <a:moveTo>
                          <a:pt x="52199" y="208799"/>
                        </a:moveTo>
                        <a:lnTo>
                          <a:pt x="0" y="208799"/>
                        </a:lnTo>
                        <a:lnTo>
                          <a:pt x="0" y="91349"/>
                        </a:lnTo>
                        <a:lnTo>
                          <a:pt x="7057" y="56391"/>
                        </a:lnTo>
                        <a:lnTo>
                          <a:pt x="7178" y="55792"/>
                        </a:lnTo>
                        <a:lnTo>
                          <a:pt x="26755" y="26755"/>
                        </a:lnTo>
                        <a:lnTo>
                          <a:pt x="55792" y="7178"/>
                        </a:lnTo>
                        <a:lnTo>
                          <a:pt x="91349" y="0"/>
                        </a:lnTo>
                        <a:lnTo>
                          <a:pt x="2220149" y="0"/>
                        </a:lnTo>
                        <a:lnTo>
                          <a:pt x="2270831" y="15347"/>
                        </a:lnTo>
                        <a:lnTo>
                          <a:pt x="2302308" y="52199"/>
                        </a:lnTo>
                        <a:lnTo>
                          <a:pt x="91349" y="52199"/>
                        </a:lnTo>
                        <a:lnTo>
                          <a:pt x="76111" y="55276"/>
                        </a:lnTo>
                        <a:lnTo>
                          <a:pt x="63666" y="63666"/>
                        </a:lnTo>
                        <a:lnTo>
                          <a:pt x="55276" y="76111"/>
                        </a:lnTo>
                        <a:lnTo>
                          <a:pt x="52199" y="91349"/>
                        </a:lnTo>
                        <a:lnTo>
                          <a:pt x="52199" y="208799"/>
                        </a:lnTo>
                        <a:close/>
                      </a:path>
                      <a:path w="2338070" h="208914">
                        <a:moveTo>
                          <a:pt x="2311499" y="104399"/>
                        </a:moveTo>
                        <a:lnTo>
                          <a:pt x="2259299" y="104399"/>
                        </a:lnTo>
                        <a:lnTo>
                          <a:pt x="2259299" y="91349"/>
                        </a:lnTo>
                        <a:lnTo>
                          <a:pt x="2256223" y="76111"/>
                        </a:lnTo>
                        <a:lnTo>
                          <a:pt x="2247833" y="63666"/>
                        </a:lnTo>
                        <a:lnTo>
                          <a:pt x="2235388" y="55276"/>
                        </a:lnTo>
                        <a:lnTo>
                          <a:pt x="2220149" y="52199"/>
                        </a:lnTo>
                        <a:lnTo>
                          <a:pt x="2302308" y="52199"/>
                        </a:lnTo>
                        <a:lnTo>
                          <a:pt x="2304546" y="56391"/>
                        </a:lnTo>
                        <a:lnTo>
                          <a:pt x="2309728" y="73445"/>
                        </a:lnTo>
                        <a:lnTo>
                          <a:pt x="2311499" y="91349"/>
                        </a:lnTo>
                        <a:lnTo>
                          <a:pt x="2311499" y="104399"/>
                        </a:lnTo>
                        <a:close/>
                      </a:path>
                      <a:path w="2338070" h="208914">
                        <a:moveTo>
                          <a:pt x="2285399" y="156599"/>
                        </a:moveTo>
                        <a:lnTo>
                          <a:pt x="2233199" y="104399"/>
                        </a:lnTo>
                        <a:lnTo>
                          <a:pt x="2337599" y="104399"/>
                        </a:lnTo>
                        <a:lnTo>
                          <a:pt x="2285399" y="156599"/>
                        </a:lnTo>
                        <a:close/>
                      </a:path>
                    </a:pathLst>
                  </a:custGeom>
                  <a:solidFill>
                    <a:srgbClr val="BEC0C1"/>
                  </a:solidFill>
                </p:spPr>
                <p:txBody>
                  <a:bodyPr wrap="square" lIns="0" tIns="0" rIns="0" bIns="0" rtlCol="0"/>
                  <a:lstStyle/>
                  <a:p>
                    <a:endParaRPr/>
                  </a:p>
                </p:txBody>
              </p:sp>
              <p:sp>
                <p:nvSpPr>
                  <p:cNvPr id="59" name="object 9">
                    <a:extLst>
                      <a:ext uri="{FF2B5EF4-FFF2-40B4-BE49-F238E27FC236}">
                        <a16:creationId xmlns:a16="http://schemas.microsoft.com/office/drawing/2014/main" id="{8296A08F-A244-6649-E3BA-BF221E8CC83B}"/>
                      </a:ext>
                    </a:extLst>
                  </p:cNvPr>
                  <p:cNvSpPr/>
                  <p:nvPr/>
                </p:nvSpPr>
                <p:spPr>
                  <a:xfrm>
                    <a:off x="3187525" y="2424400"/>
                    <a:ext cx="2338070" cy="208915"/>
                  </a:xfrm>
                  <a:custGeom>
                    <a:avLst/>
                    <a:gdLst/>
                    <a:ahLst/>
                    <a:cxnLst/>
                    <a:rect l="l" t="t" r="r" b="b"/>
                    <a:pathLst>
                      <a:path w="2338070" h="208914">
                        <a:moveTo>
                          <a:pt x="0" y="208799"/>
                        </a:moveTo>
                        <a:lnTo>
                          <a:pt x="0" y="91349"/>
                        </a:lnTo>
                        <a:lnTo>
                          <a:pt x="7178" y="55792"/>
                        </a:lnTo>
                        <a:lnTo>
                          <a:pt x="26755" y="26755"/>
                        </a:lnTo>
                        <a:lnTo>
                          <a:pt x="55792" y="7178"/>
                        </a:lnTo>
                        <a:lnTo>
                          <a:pt x="91349" y="0"/>
                        </a:lnTo>
                        <a:lnTo>
                          <a:pt x="2220149" y="0"/>
                        </a:lnTo>
                        <a:lnTo>
                          <a:pt x="2270831" y="15347"/>
                        </a:lnTo>
                        <a:lnTo>
                          <a:pt x="2304546" y="56391"/>
                        </a:lnTo>
                        <a:lnTo>
                          <a:pt x="2311499" y="91349"/>
                        </a:lnTo>
                        <a:lnTo>
                          <a:pt x="2311499" y="104399"/>
                        </a:lnTo>
                        <a:lnTo>
                          <a:pt x="2337599" y="104399"/>
                        </a:lnTo>
                        <a:lnTo>
                          <a:pt x="2285399" y="156599"/>
                        </a:lnTo>
                        <a:lnTo>
                          <a:pt x="2233199" y="104399"/>
                        </a:lnTo>
                        <a:lnTo>
                          <a:pt x="2259299" y="104399"/>
                        </a:lnTo>
                        <a:lnTo>
                          <a:pt x="2259299" y="91349"/>
                        </a:lnTo>
                        <a:lnTo>
                          <a:pt x="2256223" y="76111"/>
                        </a:lnTo>
                        <a:lnTo>
                          <a:pt x="2247833" y="63666"/>
                        </a:lnTo>
                        <a:lnTo>
                          <a:pt x="2235388" y="55276"/>
                        </a:lnTo>
                        <a:lnTo>
                          <a:pt x="2220149" y="52199"/>
                        </a:lnTo>
                        <a:lnTo>
                          <a:pt x="91349" y="52199"/>
                        </a:lnTo>
                        <a:lnTo>
                          <a:pt x="76111" y="55276"/>
                        </a:lnTo>
                        <a:lnTo>
                          <a:pt x="63666" y="63666"/>
                        </a:lnTo>
                        <a:lnTo>
                          <a:pt x="55276" y="76111"/>
                        </a:lnTo>
                        <a:lnTo>
                          <a:pt x="52199" y="91349"/>
                        </a:lnTo>
                        <a:lnTo>
                          <a:pt x="52199" y="208799"/>
                        </a:lnTo>
                        <a:lnTo>
                          <a:pt x="0" y="208799"/>
                        </a:lnTo>
                        <a:close/>
                      </a:path>
                    </a:pathLst>
                  </a:custGeom>
                  <a:ln w="9524">
                    <a:solidFill>
                      <a:srgbClr val="0F2044"/>
                    </a:solidFill>
                  </a:ln>
                </p:spPr>
                <p:txBody>
                  <a:bodyPr wrap="square" lIns="0" tIns="0" rIns="0" bIns="0" rtlCol="0"/>
                  <a:lstStyle/>
                  <a:p>
                    <a:endParaRPr/>
                  </a:p>
                </p:txBody>
              </p:sp>
            </p:grpSp>
            <p:grpSp>
              <p:nvGrpSpPr>
                <p:cNvPr id="51" name="object 10">
                  <a:extLst>
                    <a:ext uri="{FF2B5EF4-FFF2-40B4-BE49-F238E27FC236}">
                      <a16:creationId xmlns:a16="http://schemas.microsoft.com/office/drawing/2014/main" id="{E08C4680-4EC1-7D34-0616-21AAF3236760}"/>
                    </a:ext>
                  </a:extLst>
                </p:cNvPr>
                <p:cNvGrpSpPr/>
                <p:nvPr/>
              </p:nvGrpSpPr>
              <p:grpSpPr>
                <a:xfrm>
                  <a:off x="5655962" y="2419637"/>
                  <a:ext cx="3558540" cy="218440"/>
                  <a:chOff x="5655962" y="2419637"/>
                  <a:chExt cx="3558540" cy="218440"/>
                </a:xfrm>
              </p:grpSpPr>
              <p:sp>
                <p:nvSpPr>
                  <p:cNvPr id="56" name="object 11">
                    <a:extLst>
                      <a:ext uri="{FF2B5EF4-FFF2-40B4-BE49-F238E27FC236}">
                        <a16:creationId xmlns:a16="http://schemas.microsoft.com/office/drawing/2014/main" id="{1157049F-C215-AA25-6D71-1276DB1CDD7F}"/>
                      </a:ext>
                    </a:extLst>
                  </p:cNvPr>
                  <p:cNvSpPr/>
                  <p:nvPr/>
                </p:nvSpPr>
                <p:spPr>
                  <a:xfrm>
                    <a:off x="5660724" y="2424400"/>
                    <a:ext cx="3549015" cy="208915"/>
                  </a:xfrm>
                  <a:custGeom>
                    <a:avLst/>
                    <a:gdLst/>
                    <a:ahLst/>
                    <a:cxnLst/>
                    <a:rect l="l" t="t" r="r" b="b"/>
                    <a:pathLst>
                      <a:path w="3549015" h="208914">
                        <a:moveTo>
                          <a:pt x="52199" y="208799"/>
                        </a:moveTo>
                        <a:lnTo>
                          <a:pt x="0" y="208799"/>
                        </a:lnTo>
                        <a:lnTo>
                          <a:pt x="0" y="91349"/>
                        </a:lnTo>
                        <a:lnTo>
                          <a:pt x="7057" y="56391"/>
                        </a:lnTo>
                        <a:lnTo>
                          <a:pt x="7178" y="55792"/>
                        </a:lnTo>
                        <a:lnTo>
                          <a:pt x="26755" y="26755"/>
                        </a:lnTo>
                        <a:lnTo>
                          <a:pt x="55792" y="7178"/>
                        </a:lnTo>
                        <a:lnTo>
                          <a:pt x="91349" y="0"/>
                        </a:lnTo>
                        <a:lnTo>
                          <a:pt x="3431549" y="0"/>
                        </a:lnTo>
                        <a:lnTo>
                          <a:pt x="3482231" y="15347"/>
                        </a:lnTo>
                        <a:lnTo>
                          <a:pt x="3513708" y="52199"/>
                        </a:lnTo>
                        <a:lnTo>
                          <a:pt x="91349" y="52199"/>
                        </a:lnTo>
                        <a:lnTo>
                          <a:pt x="76111" y="55276"/>
                        </a:lnTo>
                        <a:lnTo>
                          <a:pt x="63666" y="63666"/>
                        </a:lnTo>
                        <a:lnTo>
                          <a:pt x="55276" y="76111"/>
                        </a:lnTo>
                        <a:lnTo>
                          <a:pt x="52199" y="91349"/>
                        </a:lnTo>
                        <a:lnTo>
                          <a:pt x="52199" y="208799"/>
                        </a:lnTo>
                        <a:close/>
                      </a:path>
                      <a:path w="3549015" h="208914">
                        <a:moveTo>
                          <a:pt x="3522899" y="104399"/>
                        </a:moveTo>
                        <a:lnTo>
                          <a:pt x="3470699" y="104399"/>
                        </a:lnTo>
                        <a:lnTo>
                          <a:pt x="3470699" y="91349"/>
                        </a:lnTo>
                        <a:lnTo>
                          <a:pt x="3467623" y="76111"/>
                        </a:lnTo>
                        <a:lnTo>
                          <a:pt x="3459233" y="63666"/>
                        </a:lnTo>
                        <a:lnTo>
                          <a:pt x="3446788" y="55276"/>
                        </a:lnTo>
                        <a:lnTo>
                          <a:pt x="3431549" y="52199"/>
                        </a:lnTo>
                        <a:lnTo>
                          <a:pt x="3513708" y="52199"/>
                        </a:lnTo>
                        <a:lnTo>
                          <a:pt x="3515946" y="56391"/>
                        </a:lnTo>
                        <a:lnTo>
                          <a:pt x="3521128" y="73445"/>
                        </a:lnTo>
                        <a:lnTo>
                          <a:pt x="3522899" y="91349"/>
                        </a:lnTo>
                        <a:lnTo>
                          <a:pt x="3522899" y="104399"/>
                        </a:lnTo>
                        <a:close/>
                      </a:path>
                      <a:path w="3549015" h="208914">
                        <a:moveTo>
                          <a:pt x="3496799" y="156599"/>
                        </a:moveTo>
                        <a:lnTo>
                          <a:pt x="3444599" y="104399"/>
                        </a:lnTo>
                        <a:lnTo>
                          <a:pt x="3548999" y="104399"/>
                        </a:lnTo>
                        <a:lnTo>
                          <a:pt x="3496799" y="156599"/>
                        </a:lnTo>
                        <a:close/>
                      </a:path>
                    </a:pathLst>
                  </a:custGeom>
                  <a:solidFill>
                    <a:srgbClr val="BEC0C1"/>
                  </a:solidFill>
                </p:spPr>
                <p:txBody>
                  <a:bodyPr wrap="square" lIns="0" tIns="0" rIns="0" bIns="0" rtlCol="0"/>
                  <a:lstStyle/>
                  <a:p>
                    <a:endParaRPr/>
                  </a:p>
                </p:txBody>
              </p:sp>
              <p:sp>
                <p:nvSpPr>
                  <p:cNvPr id="57" name="object 12">
                    <a:extLst>
                      <a:ext uri="{FF2B5EF4-FFF2-40B4-BE49-F238E27FC236}">
                        <a16:creationId xmlns:a16="http://schemas.microsoft.com/office/drawing/2014/main" id="{67C4A1B9-03E5-02A3-A876-5254E169D4D2}"/>
                      </a:ext>
                    </a:extLst>
                  </p:cNvPr>
                  <p:cNvSpPr/>
                  <p:nvPr/>
                </p:nvSpPr>
                <p:spPr>
                  <a:xfrm>
                    <a:off x="5660725" y="2424400"/>
                    <a:ext cx="3549015" cy="208915"/>
                  </a:xfrm>
                  <a:custGeom>
                    <a:avLst/>
                    <a:gdLst/>
                    <a:ahLst/>
                    <a:cxnLst/>
                    <a:rect l="l" t="t" r="r" b="b"/>
                    <a:pathLst>
                      <a:path w="3549015" h="208914">
                        <a:moveTo>
                          <a:pt x="0" y="208799"/>
                        </a:moveTo>
                        <a:lnTo>
                          <a:pt x="0" y="91349"/>
                        </a:lnTo>
                        <a:lnTo>
                          <a:pt x="7178" y="55792"/>
                        </a:lnTo>
                        <a:lnTo>
                          <a:pt x="26755" y="26755"/>
                        </a:lnTo>
                        <a:lnTo>
                          <a:pt x="55792" y="7178"/>
                        </a:lnTo>
                        <a:lnTo>
                          <a:pt x="91349" y="0"/>
                        </a:lnTo>
                        <a:lnTo>
                          <a:pt x="3431549" y="0"/>
                        </a:lnTo>
                        <a:lnTo>
                          <a:pt x="3482231" y="15347"/>
                        </a:lnTo>
                        <a:lnTo>
                          <a:pt x="3515946" y="56391"/>
                        </a:lnTo>
                        <a:lnTo>
                          <a:pt x="3522899" y="91349"/>
                        </a:lnTo>
                        <a:lnTo>
                          <a:pt x="3522899" y="104399"/>
                        </a:lnTo>
                        <a:lnTo>
                          <a:pt x="3548999" y="104399"/>
                        </a:lnTo>
                        <a:lnTo>
                          <a:pt x="3496799" y="156599"/>
                        </a:lnTo>
                        <a:lnTo>
                          <a:pt x="3444599" y="104399"/>
                        </a:lnTo>
                        <a:lnTo>
                          <a:pt x="3470699" y="104399"/>
                        </a:lnTo>
                        <a:lnTo>
                          <a:pt x="3470699" y="91349"/>
                        </a:lnTo>
                        <a:lnTo>
                          <a:pt x="3467623" y="76111"/>
                        </a:lnTo>
                        <a:lnTo>
                          <a:pt x="3459233" y="63666"/>
                        </a:lnTo>
                        <a:lnTo>
                          <a:pt x="3446788" y="55276"/>
                        </a:lnTo>
                        <a:lnTo>
                          <a:pt x="3431549" y="52199"/>
                        </a:lnTo>
                        <a:lnTo>
                          <a:pt x="91349" y="52199"/>
                        </a:lnTo>
                        <a:lnTo>
                          <a:pt x="76111" y="55276"/>
                        </a:lnTo>
                        <a:lnTo>
                          <a:pt x="63666" y="63666"/>
                        </a:lnTo>
                        <a:lnTo>
                          <a:pt x="55276" y="76111"/>
                        </a:lnTo>
                        <a:lnTo>
                          <a:pt x="52199" y="91349"/>
                        </a:lnTo>
                        <a:lnTo>
                          <a:pt x="52199" y="208799"/>
                        </a:lnTo>
                        <a:lnTo>
                          <a:pt x="0" y="208799"/>
                        </a:lnTo>
                        <a:close/>
                      </a:path>
                    </a:pathLst>
                  </a:custGeom>
                  <a:ln w="9524">
                    <a:solidFill>
                      <a:srgbClr val="0F2044"/>
                    </a:solidFill>
                  </a:ln>
                </p:spPr>
                <p:txBody>
                  <a:bodyPr wrap="square" lIns="0" tIns="0" rIns="0" bIns="0" rtlCol="0"/>
                  <a:lstStyle/>
                  <a:p>
                    <a:endParaRPr/>
                  </a:p>
                </p:txBody>
              </p:sp>
            </p:grpSp>
            <p:grpSp>
              <p:nvGrpSpPr>
                <p:cNvPr id="52" name="object 13">
                  <a:extLst>
                    <a:ext uri="{FF2B5EF4-FFF2-40B4-BE49-F238E27FC236}">
                      <a16:creationId xmlns:a16="http://schemas.microsoft.com/office/drawing/2014/main" id="{CA790C3E-DB07-04A6-FFFE-A401E1A0639C}"/>
                    </a:ext>
                  </a:extLst>
                </p:cNvPr>
                <p:cNvGrpSpPr/>
                <p:nvPr/>
              </p:nvGrpSpPr>
              <p:grpSpPr>
                <a:xfrm>
                  <a:off x="9296887" y="2419637"/>
                  <a:ext cx="1221105" cy="218440"/>
                  <a:chOff x="9296887" y="2419637"/>
                  <a:chExt cx="1221105" cy="218440"/>
                </a:xfrm>
              </p:grpSpPr>
              <p:sp>
                <p:nvSpPr>
                  <p:cNvPr id="54" name="object 14">
                    <a:extLst>
                      <a:ext uri="{FF2B5EF4-FFF2-40B4-BE49-F238E27FC236}">
                        <a16:creationId xmlns:a16="http://schemas.microsoft.com/office/drawing/2014/main" id="{65BF3AEF-6309-AB45-3174-CAF6B0DCAF14}"/>
                      </a:ext>
                    </a:extLst>
                  </p:cNvPr>
                  <p:cNvSpPr/>
                  <p:nvPr/>
                </p:nvSpPr>
                <p:spPr>
                  <a:xfrm>
                    <a:off x="9301650" y="2424400"/>
                    <a:ext cx="1211580" cy="208915"/>
                  </a:xfrm>
                  <a:custGeom>
                    <a:avLst/>
                    <a:gdLst/>
                    <a:ahLst/>
                    <a:cxnLst/>
                    <a:rect l="l" t="t" r="r" b="b"/>
                    <a:pathLst>
                      <a:path w="1211579" h="208914">
                        <a:moveTo>
                          <a:pt x="52199" y="208799"/>
                        </a:moveTo>
                        <a:lnTo>
                          <a:pt x="0" y="208799"/>
                        </a:lnTo>
                        <a:lnTo>
                          <a:pt x="0" y="91349"/>
                        </a:lnTo>
                        <a:lnTo>
                          <a:pt x="26755" y="26755"/>
                        </a:lnTo>
                        <a:lnTo>
                          <a:pt x="91349" y="0"/>
                        </a:lnTo>
                        <a:lnTo>
                          <a:pt x="1093949" y="0"/>
                        </a:lnTo>
                        <a:lnTo>
                          <a:pt x="1144631" y="15347"/>
                        </a:lnTo>
                        <a:lnTo>
                          <a:pt x="1176108" y="52199"/>
                        </a:lnTo>
                        <a:lnTo>
                          <a:pt x="91349" y="52199"/>
                        </a:lnTo>
                        <a:lnTo>
                          <a:pt x="76111" y="55276"/>
                        </a:lnTo>
                        <a:lnTo>
                          <a:pt x="63666" y="63666"/>
                        </a:lnTo>
                        <a:lnTo>
                          <a:pt x="55276" y="76111"/>
                        </a:lnTo>
                        <a:lnTo>
                          <a:pt x="52199" y="91349"/>
                        </a:lnTo>
                        <a:lnTo>
                          <a:pt x="52199" y="208799"/>
                        </a:lnTo>
                        <a:close/>
                      </a:path>
                      <a:path w="1211579" h="208914">
                        <a:moveTo>
                          <a:pt x="1185299" y="104399"/>
                        </a:moveTo>
                        <a:lnTo>
                          <a:pt x="1133099" y="104399"/>
                        </a:lnTo>
                        <a:lnTo>
                          <a:pt x="1133099" y="91349"/>
                        </a:lnTo>
                        <a:lnTo>
                          <a:pt x="1130023" y="76111"/>
                        </a:lnTo>
                        <a:lnTo>
                          <a:pt x="1121633" y="63666"/>
                        </a:lnTo>
                        <a:lnTo>
                          <a:pt x="1109188" y="55276"/>
                        </a:lnTo>
                        <a:lnTo>
                          <a:pt x="1093949" y="52199"/>
                        </a:lnTo>
                        <a:lnTo>
                          <a:pt x="1176108" y="52199"/>
                        </a:lnTo>
                        <a:lnTo>
                          <a:pt x="1178346" y="56391"/>
                        </a:lnTo>
                        <a:lnTo>
                          <a:pt x="1183528" y="73445"/>
                        </a:lnTo>
                        <a:lnTo>
                          <a:pt x="1185299" y="91349"/>
                        </a:lnTo>
                        <a:lnTo>
                          <a:pt x="1185299" y="104399"/>
                        </a:lnTo>
                        <a:close/>
                      </a:path>
                      <a:path w="1211579" h="208914">
                        <a:moveTo>
                          <a:pt x="1159199" y="156599"/>
                        </a:moveTo>
                        <a:lnTo>
                          <a:pt x="1106999" y="104399"/>
                        </a:lnTo>
                        <a:lnTo>
                          <a:pt x="1211399" y="104399"/>
                        </a:lnTo>
                        <a:lnTo>
                          <a:pt x="1159199" y="156599"/>
                        </a:lnTo>
                        <a:close/>
                      </a:path>
                    </a:pathLst>
                  </a:custGeom>
                  <a:solidFill>
                    <a:srgbClr val="BEC0C1"/>
                  </a:solidFill>
                </p:spPr>
                <p:txBody>
                  <a:bodyPr wrap="square" lIns="0" tIns="0" rIns="0" bIns="0" rtlCol="0"/>
                  <a:lstStyle/>
                  <a:p>
                    <a:endParaRPr/>
                  </a:p>
                </p:txBody>
              </p:sp>
              <p:sp>
                <p:nvSpPr>
                  <p:cNvPr id="55" name="object 15">
                    <a:extLst>
                      <a:ext uri="{FF2B5EF4-FFF2-40B4-BE49-F238E27FC236}">
                        <a16:creationId xmlns:a16="http://schemas.microsoft.com/office/drawing/2014/main" id="{E32486F9-6F40-FED5-B4DF-197ABF5C72B5}"/>
                      </a:ext>
                    </a:extLst>
                  </p:cNvPr>
                  <p:cNvSpPr/>
                  <p:nvPr/>
                </p:nvSpPr>
                <p:spPr>
                  <a:xfrm>
                    <a:off x="9301650" y="2424400"/>
                    <a:ext cx="1211580" cy="208915"/>
                  </a:xfrm>
                  <a:custGeom>
                    <a:avLst/>
                    <a:gdLst/>
                    <a:ahLst/>
                    <a:cxnLst/>
                    <a:rect l="l" t="t" r="r" b="b"/>
                    <a:pathLst>
                      <a:path w="1211579" h="208914">
                        <a:moveTo>
                          <a:pt x="0" y="208799"/>
                        </a:moveTo>
                        <a:lnTo>
                          <a:pt x="0" y="91349"/>
                        </a:lnTo>
                        <a:lnTo>
                          <a:pt x="7178" y="55792"/>
                        </a:lnTo>
                        <a:lnTo>
                          <a:pt x="26755" y="26755"/>
                        </a:lnTo>
                        <a:lnTo>
                          <a:pt x="55792" y="7178"/>
                        </a:lnTo>
                        <a:lnTo>
                          <a:pt x="91349" y="0"/>
                        </a:lnTo>
                        <a:lnTo>
                          <a:pt x="1093949" y="0"/>
                        </a:lnTo>
                        <a:lnTo>
                          <a:pt x="1144631" y="15347"/>
                        </a:lnTo>
                        <a:lnTo>
                          <a:pt x="1178346" y="56391"/>
                        </a:lnTo>
                        <a:lnTo>
                          <a:pt x="1185299" y="91349"/>
                        </a:lnTo>
                        <a:lnTo>
                          <a:pt x="1185299" y="104399"/>
                        </a:lnTo>
                        <a:lnTo>
                          <a:pt x="1211399" y="104399"/>
                        </a:lnTo>
                        <a:lnTo>
                          <a:pt x="1159199" y="156599"/>
                        </a:lnTo>
                        <a:lnTo>
                          <a:pt x="1106999" y="104399"/>
                        </a:lnTo>
                        <a:lnTo>
                          <a:pt x="1133099" y="104399"/>
                        </a:lnTo>
                        <a:lnTo>
                          <a:pt x="1133099" y="91349"/>
                        </a:lnTo>
                        <a:lnTo>
                          <a:pt x="1130023" y="76111"/>
                        </a:lnTo>
                        <a:lnTo>
                          <a:pt x="1121633" y="63666"/>
                        </a:lnTo>
                        <a:lnTo>
                          <a:pt x="1109188" y="55276"/>
                        </a:lnTo>
                        <a:lnTo>
                          <a:pt x="1093949" y="52199"/>
                        </a:lnTo>
                        <a:lnTo>
                          <a:pt x="91349" y="52199"/>
                        </a:lnTo>
                        <a:lnTo>
                          <a:pt x="76111" y="55276"/>
                        </a:lnTo>
                        <a:lnTo>
                          <a:pt x="63666" y="63666"/>
                        </a:lnTo>
                        <a:lnTo>
                          <a:pt x="55276" y="76111"/>
                        </a:lnTo>
                        <a:lnTo>
                          <a:pt x="52199" y="91349"/>
                        </a:lnTo>
                        <a:lnTo>
                          <a:pt x="52199" y="208799"/>
                        </a:lnTo>
                        <a:lnTo>
                          <a:pt x="0" y="208799"/>
                        </a:lnTo>
                        <a:close/>
                      </a:path>
                    </a:pathLst>
                  </a:custGeom>
                  <a:ln w="9524">
                    <a:solidFill>
                      <a:srgbClr val="0F2044"/>
                    </a:solidFill>
                  </a:ln>
                </p:spPr>
                <p:txBody>
                  <a:bodyPr wrap="square" lIns="0" tIns="0" rIns="0" bIns="0" rtlCol="0"/>
                  <a:lstStyle/>
                  <a:p>
                    <a:endParaRPr/>
                  </a:p>
                </p:txBody>
              </p:sp>
            </p:grpSp>
            <p:pic>
              <p:nvPicPr>
                <p:cNvPr id="53" name="Picture 52">
                  <a:extLst>
                    <a:ext uri="{FF2B5EF4-FFF2-40B4-BE49-F238E27FC236}">
                      <a16:creationId xmlns:a16="http://schemas.microsoft.com/office/drawing/2014/main" id="{766B8BA4-4366-1257-37A5-78569455C4A9}"/>
                    </a:ext>
                  </a:extLst>
                </p:cNvPr>
                <p:cNvPicPr>
                  <a:picLocks noChangeAspect="1"/>
                </p:cNvPicPr>
                <p:nvPr/>
              </p:nvPicPr>
              <p:blipFill>
                <a:blip r:embed="rId3"/>
                <a:stretch>
                  <a:fillRect/>
                </a:stretch>
              </p:blipFill>
              <p:spPr>
                <a:xfrm>
                  <a:off x="434970" y="2819360"/>
                  <a:ext cx="10309230" cy="457240"/>
                </a:xfrm>
                <a:prstGeom prst="rect">
                  <a:avLst/>
                </a:prstGeom>
              </p:spPr>
            </p:pic>
          </p:grpSp>
          <p:pic>
            <p:nvPicPr>
              <p:cNvPr id="62" name="Picture 61">
                <a:extLst>
                  <a:ext uri="{FF2B5EF4-FFF2-40B4-BE49-F238E27FC236}">
                    <a16:creationId xmlns:a16="http://schemas.microsoft.com/office/drawing/2014/main" id="{1E604261-4089-159E-5DF0-556146C6EAE5}"/>
                  </a:ext>
                </a:extLst>
              </p:cNvPr>
              <p:cNvPicPr>
                <a:picLocks noChangeAspect="1"/>
              </p:cNvPicPr>
              <p:nvPr/>
            </p:nvPicPr>
            <p:blipFill>
              <a:blip r:embed="rId4"/>
              <a:stretch>
                <a:fillRect/>
              </a:stretch>
            </p:blipFill>
            <p:spPr>
              <a:xfrm>
                <a:off x="5279037" y="4056377"/>
                <a:ext cx="3651821" cy="475529"/>
              </a:xfrm>
              <a:prstGeom prst="rect">
                <a:avLst/>
              </a:prstGeom>
            </p:spPr>
          </p:pic>
          <p:pic>
            <p:nvPicPr>
              <p:cNvPr id="65" name="Picture 64">
                <a:extLst>
                  <a:ext uri="{FF2B5EF4-FFF2-40B4-BE49-F238E27FC236}">
                    <a16:creationId xmlns:a16="http://schemas.microsoft.com/office/drawing/2014/main" id="{AF0CEEE1-6C8C-0F32-08DA-B67647347EE0}"/>
                  </a:ext>
                </a:extLst>
              </p:cNvPr>
              <p:cNvPicPr>
                <a:picLocks noChangeAspect="1"/>
              </p:cNvPicPr>
              <p:nvPr/>
            </p:nvPicPr>
            <p:blipFill>
              <a:blip r:embed="rId5"/>
              <a:stretch>
                <a:fillRect/>
              </a:stretch>
            </p:blipFill>
            <p:spPr>
              <a:xfrm>
                <a:off x="5268590" y="4745526"/>
                <a:ext cx="3651821" cy="475529"/>
              </a:xfrm>
              <a:prstGeom prst="rect">
                <a:avLst/>
              </a:prstGeom>
            </p:spPr>
          </p:pic>
        </p:grpSp>
        <p:sp>
          <p:nvSpPr>
            <p:cNvPr id="67" name="object 18">
              <a:extLst>
                <a:ext uri="{FF2B5EF4-FFF2-40B4-BE49-F238E27FC236}">
                  <a16:creationId xmlns:a16="http://schemas.microsoft.com/office/drawing/2014/main" id="{397C8CA6-4136-8321-8660-E68051121347}"/>
                </a:ext>
              </a:extLst>
            </p:cNvPr>
            <p:cNvSpPr/>
            <p:nvPr/>
          </p:nvSpPr>
          <p:spPr>
            <a:xfrm>
              <a:off x="7000258" y="3383280"/>
              <a:ext cx="10142" cy="502920"/>
            </a:xfrm>
            <a:custGeom>
              <a:avLst/>
              <a:gdLst/>
              <a:ahLst/>
              <a:cxnLst/>
              <a:rect l="l" t="t" r="r" b="b"/>
              <a:pathLst>
                <a:path w="7620" h="502920">
                  <a:moveTo>
                    <a:pt x="0" y="0"/>
                  </a:moveTo>
                  <a:lnTo>
                    <a:pt x="7542" y="502656"/>
                  </a:lnTo>
                </a:path>
              </a:pathLst>
            </a:custGeom>
            <a:ln w="12700">
              <a:solidFill>
                <a:srgbClr val="0F2044"/>
              </a:solidFill>
              <a:tailEnd type="triangle"/>
            </a:ln>
          </p:spPr>
          <p:txBody>
            <a:bodyPr wrap="square" lIns="0" tIns="0" rIns="0" bIns="0" rtlCol="0"/>
            <a:lstStyle/>
            <a:p>
              <a:endParaRPr/>
            </a:p>
          </p:txBody>
        </p:sp>
        <p:sp>
          <p:nvSpPr>
            <p:cNvPr id="68" name="object 22">
              <a:extLst>
                <a:ext uri="{FF2B5EF4-FFF2-40B4-BE49-F238E27FC236}">
                  <a16:creationId xmlns:a16="http://schemas.microsoft.com/office/drawing/2014/main" id="{F3533643-3E38-3D6C-3A1D-A2A417674E55}"/>
                </a:ext>
              </a:extLst>
            </p:cNvPr>
            <p:cNvSpPr/>
            <p:nvPr/>
          </p:nvSpPr>
          <p:spPr>
            <a:xfrm>
              <a:off x="2574501" y="3577225"/>
              <a:ext cx="4196715" cy="709295"/>
            </a:xfrm>
            <a:custGeom>
              <a:avLst/>
              <a:gdLst/>
              <a:ahLst/>
              <a:cxnLst/>
              <a:rect l="l" t="t" r="r" b="b"/>
              <a:pathLst>
                <a:path w="4196715" h="709295">
                  <a:moveTo>
                    <a:pt x="4196448" y="0"/>
                  </a:moveTo>
                  <a:lnTo>
                    <a:pt x="0" y="708979"/>
                  </a:lnTo>
                </a:path>
              </a:pathLst>
            </a:custGeom>
            <a:ln w="12700">
              <a:solidFill>
                <a:srgbClr val="0F2044"/>
              </a:solidFill>
              <a:tailEnd type="triangle"/>
            </a:ln>
          </p:spPr>
          <p:txBody>
            <a:bodyPr wrap="square" lIns="0" tIns="0" rIns="0" bIns="0" rtlCol="0"/>
            <a:lstStyle/>
            <a:p>
              <a:endParaRPr/>
            </a:p>
          </p:txBody>
        </p:sp>
      </p:grpSp>
      <p:sp>
        <p:nvSpPr>
          <p:cNvPr id="33" name="object 33"/>
          <p:cNvSpPr txBox="1"/>
          <p:nvPr/>
        </p:nvSpPr>
        <p:spPr>
          <a:xfrm>
            <a:off x="9301650" y="3524324"/>
            <a:ext cx="2570480" cy="1417955"/>
          </a:xfrm>
          <a:prstGeom prst="rect">
            <a:avLst/>
          </a:prstGeom>
          <a:ln w="9524">
            <a:solidFill>
              <a:srgbClr val="000000"/>
            </a:solidFill>
          </a:ln>
        </p:spPr>
        <p:txBody>
          <a:bodyPr vert="horz" wrap="square" lIns="0" tIns="35560" rIns="0" bIns="0" rtlCol="0">
            <a:spAutoFit/>
          </a:bodyPr>
          <a:lstStyle/>
          <a:p>
            <a:pPr marL="85725" marR="139700">
              <a:lnSpc>
                <a:spcPct val="114999"/>
              </a:lnSpc>
              <a:spcBef>
                <a:spcPts val="280"/>
              </a:spcBef>
            </a:pPr>
            <a:r>
              <a:rPr sz="1800" dirty="0">
                <a:latin typeface="Arial MT"/>
                <a:cs typeface="Arial MT"/>
              </a:rPr>
              <a:t>If</a:t>
            </a:r>
            <a:r>
              <a:rPr sz="1800" spc="-25" dirty="0">
                <a:latin typeface="Arial MT"/>
                <a:cs typeface="Arial MT"/>
              </a:rPr>
              <a:t> </a:t>
            </a:r>
            <a:r>
              <a:rPr sz="1800" dirty="0">
                <a:latin typeface="Arial MT"/>
                <a:cs typeface="Arial MT"/>
              </a:rPr>
              <a:t>the</a:t>
            </a:r>
            <a:r>
              <a:rPr sz="1800" spc="-15" dirty="0">
                <a:latin typeface="Arial MT"/>
                <a:cs typeface="Arial MT"/>
              </a:rPr>
              <a:t> </a:t>
            </a:r>
            <a:r>
              <a:rPr sz="1800" dirty="0">
                <a:latin typeface="Arial MT"/>
                <a:cs typeface="Arial MT"/>
              </a:rPr>
              <a:t>fit</a:t>
            </a:r>
            <a:r>
              <a:rPr sz="1800" spc="-15" dirty="0">
                <a:latin typeface="Arial MT"/>
                <a:cs typeface="Arial MT"/>
              </a:rPr>
              <a:t> </a:t>
            </a:r>
            <a:r>
              <a:rPr sz="1800" dirty="0">
                <a:latin typeface="Arial MT"/>
                <a:cs typeface="Arial MT"/>
              </a:rPr>
              <a:t>is</a:t>
            </a:r>
            <a:r>
              <a:rPr sz="1800" spc="-15" dirty="0">
                <a:latin typeface="Arial MT"/>
                <a:cs typeface="Arial MT"/>
              </a:rPr>
              <a:t> </a:t>
            </a:r>
            <a:r>
              <a:rPr sz="1800" dirty="0">
                <a:latin typeface="Arial MT"/>
                <a:cs typeface="Arial MT"/>
              </a:rPr>
              <a:t>not</a:t>
            </a:r>
            <a:r>
              <a:rPr sz="1800" spc="-15" dirty="0">
                <a:latin typeface="Arial MT"/>
                <a:cs typeface="Arial MT"/>
              </a:rPr>
              <a:t> </a:t>
            </a:r>
            <a:r>
              <a:rPr sz="1800" dirty="0">
                <a:latin typeface="Arial MT"/>
                <a:cs typeface="Arial MT"/>
              </a:rPr>
              <a:t>good,</a:t>
            </a:r>
            <a:r>
              <a:rPr sz="1800" spc="-10" dirty="0">
                <a:latin typeface="Arial MT"/>
                <a:cs typeface="Arial MT"/>
              </a:rPr>
              <a:t> </a:t>
            </a:r>
            <a:r>
              <a:rPr sz="1800" spc="-25" dirty="0">
                <a:latin typeface="Arial MT"/>
                <a:cs typeface="Arial MT"/>
              </a:rPr>
              <a:t>an </a:t>
            </a:r>
            <a:r>
              <a:rPr sz="1800" dirty="0">
                <a:latin typeface="Arial MT"/>
                <a:cs typeface="Arial MT"/>
              </a:rPr>
              <a:t>allocator</a:t>
            </a:r>
            <a:r>
              <a:rPr sz="1800" spc="-15" dirty="0">
                <a:latin typeface="Arial MT"/>
                <a:cs typeface="Arial MT"/>
              </a:rPr>
              <a:t> </a:t>
            </a:r>
            <a:r>
              <a:rPr sz="1800" dirty="0">
                <a:latin typeface="Arial MT"/>
                <a:cs typeface="Arial MT"/>
              </a:rPr>
              <a:t>might</a:t>
            </a:r>
            <a:r>
              <a:rPr sz="1800" spc="-15" dirty="0">
                <a:latin typeface="Arial MT"/>
                <a:cs typeface="Arial MT"/>
              </a:rPr>
              <a:t> </a:t>
            </a:r>
            <a:r>
              <a:rPr sz="1800" dirty="0">
                <a:latin typeface="Arial MT"/>
                <a:cs typeface="Arial MT"/>
              </a:rPr>
              <a:t>opt</a:t>
            </a:r>
            <a:r>
              <a:rPr sz="1800" spc="-15" dirty="0">
                <a:latin typeface="Arial MT"/>
                <a:cs typeface="Arial MT"/>
              </a:rPr>
              <a:t> </a:t>
            </a:r>
            <a:r>
              <a:rPr sz="1800" spc="-25" dirty="0">
                <a:latin typeface="Arial MT"/>
                <a:cs typeface="Arial MT"/>
              </a:rPr>
              <a:t>to </a:t>
            </a:r>
            <a:r>
              <a:rPr sz="1800" b="1" i="1" dirty="0">
                <a:latin typeface="Arial"/>
                <a:cs typeface="Arial"/>
              </a:rPr>
              <a:t>split</a:t>
            </a:r>
            <a:r>
              <a:rPr sz="1800" b="1" i="1" spc="-15" dirty="0">
                <a:latin typeface="Arial"/>
                <a:cs typeface="Arial"/>
              </a:rPr>
              <a:t> </a:t>
            </a:r>
            <a:r>
              <a:rPr sz="1800" dirty="0">
                <a:latin typeface="Arial MT"/>
                <a:cs typeface="Arial MT"/>
              </a:rPr>
              <a:t>the</a:t>
            </a:r>
            <a:r>
              <a:rPr sz="1800" spc="-10" dirty="0">
                <a:latin typeface="Arial MT"/>
                <a:cs typeface="Arial MT"/>
              </a:rPr>
              <a:t> </a:t>
            </a:r>
            <a:r>
              <a:rPr sz="1800" dirty="0">
                <a:latin typeface="Arial MT"/>
                <a:cs typeface="Arial MT"/>
              </a:rPr>
              <a:t>free</a:t>
            </a:r>
            <a:r>
              <a:rPr sz="1800" spc="-10" dirty="0">
                <a:latin typeface="Arial MT"/>
                <a:cs typeface="Arial MT"/>
              </a:rPr>
              <a:t> </a:t>
            </a:r>
            <a:r>
              <a:rPr sz="1800" dirty="0">
                <a:latin typeface="Arial MT"/>
                <a:cs typeface="Arial MT"/>
              </a:rPr>
              <a:t>block</a:t>
            </a:r>
            <a:r>
              <a:rPr sz="1800" spc="-10" dirty="0">
                <a:latin typeface="Arial MT"/>
                <a:cs typeface="Arial MT"/>
              </a:rPr>
              <a:t> </a:t>
            </a:r>
            <a:r>
              <a:rPr sz="1800" spc="-20" dirty="0">
                <a:latin typeface="Arial MT"/>
                <a:cs typeface="Arial MT"/>
              </a:rPr>
              <a:t>into </a:t>
            </a:r>
            <a:r>
              <a:rPr sz="1800" dirty="0">
                <a:latin typeface="Arial MT"/>
                <a:cs typeface="Arial MT"/>
              </a:rPr>
              <a:t>two</a:t>
            </a:r>
            <a:r>
              <a:rPr sz="1800" spc="-15" dirty="0">
                <a:latin typeface="Arial MT"/>
                <a:cs typeface="Arial MT"/>
              </a:rPr>
              <a:t> </a:t>
            </a:r>
            <a:r>
              <a:rPr sz="1800" spc="-10" dirty="0">
                <a:latin typeface="Arial MT"/>
                <a:cs typeface="Arial MT"/>
              </a:rPr>
              <a:t>parts</a:t>
            </a:r>
            <a:endParaRPr sz="1800">
              <a:latin typeface="Arial MT"/>
              <a:cs typeface="Arial M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Implicit</a:t>
            </a:r>
            <a:r>
              <a:rPr spc="-100" dirty="0"/>
              <a:t> </a:t>
            </a:r>
            <a:r>
              <a:rPr dirty="0"/>
              <a:t>Free</a:t>
            </a:r>
            <a:r>
              <a:rPr spc="-100" dirty="0"/>
              <a:t> </a:t>
            </a:r>
            <a:r>
              <a:rPr spc="-20" dirty="0"/>
              <a:t>List</a:t>
            </a:r>
          </a:p>
        </p:txBody>
      </p:sp>
      <p:grpSp>
        <p:nvGrpSpPr>
          <p:cNvPr id="53" name="Group 52">
            <a:extLst>
              <a:ext uri="{FF2B5EF4-FFF2-40B4-BE49-F238E27FC236}">
                <a16:creationId xmlns:a16="http://schemas.microsoft.com/office/drawing/2014/main" id="{B383451F-3867-3A8B-F932-48697E433070}"/>
              </a:ext>
              <a:ext uri="{C183D7F6-B498-43B3-948B-1728B52AA6E4}">
                <adec:decorative xmlns:adec="http://schemas.microsoft.com/office/drawing/2017/decorative" val="1"/>
              </a:ext>
            </a:extLst>
          </p:cNvPr>
          <p:cNvGrpSpPr/>
          <p:nvPr/>
        </p:nvGrpSpPr>
        <p:grpSpPr>
          <a:xfrm>
            <a:off x="434970" y="2419637"/>
            <a:ext cx="10309230" cy="2801418"/>
            <a:chOff x="434970" y="2419637"/>
            <a:chExt cx="10309230" cy="2801418"/>
          </a:xfrm>
        </p:grpSpPr>
        <p:grpSp>
          <p:nvGrpSpPr>
            <p:cNvPr id="50" name="Group 49">
              <a:extLst>
                <a:ext uri="{FF2B5EF4-FFF2-40B4-BE49-F238E27FC236}">
                  <a16:creationId xmlns:a16="http://schemas.microsoft.com/office/drawing/2014/main" id="{652B75B0-A33C-E588-4C54-F06473B6B62B}"/>
                </a:ext>
              </a:extLst>
            </p:cNvPr>
            <p:cNvGrpSpPr/>
            <p:nvPr/>
          </p:nvGrpSpPr>
          <p:grpSpPr>
            <a:xfrm>
              <a:off x="434970" y="2419637"/>
              <a:ext cx="10309230" cy="2801418"/>
              <a:chOff x="434970" y="2419637"/>
              <a:chExt cx="10309230" cy="2801418"/>
            </a:xfrm>
          </p:grpSpPr>
          <p:sp>
            <p:nvSpPr>
              <p:cNvPr id="21" name="object 21"/>
              <p:cNvSpPr txBox="1"/>
              <p:nvPr/>
            </p:nvSpPr>
            <p:spPr>
              <a:xfrm>
                <a:off x="7327550" y="3521796"/>
                <a:ext cx="818230" cy="259045"/>
              </a:xfrm>
              <a:prstGeom prst="rect">
                <a:avLst/>
              </a:prstGeom>
            </p:spPr>
            <p:txBody>
              <a:bodyPr vert="horz" wrap="square" lIns="0" tIns="12700" rIns="0" bIns="0" rtlCol="0">
                <a:spAutoFit/>
              </a:bodyPr>
              <a:lstStyle/>
              <a:p>
                <a:pPr marL="12700">
                  <a:lnSpc>
                    <a:spcPct val="100000"/>
                  </a:lnSpc>
                  <a:spcBef>
                    <a:spcPts val="100"/>
                  </a:spcBef>
                </a:pPr>
                <a:r>
                  <a:rPr sz="1600" spc="-10" dirty="0">
                    <a:solidFill>
                      <a:srgbClr val="0F2044"/>
                    </a:solidFill>
                    <a:latin typeface="Arial MT"/>
                    <a:cs typeface="Arial MT"/>
                  </a:rPr>
                  <a:t>splitting</a:t>
                </a:r>
                <a:endParaRPr sz="1600" dirty="0">
                  <a:latin typeface="Arial MT"/>
                  <a:cs typeface="Arial MT"/>
                </a:endParaRPr>
              </a:p>
            </p:txBody>
          </p:sp>
          <p:sp>
            <p:nvSpPr>
              <p:cNvPr id="23" name="object 23"/>
              <p:cNvSpPr txBox="1"/>
              <p:nvPr/>
            </p:nvSpPr>
            <p:spPr>
              <a:xfrm>
                <a:off x="3276600" y="4815577"/>
                <a:ext cx="914400" cy="289823"/>
              </a:xfrm>
              <a:prstGeom prst="rect">
                <a:avLst/>
              </a:prstGeom>
            </p:spPr>
            <p:txBody>
              <a:bodyPr vert="horz" wrap="square" lIns="0" tIns="12700" rIns="0" bIns="0" rtlCol="0">
                <a:spAutoFit/>
              </a:bodyPr>
              <a:lstStyle/>
              <a:p>
                <a:pPr marL="12700">
                  <a:lnSpc>
                    <a:spcPct val="100000"/>
                  </a:lnSpc>
                  <a:spcBef>
                    <a:spcPts val="100"/>
                  </a:spcBef>
                </a:pPr>
                <a:r>
                  <a:rPr dirty="0">
                    <a:solidFill>
                      <a:srgbClr val="0F2044"/>
                    </a:solidFill>
                    <a:latin typeface="Arial" panose="020B0604020202020204" pitchFamily="34" charset="0"/>
                    <a:cs typeface="Arial" panose="020B0604020202020204" pitchFamily="34" charset="0"/>
                  </a:rPr>
                  <a:t>free</a:t>
                </a:r>
                <a:r>
                  <a:rPr spc="-20" dirty="0">
                    <a:solidFill>
                      <a:srgbClr val="0F2044"/>
                    </a:solidFill>
                    <a:latin typeface="Arial" panose="020B0604020202020204" pitchFamily="34" charset="0"/>
                    <a:cs typeface="Arial" panose="020B0604020202020204" pitchFamily="34" charset="0"/>
                  </a:rPr>
                  <a:t> </a:t>
                </a:r>
                <a:r>
                  <a:rPr spc="-25" dirty="0">
                    <a:solidFill>
                      <a:srgbClr val="0F2044"/>
                    </a:solidFill>
                    <a:latin typeface="Arial" panose="020B0604020202020204" pitchFamily="34" charset="0"/>
                    <a:cs typeface="Arial" panose="020B0604020202020204" pitchFamily="34" charset="0"/>
                  </a:rPr>
                  <a:t>(p</a:t>
                </a:r>
                <a:r>
                  <a:rPr lang="en-US" spc="-25" dirty="0">
                    <a:solidFill>
                      <a:srgbClr val="0F2044"/>
                    </a:solidFill>
                    <a:latin typeface="Arial" panose="020B0604020202020204" pitchFamily="34" charset="0"/>
                    <a:cs typeface="Arial" panose="020B0604020202020204" pitchFamily="34" charset="0"/>
                  </a:rPr>
                  <a:t>0</a:t>
                </a:r>
                <a:r>
                  <a:rPr spc="-25" dirty="0">
                    <a:solidFill>
                      <a:srgbClr val="0F2044"/>
                    </a:solidFill>
                    <a:latin typeface="Arial" panose="020B0604020202020204" pitchFamily="34" charset="0"/>
                    <a:cs typeface="Arial" panose="020B0604020202020204" pitchFamily="34" charset="0"/>
                  </a:rPr>
                  <a:t>)</a:t>
                </a:r>
                <a:endParaRPr dirty="0">
                  <a:latin typeface="Arial" panose="020B0604020202020204" pitchFamily="34" charset="0"/>
                  <a:cs typeface="Arial" panose="020B0604020202020204" pitchFamily="34" charset="0"/>
                </a:endParaRPr>
              </a:p>
            </p:txBody>
          </p:sp>
          <p:sp>
            <p:nvSpPr>
              <p:cNvPr id="25" name="object 25"/>
              <p:cNvSpPr/>
              <p:nvPr/>
            </p:nvSpPr>
            <p:spPr>
              <a:xfrm>
                <a:off x="4413567" y="4978422"/>
                <a:ext cx="720090" cy="5080"/>
              </a:xfrm>
              <a:custGeom>
                <a:avLst/>
                <a:gdLst/>
                <a:ahLst/>
                <a:cxnLst/>
                <a:rect l="l" t="t" r="r" b="b"/>
                <a:pathLst>
                  <a:path w="720089" h="5079">
                    <a:moveTo>
                      <a:pt x="0" y="0"/>
                    </a:moveTo>
                    <a:lnTo>
                      <a:pt x="719851" y="4724"/>
                    </a:lnTo>
                  </a:path>
                </a:pathLst>
              </a:custGeom>
              <a:ln w="12700">
                <a:solidFill>
                  <a:srgbClr val="0F2044"/>
                </a:solidFill>
                <a:tailEnd type="triangle"/>
              </a:ln>
            </p:spPr>
            <p:txBody>
              <a:bodyPr wrap="square" lIns="0" tIns="0" rIns="0" bIns="0" rtlCol="0"/>
              <a:lstStyle/>
              <a:p>
                <a:endParaRPr/>
              </a:p>
            </p:txBody>
          </p:sp>
          <p:sp>
            <p:nvSpPr>
              <p:cNvPr id="33" name="object 33"/>
              <p:cNvSpPr txBox="1"/>
              <p:nvPr/>
            </p:nvSpPr>
            <p:spPr>
              <a:xfrm>
                <a:off x="457200" y="3822481"/>
                <a:ext cx="1917700" cy="1249637"/>
              </a:xfrm>
              <a:prstGeom prst="rect">
                <a:avLst/>
              </a:prstGeom>
            </p:spPr>
            <p:txBody>
              <a:bodyPr vert="horz" wrap="square" lIns="0" tIns="12700" rIns="0" bIns="0" rtlCol="0">
                <a:spAutoFit/>
              </a:bodyPr>
              <a:lstStyle/>
              <a:p>
                <a:pPr marL="12700" marR="5080">
                  <a:lnSpc>
                    <a:spcPct val="114000"/>
                  </a:lnSpc>
                  <a:spcBef>
                    <a:spcPts val="100"/>
                  </a:spcBef>
                </a:pPr>
                <a:r>
                  <a:rPr sz="1800" dirty="0">
                    <a:solidFill>
                      <a:srgbClr val="0F2044"/>
                    </a:solidFill>
                    <a:latin typeface="Arial MT"/>
                    <a:cs typeface="Arial MT"/>
                  </a:rPr>
                  <a:t>How</a:t>
                </a:r>
                <a:r>
                  <a:rPr sz="1800" spc="-30" dirty="0">
                    <a:solidFill>
                      <a:srgbClr val="0F2044"/>
                    </a:solidFill>
                    <a:latin typeface="Arial MT"/>
                    <a:cs typeface="Arial MT"/>
                  </a:rPr>
                  <a:t> </a:t>
                </a:r>
                <a:r>
                  <a:rPr sz="1800" dirty="0">
                    <a:solidFill>
                      <a:srgbClr val="0F2044"/>
                    </a:solidFill>
                    <a:latin typeface="Arial MT"/>
                    <a:cs typeface="Arial MT"/>
                  </a:rPr>
                  <a:t>much</a:t>
                </a:r>
                <a:r>
                  <a:rPr sz="1800" spc="-15" dirty="0">
                    <a:solidFill>
                      <a:srgbClr val="0F2044"/>
                    </a:solidFill>
                    <a:latin typeface="Arial MT"/>
                    <a:cs typeface="Arial MT"/>
                  </a:rPr>
                  <a:t> </a:t>
                </a:r>
                <a:r>
                  <a:rPr sz="1800" spc="-10" dirty="0">
                    <a:solidFill>
                      <a:srgbClr val="0F2044"/>
                    </a:solidFill>
                    <a:latin typeface="Arial MT"/>
                    <a:cs typeface="Arial MT"/>
                  </a:rPr>
                  <a:t>internal </a:t>
                </a:r>
                <a:r>
                  <a:rPr sz="1800" dirty="0">
                    <a:solidFill>
                      <a:srgbClr val="0F2044"/>
                    </a:solidFill>
                    <a:latin typeface="Arial MT"/>
                    <a:cs typeface="Arial MT"/>
                  </a:rPr>
                  <a:t>fragmentation</a:t>
                </a:r>
                <a:r>
                  <a:rPr sz="1800" spc="-65" dirty="0">
                    <a:solidFill>
                      <a:srgbClr val="0F2044"/>
                    </a:solidFill>
                    <a:latin typeface="Arial MT"/>
                    <a:cs typeface="Arial MT"/>
                  </a:rPr>
                  <a:t> </a:t>
                </a:r>
                <a:r>
                  <a:rPr sz="1800" spc="-25" dirty="0">
                    <a:solidFill>
                      <a:srgbClr val="0F2044"/>
                    </a:solidFill>
                    <a:latin typeface="Arial MT"/>
                    <a:cs typeface="Arial MT"/>
                  </a:rPr>
                  <a:t>are </a:t>
                </a:r>
                <a:r>
                  <a:rPr sz="1800" dirty="0">
                    <a:solidFill>
                      <a:srgbClr val="0F2044"/>
                    </a:solidFill>
                    <a:latin typeface="Arial MT"/>
                    <a:cs typeface="Arial MT"/>
                  </a:rPr>
                  <a:t>we</a:t>
                </a:r>
                <a:r>
                  <a:rPr sz="1800" spc="-25" dirty="0">
                    <a:solidFill>
                      <a:srgbClr val="0F2044"/>
                    </a:solidFill>
                    <a:latin typeface="Arial MT"/>
                    <a:cs typeface="Arial MT"/>
                  </a:rPr>
                  <a:t> </a:t>
                </a:r>
                <a:r>
                  <a:rPr sz="1800" dirty="0">
                    <a:solidFill>
                      <a:srgbClr val="0F2044"/>
                    </a:solidFill>
                    <a:latin typeface="Arial MT"/>
                    <a:cs typeface="Arial MT"/>
                  </a:rPr>
                  <a:t>willing</a:t>
                </a:r>
                <a:r>
                  <a:rPr sz="1800" spc="-20" dirty="0">
                    <a:solidFill>
                      <a:srgbClr val="0F2044"/>
                    </a:solidFill>
                    <a:latin typeface="Arial MT"/>
                    <a:cs typeface="Arial MT"/>
                  </a:rPr>
                  <a:t> </a:t>
                </a:r>
                <a:r>
                  <a:rPr sz="1800" spc="-25" dirty="0">
                    <a:solidFill>
                      <a:srgbClr val="0F2044"/>
                    </a:solidFill>
                    <a:latin typeface="Arial MT"/>
                    <a:cs typeface="Arial MT"/>
                  </a:rPr>
                  <a:t>to </a:t>
                </a:r>
                <a:r>
                  <a:rPr sz="1800" spc="-10" dirty="0">
                    <a:solidFill>
                      <a:srgbClr val="0F2044"/>
                    </a:solidFill>
                    <a:latin typeface="Arial MT"/>
                    <a:cs typeface="Arial MT"/>
                  </a:rPr>
                  <a:t>tolerate?</a:t>
                </a:r>
                <a:endParaRPr sz="1800" dirty="0">
                  <a:latin typeface="Arial MT"/>
                  <a:cs typeface="Arial MT"/>
                </a:endParaRPr>
              </a:p>
            </p:txBody>
          </p:sp>
          <p:grpSp>
            <p:nvGrpSpPr>
              <p:cNvPr id="34" name="Group 33">
                <a:extLst>
                  <a:ext uri="{FF2B5EF4-FFF2-40B4-BE49-F238E27FC236}">
                    <a16:creationId xmlns:a16="http://schemas.microsoft.com/office/drawing/2014/main" id="{A7681CF2-C2E5-2089-DB67-1EF7F4D03380}"/>
                  </a:ext>
                </a:extLst>
              </p:cNvPr>
              <p:cNvGrpSpPr/>
              <p:nvPr/>
            </p:nvGrpSpPr>
            <p:grpSpPr>
              <a:xfrm>
                <a:off x="434970" y="2419637"/>
                <a:ext cx="10309230" cy="856963"/>
                <a:chOff x="434970" y="2419637"/>
                <a:chExt cx="10309230" cy="856963"/>
              </a:xfrm>
            </p:grpSpPr>
            <p:grpSp>
              <p:nvGrpSpPr>
                <p:cNvPr id="35" name="object 4">
                  <a:extLst>
                    <a:ext uri="{FF2B5EF4-FFF2-40B4-BE49-F238E27FC236}">
                      <a16:creationId xmlns:a16="http://schemas.microsoft.com/office/drawing/2014/main" id="{60BCB1D2-37EB-223D-F22A-845B1EBDDA87}"/>
                    </a:ext>
                  </a:extLst>
                </p:cNvPr>
                <p:cNvGrpSpPr/>
                <p:nvPr/>
              </p:nvGrpSpPr>
              <p:grpSpPr>
                <a:xfrm>
                  <a:off x="649112" y="2419637"/>
                  <a:ext cx="2482850" cy="218440"/>
                  <a:chOff x="649112" y="2419637"/>
                  <a:chExt cx="2482850" cy="218440"/>
                </a:xfrm>
              </p:grpSpPr>
              <p:sp>
                <p:nvSpPr>
                  <p:cNvPr id="46" name="object 5">
                    <a:extLst>
                      <a:ext uri="{FF2B5EF4-FFF2-40B4-BE49-F238E27FC236}">
                        <a16:creationId xmlns:a16="http://schemas.microsoft.com/office/drawing/2014/main" id="{34B6E225-83E0-9A87-7D37-ECC5CB4BEEAE}"/>
                      </a:ext>
                    </a:extLst>
                  </p:cNvPr>
                  <p:cNvSpPr/>
                  <p:nvPr/>
                </p:nvSpPr>
                <p:spPr>
                  <a:xfrm>
                    <a:off x="653875" y="2424400"/>
                    <a:ext cx="2473325" cy="208915"/>
                  </a:xfrm>
                  <a:custGeom>
                    <a:avLst/>
                    <a:gdLst/>
                    <a:ahLst/>
                    <a:cxnLst/>
                    <a:rect l="l" t="t" r="r" b="b"/>
                    <a:pathLst>
                      <a:path w="2473325" h="208914">
                        <a:moveTo>
                          <a:pt x="52199" y="208799"/>
                        </a:moveTo>
                        <a:lnTo>
                          <a:pt x="0" y="208799"/>
                        </a:lnTo>
                        <a:lnTo>
                          <a:pt x="0" y="91349"/>
                        </a:lnTo>
                        <a:lnTo>
                          <a:pt x="26755" y="26755"/>
                        </a:lnTo>
                        <a:lnTo>
                          <a:pt x="91349" y="0"/>
                        </a:lnTo>
                        <a:lnTo>
                          <a:pt x="2355749" y="0"/>
                        </a:lnTo>
                        <a:lnTo>
                          <a:pt x="2406430" y="15347"/>
                        </a:lnTo>
                        <a:lnTo>
                          <a:pt x="2437908" y="52199"/>
                        </a:lnTo>
                        <a:lnTo>
                          <a:pt x="91349" y="52199"/>
                        </a:lnTo>
                        <a:lnTo>
                          <a:pt x="76111" y="55276"/>
                        </a:lnTo>
                        <a:lnTo>
                          <a:pt x="63666" y="63666"/>
                        </a:lnTo>
                        <a:lnTo>
                          <a:pt x="55276" y="76111"/>
                        </a:lnTo>
                        <a:lnTo>
                          <a:pt x="52199" y="91349"/>
                        </a:lnTo>
                        <a:lnTo>
                          <a:pt x="52199" y="208799"/>
                        </a:lnTo>
                        <a:close/>
                      </a:path>
                      <a:path w="2473325" h="208914">
                        <a:moveTo>
                          <a:pt x="2447099" y="104399"/>
                        </a:moveTo>
                        <a:lnTo>
                          <a:pt x="2394899" y="104399"/>
                        </a:lnTo>
                        <a:lnTo>
                          <a:pt x="2394899" y="91349"/>
                        </a:lnTo>
                        <a:lnTo>
                          <a:pt x="2391823" y="76111"/>
                        </a:lnTo>
                        <a:lnTo>
                          <a:pt x="2383433" y="63666"/>
                        </a:lnTo>
                        <a:lnTo>
                          <a:pt x="2370988" y="55276"/>
                        </a:lnTo>
                        <a:lnTo>
                          <a:pt x="2355749" y="52199"/>
                        </a:lnTo>
                        <a:lnTo>
                          <a:pt x="2437908" y="52199"/>
                        </a:lnTo>
                        <a:lnTo>
                          <a:pt x="2440146" y="56391"/>
                        </a:lnTo>
                        <a:lnTo>
                          <a:pt x="2445328" y="73445"/>
                        </a:lnTo>
                        <a:lnTo>
                          <a:pt x="2447099" y="91349"/>
                        </a:lnTo>
                        <a:lnTo>
                          <a:pt x="2447099" y="104399"/>
                        </a:lnTo>
                        <a:close/>
                      </a:path>
                      <a:path w="2473325" h="208914">
                        <a:moveTo>
                          <a:pt x="2420999" y="156599"/>
                        </a:moveTo>
                        <a:lnTo>
                          <a:pt x="2368799" y="104399"/>
                        </a:lnTo>
                        <a:lnTo>
                          <a:pt x="2473199" y="104399"/>
                        </a:lnTo>
                        <a:lnTo>
                          <a:pt x="2420999" y="156599"/>
                        </a:lnTo>
                        <a:close/>
                      </a:path>
                    </a:pathLst>
                  </a:custGeom>
                  <a:solidFill>
                    <a:srgbClr val="BEC0C1"/>
                  </a:solidFill>
                </p:spPr>
                <p:txBody>
                  <a:bodyPr wrap="square" lIns="0" tIns="0" rIns="0" bIns="0" rtlCol="0"/>
                  <a:lstStyle/>
                  <a:p>
                    <a:endParaRPr/>
                  </a:p>
                </p:txBody>
              </p:sp>
              <p:sp>
                <p:nvSpPr>
                  <p:cNvPr id="47" name="object 6">
                    <a:extLst>
                      <a:ext uri="{FF2B5EF4-FFF2-40B4-BE49-F238E27FC236}">
                        <a16:creationId xmlns:a16="http://schemas.microsoft.com/office/drawing/2014/main" id="{45DC31AA-99F4-0777-A78C-6608CAFD0E58}"/>
                      </a:ext>
                    </a:extLst>
                  </p:cNvPr>
                  <p:cNvSpPr/>
                  <p:nvPr/>
                </p:nvSpPr>
                <p:spPr>
                  <a:xfrm>
                    <a:off x="653875" y="2424400"/>
                    <a:ext cx="2473325" cy="208915"/>
                  </a:xfrm>
                  <a:custGeom>
                    <a:avLst/>
                    <a:gdLst/>
                    <a:ahLst/>
                    <a:cxnLst/>
                    <a:rect l="l" t="t" r="r" b="b"/>
                    <a:pathLst>
                      <a:path w="2473325" h="208914">
                        <a:moveTo>
                          <a:pt x="0" y="208799"/>
                        </a:moveTo>
                        <a:lnTo>
                          <a:pt x="0" y="91349"/>
                        </a:lnTo>
                        <a:lnTo>
                          <a:pt x="7178" y="55792"/>
                        </a:lnTo>
                        <a:lnTo>
                          <a:pt x="26755" y="26755"/>
                        </a:lnTo>
                        <a:lnTo>
                          <a:pt x="55792" y="7178"/>
                        </a:lnTo>
                        <a:lnTo>
                          <a:pt x="91349" y="0"/>
                        </a:lnTo>
                        <a:lnTo>
                          <a:pt x="2355749" y="0"/>
                        </a:lnTo>
                        <a:lnTo>
                          <a:pt x="2406430" y="15347"/>
                        </a:lnTo>
                        <a:lnTo>
                          <a:pt x="2440146" y="56391"/>
                        </a:lnTo>
                        <a:lnTo>
                          <a:pt x="2447099" y="91349"/>
                        </a:lnTo>
                        <a:lnTo>
                          <a:pt x="2447099" y="104399"/>
                        </a:lnTo>
                        <a:lnTo>
                          <a:pt x="2473199" y="104399"/>
                        </a:lnTo>
                        <a:lnTo>
                          <a:pt x="2420999" y="156599"/>
                        </a:lnTo>
                        <a:lnTo>
                          <a:pt x="2368799" y="104399"/>
                        </a:lnTo>
                        <a:lnTo>
                          <a:pt x="2394899" y="104399"/>
                        </a:lnTo>
                        <a:lnTo>
                          <a:pt x="2394899" y="91349"/>
                        </a:lnTo>
                        <a:lnTo>
                          <a:pt x="2391823" y="76111"/>
                        </a:lnTo>
                        <a:lnTo>
                          <a:pt x="2383433" y="63666"/>
                        </a:lnTo>
                        <a:lnTo>
                          <a:pt x="2370988" y="55276"/>
                        </a:lnTo>
                        <a:lnTo>
                          <a:pt x="2355749" y="52199"/>
                        </a:lnTo>
                        <a:lnTo>
                          <a:pt x="91349" y="52199"/>
                        </a:lnTo>
                        <a:lnTo>
                          <a:pt x="76111" y="55276"/>
                        </a:lnTo>
                        <a:lnTo>
                          <a:pt x="63666" y="63666"/>
                        </a:lnTo>
                        <a:lnTo>
                          <a:pt x="55276" y="76111"/>
                        </a:lnTo>
                        <a:lnTo>
                          <a:pt x="52199" y="91349"/>
                        </a:lnTo>
                        <a:lnTo>
                          <a:pt x="52199" y="208799"/>
                        </a:lnTo>
                        <a:lnTo>
                          <a:pt x="0" y="208799"/>
                        </a:lnTo>
                        <a:close/>
                      </a:path>
                    </a:pathLst>
                  </a:custGeom>
                  <a:ln w="9524">
                    <a:solidFill>
                      <a:srgbClr val="0F2044"/>
                    </a:solidFill>
                  </a:ln>
                </p:spPr>
                <p:txBody>
                  <a:bodyPr wrap="square" lIns="0" tIns="0" rIns="0" bIns="0" rtlCol="0"/>
                  <a:lstStyle/>
                  <a:p>
                    <a:endParaRPr/>
                  </a:p>
                </p:txBody>
              </p:sp>
            </p:grpSp>
            <p:grpSp>
              <p:nvGrpSpPr>
                <p:cNvPr id="36" name="object 7">
                  <a:extLst>
                    <a:ext uri="{FF2B5EF4-FFF2-40B4-BE49-F238E27FC236}">
                      <a16:creationId xmlns:a16="http://schemas.microsoft.com/office/drawing/2014/main" id="{CDAFD1FD-0391-5428-D133-F47274940458}"/>
                    </a:ext>
                  </a:extLst>
                </p:cNvPr>
                <p:cNvGrpSpPr/>
                <p:nvPr/>
              </p:nvGrpSpPr>
              <p:grpSpPr>
                <a:xfrm>
                  <a:off x="3182762" y="2419637"/>
                  <a:ext cx="2347595" cy="218440"/>
                  <a:chOff x="3182762" y="2419637"/>
                  <a:chExt cx="2347595" cy="218440"/>
                </a:xfrm>
              </p:grpSpPr>
              <p:sp>
                <p:nvSpPr>
                  <p:cNvPr id="44" name="object 8">
                    <a:extLst>
                      <a:ext uri="{FF2B5EF4-FFF2-40B4-BE49-F238E27FC236}">
                        <a16:creationId xmlns:a16="http://schemas.microsoft.com/office/drawing/2014/main" id="{ADC68820-56BC-AE4A-353C-C76B590165D8}"/>
                      </a:ext>
                    </a:extLst>
                  </p:cNvPr>
                  <p:cNvSpPr/>
                  <p:nvPr/>
                </p:nvSpPr>
                <p:spPr>
                  <a:xfrm>
                    <a:off x="3187524" y="2424400"/>
                    <a:ext cx="2338070" cy="208915"/>
                  </a:xfrm>
                  <a:custGeom>
                    <a:avLst/>
                    <a:gdLst/>
                    <a:ahLst/>
                    <a:cxnLst/>
                    <a:rect l="l" t="t" r="r" b="b"/>
                    <a:pathLst>
                      <a:path w="2338070" h="208914">
                        <a:moveTo>
                          <a:pt x="52199" y="208799"/>
                        </a:moveTo>
                        <a:lnTo>
                          <a:pt x="0" y="208799"/>
                        </a:lnTo>
                        <a:lnTo>
                          <a:pt x="0" y="91349"/>
                        </a:lnTo>
                        <a:lnTo>
                          <a:pt x="7057" y="56391"/>
                        </a:lnTo>
                        <a:lnTo>
                          <a:pt x="7178" y="55792"/>
                        </a:lnTo>
                        <a:lnTo>
                          <a:pt x="26755" y="26755"/>
                        </a:lnTo>
                        <a:lnTo>
                          <a:pt x="55792" y="7178"/>
                        </a:lnTo>
                        <a:lnTo>
                          <a:pt x="91349" y="0"/>
                        </a:lnTo>
                        <a:lnTo>
                          <a:pt x="2220149" y="0"/>
                        </a:lnTo>
                        <a:lnTo>
                          <a:pt x="2270831" y="15347"/>
                        </a:lnTo>
                        <a:lnTo>
                          <a:pt x="2302308" y="52199"/>
                        </a:lnTo>
                        <a:lnTo>
                          <a:pt x="91349" y="52199"/>
                        </a:lnTo>
                        <a:lnTo>
                          <a:pt x="76111" y="55276"/>
                        </a:lnTo>
                        <a:lnTo>
                          <a:pt x="63666" y="63666"/>
                        </a:lnTo>
                        <a:lnTo>
                          <a:pt x="55276" y="76111"/>
                        </a:lnTo>
                        <a:lnTo>
                          <a:pt x="52199" y="91349"/>
                        </a:lnTo>
                        <a:lnTo>
                          <a:pt x="52199" y="208799"/>
                        </a:lnTo>
                        <a:close/>
                      </a:path>
                      <a:path w="2338070" h="208914">
                        <a:moveTo>
                          <a:pt x="2311499" y="104399"/>
                        </a:moveTo>
                        <a:lnTo>
                          <a:pt x="2259299" y="104399"/>
                        </a:lnTo>
                        <a:lnTo>
                          <a:pt x="2259299" y="91349"/>
                        </a:lnTo>
                        <a:lnTo>
                          <a:pt x="2256223" y="76111"/>
                        </a:lnTo>
                        <a:lnTo>
                          <a:pt x="2247833" y="63666"/>
                        </a:lnTo>
                        <a:lnTo>
                          <a:pt x="2235388" y="55276"/>
                        </a:lnTo>
                        <a:lnTo>
                          <a:pt x="2220149" y="52199"/>
                        </a:lnTo>
                        <a:lnTo>
                          <a:pt x="2302308" y="52199"/>
                        </a:lnTo>
                        <a:lnTo>
                          <a:pt x="2304546" y="56391"/>
                        </a:lnTo>
                        <a:lnTo>
                          <a:pt x="2309728" y="73445"/>
                        </a:lnTo>
                        <a:lnTo>
                          <a:pt x="2311499" y="91349"/>
                        </a:lnTo>
                        <a:lnTo>
                          <a:pt x="2311499" y="104399"/>
                        </a:lnTo>
                        <a:close/>
                      </a:path>
                      <a:path w="2338070" h="208914">
                        <a:moveTo>
                          <a:pt x="2285399" y="156599"/>
                        </a:moveTo>
                        <a:lnTo>
                          <a:pt x="2233199" y="104399"/>
                        </a:lnTo>
                        <a:lnTo>
                          <a:pt x="2337599" y="104399"/>
                        </a:lnTo>
                        <a:lnTo>
                          <a:pt x="2285399" y="156599"/>
                        </a:lnTo>
                        <a:close/>
                      </a:path>
                    </a:pathLst>
                  </a:custGeom>
                  <a:solidFill>
                    <a:srgbClr val="BEC0C1"/>
                  </a:solidFill>
                </p:spPr>
                <p:txBody>
                  <a:bodyPr wrap="square" lIns="0" tIns="0" rIns="0" bIns="0" rtlCol="0"/>
                  <a:lstStyle/>
                  <a:p>
                    <a:endParaRPr/>
                  </a:p>
                </p:txBody>
              </p:sp>
              <p:sp>
                <p:nvSpPr>
                  <p:cNvPr id="45" name="object 9">
                    <a:extLst>
                      <a:ext uri="{FF2B5EF4-FFF2-40B4-BE49-F238E27FC236}">
                        <a16:creationId xmlns:a16="http://schemas.microsoft.com/office/drawing/2014/main" id="{A4FA8229-E592-672B-0A8B-F6B21FAD01BB}"/>
                      </a:ext>
                    </a:extLst>
                  </p:cNvPr>
                  <p:cNvSpPr/>
                  <p:nvPr/>
                </p:nvSpPr>
                <p:spPr>
                  <a:xfrm>
                    <a:off x="3187525" y="2424400"/>
                    <a:ext cx="2338070" cy="208915"/>
                  </a:xfrm>
                  <a:custGeom>
                    <a:avLst/>
                    <a:gdLst/>
                    <a:ahLst/>
                    <a:cxnLst/>
                    <a:rect l="l" t="t" r="r" b="b"/>
                    <a:pathLst>
                      <a:path w="2338070" h="208914">
                        <a:moveTo>
                          <a:pt x="0" y="208799"/>
                        </a:moveTo>
                        <a:lnTo>
                          <a:pt x="0" y="91349"/>
                        </a:lnTo>
                        <a:lnTo>
                          <a:pt x="7178" y="55792"/>
                        </a:lnTo>
                        <a:lnTo>
                          <a:pt x="26755" y="26755"/>
                        </a:lnTo>
                        <a:lnTo>
                          <a:pt x="55792" y="7178"/>
                        </a:lnTo>
                        <a:lnTo>
                          <a:pt x="91349" y="0"/>
                        </a:lnTo>
                        <a:lnTo>
                          <a:pt x="2220149" y="0"/>
                        </a:lnTo>
                        <a:lnTo>
                          <a:pt x="2270831" y="15347"/>
                        </a:lnTo>
                        <a:lnTo>
                          <a:pt x="2304546" y="56391"/>
                        </a:lnTo>
                        <a:lnTo>
                          <a:pt x="2311499" y="91349"/>
                        </a:lnTo>
                        <a:lnTo>
                          <a:pt x="2311499" y="104399"/>
                        </a:lnTo>
                        <a:lnTo>
                          <a:pt x="2337599" y="104399"/>
                        </a:lnTo>
                        <a:lnTo>
                          <a:pt x="2285399" y="156599"/>
                        </a:lnTo>
                        <a:lnTo>
                          <a:pt x="2233199" y="104399"/>
                        </a:lnTo>
                        <a:lnTo>
                          <a:pt x="2259299" y="104399"/>
                        </a:lnTo>
                        <a:lnTo>
                          <a:pt x="2259299" y="91349"/>
                        </a:lnTo>
                        <a:lnTo>
                          <a:pt x="2256223" y="76111"/>
                        </a:lnTo>
                        <a:lnTo>
                          <a:pt x="2247833" y="63666"/>
                        </a:lnTo>
                        <a:lnTo>
                          <a:pt x="2235388" y="55276"/>
                        </a:lnTo>
                        <a:lnTo>
                          <a:pt x="2220149" y="52199"/>
                        </a:lnTo>
                        <a:lnTo>
                          <a:pt x="91349" y="52199"/>
                        </a:lnTo>
                        <a:lnTo>
                          <a:pt x="76111" y="55276"/>
                        </a:lnTo>
                        <a:lnTo>
                          <a:pt x="63666" y="63666"/>
                        </a:lnTo>
                        <a:lnTo>
                          <a:pt x="55276" y="76111"/>
                        </a:lnTo>
                        <a:lnTo>
                          <a:pt x="52199" y="91349"/>
                        </a:lnTo>
                        <a:lnTo>
                          <a:pt x="52199" y="208799"/>
                        </a:lnTo>
                        <a:lnTo>
                          <a:pt x="0" y="208799"/>
                        </a:lnTo>
                        <a:close/>
                      </a:path>
                    </a:pathLst>
                  </a:custGeom>
                  <a:ln w="9524">
                    <a:solidFill>
                      <a:srgbClr val="0F2044"/>
                    </a:solidFill>
                  </a:ln>
                </p:spPr>
                <p:txBody>
                  <a:bodyPr wrap="square" lIns="0" tIns="0" rIns="0" bIns="0" rtlCol="0"/>
                  <a:lstStyle/>
                  <a:p>
                    <a:endParaRPr/>
                  </a:p>
                </p:txBody>
              </p:sp>
            </p:grpSp>
            <p:grpSp>
              <p:nvGrpSpPr>
                <p:cNvPr id="37" name="object 10">
                  <a:extLst>
                    <a:ext uri="{FF2B5EF4-FFF2-40B4-BE49-F238E27FC236}">
                      <a16:creationId xmlns:a16="http://schemas.microsoft.com/office/drawing/2014/main" id="{66D41D05-B82B-75CF-0D18-17E1A7415B67}"/>
                    </a:ext>
                  </a:extLst>
                </p:cNvPr>
                <p:cNvGrpSpPr/>
                <p:nvPr/>
              </p:nvGrpSpPr>
              <p:grpSpPr>
                <a:xfrm>
                  <a:off x="5655962" y="2419637"/>
                  <a:ext cx="3558540" cy="218440"/>
                  <a:chOff x="5655962" y="2419637"/>
                  <a:chExt cx="3558540" cy="218440"/>
                </a:xfrm>
              </p:grpSpPr>
              <p:sp>
                <p:nvSpPr>
                  <p:cNvPr id="42" name="object 11">
                    <a:extLst>
                      <a:ext uri="{FF2B5EF4-FFF2-40B4-BE49-F238E27FC236}">
                        <a16:creationId xmlns:a16="http://schemas.microsoft.com/office/drawing/2014/main" id="{F978F3ED-7C42-A112-39BE-F0DA27A78F1E}"/>
                      </a:ext>
                    </a:extLst>
                  </p:cNvPr>
                  <p:cNvSpPr/>
                  <p:nvPr/>
                </p:nvSpPr>
                <p:spPr>
                  <a:xfrm>
                    <a:off x="5660724" y="2424400"/>
                    <a:ext cx="3549015" cy="208915"/>
                  </a:xfrm>
                  <a:custGeom>
                    <a:avLst/>
                    <a:gdLst/>
                    <a:ahLst/>
                    <a:cxnLst/>
                    <a:rect l="l" t="t" r="r" b="b"/>
                    <a:pathLst>
                      <a:path w="3549015" h="208914">
                        <a:moveTo>
                          <a:pt x="52199" y="208799"/>
                        </a:moveTo>
                        <a:lnTo>
                          <a:pt x="0" y="208799"/>
                        </a:lnTo>
                        <a:lnTo>
                          <a:pt x="0" y="91349"/>
                        </a:lnTo>
                        <a:lnTo>
                          <a:pt x="7057" y="56391"/>
                        </a:lnTo>
                        <a:lnTo>
                          <a:pt x="7178" y="55792"/>
                        </a:lnTo>
                        <a:lnTo>
                          <a:pt x="26755" y="26755"/>
                        </a:lnTo>
                        <a:lnTo>
                          <a:pt x="55792" y="7178"/>
                        </a:lnTo>
                        <a:lnTo>
                          <a:pt x="91349" y="0"/>
                        </a:lnTo>
                        <a:lnTo>
                          <a:pt x="3431549" y="0"/>
                        </a:lnTo>
                        <a:lnTo>
                          <a:pt x="3482231" y="15347"/>
                        </a:lnTo>
                        <a:lnTo>
                          <a:pt x="3513708" y="52199"/>
                        </a:lnTo>
                        <a:lnTo>
                          <a:pt x="91349" y="52199"/>
                        </a:lnTo>
                        <a:lnTo>
                          <a:pt x="76111" y="55276"/>
                        </a:lnTo>
                        <a:lnTo>
                          <a:pt x="63666" y="63666"/>
                        </a:lnTo>
                        <a:lnTo>
                          <a:pt x="55276" y="76111"/>
                        </a:lnTo>
                        <a:lnTo>
                          <a:pt x="52199" y="91349"/>
                        </a:lnTo>
                        <a:lnTo>
                          <a:pt x="52199" y="208799"/>
                        </a:lnTo>
                        <a:close/>
                      </a:path>
                      <a:path w="3549015" h="208914">
                        <a:moveTo>
                          <a:pt x="3522899" y="104399"/>
                        </a:moveTo>
                        <a:lnTo>
                          <a:pt x="3470699" y="104399"/>
                        </a:lnTo>
                        <a:lnTo>
                          <a:pt x="3470699" y="91349"/>
                        </a:lnTo>
                        <a:lnTo>
                          <a:pt x="3467623" y="76111"/>
                        </a:lnTo>
                        <a:lnTo>
                          <a:pt x="3459233" y="63666"/>
                        </a:lnTo>
                        <a:lnTo>
                          <a:pt x="3446788" y="55276"/>
                        </a:lnTo>
                        <a:lnTo>
                          <a:pt x="3431549" y="52199"/>
                        </a:lnTo>
                        <a:lnTo>
                          <a:pt x="3513708" y="52199"/>
                        </a:lnTo>
                        <a:lnTo>
                          <a:pt x="3515946" y="56391"/>
                        </a:lnTo>
                        <a:lnTo>
                          <a:pt x="3521128" y="73445"/>
                        </a:lnTo>
                        <a:lnTo>
                          <a:pt x="3522899" y="91349"/>
                        </a:lnTo>
                        <a:lnTo>
                          <a:pt x="3522899" y="104399"/>
                        </a:lnTo>
                        <a:close/>
                      </a:path>
                      <a:path w="3549015" h="208914">
                        <a:moveTo>
                          <a:pt x="3496799" y="156599"/>
                        </a:moveTo>
                        <a:lnTo>
                          <a:pt x="3444599" y="104399"/>
                        </a:lnTo>
                        <a:lnTo>
                          <a:pt x="3548999" y="104399"/>
                        </a:lnTo>
                        <a:lnTo>
                          <a:pt x="3496799" y="156599"/>
                        </a:lnTo>
                        <a:close/>
                      </a:path>
                    </a:pathLst>
                  </a:custGeom>
                  <a:solidFill>
                    <a:srgbClr val="BEC0C1"/>
                  </a:solidFill>
                </p:spPr>
                <p:txBody>
                  <a:bodyPr wrap="square" lIns="0" tIns="0" rIns="0" bIns="0" rtlCol="0"/>
                  <a:lstStyle/>
                  <a:p>
                    <a:endParaRPr/>
                  </a:p>
                </p:txBody>
              </p:sp>
              <p:sp>
                <p:nvSpPr>
                  <p:cNvPr id="43" name="object 12">
                    <a:extLst>
                      <a:ext uri="{FF2B5EF4-FFF2-40B4-BE49-F238E27FC236}">
                        <a16:creationId xmlns:a16="http://schemas.microsoft.com/office/drawing/2014/main" id="{9F463D3E-7553-46C8-FCCF-6AC0F2C427C8}"/>
                      </a:ext>
                    </a:extLst>
                  </p:cNvPr>
                  <p:cNvSpPr/>
                  <p:nvPr/>
                </p:nvSpPr>
                <p:spPr>
                  <a:xfrm>
                    <a:off x="5660725" y="2424400"/>
                    <a:ext cx="3549015" cy="208915"/>
                  </a:xfrm>
                  <a:custGeom>
                    <a:avLst/>
                    <a:gdLst/>
                    <a:ahLst/>
                    <a:cxnLst/>
                    <a:rect l="l" t="t" r="r" b="b"/>
                    <a:pathLst>
                      <a:path w="3549015" h="208914">
                        <a:moveTo>
                          <a:pt x="0" y="208799"/>
                        </a:moveTo>
                        <a:lnTo>
                          <a:pt x="0" y="91349"/>
                        </a:lnTo>
                        <a:lnTo>
                          <a:pt x="7178" y="55792"/>
                        </a:lnTo>
                        <a:lnTo>
                          <a:pt x="26755" y="26755"/>
                        </a:lnTo>
                        <a:lnTo>
                          <a:pt x="55792" y="7178"/>
                        </a:lnTo>
                        <a:lnTo>
                          <a:pt x="91349" y="0"/>
                        </a:lnTo>
                        <a:lnTo>
                          <a:pt x="3431549" y="0"/>
                        </a:lnTo>
                        <a:lnTo>
                          <a:pt x="3482231" y="15347"/>
                        </a:lnTo>
                        <a:lnTo>
                          <a:pt x="3515946" y="56391"/>
                        </a:lnTo>
                        <a:lnTo>
                          <a:pt x="3522899" y="91349"/>
                        </a:lnTo>
                        <a:lnTo>
                          <a:pt x="3522899" y="104399"/>
                        </a:lnTo>
                        <a:lnTo>
                          <a:pt x="3548999" y="104399"/>
                        </a:lnTo>
                        <a:lnTo>
                          <a:pt x="3496799" y="156599"/>
                        </a:lnTo>
                        <a:lnTo>
                          <a:pt x="3444599" y="104399"/>
                        </a:lnTo>
                        <a:lnTo>
                          <a:pt x="3470699" y="104399"/>
                        </a:lnTo>
                        <a:lnTo>
                          <a:pt x="3470699" y="91349"/>
                        </a:lnTo>
                        <a:lnTo>
                          <a:pt x="3467623" y="76111"/>
                        </a:lnTo>
                        <a:lnTo>
                          <a:pt x="3459233" y="63666"/>
                        </a:lnTo>
                        <a:lnTo>
                          <a:pt x="3446788" y="55276"/>
                        </a:lnTo>
                        <a:lnTo>
                          <a:pt x="3431549" y="52199"/>
                        </a:lnTo>
                        <a:lnTo>
                          <a:pt x="91349" y="52199"/>
                        </a:lnTo>
                        <a:lnTo>
                          <a:pt x="76111" y="55276"/>
                        </a:lnTo>
                        <a:lnTo>
                          <a:pt x="63666" y="63666"/>
                        </a:lnTo>
                        <a:lnTo>
                          <a:pt x="55276" y="76111"/>
                        </a:lnTo>
                        <a:lnTo>
                          <a:pt x="52199" y="91349"/>
                        </a:lnTo>
                        <a:lnTo>
                          <a:pt x="52199" y="208799"/>
                        </a:lnTo>
                        <a:lnTo>
                          <a:pt x="0" y="208799"/>
                        </a:lnTo>
                        <a:close/>
                      </a:path>
                    </a:pathLst>
                  </a:custGeom>
                  <a:ln w="9524">
                    <a:solidFill>
                      <a:srgbClr val="0F2044"/>
                    </a:solidFill>
                  </a:ln>
                </p:spPr>
                <p:txBody>
                  <a:bodyPr wrap="square" lIns="0" tIns="0" rIns="0" bIns="0" rtlCol="0"/>
                  <a:lstStyle/>
                  <a:p>
                    <a:endParaRPr/>
                  </a:p>
                </p:txBody>
              </p:sp>
            </p:grpSp>
            <p:grpSp>
              <p:nvGrpSpPr>
                <p:cNvPr id="38" name="object 13">
                  <a:extLst>
                    <a:ext uri="{FF2B5EF4-FFF2-40B4-BE49-F238E27FC236}">
                      <a16:creationId xmlns:a16="http://schemas.microsoft.com/office/drawing/2014/main" id="{F5B7D973-E444-BF51-F6CB-01D74E9ED87B}"/>
                    </a:ext>
                  </a:extLst>
                </p:cNvPr>
                <p:cNvGrpSpPr/>
                <p:nvPr/>
              </p:nvGrpSpPr>
              <p:grpSpPr>
                <a:xfrm>
                  <a:off x="9296887" y="2419637"/>
                  <a:ext cx="1221105" cy="218440"/>
                  <a:chOff x="9296887" y="2419637"/>
                  <a:chExt cx="1221105" cy="218440"/>
                </a:xfrm>
              </p:grpSpPr>
              <p:sp>
                <p:nvSpPr>
                  <p:cNvPr id="40" name="object 14">
                    <a:extLst>
                      <a:ext uri="{FF2B5EF4-FFF2-40B4-BE49-F238E27FC236}">
                        <a16:creationId xmlns:a16="http://schemas.microsoft.com/office/drawing/2014/main" id="{F4F961BB-027C-1CCE-661A-26F21D84CF67}"/>
                      </a:ext>
                    </a:extLst>
                  </p:cNvPr>
                  <p:cNvSpPr/>
                  <p:nvPr/>
                </p:nvSpPr>
                <p:spPr>
                  <a:xfrm>
                    <a:off x="9301650" y="2424400"/>
                    <a:ext cx="1211580" cy="208915"/>
                  </a:xfrm>
                  <a:custGeom>
                    <a:avLst/>
                    <a:gdLst/>
                    <a:ahLst/>
                    <a:cxnLst/>
                    <a:rect l="l" t="t" r="r" b="b"/>
                    <a:pathLst>
                      <a:path w="1211579" h="208914">
                        <a:moveTo>
                          <a:pt x="52199" y="208799"/>
                        </a:moveTo>
                        <a:lnTo>
                          <a:pt x="0" y="208799"/>
                        </a:lnTo>
                        <a:lnTo>
                          <a:pt x="0" y="91349"/>
                        </a:lnTo>
                        <a:lnTo>
                          <a:pt x="26755" y="26755"/>
                        </a:lnTo>
                        <a:lnTo>
                          <a:pt x="91349" y="0"/>
                        </a:lnTo>
                        <a:lnTo>
                          <a:pt x="1093949" y="0"/>
                        </a:lnTo>
                        <a:lnTo>
                          <a:pt x="1144631" y="15347"/>
                        </a:lnTo>
                        <a:lnTo>
                          <a:pt x="1176108" y="52199"/>
                        </a:lnTo>
                        <a:lnTo>
                          <a:pt x="91349" y="52199"/>
                        </a:lnTo>
                        <a:lnTo>
                          <a:pt x="76111" y="55276"/>
                        </a:lnTo>
                        <a:lnTo>
                          <a:pt x="63666" y="63666"/>
                        </a:lnTo>
                        <a:lnTo>
                          <a:pt x="55276" y="76111"/>
                        </a:lnTo>
                        <a:lnTo>
                          <a:pt x="52199" y="91349"/>
                        </a:lnTo>
                        <a:lnTo>
                          <a:pt x="52199" y="208799"/>
                        </a:lnTo>
                        <a:close/>
                      </a:path>
                      <a:path w="1211579" h="208914">
                        <a:moveTo>
                          <a:pt x="1185299" y="104399"/>
                        </a:moveTo>
                        <a:lnTo>
                          <a:pt x="1133099" y="104399"/>
                        </a:lnTo>
                        <a:lnTo>
                          <a:pt x="1133099" y="91349"/>
                        </a:lnTo>
                        <a:lnTo>
                          <a:pt x="1130023" y="76111"/>
                        </a:lnTo>
                        <a:lnTo>
                          <a:pt x="1121633" y="63666"/>
                        </a:lnTo>
                        <a:lnTo>
                          <a:pt x="1109188" y="55276"/>
                        </a:lnTo>
                        <a:lnTo>
                          <a:pt x="1093949" y="52199"/>
                        </a:lnTo>
                        <a:lnTo>
                          <a:pt x="1176108" y="52199"/>
                        </a:lnTo>
                        <a:lnTo>
                          <a:pt x="1178346" y="56391"/>
                        </a:lnTo>
                        <a:lnTo>
                          <a:pt x="1183528" y="73445"/>
                        </a:lnTo>
                        <a:lnTo>
                          <a:pt x="1185299" y="91349"/>
                        </a:lnTo>
                        <a:lnTo>
                          <a:pt x="1185299" y="104399"/>
                        </a:lnTo>
                        <a:close/>
                      </a:path>
                      <a:path w="1211579" h="208914">
                        <a:moveTo>
                          <a:pt x="1159199" y="156599"/>
                        </a:moveTo>
                        <a:lnTo>
                          <a:pt x="1106999" y="104399"/>
                        </a:lnTo>
                        <a:lnTo>
                          <a:pt x="1211399" y="104399"/>
                        </a:lnTo>
                        <a:lnTo>
                          <a:pt x="1159199" y="156599"/>
                        </a:lnTo>
                        <a:close/>
                      </a:path>
                    </a:pathLst>
                  </a:custGeom>
                  <a:solidFill>
                    <a:srgbClr val="BEC0C1"/>
                  </a:solidFill>
                </p:spPr>
                <p:txBody>
                  <a:bodyPr wrap="square" lIns="0" tIns="0" rIns="0" bIns="0" rtlCol="0"/>
                  <a:lstStyle/>
                  <a:p>
                    <a:endParaRPr/>
                  </a:p>
                </p:txBody>
              </p:sp>
              <p:sp>
                <p:nvSpPr>
                  <p:cNvPr id="41" name="object 15">
                    <a:extLst>
                      <a:ext uri="{FF2B5EF4-FFF2-40B4-BE49-F238E27FC236}">
                        <a16:creationId xmlns:a16="http://schemas.microsoft.com/office/drawing/2014/main" id="{304BD911-B316-0B06-03BE-7271EA069F58}"/>
                      </a:ext>
                    </a:extLst>
                  </p:cNvPr>
                  <p:cNvSpPr/>
                  <p:nvPr/>
                </p:nvSpPr>
                <p:spPr>
                  <a:xfrm>
                    <a:off x="9301650" y="2424400"/>
                    <a:ext cx="1211580" cy="208915"/>
                  </a:xfrm>
                  <a:custGeom>
                    <a:avLst/>
                    <a:gdLst/>
                    <a:ahLst/>
                    <a:cxnLst/>
                    <a:rect l="l" t="t" r="r" b="b"/>
                    <a:pathLst>
                      <a:path w="1211579" h="208914">
                        <a:moveTo>
                          <a:pt x="0" y="208799"/>
                        </a:moveTo>
                        <a:lnTo>
                          <a:pt x="0" y="91349"/>
                        </a:lnTo>
                        <a:lnTo>
                          <a:pt x="7178" y="55792"/>
                        </a:lnTo>
                        <a:lnTo>
                          <a:pt x="26755" y="26755"/>
                        </a:lnTo>
                        <a:lnTo>
                          <a:pt x="55792" y="7178"/>
                        </a:lnTo>
                        <a:lnTo>
                          <a:pt x="91349" y="0"/>
                        </a:lnTo>
                        <a:lnTo>
                          <a:pt x="1093949" y="0"/>
                        </a:lnTo>
                        <a:lnTo>
                          <a:pt x="1144631" y="15347"/>
                        </a:lnTo>
                        <a:lnTo>
                          <a:pt x="1178346" y="56391"/>
                        </a:lnTo>
                        <a:lnTo>
                          <a:pt x="1185299" y="91349"/>
                        </a:lnTo>
                        <a:lnTo>
                          <a:pt x="1185299" y="104399"/>
                        </a:lnTo>
                        <a:lnTo>
                          <a:pt x="1211399" y="104399"/>
                        </a:lnTo>
                        <a:lnTo>
                          <a:pt x="1159199" y="156599"/>
                        </a:lnTo>
                        <a:lnTo>
                          <a:pt x="1106999" y="104399"/>
                        </a:lnTo>
                        <a:lnTo>
                          <a:pt x="1133099" y="104399"/>
                        </a:lnTo>
                        <a:lnTo>
                          <a:pt x="1133099" y="91349"/>
                        </a:lnTo>
                        <a:lnTo>
                          <a:pt x="1130023" y="76111"/>
                        </a:lnTo>
                        <a:lnTo>
                          <a:pt x="1121633" y="63666"/>
                        </a:lnTo>
                        <a:lnTo>
                          <a:pt x="1109188" y="55276"/>
                        </a:lnTo>
                        <a:lnTo>
                          <a:pt x="1093949" y="52199"/>
                        </a:lnTo>
                        <a:lnTo>
                          <a:pt x="91349" y="52199"/>
                        </a:lnTo>
                        <a:lnTo>
                          <a:pt x="76111" y="55276"/>
                        </a:lnTo>
                        <a:lnTo>
                          <a:pt x="63666" y="63666"/>
                        </a:lnTo>
                        <a:lnTo>
                          <a:pt x="55276" y="76111"/>
                        </a:lnTo>
                        <a:lnTo>
                          <a:pt x="52199" y="91349"/>
                        </a:lnTo>
                        <a:lnTo>
                          <a:pt x="52199" y="208799"/>
                        </a:lnTo>
                        <a:lnTo>
                          <a:pt x="0" y="208799"/>
                        </a:lnTo>
                        <a:close/>
                      </a:path>
                    </a:pathLst>
                  </a:custGeom>
                  <a:ln w="9524">
                    <a:solidFill>
                      <a:srgbClr val="0F2044"/>
                    </a:solidFill>
                  </a:ln>
                </p:spPr>
                <p:txBody>
                  <a:bodyPr wrap="square" lIns="0" tIns="0" rIns="0" bIns="0" rtlCol="0"/>
                  <a:lstStyle/>
                  <a:p>
                    <a:endParaRPr/>
                  </a:p>
                </p:txBody>
              </p:sp>
            </p:grpSp>
            <p:pic>
              <p:nvPicPr>
                <p:cNvPr id="39" name="Picture 38">
                  <a:extLst>
                    <a:ext uri="{FF2B5EF4-FFF2-40B4-BE49-F238E27FC236}">
                      <a16:creationId xmlns:a16="http://schemas.microsoft.com/office/drawing/2014/main" id="{1007E2D0-53D5-00C5-2B56-1BBD160D648A}"/>
                    </a:ext>
                  </a:extLst>
                </p:cNvPr>
                <p:cNvPicPr>
                  <a:picLocks noChangeAspect="1"/>
                </p:cNvPicPr>
                <p:nvPr/>
              </p:nvPicPr>
              <p:blipFill>
                <a:blip r:embed="rId3"/>
                <a:stretch>
                  <a:fillRect/>
                </a:stretch>
              </p:blipFill>
              <p:spPr>
                <a:xfrm>
                  <a:off x="434970" y="2819360"/>
                  <a:ext cx="10309230" cy="457240"/>
                </a:xfrm>
                <a:prstGeom prst="rect">
                  <a:avLst/>
                </a:prstGeom>
              </p:spPr>
            </p:pic>
          </p:grpSp>
          <p:pic>
            <p:nvPicPr>
              <p:cNvPr id="48" name="Picture 47">
                <a:extLst>
                  <a:ext uri="{FF2B5EF4-FFF2-40B4-BE49-F238E27FC236}">
                    <a16:creationId xmlns:a16="http://schemas.microsoft.com/office/drawing/2014/main" id="{89ECD2EB-B290-8ECE-DC70-9D57080755EF}"/>
                  </a:ext>
                </a:extLst>
              </p:cNvPr>
              <p:cNvPicPr>
                <a:picLocks noChangeAspect="1"/>
              </p:cNvPicPr>
              <p:nvPr/>
            </p:nvPicPr>
            <p:blipFill>
              <a:blip r:embed="rId4"/>
              <a:stretch>
                <a:fillRect/>
              </a:stretch>
            </p:blipFill>
            <p:spPr>
              <a:xfrm>
                <a:off x="5279037" y="4056377"/>
                <a:ext cx="3651821" cy="475529"/>
              </a:xfrm>
              <a:prstGeom prst="rect">
                <a:avLst/>
              </a:prstGeom>
            </p:spPr>
          </p:pic>
          <p:pic>
            <p:nvPicPr>
              <p:cNvPr id="49" name="Picture 48">
                <a:extLst>
                  <a:ext uri="{FF2B5EF4-FFF2-40B4-BE49-F238E27FC236}">
                    <a16:creationId xmlns:a16="http://schemas.microsoft.com/office/drawing/2014/main" id="{66C0E273-4F49-8186-15C3-2582D3AAC2F8}"/>
                  </a:ext>
                </a:extLst>
              </p:cNvPr>
              <p:cNvPicPr>
                <a:picLocks noChangeAspect="1"/>
              </p:cNvPicPr>
              <p:nvPr/>
            </p:nvPicPr>
            <p:blipFill>
              <a:blip r:embed="rId5"/>
              <a:stretch>
                <a:fillRect/>
              </a:stretch>
            </p:blipFill>
            <p:spPr>
              <a:xfrm>
                <a:off x="5268590" y="4745526"/>
                <a:ext cx="3651821" cy="475529"/>
              </a:xfrm>
              <a:prstGeom prst="rect">
                <a:avLst/>
              </a:prstGeom>
            </p:spPr>
          </p:pic>
        </p:grpSp>
        <p:sp>
          <p:nvSpPr>
            <p:cNvPr id="51" name="object 18">
              <a:extLst>
                <a:ext uri="{FF2B5EF4-FFF2-40B4-BE49-F238E27FC236}">
                  <a16:creationId xmlns:a16="http://schemas.microsoft.com/office/drawing/2014/main" id="{8B190216-4C4C-7B2D-1424-D50EAA7E4707}"/>
                </a:ext>
              </a:extLst>
            </p:cNvPr>
            <p:cNvSpPr/>
            <p:nvPr/>
          </p:nvSpPr>
          <p:spPr>
            <a:xfrm>
              <a:off x="7000258" y="3383280"/>
              <a:ext cx="10142" cy="502920"/>
            </a:xfrm>
            <a:custGeom>
              <a:avLst/>
              <a:gdLst/>
              <a:ahLst/>
              <a:cxnLst/>
              <a:rect l="l" t="t" r="r" b="b"/>
              <a:pathLst>
                <a:path w="7620" h="502920">
                  <a:moveTo>
                    <a:pt x="0" y="0"/>
                  </a:moveTo>
                  <a:lnTo>
                    <a:pt x="7542" y="502656"/>
                  </a:lnTo>
                </a:path>
              </a:pathLst>
            </a:custGeom>
            <a:ln w="12700">
              <a:solidFill>
                <a:srgbClr val="0F2044"/>
              </a:solidFill>
              <a:tailEnd type="triangle"/>
            </a:ln>
          </p:spPr>
          <p:txBody>
            <a:bodyPr wrap="square" lIns="0" tIns="0" rIns="0" bIns="0" rtlCol="0"/>
            <a:lstStyle/>
            <a:p>
              <a:endParaRPr/>
            </a:p>
          </p:txBody>
        </p:sp>
        <p:sp>
          <p:nvSpPr>
            <p:cNvPr id="52" name="object 22">
              <a:extLst>
                <a:ext uri="{FF2B5EF4-FFF2-40B4-BE49-F238E27FC236}">
                  <a16:creationId xmlns:a16="http://schemas.microsoft.com/office/drawing/2014/main" id="{717D5736-A2FB-F485-71C6-2F5981A21A3A}"/>
                </a:ext>
              </a:extLst>
            </p:cNvPr>
            <p:cNvSpPr/>
            <p:nvPr/>
          </p:nvSpPr>
          <p:spPr>
            <a:xfrm>
              <a:off x="2574501" y="3577225"/>
              <a:ext cx="4196715" cy="709295"/>
            </a:xfrm>
            <a:custGeom>
              <a:avLst/>
              <a:gdLst/>
              <a:ahLst/>
              <a:cxnLst/>
              <a:rect l="l" t="t" r="r" b="b"/>
              <a:pathLst>
                <a:path w="4196715" h="709295">
                  <a:moveTo>
                    <a:pt x="4196448" y="0"/>
                  </a:moveTo>
                  <a:lnTo>
                    <a:pt x="0" y="708979"/>
                  </a:lnTo>
                </a:path>
              </a:pathLst>
            </a:custGeom>
            <a:ln w="12700">
              <a:solidFill>
                <a:srgbClr val="0F2044"/>
              </a:solidFill>
              <a:tailEnd type="triangle"/>
            </a:ln>
          </p:spPr>
          <p:txBody>
            <a:bodyPr wrap="square" lIns="0" tIns="0" rIns="0" bIns="0" rtlCol="0"/>
            <a:lstStyle/>
            <a:p>
              <a:endParaRPr dirty="0"/>
            </a:p>
          </p:txBody>
        </p:sp>
      </p:grpSp>
      <p:sp>
        <p:nvSpPr>
          <p:cNvPr id="28" name="object 28"/>
          <p:cNvSpPr txBox="1"/>
          <p:nvPr/>
        </p:nvSpPr>
        <p:spPr>
          <a:xfrm>
            <a:off x="5021500" y="5494371"/>
            <a:ext cx="5257165" cy="1152239"/>
          </a:xfrm>
          <a:prstGeom prst="rect">
            <a:avLst/>
          </a:prstGeom>
        </p:spPr>
        <p:txBody>
          <a:bodyPr vert="horz" wrap="square" lIns="0" tIns="12700" rIns="0" bIns="0" rtlCol="0">
            <a:spAutoFit/>
          </a:bodyPr>
          <a:lstStyle/>
          <a:p>
            <a:pPr marL="12700" marR="5080">
              <a:lnSpc>
                <a:spcPct val="114000"/>
              </a:lnSpc>
              <a:spcBef>
                <a:spcPts val="100"/>
              </a:spcBef>
              <a:spcAft>
                <a:spcPts val="1800"/>
              </a:spcAft>
            </a:pPr>
            <a:r>
              <a:rPr sz="1800" dirty="0">
                <a:solidFill>
                  <a:srgbClr val="0F2044"/>
                </a:solidFill>
                <a:latin typeface="Arial MT"/>
                <a:cs typeface="Arial MT"/>
              </a:rPr>
              <a:t>If</a:t>
            </a:r>
            <a:r>
              <a:rPr sz="1800" spc="-25" dirty="0">
                <a:solidFill>
                  <a:srgbClr val="0F2044"/>
                </a:solidFill>
                <a:latin typeface="Arial MT"/>
                <a:cs typeface="Arial MT"/>
              </a:rPr>
              <a:t> </a:t>
            </a:r>
            <a:r>
              <a:rPr sz="1800" dirty="0">
                <a:solidFill>
                  <a:srgbClr val="0F2044"/>
                </a:solidFill>
                <a:latin typeface="Arial MT"/>
                <a:cs typeface="Arial MT"/>
              </a:rPr>
              <a:t>a</a:t>
            </a:r>
            <a:r>
              <a:rPr sz="1800" spc="-15" dirty="0">
                <a:solidFill>
                  <a:srgbClr val="0F2044"/>
                </a:solidFill>
                <a:latin typeface="Arial MT"/>
                <a:cs typeface="Arial MT"/>
              </a:rPr>
              <a:t> </a:t>
            </a:r>
            <a:r>
              <a:rPr sz="1800" dirty="0">
                <a:solidFill>
                  <a:srgbClr val="0F2044"/>
                </a:solidFill>
                <a:latin typeface="Arial MT"/>
                <a:cs typeface="Arial MT"/>
              </a:rPr>
              <a:t>process</a:t>
            </a:r>
            <a:r>
              <a:rPr sz="1800" spc="-10" dirty="0">
                <a:solidFill>
                  <a:srgbClr val="0F2044"/>
                </a:solidFill>
                <a:latin typeface="Arial MT"/>
                <a:cs typeface="Arial MT"/>
              </a:rPr>
              <a:t> </a:t>
            </a:r>
            <a:r>
              <a:rPr sz="1800" dirty="0">
                <a:solidFill>
                  <a:srgbClr val="0F2044"/>
                </a:solidFill>
                <a:latin typeface="Arial MT"/>
                <a:cs typeface="Arial MT"/>
              </a:rPr>
              <a:t>requests</a:t>
            </a:r>
            <a:r>
              <a:rPr sz="1800" spc="-15" dirty="0">
                <a:solidFill>
                  <a:srgbClr val="0F2044"/>
                </a:solidFill>
                <a:latin typeface="Arial MT"/>
                <a:cs typeface="Arial MT"/>
              </a:rPr>
              <a:t> </a:t>
            </a:r>
            <a:r>
              <a:rPr sz="1800" dirty="0">
                <a:solidFill>
                  <a:srgbClr val="0F2044"/>
                </a:solidFill>
                <a:latin typeface="Arial MT"/>
                <a:cs typeface="Arial MT"/>
              </a:rPr>
              <a:t>for</a:t>
            </a:r>
            <a:r>
              <a:rPr sz="1800" spc="-10" dirty="0">
                <a:solidFill>
                  <a:srgbClr val="0F2044"/>
                </a:solidFill>
                <a:latin typeface="Arial MT"/>
                <a:cs typeface="Arial MT"/>
              </a:rPr>
              <a:t> </a:t>
            </a:r>
            <a:r>
              <a:rPr sz="1800" dirty="0">
                <a:solidFill>
                  <a:srgbClr val="0F2044"/>
                </a:solidFill>
                <a:latin typeface="Arial MT"/>
                <a:cs typeface="Arial MT"/>
              </a:rPr>
              <a:t>5</a:t>
            </a:r>
            <a:r>
              <a:rPr sz="1800" spc="-15" dirty="0">
                <a:solidFill>
                  <a:srgbClr val="0F2044"/>
                </a:solidFill>
                <a:latin typeface="Arial MT"/>
                <a:cs typeface="Arial MT"/>
              </a:rPr>
              <a:t> </a:t>
            </a:r>
            <a:r>
              <a:rPr sz="1800" dirty="0">
                <a:solidFill>
                  <a:srgbClr val="0F2044"/>
                </a:solidFill>
                <a:latin typeface="Arial MT"/>
                <a:cs typeface="Arial MT"/>
              </a:rPr>
              <a:t>words,</a:t>
            </a:r>
            <a:r>
              <a:rPr sz="1800" spc="-10" dirty="0">
                <a:solidFill>
                  <a:srgbClr val="0F2044"/>
                </a:solidFill>
                <a:latin typeface="Arial MT"/>
                <a:cs typeface="Arial MT"/>
              </a:rPr>
              <a:t> </a:t>
            </a:r>
            <a:r>
              <a:rPr sz="1800" dirty="0">
                <a:solidFill>
                  <a:srgbClr val="0F2044"/>
                </a:solidFill>
                <a:latin typeface="Arial MT"/>
                <a:cs typeface="Arial MT"/>
              </a:rPr>
              <a:t>although</a:t>
            </a:r>
            <a:r>
              <a:rPr sz="1800" spc="-15" dirty="0">
                <a:solidFill>
                  <a:srgbClr val="0F2044"/>
                </a:solidFill>
                <a:latin typeface="Arial MT"/>
                <a:cs typeface="Arial MT"/>
              </a:rPr>
              <a:t> </a:t>
            </a:r>
            <a:r>
              <a:rPr sz="1800" dirty="0">
                <a:solidFill>
                  <a:srgbClr val="0F2044"/>
                </a:solidFill>
                <a:latin typeface="Arial MT"/>
                <a:cs typeface="Arial MT"/>
              </a:rPr>
              <a:t>we</a:t>
            </a:r>
            <a:r>
              <a:rPr sz="1800" spc="-10" dirty="0">
                <a:solidFill>
                  <a:srgbClr val="0F2044"/>
                </a:solidFill>
                <a:latin typeface="Arial MT"/>
                <a:cs typeface="Arial MT"/>
              </a:rPr>
              <a:t> </a:t>
            </a:r>
            <a:r>
              <a:rPr sz="1800" spc="-20" dirty="0">
                <a:solidFill>
                  <a:srgbClr val="0F2044"/>
                </a:solidFill>
                <a:latin typeface="Arial MT"/>
                <a:cs typeface="Arial MT"/>
              </a:rPr>
              <a:t>have </a:t>
            </a:r>
            <a:r>
              <a:rPr sz="1800" dirty="0">
                <a:solidFill>
                  <a:srgbClr val="0F2044"/>
                </a:solidFill>
                <a:latin typeface="Arial MT"/>
                <a:cs typeface="Arial MT"/>
              </a:rPr>
              <a:t>enough,</a:t>
            </a:r>
            <a:r>
              <a:rPr sz="1800" spc="-35" dirty="0">
                <a:solidFill>
                  <a:srgbClr val="0F2044"/>
                </a:solidFill>
                <a:latin typeface="Arial MT"/>
                <a:cs typeface="Arial MT"/>
              </a:rPr>
              <a:t> </a:t>
            </a:r>
            <a:r>
              <a:rPr sz="1800" dirty="0">
                <a:solidFill>
                  <a:srgbClr val="0F2044"/>
                </a:solidFill>
                <a:latin typeface="Arial MT"/>
                <a:cs typeface="Arial MT"/>
              </a:rPr>
              <a:t>we</a:t>
            </a:r>
            <a:r>
              <a:rPr sz="1800" spc="-25" dirty="0">
                <a:solidFill>
                  <a:srgbClr val="0F2044"/>
                </a:solidFill>
                <a:latin typeface="Arial MT"/>
                <a:cs typeface="Arial MT"/>
              </a:rPr>
              <a:t> </a:t>
            </a:r>
            <a:r>
              <a:rPr sz="1800" dirty="0">
                <a:solidFill>
                  <a:srgbClr val="0F2044"/>
                </a:solidFill>
                <a:latin typeface="Arial MT"/>
                <a:cs typeface="Arial MT"/>
              </a:rPr>
              <a:t>cannot</a:t>
            </a:r>
            <a:r>
              <a:rPr sz="1800" spc="-25" dirty="0">
                <a:solidFill>
                  <a:srgbClr val="0F2044"/>
                </a:solidFill>
                <a:latin typeface="Arial MT"/>
                <a:cs typeface="Arial MT"/>
              </a:rPr>
              <a:t> </a:t>
            </a:r>
            <a:r>
              <a:rPr sz="1800" dirty="0">
                <a:solidFill>
                  <a:srgbClr val="0F2044"/>
                </a:solidFill>
                <a:latin typeface="Arial MT"/>
                <a:cs typeface="Arial MT"/>
              </a:rPr>
              <a:t>fulfill</a:t>
            </a:r>
            <a:r>
              <a:rPr sz="1800" spc="-25" dirty="0">
                <a:solidFill>
                  <a:srgbClr val="0F2044"/>
                </a:solidFill>
                <a:latin typeface="Arial MT"/>
                <a:cs typeface="Arial MT"/>
              </a:rPr>
              <a:t> </a:t>
            </a:r>
            <a:r>
              <a:rPr sz="1800" dirty="0">
                <a:solidFill>
                  <a:srgbClr val="0F2044"/>
                </a:solidFill>
                <a:latin typeface="Arial MT"/>
                <a:cs typeface="Arial MT"/>
              </a:rPr>
              <a:t>the</a:t>
            </a:r>
            <a:r>
              <a:rPr sz="1800" spc="-25" dirty="0">
                <a:solidFill>
                  <a:srgbClr val="0F2044"/>
                </a:solidFill>
                <a:latin typeface="Arial MT"/>
                <a:cs typeface="Arial MT"/>
              </a:rPr>
              <a:t> </a:t>
            </a:r>
            <a:r>
              <a:rPr sz="1800" spc="-10" dirty="0">
                <a:solidFill>
                  <a:srgbClr val="0F2044"/>
                </a:solidFill>
                <a:latin typeface="Arial MT"/>
                <a:cs typeface="Arial MT"/>
              </a:rPr>
              <a:t>request.</a:t>
            </a:r>
            <a:endParaRPr sz="1800" dirty="0">
              <a:latin typeface="Arial MT"/>
              <a:cs typeface="Arial MT"/>
            </a:endParaRPr>
          </a:p>
          <a:p>
            <a:pPr marL="12700">
              <a:lnSpc>
                <a:spcPct val="100000"/>
              </a:lnSpc>
            </a:pPr>
            <a:r>
              <a:rPr sz="1800" dirty="0">
                <a:solidFill>
                  <a:srgbClr val="0F2044"/>
                </a:solidFill>
                <a:latin typeface="Arial MT"/>
                <a:cs typeface="Arial MT"/>
              </a:rPr>
              <a:t>→</a:t>
            </a:r>
            <a:r>
              <a:rPr sz="1800" spc="-15" dirty="0">
                <a:solidFill>
                  <a:srgbClr val="0F2044"/>
                </a:solidFill>
                <a:latin typeface="Arial MT"/>
                <a:cs typeface="Arial MT"/>
              </a:rPr>
              <a:t> </a:t>
            </a:r>
            <a:r>
              <a:rPr sz="1800" b="1" dirty="0">
                <a:solidFill>
                  <a:srgbClr val="0F2044"/>
                </a:solidFill>
                <a:latin typeface="Arial"/>
                <a:cs typeface="Arial"/>
              </a:rPr>
              <a:t>false</a:t>
            </a:r>
            <a:r>
              <a:rPr sz="1800" b="1" spc="-10" dirty="0">
                <a:solidFill>
                  <a:srgbClr val="0F2044"/>
                </a:solidFill>
                <a:latin typeface="Arial"/>
                <a:cs typeface="Arial"/>
              </a:rPr>
              <a:t> fragmentation</a:t>
            </a:r>
            <a:endParaRPr sz="1800" dirty="0">
              <a:latin typeface="Arial"/>
              <a:cs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object 2">
            <a:extLst>
              <a:ext uri="{FF2B5EF4-FFF2-40B4-BE49-F238E27FC236}">
                <a16:creationId xmlns:a16="http://schemas.microsoft.com/office/drawing/2014/main" id="{A47DE92A-7A5A-7893-FB35-656EA5CE77B2}"/>
              </a:ext>
            </a:extLst>
          </p:cNvPr>
          <p:cNvSpPr txBox="1">
            <a:spLocks noGrp="1"/>
          </p:cNvSpPr>
          <p:nvPr>
            <p:ph type="title"/>
          </p:nvPr>
        </p:nvSpPr>
        <p:spPr>
          <a:xfrm>
            <a:off x="410375" y="1689861"/>
            <a:ext cx="6452870" cy="406400"/>
          </a:xfrm>
          <a:prstGeom prst="rect">
            <a:avLst/>
          </a:prstGeom>
        </p:spPr>
        <p:txBody>
          <a:bodyPr vert="horz" wrap="square" lIns="0" tIns="12700" rIns="0" bIns="0" rtlCol="0">
            <a:spAutoFit/>
          </a:bodyPr>
          <a:lstStyle/>
          <a:p>
            <a:pPr marL="12700">
              <a:lnSpc>
                <a:spcPct val="100000"/>
              </a:lnSpc>
              <a:spcBef>
                <a:spcPts val="100"/>
              </a:spcBef>
            </a:pPr>
            <a:r>
              <a:rPr dirty="0"/>
              <a:t>Implicit</a:t>
            </a:r>
            <a:r>
              <a:rPr spc="-100" dirty="0"/>
              <a:t> </a:t>
            </a:r>
            <a:r>
              <a:rPr dirty="0"/>
              <a:t>Free</a:t>
            </a:r>
            <a:r>
              <a:rPr spc="-100" dirty="0"/>
              <a:t> </a:t>
            </a:r>
            <a:r>
              <a:rPr spc="-20" dirty="0"/>
              <a:t>List</a:t>
            </a:r>
          </a:p>
        </p:txBody>
      </p:sp>
      <p:grpSp>
        <p:nvGrpSpPr>
          <p:cNvPr id="48" name="Group 47">
            <a:extLst>
              <a:ext uri="{FF2B5EF4-FFF2-40B4-BE49-F238E27FC236}">
                <a16:creationId xmlns:a16="http://schemas.microsoft.com/office/drawing/2014/main" id="{0CE11213-2F85-1013-08BB-8C08D79FE5EC}"/>
              </a:ext>
              <a:ext uri="{C183D7F6-B498-43B3-948B-1728B52AA6E4}">
                <adec:decorative xmlns:adec="http://schemas.microsoft.com/office/drawing/2017/decorative" val="1"/>
              </a:ext>
            </a:extLst>
          </p:cNvPr>
          <p:cNvGrpSpPr/>
          <p:nvPr/>
        </p:nvGrpSpPr>
        <p:grpSpPr>
          <a:xfrm>
            <a:off x="434970" y="2419637"/>
            <a:ext cx="10309230" cy="2801418"/>
            <a:chOff x="434970" y="2419637"/>
            <a:chExt cx="10309230" cy="2801418"/>
          </a:xfrm>
        </p:grpSpPr>
        <p:grpSp>
          <p:nvGrpSpPr>
            <p:cNvPr id="49" name="Group 48">
              <a:extLst>
                <a:ext uri="{FF2B5EF4-FFF2-40B4-BE49-F238E27FC236}">
                  <a16:creationId xmlns:a16="http://schemas.microsoft.com/office/drawing/2014/main" id="{8BC57B50-224E-BB69-EA3B-1296B2B49919}"/>
                </a:ext>
              </a:extLst>
            </p:cNvPr>
            <p:cNvGrpSpPr/>
            <p:nvPr/>
          </p:nvGrpSpPr>
          <p:grpSpPr>
            <a:xfrm>
              <a:off x="434970" y="2419637"/>
              <a:ext cx="10309230" cy="2801418"/>
              <a:chOff x="434970" y="2419637"/>
              <a:chExt cx="10309230" cy="2801418"/>
            </a:xfrm>
          </p:grpSpPr>
          <p:sp>
            <p:nvSpPr>
              <p:cNvPr id="52" name="object 21">
                <a:extLst>
                  <a:ext uri="{FF2B5EF4-FFF2-40B4-BE49-F238E27FC236}">
                    <a16:creationId xmlns:a16="http://schemas.microsoft.com/office/drawing/2014/main" id="{16B89F3C-6BDA-3E65-955A-1438EE8F08B7}"/>
                  </a:ext>
                </a:extLst>
              </p:cNvPr>
              <p:cNvSpPr txBox="1"/>
              <p:nvPr/>
            </p:nvSpPr>
            <p:spPr>
              <a:xfrm>
                <a:off x="7327550" y="3521796"/>
                <a:ext cx="818230" cy="259045"/>
              </a:xfrm>
              <a:prstGeom prst="rect">
                <a:avLst/>
              </a:prstGeom>
            </p:spPr>
            <p:txBody>
              <a:bodyPr vert="horz" wrap="square" lIns="0" tIns="12700" rIns="0" bIns="0" rtlCol="0">
                <a:spAutoFit/>
              </a:bodyPr>
              <a:lstStyle/>
              <a:p>
                <a:pPr marL="12700">
                  <a:lnSpc>
                    <a:spcPct val="100000"/>
                  </a:lnSpc>
                  <a:spcBef>
                    <a:spcPts val="100"/>
                  </a:spcBef>
                </a:pPr>
                <a:r>
                  <a:rPr sz="1600" spc="-10" dirty="0">
                    <a:solidFill>
                      <a:srgbClr val="0F2044"/>
                    </a:solidFill>
                    <a:latin typeface="Arial MT"/>
                    <a:cs typeface="Arial MT"/>
                  </a:rPr>
                  <a:t>splitting</a:t>
                </a:r>
                <a:endParaRPr sz="1600" dirty="0">
                  <a:latin typeface="Arial MT"/>
                  <a:cs typeface="Arial MT"/>
                </a:endParaRPr>
              </a:p>
            </p:txBody>
          </p:sp>
          <p:sp>
            <p:nvSpPr>
              <p:cNvPr id="53" name="object 23">
                <a:extLst>
                  <a:ext uri="{FF2B5EF4-FFF2-40B4-BE49-F238E27FC236}">
                    <a16:creationId xmlns:a16="http://schemas.microsoft.com/office/drawing/2014/main" id="{C32346D4-0E10-0E82-378F-8812E8255835}"/>
                  </a:ext>
                </a:extLst>
              </p:cNvPr>
              <p:cNvSpPr txBox="1"/>
              <p:nvPr/>
            </p:nvSpPr>
            <p:spPr>
              <a:xfrm>
                <a:off x="3276600" y="4815577"/>
                <a:ext cx="962193" cy="289823"/>
              </a:xfrm>
              <a:prstGeom prst="rect">
                <a:avLst/>
              </a:prstGeom>
            </p:spPr>
            <p:txBody>
              <a:bodyPr vert="horz" wrap="square" lIns="0" tIns="12700" rIns="0" bIns="0" rtlCol="0">
                <a:spAutoFit/>
              </a:bodyPr>
              <a:lstStyle/>
              <a:p>
                <a:pPr marL="12700">
                  <a:lnSpc>
                    <a:spcPct val="100000"/>
                  </a:lnSpc>
                  <a:spcBef>
                    <a:spcPts val="100"/>
                  </a:spcBef>
                </a:pPr>
                <a:r>
                  <a:rPr dirty="0">
                    <a:solidFill>
                      <a:srgbClr val="0F2044"/>
                    </a:solidFill>
                    <a:latin typeface="Arial" panose="020B0604020202020204" pitchFamily="34" charset="0"/>
                    <a:cs typeface="Arial" panose="020B0604020202020204" pitchFamily="34" charset="0"/>
                  </a:rPr>
                  <a:t>free</a:t>
                </a:r>
                <a:r>
                  <a:rPr spc="-20" dirty="0">
                    <a:solidFill>
                      <a:srgbClr val="0F2044"/>
                    </a:solidFill>
                    <a:latin typeface="Arial" panose="020B0604020202020204" pitchFamily="34" charset="0"/>
                    <a:cs typeface="Arial" panose="020B0604020202020204" pitchFamily="34" charset="0"/>
                  </a:rPr>
                  <a:t> </a:t>
                </a:r>
                <a:r>
                  <a:rPr spc="-25" dirty="0">
                    <a:solidFill>
                      <a:srgbClr val="0F2044"/>
                    </a:solidFill>
                    <a:latin typeface="Arial" panose="020B0604020202020204" pitchFamily="34" charset="0"/>
                    <a:cs typeface="Arial" panose="020B0604020202020204" pitchFamily="34" charset="0"/>
                  </a:rPr>
                  <a:t>(p</a:t>
                </a:r>
                <a:r>
                  <a:rPr lang="en-US" spc="-25" dirty="0">
                    <a:solidFill>
                      <a:srgbClr val="0F2044"/>
                    </a:solidFill>
                    <a:latin typeface="Arial" panose="020B0604020202020204" pitchFamily="34" charset="0"/>
                    <a:cs typeface="Arial" panose="020B0604020202020204" pitchFamily="34" charset="0"/>
                  </a:rPr>
                  <a:t>0</a:t>
                </a:r>
                <a:r>
                  <a:rPr spc="-25" dirty="0">
                    <a:solidFill>
                      <a:srgbClr val="0F2044"/>
                    </a:solidFill>
                    <a:latin typeface="Arial" panose="020B0604020202020204" pitchFamily="34" charset="0"/>
                    <a:cs typeface="Arial" panose="020B0604020202020204" pitchFamily="34" charset="0"/>
                  </a:rPr>
                  <a:t>)</a:t>
                </a:r>
                <a:endParaRPr dirty="0">
                  <a:latin typeface="Arial" panose="020B0604020202020204" pitchFamily="34" charset="0"/>
                  <a:cs typeface="Arial" panose="020B0604020202020204" pitchFamily="34" charset="0"/>
                </a:endParaRPr>
              </a:p>
            </p:txBody>
          </p:sp>
          <p:sp>
            <p:nvSpPr>
              <p:cNvPr id="54" name="object 25">
                <a:extLst>
                  <a:ext uri="{FF2B5EF4-FFF2-40B4-BE49-F238E27FC236}">
                    <a16:creationId xmlns:a16="http://schemas.microsoft.com/office/drawing/2014/main" id="{9308482A-DD39-9D3E-DC04-4E326CBCB646}"/>
                  </a:ext>
                </a:extLst>
              </p:cNvPr>
              <p:cNvSpPr/>
              <p:nvPr/>
            </p:nvSpPr>
            <p:spPr>
              <a:xfrm>
                <a:off x="4413567" y="4978422"/>
                <a:ext cx="720090" cy="5080"/>
              </a:xfrm>
              <a:custGeom>
                <a:avLst/>
                <a:gdLst/>
                <a:ahLst/>
                <a:cxnLst/>
                <a:rect l="l" t="t" r="r" b="b"/>
                <a:pathLst>
                  <a:path w="720089" h="5079">
                    <a:moveTo>
                      <a:pt x="0" y="0"/>
                    </a:moveTo>
                    <a:lnTo>
                      <a:pt x="719851" y="4724"/>
                    </a:lnTo>
                  </a:path>
                </a:pathLst>
              </a:custGeom>
              <a:ln w="12700">
                <a:solidFill>
                  <a:srgbClr val="0F2044"/>
                </a:solidFill>
                <a:tailEnd type="triangle"/>
              </a:ln>
            </p:spPr>
            <p:txBody>
              <a:bodyPr wrap="square" lIns="0" tIns="0" rIns="0" bIns="0" rtlCol="0"/>
              <a:lstStyle/>
              <a:p>
                <a:endParaRPr/>
              </a:p>
            </p:txBody>
          </p:sp>
          <p:sp>
            <p:nvSpPr>
              <p:cNvPr id="55" name="object 33">
                <a:extLst>
                  <a:ext uri="{FF2B5EF4-FFF2-40B4-BE49-F238E27FC236}">
                    <a16:creationId xmlns:a16="http://schemas.microsoft.com/office/drawing/2014/main" id="{1163498E-E166-4D90-0554-D2832B92E99B}"/>
                  </a:ext>
                </a:extLst>
              </p:cNvPr>
              <p:cNvSpPr txBox="1"/>
              <p:nvPr/>
            </p:nvSpPr>
            <p:spPr>
              <a:xfrm>
                <a:off x="457200" y="3822481"/>
                <a:ext cx="1917700" cy="1249637"/>
              </a:xfrm>
              <a:prstGeom prst="rect">
                <a:avLst/>
              </a:prstGeom>
            </p:spPr>
            <p:txBody>
              <a:bodyPr vert="horz" wrap="square" lIns="0" tIns="12700" rIns="0" bIns="0" rtlCol="0">
                <a:spAutoFit/>
              </a:bodyPr>
              <a:lstStyle/>
              <a:p>
                <a:pPr marL="12700" marR="5080">
                  <a:lnSpc>
                    <a:spcPct val="114000"/>
                  </a:lnSpc>
                  <a:spcBef>
                    <a:spcPts val="100"/>
                  </a:spcBef>
                </a:pPr>
                <a:r>
                  <a:rPr sz="1800" dirty="0">
                    <a:solidFill>
                      <a:srgbClr val="0F2044"/>
                    </a:solidFill>
                    <a:latin typeface="Arial MT"/>
                    <a:cs typeface="Arial MT"/>
                  </a:rPr>
                  <a:t>How</a:t>
                </a:r>
                <a:r>
                  <a:rPr sz="1800" spc="-30" dirty="0">
                    <a:solidFill>
                      <a:srgbClr val="0F2044"/>
                    </a:solidFill>
                    <a:latin typeface="Arial MT"/>
                    <a:cs typeface="Arial MT"/>
                  </a:rPr>
                  <a:t> </a:t>
                </a:r>
                <a:r>
                  <a:rPr sz="1800" dirty="0">
                    <a:solidFill>
                      <a:srgbClr val="0F2044"/>
                    </a:solidFill>
                    <a:latin typeface="Arial MT"/>
                    <a:cs typeface="Arial MT"/>
                  </a:rPr>
                  <a:t>much</a:t>
                </a:r>
                <a:r>
                  <a:rPr sz="1800" spc="-15" dirty="0">
                    <a:solidFill>
                      <a:srgbClr val="0F2044"/>
                    </a:solidFill>
                    <a:latin typeface="Arial MT"/>
                    <a:cs typeface="Arial MT"/>
                  </a:rPr>
                  <a:t> </a:t>
                </a:r>
                <a:r>
                  <a:rPr sz="1800" spc="-10" dirty="0">
                    <a:solidFill>
                      <a:srgbClr val="0F2044"/>
                    </a:solidFill>
                    <a:latin typeface="Arial MT"/>
                    <a:cs typeface="Arial MT"/>
                  </a:rPr>
                  <a:t>internal </a:t>
                </a:r>
                <a:r>
                  <a:rPr sz="1800" dirty="0">
                    <a:solidFill>
                      <a:srgbClr val="0F2044"/>
                    </a:solidFill>
                    <a:latin typeface="Arial MT"/>
                    <a:cs typeface="Arial MT"/>
                  </a:rPr>
                  <a:t>fragmentation</a:t>
                </a:r>
                <a:r>
                  <a:rPr sz="1800" spc="-65" dirty="0">
                    <a:solidFill>
                      <a:srgbClr val="0F2044"/>
                    </a:solidFill>
                    <a:latin typeface="Arial MT"/>
                    <a:cs typeface="Arial MT"/>
                  </a:rPr>
                  <a:t> </a:t>
                </a:r>
                <a:r>
                  <a:rPr sz="1800" spc="-25" dirty="0">
                    <a:solidFill>
                      <a:srgbClr val="0F2044"/>
                    </a:solidFill>
                    <a:latin typeface="Arial MT"/>
                    <a:cs typeface="Arial MT"/>
                  </a:rPr>
                  <a:t>are </a:t>
                </a:r>
                <a:r>
                  <a:rPr sz="1800" dirty="0">
                    <a:solidFill>
                      <a:srgbClr val="0F2044"/>
                    </a:solidFill>
                    <a:latin typeface="Arial MT"/>
                    <a:cs typeface="Arial MT"/>
                  </a:rPr>
                  <a:t>we</a:t>
                </a:r>
                <a:r>
                  <a:rPr sz="1800" spc="-25" dirty="0">
                    <a:solidFill>
                      <a:srgbClr val="0F2044"/>
                    </a:solidFill>
                    <a:latin typeface="Arial MT"/>
                    <a:cs typeface="Arial MT"/>
                  </a:rPr>
                  <a:t> </a:t>
                </a:r>
                <a:r>
                  <a:rPr sz="1800" dirty="0">
                    <a:solidFill>
                      <a:srgbClr val="0F2044"/>
                    </a:solidFill>
                    <a:latin typeface="Arial MT"/>
                    <a:cs typeface="Arial MT"/>
                  </a:rPr>
                  <a:t>willing</a:t>
                </a:r>
                <a:r>
                  <a:rPr sz="1800" spc="-20" dirty="0">
                    <a:solidFill>
                      <a:srgbClr val="0F2044"/>
                    </a:solidFill>
                    <a:latin typeface="Arial MT"/>
                    <a:cs typeface="Arial MT"/>
                  </a:rPr>
                  <a:t> </a:t>
                </a:r>
                <a:r>
                  <a:rPr sz="1800" spc="-25" dirty="0">
                    <a:solidFill>
                      <a:srgbClr val="0F2044"/>
                    </a:solidFill>
                    <a:latin typeface="Arial MT"/>
                    <a:cs typeface="Arial MT"/>
                  </a:rPr>
                  <a:t>to </a:t>
                </a:r>
                <a:r>
                  <a:rPr sz="1800" spc="-10" dirty="0">
                    <a:solidFill>
                      <a:srgbClr val="0F2044"/>
                    </a:solidFill>
                    <a:latin typeface="Arial MT"/>
                    <a:cs typeface="Arial MT"/>
                  </a:rPr>
                  <a:t>tolerate?</a:t>
                </a:r>
                <a:endParaRPr sz="1800" dirty="0">
                  <a:latin typeface="Arial MT"/>
                  <a:cs typeface="Arial MT"/>
                </a:endParaRPr>
              </a:p>
            </p:txBody>
          </p:sp>
          <p:grpSp>
            <p:nvGrpSpPr>
              <p:cNvPr id="56" name="Group 55">
                <a:extLst>
                  <a:ext uri="{FF2B5EF4-FFF2-40B4-BE49-F238E27FC236}">
                    <a16:creationId xmlns:a16="http://schemas.microsoft.com/office/drawing/2014/main" id="{2D100CC8-A8C4-8C8D-C4A6-AFE18EF8D7AB}"/>
                  </a:ext>
                </a:extLst>
              </p:cNvPr>
              <p:cNvGrpSpPr/>
              <p:nvPr/>
            </p:nvGrpSpPr>
            <p:grpSpPr>
              <a:xfrm>
                <a:off x="434970" y="2419637"/>
                <a:ext cx="10309230" cy="856963"/>
                <a:chOff x="434970" y="2419637"/>
                <a:chExt cx="10309230" cy="856963"/>
              </a:xfrm>
            </p:grpSpPr>
            <p:grpSp>
              <p:nvGrpSpPr>
                <p:cNvPr id="59" name="object 4">
                  <a:extLst>
                    <a:ext uri="{FF2B5EF4-FFF2-40B4-BE49-F238E27FC236}">
                      <a16:creationId xmlns:a16="http://schemas.microsoft.com/office/drawing/2014/main" id="{861E9698-431F-E21C-59E6-894265E07F59}"/>
                    </a:ext>
                  </a:extLst>
                </p:cNvPr>
                <p:cNvGrpSpPr/>
                <p:nvPr/>
              </p:nvGrpSpPr>
              <p:grpSpPr>
                <a:xfrm>
                  <a:off x="649112" y="2419637"/>
                  <a:ext cx="2482850" cy="218440"/>
                  <a:chOff x="649112" y="2419637"/>
                  <a:chExt cx="2482850" cy="218440"/>
                </a:xfrm>
              </p:grpSpPr>
              <p:sp>
                <p:nvSpPr>
                  <p:cNvPr id="70" name="object 5">
                    <a:extLst>
                      <a:ext uri="{FF2B5EF4-FFF2-40B4-BE49-F238E27FC236}">
                        <a16:creationId xmlns:a16="http://schemas.microsoft.com/office/drawing/2014/main" id="{09CF5F62-5284-E903-3122-20BA28349D69}"/>
                      </a:ext>
                    </a:extLst>
                  </p:cNvPr>
                  <p:cNvSpPr/>
                  <p:nvPr/>
                </p:nvSpPr>
                <p:spPr>
                  <a:xfrm>
                    <a:off x="653875" y="2424400"/>
                    <a:ext cx="2473325" cy="208915"/>
                  </a:xfrm>
                  <a:custGeom>
                    <a:avLst/>
                    <a:gdLst/>
                    <a:ahLst/>
                    <a:cxnLst/>
                    <a:rect l="l" t="t" r="r" b="b"/>
                    <a:pathLst>
                      <a:path w="2473325" h="208914">
                        <a:moveTo>
                          <a:pt x="52199" y="208799"/>
                        </a:moveTo>
                        <a:lnTo>
                          <a:pt x="0" y="208799"/>
                        </a:lnTo>
                        <a:lnTo>
                          <a:pt x="0" y="91349"/>
                        </a:lnTo>
                        <a:lnTo>
                          <a:pt x="26755" y="26755"/>
                        </a:lnTo>
                        <a:lnTo>
                          <a:pt x="91349" y="0"/>
                        </a:lnTo>
                        <a:lnTo>
                          <a:pt x="2355749" y="0"/>
                        </a:lnTo>
                        <a:lnTo>
                          <a:pt x="2406430" y="15347"/>
                        </a:lnTo>
                        <a:lnTo>
                          <a:pt x="2437908" y="52199"/>
                        </a:lnTo>
                        <a:lnTo>
                          <a:pt x="91349" y="52199"/>
                        </a:lnTo>
                        <a:lnTo>
                          <a:pt x="76111" y="55276"/>
                        </a:lnTo>
                        <a:lnTo>
                          <a:pt x="63666" y="63666"/>
                        </a:lnTo>
                        <a:lnTo>
                          <a:pt x="55276" y="76111"/>
                        </a:lnTo>
                        <a:lnTo>
                          <a:pt x="52199" y="91349"/>
                        </a:lnTo>
                        <a:lnTo>
                          <a:pt x="52199" y="208799"/>
                        </a:lnTo>
                        <a:close/>
                      </a:path>
                      <a:path w="2473325" h="208914">
                        <a:moveTo>
                          <a:pt x="2447099" y="104399"/>
                        </a:moveTo>
                        <a:lnTo>
                          <a:pt x="2394899" y="104399"/>
                        </a:lnTo>
                        <a:lnTo>
                          <a:pt x="2394899" y="91349"/>
                        </a:lnTo>
                        <a:lnTo>
                          <a:pt x="2391823" y="76111"/>
                        </a:lnTo>
                        <a:lnTo>
                          <a:pt x="2383433" y="63666"/>
                        </a:lnTo>
                        <a:lnTo>
                          <a:pt x="2370988" y="55276"/>
                        </a:lnTo>
                        <a:lnTo>
                          <a:pt x="2355749" y="52199"/>
                        </a:lnTo>
                        <a:lnTo>
                          <a:pt x="2437908" y="52199"/>
                        </a:lnTo>
                        <a:lnTo>
                          <a:pt x="2440146" y="56391"/>
                        </a:lnTo>
                        <a:lnTo>
                          <a:pt x="2445328" y="73445"/>
                        </a:lnTo>
                        <a:lnTo>
                          <a:pt x="2447099" y="91349"/>
                        </a:lnTo>
                        <a:lnTo>
                          <a:pt x="2447099" y="104399"/>
                        </a:lnTo>
                        <a:close/>
                      </a:path>
                      <a:path w="2473325" h="208914">
                        <a:moveTo>
                          <a:pt x="2420999" y="156599"/>
                        </a:moveTo>
                        <a:lnTo>
                          <a:pt x="2368799" y="104399"/>
                        </a:lnTo>
                        <a:lnTo>
                          <a:pt x="2473199" y="104399"/>
                        </a:lnTo>
                        <a:lnTo>
                          <a:pt x="2420999" y="156599"/>
                        </a:lnTo>
                        <a:close/>
                      </a:path>
                    </a:pathLst>
                  </a:custGeom>
                  <a:solidFill>
                    <a:srgbClr val="BEC0C1"/>
                  </a:solidFill>
                </p:spPr>
                <p:txBody>
                  <a:bodyPr wrap="square" lIns="0" tIns="0" rIns="0" bIns="0" rtlCol="0"/>
                  <a:lstStyle/>
                  <a:p>
                    <a:endParaRPr/>
                  </a:p>
                </p:txBody>
              </p:sp>
              <p:sp>
                <p:nvSpPr>
                  <p:cNvPr id="71" name="object 6">
                    <a:extLst>
                      <a:ext uri="{FF2B5EF4-FFF2-40B4-BE49-F238E27FC236}">
                        <a16:creationId xmlns:a16="http://schemas.microsoft.com/office/drawing/2014/main" id="{43088246-2125-84F6-CD16-664F6687492D}"/>
                      </a:ext>
                    </a:extLst>
                  </p:cNvPr>
                  <p:cNvSpPr/>
                  <p:nvPr/>
                </p:nvSpPr>
                <p:spPr>
                  <a:xfrm>
                    <a:off x="653875" y="2424400"/>
                    <a:ext cx="2473325" cy="208915"/>
                  </a:xfrm>
                  <a:custGeom>
                    <a:avLst/>
                    <a:gdLst/>
                    <a:ahLst/>
                    <a:cxnLst/>
                    <a:rect l="l" t="t" r="r" b="b"/>
                    <a:pathLst>
                      <a:path w="2473325" h="208914">
                        <a:moveTo>
                          <a:pt x="0" y="208799"/>
                        </a:moveTo>
                        <a:lnTo>
                          <a:pt x="0" y="91349"/>
                        </a:lnTo>
                        <a:lnTo>
                          <a:pt x="7178" y="55792"/>
                        </a:lnTo>
                        <a:lnTo>
                          <a:pt x="26755" y="26755"/>
                        </a:lnTo>
                        <a:lnTo>
                          <a:pt x="55792" y="7178"/>
                        </a:lnTo>
                        <a:lnTo>
                          <a:pt x="91349" y="0"/>
                        </a:lnTo>
                        <a:lnTo>
                          <a:pt x="2355749" y="0"/>
                        </a:lnTo>
                        <a:lnTo>
                          <a:pt x="2406430" y="15347"/>
                        </a:lnTo>
                        <a:lnTo>
                          <a:pt x="2440146" y="56391"/>
                        </a:lnTo>
                        <a:lnTo>
                          <a:pt x="2447099" y="91349"/>
                        </a:lnTo>
                        <a:lnTo>
                          <a:pt x="2447099" y="104399"/>
                        </a:lnTo>
                        <a:lnTo>
                          <a:pt x="2473199" y="104399"/>
                        </a:lnTo>
                        <a:lnTo>
                          <a:pt x="2420999" y="156599"/>
                        </a:lnTo>
                        <a:lnTo>
                          <a:pt x="2368799" y="104399"/>
                        </a:lnTo>
                        <a:lnTo>
                          <a:pt x="2394899" y="104399"/>
                        </a:lnTo>
                        <a:lnTo>
                          <a:pt x="2394899" y="91349"/>
                        </a:lnTo>
                        <a:lnTo>
                          <a:pt x="2391823" y="76111"/>
                        </a:lnTo>
                        <a:lnTo>
                          <a:pt x="2383433" y="63666"/>
                        </a:lnTo>
                        <a:lnTo>
                          <a:pt x="2370988" y="55276"/>
                        </a:lnTo>
                        <a:lnTo>
                          <a:pt x="2355749" y="52199"/>
                        </a:lnTo>
                        <a:lnTo>
                          <a:pt x="91349" y="52199"/>
                        </a:lnTo>
                        <a:lnTo>
                          <a:pt x="76111" y="55276"/>
                        </a:lnTo>
                        <a:lnTo>
                          <a:pt x="63666" y="63666"/>
                        </a:lnTo>
                        <a:lnTo>
                          <a:pt x="55276" y="76111"/>
                        </a:lnTo>
                        <a:lnTo>
                          <a:pt x="52199" y="91349"/>
                        </a:lnTo>
                        <a:lnTo>
                          <a:pt x="52199" y="208799"/>
                        </a:lnTo>
                        <a:lnTo>
                          <a:pt x="0" y="208799"/>
                        </a:lnTo>
                        <a:close/>
                      </a:path>
                    </a:pathLst>
                  </a:custGeom>
                  <a:ln w="9524">
                    <a:solidFill>
                      <a:srgbClr val="0F2044"/>
                    </a:solidFill>
                  </a:ln>
                </p:spPr>
                <p:txBody>
                  <a:bodyPr wrap="square" lIns="0" tIns="0" rIns="0" bIns="0" rtlCol="0"/>
                  <a:lstStyle/>
                  <a:p>
                    <a:endParaRPr/>
                  </a:p>
                </p:txBody>
              </p:sp>
            </p:grpSp>
            <p:grpSp>
              <p:nvGrpSpPr>
                <p:cNvPr id="60" name="object 7">
                  <a:extLst>
                    <a:ext uri="{FF2B5EF4-FFF2-40B4-BE49-F238E27FC236}">
                      <a16:creationId xmlns:a16="http://schemas.microsoft.com/office/drawing/2014/main" id="{D9012438-E526-5760-5EA5-F2A6FE971FC3}"/>
                    </a:ext>
                  </a:extLst>
                </p:cNvPr>
                <p:cNvGrpSpPr/>
                <p:nvPr/>
              </p:nvGrpSpPr>
              <p:grpSpPr>
                <a:xfrm>
                  <a:off x="3182762" y="2419637"/>
                  <a:ext cx="2347595" cy="218440"/>
                  <a:chOff x="3182762" y="2419637"/>
                  <a:chExt cx="2347595" cy="218440"/>
                </a:xfrm>
              </p:grpSpPr>
              <p:sp>
                <p:nvSpPr>
                  <p:cNvPr id="68" name="object 8">
                    <a:extLst>
                      <a:ext uri="{FF2B5EF4-FFF2-40B4-BE49-F238E27FC236}">
                        <a16:creationId xmlns:a16="http://schemas.microsoft.com/office/drawing/2014/main" id="{202AEB43-2D0B-1843-C420-6E7D79DF6561}"/>
                      </a:ext>
                    </a:extLst>
                  </p:cNvPr>
                  <p:cNvSpPr/>
                  <p:nvPr/>
                </p:nvSpPr>
                <p:spPr>
                  <a:xfrm>
                    <a:off x="3187524" y="2424400"/>
                    <a:ext cx="2338070" cy="208915"/>
                  </a:xfrm>
                  <a:custGeom>
                    <a:avLst/>
                    <a:gdLst/>
                    <a:ahLst/>
                    <a:cxnLst/>
                    <a:rect l="l" t="t" r="r" b="b"/>
                    <a:pathLst>
                      <a:path w="2338070" h="208914">
                        <a:moveTo>
                          <a:pt x="52199" y="208799"/>
                        </a:moveTo>
                        <a:lnTo>
                          <a:pt x="0" y="208799"/>
                        </a:lnTo>
                        <a:lnTo>
                          <a:pt x="0" y="91349"/>
                        </a:lnTo>
                        <a:lnTo>
                          <a:pt x="7057" y="56391"/>
                        </a:lnTo>
                        <a:lnTo>
                          <a:pt x="7178" y="55792"/>
                        </a:lnTo>
                        <a:lnTo>
                          <a:pt x="26755" y="26755"/>
                        </a:lnTo>
                        <a:lnTo>
                          <a:pt x="55792" y="7178"/>
                        </a:lnTo>
                        <a:lnTo>
                          <a:pt x="91349" y="0"/>
                        </a:lnTo>
                        <a:lnTo>
                          <a:pt x="2220149" y="0"/>
                        </a:lnTo>
                        <a:lnTo>
                          <a:pt x="2270831" y="15347"/>
                        </a:lnTo>
                        <a:lnTo>
                          <a:pt x="2302308" y="52199"/>
                        </a:lnTo>
                        <a:lnTo>
                          <a:pt x="91349" y="52199"/>
                        </a:lnTo>
                        <a:lnTo>
                          <a:pt x="76111" y="55276"/>
                        </a:lnTo>
                        <a:lnTo>
                          <a:pt x="63666" y="63666"/>
                        </a:lnTo>
                        <a:lnTo>
                          <a:pt x="55276" y="76111"/>
                        </a:lnTo>
                        <a:lnTo>
                          <a:pt x="52199" y="91349"/>
                        </a:lnTo>
                        <a:lnTo>
                          <a:pt x="52199" y="208799"/>
                        </a:lnTo>
                        <a:close/>
                      </a:path>
                      <a:path w="2338070" h="208914">
                        <a:moveTo>
                          <a:pt x="2311499" y="104399"/>
                        </a:moveTo>
                        <a:lnTo>
                          <a:pt x="2259299" y="104399"/>
                        </a:lnTo>
                        <a:lnTo>
                          <a:pt x="2259299" y="91349"/>
                        </a:lnTo>
                        <a:lnTo>
                          <a:pt x="2256223" y="76111"/>
                        </a:lnTo>
                        <a:lnTo>
                          <a:pt x="2247833" y="63666"/>
                        </a:lnTo>
                        <a:lnTo>
                          <a:pt x="2235388" y="55276"/>
                        </a:lnTo>
                        <a:lnTo>
                          <a:pt x="2220149" y="52199"/>
                        </a:lnTo>
                        <a:lnTo>
                          <a:pt x="2302308" y="52199"/>
                        </a:lnTo>
                        <a:lnTo>
                          <a:pt x="2304546" y="56391"/>
                        </a:lnTo>
                        <a:lnTo>
                          <a:pt x="2309728" y="73445"/>
                        </a:lnTo>
                        <a:lnTo>
                          <a:pt x="2311499" y="91349"/>
                        </a:lnTo>
                        <a:lnTo>
                          <a:pt x="2311499" y="104399"/>
                        </a:lnTo>
                        <a:close/>
                      </a:path>
                      <a:path w="2338070" h="208914">
                        <a:moveTo>
                          <a:pt x="2285399" y="156599"/>
                        </a:moveTo>
                        <a:lnTo>
                          <a:pt x="2233199" y="104399"/>
                        </a:lnTo>
                        <a:lnTo>
                          <a:pt x="2337599" y="104399"/>
                        </a:lnTo>
                        <a:lnTo>
                          <a:pt x="2285399" y="156599"/>
                        </a:lnTo>
                        <a:close/>
                      </a:path>
                    </a:pathLst>
                  </a:custGeom>
                  <a:solidFill>
                    <a:srgbClr val="BEC0C1"/>
                  </a:solidFill>
                </p:spPr>
                <p:txBody>
                  <a:bodyPr wrap="square" lIns="0" tIns="0" rIns="0" bIns="0" rtlCol="0"/>
                  <a:lstStyle/>
                  <a:p>
                    <a:endParaRPr/>
                  </a:p>
                </p:txBody>
              </p:sp>
              <p:sp>
                <p:nvSpPr>
                  <p:cNvPr id="69" name="object 9">
                    <a:extLst>
                      <a:ext uri="{FF2B5EF4-FFF2-40B4-BE49-F238E27FC236}">
                        <a16:creationId xmlns:a16="http://schemas.microsoft.com/office/drawing/2014/main" id="{2A1A9165-E1C9-460E-7C54-AFE2D45A41A8}"/>
                      </a:ext>
                    </a:extLst>
                  </p:cNvPr>
                  <p:cNvSpPr/>
                  <p:nvPr/>
                </p:nvSpPr>
                <p:spPr>
                  <a:xfrm>
                    <a:off x="3187525" y="2424400"/>
                    <a:ext cx="2338070" cy="208915"/>
                  </a:xfrm>
                  <a:custGeom>
                    <a:avLst/>
                    <a:gdLst/>
                    <a:ahLst/>
                    <a:cxnLst/>
                    <a:rect l="l" t="t" r="r" b="b"/>
                    <a:pathLst>
                      <a:path w="2338070" h="208914">
                        <a:moveTo>
                          <a:pt x="0" y="208799"/>
                        </a:moveTo>
                        <a:lnTo>
                          <a:pt x="0" y="91349"/>
                        </a:lnTo>
                        <a:lnTo>
                          <a:pt x="7178" y="55792"/>
                        </a:lnTo>
                        <a:lnTo>
                          <a:pt x="26755" y="26755"/>
                        </a:lnTo>
                        <a:lnTo>
                          <a:pt x="55792" y="7178"/>
                        </a:lnTo>
                        <a:lnTo>
                          <a:pt x="91349" y="0"/>
                        </a:lnTo>
                        <a:lnTo>
                          <a:pt x="2220149" y="0"/>
                        </a:lnTo>
                        <a:lnTo>
                          <a:pt x="2270831" y="15347"/>
                        </a:lnTo>
                        <a:lnTo>
                          <a:pt x="2304546" y="56391"/>
                        </a:lnTo>
                        <a:lnTo>
                          <a:pt x="2311499" y="91349"/>
                        </a:lnTo>
                        <a:lnTo>
                          <a:pt x="2311499" y="104399"/>
                        </a:lnTo>
                        <a:lnTo>
                          <a:pt x="2337599" y="104399"/>
                        </a:lnTo>
                        <a:lnTo>
                          <a:pt x="2285399" y="156599"/>
                        </a:lnTo>
                        <a:lnTo>
                          <a:pt x="2233199" y="104399"/>
                        </a:lnTo>
                        <a:lnTo>
                          <a:pt x="2259299" y="104399"/>
                        </a:lnTo>
                        <a:lnTo>
                          <a:pt x="2259299" y="91349"/>
                        </a:lnTo>
                        <a:lnTo>
                          <a:pt x="2256223" y="76111"/>
                        </a:lnTo>
                        <a:lnTo>
                          <a:pt x="2247833" y="63666"/>
                        </a:lnTo>
                        <a:lnTo>
                          <a:pt x="2235388" y="55276"/>
                        </a:lnTo>
                        <a:lnTo>
                          <a:pt x="2220149" y="52199"/>
                        </a:lnTo>
                        <a:lnTo>
                          <a:pt x="91349" y="52199"/>
                        </a:lnTo>
                        <a:lnTo>
                          <a:pt x="76111" y="55276"/>
                        </a:lnTo>
                        <a:lnTo>
                          <a:pt x="63666" y="63666"/>
                        </a:lnTo>
                        <a:lnTo>
                          <a:pt x="55276" y="76111"/>
                        </a:lnTo>
                        <a:lnTo>
                          <a:pt x="52199" y="91349"/>
                        </a:lnTo>
                        <a:lnTo>
                          <a:pt x="52199" y="208799"/>
                        </a:lnTo>
                        <a:lnTo>
                          <a:pt x="0" y="208799"/>
                        </a:lnTo>
                        <a:close/>
                      </a:path>
                    </a:pathLst>
                  </a:custGeom>
                  <a:ln w="9524">
                    <a:solidFill>
                      <a:srgbClr val="0F2044"/>
                    </a:solidFill>
                  </a:ln>
                </p:spPr>
                <p:txBody>
                  <a:bodyPr wrap="square" lIns="0" tIns="0" rIns="0" bIns="0" rtlCol="0"/>
                  <a:lstStyle/>
                  <a:p>
                    <a:endParaRPr/>
                  </a:p>
                </p:txBody>
              </p:sp>
            </p:grpSp>
            <p:grpSp>
              <p:nvGrpSpPr>
                <p:cNvPr id="61" name="object 10">
                  <a:extLst>
                    <a:ext uri="{FF2B5EF4-FFF2-40B4-BE49-F238E27FC236}">
                      <a16:creationId xmlns:a16="http://schemas.microsoft.com/office/drawing/2014/main" id="{937D6B90-2276-B8ED-4D78-7D578060D6DD}"/>
                    </a:ext>
                  </a:extLst>
                </p:cNvPr>
                <p:cNvGrpSpPr/>
                <p:nvPr/>
              </p:nvGrpSpPr>
              <p:grpSpPr>
                <a:xfrm>
                  <a:off x="5655962" y="2419637"/>
                  <a:ext cx="3558540" cy="218440"/>
                  <a:chOff x="5655962" y="2419637"/>
                  <a:chExt cx="3558540" cy="218440"/>
                </a:xfrm>
              </p:grpSpPr>
              <p:sp>
                <p:nvSpPr>
                  <p:cNvPr id="66" name="object 11">
                    <a:extLst>
                      <a:ext uri="{FF2B5EF4-FFF2-40B4-BE49-F238E27FC236}">
                        <a16:creationId xmlns:a16="http://schemas.microsoft.com/office/drawing/2014/main" id="{D53E2949-9097-C9F6-C21F-93C3024028B6}"/>
                      </a:ext>
                    </a:extLst>
                  </p:cNvPr>
                  <p:cNvSpPr/>
                  <p:nvPr/>
                </p:nvSpPr>
                <p:spPr>
                  <a:xfrm>
                    <a:off x="5660724" y="2424400"/>
                    <a:ext cx="3549015" cy="208915"/>
                  </a:xfrm>
                  <a:custGeom>
                    <a:avLst/>
                    <a:gdLst/>
                    <a:ahLst/>
                    <a:cxnLst/>
                    <a:rect l="l" t="t" r="r" b="b"/>
                    <a:pathLst>
                      <a:path w="3549015" h="208914">
                        <a:moveTo>
                          <a:pt x="52199" y="208799"/>
                        </a:moveTo>
                        <a:lnTo>
                          <a:pt x="0" y="208799"/>
                        </a:lnTo>
                        <a:lnTo>
                          <a:pt x="0" y="91349"/>
                        </a:lnTo>
                        <a:lnTo>
                          <a:pt x="7057" y="56391"/>
                        </a:lnTo>
                        <a:lnTo>
                          <a:pt x="7178" y="55792"/>
                        </a:lnTo>
                        <a:lnTo>
                          <a:pt x="26755" y="26755"/>
                        </a:lnTo>
                        <a:lnTo>
                          <a:pt x="55792" y="7178"/>
                        </a:lnTo>
                        <a:lnTo>
                          <a:pt x="91349" y="0"/>
                        </a:lnTo>
                        <a:lnTo>
                          <a:pt x="3431549" y="0"/>
                        </a:lnTo>
                        <a:lnTo>
                          <a:pt x="3482231" y="15347"/>
                        </a:lnTo>
                        <a:lnTo>
                          <a:pt x="3513708" y="52199"/>
                        </a:lnTo>
                        <a:lnTo>
                          <a:pt x="91349" y="52199"/>
                        </a:lnTo>
                        <a:lnTo>
                          <a:pt x="76111" y="55276"/>
                        </a:lnTo>
                        <a:lnTo>
                          <a:pt x="63666" y="63666"/>
                        </a:lnTo>
                        <a:lnTo>
                          <a:pt x="55276" y="76111"/>
                        </a:lnTo>
                        <a:lnTo>
                          <a:pt x="52199" y="91349"/>
                        </a:lnTo>
                        <a:lnTo>
                          <a:pt x="52199" y="208799"/>
                        </a:lnTo>
                        <a:close/>
                      </a:path>
                      <a:path w="3549015" h="208914">
                        <a:moveTo>
                          <a:pt x="3522899" y="104399"/>
                        </a:moveTo>
                        <a:lnTo>
                          <a:pt x="3470699" y="104399"/>
                        </a:lnTo>
                        <a:lnTo>
                          <a:pt x="3470699" y="91349"/>
                        </a:lnTo>
                        <a:lnTo>
                          <a:pt x="3467623" y="76111"/>
                        </a:lnTo>
                        <a:lnTo>
                          <a:pt x="3459233" y="63666"/>
                        </a:lnTo>
                        <a:lnTo>
                          <a:pt x="3446788" y="55276"/>
                        </a:lnTo>
                        <a:lnTo>
                          <a:pt x="3431549" y="52199"/>
                        </a:lnTo>
                        <a:lnTo>
                          <a:pt x="3513708" y="52199"/>
                        </a:lnTo>
                        <a:lnTo>
                          <a:pt x="3515946" y="56391"/>
                        </a:lnTo>
                        <a:lnTo>
                          <a:pt x="3521128" y="73445"/>
                        </a:lnTo>
                        <a:lnTo>
                          <a:pt x="3522899" y="91349"/>
                        </a:lnTo>
                        <a:lnTo>
                          <a:pt x="3522899" y="104399"/>
                        </a:lnTo>
                        <a:close/>
                      </a:path>
                      <a:path w="3549015" h="208914">
                        <a:moveTo>
                          <a:pt x="3496799" y="156599"/>
                        </a:moveTo>
                        <a:lnTo>
                          <a:pt x="3444599" y="104399"/>
                        </a:lnTo>
                        <a:lnTo>
                          <a:pt x="3548999" y="104399"/>
                        </a:lnTo>
                        <a:lnTo>
                          <a:pt x="3496799" y="156599"/>
                        </a:lnTo>
                        <a:close/>
                      </a:path>
                    </a:pathLst>
                  </a:custGeom>
                  <a:solidFill>
                    <a:srgbClr val="BEC0C1"/>
                  </a:solidFill>
                </p:spPr>
                <p:txBody>
                  <a:bodyPr wrap="square" lIns="0" tIns="0" rIns="0" bIns="0" rtlCol="0"/>
                  <a:lstStyle/>
                  <a:p>
                    <a:endParaRPr/>
                  </a:p>
                </p:txBody>
              </p:sp>
              <p:sp>
                <p:nvSpPr>
                  <p:cNvPr id="67" name="object 12">
                    <a:extLst>
                      <a:ext uri="{FF2B5EF4-FFF2-40B4-BE49-F238E27FC236}">
                        <a16:creationId xmlns:a16="http://schemas.microsoft.com/office/drawing/2014/main" id="{E196A9FE-DAFE-4427-8241-EA6FBDE965DF}"/>
                      </a:ext>
                    </a:extLst>
                  </p:cNvPr>
                  <p:cNvSpPr/>
                  <p:nvPr/>
                </p:nvSpPr>
                <p:spPr>
                  <a:xfrm>
                    <a:off x="5660725" y="2424400"/>
                    <a:ext cx="3549015" cy="208915"/>
                  </a:xfrm>
                  <a:custGeom>
                    <a:avLst/>
                    <a:gdLst/>
                    <a:ahLst/>
                    <a:cxnLst/>
                    <a:rect l="l" t="t" r="r" b="b"/>
                    <a:pathLst>
                      <a:path w="3549015" h="208914">
                        <a:moveTo>
                          <a:pt x="0" y="208799"/>
                        </a:moveTo>
                        <a:lnTo>
                          <a:pt x="0" y="91349"/>
                        </a:lnTo>
                        <a:lnTo>
                          <a:pt x="7178" y="55792"/>
                        </a:lnTo>
                        <a:lnTo>
                          <a:pt x="26755" y="26755"/>
                        </a:lnTo>
                        <a:lnTo>
                          <a:pt x="55792" y="7178"/>
                        </a:lnTo>
                        <a:lnTo>
                          <a:pt x="91349" y="0"/>
                        </a:lnTo>
                        <a:lnTo>
                          <a:pt x="3431549" y="0"/>
                        </a:lnTo>
                        <a:lnTo>
                          <a:pt x="3482231" y="15347"/>
                        </a:lnTo>
                        <a:lnTo>
                          <a:pt x="3515946" y="56391"/>
                        </a:lnTo>
                        <a:lnTo>
                          <a:pt x="3522899" y="91349"/>
                        </a:lnTo>
                        <a:lnTo>
                          <a:pt x="3522899" y="104399"/>
                        </a:lnTo>
                        <a:lnTo>
                          <a:pt x="3548999" y="104399"/>
                        </a:lnTo>
                        <a:lnTo>
                          <a:pt x="3496799" y="156599"/>
                        </a:lnTo>
                        <a:lnTo>
                          <a:pt x="3444599" y="104399"/>
                        </a:lnTo>
                        <a:lnTo>
                          <a:pt x="3470699" y="104399"/>
                        </a:lnTo>
                        <a:lnTo>
                          <a:pt x="3470699" y="91349"/>
                        </a:lnTo>
                        <a:lnTo>
                          <a:pt x="3467623" y="76111"/>
                        </a:lnTo>
                        <a:lnTo>
                          <a:pt x="3459233" y="63666"/>
                        </a:lnTo>
                        <a:lnTo>
                          <a:pt x="3446788" y="55276"/>
                        </a:lnTo>
                        <a:lnTo>
                          <a:pt x="3431549" y="52199"/>
                        </a:lnTo>
                        <a:lnTo>
                          <a:pt x="91349" y="52199"/>
                        </a:lnTo>
                        <a:lnTo>
                          <a:pt x="76111" y="55276"/>
                        </a:lnTo>
                        <a:lnTo>
                          <a:pt x="63666" y="63666"/>
                        </a:lnTo>
                        <a:lnTo>
                          <a:pt x="55276" y="76111"/>
                        </a:lnTo>
                        <a:lnTo>
                          <a:pt x="52199" y="91349"/>
                        </a:lnTo>
                        <a:lnTo>
                          <a:pt x="52199" y="208799"/>
                        </a:lnTo>
                        <a:lnTo>
                          <a:pt x="0" y="208799"/>
                        </a:lnTo>
                        <a:close/>
                      </a:path>
                    </a:pathLst>
                  </a:custGeom>
                  <a:ln w="9524">
                    <a:solidFill>
                      <a:srgbClr val="0F2044"/>
                    </a:solidFill>
                  </a:ln>
                </p:spPr>
                <p:txBody>
                  <a:bodyPr wrap="square" lIns="0" tIns="0" rIns="0" bIns="0" rtlCol="0"/>
                  <a:lstStyle/>
                  <a:p>
                    <a:endParaRPr/>
                  </a:p>
                </p:txBody>
              </p:sp>
            </p:grpSp>
            <p:grpSp>
              <p:nvGrpSpPr>
                <p:cNvPr id="62" name="object 13">
                  <a:extLst>
                    <a:ext uri="{FF2B5EF4-FFF2-40B4-BE49-F238E27FC236}">
                      <a16:creationId xmlns:a16="http://schemas.microsoft.com/office/drawing/2014/main" id="{E9112CA4-AFEC-CEE8-6343-350DFBF1EDC9}"/>
                    </a:ext>
                  </a:extLst>
                </p:cNvPr>
                <p:cNvGrpSpPr/>
                <p:nvPr/>
              </p:nvGrpSpPr>
              <p:grpSpPr>
                <a:xfrm>
                  <a:off x="9296887" y="2419637"/>
                  <a:ext cx="1221105" cy="218440"/>
                  <a:chOff x="9296887" y="2419637"/>
                  <a:chExt cx="1221105" cy="218440"/>
                </a:xfrm>
              </p:grpSpPr>
              <p:sp>
                <p:nvSpPr>
                  <p:cNvPr id="64" name="object 14">
                    <a:extLst>
                      <a:ext uri="{FF2B5EF4-FFF2-40B4-BE49-F238E27FC236}">
                        <a16:creationId xmlns:a16="http://schemas.microsoft.com/office/drawing/2014/main" id="{7DB0BBC1-633E-9C6E-1479-F1551168CB80}"/>
                      </a:ext>
                    </a:extLst>
                  </p:cNvPr>
                  <p:cNvSpPr/>
                  <p:nvPr/>
                </p:nvSpPr>
                <p:spPr>
                  <a:xfrm>
                    <a:off x="9301650" y="2424400"/>
                    <a:ext cx="1211580" cy="208915"/>
                  </a:xfrm>
                  <a:custGeom>
                    <a:avLst/>
                    <a:gdLst/>
                    <a:ahLst/>
                    <a:cxnLst/>
                    <a:rect l="l" t="t" r="r" b="b"/>
                    <a:pathLst>
                      <a:path w="1211579" h="208914">
                        <a:moveTo>
                          <a:pt x="52199" y="208799"/>
                        </a:moveTo>
                        <a:lnTo>
                          <a:pt x="0" y="208799"/>
                        </a:lnTo>
                        <a:lnTo>
                          <a:pt x="0" y="91349"/>
                        </a:lnTo>
                        <a:lnTo>
                          <a:pt x="26755" y="26755"/>
                        </a:lnTo>
                        <a:lnTo>
                          <a:pt x="91349" y="0"/>
                        </a:lnTo>
                        <a:lnTo>
                          <a:pt x="1093949" y="0"/>
                        </a:lnTo>
                        <a:lnTo>
                          <a:pt x="1144631" y="15347"/>
                        </a:lnTo>
                        <a:lnTo>
                          <a:pt x="1176108" y="52199"/>
                        </a:lnTo>
                        <a:lnTo>
                          <a:pt x="91349" y="52199"/>
                        </a:lnTo>
                        <a:lnTo>
                          <a:pt x="76111" y="55276"/>
                        </a:lnTo>
                        <a:lnTo>
                          <a:pt x="63666" y="63666"/>
                        </a:lnTo>
                        <a:lnTo>
                          <a:pt x="55276" y="76111"/>
                        </a:lnTo>
                        <a:lnTo>
                          <a:pt x="52199" y="91349"/>
                        </a:lnTo>
                        <a:lnTo>
                          <a:pt x="52199" y="208799"/>
                        </a:lnTo>
                        <a:close/>
                      </a:path>
                      <a:path w="1211579" h="208914">
                        <a:moveTo>
                          <a:pt x="1185299" y="104399"/>
                        </a:moveTo>
                        <a:lnTo>
                          <a:pt x="1133099" y="104399"/>
                        </a:lnTo>
                        <a:lnTo>
                          <a:pt x="1133099" y="91349"/>
                        </a:lnTo>
                        <a:lnTo>
                          <a:pt x="1130023" y="76111"/>
                        </a:lnTo>
                        <a:lnTo>
                          <a:pt x="1121633" y="63666"/>
                        </a:lnTo>
                        <a:lnTo>
                          <a:pt x="1109188" y="55276"/>
                        </a:lnTo>
                        <a:lnTo>
                          <a:pt x="1093949" y="52199"/>
                        </a:lnTo>
                        <a:lnTo>
                          <a:pt x="1176108" y="52199"/>
                        </a:lnTo>
                        <a:lnTo>
                          <a:pt x="1178346" y="56391"/>
                        </a:lnTo>
                        <a:lnTo>
                          <a:pt x="1183528" y="73445"/>
                        </a:lnTo>
                        <a:lnTo>
                          <a:pt x="1185299" y="91349"/>
                        </a:lnTo>
                        <a:lnTo>
                          <a:pt x="1185299" y="104399"/>
                        </a:lnTo>
                        <a:close/>
                      </a:path>
                      <a:path w="1211579" h="208914">
                        <a:moveTo>
                          <a:pt x="1159199" y="156599"/>
                        </a:moveTo>
                        <a:lnTo>
                          <a:pt x="1106999" y="104399"/>
                        </a:lnTo>
                        <a:lnTo>
                          <a:pt x="1211399" y="104399"/>
                        </a:lnTo>
                        <a:lnTo>
                          <a:pt x="1159199" y="156599"/>
                        </a:lnTo>
                        <a:close/>
                      </a:path>
                    </a:pathLst>
                  </a:custGeom>
                  <a:solidFill>
                    <a:srgbClr val="BEC0C1"/>
                  </a:solidFill>
                </p:spPr>
                <p:txBody>
                  <a:bodyPr wrap="square" lIns="0" tIns="0" rIns="0" bIns="0" rtlCol="0"/>
                  <a:lstStyle/>
                  <a:p>
                    <a:endParaRPr/>
                  </a:p>
                </p:txBody>
              </p:sp>
              <p:sp>
                <p:nvSpPr>
                  <p:cNvPr id="65" name="object 15">
                    <a:extLst>
                      <a:ext uri="{FF2B5EF4-FFF2-40B4-BE49-F238E27FC236}">
                        <a16:creationId xmlns:a16="http://schemas.microsoft.com/office/drawing/2014/main" id="{4899629D-9EF4-A59E-7A85-F8893E4854C3}"/>
                      </a:ext>
                    </a:extLst>
                  </p:cNvPr>
                  <p:cNvSpPr/>
                  <p:nvPr/>
                </p:nvSpPr>
                <p:spPr>
                  <a:xfrm>
                    <a:off x="9301650" y="2424400"/>
                    <a:ext cx="1211580" cy="208915"/>
                  </a:xfrm>
                  <a:custGeom>
                    <a:avLst/>
                    <a:gdLst/>
                    <a:ahLst/>
                    <a:cxnLst/>
                    <a:rect l="l" t="t" r="r" b="b"/>
                    <a:pathLst>
                      <a:path w="1211579" h="208914">
                        <a:moveTo>
                          <a:pt x="0" y="208799"/>
                        </a:moveTo>
                        <a:lnTo>
                          <a:pt x="0" y="91349"/>
                        </a:lnTo>
                        <a:lnTo>
                          <a:pt x="7178" y="55792"/>
                        </a:lnTo>
                        <a:lnTo>
                          <a:pt x="26755" y="26755"/>
                        </a:lnTo>
                        <a:lnTo>
                          <a:pt x="55792" y="7178"/>
                        </a:lnTo>
                        <a:lnTo>
                          <a:pt x="91349" y="0"/>
                        </a:lnTo>
                        <a:lnTo>
                          <a:pt x="1093949" y="0"/>
                        </a:lnTo>
                        <a:lnTo>
                          <a:pt x="1144631" y="15347"/>
                        </a:lnTo>
                        <a:lnTo>
                          <a:pt x="1178346" y="56391"/>
                        </a:lnTo>
                        <a:lnTo>
                          <a:pt x="1185299" y="91349"/>
                        </a:lnTo>
                        <a:lnTo>
                          <a:pt x="1185299" y="104399"/>
                        </a:lnTo>
                        <a:lnTo>
                          <a:pt x="1211399" y="104399"/>
                        </a:lnTo>
                        <a:lnTo>
                          <a:pt x="1159199" y="156599"/>
                        </a:lnTo>
                        <a:lnTo>
                          <a:pt x="1106999" y="104399"/>
                        </a:lnTo>
                        <a:lnTo>
                          <a:pt x="1133099" y="104399"/>
                        </a:lnTo>
                        <a:lnTo>
                          <a:pt x="1133099" y="91349"/>
                        </a:lnTo>
                        <a:lnTo>
                          <a:pt x="1130023" y="76111"/>
                        </a:lnTo>
                        <a:lnTo>
                          <a:pt x="1121633" y="63666"/>
                        </a:lnTo>
                        <a:lnTo>
                          <a:pt x="1109188" y="55276"/>
                        </a:lnTo>
                        <a:lnTo>
                          <a:pt x="1093949" y="52199"/>
                        </a:lnTo>
                        <a:lnTo>
                          <a:pt x="91349" y="52199"/>
                        </a:lnTo>
                        <a:lnTo>
                          <a:pt x="76111" y="55276"/>
                        </a:lnTo>
                        <a:lnTo>
                          <a:pt x="63666" y="63666"/>
                        </a:lnTo>
                        <a:lnTo>
                          <a:pt x="55276" y="76111"/>
                        </a:lnTo>
                        <a:lnTo>
                          <a:pt x="52199" y="91349"/>
                        </a:lnTo>
                        <a:lnTo>
                          <a:pt x="52199" y="208799"/>
                        </a:lnTo>
                        <a:lnTo>
                          <a:pt x="0" y="208799"/>
                        </a:lnTo>
                        <a:close/>
                      </a:path>
                    </a:pathLst>
                  </a:custGeom>
                  <a:ln w="9524">
                    <a:solidFill>
                      <a:srgbClr val="0F2044"/>
                    </a:solidFill>
                  </a:ln>
                </p:spPr>
                <p:txBody>
                  <a:bodyPr wrap="square" lIns="0" tIns="0" rIns="0" bIns="0" rtlCol="0"/>
                  <a:lstStyle/>
                  <a:p>
                    <a:endParaRPr/>
                  </a:p>
                </p:txBody>
              </p:sp>
            </p:grpSp>
            <p:pic>
              <p:nvPicPr>
                <p:cNvPr id="63" name="Picture 62">
                  <a:extLst>
                    <a:ext uri="{FF2B5EF4-FFF2-40B4-BE49-F238E27FC236}">
                      <a16:creationId xmlns:a16="http://schemas.microsoft.com/office/drawing/2014/main" id="{C0F3F171-B32A-1EFC-CB46-20969C10B9F7}"/>
                    </a:ext>
                  </a:extLst>
                </p:cNvPr>
                <p:cNvPicPr>
                  <a:picLocks noChangeAspect="1"/>
                </p:cNvPicPr>
                <p:nvPr/>
              </p:nvPicPr>
              <p:blipFill>
                <a:blip r:embed="rId3"/>
                <a:stretch>
                  <a:fillRect/>
                </a:stretch>
              </p:blipFill>
              <p:spPr>
                <a:xfrm>
                  <a:off x="434970" y="2819360"/>
                  <a:ext cx="10309230" cy="457240"/>
                </a:xfrm>
                <a:prstGeom prst="rect">
                  <a:avLst/>
                </a:prstGeom>
              </p:spPr>
            </p:pic>
          </p:grpSp>
          <p:pic>
            <p:nvPicPr>
              <p:cNvPr id="57" name="Picture 56">
                <a:extLst>
                  <a:ext uri="{FF2B5EF4-FFF2-40B4-BE49-F238E27FC236}">
                    <a16:creationId xmlns:a16="http://schemas.microsoft.com/office/drawing/2014/main" id="{A3595951-0243-CC5E-2CD3-786CC5B54190}"/>
                  </a:ext>
                </a:extLst>
              </p:cNvPr>
              <p:cNvPicPr>
                <a:picLocks noChangeAspect="1"/>
              </p:cNvPicPr>
              <p:nvPr/>
            </p:nvPicPr>
            <p:blipFill>
              <a:blip r:embed="rId4"/>
              <a:stretch>
                <a:fillRect/>
              </a:stretch>
            </p:blipFill>
            <p:spPr>
              <a:xfrm>
                <a:off x="5279037" y="4056377"/>
                <a:ext cx="3651821" cy="475529"/>
              </a:xfrm>
              <a:prstGeom prst="rect">
                <a:avLst/>
              </a:prstGeom>
            </p:spPr>
          </p:pic>
          <p:pic>
            <p:nvPicPr>
              <p:cNvPr id="58" name="Picture 57">
                <a:extLst>
                  <a:ext uri="{FF2B5EF4-FFF2-40B4-BE49-F238E27FC236}">
                    <a16:creationId xmlns:a16="http://schemas.microsoft.com/office/drawing/2014/main" id="{F00CC1BB-CBF8-0712-A432-1BEFF16D3296}"/>
                  </a:ext>
                </a:extLst>
              </p:cNvPr>
              <p:cNvPicPr>
                <a:picLocks noChangeAspect="1"/>
              </p:cNvPicPr>
              <p:nvPr/>
            </p:nvPicPr>
            <p:blipFill>
              <a:blip r:embed="rId5"/>
              <a:stretch>
                <a:fillRect/>
              </a:stretch>
            </p:blipFill>
            <p:spPr>
              <a:xfrm>
                <a:off x="5268590" y="4745526"/>
                <a:ext cx="3651821" cy="475529"/>
              </a:xfrm>
              <a:prstGeom prst="rect">
                <a:avLst/>
              </a:prstGeom>
            </p:spPr>
          </p:pic>
        </p:grpSp>
        <p:sp>
          <p:nvSpPr>
            <p:cNvPr id="50" name="object 18">
              <a:extLst>
                <a:ext uri="{FF2B5EF4-FFF2-40B4-BE49-F238E27FC236}">
                  <a16:creationId xmlns:a16="http://schemas.microsoft.com/office/drawing/2014/main" id="{6B8DCBC1-CC25-627C-68FE-6E80E82B3FF4}"/>
                </a:ext>
              </a:extLst>
            </p:cNvPr>
            <p:cNvSpPr/>
            <p:nvPr/>
          </p:nvSpPr>
          <p:spPr>
            <a:xfrm>
              <a:off x="7000258" y="3383280"/>
              <a:ext cx="10142" cy="502920"/>
            </a:xfrm>
            <a:custGeom>
              <a:avLst/>
              <a:gdLst/>
              <a:ahLst/>
              <a:cxnLst/>
              <a:rect l="l" t="t" r="r" b="b"/>
              <a:pathLst>
                <a:path w="7620" h="502920">
                  <a:moveTo>
                    <a:pt x="0" y="0"/>
                  </a:moveTo>
                  <a:lnTo>
                    <a:pt x="7542" y="502656"/>
                  </a:lnTo>
                </a:path>
              </a:pathLst>
            </a:custGeom>
            <a:ln w="12700">
              <a:solidFill>
                <a:srgbClr val="0F2044"/>
              </a:solidFill>
              <a:tailEnd type="triangle"/>
            </a:ln>
          </p:spPr>
          <p:txBody>
            <a:bodyPr wrap="square" lIns="0" tIns="0" rIns="0" bIns="0" rtlCol="0"/>
            <a:lstStyle/>
            <a:p>
              <a:endParaRPr/>
            </a:p>
          </p:txBody>
        </p:sp>
        <p:sp>
          <p:nvSpPr>
            <p:cNvPr id="51" name="object 22">
              <a:extLst>
                <a:ext uri="{FF2B5EF4-FFF2-40B4-BE49-F238E27FC236}">
                  <a16:creationId xmlns:a16="http://schemas.microsoft.com/office/drawing/2014/main" id="{2689CE97-F0B2-227D-9D53-27508F9A9E78}"/>
                </a:ext>
              </a:extLst>
            </p:cNvPr>
            <p:cNvSpPr/>
            <p:nvPr/>
          </p:nvSpPr>
          <p:spPr>
            <a:xfrm>
              <a:off x="2574501" y="3577225"/>
              <a:ext cx="4196715" cy="709295"/>
            </a:xfrm>
            <a:custGeom>
              <a:avLst/>
              <a:gdLst/>
              <a:ahLst/>
              <a:cxnLst/>
              <a:rect l="l" t="t" r="r" b="b"/>
              <a:pathLst>
                <a:path w="4196715" h="709295">
                  <a:moveTo>
                    <a:pt x="4196448" y="0"/>
                  </a:moveTo>
                  <a:lnTo>
                    <a:pt x="0" y="708979"/>
                  </a:lnTo>
                </a:path>
              </a:pathLst>
            </a:custGeom>
            <a:ln w="12700">
              <a:solidFill>
                <a:srgbClr val="0F2044"/>
              </a:solidFill>
              <a:tailEnd type="triangle"/>
            </a:ln>
          </p:spPr>
          <p:txBody>
            <a:bodyPr wrap="square" lIns="0" tIns="0" rIns="0" bIns="0" rtlCol="0"/>
            <a:lstStyle/>
            <a:p>
              <a:endParaRPr/>
            </a:p>
          </p:txBody>
        </p:sp>
      </p:grpSp>
      <p:sp>
        <p:nvSpPr>
          <p:cNvPr id="36" name="object 28">
            <a:extLst>
              <a:ext uri="{FF2B5EF4-FFF2-40B4-BE49-F238E27FC236}">
                <a16:creationId xmlns:a16="http://schemas.microsoft.com/office/drawing/2014/main" id="{00D2D9BF-213A-4155-A485-7701E55F7584}"/>
              </a:ext>
              <a:ext uri="{C183D7F6-B498-43B3-948B-1728B52AA6E4}">
                <adec:decorative xmlns:adec="http://schemas.microsoft.com/office/drawing/2017/decorative" val="1"/>
              </a:ext>
            </a:extLst>
          </p:cNvPr>
          <p:cNvSpPr txBox="1"/>
          <p:nvPr/>
        </p:nvSpPr>
        <p:spPr>
          <a:xfrm>
            <a:off x="5021500" y="5494371"/>
            <a:ext cx="5257165" cy="1152239"/>
          </a:xfrm>
          <a:prstGeom prst="rect">
            <a:avLst/>
          </a:prstGeom>
        </p:spPr>
        <p:txBody>
          <a:bodyPr vert="horz" wrap="square" lIns="0" tIns="12700" rIns="0" bIns="0" rtlCol="0">
            <a:spAutoFit/>
          </a:bodyPr>
          <a:lstStyle/>
          <a:p>
            <a:pPr marL="12700" marR="5080">
              <a:lnSpc>
                <a:spcPct val="114000"/>
              </a:lnSpc>
              <a:spcBef>
                <a:spcPts val="100"/>
              </a:spcBef>
              <a:spcAft>
                <a:spcPts val="1800"/>
              </a:spcAft>
            </a:pPr>
            <a:r>
              <a:rPr sz="1800" dirty="0">
                <a:solidFill>
                  <a:srgbClr val="0F2044"/>
                </a:solidFill>
                <a:latin typeface="Arial MT"/>
                <a:cs typeface="Arial MT"/>
              </a:rPr>
              <a:t>If</a:t>
            </a:r>
            <a:r>
              <a:rPr sz="1800" spc="-25" dirty="0">
                <a:solidFill>
                  <a:srgbClr val="0F2044"/>
                </a:solidFill>
                <a:latin typeface="Arial MT"/>
                <a:cs typeface="Arial MT"/>
              </a:rPr>
              <a:t> </a:t>
            </a:r>
            <a:r>
              <a:rPr sz="1800" dirty="0">
                <a:solidFill>
                  <a:srgbClr val="0F2044"/>
                </a:solidFill>
                <a:latin typeface="Arial MT"/>
                <a:cs typeface="Arial MT"/>
              </a:rPr>
              <a:t>a</a:t>
            </a:r>
            <a:r>
              <a:rPr sz="1800" spc="-15" dirty="0">
                <a:solidFill>
                  <a:srgbClr val="0F2044"/>
                </a:solidFill>
                <a:latin typeface="Arial MT"/>
                <a:cs typeface="Arial MT"/>
              </a:rPr>
              <a:t> </a:t>
            </a:r>
            <a:r>
              <a:rPr sz="1800" dirty="0">
                <a:solidFill>
                  <a:srgbClr val="0F2044"/>
                </a:solidFill>
                <a:latin typeface="Arial MT"/>
                <a:cs typeface="Arial MT"/>
              </a:rPr>
              <a:t>process</a:t>
            </a:r>
            <a:r>
              <a:rPr sz="1800" spc="-10" dirty="0">
                <a:solidFill>
                  <a:srgbClr val="0F2044"/>
                </a:solidFill>
                <a:latin typeface="Arial MT"/>
                <a:cs typeface="Arial MT"/>
              </a:rPr>
              <a:t> </a:t>
            </a:r>
            <a:r>
              <a:rPr sz="1800" dirty="0">
                <a:solidFill>
                  <a:srgbClr val="0F2044"/>
                </a:solidFill>
                <a:latin typeface="Arial MT"/>
                <a:cs typeface="Arial MT"/>
              </a:rPr>
              <a:t>requests</a:t>
            </a:r>
            <a:r>
              <a:rPr sz="1800" spc="-15" dirty="0">
                <a:solidFill>
                  <a:srgbClr val="0F2044"/>
                </a:solidFill>
                <a:latin typeface="Arial MT"/>
                <a:cs typeface="Arial MT"/>
              </a:rPr>
              <a:t> </a:t>
            </a:r>
            <a:r>
              <a:rPr sz="1800" dirty="0">
                <a:solidFill>
                  <a:srgbClr val="0F2044"/>
                </a:solidFill>
                <a:latin typeface="Arial MT"/>
                <a:cs typeface="Arial MT"/>
              </a:rPr>
              <a:t>for</a:t>
            </a:r>
            <a:r>
              <a:rPr sz="1800" spc="-10" dirty="0">
                <a:solidFill>
                  <a:srgbClr val="0F2044"/>
                </a:solidFill>
                <a:latin typeface="Arial MT"/>
                <a:cs typeface="Arial MT"/>
              </a:rPr>
              <a:t> </a:t>
            </a:r>
            <a:r>
              <a:rPr sz="1800" dirty="0">
                <a:solidFill>
                  <a:srgbClr val="0F2044"/>
                </a:solidFill>
                <a:latin typeface="Arial MT"/>
                <a:cs typeface="Arial MT"/>
              </a:rPr>
              <a:t>5</a:t>
            </a:r>
            <a:r>
              <a:rPr sz="1800" spc="-15" dirty="0">
                <a:solidFill>
                  <a:srgbClr val="0F2044"/>
                </a:solidFill>
                <a:latin typeface="Arial MT"/>
                <a:cs typeface="Arial MT"/>
              </a:rPr>
              <a:t> </a:t>
            </a:r>
            <a:r>
              <a:rPr sz="1800" dirty="0">
                <a:solidFill>
                  <a:srgbClr val="0F2044"/>
                </a:solidFill>
                <a:latin typeface="Arial MT"/>
                <a:cs typeface="Arial MT"/>
              </a:rPr>
              <a:t>words,</a:t>
            </a:r>
            <a:r>
              <a:rPr sz="1800" spc="-10" dirty="0">
                <a:solidFill>
                  <a:srgbClr val="0F2044"/>
                </a:solidFill>
                <a:latin typeface="Arial MT"/>
                <a:cs typeface="Arial MT"/>
              </a:rPr>
              <a:t> </a:t>
            </a:r>
            <a:r>
              <a:rPr sz="1800" dirty="0">
                <a:solidFill>
                  <a:srgbClr val="0F2044"/>
                </a:solidFill>
                <a:latin typeface="Arial MT"/>
                <a:cs typeface="Arial MT"/>
              </a:rPr>
              <a:t>although</a:t>
            </a:r>
            <a:r>
              <a:rPr sz="1800" spc="-15" dirty="0">
                <a:solidFill>
                  <a:srgbClr val="0F2044"/>
                </a:solidFill>
                <a:latin typeface="Arial MT"/>
                <a:cs typeface="Arial MT"/>
              </a:rPr>
              <a:t> </a:t>
            </a:r>
            <a:r>
              <a:rPr sz="1800" dirty="0">
                <a:solidFill>
                  <a:srgbClr val="0F2044"/>
                </a:solidFill>
                <a:latin typeface="Arial MT"/>
                <a:cs typeface="Arial MT"/>
              </a:rPr>
              <a:t>we</a:t>
            </a:r>
            <a:r>
              <a:rPr sz="1800" spc="-10" dirty="0">
                <a:solidFill>
                  <a:srgbClr val="0F2044"/>
                </a:solidFill>
                <a:latin typeface="Arial MT"/>
                <a:cs typeface="Arial MT"/>
              </a:rPr>
              <a:t> </a:t>
            </a:r>
            <a:r>
              <a:rPr sz="1800" spc="-20" dirty="0">
                <a:solidFill>
                  <a:srgbClr val="0F2044"/>
                </a:solidFill>
                <a:latin typeface="Arial MT"/>
                <a:cs typeface="Arial MT"/>
              </a:rPr>
              <a:t>have </a:t>
            </a:r>
            <a:r>
              <a:rPr sz="1800" dirty="0">
                <a:solidFill>
                  <a:srgbClr val="0F2044"/>
                </a:solidFill>
                <a:latin typeface="Arial MT"/>
                <a:cs typeface="Arial MT"/>
              </a:rPr>
              <a:t>enough,</a:t>
            </a:r>
            <a:r>
              <a:rPr sz="1800" spc="-35" dirty="0">
                <a:solidFill>
                  <a:srgbClr val="0F2044"/>
                </a:solidFill>
                <a:latin typeface="Arial MT"/>
                <a:cs typeface="Arial MT"/>
              </a:rPr>
              <a:t> </a:t>
            </a:r>
            <a:r>
              <a:rPr sz="1800" dirty="0">
                <a:solidFill>
                  <a:srgbClr val="0F2044"/>
                </a:solidFill>
                <a:latin typeface="Arial MT"/>
                <a:cs typeface="Arial MT"/>
              </a:rPr>
              <a:t>we</a:t>
            </a:r>
            <a:r>
              <a:rPr sz="1800" spc="-25" dirty="0">
                <a:solidFill>
                  <a:srgbClr val="0F2044"/>
                </a:solidFill>
                <a:latin typeface="Arial MT"/>
                <a:cs typeface="Arial MT"/>
              </a:rPr>
              <a:t> </a:t>
            </a:r>
            <a:r>
              <a:rPr sz="1800" dirty="0">
                <a:solidFill>
                  <a:srgbClr val="0F2044"/>
                </a:solidFill>
                <a:latin typeface="Arial MT"/>
                <a:cs typeface="Arial MT"/>
              </a:rPr>
              <a:t>cannot</a:t>
            </a:r>
            <a:r>
              <a:rPr sz="1800" spc="-25" dirty="0">
                <a:solidFill>
                  <a:srgbClr val="0F2044"/>
                </a:solidFill>
                <a:latin typeface="Arial MT"/>
                <a:cs typeface="Arial MT"/>
              </a:rPr>
              <a:t> </a:t>
            </a:r>
            <a:r>
              <a:rPr sz="1800" dirty="0">
                <a:solidFill>
                  <a:srgbClr val="0F2044"/>
                </a:solidFill>
                <a:latin typeface="Arial MT"/>
                <a:cs typeface="Arial MT"/>
              </a:rPr>
              <a:t>fulfill</a:t>
            </a:r>
            <a:r>
              <a:rPr sz="1800" spc="-25" dirty="0">
                <a:solidFill>
                  <a:srgbClr val="0F2044"/>
                </a:solidFill>
                <a:latin typeface="Arial MT"/>
                <a:cs typeface="Arial MT"/>
              </a:rPr>
              <a:t> </a:t>
            </a:r>
            <a:r>
              <a:rPr sz="1800" dirty="0">
                <a:solidFill>
                  <a:srgbClr val="0F2044"/>
                </a:solidFill>
                <a:latin typeface="Arial MT"/>
                <a:cs typeface="Arial MT"/>
              </a:rPr>
              <a:t>the</a:t>
            </a:r>
            <a:r>
              <a:rPr sz="1800" spc="-25" dirty="0">
                <a:solidFill>
                  <a:srgbClr val="0F2044"/>
                </a:solidFill>
                <a:latin typeface="Arial MT"/>
                <a:cs typeface="Arial MT"/>
              </a:rPr>
              <a:t> </a:t>
            </a:r>
            <a:r>
              <a:rPr sz="1800" spc="-10" dirty="0">
                <a:solidFill>
                  <a:srgbClr val="0F2044"/>
                </a:solidFill>
                <a:latin typeface="Arial MT"/>
                <a:cs typeface="Arial MT"/>
              </a:rPr>
              <a:t>request.</a:t>
            </a:r>
            <a:endParaRPr sz="1800" dirty="0">
              <a:latin typeface="Arial MT"/>
              <a:cs typeface="Arial MT"/>
            </a:endParaRPr>
          </a:p>
          <a:p>
            <a:pPr marL="12700">
              <a:lnSpc>
                <a:spcPct val="100000"/>
              </a:lnSpc>
            </a:pPr>
            <a:r>
              <a:rPr sz="1800" dirty="0">
                <a:solidFill>
                  <a:srgbClr val="0F2044"/>
                </a:solidFill>
                <a:latin typeface="Arial MT"/>
                <a:cs typeface="Arial MT"/>
              </a:rPr>
              <a:t>→</a:t>
            </a:r>
            <a:r>
              <a:rPr sz="1800" spc="-15" dirty="0">
                <a:solidFill>
                  <a:srgbClr val="0F2044"/>
                </a:solidFill>
                <a:latin typeface="Arial MT"/>
                <a:cs typeface="Arial MT"/>
              </a:rPr>
              <a:t> </a:t>
            </a:r>
            <a:r>
              <a:rPr sz="1800" b="1" dirty="0">
                <a:solidFill>
                  <a:srgbClr val="0F2044"/>
                </a:solidFill>
                <a:latin typeface="Arial"/>
                <a:cs typeface="Arial"/>
              </a:rPr>
              <a:t>false</a:t>
            </a:r>
            <a:r>
              <a:rPr sz="1800" b="1" spc="-10" dirty="0">
                <a:solidFill>
                  <a:srgbClr val="0F2044"/>
                </a:solidFill>
                <a:latin typeface="Arial"/>
                <a:cs typeface="Arial"/>
              </a:rPr>
              <a:t> fragmentation</a:t>
            </a:r>
            <a:endParaRPr sz="1800" dirty="0">
              <a:latin typeface="Arial"/>
              <a:cs typeface="Arial"/>
            </a:endParaRPr>
          </a:p>
        </p:txBody>
      </p:sp>
      <p:sp>
        <p:nvSpPr>
          <p:cNvPr id="38" name="object 41">
            <a:extLst>
              <a:ext uri="{FF2B5EF4-FFF2-40B4-BE49-F238E27FC236}">
                <a16:creationId xmlns:a16="http://schemas.microsoft.com/office/drawing/2014/main" id="{E29BF1D3-17C0-2DE1-20FA-FB5EAC49850D}"/>
              </a:ext>
              <a:ext uri="{C183D7F6-B498-43B3-948B-1728B52AA6E4}">
                <adec:decorative xmlns:adec="http://schemas.microsoft.com/office/drawing/2017/decorative" val="1"/>
              </a:ext>
            </a:extLst>
          </p:cNvPr>
          <p:cNvSpPr/>
          <p:nvPr/>
        </p:nvSpPr>
        <p:spPr>
          <a:xfrm>
            <a:off x="7588774" y="1689861"/>
            <a:ext cx="4381500" cy="4906744"/>
          </a:xfrm>
          <a:custGeom>
            <a:avLst/>
            <a:gdLst/>
            <a:ahLst/>
            <a:cxnLst/>
            <a:rect l="l" t="t" r="r" b="b"/>
            <a:pathLst>
              <a:path w="4381500" h="4396105">
                <a:moveTo>
                  <a:pt x="4381199" y="4395899"/>
                </a:moveTo>
                <a:lnTo>
                  <a:pt x="0" y="4395899"/>
                </a:lnTo>
                <a:lnTo>
                  <a:pt x="0" y="0"/>
                </a:lnTo>
                <a:lnTo>
                  <a:pt x="4381199" y="0"/>
                </a:lnTo>
                <a:lnTo>
                  <a:pt x="4381199" y="4395899"/>
                </a:lnTo>
                <a:close/>
              </a:path>
            </a:pathLst>
          </a:custGeom>
          <a:solidFill>
            <a:srgbClr val="B6D7A8"/>
          </a:solidFill>
          <a:ln w="12700">
            <a:solidFill>
              <a:srgbClr val="0F2044"/>
            </a:solidFill>
          </a:ln>
        </p:spPr>
        <p:txBody>
          <a:bodyPr wrap="square" lIns="0" tIns="0" rIns="0" bIns="0" rtlCol="0"/>
          <a:lstStyle/>
          <a:p>
            <a:endParaRPr/>
          </a:p>
        </p:txBody>
      </p:sp>
      <p:sp>
        <p:nvSpPr>
          <p:cNvPr id="42" name="object 46">
            <a:extLst>
              <a:ext uri="{FF2B5EF4-FFF2-40B4-BE49-F238E27FC236}">
                <a16:creationId xmlns:a16="http://schemas.microsoft.com/office/drawing/2014/main" id="{D99727CD-3349-683D-1CF8-C6A7AEDD348C}"/>
              </a:ext>
            </a:extLst>
          </p:cNvPr>
          <p:cNvSpPr txBox="1"/>
          <p:nvPr/>
        </p:nvSpPr>
        <p:spPr>
          <a:xfrm>
            <a:off x="7767696" y="1772920"/>
            <a:ext cx="3910329" cy="586740"/>
          </a:xfrm>
          <a:prstGeom prst="rect">
            <a:avLst/>
          </a:prstGeom>
        </p:spPr>
        <p:txBody>
          <a:bodyPr vert="horz" wrap="square" lIns="0" tIns="12700" rIns="0" bIns="0" rtlCol="0">
            <a:spAutoFit/>
          </a:bodyPr>
          <a:lstStyle/>
          <a:p>
            <a:pPr marL="363855" marR="5080" indent="-351790">
              <a:lnSpc>
                <a:spcPct val="114999"/>
              </a:lnSpc>
              <a:spcBef>
                <a:spcPts val="100"/>
              </a:spcBef>
              <a:buChar char="●"/>
              <a:tabLst>
                <a:tab pos="363855" algn="l"/>
              </a:tabLst>
            </a:pPr>
            <a:r>
              <a:rPr sz="1600" dirty="0">
                <a:latin typeface="Arial MT"/>
                <a:cs typeface="Arial MT"/>
              </a:rPr>
              <a:t>adjacent</a:t>
            </a:r>
            <a:r>
              <a:rPr sz="1600" spc="-30" dirty="0">
                <a:latin typeface="Arial MT"/>
                <a:cs typeface="Arial MT"/>
              </a:rPr>
              <a:t> </a:t>
            </a:r>
            <a:r>
              <a:rPr sz="1600" dirty="0">
                <a:latin typeface="Arial MT"/>
                <a:cs typeface="Arial MT"/>
              </a:rPr>
              <a:t>free</a:t>
            </a:r>
            <a:r>
              <a:rPr sz="1600" spc="-30" dirty="0">
                <a:latin typeface="Arial MT"/>
                <a:cs typeface="Arial MT"/>
              </a:rPr>
              <a:t> </a:t>
            </a:r>
            <a:r>
              <a:rPr sz="1600" dirty="0">
                <a:latin typeface="Arial MT"/>
                <a:cs typeface="Arial MT"/>
              </a:rPr>
              <a:t>blocks</a:t>
            </a:r>
            <a:r>
              <a:rPr sz="1600" spc="-30" dirty="0">
                <a:latin typeface="Arial MT"/>
                <a:cs typeface="Arial MT"/>
              </a:rPr>
              <a:t> </a:t>
            </a:r>
            <a:r>
              <a:rPr sz="1600" dirty="0">
                <a:latin typeface="Arial MT"/>
                <a:cs typeface="Arial MT"/>
              </a:rPr>
              <a:t>cause</a:t>
            </a:r>
            <a:r>
              <a:rPr sz="1600" spc="-15" dirty="0">
                <a:latin typeface="Arial MT"/>
                <a:cs typeface="Arial MT"/>
              </a:rPr>
              <a:t> </a:t>
            </a:r>
            <a:r>
              <a:rPr sz="1600" i="1" spc="-10" dirty="0">
                <a:latin typeface="Arial"/>
                <a:cs typeface="Arial"/>
              </a:rPr>
              <a:t>f</a:t>
            </a:r>
            <a:r>
              <a:rPr sz="1600" b="1" i="1" spc="-10" dirty="0">
                <a:latin typeface="Arial"/>
                <a:cs typeface="Arial"/>
              </a:rPr>
              <a:t>alse </a:t>
            </a:r>
            <a:r>
              <a:rPr sz="1600" b="1" i="1" spc="-20" dirty="0">
                <a:latin typeface="Arial"/>
                <a:cs typeface="Arial"/>
              </a:rPr>
              <a:t>fragmentation</a:t>
            </a:r>
            <a:r>
              <a:rPr sz="1600" spc="-20" dirty="0">
                <a:latin typeface="Arial MT"/>
                <a:cs typeface="Arial MT"/>
              </a:rPr>
              <a:t>—</a:t>
            </a:r>
            <a:r>
              <a:rPr sz="1600" dirty="0">
                <a:latin typeface="Arial MT"/>
                <a:cs typeface="Arial MT"/>
              </a:rPr>
              <a:t>free</a:t>
            </a:r>
            <a:r>
              <a:rPr sz="1600" spc="-5" dirty="0">
                <a:latin typeface="Arial MT"/>
                <a:cs typeface="Arial MT"/>
              </a:rPr>
              <a:t> </a:t>
            </a:r>
            <a:r>
              <a:rPr sz="1600" dirty="0">
                <a:latin typeface="Arial MT"/>
                <a:cs typeface="Arial MT"/>
              </a:rPr>
              <a:t>memory</a:t>
            </a:r>
            <a:r>
              <a:rPr sz="1600" spc="-5" dirty="0">
                <a:latin typeface="Arial MT"/>
                <a:cs typeface="Arial MT"/>
              </a:rPr>
              <a:t> </a:t>
            </a:r>
            <a:r>
              <a:rPr sz="1600" spc="-10" dirty="0">
                <a:latin typeface="Arial MT"/>
                <a:cs typeface="Arial MT"/>
              </a:rPr>
              <a:t>chopped</a:t>
            </a:r>
            <a:endParaRPr sz="1600" dirty="0">
              <a:latin typeface="Arial MT"/>
              <a:cs typeface="Arial MT"/>
            </a:endParaRPr>
          </a:p>
        </p:txBody>
      </p:sp>
      <p:sp>
        <p:nvSpPr>
          <p:cNvPr id="43" name="object 47">
            <a:extLst>
              <a:ext uri="{FF2B5EF4-FFF2-40B4-BE49-F238E27FC236}">
                <a16:creationId xmlns:a16="http://schemas.microsoft.com/office/drawing/2014/main" id="{607584E2-27D9-5343-CF92-677D80957682}"/>
              </a:ext>
            </a:extLst>
          </p:cNvPr>
          <p:cNvSpPr txBox="1"/>
          <p:nvPr/>
        </p:nvSpPr>
        <p:spPr>
          <a:xfrm>
            <a:off x="7767696" y="2333752"/>
            <a:ext cx="3989704" cy="586740"/>
          </a:xfrm>
          <a:prstGeom prst="rect">
            <a:avLst/>
          </a:prstGeom>
        </p:spPr>
        <p:txBody>
          <a:bodyPr vert="horz" wrap="square" lIns="0" tIns="48895" rIns="0" bIns="0" rtlCol="0">
            <a:spAutoFit/>
          </a:bodyPr>
          <a:lstStyle/>
          <a:p>
            <a:pPr marR="5080" algn="r">
              <a:lnSpc>
                <a:spcPct val="100000"/>
              </a:lnSpc>
              <a:spcBef>
                <a:spcPts val="385"/>
              </a:spcBef>
            </a:pPr>
            <a:r>
              <a:rPr sz="1600" dirty="0">
                <a:latin typeface="Arial MT"/>
                <a:cs typeface="Arial MT"/>
              </a:rPr>
              <a:t>up</a:t>
            </a:r>
            <a:r>
              <a:rPr sz="1600" spc="-25" dirty="0">
                <a:latin typeface="Arial MT"/>
                <a:cs typeface="Arial MT"/>
              </a:rPr>
              <a:t> </a:t>
            </a:r>
            <a:r>
              <a:rPr sz="1600" dirty="0">
                <a:latin typeface="Arial MT"/>
                <a:cs typeface="Arial MT"/>
              </a:rPr>
              <a:t>into</a:t>
            </a:r>
            <a:r>
              <a:rPr sz="1600" spc="-25" dirty="0">
                <a:latin typeface="Arial MT"/>
                <a:cs typeface="Arial MT"/>
              </a:rPr>
              <a:t> </a:t>
            </a:r>
            <a:r>
              <a:rPr sz="1600" dirty="0">
                <a:latin typeface="Arial MT"/>
                <a:cs typeface="Arial MT"/>
              </a:rPr>
              <a:t>many</a:t>
            </a:r>
            <a:r>
              <a:rPr sz="1600" spc="-25" dirty="0">
                <a:latin typeface="Arial MT"/>
                <a:cs typeface="Arial MT"/>
              </a:rPr>
              <a:t> </a:t>
            </a:r>
            <a:r>
              <a:rPr sz="1600" dirty="0">
                <a:latin typeface="Arial MT"/>
                <a:cs typeface="Arial MT"/>
              </a:rPr>
              <a:t>small</a:t>
            </a:r>
            <a:r>
              <a:rPr sz="1600" spc="-25" dirty="0">
                <a:latin typeface="Arial MT"/>
                <a:cs typeface="Arial MT"/>
              </a:rPr>
              <a:t> </a:t>
            </a:r>
            <a:r>
              <a:rPr sz="1600" dirty="0">
                <a:latin typeface="Arial MT"/>
                <a:cs typeface="Arial MT"/>
              </a:rPr>
              <a:t>unusable</a:t>
            </a:r>
            <a:r>
              <a:rPr sz="1600" spc="-25" dirty="0">
                <a:latin typeface="Arial MT"/>
                <a:cs typeface="Arial MT"/>
              </a:rPr>
              <a:t> </a:t>
            </a:r>
            <a:r>
              <a:rPr sz="1600" dirty="0">
                <a:latin typeface="Arial MT"/>
                <a:cs typeface="Arial MT"/>
              </a:rPr>
              <a:t>free</a:t>
            </a:r>
            <a:r>
              <a:rPr sz="1600" spc="-25" dirty="0">
                <a:latin typeface="Arial MT"/>
                <a:cs typeface="Arial MT"/>
              </a:rPr>
              <a:t> </a:t>
            </a:r>
            <a:r>
              <a:rPr sz="1600" spc="-10" dirty="0">
                <a:latin typeface="Arial MT"/>
                <a:cs typeface="Arial MT"/>
              </a:rPr>
              <a:t>blocks</a:t>
            </a:r>
            <a:endParaRPr sz="1600" dirty="0">
              <a:latin typeface="Arial MT"/>
              <a:cs typeface="Arial MT"/>
            </a:endParaRPr>
          </a:p>
          <a:p>
            <a:pPr marL="351155" marR="61594" indent="-351155" algn="r">
              <a:lnSpc>
                <a:spcPct val="100000"/>
              </a:lnSpc>
              <a:spcBef>
                <a:spcPts val="290"/>
              </a:spcBef>
              <a:buChar char="●"/>
              <a:tabLst>
                <a:tab pos="351155" algn="l"/>
              </a:tabLst>
            </a:pPr>
            <a:r>
              <a:rPr sz="1600" dirty="0">
                <a:latin typeface="Arial MT"/>
                <a:cs typeface="Arial MT"/>
              </a:rPr>
              <a:t>to</a:t>
            </a:r>
            <a:r>
              <a:rPr sz="1600" spc="-20" dirty="0">
                <a:latin typeface="Arial MT"/>
                <a:cs typeface="Arial MT"/>
              </a:rPr>
              <a:t> </a:t>
            </a:r>
            <a:r>
              <a:rPr sz="1600" dirty="0">
                <a:latin typeface="Arial MT"/>
                <a:cs typeface="Arial MT"/>
              </a:rPr>
              <a:t>address</a:t>
            </a:r>
            <a:r>
              <a:rPr sz="1600" spc="-15" dirty="0">
                <a:latin typeface="Arial MT"/>
                <a:cs typeface="Arial MT"/>
              </a:rPr>
              <a:t> </a:t>
            </a:r>
            <a:r>
              <a:rPr sz="1600" dirty="0">
                <a:latin typeface="Arial MT"/>
                <a:cs typeface="Arial MT"/>
              </a:rPr>
              <a:t>this</a:t>
            </a:r>
            <a:r>
              <a:rPr sz="1600" spc="-20" dirty="0">
                <a:latin typeface="Arial MT"/>
                <a:cs typeface="Arial MT"/>
              </a:rPr>
              <a:t> </a:t>
            </a:r>
            <a:r>
              <a:rPr sz="1600" dirty="0">
                <a:latin typeface="Arial MT"/>
                <a:cs typeface="Arial MT"/>
              </a:rPr>
              <a:t>an</a:t>
            </a:r>
            <a:r>
              <a:rPr sz="1600" spc="-15" dirty="0">
                <a:latin typeface="Arial MT"/>
                <a:cs typeface="Arial MT"/>
              </a:rPr>
              <a:t> </a:t>
            </a:r>
            <a:r>
              <a:rPr sz="1600" dirty="0">
                <a:latin typeface="Arial MT"/>
                <a:cs typeface="Arial MT"/>
              </a:rPr>
              <a:t>allocator</a:t>
            </a:r>
            <a:r>
              <a:rPr sz="1600" spc="-20" dirty="0">
                <a:latin typeface="Arial MT"/>
                <a:cs typeface="Arial MT"/>
              </a:rPr>
              <a:t> </a:t>
            </a:r>
            <a:r>
              <a:rPr sz="1600" dirty="0">
                <a:latin typeface="Arial MT"/>
                <a:cs typeface="Arial MT"/>
              </a:rPr>
              <a:t>must</a:t>
            </a:r>
            <a:r>
              <a:rPr sz="1600" spc="-15" dirty="0">
                <a:latin typeface="Arial MT"/>
                <a:cs typeface="Arial MT"/>
              </a:rPr>
              <a:t> </a:t>
            </a:r>
            <a:r>
              <a:rPr sz="1600" spc="-10" dirty="0">
                <a:latin typeface="Arial MT"/>
                <a:cs typeface="Arial MT"/>
              </a:rPr>
              <a:t>merge</a:t>
            </a:r>
            <a:endParaRPr sz="1600" dirty="0">
              <a:latin typeface="Arial MT"/>
              <a:cs typeface="Arial MT"/>
            </a:endParaRPr>
          </a:p>
        </p:txBody>
      </p:sp>
      <p:sp>
        <p:nvSpPr>
          <p:cNvPr id="44" name="object 48">
            <a:extLst>
              <a:ext uri="{FF2B5EF4-FFF2-40B4-BE49-F238E27FC236}">
                <a16:creationId xmlns:a16="http://schemas.microsoft.com/office/drawing/2014/main" id="{0181CD1C-D1B4-ED1E-30FE-4E51ED175C34}"/>
              </a:ext>
            </a:extLst>
          </p:cNvPr>
          <p:cNvSpPr txBox="1"/>
          <p:nvPr/>
        </p:nvSpPr>
        <p:spPr>
          <a:xfrm>
            <a:off x="8119000" y="2931160"/>
            <a:ext cx="2880995"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Arial MT"/>
                <a:cs typeface="Arial MT"/>
              </a:rPr>
              <a:t>(</a:t>
            </a:r>
            <a:r>
              <a:rPr sz="1600" b="1" i="1" dirty="0">
                <a:latin typeface="Arial"/>
                <a:cs typeface="Arial"/>
              </a:rPr>
              <a:t>coalesce</a:t>
            </a:r>
            <a:r>
              <a:rPr sz="1600" dirty="0">
                <a:latin typeface="Arial MT"/>
                <a:cs typeface="Arial MT"/>
              </a:rPr>
              <a:t>)</a:t>
            </a:r>
            <a:r>
              <a:rPr sz="1600" spc="-50" dirty="0">
                <a:latin typeface="Arial MT"/>
                <a:cs typeface="Arial MT"/>
              </a:rPr>
              <a:t> </a:t>
            </a:r>
            <a:r>
              <a:rPr sz="1600" dirty="0">
                <a:latin typeface="Arial MT"/>
                <a:cs typeface="Arial MT"/>
              </a:rPr>
              <a:t>adjacent</a:t>
            </a:r>
            <a:r>
              <a:rPr sz="1600" spc="-50" dirty="0">
                <a:latin typeface="Arial MT"/>
                <a:cs typeface="Arial MT"/>
              </a:rPr>
              <a:t> </a:t>
            </a:r>
            <a:r>
              <a:rPr sz="1600" dirty="0">
                <a:latin typeface="Arial MT"/>
                <a:cs typeface="Arial MT"/>
              </a:rPr>
              <a:t>free</a:t>
            </a:r>
            <a:r>
              <a:rPr sz="1600" spc="-45" dirty="0">
                <a:latin typeface="Arial MT"/>
                <a:cs typeface="Arial MT"/>
              </a:rPr>
              <a:t> </a:t>
            </a:r>
            <a:r>
              <a:rPr sz="1600" spc="-10" dirty="0">
                <a:latin typeface="Arial MT"/>
                <a:cs typeface="Arial MT"/>
              </a:rPr>
              <a:t>blocks</a:t>
            </a:r>
            <a:endParaRPr sz="1600" dirty="0">
              <a:latin typeface="Arial MT"/>
              <a:cs typeface="Arial MT"/>
            </a:endParaRPr>
          </a:p>
        </p:txBody>
      </p:sp>
      <p:sp>
        <p:nvSpPr>
          <p:cNvPr id="45" name="object 49">
            <a:extLst>
              <a:ext uri="{FF2B5EF4-FFF2-40B4-BE49-F238E27FC236}">
                <a16:creationId xmlns:a16="http://schemas.microsoft.com/office/drawing/2014/main" id="{4066A339-AB40-EEB1-D8E2-CB3F0CFB62D3}"/>
              </a:ext>
            </a:extLst>
          </p:cNvPr>
          <p:cNvSpPr txBox="1"/>
          <p:nvPr/>
        </p:nvSpPr>
        <p:spPr>
          <a:xfrm>
            <a:off x="8224896" y="3397124"/>
            <a:ext cx="3176905" cy="586740"/>
          </a:xfrm>
          <a:prstGeom prst="rect">
            <a:avLst/>
          </a:prstGeom>
        </p:spPr>
        <p:txBody>
          <a:bodyPr vert="horz" wrap="square" lIns="0" tIns="12700" rIns="0" bIns="0" rtlCol="0">
            <a:spAutoFit/>
          </a:bodyPr>
          <a:lstStyle/>
          <a:p>
            <a:pPr marL="363855" marR="5080" indent="-351790">
              <a:lnSpc>
                <a:spcPct val="114999"/>
              </a:lnSpc>
              <a:spcBef>
                <a:spcPts val="100"/>
              </a:spcBef>
              <a:buFont typeface="Arial MT"/>
              <a:buChar char="○"/>
              <a:tabLst>
                <a:tab pos="363855" algn="l"/>
              </a:tabLst>
            </a:pPr>
            <a:r>
              <a:rPr sz="1600" b="1" i="1" spc="-10" dirty="0">
                <a:latin typeface="Arial"/>
                <a:cs typeface="Arial"/>
              </a:rPr>
              <a:t>immediate</a:t>
            </a:r>
            <a:r>
              <a:rPr sz="1600" b="1" i="1" spc="-45" dirty="0">
                <a:latin typeface="Arial"/>
                <a:cs typeface="Arial"/>
              </a:rPr>
              <a:t> </a:t>
            </a:r>
            <a:r>
              <a:rPr sz="1600" b="1" i="1" dirty="0">
                <a:latin typeface="Arial"/>
                <a:cs typeface="Arial"/>
              </a:rPr>
              <a:t>coalescing</a:t>
            </a:r>
            <a:r>
              <a:rPr sz="1600" dirty="0">
                <a:latin typeface="Arial MT"/>
                <a:cs typeface="Arial MT"/>
              </a:rPr>
              <a:t>:</a:t>
            </a:r>
            <a:r>
              <a:rPr sz="1600" spc="-40" dirty="0">
                <a:latin typeface="Arial MT"/>
                <a:cs typeface="Arial MT"/>
              </a:rPr>
              <a:t> </a:t>
            </a:r>
            <a:r>
              <a:rPr sz="1600" spc="-10" dirty="0">
                <a:latin typeface="Arial MT"/>
                <a:cs typeface="Arial MT"/>
              </a:rPr>
              <a:t>merge </a:t>
            </a:r>
            <a:r>
              <a:rPr sz="1600" dirty="0">
                <a:latin typeface="Arial MT"/>
                <a:cs typeface="Arial MT"/>
              </a:rPr>
              <a:t>blocks</a:t>
            </a:r>
            <a:r>
              <a:rPr sz="1600" spc="-20" dirty="0">
                <a:latin typeface="Arial MT"/>
                <a:cs typeface="Arial MT"/>
              </a:rPr>
              <a:t> </a:t>
            </a:r>
            <a:r>
              <a:rPr sz="1600" dirty="0">
                <a:latin typeface="Arial MT"/>
                <a:cs typeface="Arial MT"/>
              </a:rPr>
              <a:t>whenever</a:t>
            </a:r>
            <a:r>
              <a:rPr sz="1600" spc="-5" dirty="0">
                <a:latin typeface="Arial MT"/>
                <a:cs typeface="Arial MT"/>
              </a:rPr>
              <a:t> </a:t>
            </a:r>
            <a:r>
              <a:rPr sz="1600" dirty="0">
                <a:latin typeface="Arial MT"/>
                <a:cs typeface="Arial MT"/>
              </a:rPr>
              <a:t>one</a:t>
            </a:r>
            <a:r>
              <a:rPr sz="1600" spc="-10" dirty="0">
                <a:latin typeface="Arial MT"/>
                <a:cs typeface="Arial MT"/>
              </a:rPr>
              <a:t> </a:t>
            </a:r>
            <a:r>
              <a:rPr sz="1600" dirty="0">
                <a:latin typeface="Arial MT"/>
                <a:cs typeface="Arial MT"/>
              </a:rPr>
              <a:t>is</a:t>
            </a:r>
            <a:r>
              <a:rPr sz="1600" spc="-5" dirty="0">
                <a:latin typeface="Arial MT"/>
                <a:cs typeface="Arial MT"/>
              </a:rPr>
              <a:t> </a:t>
            </a:r>
            <a:r>
              <a:rPr sz="1600" spc="-10" dirty="0">
                <a:latin typeface="Arial MT"/>
                <a:cs typeface="Arial MT"/>
              </a:rPr>
              <a:t>freed</a:t>
            </a:r>
            <a:endParaRPr sz="1600" dirty="0">
              <a:latin typeface="Arial MT"/>
              <a:cs typeface="Arial MT"/>
            </a:endParaRPr>
          </a:p>
        </p:txBody>
      </p:sp>
      <p:sp>
        <p:nvSpPr>
          <p:cNvPr id="46" name="object 50">
            <a:extLst>
              <a:ext uri="{FF2B5EF4-FFF2-40B4-BE49-F238E27FC236}">
                <a16:creationId xmlns:a16="http://schemas.microsoft.com/office/drawing/2014/main" id="{DD8C2352-B308-EA8B-B983-F5C1C2521AB1}"/>
              </a:ext>
            </a:extLst>
          </p:cNvPr>
          <p:cNvSpPr txBox="1"/>
          <p:nvPr/>
        </p:nvSpPr>
        <p:spPr>
          <a:xfrm>
            <a:off x="8682096" y="3957955"/>
            <a:ext cx="3119755" cy="1147445"/>
          </a:xfrm>
          <a:prstGeom prst="rect">
            <a:avLst/>
          </a:prstGeom>
        </p:spPr>
        <p:txBody>
          <a:bodyPr vert="horz" wrap="square" lIns="0" tIns="48895" rIns="0" bIns="0" rtlCol="0">
            <a:spAutoFit/>
          </a:bodyPr>
          <a:lstStyle/>
          <a:p>
            <a:pPr marL="363855" indent="-351155">
              <a:lnSpc>
                <a:spcPct val="100000"/>
              </a:lnSpc>
              <a:spcBef>
                <a:spcPts val="385"/>
              </a:spcBef>
              <a:buChar char="■"/>
              <a:tabLst>
                <a:tab pos="363855" algn="l"/>
              </a:tabLst>
            </a:pPr>
            <a:r>
              <a:rPr sz="1600" dirty="0">
                <a:latin typeface="Arial MT"/>
                <a:cs typeface="Arial MT"/>
              </a:rPr>
              <a:t>simple,</a:t>
            </a:r>
            <a:r>
              <a:rPr sz="1600" spc="-70" dirty="0">
                <a:latin typeface="Arial MT"/>
                <a:cs typeface="Arial MT"/>
              </a:rPr>
              <a:t> </a:t>
            </a:r>
            <a:r>
              <a:rPr sz="1600" dirty="0">
                <a:latin typeface="Arial MT"/>
                <a:cs typeface="Arial MT"/>
              </a:rPr>
              <a:t>constant</a:t>
            </a:r>
            <a:r>
              <a:rPr sz="1600" spc="-70" dirty="0">
                <a:latin typeface="Arial MT"/>
                <a:cs typeface="Arial MT"/>
              </a:rPr>
              <a:t> </a:t>
            </a:r>
            <a:r>
              <a:rPr sz="1600" spc="-20" dirty="0">
                <a:latin typeface="Arial MT"/>
                <a:cs typeface="Arial MT"/>
              </a:rPr>
              <a:t>time</a:t>
            </a:r>
            <a:endParaRPr sz="1600" dirty="0">
              <a:latin typeface="Arial MT"/>
              <a:cs typeface="Arial MT"/>
            </a:endParaRPr>
          </a:p>
          <a:p>
            <a:pPr marL="363855" marR="5080" indent="-351790">
              <a:lnSpc>
                <a:spcPct val="114999"/>
              </a:lnSpc>
              <a:buChar char="■"/>
              <a:tabLst>
                <a:tab pos="363855" algn="l"/>
              </a:tabLst>
            </a:pPr>
            <a:r>
              <a:rPr sz="1600" dirty="0">
                <a:latin typeface="Arial MT"/>
                <a:cs typeface="Arial MT"/>
              </a:rPr>
              <a:t>can</a:t>
            </a:r>
            <a:r>
              <a:rPr sz="1600" spc="-25" dirty="0">
                <a:latin typeface="Arial MT"/>
                <a:cs typeface="Arial MT"/>
              </a:rPr>
              <a:t> </a:t>
            </a:r>
            <a:r>
              <a:rPr sz="1600" dirty="0">
                <a:latin typeface="Arial MT"/>
                <a:cs typeface="Arial MT"/>
              </a:rPr>
              <a:t>lead</a:t>
            </a:r>
            <a:r>
              <a:rPr sz="1600" spc="-20" dirty="0">
                <a:latin typeface="Arial MT"/>
                <a:cs typeface="Arial MT"/>
              </a:rPr>
              <a:t> </a:t>
            </a:r>
            <a:r>
              <a:rPr sz="1600" dirty="0">
                <a:latin typeface="Arial MT"/>
                <a:cs typeface="Arial MT"/>
              </a:rPr>
              <a:t>to</a:t>
            </a:r>
            <a:r>
              <a:rPr sz="1600" spc="-20" dirty="0">
                <a:latin typeface="Arial MT"/>
                <a:cs typeface="Arial MT"/>
              </a:rPr>
              <a:t> </a:t>
            </a:r>
            <a:r>
              <a:rPr sz="1600" dirty="0">
                <a:latin typeface="Arial MT"/>
                <a:cs typeface="Arial MT"/>
              </a:rPr>
              <a:t>a</a:t>
            </a:r>
            <a:r>
              <a:rPr sz="1600" spc="-20" dirty="0">
                <a:latin typeface="Arial MT"/>
                <a:cs typeface="Arial MT"/>
              </a:rPr>
              <a:t> </a:t>
            </a:r>
            <a:r>
              <a:rPr sz="1600" dirty="0">
                <a:latin typeface="Arial MT"/>
                <a:cs typeface="Arial MT"/>
              </a:rPr>
              <a:t>form</a:t>
            </a:r>
            <a:r>
              <a:rPr sz="1600" spc="-20" dirty="0">
                <a:latin typeface="Arial MT"/>
                <a:cs typeface="Arial MT"/>
              </a:rPr>
              <a:t> </a:t>
            </a:r>
            <a:r>
              <a:rPr sz="1600" dirty="0">
                <a:latin typeface="Arial MT"/>
                <a:cs typeface="Arial MT"/>
              </a:rPr>
              <a:t>of</a:t>
            </a:r>
            <a:r>
              <a:rPr sz="1600" spc="-20" dirty="0">
                <a:latin typeface="Arial MT"/>
                <a:cs typeface="Arial MT"/>
              </a:rPr>
              <a:t> </a:t>
            </a:r>
            <a:r>
              <a:rPr sz="1600" spc="-10" dirty="0">
                <a:latin typeface="Arial MT"/>
                <a:cs typeface="Arial MT"/>
              </a:rPr>
              <a:t>thrashing </a:t>
            </a:r>
            <a:r>
              <a:rPr sz="1600" dirty="0">
                <a:latin typeface="Arial MT"/>
                <a:cs typeface="Arial MT"/>
              </a:rPr>
              <a:t>where</a:t>
            </a:r>
            <a:r>
              <a:rPr sz="1600" spc="-10" dirty="0">
                <a:latin typeface="Arial MT"/>
                <a:cs typeface="Arial MT"/>
              </a:rPr>
              <a:t> </a:t>
            </a:r>
            <a:r>
              <a:rPr sz="1600" dirty="0">
                <a:latin typeface="Arial MT"/>
                <a:cs typeface="Arial MT"/>
              </a:rPr>
              <a:t>a</a:t>
            </a:r>
            <a:r>
              <a:rPr sz="1600" spc="-10" dirty="0">
                <a:latin typeface="Arial MT"/>
                <a:cs typeface="Arial MT"/>
              </a:rPr>
              <a:t> </a:t>
            </a:r>
            <a:r>
              <a:rPr sz="1600" dirty="0">
                <a:latin typeface="Arial MT"/>
                <a:cs typeface="Arial MT"/>
              </a:rPr>
              <a:t>block</a:t>
            </a:r>
            <a:r>
              <a:rPr sz="1600" spc="-10" dirty="0">
                <a:latin typeface="Arial MT"/>
                <a:cs typeface="Arial MT"/>
              </a:rPr>
              <a:t> </a:t>
            </a:r>
            <a:r>
              <a:rPr sz="1600" dirty="0">
                <a:latin typeface="Arial MT"/>
                <a:cs typeface="Arial MT"/>
              </a:rPr>
              <a:t>is</a:t>
            </a:r>
            <a:r>
              <a:rPr sz="1600" spc="-10" dirty="0">
                <a:latin typeface="Arial MT"/>
                <a:cs typeface="Arial MT"/>
              </a:rPr>
              <a:t> coaslesced </a:t>
            </a:r>
            <a:r>
              <a:rPr sz="1600" dirty="0">
                <a:latin typeface="Arial MT"/>
                <a:cs typeface="Arial MT"/>
              </a:rPr>
              <a:t>and</a:t>
            </a:r>
            <a:r>
              <a:rPr sz="1600" spc="-20" dirty="0">
                <a:latin typeface="Arial MT"/>
                <a:cs typeface="Arial MT"/>
              </a:rPr>
              <a:t> </a:t>
            </a:r>
            <a:r>
              <a:rPr sz="1600" dirty="0">
                <a:latin typeface="Arial MT"/>
                <a:cs typeface="Arial MT"/>
              </a:rPr>
              <a:t>split</a:t>
            </a:r>
            <a:r>
              <a:rPr sz="1600" spc="-20" dirty="0">
                <a:latin typeface="Arial MT"/>
                <a:cs typeface="Arial MT"/>
              </a:rPr>
              <a:t> </a:t>
            </a:r>
            <a:r>
              <a:rPr sz="1600" spc="-10" dirty="0">
                <a:latin typeface="Arial MT"/>
                <a:cs typeface="Arial MT"/>
              </a:rPr>
              <a:t>repeatedly</a:t>
            </a:r>
            <a:endParaRPr sz="1600" dirty="0">
              <a:latin typeface="Arial MT"/>
              <a:cs typeface="Arial MT"/>
            </a:endParaRPr>
          </a:p>
        </p:txBody>
      </p:sp>
      <p:sp>
        <p:nvSpPr>
          <p:cNvPr id="47" name="object 51">
            <a:extLst>
              <a:ext uri="{FF2B5EF4-FFF2-40B4-BE49-F238E27FC236}">
                <a16:creationId xmlns:a16="http://schemas.microsoft.com/office/drawing/2014/main" id="{E7AFE280-172F-2C59-47EE-2EB6A6379D70}"/>
              </a:ext>
            </a:extLst>
          </p:cNvPr>
          <p:cNvSpPr txBox="1"/>
          <p:nvPr/>
        </p:nvSpPr>
        <p:spPr>
          <a:xfrm>
            <a:off x="8224896" y="5313396"/>
            <a:ext cx="3570604" cy="1147445"/>
          </a:xfrm>
          <a:prstGeom prst="rect">
            <a:avLst/>
          </a:prstGeom>
        </p:spPr>
        <p:txBody>
          <a:bodyPr vert="horz" wrap="square" lIns="0" tIns="12700" rIns="0" bIns="0" rtlCol="0">
            <a:spAutoFit/>
          </a:bodyPr>
          <a:lstStyle/>
          <a:p>
            <a:pPr marL="363855" marR="5080" indent="-351790">
              <a:lnSpc>
                <a:spcPct val="114999"/>
              </a:lnSpc>
              <a:spcBef>
                <a:spcPts val="100"/>
              </a:spcBef>
              <a:buFont typeface="Arial MT"/>
              <a:buChar char="○"/>
              <a:tabLst>
                <a:tab pos="363855" algn="l"/>
              </a:tabLst>
            </a:pPr>
            <a:r>
              <a:rPr sz="1600" b="1" i="1" dirty="0">
                <a:latin typeface="Arial"/>
                <a:cs typeface="Arial"/>
              </a:rPr>
              <a:t>deferred</a:t>
            </a:r>
            <a:r>
              <a:rPr sz="1600" b="1" i="1" spc="-35" dirty="0">
                <a:latin typeface="Arial"/>
                <a:cs typeface="Arial"/>
              </a:rPr>
              <a:t> </a:t>
            </a:r>
            <a:r>
              <a:rPr sz="1600" b="1" i="1" dirty="0">
                <a:latin typeface="Arial"/>
                <a:cs typeface="Arial"/>
              </a:rPr>
              <a:t>coalescing</a:t>
            </a:r>
            <a:r>
              <a:rPr sz="1600" dirty="0">
                <a:latin typeface="Arial MT"/>
                <a:cs typeface="Arial MT"/>
              </a:rPr>
              <a:t>:</a:t>
            </a:r>
            <a:r>
              <a:rPr sz="1600" spc="-35" dirty="0">
                <a:latin typeface="Arial MT"/>
                <a:cs typeface="Arial MT"/>
              </a:rPr>
              <a:t> </a:t>
            </a:r>
            <a:r>
              <a:rPr sz="1600" dirty="0">
                <a:latin typeface="Arial MT"/>
                <a:cs typeface="Arial MT"/>
              </a:rPr>
              <a:t>wait</a:t>
            </a:r>
            <a:r>
              <a:rPr sz="1600" spc="-30" dirty="0">
                <a:latin typeface="Arial MT"/>
                <a:cs typeface="Arial MT"/>
              </a:rPr>
              <a:t> </a:t>
            </a:r>
            <a:r>
              <a:rPr sz="1600" spc="-25" dirty="0">
                <a:latin typeface="Arial MT"/>
                <a:cs typeface="Arial MT"/>
              </a:rPr>
              <a:t>and </a:t>
            </a:r>
            <a:r>
              <a:rPr sz="1600" dirty="0">
                <a:latin typeface="Arial MT"/>
                <a:cs typeface="Arial MT"/>
              </a:rPr>
              <a:t>coaslesce</a:t>
            </a:r>
            <a:r>
              <a:rPr sz="1600" spc="-35" dirty="0">
                <a:latin typeface="Arial MT"/>
                <a:cs typeface="Arial MT"/>
              </a:rPr>
              <a:t> </a:t>
            </a:r>
            <a:r>
              <a:rPr sz="1600" dirty="0">
                <a:latin typeface="Arial MT"/>
                <a:cs typeface="Arial MT"/>
              </a:rPr>
              <a:t>at</a:t>
            </a:r>
            <a:r>
              <a:rPr sz="1600" spc="-35" dirty="0">
                <a:latin typeface="Arial MT"/>
                <a:cs typeface="Arial MT"/>
              </a:rPr>
              <a:t> </a:t>
            </a:r>
            <a:r>
              <a:rPr sz="1600" dirty="0">
                <a:latin typeface="Arial MT"/>
                <a:cs typeface="Arial MT"/>
              </a:rPr>
              <a:t>a</a:t>
            </a:r>
            <a:r>
              <a:rPr sz="1600" spc="-30" dirty="0">
                <a:latin typeface="Arial MT"/>
                <a:cs typeface="Arial MT"/>
              </a:rPr>
              <a:t> </a:t>
            </a:r>
            <a:r>
              <a:rPr sz="1600" dirty="0">
                <a:latin typeface="Arial MT"/>
                <a:cs typeface="Arial MT"/>
              </a:rPr>
              <a:t>later</a:t>
            </a:r>
            <a:r>
              <a:rPr sz="1600" spc="-35" dirty="0">
                <a:latin typeface="Arial MT"/>
                <a:cs typeface="Arial MT"/>
              </a:rPr>
              <a:t> </a:t>
            </a:r>
            <a:r>
              <a:rPr sz="1600" dirty="0">
                <a:latin typeface="Arial MT"/>
                <a:cs typeface="Arial MT"/>
              </a:rPr>
              <a:t>time</a:t>
            </a:r>
            <a:r>
              <a:rPr sz="1600" spc="-30" dirty="0">
                <a:latin typeface="Arial MT"/>
                <a:cs typeface="Arial MT"/>
              </a:rPr>
              <a:t> </a:t>
            </a:r>
            <a:r>
              <a:rPr sz="1600" dirty="0">
                <a:latin typeface="Arial MT"/>
                <a:cs typeface="Arial MT"/>
              </a:rPr>
              <a:t>(e.g.,</a:t>
            </a:r>
            <a:r>
              <a:rPr sz="1600" spc="-35" dirty="0">
                <a:latin typeface="Arial MT"/>
                <a:cs typeface="Arial MT"/>
              </a:rPr>
              <a:t> </a:t>
            </a:r>
            <a:r>
              <a:rPr sz="1600" spc="-20" dirty="0">
                <a:latin typeface="Arial MT"/>
                <a:cs typeface="Arial MT"/>
              </a:rPr>
              <a:t>scan </a:t>
            </a:r>
            <a:r>
              <a:rPr sz="1600" dirty="0">
                <a:latin typeface="Arial MT"/>
                <a:cs typeface="Arial MT"/>
              </a:rPr>
              <a:t>the</a:t>
            </a:r>
            <a:r>
              <a:rPr sz="1600" spc="-35" dirty="0">
                <a:latin typeface="Arial MT"/>
                <a:cs typeface="Arial MT"/>
              </a:rPr>
              <a:t> </a:t>
            </a:r>
            <a:r>
              <a:rPr sz="1600" dirty="0">
                <a:latin typeface="Arial MT"/>
                <a:cs typeface="Arial MT"/>
              </a:rPr>
              <a:t>hope</a:t>
            </a:r>
            <a:r>
              <a:rPr sz="1600" spc="-35" dirty="0">
                <a:latin typeface="Arial MT"/>
                <a:cs typeface="Arial MT"/>
              </a:rPr>
              <a:t> </a:t>
            </a:r>
            <a:r>
              <a:rPr sz="1600" dirty="0">
                <a:latin typeface="Arial MT"/>
                <a:cs typeface="Arial MT"/>
              </a:rPr>
              <a:t>when</a:t>
            </a:r>
            <a:r>
              <a:rPr sz="1600" spc="-35" dirty="0">
                <a:latin typeface="Arial MT"/>
                <a:cs typeface="Arial MT"/>
              </a:rPr>
              <a:t> </a:t>
            </a:r>
            <a:r>
              <a:rPr sz="1600" dirty="0">
                <a:latin typeface="Arial MT"/>
                <a:cs typeface="Arial MT"/>
              </a:rPr>
              <a:t>a</a:t>
            </a:r>
            <a:r>
              <a:rPr sz="1600" spc="-35" dirty="0">
                <a:latin typeface="Arial MT"/>
                <a:cs typeface="Arial MT"/>
              </a:rPr>
              <a:t> </a:t>
            </a:r>
            <a:r>
              <a:rPr sz="1600" dirty="0">
                <a:latin typeface="Arial MT"/>
                <a:cs typeface="Arial MT"/>
              </a:rPr>
              <a:t>request</a:t>
            </a:r>
            <a:r>
              <a:rPr sz="1600" spc="-35" dirty="0">
                <a:latin typeface="Arial MT"/>
                <a:cs typeface="Arial MT"/>
              </a:rPr>
              <a:t> </a:t>
            </a:r>
            <a:r>
              <a:rPr sz="1600" spc="-10" dirty="0">
                <a:latin typeface="Arial MT"/>
                <a:cs typeface="Arial MT"/>
              </a:rPr>
              <a:t>fails)</a:t>
            </a:r>
            <a:endParaRPr sz="1600" dirty="0">
              <a:latin typeface="Arial MT"/>
              <a:cs typeface="Arial MT"/>
            </a:endParaRPr>
          </a:p>
          <a:p>
            <a:pPr marL="821055" lvl="1" indent="-351155">
              <a:lnSpc>
                <a:spcPct val="100000"/>
              </a:lnSpc>
              <a:spcBef>
                <a:spcPts val="285"/>
              </a:spcBef>
              <a:buChar char="■"/>
              <a:tabLst>
                <a:tab pos="821055" algn="l"/>
              </a:tabLst>
            </a:pPr>
            <a:r>
              <a:rPr sz="1600" dirty="0">
                <a:latin typeface="Arial MT"/>
                <a:cs typeface="Arial MT"/>
              </a:rPr>
              <a:t>often</a:t>
            </a:r>
            <a:r>
              <a:rPr sz="1600" spc="-65" dirty="0">
                <a:latin typeface="Arial MT"/>
                <a:cs typeface="Arial MT"/>
              </a:rPr>
              <a:t> </a:t>
            </a:r>
            <a:r>
              <a:rPr sz="1600" dirty="0">
                <a:latin typeface="Arial MT"/>
                <a:cs typeface="Arial MT"/>
              </a:rPr>
              <a:t>the</a:t>
            </a:r>
            <a:r>
              <a:rPr sz="1600" spc="-60" dirty="0">
                <a:latin typeface="Arial MT"/>
                <a:cs typeface="Arial MT"/>
              </a:rPr>
              <a:t> </a:t>
            </a:r>
            <a:r>
              <a:rPr sz="1600" dirty="0">
                <a:latin typeface="Arial MT"/>
                <a:cs typeface="Arial MT"/>
              </a:rPr>
              <a:t>more</a:t>
            </a:r>
            <a:r>
              <a:rPr sz="1600" spc="-60" dirty="0">
                <a:latin typeface="Arial MT"/>
                <a:cs typeface="Arial MT"/>
              </a:rPr>
              <a:t> </a:t>
            </a:r>
            <a:r>
              <a:rPr sz="1600" dirty="0">
                <a:latin typeface="Arial MT"/>
                <a:cs typeface="Arial MT"/>
              </a:rPr>
              <a:t>efficient</a:t>
            </a:r>
            <a:r>
              <a:rPr sz="1600" spc="-60" dirty="0">
                <a:latin typeface="Arial MT"/>
                <a:cs typeface="Arial MT"/>
              </a:rPr>
              <a:t> </a:t>
            </a:r>
            <a:r>
              <a:rPr sz="1600" spc="-10" dirty="0">
                <a:latin typeface="Arial MT"/>
                <a:cs typeface="Arial MT"/>
              </a:rPr>
              <a:t>choice</a:t>
            </a:r>
            <a:endParaRPr sz="1600" dirty="0">
              <a:latin typeface="Arial MT"/>
              <a:cs typeface="Arial MT"/>
            </a:endParaRPr>
          </a:p>
        </p:txBody>
      </p:sp>
      <p:grpSp>
        <p:nvGrpSpPr>
          <p:cNvPr id="39" name="object 52">
            <a:extLst>
              <a:ext uri="{FF2B5EF4-FFF2-40B4-BE49-F238E27FC236}">
                <a16:creationId xmlns:a16="http://schemas.microsoft.com/office/drawing/2014/main" id="{51FA19C4-BB1C-C4B6-316B-D027F1152A3F}"/>
              </a:ext>
              <a:ext uri="{C183D7F6-B498-43B3-948B-1728B52AA6E4}">
                <adec:decorative xmlns:adec="http://schemas.microsoft.com/office/drawing/2017/decorative" val="1"/>
              </a:ext>
            </a:extLst>
          </p:cNvPr>
          <p:cNvGrpSpPr/>
          <p:nvPr/>
        </p:nvGrpSpPr>
        <p:grpSpPr>
          <a:xfrm>
            <a:off x="6190387" y="5225587"/>
            <a:ext cx="1286510" cy="1144905"/>
            <a:chOff x="6190387" y="5225587"/>
            <a:chExt cx="1286510" cy="1144905"/>
          </a:xfrm>
        </p:grpSpPr>
        <p:sp>
          <p:nvSpPr>
            <p:cNvPr id="40" name="object 53">
              <a:extLst>
                <a:ext uri="{FF2B5EF4-FFF2-40B4-BE49-F238E27FC236}">
                  <a16:creationId xmlns:a16="http://schemas.microsoft.com/office/drawing/2014/main" id="{B88D51E6-550C-7FAB-5592-0CB2D563E96C}"/>
                </a:ext>
              </a:extLst>
            </p:cNvPr>
            <p:cNvSpPr/>
            <p:nvPr/>
          </p:nvSpPr>
          <p:spPr>
            <a:xfrm>
              <a:off x="6195150" y="5230350"/>
              <a:ext cx="1276985" cy="1135380"/>
            </a:xfrm>
            <a:custGeom>
              <a:avLst/>
              <a:gdLst/>
              <a:ahLst/>
              <a:cxnLst/>
              <a:rect l="l" t="t" r="r" b="b"/>
              <a:pathLst>
                <a:path w="1276984" h="1135379">
                  <a:moveTo>
                    <a:pt x="283724" y="1134899"/>
                  </a:moveTo>
                  <a:lnTo>
                    <a:pt x="0" y="1134899"/>
                  </a:lnTo>
                  <a:lnTo>
                    <a:pt x="0" y="638381"/>
                  </a:lnTo>
                  <a:lnTo>
                    <a:pt x="2272" y="590563"/>
                  </a:lnTo>
                  <a:lnTo>
                    <a:pt x="8842" y="544799"/>
                  </a:lnTo>
                  <a:lnTo>
                    <a:pt x="19832" y="498993"/>
                  </a:lnTo>
                  <a:lnTo>
                    <a:pt x="34702" y="455657"/>
                  </a:lnTo>
                  <a:lnTo>
                    <a:pt x="53355" y="414231"/>
                  </a:lnTo>
                  <a:lnTo>
                    <a:pt x="75582" y="374924"/>
                  </a:lnTo>
                  <a:lnTo>
                    <a:pt x="101177" y="337943"/>
                  </a:lnTo>
                  <a:lnTo>
                    <a:pt x="129930" y="303497"/>
                  </a:lnTo>
                  <a:lnTo>
                    <a:pt x="161634" y="271793"/>
                  </a:lnTo>
                  <a:lnTo>
                    <a:pt x="196081" y="243040"/>
                  </a:lnTo>
                  <a:lnTo>
                    <a:pt x="233061" y="217445"/>
                  </a:lnTo>
                  <a:lnTo>
                    <a:pt x="272369" y="195217"/>
                  </a:lnTo>
                  <a:lnTo>
                    <a:pt x="313794" y="176564"/>
                  </a:lnTo>
                  <a:lnTo>
                    <a:pt x="357130" y="161694"/>
                  </a:lnTo>
                  <a:lnTo>
                    <a:pt x="402168" y="150815"/>
                  </a:lnTo>
                  <a:lnTo>
                    <a:pt x="448700" y="144135"/>
                  </a:lnTo>
                  <a:lnTo>
                    <a:pt x="496518" y="141862"/>
                  </a:lnTo>
                  <a:lnTo>
                    <a:pt x="993074" y="141862"/>
                  </a:lnTo>
                  <a:lnTo>
                    <a:pt x="993074" y="0"/>
                  </a:lnTo>
                  <a:lnTo>
                    <a:pt x="1276799" y="283724"/>
                  </a:lnTo>
                  <a:lnTo>
                    <a:pt x="1134937" y="425587"/>
                  </a:lnTo>
                  <a:lnTo>
                    <a:pt x="496518" y="425587"/>
                  </a:lnTo>
                  <a:lnTo>
                    <a:pt x="447727" y="431207"/>
                  </a:lnTo>
                  <a:lnTo>
                    <a:pt x="402937" y="447216"/>
                  </a:lnTo>
                  <a:lnTo>
                    <a:pt x="363427" y="472335"/>
                  </a:lnTo>
                  <a:lnTo>
                    <a:pt x="330473" y="505289"/>
                  </a:lnTo>
                  <a:lnTo>
                    <a:pt x="305353" y="544799"/>
                  </a:lnTo>
                  <a:lnTo>
                    <a:pt x="289345" y="589589"/>
                  </a:lnTo>
                  <a:lnTo>
                    <a:pt x="283724" y="638381"/>
                  </a:lnTo>
                  <a:lnTo>
                    <a:pt x="283724" y="1134899"/>
                  </a:lnTo>
                  <a:close/>
                </a:path>
                <a:path w="1276984" h="1135379">
                  <a:moveTo>
                    <a:pt x="993074" y="567449"/>
                  </a:moveTo>
                  <a:lnTo>
                    <a:pt x="993074" y="425587"/>
                  </a:lnTo>
                  <a:lnTo>
                    <a:pt x="1134937" y="425587"/>
                  </a:lnTo>
                  <a:lnTo>
                    <a:pt x="993074" y="567449"/>
                  </a:lnTo>
                  <a:close/>
                </a:path>
              </a:pathLst>
            </a:custGeom>
            <a:solidFill>
              <a:srgbClr val="B6D7A8"/>
            </a:solidFill>
          </p:spPr>
          <p:txBody>
            <a:bodyPr wrap="square" lIns="0" tIns="0" rIns="0" bIns="0" rtlCol="0"/>
            <a:lstStyle/>
            <a:p>
              <a:endParaRPr/>
            </a:p>
          </p:txBody>
        </p:sp>
        <p:sp>
          <p:nvSpPr>
            <p:cNvPr id="41" name="object 54">
              <a:extLst>
                <a:ext uri="{FF2B5EF4-FFF2-40B4-BE49-F238E27FC236}">
                  <a16:creationId xmlns:a16="http://schemas.microsoft.com/office/drawing/2014/main" id="{41D04023-DD7D-62F0-AC33-E2B7FBF34E5E}"/>
                </a:ext>
              </a:extLst>
            </p:cNvPr>
            <p:cNvSpPr/>
            <p:nvPr/>
          </p:nvSpPr>
          <p:spPr>
            <a:xfrm>
              <a:off x="6195150" y="5230350"/>
              <a:ext cx="1276985" cy="1135380"/>
            </a:xfrm>
            <a:custGeom>
              <a:avLst/>
              <a:gdLst/>
              <a:ahLst/>
              <a:cxnLst/>
              <a:rect l="l" t="t" r="r" b="b"/>
              <a:pathLst>
                <a:path w="1276984" h="1135379">
                  <a:moveTo>
                    <a:pt x="0" y="1134899"/>
                  </a:moveTo>
                  <a:lnTo>
                    <a:pt x="0" y="638381"/>
                  </a:lnTo>
                  <a:lnTo>
                    <a:pt x="2272" y="590563"/>
                  </a:lnTo>
                  <a:lnTo>
                    <a:pt x="8952" y="544031"/>
                  </a:lnTo>
                  <a:lnTo>
                    <a:pt x="19832" y="498993"/>
                  </a:lnTo>
                  <a:lnTo>
                    <a:pt x="34702" y="455657"/>
                  </a:lnTo>
                  <a:lnTo>
                    <a:pt x="53355" y="414231"/>
                  </a:lnTo>
                  <a:lnTo>
                    <a:pt x="75582" y="374924"/>
                  </a:lnTo>
                  <a:lnTo>
                    <a:pt x="101177" y="337943"/>
                  </a:lnTo>
                  <a:lnTo>
                    <a:pt x="129930" y="303497"/>
                  </a:lnTo>
                  <a:lnTo>
                    <a:pt x="161634" y="271793"/>
                  </a:lnTo>
                  <a:lnTo>
                    <a:pt x="196081" y="243040"/>
                  </a:lnTo>
                  <a:lnTo>
                    <a:pt x="233061" y="217445"/>
                  </a:lnTo>
                  <a:lnTo>
                    <a:pt x="272369" y="195217"/>
                  </a:lnTo>
                  <a:lnTo>
                    <a:pt x="313794" y="176564"/>
                  </a:lnTo>
                  <a:lnTo>
                    <a:pt x="357130" y="161694"/>
                  </a:lnTo>
                  <a:lnTo>
                    <a:pt x="402168" y="150815"/>
                  </a:lnTo>
                  <a:lnTo>
                    <a:pt x="448700" y="144135"/>
                  </a:lnTo>
                  <a:lnTo>
                    <a:pt x="496518" y="141862"/>
                  </a:lnTo>
                  <a:lnTo>
                    <a:pt x="993074" y="141862"/>
                  </a:lnTo>
                  <a:lnTo>
                    <a:pt x="993074" y="0"/>
                  </a:lnTo>
                  <a:lnTo>
                    <a:pt x="1276799" y="283724"/>
                  </a:lnTo>
                  <a:lnTo>
                    <a:pt x="993074" y="567449"/>
                  </a:lnTo>
                  <a:lnTo>
                    <a:pt x="993074" y="425587"/>
                  </a:lnTo>
                  <a:lnTo>
                    <a:pt x="496518" y="425587"/>
                  </a:lnTo>
                  <a:lnTo>
                    <a:pt x="447727" y="431207"/>
                  </a:lnTo>
                  <a:lnTo>
                    <a:pt x="402937" y="447216"/>
                  </a:lnTo>
                  <a:lnTo>
                    <a:pt x="363427" y="472335"/>
                  </a:lnTo>
                  <a:lnTo>
                    <a:pt x="330473" y="505289"/>
                  </a:lnTo>
                  <a:lnTo>
                    <a:pt x="305353" y="544799"/>
                  </a:lnTo>
                  <a:lnTo>
                    <a:pt x="289345" y="589589"/>
                  </a:lnTo>
                  <a:lnTo>
                    <a:pt x="283724" y="638381"/>
                  </a:lnTo>
                  <a:lnTo>
                    <a:pt x="283724" y="1134899"/>
                  </a:lnTo>
                  <a:lnTo>
                    <a:pt x="0" y="1134899"/>
                  </a:lnTo>
                  <a:close/>
                </a:path>
              </a:pathLst>
            </a:custGeom>
            <a:ln w="9524">
              <a:solidFill>
                <a:srgbClr val="0F2044"/>
              </a:solidFill>
            </a:ln>
          </p:spPr>
          <p:txBody>
            <a:bodyPr wrap="square" lIns="0" tIns="0" rIns="0" bIns="0" rtlCol="0"/>
            <a:lstStyle/>
            <a:p>
              <a:endParaRPr/>
            </a:p>
          </p:txBody>
        </p:sp>
      </p:grpSp>
    </p:spTree>
    <p:extLst>
      <p:ext uri="{BB962C8B-B14F-4D97-AF65-F5344CB8AC3E}">
        <p14:creationId xmlns:p14="http://schemas.microsoft.com/office/powerpoint/2010/main" val="18754934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0375" y="1689861"/>
            <a:ext cx="4829175" cy="406400"/>
          </a:xfrm>
          <a:prstGeom prst="rect">
            <a:avLst/>
          </a:prstGeom>
        </p:spPr>
        <p:txBody>
          <a:bodyPr vert="horz" wrap="square" lIns="0" tIns="12700" rIns="0" bIns="0" rtlCol="0">
            <a:spAutoFit/>
          </a:bodyPr>
          <a:lstStyle/>
          <a:p>
            <a:pPr marL="12700">
              <a:lnSpc>
                <a:spcPct val="100000"/>
              </a:lnSpc>
              <a:spcBef>
                <a:spcPts val="100"/>
              </a:spcBef>
            </a:pPr>
            <a:r>
              <a:rPr spc="-10" dirty="0"/>
              <a:t>Immediate</a:t>
            </a:r>
            <a:r>
              <a:rPr spc="-75" dirty="0"/>
              <a:t> </a:t>
            </a:r>
            <a:r>
              <a:rPr dirty="0"/>
              <a:t>vs</a:t>
            </a:r>
            <a:r>
              <a:rPr spc="-75" dirty="0"/>
              <a:t> </a:t>
            </a:r>
            <a:r>
              <a:rPr dirty="0"/>
              <a:t>Deferred</a:t>
            </a:r>
            <a:r>
              <a:rPr spc="-75" dirty="0"/>
              <a:t> </a:t>
            </a:r>
            <a:r>
              <a:rPr spc="-10" dirty="0"/>
              <a:t>Coalescing</a:t>
            </a:r>
          </a:p>
        </p:txBody>
      </p:sp>
      <p:sp>
        <p:nvSpPr>
          <p:cNvPr id="6" name="object 6"/>
          <p:cNvSpPr txBox="1"/>
          <p:nvPr/>
        </p:nvSpPr>
        <p:spPr>
          <a:xfrm>
            <a:off x="410375" y="2287306"/>
            <a:ext cx="2437130"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0F2044"/>
                </a:solidFill>
                <a:latin typeface="Arial"/>
                <a:cs typeface="Arial"/>
              </a:rPr>
              <a:t>Immediate</a:t>
            </a:r>
            <a:r>
              <a:rPr sz="1800" b="1" spc="-45" dirty="0">
                <a:solidFill>
                  <a:srgbClr val="0F2044"/>
                </a:solidFill>
                <a:latin typeface="Arial"/>
                <a:cs typeface="Arial"/>
              </a:rPr>
              <a:t> </a:t>
            </a:r>
            <a:r>
              <a:rPr sz="1800" b="1" spc="-10" dirty="0">
                <a:solidFill>
                  <a:srgbClr val="0F2044"/>
                </a:solidFill>
                <a:latin typeface="Arial"/>
                <a:cs typeface="Arial"/>
              </a:rPr>
              <a:t>Coalescing</a:t>
            </a:r>
            <a:endParaRPr sz="1800">
              <a:latin typeface="Arial"/>
              <a:cs typeface="Arial"/>
            </a:endParaRPr>
          </a:p>
        </p:txBody>
      </p:sp>
      <p:pic>
        <p:nvPicPr>
          <p:cNvPr id="3" name="object 3">
            <a:extLst>
              <a:ext uri="{C183D7F6-B498-43B3-948B-1728B52AA6E4}">
                <adec:decorative xmlns:adec="http://schemas.microsoft.com/office/drawing/2017/decorative" val="1"/>
              </a:ext>
            </a:extLst>
          </p:cNvPr>
          <p:cNvPicPr/>
          <p:nvPr/>
        </p:nvPicPr>
        <p:blipFill>
          <a:blip r:embed="rId3" cstate="print"/>
          <a:stretch>
            <a:fillRect/>
          </a:stretch>
        </p:blipFill>
        <p:spPr>
          <a:xfrm>
            <a:off x="423075" y="3005596"/>
            <a:ext cx="237194" cy="223242"/>
          </a:xfrm>
          <a:prstGeom prst="rect">
            <a:avLst/>
          </a:prstGeom>
        </p:spPr>
      </p:pic>
      <p:pic>
        <p:nvPicPr>
          <p:cNvPr id="4" name="object 4">
            <a:extLst>
              <a:ext uri="{C183D7F6-B498-43B3-948B-1728B52AA6E4}">
                <adec:decorative xmlns:adec="http://schemas.microsoft.com/office/drawing/2017/decorative" val="1"/>
              </a:ext>
            </a:extLst>
          </p:cNvPr>
          <p:cNvPicPr/>
          <p:nvPr/>
        </p:nvPicPr>
        <p:blipFill>
          <a:blip r:embed="rId4" cstate="print"/>
          <a:stretch>
            <a:fillRect/>
          </a:stretch>
        </p:blipFill>
        <p:spPr>
          <a:xfrm>
            <a:off x="423075" y="4590556"/>
            <a:ext cx="237194" cy="223242"/>
          </a:xfrm>
          <a:prstGeom prst="rect">
            <a:avLst/>
          </a:prstGeom>
        </p:spPr>
      </p:pic>
      <p:sp>
        <p:nvSpPr>
          <p:cNvPr id="5" name="object 5"/>
          <p:cNvSpPr txBox="1"/>
          <p:nvPr/>
        </p:nvSpPr>
        <p:spPr>
          <a:xfrm>
            <a:off x="337349" y="2685125"/>
            <a:ext cx="5482590" cy="3994785"/>
          </a:xfrm>
          <a:prstGeom prst="rect">
            <a:avLst/>
          </a:prstGeom>
          <a:ln w="9524">
            <a:solidFill>
              <a:srgbClr val="000000"/>
            </a:solidFill>
          </a:ln>
        </p:spPr>
        <p:txBody>
          <a:bodyPr vert="horz" wrap="square" lIns="0" tIns="78105" rIns="0" bIns="0" rtlCol="0">
            <a:spAutoFit/>
          </a:bodyPr>
          <a:lstStyle/>
          <a:p>
            <a:pPr marL="85725">
              <a:lnSpc>
                <a:spcPct val="100000"/>
              </a:lnSpc>
              <a:spcBef>
                <a:spcPts val="615"/>
              </a:spcBef>
            </a:pPr>
            <a:r>
              <a:rPr sz="1500" dirty="0">
                <a:latin typeface="Arial MT"/>
                <a:cs typeface="Arial MT"/>
              </a:rPr>
              <a:t>Happens</a:t>
            </a:r>
            <a:r>
              <a:rPr sz="1500" spc="-25" dirty="0">
                <a:latin typeface="Arial MT"/>
                <a:cs typeface="Arial MT"/>
              </a:rPr>
              <a:t> </a:t>
            </a:r>
            <a:r>
              <a:rPr sz="1500" b="1" dirty="0">
                <a:latin typeface="Arial"/>
                <a:cs typeface="Arial"/>
              </a:rPr>
              <a:t>as</a:t>
            </a:r>
            <a:r>
              <a:rPr sz="1500" b="1" spc="-25" dirty="0">
                <a:latin typeface="Arial"/>
                <a:cs typeface="Arial"/>
              </a:rPr>
              <a:t> </a:t>
            </a:r>
            <a:r>
              <a:rPr sz="1500" b="1" dirty="0">
                <a:latin typeface="Arial"/>
                <a:cs typeface="Arial"/>
              </a:rPr>
              <a:t>soon</a:t>
            </a:r>
            <a:r>
              <a:rPr sz="1500" b="1" spc="-30" dirty="0">
                <a:latin typeface="Arial"/>
                <a:cs typeface="Arial"/>
              </a:rPr>
              <a:t> </a:t>
            </a:r>
            <a:r>
              <a:rPr sz="1500" b="1" dirty="0">
                <a:latin typeface="Arial"/>
                <a:cs typeface="Arial"/>
              </a:rPr>
              <a:t>as</a:t>
            </a:r>
            <a:r>
              <a:rPr sz="1500" b="1" spc="-25" dirty="0">
                <a:latin typeface="Arial"/>
                <a:cs typeface="Arial"/>
              </a:rPr>
              <a:t> </a:t>
            </a:r>
            <a:r>
              <a:rPr sz="1500" b="1" dirty="0">
                <a:latin typeface="Arial"/>
                <a:cs typeface="Arial"/>
              </a:rPr>
              <a:t>a</a:t>
            </a:r>
            <a:r>
              <a:rPr sz="1500" b="1" spc="-25" dirty="0">
                <a:latin typeface="Arial"/>
                <a:cs typeface="Arial"/>
              </a:rPr>
              <a:t> </a:t>
            </a:r>
            <a:r>
              <a:rPr sz="1500" b="1" dirty="0">
                <a:latin typeface="Arial"/>
                <a:cs typeface="Arial"/>
              </a:rPr>
              <a:t>block</a:t>
            </a:r>
            <a:r>
              <a:rPr sz="1500" b="1" spc="-30" dirty="0">
                <a:latin typeface="Arial"/>
                <a:cs typeface="Arial"/>
              </a:rPr>
              <a:t> </a:t>
            </a:r>
            <a:r>
              <a:rPr sz="1500" b="1" dirty="0">
                <a:latin typeface="Arial"/>
                <a:cs typeface="Arial"/>
              </a:rPr>
              <a:t>is</a:t>
            </a:r>
            <a:r>
              <a:rPr sz="1500" b="1" spc="-25" dirty="0">
                <a:latin typeface="Arial"/>
                <a:cs typeface="Arial"/>
              </a:rPr>
              <a:t> </a:t>
            </a:r>
            <a:r>
              <a:rPr sz="1500" b="1" spc="-10" dirty="0">
                <a:latin typeface="Arial"/>
                <a:cs typeface="Arial"/>
              </a:rPr>
              <a:t>freed</a:t>
            </a:r>
            <a:r>
              <a:rPr sz="1500" spc="-10" dirty="0">
                <a:latin typeface="Arial MT"/>
                <a:cs typeface="Arial MT"/>
              </a:rPr>
              <a:t>.</a:t>
            </a:r>
            <a:endParaRPr sz="1500" dirty="0">
              <a:latin typeface="Arial MT"/>
              <a:cs typeface="Arial MT"/>
            </a:endParaRPr>
          </a:p>
          <a:p>
            <a:pPr marL="375285">
              <a:lnSpc>
                <a:spcPct val="100000"/>
              </a:lnSpc>
            </a:pPr>
            <a:r>
              <a:rPr sz="1500" b="1" spc="-10" dirty="0">
                <a:latin typeface="Arial"/>
                <a:cs typeface="Arial"/>
              </a:rPr>
              <a:t>Pros:</a:t>
            </a:r>
            <a:endParaRPr sz="1500" dirty="0">
              <a:latin typeface="Arial"/>
              <a:cs typeface="Arial"/>
            </a:endParaRPr>
          </a:p>
          <a:p>
            <a:pPr marL="542290" indent="-343535">
              <a:lnSpc>
                <a:spcPct val="100000"/>
              </a:lnSpc>
              <a:spcBef>
                <a:spcPts val="1200"/>
              </a:spcBef>
              <a:buChar char="●"/>
              <a:tabLst>
                <a:tab pos="542290" algn="l"/>
              </a:tabLst>
            </a:pPr>
            <a:r>
              <a:rPr sz="1500" dirty="0">
                <a:latin typeface="Arial MT"/>
                <a:cs typeface="Arial MT"/>
              </a:rPr>
              <a:t>Constant</a:t>
            </a:r>
            <a:r>
              <a:rPr sz="1500" spc="-75" dirty="0">
                <a:latin typeface="Arial MT"/>
                <a:cs typeface="Arial MT"/>
              </a:rPr>
              <a:t> </a:t>
            </a:r>
            <a:r>
              <a:rPr sz="1500" dirty="0">
                <a:latin typeface="Arial MT"/>
                <a:cs typeface="Arial MT"/>
              </a:rPr>
              <a:t>time</a:t>
            </a:r>
            <a:r>
              <a:rPr sz="1500" spc="-75" dirty="0">
                <a:latin typeface="Arial MT"/>
                <a:cs typeface="Arial MT"/>
              </a:rPr>
              <a:t> </a:t>
            </a:r>
            <a:r>
              <a:rPr sz="1500" spc="-10" dirty="0">
                <a:latin typeface="Arial MT"/>
                <a:cs typeface="Arial MT"/>
              </a:rPr>
              <a:t>operation.</a:t>
            </a:r>
            <a:endParaRPr sz="1500" dirty="0">
              <a:latin typeface="Arial MT"/>
              <a:cs typeface="Arial MT"/>
            </a:endParaRPr>
          </a:p>
          <a:p>
            <a:pPr marL="542290" indent="-343535">
              <a:lnSpc>
                <a:spcPct val="100000"/>
              </a:lnSpc>
              <a:spcBef>
                <a:spcPts val="270"/>
              </a:spcBef>
              <a:buChar char="●"/>
              <a:tabLst>
                <a:tab pos="542290" algn="l"/>
              </a:tabLst>
            </a:pPr>
            <a:r>
              <a:rPr sz="1500" dirty="0">
                <a:latin typeface="Arial MT"/>
                <a:cs typeface="Arial MT"/>
              </a:rPr>
              <a:t>Prevents</a:t>
            </a:r>
            <a:r>
              <a:rPr sz="1500" spc="-50" dirty="0">
                <a:latin typeface="Arial MT"/>
                <a:cs typeface="Arial MT"/>
              </a:rPr>
              <a:t> </a:t>
            </a:r>
            <a:r>
              <a:rPr sz="1500" spc="-10" dirty="0">
                <a:latin typeface="Arial MT"/>
                <a:cs typeface="Arial MT"/>
              </a:rPr>
              <a:t>fragmentation</a:t>
            </a:r>
            <a:r>
              <a:rPr sz="1500" spc="-45" dirty="0">
                <a:latin typeface="Arial MT"/>
                <a:cs typeface="Arial MT"/>
              </a:rPr>
              <a:t> </a:t>
            </a:r>
            <a:r>
              <a:rPr sz="1500" dirty="0">
                <a:latin typeface="Arial MT"/>
                <a:cs typeface="Arial MT"/>
              </a:rPr>
              <a:t>from</a:t>
            </a:r>
            <a:r>
              <a:rPr sz="1500" spc="-50" dirty="0">
                <a:latin typeface="Arial MT"/>
                <a:cs typeface="Arial MT"/>
              </a:rPr>
              <a:t> </a:t>
            </a:r>
            <a:r>
              <a:rPr sz="1500" dirty="0">
                <a:latin typeface="Arial MT"/>
                <a:cs typeface="Arial MT"/>
              </a:rPr>
              <a:t>building</a:t>
            </a:r>
            <a:r>
              <a:rPr sz="1500" spc="-45" dirty="0">
                <a:latin typeface="Arial MT"/>
                <a:cs typeface="Arial MT"/>
              </a:rPr>
              <a:t> </a:t>
            </a:r>
            <a:r>
              <a:rPr sz="1500" spc="-25" dirty="0">
                <a:latin typeface="Arial MT"/>
                <a:cs typeface="Arial MT"/>
              </a:rPr>
              <a:t>up.</a:t>
            </a:r>
            <a:endParaRPr sz="1500" dirty="0">
              <a:latin typeface="Arial MT"/>
              <a:cs typeface="Arial MT"/>
            </a:endParaRPr>
          </a:p>
          <a:p>
            <a:pPr marL="542925" marR="158750" indent="-344170">
              <a:lnSpc>
                <a:spcPct val="114999"/>
              </a:lnSpc>
              <a:buChar char="●"/>
              <a:tabLst>
                <a:tab pos="542925" algn="l"/>
              </a:tabLst>
            </a:pPr>
            <a:r>
              <a:rPr sz="1500" spc="-10" dirty="0">
                <a:latin typeface="Arial MT"/>
                <a:cs typeface="Arial MT"/>
              </a:rPr>
              <a:t>Predictable</a:t>
            </a:r>
            <a:r>
              <a:rPr sz="1500" spc="-40" dirty="0">
                <a:latin typeface="Arial MT"/>
                <a:cs typeface="Arial MT"/>
              </a:rPr>
              <a:t> </a:t>
            </a:r>
            <a:r>
              <a:rPr sz="1500" dirty="0">
                <a:latin typeface="Arial MT"/>
                <a:cs typeface="Arial MT"/>
              </a:rPr>
              <a:t>behavior</a:t>
            </a:r>
            <a:r>
              <a:rPr sz="1500" spc="-40" dirty="0">
                <a:latin typeface="Arial MT"/>
                <a:cs typeface="Arial MT"/>
              </a:rPr>
              <a:t> </a:t>
            </a:r>
            <a:r>
              <a:rPr sz="1500" dirty="0">
                <a:latin typeface="Arial MT"/>
                <a:cs typeface="Arial MT"/>
              </a:rPr>
              <a:t>(you</a:t>
            </a:r>
            <a:r>
              <a:rPr sz="1500" spc="-35" dirty="0">
                <a:latin typeface="Arial MT"/>
                <a:cs typeface="Arial MT"/>
              </a:rPr>
              <a:t> </a:t>
            </a:r>
            <a:r>
              <a:rPr sz="1500" dirty="0">
                <a:latin typeface="Arial MT"/>
                <a:cs typeface="Arial MT"/>
              </a:rPr>
              <a:t>know</a:t>
            </a:r>
            <a:r>
              <a:rPr sz="1500" spc="-40" dirty="0">
                <a:latin typeface="Arial MT"/>
                <a:cs typeface="Arial MT"/>
              </a:rPr>
              <a:t> </a:t>
            </a:r>
            <a:r>
              <a:rPr sz="1500" dirty="0">
                <a:latin typeface="Arial MT"/>
                <a:cs typeface="Arial MT"/>
              </a:rPr>
              <a:t>the</a:t>
            </a:r>
            <a:r>
              <a:rPr sz="1500" spc="-40" dirty="0">
                <a:latin typeface="Arial MT"/>
                <a:cs typeface="Arial MT"/>
              </a:rPr>
              <a:t> </a:t>
            </a:r>
            <a:r>
              <a:rPr sz="1500" dirty="0">
                <a:latin typeface="Arial MT"/>
                <a:cs typeface="Arial MT"/>
              </a:rPr>
              <a:t>state</a:t>
            </a:r>
            <a:r>
              <a:rPr sz="1500" spc="-35" dirty="0">
                <a:latin typeface="Arial MT"/>
                <a:cs typeface="Arial MT"/>
              </a:rPr>
              <a:t> </a:t>
            </a:r>
            <a:r>
              <a:rPr sz="1500" dirty="0">
                <a:latin typeface="Arial MT"/>
                <a:cs typeface="Arial MT"/>
              </a:rPr>
              <a:t>of</a:t>
            </a:r>
            <a:r>
              <a:rPr sz="1500" spc="-40" dirty="0">
                <a:latin typeface="Arial MT"/>
                <a:cs typeface="Arial MT"/>
              </a:rPr>
              <a:t> </a:t>
            </a:r>
            <a:r>
              <a:rPr sz="1500" dirty="0">
                <a:latin typeface="Arial MT"/>
                <a:cs typeface="Arial MT"/>
              </a:rPr>
              <a:t>free</a:t>
            </a:r>
            <a:r>
              <a:rPr sz="1500" spc="-35" dirty="0">
                <a:latin typeface="Arial MT"/>
                <a:cs typeface="Arial MT"/>
              </a:rPr>
              <a:t> </a:t>
            </a:r>
            <a:r>
              <a:rPr sz="1500" spc="-10" dirty="0">
                <a:latin typeface="Arial MT"/>
                <a:cs typeface="Arial MT"/>
              </a:rPr>
              <a:t>memory </a:t>
            </a:r>
            <a:r>
              <a:rPr sz="1500" dirty="0">
                <a:latin typeface="Arial MT"/>
                <a:cs typeface="Arial MT"/>
              </a:rPr>
              <a:t>at</a:t>
            </a:r>
            <a:r>
              <a:rPr sz="1500" spc="-20" dirty="0">
                <a:latin typeface="Arial MT"/>
                <a:cs typeface="Arial MT"/>
              </a:rPr>
              <a:t> </a:t>
            </a:r>
            <a:r>
              <a:rPr sz="1500" dirty="0">
                <a:latin typeface="Arial MT"/>
                <a:cs typeface="Arial MT"/>
              </a:rPr>
              <a:t>any</a:t>
            </a:r>
            <a:r>
              <a:rPr sz="1500" spc="-20" dirty="0">
                <a:latin typeface="Arial MT"/>
                <a:cs typeface="Arial MT"/>
              </a:rPr>
              <a:t> </a:t>
            </a:r>
            <a:r>
              <a:rPr sz="1500" spc="-10" dirty="0">
                <a:latin typeface="Arial MT"/>
                <a:cs typeface="Arial MT"/>
              </a:rPr>
              <a:t>time).</a:t>
            </a:r>
            <a:endParaRPr sz="1500" dirty="0">
              <a:latin typeface="Arial MT"/>
              <a:cs typeface="Arial MT"/>
            </a:endParaRPr>
          </a:p>
          <a:p>
            <a:pPr marL="375285">
              <a:lnSpc>
                <a:spcPct val="100000"/>
              </a:lnSpc>
              <a:spcBef>
                <a:spcPts val="1470"/>
              </a:spcBef>
            </a:pPr>
            <a:r>
              <a:rPr sz="1500" b="1" spc="-10" dirty="0">
                <a:latin typeface="Arial"/>
                <a:cs typeface="Arial"/>
              </a:rPr>
              <a:t>Cons:</a:t>
            </a:r>
            <a:endParaRPr sz="1500" dirty="0">
              <a:latin typeface="Arial"/>
              <a:cs typeface="Arial"/>
            </a:endParaRPr>
          </a:p>
          <a:p>
            <a:pPr marL="542925" marR="594995" indent="-344170">
              <a:lnSpc>
                <a:spcPct val="114999"/>
              </a:lnSpc>
              <a:spcBef>
                <a:spcPts val="1200"/>
              </a:spcBef>
              <a:buChar char="●"/>
              <a:tabLst>
                <a:tab pos="542925" algn="l"/>
              </a:tabLst>
            </a:pPr>
            <a:r>
              <a:rPr sz="1500" dirty="0">
                <a:latin typeface="Arial MT"/>
                <a:cs typeface="Arial MT"/>
              </a:rPr>
              <a:t>Can</a:t>
            </a:r>
            <a:r>
              <a:rPr sz="1500" spc="-40" dirty="0">
                <a:latin typeface="Arial MT"/>
                <a:cs typeface="Arial MT"/>
              </a:rPr>
              <a:t> </a:t>
            </a:r>
            <a:r>
              <a:rPr sz="1500" dirty="0">
                <a:latin typeface="Arial MT"/>
                <a:cs typeface="Arial MT"/>
              </a:rPr>
              <a:t>cause</a:t>
            </a:r>
            <a:r>
              <a:rPr sz="1500" spc="-30" dirty="0">
                <a:latin typeface="Arial MT"/>
                <a:cs typeface="Arial MT"/>
              </a:rPr>
              <a:t> </a:t>
            </a:r>
            <a:r>
              <a:rPr sz="1500" b="1" dirty="0">
                <a:latin typeface="Arial"/>
                <a:cs typeface="Arial"/>
              </a:rPr>
              <a:t>"thrashing"</a:t>
            </a:r>
            <a:r>
              <a:rPr sz="1500" dirty="0">
                <a:latin typeface="Arial MT"/>
                <a:cs typeface="Arial MT"/>
              </a:rPr>
              <a:t>:</a:t>
            </a:r>
            <a:r>
              <a:rPr sz="1500" spc="-40" dirty="0">
                <a:latin typeface="Arial MT"/>
                <a:cs typeface="Arial MT"/>
              </a:rPr>
              <a:t> </a:t>
            </a:r>
            <a:r>
              <a:rPr sz="1500" dirty="0">
                <a:latin typeface="Arial MT"/>
                <a:cs typeface="Arial MT"/>
              </a:rPr>
              <a:t>if</a:t>
            </a:r>
            <a:r>
              <a:rPr sz="1500" spc="-35" dirty="0">
                <a:latin typeface="Arial MT"/>
                <a:cs typeface="Arial MT"/>
              </a:rPr>
              <a:t> </a:t>
            </a:r>
            <a:r>
              <a:rPr sz="1500" dirty="0">
                <a:latin typeface="Arial MT"/>
                <a:cs typeface="Arial MT"/>
              </a:rPr>
              <a:t>a</a:t>
            </a:r>
            <a:r>
              <a:rPr sz="1500" spc="-40" dirty="0">
                <a:latin typeface="Arial MT"/>
                <a:cs typeface="Arial MT"/>
              </a:rPr>
              <a:t> </a:t>
            </a:r>
            <a:r>
              <a:rPr sz="1500" dirty="0">
                <a:latin typeface="Arial MT"/>
                <a:cs typeface="Arial MT"/>
              </a:rPr>
              <a:t>block</a:t>
            </a:r>
            <a:r>
              <a:rPr sz="1500" spc="-35" dirty="0">
                <a:latin typeface="Arial MT"/>
                <a:cs typeface="Arial MT"/>
              </a:rPr>
              <a:t> </a:t>
            </a:r>
            <a:r>
              <a:rPr sz="1500" dirty="0">
                <a:latin typeface="Arial MT"/>
                <a:cs typeface="Arial MT"/>
              </a:rPr>
              <a:t>is</a:t>
            </a:r>
            <a:r>
              <a:rPr sz="1500" spc="-40" dirty="0">
                <a:latin typeface="Arial MT"/>
                <a:cs typeface="Arial MT"/>
              </a:rPr>
              <a:t> </a:t>
            </a:r>
            <a:r>
              <a:rPr sz="1500" dirty="0">
                <a:latin typeface="Arial MT"/>
                <a:cs typeface="Arial MT"/>
              </a:rPr>
              <a:t>freed</a:t>
            </a:r>
            <a:r>
              <a:rPr sz="1500" spc="-35" dirty="0">
                <a:latin typeface="Arial MT"/>
                <a:cs typeface="Arial MT"/>
              </a:rPr>
              <a:t> </a:t>
            </a:r>
            <a:r>
              <a:rPr sz="1500" spc="-25" dirty="0">
                <a:latin typeface="Arial MT"/>
                <a:cs typeface="Arial MT"/>
              </a:rPr>
              <a:t>and </a:t>
            </a:r>
            <a:r>
              <a:rPr sz="1500" dirty="0">
                <a:latin typeface="Arial MT"/>
                <a:cs typeface="Arial MT"/>
              </a:rPr>
              <a:t>immediately</a:t>
            </a:r>
            <a:r>
              <a:rPr sz="1500" spc="-45" dirty="0">
                <a:latin typeface="Arial MT"/>
                <a:cs typeface="Arial MT"/>
              </a:rPr>
              <a:t> </a:t>
            </a:r>
            <a:r>
              <a:rPr sz="1500" spc="-10" dirty="0">
                <a:latin typeface="Arial MT"/>
                <a:cs typeface="Arial MT"/>
              </a:rPr>
              <a:t>reallocated,</a:t>
            </a:r>
            <a:r>
              <a:rPr sz="1500" spc="-40" dirty="0">
                <a:latin typeface="Arial MT"/>
                <a:cs typeface="Arial MT"/>
              </a:rPr>
              <a:t> </a:t>
            </a:r>
            <a:r>
              <a:rPr sz="1500" dirty="0">
                <a:latin typeface="Arial MT"/>
                <a:cs typeface="Arial MT"/>
              </a:rPr>
              <a:t>it</a:t>
            </a:r>
            <a:r>
              <a:rPr sz="1500" spc="-45" dirty="0">
                <a:latin typeface="Arial MT"/>
                <a:cs typeface="Arial MT"/>
              </a:rPr>
              <a:t> </a:t>
            </a:r>
            <a:r>
              <a:rPr sz="1500" dirty="0">
                <a:latin typeface="Arial MT"/>
                <a:cs typeface="Arial MT"/>
              </a:rPr>
              <a:t>may</a:t>
            </a:r>
            <a:r>
              <a:rPr sz="1500" spc="-40" dirty="0">
                <a:latin typeface="Arial MT"/>
                <a:cs typeface="Arial MT"/>
              </a:rPr>
              <a:t> </a:t>
            </a:r>
            <a:r>
              <a:rPr sz="1500" dirty="0">
                <a:latin typeface="Arial MT"/>
                <a:cs typeface="Arial MT"/>
              </a:rPr>
              <a:t>be</a:t>
            </a:r>
            <a:r>
              <a:rPr sz="1500" spc="-45" dirty="0">
                <a:latin typeface="Arial MT"/>
                <a:cs typeface="Arial MT"/>
              </a:rPr>
              <a:t> </a:t>
            </a:r>
            <a:r>
              <a:rPr sz="1500" dirty="0">
                <a:latin typeface="Arial MT"/>
                <a:cs typeface="Arial MT"/>
              </a:rPr>
              <a:t>merged</a:t>
            </a:r>
            <a:r>
              <a:rPr sz="1500" spc="-40" dirty="0">
                <a:latin typeface="Arial MT"/>
                <a:cs typeface="Arial MT"/>
              </a:rPr>
              <a:t> </a:t>
            </a:r>
            <a:r>
              <a:rPr sz="1500" dirty="0">
                <a:latin typeface="Arial MT"/>
                <a:cs typeface="Arial MT"/>
              </a:rPr>
              <a:t>and</a:t>
            </a:r>
            <a:r>
              <a:rPr sz="1500" spc="-40" dirty="0">
                <a:latin typeface="Arial MT"/>
                <a:cs typeface="Arial MT"/>
              </a:rPr>
              <a:t> </a:t>
            </a:r>
            <a:r>
              <a:rPr sz="1500" spc="-10" dirty="0">
                <a:latin typeface="Arial MT"/>
                <a:cs typeface="Arial MT"/>
              </a:rPr>
              <a:t>split unnecessarily.</a:t>
            </a:r>
            <a:endParaRPr sz="1500" dirty="0">
              <a:latin typeface="Arial MT"/>
              <a:cs typeface="Arial MT"/>
            </a:endParaRPr>
          </a:p>
          <a:p>
            <a:pPr marL="542925" marR="435609" indent="-344170">
              <a:lnSpc>
                <a:spcPct val="114999"/>
              </a:lnSpc>
              <a:buChar char="●"/>
              <a:tabLst>
                <a:tab pos="542925" algn="l"/>
              </a:tabLst>
            </a:pPr>
            <a:r>
              <a:rPr sz="1500" dirty="0">
                <a:latin typeface="Arial MT"/>
                <a:cs typeface="Arial MT"/>
              </a:rPr>
              <a:t>Wastes</a:t>
            </a:r>
            <a:r>
              <a:rPr sz="1500" spc="-55" dirty="0">
                <a:latin typeface="Arial MT"/>
                <a:cs typeface="Arial MT"/>
              </a:rPr>
              <a:t> </a:t>
            </a:r>
            <a:r>
              <a:rPr sz="1500" dirty="0">
                <a:latin typeface="Arial MT"/>
                <a:cs typeface="Arial MT"/>
              </a:rPr>
              <a:t>effort</a:t>
            </a:r>
            <a:r>
              <a:rPr sz="1500" spc="-50" dirty="0">
                <a:latin typeface="Arial MT"/>
                <a:cs typeface="Arial MT"/>
              </a:rPr>
              <a:t> </a:t>
            </a:r>
            <a:r>
              <a:rPr sz="1500" dirty="0">
                <a:latin typeface="Arial MT"/>
                <a:cs typeface="Arial MT"/>
              </a:rPr>
              <a:t>in</a:t>
            </a:r>
            <a:r>
              <a:rPr sz="1500" spc="-50" dirty="0">
                <a:latin typeface="Arial MT"/>
                <a:cs typeface="Arial MT"/>
              </a:rPr>
              <a:t> </a:t>
            </a:r>
            <a:r>
              <a:rPr sz="1500" dirty="0">
                <a:latin typeface="Arial MT"/>
                <a:cs typeface="Arial MT"/>
              </a:rPr>
              <a:t>merging</a:t>
            </a:r>
            <a:r>
              <a:rPr sz="1500" spc="-50" dirty="0">
                <a:latin typeface="Arial MT"/>
                <a:cs typeface="Arial MT"/>
              </a:rPr>
              <a:t> </a:t>
            </a:r>
            <a:r>
              <a:rPr sz="1500" dirty="0">
                <a:latin typeface="Arial MT"/>
                <a:cs typeface="Arial MT"/>
              </a:rPr>
              <a:t>when</a:t>
            </a:r>
            <a:r>
              <a:rPr sz="1500" spc="-50" dirty="0">
                <a:latin typeface="Arial MT"/>
                <a:cs typeface="Arial MT"/>
              </a:rPr>
              <a:t> </a:t>
            </a:r>
            <a:r>
              <a:rPr sz="1500" dirty="0">
                <a:latin typeface="Arial MT"/>
                <a:cs typeface="Arial MT"/>
              </a:rPr>
              <a:t>it</a:t>
            </a:r>
            <a:r>
              <a:rPr sz="1500" spc="-50" dirty="0">
                <a:latin typeface="Arial MT"/>
                <a:cs typeface="Arial MT"/>
              </a:rPr>
              <a:t> </a:t>
            </a:r>
            <a:r>
              <a:rPr sz="1500" dirty="0">
                <a:latin typeface="Arial MT"/>
                <a:cs typeface="Arial MT"/>
              </a:rPr>
              <a:t>might</a:t>
            </a:r>
            <a:r>
              <a:rPr sz="1500" spc="-55" dirty="0">
                <a:latin typeface="Arial MT"/>
                <a:cs typeface="Arial MT"/>
              </a:rPr>
              <a:t> </a:t>
            </a:r>
            <a:r>
              <a:rPr sz="1500" dirty="0">
                <a:latin typeface="Arial MT"/>
                <a:cs typeface="Arial MT"/>
              </a:rPr>
              <a:t>not</a:t>
            </a:r>
            <a:r>
              <a:rPr sz="1500" spc="-50" dirty="0">
                <a:latin typeface="Arial MT"/>
                <a:cs typeface="Arial MT"/>
              </a:rPr>
              <a:t> </a:t>
            </a:r>
            <a:r>
              <a:rPr sz="1500" dirty="0">
                <a:latin typeface="Arial MT"/>
                <a:cs typeface="Arial MT"/>
              </a:rPr>
              <a:t>be</a:t>
            </a:r>
            <a:r>
              <a:rPr sz="1500" spc="-50" dirty="0">
                <a:latin typeface="Arial MT"/>
                <a:cs typeface="Arial MT"/>
              </a:rPr>
              <a:t> </a:t>
            </a:r>
            <a:r>
              <a:rPr sz="1500" spc="-10" dirty="0">
                <a:latin typeface="Arial MT"/>
                <a:cs typeface="Arial MT"/>
              </a:rPr>
              <a:t>needed </a:t>
            </a:r>
            <a:r>
              <a:rPr sz="1500" dirty="0">
                <a:latin typeface="Arial MT"/>
                <a:cs typeface="Arial MT"/>
              </a:rPr>
              <a:t>right</a:t>
            </a:r>
            <a:r>
              <a:rPr sz="1500" spc="-55" dirty="0">
                <a:latin typeface="Arial MT"/>
                <a:cs typeface="Arial MT"/>
              </a:rPr>
              <a:t> </a:t>
            </a:r>
            <a:r>
              <a:rPr sz="1500" spc="-10" dirty="0">
                <a:latin typeface="Arial MT"/>
                <a:cs typeface="Arial MT"/>
              </a:rPr>
              <a:t>away.</a:t>
            </a:r>
            <a:endParaRPr sz="1500" dirty="0">
              <a:latin typeface="Arial MT"/>
              <a:cs typeface="Arial MT"/>
            </a:endParaRPr>
          </a:p>
          <a:p>
            <a:pPr marL="542290" indent="-343535">
              <a:lnSpc>
                <a:spcPct val="100000"/>
              </a:lnSpc>
              <a:spcBef>
                <a:spcPts val="270"/>
              </a:spcBef>
              <a:buChar char="●"/>
              <a:tabLst>
                <a:tab pos="542290" algn="l"/>
              </a:tabLst>
            </a:pPr>
            <a:r>
              <a:rPr sz="1500" spc="-10" dirty="0">
                <a:latin typeface="Arial MT"/>
                <a:cs typeface="Arial MT"/>
              </a:rPr>
              <a:t>Potential</a:t>
            </a:r>
            <a:r>
              <a:rPr sz="1500" spc="-40" dirty="0">
                <a:latin typeface="Arial MT"/>
                <a:cs typeface="Arial MT"/>
              </a:rPr>
              <a:t> </a:t>
            </a:r>
            <a:r>
              <a:rPr sz="1500" dirty="0">
                <a:latin typeface="Arial MT"/>
                <a:cs typeface="Arial MT"/>
              </a:rPr>
              <a:t>cache</a:t>
            </a:r>
            <a:r>
              <a:rPr sz="1500" spc="-40" dirty="0">
                <a:latin typeface="Arial MT"/>
                <a:cs typeface="Arial MT"/>
              </a:rPr>
              <a:t> </a:t>
            </a:r>
            <a:r>
              <a:rPr sz="1500" spc="-10" dirty="0">
                <a:latin typeface="Arial MT"/>
                <a:cs typeface="Arial MT"/>
              </a:rPr>
              <a:t>disruption</a:t>
            </a:r>
            <a:r>
              <a:rPr sz="1500" spc="-35" dirty="0">
                <a:latin typeface="Arial MT"/>
                <a:cs typeface="Arial MT"/>
              </a:rPr>
              <a:t> </a:t>
            </a:r>
            <a:r>
              <a:rPr sz="1500" dirty="0">
                <a:latin typeface="Arial MT"/>
                <a:cs typeface="Arial MT"/>
              </a:rPr>
              <a:t>due</a:t>
            </a:r>
            <a:r>
              <a:rPr sz="1500" spc="-40" dirty="0">
                <a:latin typeface="Arial MT"/>
                <a:cs typeface="Arial MT"/>
              </a:rPr>
              <a:t> </a:t>
            </a:r>
            <a:r>
              <a:rPr sz="1500" dirty="0">
                <a:latin typeface="Arial MT"/>
                <a:cs typeface="Arial MT"/>
              </a:rPr>
              <a:t>to</a:t>
            </a:r>
            <a:r>
              <a:rPr sz="1500" spc="-35" dirty="0">
                <a:latin typeface="Arial MT"/>
                <a:cs typeface="Arial MT"/>
              </a:rPr>
              <a:t> </a:t>
            </a:r>
            <a:r>
              <a:rPr sz="1500" dirty="0">
                <a:latin typeface="Arial MT"/>
                <a:cs typeface="Arial MT"/>
              </a:rPr>
              <a:t>merging</a:t>
            </a:r>
            <a:r>
              <a:rPr sz="1500" spc="-40" dirty="0">
                <a:latin typeface="Arial MT"/>
                <a:cs typeface="Arial MT"/>
              </a:rPr>
              <a:t> </a:t>
            </a:r>
            <a:r>
              <a:rPr sz="1500" dirty="0">
                <a:latin typeface="Arial MT"/>
                <a:cs typeface="Arial MT"/>
              </a:rPr>
              <a:t>on</a:t>
            </a:r>
            <a:r>
              <a:rPr sz="1500" spc="-35" dirty="0">
                <a:latin typeface="Arial MT"/>
                <a:cs typeface="Arial MT"/>
              </a:rPr>
              <a:t> </a:t>
            </a:r>
            <a:r>
              <a:rPr sz="1500" dirty="0">
                <a:latin typeface="Arial MT"/>
                <a:cs typeface="Arial MT"/>
              </a:rPr>
              <a:t>every</a:t>
            </a:r>
            <a:r>
              <a:rPr sz="1500" spc="-40" dirty="0">
                <a:latin typeface="Arial MT"/>
                <a:cs typeface="Arial MT"/>
              </a:rPr>
              <a:t> </a:t>
            </a:r>
            <a:r>
              <a:rPr sz="1500" spc="-10" dirty="0">
                <a:latin typeface="Arial MT"/>
                <a:cs typeface="Arial MT"/>
              </a:rPr>
              <a:t>free.</a:t>
            </a:r>
            <a:endParaRPr sz="1500" dirty="0">
              <a:latin typeface="Arial MT"/>
              <a:cs typeface="Arial MT"/>
            </a:endParaRPr>
          </a:p>
        </p:txBody>
      </p:sp>
      <p:pic>
        <p:nvPicPr>
          <p:cNvPr id="7" name="object 7">
            <a:extLst>
              <a:ext uri="{C183D7F6-B498-43B3-948B-1728B52AA6E4}">
                <adec:decorative xmlns:adec="http://schemas.microsoft.com/office/drawing/2017/decorative" val="1"/>
              </a:ext>
            </a:extLst>
          </p:cNvPr>
          <p:cNvPicPr/>
          <p:nvPr/>
        </p:nvPicPr>
        <p:blipFill>
          <a:blip r:embed="rId3" cstate="print"/>
          <a:stretch>
            <a:fillRect/>
          </a:stretch>
        </p:blipFill>
        <p:spPr>
          <a:xfrm>
            <a:off x="6066475" y="3493366"/>
            <a:ext cx="237194" cy="223242"/>
          </a:xfrm>
          <a:prstGeom prst="rect">
            <a:avLst/>
          </a:prstGeom>
        </p:spPr>
      </p:pic>
      <p:pic>
        <p:nvPicPr>
          <p:cNvPr id="8" name="object 8">
            <a:extLst>
              <a:ext uri="{C183D7F6-B498-43B3-948B-1728B52AA6E4}">
                <adec:decorative xmlns:adec="http://schemas.microsoft.com/office/drawing/2017/decorative" val="1"/>
              </a:ext>
            </a:extLst>
          </p:cNvPr>
          <p:cNvPicPr/>
          <p:nvPr/>
        </p:nvPicPr>
        <p:blipFill>
          <a:blip r:embed="rId4" cstate="print"/>
          <a:stretch>
            <a:fillRect/>
          </a:stretch>
        </p:blipFill>
        <p:spPr>
          <a:xfrm>
            <a:off x="6066475" y="5112616"/>
            <a:ext cx="237194" cy="223242"/>
          </a:xfrm>
          <a:prstGeom prst="rect">
            <a:avLst/>
          </a:prstGeom>
        </p:spPr>
      </p:pic>
      <p:sp>
        <p:nvSpPr>
          <p:cNvPr id="10" name="object 10"/>
          <p:cNvSpPr txBox="1"/>
          <p:nvPr/>
        </p:nvSpPr>
        <p:spPr>
          <a:xfrm>
            <a:off x="6053775" y="1910205"/>
            <a:ext cx="2245360"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0F2044"/>
                </a:solidFill>
                <a:latin typeface="Arial"/>
                <a:cs typeface="Arial"/>
              </a:rPr>
              <a:t>Deferred</a:t>
            </a:r>
            <a:r>
              <a:rPr sz="1800" b="1" spc="-40" dirty="0">
                <a:solidFill>
                  <a:srgbClr val="0F2044"/>
                </a:solidFill>
                <a:latin typeface="Arial"/>
                <a:cs typeface="Arial"/>
              </a:rPr>
              <a:t> </a:t>
            </a:r>
            <a:r>
              <a:rPr sz="1800" b="1" spc="-10" dirty="0">
                <a:solidFill>
                  <a:srgbClr val="0F2044"/>
                </a:solidFill>
                <a:latin typeface="Arial"/>
                <a:cs typeface="Arial"/>
              </a:rPr>
              <a:t>Coalescing</a:t>
            </a:r>
            <a:endParaRPr sz="1800">
              <a:latin typeface="Arial"/>
              <a:cs typeface="Arial"/>
            </a:endParaRPr>
          </a:p>
        </p:txBody>
      </p:sp>
      <p:sp>
        <p:nvSpPr>
          <p:cNvPr id="9" name="object 9"/>
          <p:cNvSpPr txBox="1"/>
          <p:nvPr/>
        </p:nvSpPr>
        <p:spPr>
          <a:xfrm>
            <a:off x="5980750" y="2308025"/>
            <a:ext cx="6014720" cy="4371340"/>
          </a:xfrm>
          <a:prstGeom prst="rect">
            <a:avLst/>
          </a:prstGeom>
          <a:ln w="9524">
            <a:solidFill>
              <a:srgbClr val="000000"/>
            </a:solidFill>
          </a:ln>
        </p:spPr>
        <p:txBody>
          <a:bodyPr vert="horz" wrap="square" lIns="0" tIns="78105" rIns="0" bIns="0" rtlCol="0">
            <a:spAutoFit/>
          </a:bodyPr>
          <a:lstStyle/>
          <a:p>
            <a:pPr marL="85725">
              <a:lnSpc>
                <a:spcPct val="100000"/>
              </a:lnSpc>
              <a:spcBef>
                <a:spcPts val="615"/>
              </a:spcBef>
            </a:pPr>
            <a:r>
              <a:rPr sz="1500" spc="-10" dirty="0">
                <a:latin typeface="Arial MT"/>
                <a:cs typeface="Arial MT"/>
              </a:rPr>
              <a:t>Coalescing</a:t>
            </a:r>
            <a:r>
              <a:rPr sz="1500" spc="-45" dirty="0">
                <a:latin typeface="Arial MT"/>
                <a:cs typeface="Arial MT"/>
              </a:rPr>
              <a:t> </a:t>
            </a:r>
            <a:r>
              <a:rPr sz="1500" dirty="0">
                <a:latin typeface="Arial MT"/>
                <a:cs typeface="Arial MT"/>
              </a:rPr>
              <a:t>is</a:t>
            </a:r>
            <a:r>
              <a:rPr sz="1500" spc="-45" dirty="0">
                <a:latin typeface="Arial MT"/>
                <a:cs typeface="Arial MT"/>
              </a:rPr>
              <a:t> </a:t>
            </a:r>
            <a:r>
              <a:rPr sz="1500" b="1" dirty="0">
                <a:latin typeface="Arial"/>
                <a:cs typeface="Arial"/>
              </a:rPr>
              <a:t>delayed</a:t>
            </a:r>
            <a:r>
              <a:rPr sz="1500" dirty="0">
                <a:latin typeface="Arial MT"/>
                <a:cs typeface="Arial MT"/>
              </a:rPr>
              <a:t>,</a:t>
            </a:r>
            <a:r>
              <a:rPr sz="1500" spc="-45" dirty="0">
                <a:latin typeface="Arial MT"/>
                <a:cs typeface="Arial MT"/>
              </a:rPr>
              <a:t> </a:t>
            </a:r>
            <a:r>
              <a:rPr sz="1500" dirty="0">
                <a:latin typeface="Arial MT"/>
                <a:cs typeface="Arial MT"/>
              </a:rPr>
              <a:t>typically</a:t>
            </a:r>
            <a:r>
              <a:rPr sz="1500" spc="-45" dirty="0">
                <a:latin typeface="Arial MT"/>
                <a:cs typeface="Arial MT"/>
              </a:rPr>
              <a:t> </a:t>
            </a:r>
            <a:r>
              <a:rPr sz="1500" spc="-10" dirty="0">
                <a:latin typeface="Arial MT"/>
                <a:cs typeface="Arial MT"/>
              </a:rPr>
              <a:t>until:</a:t>
            </a:r>
            <a:endParaRPr sz="1500">
              <a:latin typeface="Arial MT"/>
              <a:cs typeface="Arial MT"/>
            </a:endParaRPr>
          </a:p>
          <a:p>
            <a:pPr marL="542290" indent="-343535">
              <a:lnSpc>
                <a:spcPct val="100000"/>
              </a:lnSpc>
              <a:spcBef>
                <a:spcPts val="1470"/>
              </a:spcBef>
              <a:buChar char="●"/>
              <a:tabLst>
                <a:tab pos="542290" algn="l"/>
              </a:tabLst>
            </a:pPr>
            <a:r>
              <a:rPr sz="1500" dirty="0">
                <a:latin typeface="Arial MT"/>
                <a:cs typeface="Arial MT"/>
              </a:rPr>
              <a:t>A</a:t>
            </a:r>
            <a:r>
              <a:rPr sz="1500" spc="-105" dirty="0">
                <a:latin typeface="Arial MT"/>
                <a:cs typeface="Arial MT"/>
              </a:rPr>
              <a:t> </a:t>
            </a:r>
            <a:r>
              <a:rPr sz="1500" dirty="0">
                <a:latin typeface="Arial MT"/>
                <a:cs typeface="Arial MT"/>
              </a:rPr>
              <a:t>new</a:t>
            </a:r>
            <a:r>
              <a:rPr sz="1500" spc="-50" dirty="0">
                <a:latin typeface="Arial MT"/>
                <a:cs typeface="Arial MT"/>
              </a:rPr>
              <a:t> </a:t>
            </a:r>
            <a:r>
              <a:rPr sz="1500" spc="-10" dirty="0">
                <a:latin typeface="Arial MT"/>
                <a:cs typeface="Arial MT"/>
              </a:rPr>
              <a:t>allocation</a:t>
            </a:r>
            <a:r>
              <a:rPr sz="1500" spc="-40" dirty="0">
                <a:latin typeface="Arial MT"/>
                <a:cs typeface="Arial MT"/>
              </a:rPr>
              <a:t> </a:t>
            </a:r>
            <a:r>
              <a:rPr sz="1500" dirty="0">
                <a:latin typeface="Arial MT"/>
                <a:cs typeface="Arial MT"/>
              </a:rPr>
              <a:t>request</a:t>
            </a:r>
            <a:r>
              <a:rPr sz="1500" spc="-40" dirty="0">
                <a:latin typeface="Arial MT"/>
                <a:cs typeface="Arial MT"/>
              </a:rPr>
              <a:t> </a:t>
            </a:r>
            <a:r>
              <a:rPr sz="1500" spc="-10" dirty="0">
                <a:latin typeface="Arial MT"/>
                <a:cs typeface="Arial MT"/>
              </a:rPr>
              <a:t>fails.</a:t>
            </a:r>
            <a:endParaRPr sz="1500">
              <a:latin typeface="Arial MT"/>
              <a:cs typeface="Arial MT"/>
            </a:endParaRPr>
          </a:p>
          <a:p>
            <a:pPr marL="542290" indent="-343535">
              <a:lnSpc>
                <a:spcPct val="100000"/>
              </a:lnSpc>
              <a:spcBef>
                <a:spcPts val="270"/>
              </a:spcBef>
              <a:buChar char="●"/>
              <a:tabLst>
                <a:tab pos="542290" algn="l"/>
              </a:tabLst>
            </a:pPr>
            <a:r>
              <a:rPr sz="1500" dirty="0">
                <a:latin typeface="Arial MT"/>
                <a:cs typeface="Arial MT"/>
              </a:rPr>
              <a:t>A</a:t>
            </a:r>
            <a:r>
              <a:rPr sz="1500" spc="-105" dirty="0">
                <a:latin typeface="Arial MT"/>
                <a:cs typeface="Arial MT"/>
              </a:rPr>
              <a:t> </a:t>
            </a:r>
            <a:r>
              <a:rPr sz="1500" dirty="0">
                <a:latin typeface="Arial MT"/>
                <a:cs typeface="Arial MT"/>
              </a:rPr>
              <a:t>periodic</a:t>
            </a:r>
            <a:r>
              <a:rPr sz="1500" spc="-50" dirty="0">
                <a:latin typeface="Arial MT"/>
                <a:cs typeface="Arial MT"/>
              </a:rPr>
              <a:t> </a:t>
            </a:r>
            <a:r>
              <a:rPr sz="1500" dirty="0">
                <a:latin typeface="Arial MT"/>
                <a:cs typeface="Arial MT"/>
              </a:rPr>
              <a:t>or</a:t>
            </a:r>
            <a:r>
              <a:rPr sz="1500" spc="-35" dirty="0">
                <a:latin typeface="Arial MT"/>
                <a:cs typeface="Arial MT"/>
              </a:rPr>
              <a:t> </a:t>
            </a:r>
            <a:r>
              <a:rPr sz="1500" spc="-20" dirty="0">
                <a:latin typeface="Arial MT"/>
                <a:cs typeface="Arial MT"/>
              </a:rPr>
              <a:t>on-</a:t>
            </a:r>
            <a:r>
              <a:rPr sz="1500" dirty="0">
                <a:latin typeface="Arial MT"/>
                <a:cs typeface="Arial MT"/>
              </a:rPr>
              <a:t>demand</a:t>
            </a:r>
            <a:r>
              <a:rPr sz="1500" spc="-35" dirty="0">
                <a:latin typeface="Arial MT"/>
                <a:cs typeface="Arial MT"/>
              </a:rPr>
              <a:t> </a:t>
            </a:r>
            <a:r>
              <a:rPr sz="1500" dirty="0">
                <a:latin typeface="Arial MT"/>
                <a:cs typeface="Arial MT"/>
              </a:rPr>
              <a:t>scan</a:t>
            </a:r>
            <a:r>
              <a:rPr sz="1500" spc="-35" dirty="0">
                <a:latin typeface="Arial MT"/>
                <a:cs typeface="Arial MT"/>
              </a:rPr>
              <a:t> </a:t>
            </a:r>
            <a:r>
              <a:rPr sz="1500" dirty="0">
                <a:latin typeface="Arial MT"/>
                <a:cs typeface="Arial MT"/>
              </a:rPr>
              <a:t>is</a:t>
            </a:r>
            <a:r>
              <a:rPr sz="1500" spc="-35" dirty="0">
                <a:latin typeface="Arial MT"/>
                <a:cs typeface="Arial MT"/>
              </a:rPr>
              <a:t> </a:t>
            </a:r>
            <a:r>
              <a:rPr sz="1500" spc="-10" dirty="0">
                <a:latin typeface="Arial MT"/>
                <a:cs typeface="Arial MT"/>
              </a:rPr>
              <a:t>triggered.</a:t>
            </a:r>
            <a:endParaRPr sz="1500">
              <a:latin typeface="Arial MT"/>
              <a:cs typeface="Arial MT"/>
            </a:endParaRPr>
          </a:p>
          <a:p>
            <a:pPr marL="375285">
              <a:lnSpc>
                <a:spcPct val="100000"/>
              </a:lnSpc>
              <a:spcBef>
                <a:spcPts val="1470"/>
              </a:spcBef>
            </a:pPr>
            <a:r>
              <a:rPr sz="1500" b="1" spc="-10" dirty="0">
                <a:latin typeface="Arial"/>
                <a:cs typeface="Arial"/>
              </a:rPr>
              <a:t>Pros:</a:t>
            </a:r>
            <a:endParaRPr sz="1500">
              <a:latin typeface="Arial"/>
              <a:cs typeface="Arial"/>
            </a:endParaRPr>
          </a:p>
          <a:p>
            <a:pPr marL="542290" indent="-343535">
              <a:lnSpc>
                <a:spcPct val="100000"/>
              </a:lnSpc>
              <a:spcBef>
                <a:spcPts val="1470"/>
              </a:spcBef>
              <a:buChar char="●"/>
              <a:tabLst>
                <a:tab pos="542290" algn="l"/>
              </a:tabLst>
            </a:pPr>
            <a:r>
              <a:rPr sz="1500" dirty="0">
                <a:latin typeface="Arial MT"/>
                <a:cs typeface="Arial MT"/>
              </a:rPr>
              <a:t>Avoids</a:t>
            </a:r>
            <a:r>
              <a:rPr sz="1500" spc="-85" dirty="0">
                <a:latin typeface="Arial MT"/>
                <a:cs typeface="Arial MT"/>
              </a:rPr>
              <a:t> </a:t>
            </a:r>
            <a:r>
              <a:rPr sz="1500" dirty="0">
                <a:latin typeface="Arial MT"/>
                <a:cs typeface="Arial MT"/>
              </a:rPr>
              <a:t>unnecessary</a:t>
            </a:r>
            <a:r>
              <a:rPr sz="1500" spc="-80" dirty="0">
                <a:latin typeface="Arial MT"/>
                <a:cs typeface="Arial MT"/>
              </a:rPr>
              <a:t> </a:t>
            </a:r>
            <a:r>
              <a:rPr sz="1500" spc="-10" dirty="0">
                <a:latin typeface="Arial MT"/>
                <a:cs typeface="Arial MT"/>
              </a:rPr>
              <a:t>merges.</a:t>
            </a:r>
            <a:endParaRPr sz="1500">
              <a:latin typeface="Arial MT"/>
              <a:cs typeface="Arial MT"/>
            </a:endParaRPr>
          </a:p>
          <a:p>
            <a:pPr marL="542925" marR="224790" indent="-344170">
              <a:lnSpc>
                <a:spcPct val="114999"/>
              </a:lnSpc>
              <a:buChar char="●"/>
              <a:tabLst>
                <a:tab pos="542925" algn="l"/>
              </a:tabLst>
            </a:pPr>
            <a:r>
              <a:rPr sz="1500" dirty="0">
                <a:latin typeface="Arial MT"/>
                <a:cs typeface="Arial MT"/>
              </a:rPr>
              <a:t>More</a:t>
            </a:r>
            <a:r>
              <a:rPr sz="1500" spc="-55" dirty="0">
                <a:latin typeface="Arial MT"/>
                <a:cs typeface="Arial MT"/>
              </a:rPr>
              <a:t> </a:t>
            </a:r>
            <a:r>
              <a:rPr sz="1500" dirty="0">
                <a:latin typeface="Arial MT"/>
                <a:cs typeface="Arial MT"/>
              </a:rPr>
              <a:t>control</a:t>
            </a:r>
            <a:r>
              <a:rPr sz="1500" spc="-50" dirty="0">
                <a:latin typeface="Arial MT"/>
                <a:cs typeface="Arial MT"/>
              </a:rPr>
              <a:t> </a:t>
            </a:r>
            <a:r>
              <a:rPr sz="1500" dirty="0">
                <a:latin typeface="Arial MT"/>
                <a:cs typeface="Arial MT"/>
              </a:rPr>
              <a:t>over</a:t>
            </a:r>
            <a:r>
              <a:rPr sz="1500" spc="-55" dirty="0">
                <a:latin typeface="Arial MT"/>
                <a:cs typeface="Arial MT"/>
              </a:rPr>
              <a:t> </a:t>
            </a:r>
            <a:r>
              <a:rPr sz="1500" dirty="0">
                <a:latin typeface="Arial MT"/>
                <a:cs typeface="Arial MT"/>
              </a:rPr>
              <a:t>when</a:t>
            </a:r>
            <a:r>
              <a:rPr sz="1500" spc="-50" dirty="0">
                <a:latin typeface="Arial MT"/>
                <a:cs typeface="Arial MT"/>
              </a:rPr>
              <a:t> </a:t>
            </a:r>
            <a:r>
              <a:rPr sz="1500" dirty="0">
                <a:latin typeface="Arial MT"/>
                <a:cs typeface="Arial MT"/>
              </a:rPr>
              <a:t>and</a:t>
            </a:r>
            <a:r>
              <a:rPr sz="1500" spc="-55" dirty="0">
                <a:latin typeface="Arial MT"/>
                <a:cs typeface="Arial MT"/>
              </a:rPr>
              <a:t> </a:t>
            </a:r>
            <a:r>
              <a:rPr sz="1500" dirty="0">
                <a:latin typeface="Arial MT"/>
                <a:cs typeface="Arial MT"/>
              </a:rPr>
              <a:t>how</a:t>
            </a:r>
            <a:r>
              <a:rPr sz="1500" spc="-50" dirty="0">
                <a:latin typeface="Arial MT"/>
                <a:cs typeface="Arial MT"/>
              </a:rPr>
              <a:t> </a:t>
            </a:r>
            <a:r>
              <a:rPr sz="1500" dirty="0">
                <a:latin typeface="Arial MT"/>
                <a:cs typeface="Arial MT"/>
              </a:rPr>
              <a:t>much</a:t>
            </a:r>
            <a:r>
              <a:rPr sz="1500" spc="-55" dirty="0">
                <a:latin typeface="Arial MT"/>
                <a:cs typeface="Arial MT"/>
              </a:rPr>
              <a:t> </a:t>
            </a:r>
            <a:r>
              <a:rPr sz="1500" dirty="0">
                <a:latin typeface="Arial MT"/>
                <a:cs typeface="Arial MT"/>
              </a:rPr>
              <a:t>to</a:t>
            </a:r>
            <a:r>
              <a:rPr sz="1500" spc="-50" dirty="0">
                <a:latin typeface="Arial MT"/>
                <a:cs typeface="Arial MT"/>
              </a:rPr>
              <a:t> </a:t>
            </a:r>
            <a:r>
              <a:rPr sz="1500" dirty="0">
                <a:latin typeface="Arial MT"/>
                <a:cs typeface="Arial MT"/>
              </a:rPr>
              <a:t>coalesce</a:t>
            </a:r>
            <a:r>
              <a:rPr sz="1500" spc="-55" dirty="0">
                <a:latin typeface="Arial MT"/>
                <a:cs typeface="Arial MT"/>
              </a:rPr>
              <a:t> </a:t>
            </a:r>
            <a:r>
              <a:rPr sz="1500" dirty="0">
                <a:latin typeface="Arial MT"/>
                <a:cs typeface="Arial MT"/>
              </a:rPr>
              <a:t>(can</a:t>
            </a:r>
            <a:r>
              <a:rPr sz="1500" spc="-50" dirty="0">
                <a:latin typeface="Arial MT"/>
                <a:cs typeface="Arial MT"/>
              </a:rPr>
              <a:t> </a:t>
            </a:r>
            <a:r>
              <a:rPr sz="1500" spc="-10" dirty="0">
                <a:latin typeface="Arial MT"/>
                <a:cs typeface="Arial MT"/>
              </a:rPr>
              <a:t>batch </a:t>
            </a:r>
            <a:r>
              <a:rPr sz="1500" dirty="0">
                <a:latin typeface="Arial MT"/>
                <a:cs typeface="Arial MT"/>
              </a:rPr>
              <a:t>the</a:t>
            </a:r>
            <a:r>
              <a:rPr sz="1500" spc="-40" dirty="0">
                <a:latin typeface="Arial MT"/>
                <a:cs typeface="Arial MT"/>
              </a:rPr>
              <a:t> </a:t>
            </a:r>
            <a:r>
              <a:rPr sz="1500" spc="-10" dirty="0">
                <a:latin typeface="Arial MT"/>
                <a:cs typeface="Arial MT"/>
              </a:rPr>
              <a:t>work).</a:t>
            </a:r>
            <a:endParaRPr sz="1500">
              <a:latin typeface="Arial MT"/>
              <a:cs typeface="Arial MT"/>
            </a:endParaRPr>
          </a:p>
          <a:p>
            <a:pPr marL="542290" indent="-343535">
              <a:lnSpc>
                <a:spcPct val="100000"/>
              </a:lnSpc>
              <a:spcBef>
                <a:spcPts val="270"/>
              </a:spcBef>
              <a:buChar char="●"/>
              <a:tabLst>
                <a:tab pos="542290" algn="l"/>
              </a:tabLst>
            </a:pPr>
            <a:r>
              <a:rPr sz="1500" dirty="0">
                <a:latin typeface="Arial MT"/>
                <a:cs typeface="Arial MT"/>
              </a:rPr>
              <a:t>Reduces</a:t>
            </a:r>
            <a:r>
              <a:rPr sz="1500" spc="-65" dirty="0">
                <a:latin typeface="Arial MT"/>
                <a:cs typeface="Arial MT"/>
              </a:rPr>
              <a:t> </a:t>
            </a:r>
            <a:r>
              <a:rPr sz="1500" dirty="0">
                <a:latin typeface="Arial MT"/>
                <a:cs typeface="Arial MT"/>
              </a:rPr>
              <a:t>overhead</a:t>
            </a:r>
            <a:r>
              <a:rPr sz="1500" spc="-65" dirty="0">
                <a:latin typeface="Arial MT"/>
                <a:cs typeface="Arial MT"/>
              </a:rPr>
              <a:t> </a:t>
            </a:r>
            <a:r>
              <a:rPr sz="1500" dirty="0">
                <a:latin typeface="Arial MT"/>
                <a:cs typeface="Arial MT"/>
              </a:rPr>
              <a:t>during</a:t>
            </a:r>
            <a:r>
              <a:rPr sz="1500" spc="-65" dirty="0">
                <a:latin typeface="Arial MT"/>
                <a:cs typeface="Arial MT"/>
              </a:rPr>
              <a:t> </a:t>
            </a:r>
            <a:r>
              <a:rPr sz="1500" dirty="0">
                <a:latin typeface="Arial MT"/>
                <a:cs typeface="Arial MT"/>
              </a:rPr>
              <a:t>heavy</a:t>
            </a:r>
            <a:r>
              <a:rPr sz="1500" spc="-60" dirty="0">
                <a:latin typeface="Arial MT"/>
                <a:cs typeface="Arial MT"/>
              </a:rPr>
              <a:t> </a:t>
            </a:r>
            <a:r>
              <a:rPr sz="1500" spc="-10" dirty="0">
                <a:latin typeface="Arial MT"/>
                <a:cs typeface="Arial MT"/>
              </a:rPr>
              <a:t>allocation/deallocation</a:t>
            </a:r>
            <a:r>
              <a:rPr sz="1500" spc="-65" dirty="0">
                <a:latin typeface="Arial MT"/>
                <a:cs typeface="Arial MT"/>
              </a:rPr>
              <a:t> </a:t>
            </a:r>
            <a:r>
              <a:rPr sz="1500" spc="-10" dirty="0">
                <a:latin typeface="Arial MT"/>
                <a:cs typeface="Arial MT"/>
              </a:rPr>
              <a:t>cycles.</a:t>
            </a:r>
            <a:endParaRPr sz="1500">
              <a:latin typeface="Arial MT"/>
              <a:cs typeface="Arial MT"/>
            </a:endParaRPr>
          </a:p>
          <a:p>
            <a:pPr marL="375285">
              <a:lnSpc>
                <a:spcPct val="100000"/>
              </a:lnSpc>
              <a:spcBef>
                <a:spcPts val="1470"/>
              </a:spcBef>
            </a:pPr>
            <a:r>
              <a:rPr sz="1500" b="1" spc="-10" dirty="0">
                <a:latin typeface="Arial"/>
                <a:cs typeface="Arial"/>
              </a:rPr>
              <a:t>Cons:</a:t>
            </a:r>
            <a:endParaRPr sz="1500">
              <a:latin typeface="Arial"/>
              <a:cs typeface="Arial"/>
            </a:endParaRPr>
          </a:p>
          <a:p>
            <a:pPr marL="542290" indent="-343535">
              <a:lnSpc>
                <a:spcPct val="100000"/>
              </a:lnSpc>
              <a:spcBef>
                <a:spcPts val="1470"/>
              </a:spcBef>
              <a:buChar char="●"/>
              <a:tabLst>
                <a:tab pos="542290" algn="l"/>
              </a:tabLst>
            </a:pPr>
            <a:r>
              <a:rPr sz="1500" spc="-10" dirty="0">
                <a:latin typeface="Arial MT"/>
                <a:cs typeface="Arial MT"/>
              </a:rPr>
              <a:t>Fragmentation</a:t>
            </a:r>
            <a:r>
              <a:rPr sz="1500" spc="-35" dirty="0">
                <a:latin typeface="Arial MT"/>
                <a:cs typeface="Arial MT"/>
              </a:rPr>
              <a:t> </a:t>
            </a:r>
            <a:r>
              <a:rPr sz="1500" dirty="0">
                <a:latin typeface="Arial MT"/>
                <a:cs typeface="Arial MT"/>
              </a:rPr>
              <a:t>can</a:t>
            </a:r>
            <a:r>
              <a:rPr sz="1500" spc="-30" dirty="0">
                <a:latin typeface="Arial MT"/>
                <a:cs typeface="Arial MT"/>
              </a:rPr>
              <a:t> </a:t>
            </a:r>
            <a:r>
              <a:rPr sz="1500" dirty="0">
                <a:latin typeface="Arial MT"/>
                <a:cs typeface="Arial MT"/>
              </a:rPr>
              <a:t>build</a:t>
            </a:r>
            <a:r>
              <a:rPr sz="1500" spc="-30" dirty="0">
                <a:latin typeface="Arial MT"/>
                <a:cs typeface="Arial MT"/>
              </a:rPr>
              <a:t> </a:t>
            </a:r>
            <a:r>
              <a:rPr sz="1500" dirty="0">
                <a:latin typeface="Arial MT"/>
                <a:cs typeface="Arial MT"/>
              </a:rPr>
              <a:t>up</a:t>
            </a:r>
            <a:r>
              <a:rPr sz="1500" spc="-30" dirty="0">
                <a:latin typeface="Arial MT"/>
                <a:cs typeface="Arial MT"/>
              </a:rPr>
              <a:t> </a:t>
            </a:r>
            <a:r>
              <a:rPr sz="1500" dirty="0">
                <a:latin typeface="Arial MT"/>
                <a:cs typeface="Arial MT"/>
              </a:rPr>
              <a:t>if</a:t>
            </a:r>
            <a:r>
              <a:rPr sz="1500" spc="-30" dirty="0">
                <a:latin typeface="Arial MT"/>
                <a:cs typeface="Arial MT"/>
              </a:rPr>
              <a:t> </a:t>
            </a:r>
            <a:r>
              <a:rPr sz="1500" dirty="0">
                <a:latin typeface="Arial MT"/>
                <a:cs typeface="Arial MT"/>
              </a:rPr>
              <a:t>not</a:t>
            </a:r>
            <a:r>
              <a:rPr sz="1500" spc="-30" dirty="0">
                <a:latin typeface="Arial MT"/>
                <a:cs typeface="Arial MT"/>
              </a:rPr>
              <a:t> </a:t>
            </a:r>
            <a:r>
              <a:rPr sz="1500" spc="-10" dirty="0">
                <a:latin typeface="Arial MT"/>
                <a:cs typeface="Arial MT"/>
              </a:rPr>
              <a:t>coalesced</a:t>
            </a:r>
            <a:r>
              <a:rPr sz="1500" spc="-30" dirty="0">
                <a:latin typeface="Arial MT"/>
                <a:cs typeface="Arial MT"/>
              </a:rPr>
              <a:t> </a:t>
            </a:r>
            <a:r>
              <a:rPr sz="1500" dirty="0">
                <a:latin typeface="Arial MT"/>
                <a:cs typeface="Arial MT"/>
              </a:rPr>
              <a:t>in</a:t>
            </a:r>
            <a:r>
              <a:rPr sz="1500" spc="-35" dirty="0">
                <a:latin typeface="Arial MT"/>
                <a:cs typeface="Arial MT"/>
              </a:rPr>
              <a:t> </a:t>
            </a:r>
            <a:r>
              <a:rPr sz="1500" spc="-10" dirty="0">
                <a:latin typeface="Arial MT"/>
                <a:cs typeface="Arial MT"/>
              </a:rPr>
              <a:t>time.</a:t>
            </a:r>
            <a:endParaRPr sz="1500">
              <a:latin typeface="Arial MT"/>
              <a:cs typeface="Arial MT"/>
            </a:endParaRPr>
          </a:p>
          <a:p>
            <a:pPr marL="542925" marR="423545" indent="-344170">
              <a:lnSpc>
                <a:spcPct val="114999"/>
              </a:lnSpc>
              <a:buChar char="●"/>
              <a:tabLst>
                <a:tab pos="542925" algn="l"/>
              </a:tabLst>
            </a:pPr>
            <a:r>
              <a:rPr sz="1500" spc="-10" dirty="0">
                <a:latin typeface="Arial MT"/>
                <a:cs typeface="Arial MT"/>
              </a:rPr>
              <a:t>Searching</a:t>
            </a:r>
            <a:r>
              <a:rPr sz="1500" spc="-45" dirty="0">
                <a:latin typeface="Arial MT"/>
                <a:cs typeface="Arial MT"/>
              </a:rPr>
              <a:t> </a:t>
            </a:r>
            <a:r>
              <a:rPr sz="1500" dirty="0">
                <a:latin typeface="Arial MT"/>
                <a:cs typeface="Arial MT"/>
              </a:rPr>
              <a:t>and</a:t>
            </a:r>
            <a:r>
              <a:rPr sz="1500" spc="-45" dirty="0">
                <a:latin typeface="Arial MT"/>
                <a:cs typeface="Arial MT"/>
              </a:rPr>
              <a:t> </a:t>
            </a:r>
            <a:r>
              <a:rPr sz="1500" dirty="0">
                <a:latin typeface="Arial MT"/>
                <a:cs typeface="Arial MT"/>
              </a:rPr>
              <a:t>merging</a:t>
            </a:r>
            <a:r>
              <a:rPr sz="1500" spc="-45" dirty="0">
                <a:latin typeface="Arial MT"/>
                <a:cs typeface="Arial MT"/>
              </a:rPr>
              <a:t> </a:t>
            </a:r>
            <a:r>
              <a:rPr sz="1500" dirty="0">
                <a:latin typeface="Arial MT"/>
                <a:cs typeface="Arial MT"/>
              </a:rPr>
              <a:t>later</a:t>
            </a:r>
            <a:r>
              <a:rPr sz="1500" spc="-45" dirty="0">
                <a:latin typeface="Arial MT"/>
                <a:cs typeface="Arial MT"/>
              </a:rPr>
              <a:t> </a:t>
            </a:r>
            <a:r>
              <a:rPr sz="1500" dirty="0">
                <a:latin typeface="Arial MT"/>
                <a:cs typeface="Arial MT"/>
              </a:rPr>
              <a:t>could</a:t>
            </a:r>
            <a:r>
              <a:rPr sz="1500" spc="-45" dirty="0">
                <a:latin typeface="Arial MT"/>
                <a:cs typeface="Arial MT"/>
              </a:rPr>
              <a:t> </a:t>
            </a:r>
            <a:r>
              <a:rPr sz="1500" dirty="0">
                <a:latin typeface="Arial MT"/>
                <a:cs typeface="Arial MT"/>
              </a:rPr>
              <a:t>be</a:t>
            </a:r>
            <a:r>
              <a:rPr sz="1500" spc="-30" dirty="0">
                <a:latin typeface="Arial MT"/>
                <a:cs typeface="Arial MT"/>
              </a:rPr>
              <a:t> </a:t>
            </a:r>
            <a:r>
              <a:rPr sz="1500" b="1" dirty="0">
                <a:latin typeface="Arial"/>
                <a:cs typeface="Arial"/>
              </a:rPr>
              <a:t>more</a:t>
            </a:r>
            <a:r>
              <a:rPr sz="1500" b="1" spc="-45" dirty="0">
                <a:latin typeface="Arial"/>
                <a:cs typeface="Arial"/>
              </a:rPr>
              <a:t> </a:t>
            </a:r>
            <a:r>
              <a:rPr sz="1500" b="1" spc="-10" dirty="0">
                <a:latin typeface="Arial"/>
                <a:cs typeface="Arial"/>
              </a:rPr>
              <a:t>expensive</a:t>
            </a:r>
            <a:r>
              <a:rPr sz="1500" b="1" spc="-40" dirty="0">
                <a:latin typeface="Arial"/>
                <a:cs typeface="Arial"/>
              </a:rPr>
              <a:t> </a:t>
            </a:r>
            <a:r>
              <a:rPr sz="1500" spc="-20" dirty="0">
                <a:latin typeface="Arial MT"/>
                <a:cs typeface="Arial MT"/>
              </a:rPr>
              <a:t>(not </a:t>
            </a:r>
            <a:r>
              <a:rPr sz="1500" dirty="0">
                <a:latin typeface="Arial MT"/>
                <a:cs typeface="Arial MT"/>
              </a:rPr>
              <a:t>constant</a:t>
            </a:r>
            <a:r>
              <a:rPr sz="1500" spc="-100" dirty="0">
                <a:latin typeface="Arial MT"/>
                <a:cs typeface="Arial MT"/>
              </a:rPr>
              <a:t> </a:t>
            </a:r>
            <a:r>
              <a:rPr sz="1500" spc="-10" dirty="0">
                <a:latin typeface="Arial MT"/>
                <a:cs typeface="Arial MT"/>
              </a:rPr>
              <a:t>time).</a:t>
            </a:r>
            <a:endParaRPr sz="1500">
              <a:latin typeface="Arial MT"/>
              <a:cs typeface="Arial MT"/>
            </a:endParaRPr>
          </a:p>
          <a:p>
            <a:pPr marL="542290" indent="-343535">
              <a:lnSpc>
                <a:spcPct val="100000"/>
              </a:lnSpc>
              <a:spcBef>
                <a:spcPts val="270"/>
              </a:spcBef>
              <a:buChar char="●"/>
              <a:tabLst>
                <a:tab pos="542290" algn="l"/>
              </a:tabLst>
            </a:pPr>
            <a:r>
              <a:rPr sz="1500" dirty="0">
                <a:latin typeface="Arial MT"/>
                <a:cs typeface="Arial MT"/>
              </a:rPr>
              <a:t>Less</a:t>
            </a:r>
            <a:r>
              <a:rPr sz="1500" spc="-30" dirty="0">
                <a:latin typeface="Arial MT"/>
                <a:cs typeface="Arial MT"/>
              </a:rPr>
              <a:t> </a:t>
            </a:r>
            <a:r>
              <a:rPr sz="1500" spc="-10" dirty="0">
                <a:latin typeface="Arial MT"/>
                <a:cs typeface="Arial MT"/>
              </a:rPr>
              <a:t>predictable</a:t>
            </a:r>
            <a:r>
              <a:rPr sz="1500" spc="-30" dirty="0">
                <a:latin typeface="Arial MT"/>
                <a:cs typeface="Arial MT"/>
              </a:rPr>
              <a:t> </a:t>
            </a:r>
            <a:r>
              <a:rPr sz="1500" spc="-10" dirty="0">
                <a:latin typeface="Arial MT"/>
                <a:cs typeface="Arial MT"/>
              </a:rPr>
              <a:t>performance.</a:t>
            </a:r>
            <a:endParaRPr sz="1500">
              <a:latin typeface="Arial MT"/>
              <a:cs typeface="Arial M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Implicit</a:t>
            </a:r>
            <a:r>
              <a:rPr spc="-100" dirty="0"/>
              <a:t> </a:t>
            </a:r>
            <a:r>
              <a:rPr dirty="0"/>
              <a:t>Free</a:t>
            </a:r>
            <a:r>
              <a:rPr spc="-100" dirty="0"/>
              <a:t> </a:t>
            </a:r>
            <a:r>
              <a:rPr spc="-20" dirty="0"/>
              <a:t>List</a:t>
            </a:r>
          </a:p>
        </p:txBody>
      </p:sp>
      <p:grpSp>
        <p:nvGrpSpPr>
          <p:cNvPr id="61" name="Group 60" descr="A diagram introducing the concept of a logical barrier in a heap, represented by a red &quot;X,&quot; indicating a point where block coalescing or searching cannot proceed.">
            <a:extLst>
              <a:ext uri="{FF2B5EF4-FFF2-40B4-BE49-F238E27FC236}">
                <a16:creationId xmlns:a16="http://schemas.microsoft.com/office/drawing/2014/main" id="{D0589548-8F02-0D8F-6B7B-6AAB6B6A7236}"/>
              </a:ext>
            </a:extLst>
          </p:cNvPr>
          <p:cNvGrpSpPr/>
          <p:nvPr/>
        </p:nvGrpSpPr>
        <p:grpSpPr>
          <a:xfrm>
            <a:off x="434970" y="2419637"/>
            <a:ext cx="10309230" cy="3142963"/>
            <a:chOff x="434970" y="2419637"/>
            <a:chExt cx="10309230" cy="3142963"/>
          </a:xfrm>
        </p:grpSpPr>
        <p:grpSp>
          <p:nvGrpSpPr>
            <p:cNvPr id="59" name="Group 58" descr="A diagram introducing the concept of a logical barrier in a heap, represented by a red &quot;X,&quot; indicating a point where block coalescing or searching cannot proceed.">
              <a:extLst>
                <a:ext uri="{FF2B5EF4-FFF2-40B4-BE49-F238E27FC236}">
                  <a16:creationId xmlns:a16="http://schemas.microsoft.com/office/drawing/2014/main" id="{86604C58-581F-1294-945F-F688EEF9C487}"/>
                </a:ext>
              </a:extLst>
            </p:cNvPr>
            <p:cNvGrpSpPr/>
            <p:nvPr/>
          </p:nvGrpSpPr>
          <p:grpSpPr>
            <a:xfrm>
              <a:off x="434970" y="2419637"/>
              <a:ext cx="10309230" cy="2799612"/>
              <a:chOff x="434970" y="2419637"/>
              <a:chExt cx="10309230" cy="2799612"/>
            </a:xfrm>
          </p:grpSpPr>
          <p:grpSp>
            <p:nvGrpSpPr>
              <p:cNvPr id="35" name="Group 34">
                <a:extLst>
                  <a:ext uri="{FF2B5EF4-FFF2-40B4-BE49-F238E27FC236}">
                    <a16:creationId xmlns:a16="http://schemas.microsoft.com/office/drawing/2014/main" id="{5029C17D-54F1-FCCD-FDF8-51EECB2D4A02}"/>
                  </a:ext>
                </a:extLst>
              </p:cNvPr>
              <p:cNvGrpSpPr/>
              <p:nvPr/>
            </p:nvGrpSpPr>
            <p:grpSpPr>
              <a:xfrm>
                <a:off x="434970" y="2419637"/>
                <a:ext cx="10309230" cy="856963"/>
                <a:chOff x="434970" y="2419637"/>
                <a:chExt cx="10309230" cy="856963"/>
              </a:xfrm>
            </p:grpSpPr>
            <p:grpSp>
              <p:nvGrpSpPr>
                <p:cNvPr id="36" name="object 4">
                  <a:extLst>
                    <a:ext uri="{FF2B5EF4-FFF2-40B4-BE49-F238E27FC236}">
                      <a16:creationId xmlns:a16="http://schemas.microsoft.com/office/drawing/2014/main" id="{711F9DAA-6C25-FBF9-DFA7-0381B81E4608}"/>
                    </a:ext>
                  </a:extLst>
                </p:cNvPr>
                <p:cNvGrpSpPr/>
                <p:nvPr/>
              </p:nvGrpSpPr>
              <p:grpSpPr>
                <a:xfrm>
                  <a:off x="649112" y="2419637"/>
                  <a:ext cx="2482850" cy="218440"/>
                  <a:chOff x="649112" y="2419637"/>
                  <a:chExt cx="2482850" cy="218440"/>
                </a:xfrm>
              </p:grpSpPr>
              <p:sp>
                <p:nvSpPr>
                  <p:cNvPr id="47" name="object 5">
                    <a:extLst>
                      <a:ext uri="{FF2B5EF4-FFF2-40B4-BE49-F238E27FC236}">
                        <a16:creationId xmlns:a16="http://schemas.microsoft.com/office/drawing/2014/main" id="{CABE419C-BE94-57E6-2F4D-54A4D16F2FB0}"/>
                      </a:ext>
                    </a:extLst>
                  </p:cNvPr>
                  <p:cNvSpPr/>
                  <p:nvPr/>
                </p:nvSpPr>
                <p:spPr>
                  <a:xfrm>
                    <a:off x="653875" y="2424400"/>
                    <a:ext cx="2473325" cy="208915"/>
                  </a:xfrm>
                  <a:custGeom>
                    <a:avLst/>
                    <a:gdLst/>
                    <a:ahLst/>
                    <a:cxnLst/>
                    <a:rect l="l" t="t" r="r" b="b"/>
                    <a:pathLst>
                      <a:path w="2473325" h="208914">
                        <a:moveTo>
                          <a:pt x="52199" y="208799"/>
                        </a:moveTo>
                        <a:lnTo>
                          <a:pt x="0" y="208799"/>
                        </a:lnTo>
                        <a:lnTo>
                          <a:pt x="0" y="91349"/>
                        </a:lnTo>
                        <a:lnTo>
                          <a:pt x="26755" y="26755"/>
                        </a:lnTo>
                        <a:lnTo>
                          <a:pt x="91349" y="0"/>
                        </a:lnTo>
                        <a:lnTo>
                          <a:pt x="2355749" y="0"/>
                        </a:lnTo>
                        <a:lnTo>
                          <a:pt x="2406430" y="15347"/>
                        </a:lnTo>
                        <a:lnTo>
                          <a:pt x="2437908" y="52199"/>
                        </a:lnTo>
                        <a:lnTo>
                          <a:pt x="91349" y="52199"/>
                        </a:lnTo>
                        <a:lnTo>
                          <a:pt x="76111" y="55276"/>
                        </a:lnTo>
                        <a:lnTo>
                          <a:pt x="63666" y="63666"/>
                        </a:lnTo>
                        <a:lnTo>
                          <a:pt x="55276" y="76111"/>
                        </a:lnTo>
                        <a:lnTo>
                          <a:pt x="52199" y="91349"/>
                        </a:lnTo>
                        <a:lnTo>
                          <a:pt x="52199" y="208799"/>
                        </a:lnTo>
                        <a:close/>
                      </a:path>
                      <a:path w="2473325" h="208914">
                        <a:moveTo>
                          <a:pt x="2447099" y="104399"/>
                        </a:moveTo>
                        <a:lnTo>
                          <a:pt x="2394899" y="104399"/>
                        </a:lnTo>
                        <a:lnTo>
                          <a:pt x="2394899" y="91349"/>
                        </a:lnTo>
                        <a:lnTo>
                          <a:pt x="2391823" y="76111"/>
                        </a:lnTo>
                        <a:lnTo>
                          <a:pt x="2383433" y="63666"/>
                        </a:lnTo>
                        <a:lnTo>
                          <a:pt x="2370988" y="55276"/>
                        </a:lnTo>
                        <a:lnTo>
                          <a:pt x="2355749" y="52199"/>
                        </a:lnTo>
                        <a:lnTo>
                          <a:pt x="2437908" y="52199"/>
                        </a:lnTo>
                        <a:lnTo>
                          <a:pt x="2440146" y="56391"/>
                        </a:lnTo>
                        <a:lnTo>
                          <a:pt x="2445328" y="73445"/>
                        </a:lnTo>
                        <a:lnTo>
                          <a:pt x="2447099" y="91349"/>
                        </a:lnTo>
                        <a:lnTo>
                          <a:pt x="2447099" y="104399"/>
                        </a:lnTo>
                        <a:close/>
                      </a:path>
                      <a:path w="2473325" h="208914">
                        <a:moveTo>
                          <a:pt x="2420999" y="156599"/>
                        </a:moveTo>
                        <a:lnTo>
                          <a:pt x="2368799" y="104399"/>
                        </a:lnTo>
                        <a:lnTo>
                          <a:pt x="2473199" y="104399"/>
                        </a:lnTo>
                        <a:lnTo>
                          <a:pt x="2420999" y="156599"/>
                        </a:lnTo>
                        <a:close/>
                      </a:path>
                    </a:pathLst>
                  </a:custGeom>
                  <a:solidFill>
                    <a:srgbClr val="BEC0C1"/>
                  </a:solidFill>
                </p:spPr>
                <p:txBody>
                  <a:bodyPr wrap="square" lIns="0" tIns="0" rIns="0" bIns="0" rtlCol="0"/>
                  <a:lstStyle/>
                  <a:p>
                    <a:endParaRPr/>
                  </a:p>
                </p:txBody>
              </p:sp>
              <p:sp>
                <p:nvSpPr>
                  <p:cNvPr id="48" name="object 6">
                    <a:extLst>
                      <a:ext uri="{FF2B5EF4-FFF2-40B4-BE49-F238E27FC236}">
                        <a16:creationId xmlns:a16="http://schemas.microsoft.com/office/drawing/2014/main" id="{A38748D1-E391-3F11-1627-E0731345BA08}"/>
                      </a:ext>
                    </a:extLst>
                  </p:cNvPr>
                  <p:cNvSpPr/>
                  <p:nvPr/>
                </p:nvSpPr>
                <p:spPr>
                  <a:xfrm>
                    <a:off x="653875" y="2424400"/>
                    <a:ext cx="2473325" cy="208915"/>
                  </a:xfrm>
                  <a:custGeom>
                    <a:avLst/>
                    <a:gdLst/>
                    <a:ahLst/>
                    <a:cxnLst/>
                    <a:rect l="l" t="t" r="r" b="b"/>
                    <a:pathLst>
                      <a:path w="2473325" h="208914">
                        <a:moveTo>
                          <a:pt x="0" y="208799"/>
                        </a:moveTo>
                        <a:lnTo>
                          <a:pt x="0" y="91349"/>
                        </a:lnTo>
                        <a:lnTo>
                          <a:pt x="7178" y="55792"/>
                        </a:lnTo>
                        <a:lnTo>
                          <a:pt x="26755" y="26755"/>
                        </a:lnTo>
                        <a:lnTo>
                          <a:pt x="55792" y="7178"/>
                        </a:lnTo>
                        <a:lnTo>
                          <a:pt x="91349" y="0"/>
                        </a:lnTo>
                        <a:lnTo>
                          <a:pt x="2355749" y="0"/>
                        </a:lnTo>
                        <a:lnTo>
                          <a:pt x="2406430" y="15347"/>
                        </a:lnTo>
                        <a:lnTo>
                          <a:pt x="2440146" y="56391"/>
                        </a:lnTo>
                        <a:lnTo>
                          <a:pt x="2447099" y="91349"/>
                        </a:lnTo>
                        <a:lnTo>
                          <a:pt x="2447099" y="104399"/>
                        </a:lnTo>
                        <a:lnTo>
                          <a:pt x="2473199" y="104399"/>
                        </a:lnTo>
                        <a:lnTo>
                          <a:pt x="2420999" y="156599"/>
                        </a:lnTo>
                        <a:lnTo>
                          <a:pt x="2368799" y="104399"/>
                        </a:lnTo>
                        <a:lnTo>
                          <a:pt x="2394899" y="104399"/>
                        </a:lnTo>
                        <a:lnTo>
                          <a:pt x="2394899" y="91349"/>
                        </a:lnTo>
                        <a:lnTo>
                          <a:pt x="2391823" y="76111"/>
                        </a:lnTo>
                        <a:lnTo>
                          <a:pt x="2383433" y="63666"/>
                        </a:lnTo>
                        <a:lnTo>
                          <a:pt x="2370988" y="55276"/>
                        </a:lnTo>
                        <a:lnTo>
                          <a:pt x="2355749" y="52199"/>
                        </a:lnTo>
                        <a:lnTo>
                          <a:pt x="91349" y="52199"/>
                        </a:lnTo>
                        <a:lnTo>
                          <a:pt x="76111" y="55276"/>
                        </a:lnTo>
                        <a:lnTo>
                          <a:pt x="63666" y="63666"/>
                        </a:lnTo>
                        <a:lnTo>
                          <a:pt x="55276" y="76111"/>
                        </a:lnTo>
                        <a:lnTo>
                          <a:pt x="52199" y="91349"/>
                        </a:lnTo>
                        <a:lnTo>
                          <a:pt x="52199" y="208799"/>
                        </a:lnTo>
                        <a:lnTo>
                          <a:pt x="0" y="208799"/>
                        </a:lnTo>
                        <a:close/>
                      </a:path>
                    </a:pathLst>
                  </a:custGeom>
                  <a:ln w="9524">
                    <a:solidFill>
                      <a:srgbClr val="0F2044"/>
                    </a:solidFill>
                  </a:ln>
                </p:spPr>
                <p:txBody>
                  <a:bodyPr wrap="square" lIns="0" tIns="0" rIns="0" bIns="0" rtlCol="0"/>
                  <a:lstStyle/>
                  <a:p>
                    <a:endParaRPr/>
                  </a:p>
                </p:txBody>
              </p:sp>
            </p:grpSp>
            <p:grpSp>
              <p:nvGrpSpPr>
                <p:cNvPr id="37" name="object 7">
                  <a:extLst>
                    <a:ext uri="{FF2B5EF4-FFF2-40B4-BE49-F238E27FC236}">
                      <a16:creationId xmlns:a16="http://schemas.microsoft.com/office/drawing/2014/main" id="{58B9CCD9-BA2B-716D-3EBB-4DCEB2B1FCFE}"/>
                    </a:ext>
                  </a:extLst>
                </p:cNvPr>
                <p:cNvGrpSpPr/>
                <p:nvPr/>
              </p:nvGrpSpPr>
              <p:grpSpPr>
                <a:xfrm>
                  <a:off x="3182762" y="2419637"/>
                  <a:ext cx="2347595" cy="218440"/>
                  <a:chOff x="3182762" y="2419637"/>
                  <a:chExt cx="2347595" cy="218440"/>
                </a:xfrm>
              </p:grpSpPr>
              <p:sp>
                <p:nvSpPr>
                  <p:cNvPr id="45" name="object 8">
                    <a:extLst>
                      <a:ext uri="{FF2B5EF4-FFF2-40B4-BE49-F238E27FC236}">
                        <a16:creationId xmlns:a16="http://schemas.microsoft.com/office/drawing/2014/main" id="{5EFD3A9E-0E3B-98FB-3671-439BC1FB882F}"/>
                      </a:ext>
                    </a:extLst>
                  </p:cNvPr>
                  <p:cNvSpPr/>
                  <p:nvPr/>
                </p:nvSpPr>
                <p:spPr>
                  <a:xfrm>
                    <a:off x="3187524" y="2424400"/>
                    <a:ext cx="2338070" cy="208915"/>
                  </a:xfrm>
                  <a:custGeom>
                    <a:avLst/>
                    <a:gdLst/>
                    <a:ahLst/>
                    <a:cxnLst/>
                    <a:rect l="l" t="t" r="r" b="b"/>
                    <a:pathLst>
                      <a:path w="2338070" h="208914">
                        <a:moveTo>
                          <a:pt x="52199" y="208799"/>
                        </a:moveTo>
                        <a:lnTo>
                          <a:pt x="0" y="208799"/>
                        </a:lnTo>
                        <a:lnTo>
                          <a:pt x="0" y="91349"/>
                        </a:lnTo>
                        <a:lnTo>
                          <a:pt x="7057" y="56391"/>
                        </a:lnTo>
                        <a:lnTo>
                          <a:pt x="7178" y="55792"/>
                        </a:lnTo>
                        <a:lnTo>
                          <a:pt x="26755" y="26755"/>
                        </a:lnTo>
                        <a:lnTo>
                          <a:pt x="55792" y="7178"/>
                        </a:lnTo>
                        <a:lnTo>
                          <a:pt x="91349" y="0"/>
                        </a:lnTo>
                        <a:lnTo>
                          <a:pt x="2220149" y="0"/>
                        </a:lnTo>
                        <a:lnTo>
                          <a:pt x="2270831" y="15347"/>
                        </a:lnTo>
                        <a:lnTo>
                          <a:pt x="2302308" y="52199"/>
                        </a:lnTo>
                        <a:lnTo>
                          <a:pt x="91349" y="52199"/>
                        </a:lnTo>
                        <a:lnTo>
                          <a:pt x="76111" y="55276"/>
                        </a:lnTo>
                        <a:lnTo>
                          <a:pt x="63666" y="63666"/>
                        </a:lnTo>
                        <a:lnTo>
                          <a:pt x="55276" y="76111"/>
                        </a:lnTo>
                        <a:lnTo>
                          <a:pt x="52199" y="91349"/>
                        </a:lnTo>
                        <a:lnTo>
                          <a:pt x="52199" y="208799"/>
                        </a:lnTo>
                        <a:close/>
                      </a:path>
                      <a:path w="2338070" h="208914">
                        <a:moveTo>
                          <a:pt x="2311499" y="104399"/>
                        </a:moveTo>
                        <a:lnTo>
                          <a:pt x="2259299" y="104399"/>
                        </a:lnTo>
                        <a:lnTo>
                          <a:pt x="2259299" y="91349"/>
                        </a:lnTo>
                        <a:lnTo>
                          <a:pt x="2256223" y="76111"/>
                        </a:lnTo>
                        <a:lnTo>
                          <a:pt x="2247833" y="63666"/>
                        </a:lnTo>
                        <a:lnTo>
                          <a:pt x="2235388" y="55276"/>
                        </a:lnTo>
                        <a:lnTo>
                          <a:pt x="2220149" y="52199"/>
                        </a:lnTo>
                        <a:lnTo>
                          <a:pt x="2302308" y="52199"/>
                        </a:lnTo>
                        <a:lnTo>
                          <a:pt x="2304546" y="56391"/>
                        </a:lnTo>
                        <a:lnTo>
                          <a:pt x="2309728" y="73445"/>
                        </a:lnTo>
                        <a:lnTo>
                          <a:pt x="2311499" y="91349"/>
                        </a:lnTo>
                        <a:lnTo>
                          <a:pt x="2311499" y="104399"/>
                        </a:lnTo>
                        <a:close/>
                      </a:path>
                      <a:path w="2338070" h="208914">
                        <a:moveTo>
                          <a:pt x="2285399" y="156599"/>
                        </a:moveTo>
                        <a:lnTo>
                          <a:pt x="2233199" y="104399"/>
                        </a:lnTo>
                        <a:lnTo>
                          <a:pt x="2337599" y="104399"/>
                        </a:lnTo>
                        <a:lnTo>
                          <a:pt x="2285399" y="156599"/>
                        </a:lnTo>
                        <a:close/>
                      </a:path>
                    </a:pathLst>
                  </a:custGeom>
                  <a:solidFill>
                    <a:srgbClr val="BEC0C1"/>
                  </a:solidFill>
                </p:spPr>
                <p:txBody>
                  <a:bodyPr wrap="square" lIns="0" tIns="0" rIns="0" bIns="0" rtlCol="0"/>
                  <a:lstStyle/>
                  <a:p>
                    <a:endParaRPr/>
                  </a:p>
                </p:txBody>
              </p:sp>
              <p:sp>
                <p:nvSpPr>
                  <p:cNvPr id="46" name="object 9">
                    <a:extLst>
                      <a:ext uri="{FF2B5EF4-FFF2-40B4-BE49-F238E27FC236}">
                        <a16:creationId xmlns:a16="http://schemas.microsoft.com/office/drawing/2014/main" id="{30F634D2-03A8-9EE7-30BC-02708BA6AF41}"/>
                      </a:ext>
                    </a:extLst>
                  </p:cNvPr>
                  <p:cNvSpPr/>
                  <p:nvPr/>
                </p:nvSpPr>
                <p:spPr>
                  <a:xfrm>
                    <a:off x="3187525" y="2424400"/>
                    <a:ext cx="2338070" cy="208915"/>
                  </a:xfrm>
                  <a:custGeom>
                    <a:avLst/>
                    <a:gdLst/>
                    <a:ahLst/>
                    <a:cxnLst/>
                    <a:rect l="l" t="t" r="r" b="b"/>
                    <a:pathLst>
                      <a:path w="2338070" h="208914">
                        <a:moveTo>
                          <a:pt x="0" y="208799"/>
                        </a:moveTo>
                        <a:lnTo>
                          <a:pt x="0" y="91349"/>
                        </a:lnTo>
                        <a:lnTo>
                          <a:pt x="7178" y="55792"/>
                        </a:lnTo>
                        <a:lnTo>
                          <a:pt x="26755" y="26755"/>
                        </a:lnTo>
                        <a:lnTo>
                          <a:pt x="55792" y="7178"/>
                        </a:lnTo>
                        <a:lnTo>
                          <a:pt x="91349" y="0"/>
                        </a:lnTo>
                        <a:lnTo>
                          <a:pt x="2220149" y="0"/>
                        </a:lnTo>
                        <a:lnTo>
                          <a:pt x="2270831" y="15347"/>
                        </a:lnTo>
                        <a:lnTo>
                          <a:pt x="2304546" y="56391"/>
                        </a:lnTo>
                        <a:lnTo>
                          <a:pt x="2311499" y="91349"/>
                        </a:lnTo>
                        <a:lnTo>
                          <a:pt x="2311499" y="104399"/>
                        </a:lnTo>
                        <a:lnTo>
                          <a:pt x="2337599" y="104399"/>
                        </a:lnTo>
                        <a:lnTo>
                          <a:pt x="2285399" y="156599"/>
                        </a:lnTo>
                        <a:lnTo>
                          <a:pt x="2233199" y="104399"/>
                        </a:lnTo>
                        <a:lnTo>
                          <a:pt x="2259299" y="104399"/>
                        </a:lnTo>
                        <a:lnTo>
                          <a:pt x="2259299" y="91349"/>
                        </a:lnTo>
                        <a:lnTo>
                          <a:pt x="2256223" y="76111"/>
                        </a:lnTo>
                        <a:lnTo>
                          <a:pt x="2247833" y="63666"/>
                        </a:lnTo>
                        <a:lnTo>
                          <a:pt x="2235388" y="55276"/>
                        </a:lnTo>
                        <a:lnTo>
                          <a:pt x="2220149" y="52199"/>
                        </a:lnTo>
                        <a:lnTo>
                          <a:pt x="91349" y="52199"/>
                        </a:lnTo>
                        <a:lnTo>
                          <a:pt x="76111" y="55276"/>
                        </a:lnTo>
                        <a:lnTo>
                          <a:pt x="63666" y="63666"/>
                        </a:lnTo>
                        <a:lnTo>
                          <a:pt x="55276" y="76111"/>
                        </a:lnTo>
                        <a:lnTo>
                          <a:pt x="52199" y="91349"/>
                        </a:lnTo>
                        <a:lnTo>
                          <a:pt x="52199" y="208799"/>
                        </a:lnTo>
                        <a:lnTo>
                          <a:pt x="0" y="208799"/>
                        </a:lnTo>
                        <a:close/>
                      </a:path>
                    </a:pathLst>
                  </a:custGeom>
                  <a:ln w="9524">
                    <a:solidFill>
                      <a:srgbClr val="0F2044"/>
                    </a:solidFill>
                  </a:ln>
                </p:spPr>
                <p:txBody>
                  <a:bodyPr wrap="square" lIns="0" tIns="0" rIns="0" bIns="0" rtlCol="0"/>
                  <a:lstStyle/>
                  <a:p>
                    <a:endParaRPr/>
                  </a:p>
                </p:txBody>
              </p:sp>
            </p:grpSp>
            <p:grpSp>
              <p:nvGrpSpPr>
                <p:cNvPr id="38" name="object 10">
                  <a:extLst>
                    <a:ext uri="{FF2B5EF4-FFF2-40B4-BE49-F238E27FC236}">
                      <a16:creationId xmlns:a16="http://schemas.microsoft.com/office/drawing/2014/main" id="{3A1D4384-0591-6BC5-8FB0-F058409920E3}"/>
                    </a:ext>
                  </a:extLst>
                </p:cNvPr>
                <p:cNvGrpSpPr/>
                <p:nvPr/>
              </p:nvGrpSpPr>
              <p:grpSpPr>
                <a:xfrm>
                  <a:off x="5655962" y="2419637"/>
                  <a:ext cx="3558540" cy="218440"/>
                  <a:chOff x="5655962" y="2419637"/>
                  <a:chExt cx="3558540" cy="218440"/>
                </a:xfrm>
              </p:grpSpPr>
              <p:sp>
                <p:nvSpPr>
                  <p:cNvPr id="43" name="object 11">
                    <a:extLst>
                      <a:ext uri="{FF2B5EF4-FFF2-40B4-BE49-F238E27FC236}">
                        <a16:creationId xmlns:a16="http://schemas.microsoft.com/office/drawing/2014/main" id="{568D9FEE-DCB4-DD8E-EE3D-3F1A26BAB7EF}"/>
                      </a:ext>
                    </a:extLst>
                  </p:cNvPr>
                  <p:cNvSpPr/>
                  <p:nvPr/>
                </p:nvSpPr>
                <p:spPr>
                  <a:xfrm>
                    <a:off x="5660724" y="2424400"/>
                    <a:ext cx="3549015" cy="208915"/>
                  </a:xfrm>
                  <a:custGeom>
                    <a:avLst/>
                    <a:gdLst/>
                    <a:ahLst/>
                    <a:cxnLst/>
                    <a:rect l="l" t="t" r="r" b="b"/>
                    <a:pathLst>
                      <a:path w="3549015" h="208914">
                        <a:moveTo>
                          <a:pt x="52199" y="208799"/>
                        </a:moveTo>
                        <a:lnTo>
                          <a:pt x="0" y="208799"/>
                        </a:lnTo>
                        <a:lnTo>
                          <a:pt x="0" y="91349"/>
                        </a:lnTo>
                        <a:lnTo>
                          <a:pt x="7057" y="56391"/>
                        </a:lnTo>
                        <a:lnTo>
                          <a:pt x="7178" y="55792"/>
                        </a:lnTo>
                        <a:lnTo>
                          <a:pt x="26755" y="26755"/>
                        </a:lnTo>
                        <a:lnTo>
                          <a:pt x="55792" y="7178"/>
                        </a:lnTo>
                        <a:lnTo>
                          <a:pt x="91349" y="0"/>
                        </a:lnTo>
                        <a:lnTo>
                          <a:pt x="3431549" y="0"/>
                        </a:lnTo>
                        <a:lnTo>
                          <a:pt x="3482231" y="15347"/>
                        </a:lnTo>
                        <a:lnTo>
                          <a:pt x="3513708" y="52199"/>
                        </a:lnTo>
                        <a:lnTo>
                          <a:pt x="91349" y="52199"/>
                        </a:lnTo>
                        <a:lnTo>
                          <a:pt x="76111" y="55276"/>
                        </a:lnTo>
                        <a:lnTo>
                          <a:pt x="63666" y="63666"/>
                        </a:lnTo>
                        <a:lnTo>
                          <a:pt x="55276" y="76111"/>
                        </a:lnTo>
                        <a:lnTo>
                          <a:pt x="52199" y="91349"/>
                        </a:lnTo>
                        <a:lnTo>
                          <a:pt x="52199" y="208799"/>
                        </a:lnTo>
                        <a:close/>
                      </a:path>
                      <a:path w="3549015" h="208914">
                        <a:moveTo>
                          <a:pt x="3522899" y="104399"/>
                        </a:moveTo>
                        <a:lnTo>
                          <a:pt x="3470699" y="104399"/>
                        </a:lnTo>
                        <a:lnTo>
                          <a:pt x="3470699" y="91349"/>
                        </a:lnTo>
                        <a:lnTo>
                          <a:pt x="3467623" y="76111"/>
                        </a:lnTo>
                        <a:lnTo>
                          <a:pt x="3459233" y="63666"/>
                        </a:lnTo>
                        <a:lnTo>
                          <a:pt x="3446788" y="55276"/>
                        </a:lnTo>
                        <a:lnTo>
                          <a:pt x="3431549" y="52199"/>
                        </a:lnTo>
                        <a:lnTo>
                          <a:pt x="3513708" y="52199"/>
                        </a:lnTo>
                        <a:lnTo>
                          <a:pt x="3515946" y="56391"/>
                        </a:lnTo>
                        <a:lnTo>
                          <a:pt x="3521128" y="73445"/>
                        </a:lnTo>
                        <a:lnTo>
                          <a:pt x="3522899" y="91349"/>
                        </a:lnTo>
                        <a:lnTo>
                          <a:pt x="3522899" y="104399"/>
                        </a:lnTo>
                        <a:close/>
                      </a:path>
                      <a:path w="3549015" h="208914">
                        <a:moveTo>
                          <a:pt x="3496799" y="156599"/>
                        </a:moveTo>
                        <a:lnTo>
                          <a:pt x="3444599" y="104399"/>
                        </a:lnTo>
                        <a:lnTo>
                          <a:pt x="3548999" y="104399"/>
                        </a:lnTo>
                        <a:lnTo>
                          <a:pt x="3496799" y="156599"/>
                        </a:lnTo>
                        <a:close/>
                      </a:path>
                    </a:pathLst>
                  </a:custGeom>
                  <a:solidFill>
                    <a:srgbClr val="BEC0C1"/>
                  </a:solidFill>
                </p:spPr>
                <p:txBody>
                  <a:bodyPr wrap="square" lIns="0" tIns="0" rIns="0" bIns="0" rtlCol="0"/>
                  <a:lstStyle/>
                  <a:p>
                    <a:endParaRPr/>
                  </a:p>
                </p:txBody>
              </p:sp>
              <p:sp>
                <p:nvSpPr>
                  <p:cNvPr id="44" name="object 12">
                    <a:extLst>
                      <a:ext uri="{FF2B5EF4-FFF2-40B4-BE49-F238E27FC236}">
                        <a16:creationId xmlns:a16="http://schemas.microsoft.com/office/drawing/2014/main" id="{12C4F9BC-425C-83C7-CBC9-EE8BBB560FCC}"/>
                      </a:ext>
                    </a:extLst>
                  </p:cNvPr>
                  <p:cNvSpPr/>
                  <p:nvPr/>
                </p:nvSpPr>
                <p:spPr>
                  <a:xfrm>
                    <a:off x="5660725" y="2424400"/>
                    <a:ext cx="3549015" cy="208915"/>
                  </a:xfrm>
                  <a:custGeom>
                    <a:avLst/>
                    <a:gdLst/>
                    <a:ahLst/>
                    <a:cxnLst/>
                    <a:rect l="l" t="t" r="r" b="b"/>
                    <a:pathLst>
                      <a:path w="3549015" h="208914">
                        <a:moveTo>
                          <a:pt x="0" y="208799"/>
                        </a:moveTo>
                        <a:lnTo>
                          <a:pt x="0" y="91349"/>
                        </a:lnTo>
                        <a:lnTo>
                          <a:pt x="7178" y="55792"/>
                        </a:lnTo>
                        <a:lnTo>
                          <a:pt x="26755" y="26755"/>
                        </a:lnTo>
                        <a:lnTo>
                          <a:pt x="55792" y="7178"/>
                        </a:lnTo>
                        <a:lnTo>
                          <a:pt x="91349" y="0"/>
                        </a:lnTo>
                        <a:lnTo>
                          <a:pt x="3431549" y="0"/>
                        </a:lnTo>
                        <a:lnTo>
                          <a:pt x="3482231" y="15347"/>
                        </a:lnTo>
                        <a:lnTo>
                          <a:pt x="3515946" y="56391"/>
                        </a:lnTo>
                        <a:lnTo>
                          <a:pt x="3522899" y="91349"/>
                        </a:lnTo>
                        <a:lnTo>
                          <a:pt x="3522899" y="104399"/>
                        </a:lnTo>
                        <a:lnTo>
                          <a:pt x="3548999" y="104399"/>
                        </a:lnTo>
                        <a:lnTo>
                          <a:pt x="3496799" y="156599"/>
                        </a:lnTo>
                        <a:lnTo>
                          <a:pt x="3444599" y="104399"/>
                        </a:lnTo>
                        <a:lnTo>
                          <a:pt x="3470699" y="104399"/>
                        </a:lnTo>
                        <a:lnTo>
                          <a:pt x="3470699" y="91349"/>
                        </a:lnTo>
                        <a:lnTo>
                          <a:pt x="3467623" y="76111"/>
                        </a:lnTo>
                        <a:lnTo>
                          <a:pt x="3459233" y="63666"/>
                        </a:lnTo>
                        <a:lnTo>
                          <a:pt x="3446788" y="55276"/>
                        </a:lnTo>
                        <a:lnTo>
                          <a:pt x="3431549" y="52199"/>
                        </a:lnTo>
                        <a:lnTo>
                          <a:pt x="91349" y="52199"/>
                        </a:lnTo>
                        <a:lnTo>
                          <a:pt x="76111" y="55276"/>
                        </a:lnTo>
                        <a:lnTo>
                          <a:pt x="63666" y="63666"/>
                        </a:lnTo>
                        <a:lnTo>
                          <a:pt x="55276" y="76111"/>
                        </a:lnTo>
                        <a:lnTo>
                          <a:pt x="52199" y="91349"/>
                        </a:lnTo>
                        <a:lnTo>
                          <a:pt x="52199" y="208799"/>
                        </a:lnTo>
                        <a:lnTo>
                          <a:pt x="0" y="208799"/>
                        </a:lnTo>
                        <a:close/>
                      </a:path>
                    </a:pathLst>
                  </a:custGeom>
                  <a:ln w="9524">
                    <a:solidFill>
                      <a:srgbClr val="0F2044"/>
                    </a:solidFill>
                  </a:ln>
                </p:spPr>
                <p:txBody>
                  <a:bodyPr wrap="square" lIns="0" tIns="0" rIns="0" bIns="0" rtlCol="0"/>
                  <a:lstStyle/>
                  <a:p>
                    <a:endParaRPr/>
                  </a:p>
                </p:txBody>
              </p:sp>
            </p:grpSp>
            <p:grpSp>
              <p:nvGrpSpPr>
                <p:cNvPr id="39" name="object 13">
                  <a:extLst>
                    <a:ext uri="{FF2B5EF4-FFF2-40B4-BE49-F238E27FC236}">
                      <a16:creationId xmlns:a16="http://schemas.microsoft.com/office/drawing/2014/main" id="{2D42796B-D476-B7C9-28D5-64897B84EE9C}"/>
                    </a:ext>
                  </a:extLst>
                </p:cNvPr>
                <p:cNvGrpSpPr/>
                <p:nvPr/>
              </p:nvGrpSpPr>
              <p:grpSpPr>
                <a:xfrm>
                  <a:off x="9296887" y="2419637"/>
                  <a:ext cx="1221105" cy="218440"/>
                  <a:chOff x="9296887" y="2419637"/>
                  <a:chExt cx="1221105" cy="218440"/>
                </a:xfrm>
              </p:grpSpPr>
              <p:sp>
                <p:nvSpPr>
                  <p:cNvPr id="41" name="object 14">
                    <a:extLst>
                      <a:ext uri="{FF2B5EF4-FFF2-40B4-BE49-F238E27FC236}">
                        <a16:creationId xmlns:a16="http://schemas.microsoft.com/office/drawing/2014/main" id="{EB745942-B7E3-039E-FFD4-799BA4B2E435}"/>
                      </a:ext>
                    </a:extLst>
                  </p:cNvPr>
                  <p:cNvSpPr/>
                  <p:nvPr/>
                </p:nvSpPr>
                <p:spPr>
                  <a:xfrm>
                    <a:off x="9301650" y="2424400"/>
                    <a:ext cx="1211580" cy="208915"/>
                  </a:xfrm>
                  <a:custGeom>
                    <a:avLst/>
                    <a:gdLst/>
                    <a:ahLst/>
                    <a:cxnLst/>
                    <a:rect l="l" t="t" r="r" b="b"/>
                    <a:pathLst>
                      <a:path w="1211579" h="208914">
                        <a:moveTo>
                          <a:pt x="52199" y="208799"/>
                        </a:moveTo>
                        <a:lnTo>
                          <a:pt x="0" y="208799"/>
                        </a:lnTo>
                        <a:lnTo>
                          <a:pt x="0" y="91349"/>
                        </a:lnTo>
                        <a:lnTo>
                          <a:pt x="26755" y="26755"/>
                        </a:lnTo>
                        <a:lnTo>
                          <a:pt x="91349" y="0"/>
                        </a:lnTo>
                        <a:lnTo>
                          <a:pt x="1093949" y="0"/>
                        </a:lnTo>
                        <a:lnTo>
                          <a:pt x="1144631" y="15347"/>
                        </a:lnTo>
                        <a:lnTo>
                          <a:pt x="1176108" y="52199"/>
                        </a:lnTo>
                        <a:lnTo>
                          <a:pt x="91349" y="52199"/>
                        </a:lnTo>
                        <a:lnTo>
                          <a:pt x="76111" y="55276"/>
                        </a:lnTo>
                        <a:lnTo>
                          <a:pt x="63666" y="63666"/>
                        </a:lnTo>
                        <a:lnTo>
                          <a:pt x="55276" y="76111"/>
                        </a:lnTo>
                        <a:lnTo>
                          <a:pt x="52199" y="91349"/>
                        </a:lnTo>
                        <a:lnTo>
                          <a:pt x="52199" y="208799"/>
                        </a:lnTo>
                        <a:close/>
                      </a:path>
                      <a:path w="1211579" h="208914">
                        <a:moveTo>
                          <a:pt x="1185299" y="104399"/>
                        </a:moveTo>
                        <a:lnTo>
                          <a:pt x="1133099" y="104399"/>
                        </a:lnTo>
                        <a:lnTo>
                          <a:pt x="1133099" y="91349"/>
                        </a:lnTo>
                        <a:lnTo>
                          <a:pt x="1130023" y="76111"/>
                        </a:lnTo>
                        <a:lnTo>
                          <a:pt x="1121633" y="63666"/>
                        </a:lnTo>
                        <a:lnTo>
                          <a:pt x="1109188" y="55276"/>
                        </a:lnTo>
                        <a:lnTo>
                          <a:pt x="1093949" y="52199"/>
                        </a:lnTo>
                        <a:lnTo>
                          <a:pt x="1176108" y="52199"/>
                        </a:lnTo>
                        <a:lnTo>
                          <a:pt x="1178346" y="56391"/>
                        </a:lnTo>
                        <a:lnTo>
                          <a:pt x="1183528" y="73445"/>
                        </a:lnTo>
                        <a:lnTo>
                          <a:pt x="1185299" y="91349"/>
                        </a:lnTo>
                        <a:lnTo>
                          <a:pt x="1185299" y="104399"/>
                        </a:lnTo>
                        <a:close/>
                      </a:path>
                      <a:path w="1211579" h="208914">
                        <a:moveTo>
                          <a:pt x="1159199" y="156599"/>
                        </a:moveTo>
                        <a:lnTo>
                          <a:pt x="1106999" y="104399"/>
                        </a:lnTo>
                        <a:lnTo>
                          <a:pt x="1211399" y="104399"/>
                        </a:lnTo>
                        <a:lnTo>
                          <a:pt x="1159199" y="156599"/>
                        </a:lnTo>
                        <a:close/>
                      </a:path>
                    </a:pathLst>
                  </a:custGeom>
                  <a:solidFill>
                    <a:srgbClr val="BEC0C1"/>
                  </a:solidFill>
                </p:spPr>
                <p:txBody>
                  <a:bodyPr wrap="square" lIns="0" tIns="0" rIns="0" bIns="0" rtlCol="0"/>
                  <a:lstStyle/>
                  <a:p>
                    <a:endParaRPr/>
                  </a:p>
                </p:txBody>
              </p:sp>
              <p:sp>
                <p:nvSpPr>
                  <p:cNvPr id="42" name="object 15">
                    <a:extLst>
                      <a:ext uri="{FF2B5EF4-FFF2-40B4-BE49-F238E27FC236}">
                        <a16:creationId xmlns:a16="http://schemas.microsoft.com/office/drawing/2014/main" id="{B3729173-8705-88A3-4D69-1CC8F6E9BF1F}"/>
                      </a:ext>
                    </a:extLst>
                  </p:cNvPr>
                  <p:cNvSpPr/>
                  <p:nvPr/>
                </p:nvSpPr>
                <p:spPr>
                  <a:xfrm>
                    <a:off x="9301650" y="2424400"/>
                    <a:ext cx="1211580" cy="208915"/>
                  </a:xfrm>
                  <a:custGeom>
                    <a:avLst/>
                    <a:gdLst/>
                    <a:ahLst/>
                    <a:cxnLst/>
                    <a:rect l="l" t="t" r="r" b="b"/>
                    <a:pathLst>
                      <a:path w="1211579" h="208914">
                        <a:moveTo>
                          <a:pt x="0" y="208799"/>
                        </a:moveTo>
                        <a:lnTo>
                          <a:pt x="0" y="91349"/>
                        </a:lnTo>
                        <a:lnTo>
                          <a:pt x="7178" y="55792"/>
                        </a:lnTo>
                        <a:lnTo>
                          <a:pt x="26755" y="26755"/>
                        </a:lnTo>
                        <a:lnTo>
                          <a:pt x="55792" y="7178"/>
                        </a:lnTo>
                        <a:lnTo>
                          <a:pt x="91349" y="0"/>
                        </a:lnTo>
                        <a:lnTo>
                          <a:pt x="1093949" y="0"/>
                        </a:lnTo>
                        <a:lnTo>
                          <a:pt x="1144631" y="15347"/>
                        </a:lnTo>
                        <a:lnTo>
                          <a:pt x="1178346" y="56391"/>
                        </a:lnTo>
                        <a:lnTo>
                          <a:pt x="1185299" y="91349"/>
                        </a:lnTo>
                        <a:lnTo>
                          <a:pt x="1185299" y="104399"/>
                        </a:lnTo>
                        <a:lnTo>
                          <a:pt x="1211399" y="104399"/>
                        </a:lnTo>
                        <a:lnTo>
                          <a:pt x="1159199" y="156599"/>
                        </a:lnTo>
                        <a:lnTo>
                          <a:pt x="1106999" y="104399"/>
                        </a:lnTo>
                        <a:lnTo>
                          <a:pt x="1133099" y="104399"/>
                        </a:lnTo>
                        <a:lnTo>
                          <a:pt x="1133099" y="91349"/>
                        </a:lnTo>
                        <a:lnTo>
                          <a:pt x="1130023" y="76111"/>
                        </a:lnTo>
                        <a:lnTo>
                          <a:pt x="1121633" y="63666"/>
                        </a:lnTo>
                        <a:lnTo>
                          <a:pt x="1109188" y="55276"/>
                        </a:lnTo>
                        <a:lnTo>
                          <a:pt x="1093949" y="52199"/>
                        </a:lnTo>
                        <a:lnTo>
                          <a:pt x="91349" y="52199"/>
                        </a:lnTo>
                        <a:lnTo>
                          <a:pt x="76111" y="55276"/>
                        </a:lnTo>
                        <a:lnTo>
                          <a:pt x="63666" y="63666"/>
                        </a:lnTo>
                        <a:lnTo>
                          <a:pt x="55276" y="76111"/>
                        </a:lnTo>
                        <a:lnTo>
                          <a:pt x="52199" y="91349"/>
                        </a:lnTo>
                        <a:lnTo>
                          <a:pt x="52199" y="208799"/>
                        </a:lnTo>
                        <a:lnTo>
                          <a:pt x="0" y="208799"/>
                        </a:lnTo>
                        <a:close/>
                      </a:path>
                    </a:pathLst>
                  </a:custGeom>
                  <a:ln w="9524">
                    <a:solidFill>
                      <a:srgbClr val="0F2044"/>
                    </a:solidFill>
                  </a:ln>
                </p:spPr>
                <p:txBody>
                  <a:bodyPr wrap="square" lIns="0" tIns="0" rIns="0" bIns="0" rtlCol="0"/>
                  <a:lstStyle/>
                  <a:p>
                    <a:endParaRPr/>
                  </a:p>
                </p:txBody>
              </p:sp>
            </p:grpSp>
            <p:pic>
              <p:nvPicPr>
                <p:cNvPr id="40" name="Picture 39">
                  <a:extLst>
                    <a:ext uri="{FF2B5EF4-FFF2-40B4-BE49-F238E27FC236}">
                      <a16:creationId xmlns:a16="http://schemas.microsoft.com/office/drawing/2014/main" id="{FD6AF2EC-D802-A6CE-69B8-BD3945E34653}"/>
                    </a:ext>
                  </a:extLst>
                </p:cNvPr>
                <p:cNvPicPr>
                  <a:picLocks noChangeAspect="1"/>
                </p:cNvPicPr>
                <p:nvPr/>
              </p:nvPicPr>
              <p:blipFill>
                <a:blip r:embed="rId2"/>
                <a:stretch>
                  <a:fillRect/>
                </a:stretch>
              </p:blipFill>
              <p:spPr>
                <a:xfrm>
                  <a:off x="434970" y="2819360"/>
                  <a:ext cx="10309230" cy="457240"/>
                </a:xfrm>
                <a:prstGeom prst="rect">
                  <a:avLst/>
                </a:prstGeom>
              </p:spPr>
            </p:pic>
          </p:grpSp>
          <p:sp>
            <p:nvSpPr>
              <p:cNvPr id="49" name="object 21">
                <a:extLst>
                  <a:ext uri="{FF2B5EF4-FFF2-40B4-BE49-F238E27FC236}">
                    <a16:creationId xmlns:a16="http://schemas.microsoft.com/office/drawing/2014/main" id="{E87507E3-32C6-0E9F-43E7-B443C4F52013}"/>
                  </a:ext>
                </a:extLst>
              </p:cNvPr>
              <p:cNvSpPr txBox="1"/>
              <p:nvPr/>
            </p:nvSpPr>
            <p:spPr>
              <a:xfrm>
                <a:off x="7327550" y="3521796"/>
                <a:ext cx="818230" cy="259045"/>
              </a:xfrm>
              <a:prstGeom prst="rect">
                <a:avLst/>
              </a:prstGeom>
            </p:spPr>
            <p:txBody>
              <a:bodyPr vert="horz" wrap="square" lIns="0" tIns="12700" rIns="0" bIns="0" rtlCol="0">
                <a:spAutoFit/>
              </a:bodyPr>
              <a:lstStyle/>
              <a:p>
                <a:pPr marL="12700">
                  <a:lnSpc>
                    <a:spcPct val="100000"/>
                  </a:lnSpc>
                  <a:spcBef>
                    <a:spcPts val="100"/>
                  </a:spcBef>
                </a:pPr>
                <a:r>
                  <a:rPr sz="1600" spc="-10" dirty="0">
                    <a:solidFill>
                      <a:srgbClr val="0F2044"/>
                    </a:solidFill>
                    <a:latin typeface="Arial MT"/>
                    <a:cs typeface="Arial MT"/>
                  </a:rPr>
                  <a:t>splitting</a:t>
                </a:r>
                <a:endParaRPr sz="1600" dirty="0">
                  <a:latin typeface="Arial MT"/>
                  <a:cs typeface="Arial MT"/>
                </a:endParaRPr>
              </a:p>
            </p:txBody>
          </p:sp>
          <p:sp>
            <p:nvSpPr>
              <p:cNvPr id="50" name="object 23">
                <a:extLst>
                  <a:ext uri="{FF2B5EF4-FFF2-40B4-BE49-F238E27FC236}">
                    <a16:creationId xmlns:a16="http://schemas.microsoft.com/office/drawing/2014/main" id="{792B4FFA-54C3-A9F8-644F-9487037F1F9E}"/>
                  </a:ext>
                </a:extLst>
              </p:cNvPr>
              <p:cNvSpPr txBox="1"/>
              <p:nvPr/>
            </p:nvSpPr>
            <p:spPr>
              <a:xfrm>
                <a:off x="3276600" y="4815577"/>
                <a:ext cx="914400" cy="289823"/>
              </a:xfrm>
              <a:prstGeom prst="rect">
                <a:avLst/>
              </a:prstGeom>
            </p:spPr>
            <p:txBody>
              <a:bodyPr vert="horz" wrap="square" lIns="0" tIns="12700" rIns="0" bIns="0" rtlCol="0">
                <a:spAutoFit/>
              </a:bodyPr>
              <a:lstStyle/>
              <a:p>
                <a:pPr marL="12700">
                  <a:lnSpc>
                    <a:spcPct val="100000"/>
                  </a:lnSpc>
                  <a:spcBef>
                    <a:spcPts val="100"/>
                  </a:spcBef>
                </a:pPr>
                <a:r>
                  <a:rPr dirty="0">
                    <a:solidFill>
                      <a:srgbClr val="0F2044"/>
                    </a:solidFill>
                    <a:latin typeface="Arial" panose="020B0604020202020204" pitchFamily="34" charset="0"/>
                    <a:cs typeface="Arial" panose="020B0604020202020204" pitchFamily="34" charset="0"/>
                  </a:rPr>
                  <a:t>free</a:t>
                </a:r>
                <a:r>
                  <a:rPr spc="-20" dirty="0">
                    <a:solidFill>
                      <a:srgbClr val="0F2044"/>
                    </a:solidFill>
                    <a:latin typeface="Arial" panose="020B0604020202020204" pitchFamily="34" charset="0"/>
                    <a:cs typeface="Arial" panose="020B0604020202020204" pitchFamily="34" charset="0"/>
                  </a:rPr>
                  <a:t> </a:t>
                </a:r>
                <a:r>
                  <a:rPr spc="-25" dirty="0">
                    <a:solidFill>
                      <a:srgbClr val="0F2044"/>
                    </a:solidFill>
                    <a:latin typeface="Arial" panose="020B0604020202020204" pitchFamily="34" charset="0"/>
                    <a:cs typeface="Arial" panose="020B0604020202020204" pitchFamily="34" charset="0"/>
                  </a:rPr>
                  <a:t>(p</a:t>
                </a:r>
                <a:r>
                  <a:rPr lang="en-US" spc="-25" dirty="0">
                    <a:solidFill>
                      <a:srgbClr val="0F2044"/>
                    </a:solidFill>
                    <a:latin typeface="Arial" panose="020B0604020202020204" pitchFamily="34" charset="0"/>
                    <a:cs typeface="Arial" panose="020B0604020202020204" pitchFamily="34" charset="0"/>
                  </a:rPr>
                  <a:t>0</a:t>
                </a:r>
                <a:r>
                  <a:rPr spc="-25" dirty="0">
                    <a:solidFill>
                      <a:srgbClr val="0F2044"/>
                    </a:solidFill>
                    <a:latin typeface="Arial" panose="020B0604020202020204" pitchFamily="34" charset="0"/>
                    <a:cs typeface="Arial" panose="020B0604020202020204" pitchFamily="34" charset="0"/>
                  </a:rPr>
                  <a:t>)</a:t>
                </a:r>
                <a:endParaRPr dirty="0">
                  <a:latin typeface="Arial" panose="020B0604020202020204" pitchFamily="34" charset="0"/>
                  <a:cs typeface="Arial" panose="020B0604020202020204" pitchFamily="34" charset="0"/>
                </a:endParaRPr>
              </a:p>
            </p:txBody>
          </p:sp>
          <p:sp>
            <p:nvSpPr>
              <p:cNvPr id="51" name="object 25">
                <a:extLst>
                  <a:ext uri="{FF2B5EF4-FFF2-40B4-BE49-F238E27FC236}">
                    <a16:creationId xmlns:a16="http://schemas.microsoft.com/office/drawing/2014/main" id="{64A4FBD2-B25B-EDB1-A9BC-AF7E22265F9B}"/>
                  </a:ext>
                </a:extLst>
              </p:cNvPr>
              <p:cNvSpPr/>
              <p:nvPr/>
            </p:nvSpPr>
            <p:spPr>
              <a:xfrm>
                <a:off x="4413567" y="4978422"/>
                <a:ext cx="720090" cy="5080"/>
              </a:xfrm>
              <a:custGeom>
                <a:avLst/>
                <a:gdLst/>
                <a:ahLst/>
                <a:cxnLst/>
                <a:rect l="l" t="t" r="r" b="b"/>
                <a:pathLst>
                  <a:path w="720089" h="5079">
                    <a:moveTo>
                      <a:pt x="0" y="0"/>
                    </a:moveTo>
                    <a:lnTo>
                      <a:pt x="719851" y="4724"/>
                    </a:lnTo>
                  </a:path>
                </a:pathLst>
              </a:custGeom>
              <a:ln w="12700">
                <a:solidFill>
                  <a:srgbClr val="0F2044"/>
                </a:solidFill>
                <a:tailEnd type="triangle"/>
              </a:ln>
            </p:spPr>
            <p:txBody>
              <a:bodyPr wrap="square" lIns="0" tIns="0" rIns="0" bIns="0" rtlCol="0"/>
              <a:lstStyle/>
              <a:p>
                <a:endParaRPr/>
              </a:p>
            </p:txBody>
          </p:sp>
          <p:sp>
            <p:nvSpPr>
              <p:cNvPr id="52" name="object 33">
                <a:extLst>
                  <a:ext uri="{FF2B5EF4-FFF2-40B4-BE49-F238E27FC236}">
                    <a16:creationId xmlns:a16="http://schemas.microsoft.com/office/drawing/2014/main" id="{27E0CD4A-DE21-FA8A-D24C-9F11BF3C0213}"/>
                  </a:ext>
                </a:extLst>
              </p:cNvPr>
              <p:cNvSpPr txBox="1"/>
              <p:nvPr/>
            </p:nvSpPr>
            <p:spPr>
              <a:xfrm>
                <a:off x="457200" y="3822481"/>
                <a:ext cx="1917700" cy="1249637"/>
              </a:xfrm>
              <a:prstGeom prst="rect">
                <a:avLst/>
              </a:prstGeom>
            </p:spPr>
            <p:txBody>
              <a:bodyPr vert="horz" wrap="square" lIns="0" tIns="12700" rIns="0" bIns="0" rtlCol="0">
                <a:spAutoFit/>
              </a:bodyPr>
              <a:lstStyle/>
              <a:p>
                <a:pPr marL="12700" marR="5080">
                  <a:lnSpc>
                    <a:spcPct val="114000"/>
                  </a:lnSpc>
                  <a:spcBef>
                    <a:spcPts val="100"/>
                  </a:spcBef>
                </a:pPr>
                <a:r>
                  <a:rPr sz="1800" dirty="0">
                    <a:solidFill>
                      <a:srgbClr val="0F2044"/>
                    </a:solidFill>
                    <a:latin typeface="Arial MT"/>
                    <a:cs typeface="Arial MT"/>
                  </a:rPr>
                  <a:t>How</a:t>
                </a:r>
                <a:r>
                  <a:rPr sz="1800" spc="-30" dirty="0">
                    <a:solidFill>
                      <a:srgbClr val="0F2044"/>
                    </a:solidFill>
                    <a:latin typeface="Arial MT"/>
                    <a:cs typeface="Arial MT"/>
                  </a:rPr>
                  <a:t> </a:t>
                </a:r>
                <a:r>
                  <a:rPr sz="1800" dirty="0">
                    <a:solidFill>
                      <a:srgbClr val="0F2044"/>
                    </a:solidFill>
                    <a:latin typeface="Arial MT"/>
                    <a:cs typeface="Arial MT"/>
                  </a:rPr>
                  <a:t>much</a:t>
                </a:r>
                <a:r>
                  <a:rPr sz="1800" spc="-15" dirty="0">
                    <a:solidFill>
                      <a:srgbClr val="0F2044"/>
                    </a:solidFill>
                    <a:latin typeface="Arial MT"/>
                    <a:cs typeface="Arial MT"/>
                  </a:rPr>
                  <a:t> </a:t>
                </a:r>
                <a:r>
                  <a:rPr sz="1800" spc="-10" dirty="0">
                    <a:solidFill>
                      <a:srgbClr val="0F2044"/>
                    </a:solidFill>
                    <a:latin typeface="Arial MT"/>
                    <a:cs typeface="Arial MT"/>
                  </a:rPr>
                  <a:t>internal </a:t>
                </a:r>
                <a:r>
                  <a:rPr sz="1800" dirty="0">
                    <a:solidFill>
                      <a:srgbClr val="0F2044"/>
                    </a:solidFill>
                    <a:latin typeface="Arial MT"/>
                    <a:cs typeface="Arial MT"/>
                  </a:rPr>
                  <a:t>fragmentation</a:t>
                </a:r>
                <a:r>
                  <a:rPr sz="1800" spc="-65" dirty="0">
                    <a:solidFill>
                      <a:srgbClr val="0F2044"/>
                    </a:solidFill>
                    <a:latin typeface="Arial MT"/>
                    <a:cs typeface="Arial MT"/>
                  </a:rPr>
                  <a:t> </a:t>
                </a:r>
                <a:r>
                  <a:rPr sz="1800" spc="-25" dirty="0">
                    <a:solidFill>
                      <a:srgbClr val="0F2044"/>
                    </a:solidFill>
                    <a:latin typeface="Arial MT"/>
                    <a:cs typeface="Arial MT"/>
                  </a:rPr>
                  <a:t>are </a:t>
                </a:r>
                <a:r>
                  <a:rPr sz="1800" dirty="0">
                    <a:solidFill>
                      <a:srgbClr val="0F2044"/>
                    </a:solidFill>
                    <a:latin typeface="Arial MT"/>
                    <a:cs typeface="Arial MT"/>
                  </a:rPr>
                  <a:t>we</a:t>
                </a:r>
                <a:r>
                  <a:rPr sz="1800" spc="-25" dirty="0">
                    <a:solidFill>
                      <a:srgbClr val="0F2044"/>
                    </a:solidFill>
                    <a:latin typeface="Arial MT"/>
                    <a:cs typeface="Arial MT"/>
                  </a:rPr>
                  <a:t> </a:t>
                </a:r>
                <a:r>
                  <a:rPr sz="1800" dirty="0">
                    <a:solidFill>
                      <a:srgbClr val="0F2044"/>
                    </a:solidFill>
                    <a:latin typeface="Arial MT"/>
                    <a:cs typeface="Arial MT"/>
                  </a:rPr>
                  <a:t>willing</a:t>
                </a:r>
                <a:r>
                  <a:rPr sz="1800" spc="-20" dirty="0">
                    <a:solidFill>
                      <a:srgbClr val="0F2044"/>
                    </a:solidFill>
                    <a:latin typeface="Arial MT"/>
                    <a:cs typeface="Arial MT"/>
                  </a:rPr>
                  <a:t> </a:t>
                </a:r>
                <a:r>
                  <a:rPr sz="1800" spc="-25" dirty="0">
                    <a:solidFill>
                      <a:srgbClr val="0F2044"/>
                    </a:solidFill>
                    <a:latin typeface="Arial MT"/>
                    <a:cs typeface="Arial MT"/>
                  </a:rPr>
                  <a:t>to </a:t>
                </a:r>
                <a:r>
                  <a:rPr sz="1800" spc="-10" dirty="0">
                    <a:solidFill>
                      <a:srgbClr val="0F2044"/>
                    </a:solidFill>
                    <a:latin typeface="Arial MT"/>
                    <a:cs typeface="Arial MT"/>
                  </a:rPr>
                  <a:t>tolerate?</a:t>
                </a:r>
                <a:endParaRPr sz="1800" dirty="0">
                  <a:latin typeface="Arial MT"/>
                  <a:cs typeface="Arial MT"/>
                </a:endParaRPr>
              </a:p>
            </p:txBody>
          </p:sp>
          <p:sp>
            <p:nvSpPr>
              <p:cNvPr id="53" name="object 18">
                <a:extLst>
                  <a:ext uri="{FF2B5EF4-FFF2-40B4-BE49-F238E27FC236}">
                    <a16:creationId xmlns:a16="http://schemas.microsoft.com/office/drawing/2014/main" id="{A8781673-424C-4F8F-5CD8-0EF2B395ADBC}"/>
                  </a:ext>
                </a:extLst>
              </p:cNvPr>
              <p:cNvSpPr/>
              <p:nvPr/>
            </p:nvSpPr>
            <p:spPr>
              <a:xfrm>
                <a:off x="7000258" y="3383280"/>
                <a:ext cx="10142" cy="502920"/>
              </a:xfrm>
              <a:custGeom>
                <a:avLst/>
                <a:gdLst/>
                <a:ahLst/>
                <a:cxnLst/>
                <a:rect l="l" t="t" r="r" b="b"/>
                <a:pathLst>
                  <a:path w="7620" h="502920">
                    <a:moveTo>
                      <a:pt x="0" y="0"/>
                    </a:moveTo>
                    <a:lnTo>
                      <a:pt x="7542" y="502656"/>
                    </a:lnTo>
                  </a:path>
                </a:pathLst>
              </a:custGeom>
              <a:ln w="12700">
                <a:solidFill>
                  <a:srgbClr val="0F2044"/>
                </a:solidFill>
                <a:tailEnd type="triangle"/>
              </a:ln>
            </p:spPr>
            <p:txBody>
              <a:bodyPr wrap="square" lIns="0" tIns="0" rIns="0" bIns="0" rtlCol="0"/>
              <a:lstStyle/>
              <a:p>
                <a:endParaRPr/>
              </a:p>
            </p:txBody>
          </p:sp>
          <p:sp>
            <p:nvSpPr>
              <p:cNvPr id="54" name="object 22">
                <a:extLst>
                  <a:ext uri="{FF2B5EF4-FFF2-40B4-BE49-F238E27FC236}">
                    <a16:creationId xmlns:a16="http://schemas.microsoft.com/office/drawing/2014/main" id="{2EDB89C9-0FB5-B6DA-1FCD-9AC1CD781E8C}"/>
                  </a:ext>
                </a:extLst>
              </p:cNvPr>
              <p:cNvSpPr/>
              <p:nvPr/>
            </p:nvSpPr>
            <p:spPr>
              <a:xfrm>
                <a:off x="2574501" y="3577225"/>
                <a:ext cx="4196715" cy="709295"/>
              </a:xfrm>
              <a:custGeom>
                <a:avLst/>
                <a:gdLst/>
                <a:ahLst/>
                <a:cxnLst/>
                <a:rect l="l" t="t" r="r" b="b"/>
                <a:pathLst>
                  <a:path w="4196715" h="709295">
                    <a:moveTo>
                      <a:pt x="4196448" y="0"/>
                    </a:moveTo>
                    <a:lnTo>
                      <a:pt x="0" y="708979"/>
                    </a:lnTo>
                  </a:path>
                </a:pathLst>
              </a:custGeom>
              <a:ln w="12700">
                <a:solidFill>
                  <a:srgbClr val="0F2044"/>
                </a:solidFill>
                <a:tailEnd type="triangle"/>
              </a:ln>
            </p:spPr>
            <p:txBody>
              <a:bodyPr wrap="square" lIns="0" tIns="0" rIns="0" bIns="0" rtlCol="0"/>
              <a:lstStyle/>
              <a:p>
                <a:endParaRPr/>
              </a:p>
            </p:txBody>
          </p:sp>
          <p:pic>
            <p:nvPicPr>
              <p:cNvPr id="56" name="Picture 55">
                <a:extLst>
                  <a:ext uri="{FF2B5EF4-FFF2-40B4-BE49-F238E27FC236}">
                    <a16:creationId xmlns:a16="http://schemas.microsoft.com/office/drawing/2014/main" id="{F72AE757-EFDD-F7CC-E554-1CF05B886EE4}"/>
                  </a:ext>
                </a:extLst>
              </p:cNvPr>
              <p:cNvPicPr>
                <a:picLocks noChangeAspect="1"/>
              </p:cNvPicPr>
              <p:nvPr/>
            </p:nvPicPr>
            <p:blipFill>
              <a:blip r:embed="rId3"/>
              <a:stretch>
                <a:fillRect/>
              </a:stretch>
            </p:blipFill>
            <p:spPr>
              <a:xfrm>
                <a:off x="5279037" y="4059137"/>
                <a:ext cx="3651821" cy="475529"/>
              </a:xfrm>
              <a:prstGeom prst="rect">
                <a:avLst/>
              </a:prstGeom>
            </p:spPr>
          </p:pic>
          <p:pic>
            <p:nvPicPr>
              <p:cNvPr id="57" name="Picture 56">
                <a:extLst>
                  <a:ext uri="{FF2B5EF4-FFF2-40B4-BE49-F238E27FC236}">
                    <a16:creationId xmlns:a16="http://schemas.microsoft.com/office/drawing/2014/main" id="{91B4EF65-5950-3CD6-F085-C8063E4BE291}"/>
                  </a:ext>
                </a:extLst>
              </p:cNvPr>
              <p:cNvPicPr>
                <a:picLocks noChangeAspect="1"/>
              </p:cNvPicPr>
              <p:nvPr/>
            </p:nvPicPr>
            <p:blipFill>
              <a:blip r:embed="rId4"/>
              <a:stretch>
                <a:fillRect/>
              </a:stretch>
            </p:blipFill>
            <p:spPr>
              <a:xfrm>
                <a:off x="5279036" y="4743720"/>
                <a:ext cx="3651821" cy="475529"/>
              </a:xfrm>
              <a:prstGeom prst="rect">
                <a:avLst/>
              </a:prstGeom>
            </p:spPr>
          </p:pic>
        </p:grpSp>
        <p:grpSp>
          <p:nvGrpSpPr>
            <p:cNvPr id="60" name="Group 59" descr="logical barrier">
              <a:extLst>
                <a:ext uri="{FF2B5EF4-FFF2-40B4-BE49-F238E27FC236}">
                  <a16:creationId xmlns:a16="http://schemas.microsoft.com/office/drawing/2014/main" id="{7AEF1892-20BF-48C2-6CB3-7C04662DFE87}"/>
                </a:ext>
              </a:extLst>
            </p:cNvPr>
            <p:cNvGrpSpPr/>
            <p:nvPr/>
          </p:nvGrpSpPr>
          <p:grpSpPr>
            <a:xfrm>
              <a:off x="5745905" y="5272777"/>
              <a:ext cx="3967479" cy="289823"/>
              <a:chOff x="5745905" y="5272777"/>
              <a:chExt cx="3967479" cy="289823"/>
            </a:xfrm>
          </p:grpSpPr>
          <p:pic>
            <p:nvPicPr>
              <p:cNvPr id="33" name="object 33"/>
              <p:cNvPicPr/>
              <p:nvPr/>
            </p:nvPicPr>
            <p:blipFill>
              <a:blip r:embed="rId5" cstate="print"/>
              <a:stretch>
                <a:fillRect/>
              </a:stretch>
            </p:blipFill>
            <p:spPr>
              <a:xfrm>
                <a:off x="7839725" y="5334000"/>
                <a:ext cx="208799" cy="208799"/>
              </a:xfrm>
              <a:prstGeom prst="rect">
                <a:avLst/>
              </a:prstGeom>
            </p:spPr>
          </p:pic>
          <p:sp>
            <p:nvSpPr>
              <p:cNvPr id="55" name="object 34">
                <a:extLst>
                  <a:ext uri="{FF2B5EF4-FFF2-40B4-BE49-F238E27FC236}">
                    <a16:creationId xmlns:a16="http://schemas.microsoft.com/office/drawing/2014/main" id="{FEB486DD-19D0-30C7-745D-67A9D7E51961}"/>
                  </a:ext>
                </a:extLst>
              </p:cNvPr>
              <p:cNvSpPr txBox="1"/>
              <p:nvPr/>
            </p:nvSpPr>
            <p:spPr>
              <a:xfrm>
                <a:off x="5745905" y="5272777"/>
                <a:ext cx="3967479" cy="289823"/>
              </a:xfrm>
              <a:prstGeom prst="rect">
                <a:avLst/>
              </a:prstGeom>
            </p:spPr>
            <p:txBody>
              <a:bodyPr vert="horz" wrap="square" lIns="0" tIns="12700" rIns="0" bIns="0" rtlCol="0">
                <a:spAutoFit/>
              </a:bodyPr>
              <a:lstStyle/>
              <a:p>
                <a:pPr marL="2569210">
                  <a:lnSpc>
                    <a:spcPct val="100000"/>
                  </a:lnSpc>
                  <a:spcBef>
                    <a:spcPts val="100"/>
                  </a:spcBef>
                </a:pPr>
                <a:r>
                  <a:rPr lang="en-US" dirty="0">
                    <a:solidFill>
                      <a:srgbClr val="980000"/>
                    </a:solidFill>
                    <a:latin typeface="Arial MT"/>
                    <a:cs typeface="Arial MT"/>
                  </a:rPr>
                  <a:t>l</a:t>
                </a:r>
                <a:r>
                  <a:rPr sz="1800" dirty="0">
                    <a:solidFill>
                      <a:srgbClr val="980000"/>
                    </a:solidFill>
                    <a:latin typeface="Arial MT"/>
                    <a:cs typeface="Arial MT"/>
                  </a:rPr>
                  <a:t>ogical</a:t>
                </a:r>
                <a:r>
                  <a:rPr lang="en-US" sz="1800" dirty="0">
                    <a:solidFill>
                      <a:srgbClr val="980000"/>
                    </a:solidFill>
                    <a:latin typeface="Arial MT"/>
                    <a:cs typeface="Arial MT"/>
                  </a:rPr>
                  <a:t> barrier</a:t>
                </a:r>
                <a:endParaRPr sz="1800" dirty="0">
                  <a:latin typeface="Arial MT"/>
                  <a:cs typeface="Arial MT"/>
                </a:endParaRPr>
              </a:p>
            </p:txBody>
          </p:sp>
        </p:grpSp>
      </p:grpSp>
      <p:sp>
        <p:nvSpPr>
          <p:cNvPr id="34" name="object 34"/>
          <p:cNvSpPr txBox="1"/>
          <p:nvPr/>
        </p:nvSpPr>
        <p:spPr>
          <a:xfrm>
            <a:off x="5766225" y="5867400"/>
            <a:ext cx="3967479" cy="320601"/>
          </a:xfrm>
          <a:prstGeom prst="rect">
            <a:avLst/>
          </a:prstGeom>
        </p:spPr>
        <p:txBody>
          <a:bodyPr vert="horz" wrap="square" lIns="0" tIns="12700" rIns="0" bIns="0" rtlCol="0">
            <a:spAutoFit/>
          </a:bodyPr>
          <a:lstStyle/>
          <a:p>
            <a:pPr marL="12700">
              <a:lnSpc>
                <a:spcPct val="100000"/>
              </a:lnSpc>
              <a:spcBef>
                <a:spcPts val="1839"/>
              </a:spcBef>
            </a:pPr>
            <a:r>
              <a:rPr sz="2000" b="1" dirty="0">
                <a:solidFill>
                  <a:srgbClr val="980000"/>
                </a:solidFill>
                <a:latin typeface="Arial"/>
                <a:cs typeface="Arial"/>
              </a:rPr>
              <a:t>Solution:</a:t>
            </a:r>
            <a:r>
              <a:rPr sz="2000" b="1" spc="-60" dirty="0">
                <a:solidFill>
                  <a:srgbClr val="980000"/>
                </a:solidFill>
                <a:latin typeface="Arial"/>
                <a:cs typeface="Arial"/>
              </a:rPr>
              <a:t> </a:t>
            </a:r>
            <a:r>
              <a:rPr sz="2000" b="1" dirty="0">
                <a:solidFill>
                  <a:srgbClr val="980000"/>
                </a:solidFill>
                <a:latin typeface="Arial"/>
                <a:cs typeface="Arial"/>
              </a:rPr>
              <a:t>Memory</a:t>
            </a:r>
            <a:r>
              <a:rPr sz="2000" b="1" spc="-55" dirty="0">
                <a:solidFill>
                  <a:srgbClr val="980000"/>
                </a:solidFill>
                <a:latin typeface="Arial"/>
                <a:cs typeface="Arial"/>
              </a:rPr>
              <a:t> </a:t>
            </a:r>
            <a:r>
              <a:rPr sz="2000" b="1" spc="-10" dirty="0">
                <a:solidFill>
                  <a:srgbClr val="980000"/>
                </a:solidFill>
                <a:latin typeface="Arial"/>
                <a:cs typeface="Arial"/>
              </a:rPr>
              <a:t>Coalescing</a:t>
            </a:r>
            <a:endParaRPr sz="2000" dirty="0">
              <a:latin typeface="Arial"/>
              <a:cs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Implicit</a:t>
            </a:r>
            <a:r>
              <a:rPr spc="-95" dirty="0"/>
              <a:t> </a:t>
            </a:r>
            <a:r>
              <a:rPr dirty="0"/>
              <a:t>Free</a:t>
            </a:r>
            <a:r>
              <a:rPr spc="-90" dirty="0"/>
              <a:t> </a:t>
            </a:r>
            <a:r>
              <a:rPr dirty="0"/>
              <a:t>List:</a:t>
            </a:r>
            <a:r>
              <a:rPr spc="-90" dirty="0"/>
              <a:t> </a:t>
            </a:r>
            <a:r>
              <a:rPr spc="-10" dirty="0"/>
              <a:t>Coalescing</a:t>
            </a:r>
          </a:p>
        </p:txBody>
      </p:sp>
      <p:grpSp>
        <p:nvGrpSpPr>
          <p:cNvPr id="45" name="Group 44">
            <a:extLst>
              <a:ext uri="{FF2B5EF4-FFF2-40B4-BE49-F238E27FC236}">
                <a16:creationId xmlns:a16="http://schemas.microsoft.com/office/drawing/2014/main" id="{BB373826-F2DD-2F35-E1C7-4DC76BAB5B82}"/>
              </a:ext>
              <a:ext uri="{C183D7F6-B498-43B3-948B-1728B52AA6E4}">
                <adec:decorative xmlns:adec="http://schemas.microsoft.com/office/drawing/2017/decorative" val="1"/>
              </a:ext>
            </a:extLst>
          </p:cNvPr>
          <p:cNvGrpSpPr/>
          <p:nvPr/>
        </p:nvGrpSpPr>
        <p:grpSpPr>
          <a:xfrm>
            <a:off x="434970" y="2419637"/>
            <a:ext cx="10309230" cy="856963"/>
            <a:chOff x="434970" y="2419637"/>
            <a:chExt cx="10309230" cy="856963"/>
          </a:xfrm>
        </p:grpSpPr>
        <p:grpSp>
          <p:nvGrpSpPr>
            <p:cNvPr id="46" name="object 4">
              <a:extLst>
                <a:ext uri="{FF2B5EF4-FFF2-40B4-BE49-F238E27FC236}">
                  <a16:creationId xmlns:a16="http://schemas.microsoft.com/office/drawing/2014/main" id="{35D1A10E-19C6-2EF3-E2CB-3CD0FC212230}"/>
                </a:ext>
              </a:extLst>
            </p:cNvPr>
            <p:cNvGrpSpPr/>
            <p:nvPr/>
          </p:nvGrpSpPr>
          <p:grpSpPr>
            <a:xfrm>
              <a:off x="649112" y="2419637"/>
              <a:ext cx="2482850" cy="218440"/>
              <a:chOff x="649112" y="2419637"/>
              <a:chExt cx="2482850" cy="218440"/>
            </a:xfrm>
          </p:grpSpPr>
          <p:sp>
            <p:nvSpPr>
              <p:cNvPr id="57" name="object 5">
                <a:extLst>
                  <a:ext uri="{FF2B5EF4-FFF2-40B4-BE49-F238E27FC236}">
                    <a16:creationId xmlns:a16="http://schemas.microsoft.com/office/drawing/2014/main" id="{6CD9B7AB-E7A8-2D72-9549-FFDAAB26E808}"/>
                  </a:ext>
                </a:extLst>
              </p:cNvPr>
              <p:cNvSpPr/>
              <p:nvPr/>
            </p:nvSpPr>
            <p:spPr>
              <a:xfrm>
                <a:off x="653875" y="2424400"/>
                <a:ext cx="2473325" cy="208915"/>
              </a:xfrm>
              <a:custGeom>
                <a:avLst/>
                <a:gdLst/>
                <a:ahLst/>
                <a:cxnLst/>
                <a:rect l="l" t="t" r="r" b="b"/>
                <a:pathLst>
                  <a:path w="2473325" h="208914">
                    <a:moveTo>
                      <a:pt x="52199" y="208799"/>
                    </a:moveTo>
                    <a:lnTo>
                      <a:pt x="0" y="208799"/>
                    </a:lnTo>
                    <a:lnTo>
                      <a:pt x="0" y="91349"/>
                    </a:lnTo>
                    <a:lnTo>
                      <a:pt x="26755" y="26755"/>
                    </a:lnTo>
                    <a:lnTo>
                      <a:pt x="91349" y="0"/>
                    </a:lnTo>
                    <a:lnTo>
                      <a:pt x="2355749" y="0"/>
                    </a:lnTo>
                    <a:lnTo>
                      <a:pt x="2406430" y="15347"/>
                    </a:lnTo>
                    <a:lnTo>
                      <a:pt x="2437908" y="52199"/>
                    </a:lnTo>
                    <a:lnTo>
                      <a:pt x="91349" y="52199"/>
                    </a:lnTo>
                    <a:lnTo>
                      <a:pt x="76111" y="55276"/>
                    </a:lnTo>
                    <a:lnTo>
                      <a:pt x="63666" y="63666"/>
                    </a:lnTo>
                    <a:lnTo>
                      <a:pt x="55276" y="76111"/>
                    </a:lnTo>
                    <a:lnTo>
                      <a:pt x="52199" y="91349"/>
                    </a:lnTo>
                    <a:lnTo>
                      <a:pt x="52199" y="208799"/>
                    </a:lnTo>
                    <a:close/>
                  </a:path>
                  <a:path w="2473325" h="208914">
                    <a:moveTo>
                      <a:pt x="2447099" y="104399"/>
                    </a:moveTo>
                    <a:lnTo>
                      <a:pt x="2394899" y="104399"/>
                    </a:lnTo>
                    <a:lnTo>
                      <a:pt x="2394899" y="91349"/>
                    </a:lnTo>
                    <a:lnTo>
                      <a:pt x="2391823" y="76111"/>
                    </a:lnTo>
                    <a:lnTo>
                      <a:pt x="2383433" y="63666"/>
                    </a:lnTo>
                    <a:lnTo>
                      <a:pt x="2370988" y="55276"/>
                    </a:lnTo>
                    <a:lnTo>
                      <a:pt x="2355749" y="52199"/>
                    </a:lnTo>
                    <a:lnTo>
                      <a:pt x="2437908" y="52199"/>
                    </a:lnTo>
                    <a:lnTo>
                      <a:pt x="2440146" y="56391"/>
                    </a:lnTo>
                    <a:lnTo>
                      <a:pt x="2445328" y="73445"/>
                    </a:lnTo>
                    <a:lnTo>
                      <a:pt x="2447099" y="91349"/>
                    </a:lnTo>
                    <a:lnTo>
                      <a:pt x="2447099" y="104399"/>
                    </a:lnTo>
                    <a:close/>
                  </a:path>
                  <a:path w="2473325" h="208914">
                    <a:moveTo>
                      <a:pt x="2420999" y="156599"/>
                    </a:moveTo>
                    <a:lnTo>
                      <a:pt x="2368799" y="104399"/>
                    </a:lnTo>
                    <a:lnTo>
                      <a:pt x="2473199" y="104399"/>
                    </a:lnTo>
                    <a:lnTo>
                      <a:pt x="2420999" y="156599"/>
                    </a:lnTo>
                    <a:close/>
                  </a:path>
                </a:pathLst>
              </a:custGeom>
              <a:solidFill>
                <a:srgbClr val="BEC0C1"/>
              </a:solidFill>
            </p:spPr>
            <p:txBody>
              <a:bodyPr wrap="square" lIns="0" tIns="0" rIns="0" bIns="0" rtlCol="0"/>
              <a:lstStyle/>
              <a:p>
                <a:endParaRPr/>
              </a:p>
            </p:txBody>
          </p:sp>
          <p:sp>
            <p:nvSpPr>
              <p:cNvPr id="58" name="object 6">
                <a:extLst>
                  <a:ext uri="{FF2B5EF4-FFF2-40B4-BE49-F238E27FC236}">
                    <a16:creationId xmlns:a16="http://schemas.microsoft.com/office/drawing/2014/main" id="{14B36235-E254-D975-DF0C-872E02D569A8}"/>
                  </a:ext>
                </a:extLst>
              </p:cNvPr>
              <p:cNvSpPr/>
              <p:nvPr/>
            </p:nvSpPr>
            <p:spPr>
              <a:xfrm>
                <a:off x="653875" y="2424400"/>
                <a:ext cx="2473325" cy="208915"/>
              </a:xfrm>
              <a:custGeom>
                <a:avLst/>
                <a:gdLst/>
                <a:ahLst/>
                <a:cxnLst/>
                <a:rect l="l" t="t" r="r" b="b"/>
                <a:pathLst>
                  <a:path w="2473325" h="208914">
                    <a:moveTo>
                      <a:pt x="0" y="208799"/>
                    </a:moveTo>
                    <a:lnTo>
                      <a:pt x="0" y="91349"/>
                    </a:lnTo>
                    <a:lnTo>
                      <a:pt x="7178" y="55792"/>
                    </a:lnTo>
                    <a:lnTo>
                      <a:pt x="26755" y="26755"/>
                    </a:lnTo>
                    <a:lnTo>
                      <a:pt x="55792" y="7178"/>
                    </a:lnTo>
                    <a:lnTo>
                      <a:pt x="91349" y="0"/>
                    </a:lnTo>
                    <a:lnTo>
                      <a:pt x="2355749" y="0"/>
                    </a:lnTo>
                    <a:lnTo>
                      <a:pt x="2406430" y="15347"/>
                    </a:lnTo>
                    <a:lnTo>
                      <a:pt x="2440146" y="56391"/>
                    </a:lnTo>
                    <a:lnTo>
                      <a:pt x="2447099" y="91349"/>
                    </a:lnTo>
                    <a:lnTo>
                      <a:pt x="2447099" y="104399"/>
                    </a:lnTo>
                    <a:lnTo>
                      <a:pt x="2473199" y="104399"/>
                    </a:lnTo>
                    <a:lnTo>
                      <a:pt x="2420999" y="156599"/>
                    </a:lnTo>
                    <a:lnTo>
                      <a:pt x="2368799" y="104399"/>
                    </a:lnTo>
                    <a:lnTo>
                      <a:pt x="2394899" y="104399"/>
                    </a:lnTo>
                    <a:lnTo>
                      <a:pt x="2394899" y="91349"/>
                    </a:lnTo>
                    <a:lnTo>
                      <a:pt x="2391823" y="76111"/>
                    </a:lnTo>
                    <a:lnTo>
                      <a:pt x="2383433" y="63666"/>
                    </a:lnTo>
                    <a:lnTo>
                      <a:pt x="2370988" y="55276"/>
                    </a:lnTo>
                    <a:lnTo>
                      <a:pt x="2355749" y="52199"/>
                    </a:lnTo>
                    <a:lnTo>
                      <a:pt x="91349" y="52199"/>
                    </a:lnTo>
                    <a:lnTo>
                      <a:pt x="76111" y="55276"/>
                    </a:lnTo>
                    <a:lnTo>
                      <a:pt x="63666" y="63666"/>
                    </a:lnTo>
                    <a:lnTo>
                      <a:pt x="55276" y="76111"/>
                    </a:lnTo>
                    <a:lnTo>
                      <a:pt x="52199" y="91349"/>
                    </a:lnTo>
                    <a:lnTo>
                      <a:pt x="52199" y="208799"/>
                    </a:lnTo>
                    <a:lnTo>
                      <a:pt x="0" y="208799"/>
                    </a:lnTo>
                    <a:close/>
                  </a:path>
                </a:pathLst>
              </a:custGeom>
              <a:ln w="9524">
                <a:solidFill>
                  <a:srgbClr val="0F2044"/>
                </a:solidFill>
              </a:ln>
            </p:spPr>
            <p:txBody>
              <a:bodyPr wrap="square" lIns="0" tIns="0" rIns="0" bIns="0" rtlCol="0"/>
              <a:lstStyle/>
              <a:p>
                <a:endParaRPr/>
              </a:p>
            </p:txBody>
          </p:sp>
        </p:grpSp>
        <p:grpSp>
          <p:nvGrpSpPr>
            <p:cNvPr id="47" name="object 7">
              <a:extLst>
                <a:ext uri="{FF2B5EF4-FFF2-40B4-BE49-F238E27FC236}">
                  <a16:creationId xmlns:a16="http://schemas.microsoft.com/office/drawing/2014/main" id="{E1F210C2-F604-D7D8-FA21-5535789710AB}"/>
                </a:ext>
              </a:extLst>
            </p:cNvPr>
            <p:cNvGrpSpPr/>
            <p:nvPr/>
          </p:nvGrpSpPr>
          <p:grpSpPr>
            <a:xfrm>
              <a:off x="3182762" y="2419637"/>
              <a:ext cx="2347595" cy="218440"/>
              <a:chOff x="3182762" y="2419637"/>
              <a:chExt cx="2347595" cy="218440"/>
            </a:xfrm>
          </p:grpSpPr>
          <p:sp>
            <p:nvSpPr>
              <p:cNvPr id="55" name="object 8">
                <a:extLst>
                  <a:ext uri="{FF2B5EF4-FFF2-40B4-BE49-F238E27FC236}">
                    <a16:creationId xmlns:a16="http://schemas.microsoft.com/office/drawing/2014/main" id="{EF7D1AD4-270D-B032-E1FB-CA619D3822D2}"/>
                  </a:ext>
                </a:extLst>
              </p:cNvPr>
              <p:cNvSpPr/>
              <p:nvPr/>
            </p:nvSpPr>
            <p:spPr>
              <a:xfrm>
                <a:off x="3187524" y="2424400"/>
                <a:ext cx="2338070" cy="208915"/>
              </a:xfrm>
              <a:custGeom>
                <a:avLst/>
                <a:gdLst/>
                <a:ahLst/>
                <a:cxnLst/>
                <a:rect l="l" t="t" r="r" b="b"/>
                <a:pathLst>
                  <a:path w="2338070" h="208914">
                    <a:moveTo>
                      <a:pt x="52199" y="208799"/>
                    </a:moveTo>
                    <a:lnTo>
                      <a:pt x="0" y="208799"/>
                    </a:lnTo>
                    <a:lnTo>
                      <a:pt x="0" y="91349"/>
                    </a:lnTo>
                    <a:lnTo>
                      <a:pt x="7057" y="56391"/>
                    </a:lnTo>
                    <a:lnTo>
                      <a:pt x="7178" y="55792"/>
                    </a:lnTo>
                    <a:lnTo>
                      <a:pt x="26755" y="26755"/>
                    </a:lnTo>
                    <a:lnTo>
                      <a:pt x="55792" y="7178"/>
                    </a:lnTo>
                    <a:lnTo>
                      <a:pt x="91349" y="0"/>
                    </a:lnTo>
                    <a:lnTo>
                      <a:pt x="2220149" y="0"/>
                    </a:lnTo>
                    <a:lnTo>
                      <a:pt x="2270831" y="15347"/>
                    </a:lnTo>
                    <a:lnTo>
                      <a:pt x="2302308" y="52199"/>
                    </a:lnTo>
                    <a:lnTo>
                      <a:pt x="91349" y="52199"/>
                    </a:lnTo>
                    <a:lnTo>
                      <a:pt x="76111" y="55276"/>
                    </a:lnTo>
                    <a:lnTo>
                      <a:pt x="63666" y="63666"/>
                    </a:lnTo>
                    <a:lnTo>
                      <a:pt x="55276" y="76111"/>
                    </a:lnTo>
                    <a:lnTo>
                      <a:pt x="52199" y="91349"/>
                    </a:lnTo>
                    <a:lnTo>
                      <a:pt x="52199" y="208799"/>
                    </a:lnTo>
                    <a:close/>
                  </a:path>
                  <a:path w="2338070" h="208914">
                    <a:moveTo>
                      <a:pt x="2311499" y="104399"/>
                    </a:moveTo>
                    <a:lnTo>
                      <a:pt x="2259299" y="104399"/>
                    </a:lnTo>
                    <a:lnTo>
                      <a:pt x="2259299" y="91349"/>
                    </a:lnTo>
                    <a:lnTo>
                      <a:pt x="2256223" y="76111"/>
                    </a:lnTo>
                    <a:lnTo>
                      <a:pt x="2247833" y="63666"/>
                    </a:lnTo>
                    <a:lnTo>
                      <a:pt x="2235388" y="55276"/>
                    </a:lnTo>
                    <a:lnTo>
                      <a:pt x="2220149" y="52199"/>
                    </a:lnTo>
                    <a:lnTo>
                      <a:pt x="2302308" y="52199"/>
                    </a:lnTo>
                    <a:lnTo>
                      <a:pt x="2304546" y="56391"/>
                    </a:lnTo>
                    <a:lnTo>
                      <a:pt x="2309728" y="73445"/>
                    </a:lnTo>
                    <a:lnTo>
                      <a:pt x="2311499" y="91349"/>
                    </a:lnTo>
                    <a:lnTo>
                      <a:pt x="2311499" y="104399"/>
                    </a:lnTo>
                    <a:close/>
                  </a:path>
                  <a:path w="2338070" h="208914">
                    <a:moveTo>
                      <a:pt x="2285399" y="156599"/>
                    </a:moveTo>
                    <a:lnTo>
                      <a:pt x="2233199" y="104399"/>
                    </a:lnTo>
                    <a:lnTo>
                      <a:pt x="2337599" y="104399"/>
                    </a:lnTo>
                    <a:lnTo>
                      <a:pt x="2285399" y="156599"/>
                    </a:lnTo>
                    <a:close/>
                  </a:path>
                </a:pathLst>
              </a:custGeom>
              <a:solidFill>
                <a:srgbClr val="BEC0C1"/>
              </a:solidFill>
            </p:spPr>
            <p:txBody>
              <a:bodyPr wrap="square" lIns="0" tIns="0" rIns="0" bIns="0" rtlCol="0"/>
              <a:lstStyle/>
              <a:p>
                <a:endParaRPr/>
              </a:p>
            </p:txBody>
          </p:sp>
          <p:sp>
            <p:nvSpPr>
              <p:cNvPr id="56" name="object 9">
                <a:extLst>
                  <a:ext uri="{FF2B5EF4-FFF2-40B4-BE49-F238E27FC236}">
                    <a16:creationId xmlns:a16="http://schemas.microsoft.com/office/drawing/2014/main" id="{CAAA565F-BFC6-77D6-13DB-C812C94A7BC4}"/>
                  </a:ext>
                </a:extLst>
              </p:cNvPr>
              <p:cNvSpPr/>
              <p:nvPr/>
            </p:nvSpPr>
            <p:spPr>
              <a:xfrm>
                <a:off x="3187525" y="2424400"/>
                <a:ext cx="2338070" cy="208915"/>
              </a:xfrm>
              <a:custGeom>
                <a:avLst/>
                <a:gdLst/>
                <a:ahLst/>
                <a:cxnLst/>
                <a:rect l="l" t="t" r="r" b="b"/>
                <a:pathLst>
                  <a:path w="2338070" h="208914">
                    <a:moveTo>
                      <a:pt x="0" y="208799"/>
                    </a:moveTo>
                    <a:lnTo>
                      <a:pt x="0" y="91349"/>
                    </a:lnTo>
                    <a:lnTo>
                      <a:pt x="7178" y="55792"/>
                    </a:lnTo>
                    <a:lnTo>
                      <a:pt x="26755" y="26755"/>
                    </a:lnTo>
                    <a:lnTo>
                      <a:pt x="55792" y="7178"/>
                    </a:lnTo>
                    <a:lnTo>
                      <a:pt x="91349" y="0"/>
                    </a:lnTo>
                    <a:lnTo>
                      <a:pt x="2220149" y="0"/>
                    </a:lnTo>
                    <a:lnTo>
                      <a:pt x="2270831" y="15347"/>
                    </a:lnTo>
                    <a:lnTo>
                      <a:pt x="2304546" y="56391"/>
                    </a:lnTo>
                    <a:lnTo>
                      <a:pt x="2311499" y="91349"/>
                    </a:lnTo>
                    <a:lnTo>
                      <a:pt x="2311499" y="104399"/>
                    </a:lnTo>
                    <a:lnTo>
                      <a:pt x="2337599" y="104399"/>
                    </a:lnTo>
                    <a:lnTo>
                      <a:pt x="2285399" y="156599"/>
                    </a:lnTo>
                    <a:lnTo>
                      <a:pt x="2233199" y="104399"/>
                    </a:lnTo>
                    <a:lnTo>
                      <a:pt x="2259299" y="104399"/>
                    </a:lnTo>
                    <a:lnTo>
                      <a:pt x="2259299" y="91349"/>
                    </a:lnTo>
                    <a:lnTo>
                      <a:pt x="2256223" y="76111"/>
                    </a:lnTo>
                    <a:lnTo>
                      <a:pt x="2247833" y="63666"/>
                    </a:lnTo>
                    <a:lnTo>
                      <a:pt x="2235388" y="55276"/>
                    </a:lnTo>
                    <a:lnTo>
                      <a:pt x="2220149" y="52199"/>
                    </a:lnTo>
                    <a:lnTo>
                      <a:pt x="91349" y="52199"/>
                    </a:lnTo>
                    <a:lnTo>
                      <a:pt x="76111" y="55276"/>
                    </a:lnTo>
                    <a:lnTo>
                      <a:pt x="63666" y="63666"/>
                    </a:lnTo>
                    <a:lnTo>
                      <a:pt x="55276" y="76111"/>
                    </a:lnTo>
                    <a:lnTo>
                      <a:pt x="52199" y="91349"/>
                    </a:lnTo>
                    <a:lnTo>
                      <a:pt x="52199" y="208799"/>
                    </a:lnTo>
                    <a:lnTo>
                      <a:pt x="0" y="208799"/>
                    </a:lnTo>
                    <a:close/>
                  </a:path>
                </a:pathLst>
              </a:custGeom>
              <a:ln w="9524">
                <a:solidFill>
                  <a:srgbClr val="0F2044"/>
                </a:solidFill>
              </a:ln>
            </p:spPr>
            <p:txBody>
              <a:bodyPr wrap="square" lIns="0" tIns="0" rIns="0" bIns="0" rtlCol="0"/>
              <a:lstStyle/>
              <a:p>
                <a:endParaRPr/>
              </a:p>
            </p:txBody>
          </p:sp>
        </p:grpSp>
        <p:grpSp>
          <p:nvGrpSpPr>
            <p:cNvPr id="48" name="object 10">
              <a:extLst>
                <a:ext uri="{FF2B5EF4-FFF2-40B4-BE49-F238E27FC236}">
                  <a16:creationId xmlns:a16="http://schemas.microsoft.com/office/drawing/2014/main" id="{E5D8A9F3-A653-D855-45EA-461C16F87BAE}"/>
                </a:ext>
              </a:extLst>
            </p:cNvPr>
            <p:cNvGrpSpPr/>
            <p:nvPr/>
          </p:nvGrpSpPr>
          <p:grpSpPr>
            <a:xfrm>
              <a:off x="5655962" y="2419637"/>
              <a:ext cx="3558540" cy="218440"/>
              <a:chOff x="5655962" y="2419637"/>
              <a:chExt cx="3558540" cy="218440"/>
            </a:xfrm>
          </p:grpSpPr>
          <p:sp>
            <p:nvSpPr>
              <p:cNvPr id="53" name="object 11">
                <a:extLst>
                  <a:ext uri="{FF2B5EF4-FFF2-40B4-BE49-F238E27FC236}">
                    <a16:creationId xmlns:a16="http://schemas.microsoft.com/office/drawing/2014/main" id="{6CD3118D-0607-64D7-EE1A-CEC4944395FD}"/>
                  </a:ext>
                </a:extLst>
              </p:cNvPr>
              <p:cNvSpPr/>
              <p:nvPr/>
            </p:nvSpPr>
            <p:spPr>
              <a:xfrm>
                <a:off x="5660724" y="2424400"/>
                <a:ext cx="3549015" cy="208915"/>
              </a:xfrm>
              <a:custGeom>
                <a:avLst/>
                <a:gdLst/>
                <a:ahLst/>
                <a:cxnLst/>
                <a:rect l="l" t="t" r="r" b="b"/>
                <a:pathLst>
                  <a:path w="3549015" h="208914">
                    <a:moveTo>
                      <a:pt x="52199" y="208799"/>
                    </a:moveTo>
                    <a:lnTo>
                      <a:pt x="0" y="208799"/>
                    </a:lnTo>
                    <a:lnTo>
                      <a:pt x="0" y="91349"/>
                    </a:lnTo>
                    <a:lnTo>
                      <a:pt x="7057" y="56391"/>
                    </a:lnTo>
                    <a:lnTo>
                      <a:pt x="7178" y="55792"/>
                    </a:lnTo>
                    <a:lnTo>
                      <a:pt x="26755" y="26755"/>
                    </a:lnTo>
                    <a:lnTo>
                      <a:pt x="55792" y="7178"/>
                    </a:lnTo>
                    <a:lnTo>
                      <a:pt x="91349" y="0"/>
                    </a:lnTo>
                    <a:lnTo>
                      <a:pt x="3431549" y="0"/>
                    </a:lnTo>
                    <a:lnTo>
                      <a:pt x="3482231" y="15347"/>
                    </a:lnTo>
                    <a:lnTo>
                      <a:pt x="3513708" y="52199"/>
                    </a:lnTo>
                    <a:lnTo>
                      <a:pt x="91349" y="52199"/>
                    </a:lnTo>
                    <a:lnTo>
                      <a:pt x="76111" y="55276"/>
                    </a:lnTo>
                    <a:lnTo>
                      <a:pt x="63666" y="63666"/>
                    </a:lnTo>
                    <a:lnTo>
                      <a:pt x="55276" y="76111"/>
                    </a:lnTo>
                    <a:lnTo>
                      <a:pt x="52199" y="91349"/>
                    </a:lnTo>
                    <a:lnTo>
                      <a:pt x="52199" y="208799"/>
                    </a:lnTo>
                    <a:close/>
                  </a:path>
                  <a:path w="3549015" h="208914">
                    <a:moveTo>
                      <a:pt x="3522899" y="104399"/>
                    </a:moveTo>
                    <a:lnTo>
                      <a:pt x="3470699" y="104399"/>
                    </a:lnTo>
                    <a:lnTo>
                      <a:pt x="3470699" y="91349"/>
                    </a:lnTo>
                    <a:lnTo>
                      <a:pt x="3467623" y="76111"/>
                    </a:lnTo>
                    <a:lnTo>
                      <a:pt x="3459233" y="63666"/>
                    </a:lnTo>
                    <a:lnTo>
                      <a:pt x="3446788" y="55276"/>
                    </a:lnTo>
                    <a:lnTo>
                      <a:pt x="3431549" y="52199"/>
                    </a:lnTo>
                    <a:lnTo>
                      <a:pt x="3513708" y="52199"/>
                    </a:lnTo>
                    <a:lnTo>
                      <a:pt x="3515946" y="56391"/>
                    </a:lnTo>
                    <a:lnTo>
                      <a:pt x="3521128" y="73445"/>
                    </a:lnTo>
                    <a:lnTo>
                      <a:pt x="3522899" y="91349"/>
                    </a:lnTo>
                    <a:lnTo>
                      <a:pt x="3522899" y="104399"/>
                    </a:lnTo>
                    <a:close/>
                  </a:path>
                  <a:path w="3549015" h="208914">
                    <a:moveTo>
                      <a:pt x="3496799" y="156599"/>
                    </a:moveTo>
                    <a:lnTo>
                      <a:pt x="3444599" y="104399"/>
                    </a:lnTo>
                    <a:lnTo>
                      <a:pt x="3548999" y="104399"/>
                    </a:lnTo>
                    <a:lnTo>
                      <a:pt x="3496799" y="156599"/>
                    </a:lnTo>
                    <a:close/>
                  </a:path>
                </a:pathLst>
              </a:custGeom>
              <a:solidFill>
                <a:srgbClr val="BEC0C1"/>
              </a:solidFill>
            </p:spPr>
            <p:txBody>
              <a:bodyPr wrap="square" lIns="0" tIns="0" rIns="0" bIns="0" rtlCol="0"/>
              <a:lstStyle/>
              <a:p>
                <a:endParaRPr/>
              </a:p>
            </p:txBody>
          </p:sp>
          <p:sp>
            <p:nvSpPr>
              <p:cNvPr id="54" name="object 12">
                <a:extLst>
                  <a:ext uri="{FF2B5EF4-FFF2-40B4-BE49-F238E27FC236}">
                    <a16:creationId xmlns:a16="http://schemas.microsoft.com/office/drawing/2014/main" id="{2BC75EC9-41BE-2400-C232-9B90375942B1}"/>
                  </a:ext>
                </a:extLst>
              </p:cNvPr>
              <p:cNvSpPr/>
              <p:nvPr/>
            </p:nvSpPr>
            <p:spPr>
              <a:xfrm>
                <a:off x="5660725" y="2424400"/>
                <a:ext cx="3549015" cy="208915"/>
              </a:xfrm>
              <a:custGeom>
                <a:avLst/>
                <a:gdLst/>
                <a:ahLst/>
                <a:cxnLst/>
                <a:rect l="l" t="t" r="r" b="b"/>
                <a:pathLst>
                  <a:path w="3549015" h="208914">
                    <a:moveTo>
                      <a:pt x="0" y="208799"/>
                    </a:moveTo>
                    <a:lnTo>
                      <a:pt x="0" y="91349"/>
                    </a:lnTo>
                    <a:lnTo>
                      <a:pt x="7178" y="55792"/>
                    </a:lnTo>
                    <a:lnTo>
                      <a:pt x="26755" y="26755"/>
                    </a:lnTo>
                    <a:lnTo>
                      <a:pt x="55792" y="7178"/>
                    </a:lnTo>
                    <a:lnTo>
                      <a:pt x="91349" y="0"/>
                    </a:lnTo>
                    <a:lnTo>
                      <a:pt x="3431549" y="0"/>
                    </a:lnTo>
                    <a:lnTo>
                      <a:pt x="3482231" y="15347"/>
                    </a:lnTo>
                    <a:lnTo>
                      <a:pt x="3515946" y="56391"/>
                    </a:lnTo>
                    <a:lnTo>
                      <a:pt x="3522899" y="91349"/>
                    </a:lnTo>
                    <a:lnTo>
                      <a:pt x="3522899" y="104399"/>
                    </a:lnTo>
                    <a:lnTo>
                      <a:pt x="3548999" y="104399"/>
                    </a:lnTo>
                    <a:lnTo>
                      <a:pt x="3496799" y="156599"/>
                    </a:lnTo>
                    <a:lnTo>
                      <a:pt x="3444599" y="104399"/>
                    </a:lnTo>
                    <a:lnTo>
                      <a:pt x="3470699" y="104399"/>
                    </a:lnTo>
                    <a:lnTo>
                      <a:pt x="3470699" y="91349"/>
                    </a:lnTo>
                    <a:lnTo>
                      <a:pt x="3467623" y="76111"/>
                    </a:lnTo>
                    <a:lnTo>
                      <a:pt x="3459233" y="63666"/>
                    </a:lnTo>
                    <a:lnTo>
                      <a:pt x="3446788" y="55276"/>
                    </a:lnTo>
                    <a:lnTo>
                      <a:pt x="3431549" y="52199"/>
                    </a:lnTo>
                    <a:lnTo>
                      <a:pt x="91349" y="52199"/>
                    </a:lnTo>
                    <a:lnTo>
                      <a:pt x="76111" y="55276"/>
                    </a:lnTo>
                    <a:lnTo>
                      <a:pt x="63666" y="63666"/>
                    </a:lnTo>
                    <a:lnTo>
                      <a:pt x="55276" y="76111"/>
                    </a:lnTo>
                    <a:lnTo>
                      <a:pt x="52199" y="91349"/>
                    </a:lnTo>
                    <a:lnTo>
                      <a:pt x="52199" y="208799"/>
                    </a:lnTo>
                    <a:lnTo>
                      <a:pt x="0" y="208799"/>
                    </a:lnTo>
                    <a:close/>
                  </a:path>
                </a:pathLst>
              </a:custGeom>
              <a:ln w="9524">
                <a:solidFill>
                  <a:srgbClr val="0F2044"/>
                </a:solidFill>
              </a:ln>
            </p:spPr>
            <p:txBody>
              <a:bodyPr wrap="square" lIns="0" tIns="0" rIns="0" bIns="0" rtlCol="0"/>
              <a:lstStyle/>
              <a:p>
                <a:endParaRPr/>
              </a:p>
            </p:txBody>
          </p:sp>
        </p:grpSp>
        <p:grpSp>
          <p:nvGrpSpPr>
            <p:cNvPr id="49" name="object 13">
              <a:extLst>
                <a:ext uri="{FF2B5EF4-FFF2-40B4-BE49-F238E27FC236}">
                  <a16:creationId xmlns:a16="http://schemas.microsoft.com/office/drawing/2014/main" id="{06BC34F2-C0B9-E5BA-37F5-EE150285CC16}"/>
                </a:ext>
              </a:extLst>
            </p:cNvPr>
            <p:cNvGrpSpPr/>
            <p:nvPr/>
          </p:nvGrpSpPr>
          <p:grpSpPr>
            <a:xfrm>
              <a:off x="9296887" y="2419637"/>
              <a:ext cx="1221105" cy="218440"/>
              <a:chOff x="9296887" y="2419637"/>
              <a:chExt cx="1221105" cy="218440"/>
            </a:xfrm>
          </p:grpSpPr>
          <p:sp>
            <p:nvSpPr>
              <p:cNvPr id="51" name="object 14">
                <a:extLst>
                  <a:ext uri="{FF2B5EF4-FFF2-40B4-BE49-F238E27FC236}">
                    <a16:creationId xmlns:a16="http://schemas.microsoft.com/office/drawing/2014/main" id="{0233007B-79A4-DC90-9928-51F2EDE14ABD}"/>
                  </a:ext>
                </a:extLst>
              </p:cNvPr>
              <p:cNvSpPr/>
              <p:nvPr/>
            </p:nvSpPr>
            <p:spPr>
              <a:xfrm>
                <a:off x="9301650" y="2424400"/>
                <a:ext cx="1211580" cy="208915"/>
              </a:xfrm>
              <a:custGeom>
                <a:avLst/>
                <a:gdLst/>
                <a:ahLst/>
                <a:cxnLst/>
                <a:rect l="l" t="t" r="r" b="b"/>
                <a:pathLst>
                  <a:path w="1211579" h="208914">
                    <a:moveTo>
                      <a:pt x="52199" y="208799"/>
                    </a:moveTo>
                    <a:lnTo>
                      <a:pt x="0" y="208799"/>
                    </a:lnTo>
                    <a:lnTo>
                      <a:pt x="0" y="91349"/>
                    </a:lnTo>
                    <a:lnTo>
                      <a:pt x="26755" y="26755"/>
                    </a:lnTo>
                    <a:lnTo>
                      <a:pt x="91349" y="0"/>
                    </a:lnTo>
                    <a:lnTo>
                      <a:pt x="1093949" y="0"/>
                    </a:lnTo>
                    <a:lnTo>
                      <a:pt x="1144631" y="15347"/>
                    </a:lnTo>
                    <a:lnTo>
                      <a:pt x="1176108" y="52199"/>
                    </a:lnTo>
                    <a:lnTo>
                      <a:pt x="91349" y="52199"/>
                    </a:lnTo>
                    <a:lnTo>
                      <a:pt x="76111" y="55276"/>
                    </a:lnTo>
                    <a:lnTo>
                      <a:pt x="63666" y="63666"/>
                    </a:lnTo>
                    <a:lnTo>
                      <a:pt x="55276" y="76111"/>
                    </a:lnTo>
                    <a:lnTo>
                      <a:pt x="52199" y="91349"/>
                    </a:lnTo>
                    <a:lnTo>
                      <a:pt x="52199" y="208799"/>
                    </a:lnTo>
                    <a:close/>
                  </a:path>
                  <a:path w="1211579" h="208914">
                    <a:moveTo>
                      <a:pt x="1185299" y="104399"/>
                    </a:moveTo>
                    <a:lnTo>
                      <a:pt x="1133099" y="104399"/>
                    </a:lnTo>
                    <a:lnTo>
                      <a:pt x="1133099" y="91349"/>
                    </a:lnTo>
                    <a:lnTo>
                      <a:pt x="1130023" y="76111"/>
                    </a:lnTo>
                    <a:lnTo>
                      <a:pt x="1121633" y="63666"/>
                    </a:lnTo>
                    <a:lnTo>
                      <a:pt x="1109188" y="55276"/>
                    </a:lnTo>
                    <a:lnTo>
                      <a:pt x="1093949" y="52199"/>
                    </a:lnTo>
                    <a:lnTo>
                      <a:pt x="1176108" y="52199"/>
                    </a:lnTo>
                    <a:lnTo>
                      <a:pt x="1178346" y="56391"/>
                    </a:lnTo>
                    <a:lnTo>
                      <a:pt x="1183528" y="73445"/>
                    </a:lnTo>
                    <a:lnTo>
                      <a:pt x="1185299" y="91349"/>
                    </a:lnTo>
                    <a:lnTo>
                      <a:pt x="1185299" y="104399"/>
                    </a:lnTo>
                    <a:close/>
                  </a:path>
                  <a:path w="1211579" h="208914">
                    <a:moveTo>
                      <a:pt x="1159199" y="156599"/>
                    </a:moveTo>
                    <a:lnTo>
                      <a:pt x="1106999" y="104399"/>
                    </a:lnTo>
                    <a:lnTo>
                      <a:pt x="1211399" y="104399"/>
                    </a:lnTo>
                    <a:lnTo>
                      <a:pt x="1159199" y="156599"/>
                    </a:lnTo>
                    <a:close/>
                  </a:path>
                </a:pathLst>
              </a:custGeom>
              <a:solidFill>
                <a:srgbClr val="BEC0C1"/>
              </a:solidFill>
            </p:spPr>
            <p:txBody>
              <a:bodyPr wrap="square" lIns="0" tIns="0" rIns="0" bIns="0" rtlCol="0"/>
              <a:lstStyle/>
              <a:p>
                <a:endParaRPr/>
              </a:p>
            </p:txBody>
          </p:sp>
          <p:sp>
            <p:nvSpPr>
              <p:cNvPr id="52" name="object 15">
                <a:extLst>
                  <a:ext uri="{FF2B5EF4-FFF2-40B4-BE49-F238E27FC236}">
                    <a16:creationId xmlns:a16="http://schemas.microsoft.com/office/drawing/2014/main" id="{78DB7076-6CA7-0986-F6B9-8CF9C4FA219E}"/>
                  </a:ext>
                </a:extLst>
              </p:cNvPr>
              <p:cNvSpPr/>
              <p:nvPr/>
            </p:nvSpPr>
            <p:spPr>
              <a:xfrm>
                <a:off x="9301650" y="2424400"/>
                <a:ext cx="1211580" cy="208915"/>
              </a:xfrm>
              <a:custGeom>
                <a:avLst/>
                <a:gdLst/>
                <a:ahLst/>
                <a:cxnLst/>
                <a:rect l="l" t="t" r="r" b="b"/>
                <a:pathLst>
                  <a:path w="1211579" h="208914">
                    <a:moveTo>
                      <a:pt x="0" y="208799"/>
                    </a:moveTo>
                    <a:lnTo>
                      <a:pt x="0" y="91349"/>
                    </a:lnTo>
                    <a:lnTo>
                      <a:pt x="7178" y="55792"/>
                    </a:lnTo>
                    <a:lnTo>
                      <a:pt x="26755" y="26755"/>
                    </a:lnTo>
                    <a:lnTo>
                      <a:pt x="55792" y="7178"/>
                    </a:lnTo>
                    <a:lnTo>
                      <a:pt x="91349" y="0"/>
                    </a:lnTo>
                    <a:lnTo>
                      <a:pt x="1093949" y="0"/>
                    </a:lnTo>
                    <a:lnTo>
                      <a:pt x="1144631" y="15347"/>
                    </a:lnTo>
                    <a:lnTo>
                      <a:pt x="1178346" y="56391"/>
                    </a:lnTo>
                    <a:lnTo>
                      <a:pt x="1185299" y="91349"/>
                    </a:lnTo>
                    <a:lnTo>
                      <a:pt x="1185299" y="104399"/>
                    </a:lnTo>
                    <a:lnTo>
                      <a:pt x="1211399" y="104399"/>
                    </a:lnTo>
                    <a:lnTo>
                      <a:pt x="1159199" y="156599"/>
                    </a:lnTo>
                    <a:lnTo>
                      <a:pt x="1106999" y="104399"/>
                    </a:lnTo>
                    <a:lnTo>
                      <a:pt x="1133099" y="104399"/>
                    </a:lnTo>
                    <a:lnTo>
                      <a:pt x="1133099" y="91349"/>
                    </a:lnTo>
                    <a:lnTo>
                      <a:pt x="1130023" y="76111"/>
                    </a:lnTo>
                    <a:lnTo>
                      <a:pt x="1121633" y="63666"/>
                    </a:lnTo>
                    <a:lnTo>
                      <a:pt x="1109188" y="55276"/>
                    </a:lnTo>
                    <a:lnTo>
                      <a:pt x="1093949" y="52199"/>
                    </a:lnTo>
                    <a:lnTo>
                      <a:pt x="91349" y="52199"/>
                    </a:lnTo>
                    <a:lnTo>
                      <a:pt x="76111" y="55276"/>
                    </a:lnTo>
                    <a:lnTo>
                      <a:pt x="63666" y="63666"/>
                    </a:lnTo>
                    <a:lnTo>
                      <a:pt x="55276" y="76111"/>
                    </a:lnTo>
                    <a:lnTo>
                      <a:pt x="52199" y="91349"/>
                    </a:lnTo>
                    <a:lnTo>
                      <a:pt x="52199" y="208799"/>
                    </a:lnTo>
                    <a:lnTo>
                      <a:pt x="0" y="208799"/>
                    </a:lnTo>
                    <a:close/>
                  </a:path>
                </a:pathLst>
              </a:custGeom>
              <a:ln w="9524">
                <a:solidFill>
                  <a:srgbClr val="0F2044"/>
                </a:solidFill>
              </a:ln>
            </p:spPr>
            <p:txBody>
              <a:bodyPr wrap="square" lIns="0" tIns="0" rIns="0" bIns="0" rtlCol="0"/>
              <a:lstStyle/>
              <a:p>
                <a:endParaRPr/>
              </a:p>
            </p:txBody>
          </p:sp>
        </p:grpSp>
        <p:pic>
          <p:nvPicPr>
            <p:cNvPr id="50" name="Picture 49">
              <a:extLst>
                <a:ext uri="{FF2B5EF4-FFF2-40B4-BE49-F238E27FC236}">
                  <a16:creationId xmlns:a16="http://schemas.microsoft.com/office/drawing/2014/main" id="{B92AF533-7060-4238-C8B4-F5F82A7A9771}"/>
                </a:ext>
              </a:extLst>
            </p:cNvPr>
            <p:cNvPicPr>
              <a:picLocks noChangeAspect="1"/>
            </p:cNvPicPr>
            <p:nvPr/>
          </p:nvPicPr>
          <p:blipFill>
            <a:blip r:embed="rId2"/>
            <a:stretch>
              <a:fillRect/>
            </a:stretch>
          </p:blipFill>
          <p:spPr>
            <a:xfrm>
              <a:off x="434970" y="2819360"/>
              <a:ext cx="10309230" cy="457240"/>
            </a:xfrm>
            <a:prstGeom prst="rect">
              <a:avLst/>
            </a:prstGeom>
          </p:spPr>
        </p:pic>
      </p:grpSp>
      <p:sp>
        <p:nvSpPr>
          <p:cNvPr id="3" name="object 3"/>
          <p:cNvSpPr txBox="1"/>
          <p:nvPr/>
        </p:nvSpPr>
        <p:spPr>
          <a:xfrm>
            <a:off x="565799" y="3464721"/>
            <a:ext cx="7435201" cy="2100575"/>
          </a:xfrm>
          <a:prstGeom prst="rect">
            <a:avLst/>
          </a:prstGeom>
        </p:spPr>
        <p:txBody>
          <a:bodyPr vert="horz" wrap="square" lIns="0" tIns="149860" rIns="0" bIns="0" rtlCol="0">
            <a:spAutoFit/>
          </a:bodyPr>
          <a:lstStyle/>
          <a:p>
            <a:pPr marL="379095" indent="-366395">
              <a:lnSpc>
                <a:spcPct val="100000"/>
              </a:lnSpc>
              <a:spcBef>
                <a:spcPts val="1180"/>
              </a:spcBef>
              <a:buChar char="●"/>
              <a:tabLst>
                <a:tab pos="379095" algn="l"/>
              </a:tabLst>
            </a:pPr>
            <a:r>
              <a:rPr dirty="0">
                <a:solidFill>
                  <a:srgbClr val="0F2044"/>
                </a:solidFill>
                <a:latin typeface="Arial MT"/>
                <a:cs typeface="Arial MT"/>
              </a:rPr>
              <a:t>Join</a:t>
            </a:r>
            <a:r>
              <a:rPr spc="-25" dirty="0">
                <a:solidFill>
                  <a:srgbClr val="0F2044"/>
                </a:solidFill>
                <a:latin typeface="Arial MT"/>
                <a:cs typeface="Arial MT"/>
              </a:rPr>
              <a:t> </a:t>
            </a:r>
            <a:r>
              <a:rPr dirty="0">
                <a:solidFill>
                  <a:srgbClr val="0F2044"/>
                </a:solidFill>
                <a:latin typeface="Arial MT"/>
                <a:cs typeface="Arial MT"/>
              </a:rPr>
              <a:t>(coalesce)</a:t>
            </a:r>
            <a:r>
              <a:rPr spc="-15" dirty="0">
                <a:solidFill>
                  <a:srgbClr val="0F2044"/>
                </a:solidFill>
                <a:latin typeface="Arial MT"/>
                <a:cs typeface="Arial MT"/>
              </a:rPr>
              <a:t> </a:t>
            </a:r>
            <a:r>
              <a:rPr dirty="0">
                <a:solidFill>
                  <a:srgbClr val="0F2044"/>
                </a:solidFill>
                <a:latin typeface="Arial MT"/>
                <a:cs typeface="Arial MT"/>
              </a:rPr>
              <a:t>with</a:t>
            </a:r>
            <a:r>
              <a:rPr spc="-15" dirty="0">
                <a:solidFill>
                  <a:srgbClr val="0F2044"/>
                </a:solidFill>
                <a:latin typeface="Arial MT"/>
                <a:cs typeface="Arial MT"/>
              </a:rPr>
              <a:t> </a:t>
            </a:r>
            <a:r>
              <a:rPr dirty="0">
                <a:solidFill>
                  <a:srgbClr val="0F2044"/>
                </a:solidFill>
                <a:latin typeface="Arial MT"/>
                <a:cs typeface="Arial MT"/>
              </a:rPr>
              <a:t>next/previous</a:t>
            </a:r>
            <a:r>
              <a:rPr spc="-15" dirty="0">
                <a:solidFill>
                  <a:srgbClr val="0F2044"/>
                </a:solidFill>
                <a:latin typeface="Arial MT"/>
                <a:cs typeface="Arial MT"/>
              </a:rPr>
              <a:t> </a:t>
            </a:r>
            <a:r>
              <a:rPr dirty="0">
                <a:solidFill>
                  <a:srgbClr val="0F2044"/>
                </a:solidFill>
                <a:latin typeface="Arial MT"/>
                <a:cs typeface="Arial MT"/>
              </a:rPr>
              <a:t>blocks,</a:t>
            </a:r>
            <a:r>
              <a:rPr spc="-15" dirty="0">
                <a:solidFill>
                  <a:srgbClr val="0F2044"/>
                </a:solidFill>
                <a:latin typeface="Arial MT"/>
                <a:cs typeface="Arial MT"/>
              </a:rPr>
              <a:t> </a:t>
            </a:r>
            <a:r>
              <a:rPr dirty="0">
                <a:solidFill>
                  <a:srgbClr val="0F2044"/>
                </a:solidFill>
                <a:latin typeface="Arial MT"/>
                <a:cs typeface="Arial MT"/>
              </a:rPr>
              <a:t>if</a:t>
            </a:r>
            <a:r>
              <a:rPr spc="-15" dirty="0">
                <a:solidFill>
                  <a:srgbClr val="0F2044"/>
                </a:solidFill>
                <a:latin typeface="Arial MT"/>
                <a:cs typeface="Arial MT"/>
              </a:rPr>
              <a:t> </a:t>
            </a:r>
            <a:r>
              <a:rPr dirty="0">
                <a:solidFill>
                  <a:srgbClr val="0F2044"/>
                </a:solidFill>
                <a:latin typeface="Arial MT"/>
                <a:cs typeface="Arial MT"/>
              </a:rPr>
              <a:t>they</a:t>
            </a:r>
            <a:r>
              <a:rPr spc="-15" dirty="0">
                <a:solidFill>
                  <a:srgbClr val="0F2044"/>
                </a:solidFill>
                <a:latin typeface="Arial MT"/>
                <a:cs typeface="Arial MT"/>
              </a:rPr>
              <a:t> </a:t>
            </a:r>
            <a:r>
              <a:rPr dirty="0">
                <a:solidFill>
                  <a:srgbClr val="0F2044"/>
                </a:solidFill>
                <a:latin typeface="Arial MT"/>
                <a:cs typeface="Arial MT"/>
              </a:rPr>
              <a:t>are</a:t>
            </a:r>
            <a:r>
              <a:rPr spc="-10" dirty="0">
                <a:solidFill>
                  <a:srgbClr val="0F2044"/>
                </a:solidFill>
                <a:latin typeface="Arial MT"/>
                <a:cs typeface="Arial MT"/>
              </a:rPr>
              <a:t> </a:t>
            </a:r>
            <a:r>
              <a:rPr spc="-20" dirty="0">
                <a:solidFill>
                  <a:srgbClr val="0F2044"/>
                </a:solidFill>
                <a:latin typeface="Arial MT"/>
                <a:cs typeface="Arial MT"/>
              </a:rPr>
              <a:t>free</a:t>
            </a:r>
            <a:endParaRPr dirty="0">
              <a:latin typeface="Arial MT"/>
              <a:cs typeface="Arial MT"/>
            </a:endParaRPr>
          </a:p>
          <a:p>
            <a:pPr marL="379095" indent="-366395">
              <a:lnSpc>
                <a:spcPct val="100000"/>
              </a:lnSpc>
              <a:spcBef>
                <a:spcPts val="1080"/>
              </a:spcBef>
              <a:buChar char="●"/>
              <a:tabLst>
                <a:tab pos="379095" algn="l"/>
              </a:tabLst>
            </a:pPr>
            <a:r>
              <a:rPr dirty="0">
                <a:solidFill>
                  <a:srgbClr val="0F2044"/>
                </a:solidFill>
                <a:latin typeface="Arial MT"/>
                <a:cs typeface="Arial MT"/>
              </a:rPr>
              <a:t>Coalesce</a:t>
            </a:r>
            <a:r>
              <a:rPr spc="-35" dirty="0">
                <a:solidFill>
                  <a:srgbClr val="0F2044"/>
                </a:solidFill>
                <a:latin typeface="Arial MT"/>
                <a:cs typeface="Arial MT"/>
              </a:rPr>
              <a:t> </a:t>
            </a:r>
            <a:r>
              <a:rPr dirty="0">
                <a:solidFill>
                  <a:srgbClr val="0F2044"/>
                </a:solidFill>
                <a:latin typeface="Arial MT"/>
                <a:cs typeface="Arial MT"/>
              </a:rPr>
              <a:t>with</a:t>
            </a:r>
            <a:r>
              <a:rPr spc="-20" dirty="0">
                <a:solidFill>
                  <a:srgbClr val="0F2044"/>
                </a:solidFill>
                <a:latin typeface="Arial MT"/>
                <a:cs typeface="Arial MT"/>
              </a:rPr>
              <a:t> </a:t>
            </a:r>
            <a:r>
              <a:rPr dirty="0">
                <a:solidFill>
                  <a:srgbClr val="0F2044"/>
                </a:solidFill>
                <a:latin typeface="Arial MT"/>
                <a:cs typeface="Arial MT"/>
              </a:rPr>
              <a:t>next</a:t>
            </a:r>
            <a:r>
              <a:rPr spc="-25" dirty="0">
                <a:solidFill>
                  <a:srgbClr val="0F2044"/>
                </a:solidFill>
                <a:latin typeface="Arial MT"/>
                <a:cs typeface="Arial MT"/>
              </a:rPr>
              <a:t> </a:t>
            </a:r>
            <a:r>
              <a:rPr dirty="0">
                <a:solidFill>
                  <a:srgbClr val="0F2044"/>
                </a:solidFill>
                <a:latin typeface="Arial MT"/>
                <a:cs typeface="Arial MT"/>
              </a:rPr>
              <a:t>block</a:t>
            </a:r>
            <a:r>
              <a:rPr spc="-20" dirty="0">
                <a:solidFill>
                  <a:srgbClr val="0F2044"/>
                </a:solidFill>
                <a:latin typeface="Arial MT"/>
                <a:cs typeface="Arial MT"/>
              </a:rPr>
              <a:t> </a:t>
            </a:r>
            <a:r>
              <a:rPr dirty="0">
                <a:solidFill>
                  <a:srgbClr val="0F2044"/>
                </a:solidFill>
                <a:latin typeface="Arial MT"/>
                <a:cs typeface="Arial MT"/>
              </a:rPr>
              <a:t>→</a:t>
            </a:r>
            <a:r>
              <a:rPr spc="-25" dirty="0">
                <a:solidFill>
                  <a:srgbClr val="0F2044"/>
                </a:solidFill>
                <a:latin typeface="Arial MT"/>
                <a:cs typeface="Arial MT"/>
              </a:rPr>
              <a:t> </a:t>
            </a:r>
            <a:r>
              <a:rPr dirty="0">
                <a:solidFill>
                  <a:srgbClr val="0F2044"/>
                </a:solidFill>
                <a:latin typeface="Arial MT"/>
                <a:cs typeface="Arial MT"/>
              </a:rPr>
              <a:t>simple</a:t>
            </a:r>
            <a:r>
              <a:rPr spc="-20" dirty="0">
                <a:solidFill>
                  <a:srgbClr val="0F2044"/>
                </a:solidFill>
                <a:latin typeface="Arial MT"/>
                <a:cs typeface="Arial MT"/>
              </a:rPr>
              <a:t> </a:t>
            </a:r>
            <a:r>
              <a:rPr dirty="0">
                <a:solidFill>
                  <a:srgbClr val="0F2044"/>
                </a:solidFill>
                <a:latin typeface="Arial MT"/>
                <a:cs typeface="Arial MT"/>
              </a:rPr>
              <a:t>because</a:t>
            </a:r>
            <a:r>
              <a:rPr spc="-25" dirty="0">
                <a:solidFill>
                  <a:srgbClr val="0F2044"/>
                </a:solidFill>
                <a:latin typeface="Arial MT"/>
                <a:cs typeface="Arial MT"/>
              </a:rPr>
              <a:t> </a:t>
            </a:r>
            <a:r>
              <a:rPr dirty="0">
                <a:solidFill>
                  <a:srgbClr val="0F2044"/>
                </a:solidFill>
                <a:latin typeface="Arial MT"/>
                <a:cs typeface="Arial MT"/>
              </a:rPr>
              <a:t>of</a:t>
            </a:r>
            <a:r>
              <a:rPr spc="-20" dirty="0">
                <a:solidFill>
                  <a:srgbClr val="0F2044"/>
                </a:solidFill>
                <a:latin typeface="Arial MT"/>
                <a:cs typeface="Arial MT"/>
              </a:rPr>
              <a:t> </a:t>
            </a:r>
            <a:r>
              <a:rPr dirty="0">
                <a:solidFill>
                  <a:srgbClr val="0F2044"/>
                </a:solidFill>
                <a:latin typeface="Arial MT"/>
                <a:cs typeface="Arial MT"/>
              </a:rPr>
              <a:t>forward</a:t>
            </a:r>
            <a:r>
              <a:rPr spc="-20" dirty="0">
                <a:solidFill>
                  <a:srgbClr val="0F2044"/>
                </a:solidFill>
                <a:latin typeface="Arial MT"/>
                <a:cs typeface="Arial MT"/>
              </a:rPr>
              <a:t> </a:t>
            </a:r>
            <a:r>
              <a:rPr spc="-10" dirty="0">
                <a:solidFill>
                  <a:srgbClr val="0F2044"/>
                </a:solidFill>
                <a:latin typeface="Arial MT"/>
                <a:cs typeface="Arial MT"/>
              </a:rPr>
              <a:t>search</a:t>
            </a:r>
            <a:endParaRPr dirty="0">
              <a:latin typeface="Arial MT"/>
              <a:cs typeface="Arial MT"/>
            </a:endParaRPr>
          </a:p>
          <a:p>
            <a:pPr marL="379095" indent="-366395">
              <a:lnSpc>
                <a:spcPct val="100000"/>
              </a:lnSpc>
              <a:spcBef>
                <a:spcPts val="1080"/>
              </a:spcBef>
              <a:buChar char="●"/>
              <a:tabLst>
                <a:tab pos="379095" algn="l"/>
              </a:tabLst>
            </a:pPr>
            <a:r>
              <a:rPr dirty="0">
                <a:solidFill>
                  <a:srgbClr val="0F2044"/>
                </a:solidFill>
                <a:latin typeface="Arial MT"/>
                <a:cs typeface="Arial MT"/>
              </a:rPr>
              <a:t>How</a:t>
            </a:r>
            <a:r>
              <a:rPr spc="-30" dirty="0">
                <a:solidFill>
                  <a:srgbClr val="0F2044"/>
                </a:solidFill>
                <a:latin typeface="Arial MT"/>
                <a:cs typeface="Arial MT"/>
              </a:rPr>
              <a:t> </a:t>
            </a:r>
            <a:r>
              <a:rPr dirty="0">
                <a:solidFill>
                  <a:srgbClr val="0F2044"/>
                </a:solidFill>
                <a:latin typeface="Arial MT"/>
                <a:cs typeface="Arial MT"/>
              </a:rPr>
              <a:t>do</a:t>
            </a:r>
            <a:r>
              <a:rPr spc="-15" dirty="0">
                <a:solidFill>
                  <a:srgbClr val="0F2044"/>
                </a:solidFill>
                <a:latin typeface="Arial MT"/>
                <a:cs typeface="Arial MT"/>
              </a:rPr>
              <a:t> </a:t>
            </a:r>
            <a:r>
              <a:rPr dirty="0">
                <a:solidFill>
                  <a:srgbClr val="0F2044"/>
                </a:solidFill>
                <a:latin typeface="Arial MT"/>
                <a:cs typeface="Arial MT"/>
              </a:rPr>
              <a:t>we</a:t>
            </a:r>
            <a:r>
              <a:rPr spc="-15" dirty="0">
                <a:solidFill>
                  <a:srgbClr val="0F2044"/>
                </a:solidFill>
                <a:latin typeface="Arial MT"/>
                <a:cs typeface="Arial MT"/>
              </a:rPr>
              <a:t> </a:t>
            </a:r>
            <a:r>
              <a:rPr dirty="0">
                <a:solidFill>
                  <a:srgbClr val="0F2044"/>
                </a:solidFill>
                <a:latin typeface="Arial MT"/>
                <a:cs typeface="Arial MT"/>
              </a:rPr>
              <a:t>coalesce</a:t>
            </a:r>
            <a:r>
              <a:rPr spc="-20" dirty="0">
                <a:solidFill>
                  <a:srgbClr val="0F2044"/>
                </a:solidFill>
                <a:latin typeface="Arial MT"/>
                <a:cs typeface="Arial MT"/>
              </a:rPr>
              <a:t> </a:t>
            </a:r>
            <a:r>
              <a:rPr dirty="0">
                <a:solidFill>
                  <a:srgbClr val="0F2044"/>
                </a:solidFill>
                <a:latin typeface="Arial MT"/>
                <a:cs typeface="Arial MT"/>
              </a:rPr>
              <a:t>with</a:t>
            </a:r>
            <a:r>
              <a:rPr spc="-15" dirty="0">
                <a:solidFill>
                  <a:srgbClr val="0F2044"/>
                </a:solidFill>
                <a:latin typeface="Arial MT"/>
                <a:cs typeface="Arial MT"/>
              </a:rPr>
              <a:t> </a:t>
            </a:r>
            <a:r>
              <a:rPr dirty="0">
                <a:solidFill>
                  <a:srgbClr val="0F2044"/>
                </a:solidFill>
                <a:latin typeface="Arial MT"/>
                <a:cs typeface="Arial MT"/>
              </a:rPr>
              <a:t>previous</a:t>
            </a:r>
            <a:r>
              <a:rPr spc="-15" dirty="0">
                <a:solidFill>
                  <a:srgbClr val="0F2044"/>
                </a:solidFill>
                <a:latin typeface="Arial MT"/>
                <a:cs typeface="Arial MT"/>
              </a:rPr>
              <a:t> </a:t>
            </a:r>
            <a:r>
              <a:rPr spc="-10" dirty="0">
                <a:solidFill>
                  <a:srgbClr val="0F2044"/>
                </a:solidFill>
                <a:latin typeface="Arial MT"/>
                <a:cs typeface="Arial MT"/>
              </a:rPr>
              <a:t>block?</a:t>
            </a:r>
            <a:endParaRPr dirty="0">
              <a:latin typeface="Arial MT"/>
              <a:cs typeface="Arial MT"/>
            </a:endParaRPr>
          </a:p>
          <a:p>
            <a:pPr marL="836294" lvl="1" indent="-366395">
              <a:lnSpc>
                <a:spcPct val="100000"/>
              </a:lnSpc>
              <a:spcBef>
                <a:spcPts val="1080"/>
              </a:spcBef>
              <a:buChar char="○"/>
              <a:tabLst>
                <a:tab pos="836294" algn="l"/>
              </a:tabLst>
            </a:pPr>
            <a:r>
              <a:rPr dirty="0">
                <a:solidFill>
                  <a:srgbClr val="0F2044"/>
                </a:solidFill>
                <a:latin typeface="Arial MT"/>
                <a:cs typeface="Arial MT"/>
              </a:rPr>
              <a:t>How</a:t>
            </a:r>
            <a:r>
              <a:rPr spc="-15" dirty="0">
                <a:solidFill>
                  <a:srgbClr val="0F2044"/>
                </a:solidFill>
                <a:latin typeface="Arial MT"/>
                <a:cs typeface="Arial MT"/>
              </a:rPr>
              <a:t> </a:t>
            </a:r>
            <a:r>
              <a:rPr dirty="0">
                <a:solidFill>
                  <a:srgbClr val="0F2044"/>
                </a:solidFill>
                <a:latin typeface="Arial MT"/>
                <a:cs typeface="Arial MT"/>
              </a:rPr>
              <a:t>do</a:t>
            </a:r>
            <a:r>
              <a:rPr spc="-15" dirty="0">
                <a:solidFill>
                  <a:srgbClr val="0F2044"/>
                </a:solidFill>
                <a:latin typeface="Arial MT"/>
                <a:cs typeface="Arial MT"/>
              </a:rPr>
              <a:t> </a:t>
            </a:r>
            <a:r>
              <a:rPr dirty="0">
                <a:solidFill>
                  <a:srgbClr val="0F2044"/>
                </a:solidFill>
                <a:latin typeface="Arial MT"/>
                <a:cs typeface="Arial MT"/>
              </a:rPr>
              <a:t>we</a:t>
            </a:r>
            <a:r>
              <a:rPr spc="-15" dirty="0">
                <a:solidFill>
                  <a:srgbClr val="0F2044"/>
                </a:solidFill>
                <a:latin typeface="Arial MT"/>
                <a:cs typeface="Arial MT"/>
              </a:rPr>
              <a:t> </a:t>
            </a:r>
            <a:r>
              <a:rPr dirty="0">
                <a:solidFill>
                  <a:srgbClr val="0F2044"/>
                </a:solidFill>
                <a:latin typeface="Arial MT"/>
                <a:cs typeface="Arial MT"/>
              </a:rPr>
              <a:t>know</a:t>
            </a:r>
            <a:r>
              <a:rPr spc="-15" dirty="0">
                <a:solidFill>
                  <a:srgbClr val="0F2044"/>
                </a:solidFill>
                <a:latin typeface="Arial MT"/>
                <a:cs typeface="Arial MT"/>
              </a:rPr>
              <a:t> </a:t>
            </a:r>
            <a:r>
              <a:rPr dirty="0">
                <a:solidFill>
                  <a:srgbClr val="0F2044"/>
                </a:solidFill>
                <a:latin typeface="Arial MT"/>
                <a:cs typeface="Arial MT"/>
              </a:rPr>
              <a:t>where</a:t>
            </a:r>
            <a:r>
              <a:rPr spc="-15" dirty="0">
                <a:solidFill>
                  <a:srgbClr val="0F2044"/>
                </a:solidFill>
                <a:latin typeface="Arial MT"/>
                <a:cs typeface="Arial MT"/>
              </a:rPr>
              <a:t> </a:t>
            </a:r>
            <a:r>
              <a:rPr dirty="0">
                <a:solidFill>
                  <a:srgbClr val="0F2044"/>
                </a:solidFill>
                <a:latin typeface="Arial MT"/>
                <a:cs typeface="Arial MT"/>
              </a:rPr>
              <a:t>it</a:t>
            </a:r>
            <a:r>
              <a:rPr spc="-15" dirty="0">
                <a:solidFill>
                  <a:srgbClr val="0F2044"/>
                </a:solidFill>
                <a:latin typeface="Arial MT"/>
                <a:cs typeface="Arial MT"/>
              </a:rPr>
              <a:t> </a:t>
            </a:r>
            <a:r>
              <a:rPr spc="-10" dirty="0">
                <a:solidFill>
                  <a:srgbClr val="0F2044"/>
                </a:solidFill>
                <a:latin typeface="Arial MT"/>
                <a:cs typeface="Arial MT"/>
              </a:rPr>
              <a:t>starts?</a:t>
            </a:r>
            <a:endParaRPr dirty="0">
              <a:latin typeface="Arial MT"/>
              <a:cs typeface="Arial MT"/>
            </a:endParaRPr>
          </a:p>
          <a:p>
            <a:pPr marL="836294" lvl="1" indent="-366395">
              <a:lnSpc>
                <a:spcPct val="100000"/>
              </a:lnSpc>
              <a:spcBef>
                <a:spcPts val="1080"/>
              </a:spcBef>
              <a:buChar char="○"/>
              <a:tabLst>
                <a:tab pos="836294" algn="l"/>
              </a:tabLst>
            </a:pPr>
            <a:r>
              <a:rPr dirty="0">
                <a:solidFill>
                  <a:srgbClr val="0F2044"/>
                </a:solidFill>
                <a:latin typeface="Arial MT"/>
                <a:cs typeface="Arial MT"/>
              </a:rPr>
              <a:t>How</a:t>
            </a:r>
            <a:r>
              <a:rPr spc="-25" dirty="0">
                <a:solidFill>
                  <a:srgbClr val="0F2044"/>
                </a:solidFill>
                <a:latin typeface="Arial MT"/>
                <a:cs typeface="Arial MT"/>
              </a:rPr>
              <a:t> </a:t>
            </a:r>
            <a:r>
              <a:rPr dirty="0">
                <a:solidFill>
                  <a:srgbClr val="0F2044"/>
                </a:solidFill>
                <a:latin typeface="Arial MT"/>
                <a:cs typeface="Arial MT"/>
              </a:rPr>
              <a:t>can</a:t>
            </a:r>
            <a:r>
              <a:rPr spc="-15" dirty="0">
                <a:solidFill>
                  <a:srgbClr val="0F2044"/>
                </a:solidFill>
                <a:latin typeface="Arial MT"/>
                <a:cs typeface="Arial MT"/>
              </a:rPr>
              <a:t> </a:t>
            </a:r>
            <a:r>
              <a:rPr dirty="0">
                <a:solidFill>
                  <a:srgbClr val="0F2044"/>
                </a:solidFill>
                <a:latin typeface="Arial MT"/>
                <a:cs typeface="Arial MT"/>
              </a:rPr>
              <a:t>we</a:t>
            </a:r>
            <a:r>
              <a:rPr spc="-15" dirty="0">
                <a:solidFill>
                  <a:srgbClr val="0F2044"/>
                </a:solidFill>
                <a:latin typeface="Arial MT"/>
                <a:cs typeface="Arial MT"/>
              </a:rPr>
              <a:t> </a:t>
            </a:r>
            <a:r>
              <a:rPr dirty="0">
                <a:solidFill>
                  <a:srgbClr val="0F2044"/>
                </a:solidFill>
                <a:latin typeface="Arial MT"/>
                <a:cs typeface="Arial MT"/>
              </a:rPr>
              <a:t>determine</a:t>
            </a:r>
            <a:r>
              <a:rPr spc="-15" dirty="0">
                <a:solidFill>
                  <a:srgbClr val="0F2044"/>
                </a:solidFill>
                <a:latin typeface="Arial MT"/>
                <a:cs typeface="Arial MT"/>
              </a:rPr>
              <a:t> </a:t>
            </a:r>
            <a:r>
              <a:rPr dirty="0">
                <a:solidFill>
                  <a:srgbClr val="0F2044"/>
                </a:solidFill>
                <a:latin typeface="Arial MT"/>
                <a:cs typeface="Arial MT"/>
              </a:rPr>
              <a:t>whether</a:t>
            </a:r>
            <a:r>
              <a:rPr spc="-15" dirty="0">
                <a:solidFill>
                  <a:srgbClr val="0F2044"/>
                </a:solidFill>
                <a:latin typeface="Arial MT"/>
                <a:cs typeface="Arial MT"/>
              </a:rPr>
              <a:t> </a:t>
            </a:r>
            <a:r>
              <a:rPr dirty="0">
                <a:solidFill>
                  <a:srgbClr val="0F2044"/>
                </a:solidFill>
                <a:latin typeface="Arial MT"/>
                <a:cs typeface="Arial MT"/>
              </a:rPr>
              <a:t>it</a:t>
            </a:r>
            <a:r>
              <a:rPr spc="-15" dirty="0">
                <a:solidFill>
                  <a:srgbClr val="0F2044"/>
                </a:solidFill>
                <a:latin typeface="Arial MT"/>
                <a:cs typeface="Arial MT"/>
              </a:rPr>
              <a:t> </a:t>
            </a:r>
            <a:r>
              <a:rPr dirty="0">
                <a:solidFill>
                  <a:srgbClr val="0F2044"/>
                </a:solidFill>
                <a:latin typeface="Arial MT"/>
                <a:cs typeface="Arial MT"/>
              </a:rPr>
              <a:t>is</a:t>
            </a:r>
            <a:r>
              <a:rPr spc="-15" dirty="0">
                <a:solidFill>
                  <a:srgbClr val="0F2044"/>
                </a:solidFill>
                <a:latin typeface="Arial MT"/>
                <a:cs typeface="Arial MT"/>
              </a:rPr>
              <a:t> </a:t>
            </a:r>
            <a:r>
              <a:rPr spc="-10" dirty="0">
                <a:solidFill>
                  <a:srgbClr val="0F2044"/>
                </a:solidFill>
                <a:latin typeface="Arial MT"/>
                <a:cs typeface="Arial MT"/>
              </a:rPr>
              <a:t>allocated?</a:t>
            </a:r>
            <a:endParaRPr dirty="0">
              <a:latin typeface="Arial MT"/>
              <a:cs typeface="Arial M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Implicit</a:t>
            </a:r>
            <a:r>
              <a:rPr spc="-90" dirty="0"/>
              <a:t> </a:t>
            </a:r>
            <a:r>
              <a:rPr dirty="0"/>
              <a:t>Free</a:t>
            </a:r>
            <a:r>
              <a:rPr spc="-90" dirty="0"/>
              <a:t> </a:t>
            </a:r>
            <a:r>
              <a:rPr dirty="0"/>
              <a:t>List:</a:t>
            </a:r>
            <a:r>
              <a:rPr spc="-85" dirty="0"/>
              <a:t> </a:t>
            </a:r>
            <a:r>
              <a:rPr spc="-10" dirty="0"/>
              <a:t>Bidirectional</a:t>
            </a:r>
            <a:r>
              <a:rPr spc="-90" dirty="0"/>
              <a:t> </a:t>
            </a:r>
            <a:r>
              <a:rPr spc="-10" dirty="0"/>
              <a:t>Coalescing</a:t>
            </a:r>
          </a:p>
        </p:txBody>
      </p:sp>
      <p:sp>
        <p:nvSpPr>
          <p:cNvPr id="3" name="object 3"/>
          <p:cNvSpPr txBox="1"/>
          <p:nvPr/>
        </p:nvSpPr>
        <p:spPr>
          <a:xfrm>
            <a:off x="533400" y="2590800"/>
            <a:ext cx="6295226" cy="3136756"/>
          </a:xfrm>
          <a:prstGeom prst="rect">
            <a:avLst/>
          </a:prstGeom>
        </p:spPr>
        <p:txBody>
          <a:bodyPr vert="horz" wrap="square" lIns="0" tIns="12700" rIns="0" bIns="0" rtlCol="0">
            <a:spAutoFit/>
          </a:bodyPr>
          <a:lstStyle/>
          <a:p>
            <a:pPr marL="12700">
              <a:lnSpc>
                <a:spcPct val="100000"/>
              </a:lnSpc>
              <a:spcBef>
                <a:spcPts val="100"/>
              </a:spcBef>
            </a:pPr>
            <a:r>
              <a:rPr b="1" dirty="0">
                <a:solidFill>
                  <a:srgbClr val="0F2044"/>
                </a:solidFill>
                <a:latin typeface="Arial"/>
                <a:cs typeface="Arial"/>
              </a:rPr>
              <a:t>Boundary</a:t>
            </a:r>
            <a:r>
              <a:rPr b="1" spc="-70" dirty="0">
                <a:solidFill>
                  <a:srgbClr val="0F2044"/>
                </a:solidFill>
                <a:latin typeface="Arial"/>
                <a:cs typeface="Arial"/>
              </a:rPr>
              <a:t> </a:t>
            </a:r>
            <a:r>
              <a:rPr b="1" spc="-10" dirty="0">
                <a:solidFill>
                  <a:srgbClr val="0F2044"/>
                </a:solidFill>
                <a:latin typeface="Arial"/>
                <a:cs typeface="Arial"/>
              </a:rPr>
              <a:t>Tags</a:t>
            </a:r>
            <a:r>
              <a:rPr b="1" spc="-65" dirty="0">
                <a:solidFill>
                  <a:srgbClr val="0F2044"/>
                </a:solidFill>
                <a:latin typeface="Arial"/>
                <a:cs typeface="Arial"/>
              </a:rPr>
              <a:t> </a:t>
            </a:r>
            <a:r>
              <a:rPr b="1" spc="-10" dirty="0">
                <a:solidFill>
                  <a:srgbClr val="0F2044"/>
                </a:solidFill>
                <a:latin typeface="Arial"/>
                <a:cs typeface="Arial"/>
              </a:rPr>
              <a:t>(Footer)</a:t>
            </a:r>
            <a:endParaRPr dirty="0">
              <a:latin typeface="Arial"/>
              <a:cs typeface="Arial"/>
            </a:endParaRPr>
          </a:p>
          <a:p>
            <a:pPr marL="469900" marR="5080" indent="-351790">
              <a:lnSpc>
                <a:spcPct val="150000"/>
              </a:lnSpc>
              <a:buChar char="●"/>
              <a:tabLst>
                <a:tab pos="469900" algn="l"/>
              </a:tabLst>
            </a:pPr>
            <a:r>
              <a:rPr dirty="0">
                <a:solidFill>
                  <a:srgbClr val="0F2044"/>
                </a:solidFill>
                <a:latin typeface="Arial MT"/>
                <a:cs typeface="Arial MT"/>
              </a:rPr>
              <a:t>Replicate</a:t>
            </a:r>
            <a:r>
              <a:rPr spc="-30" dirty="0">
                <a:solidFill>
                  <a:srgbClr val="0F2044"/>
                </a:solidFill>
                <a:latin typeface="Arial MT"/>
                <a:cs typeface="Arial MT"/>
              </a:rPr>
              <a:t> </a:t>
            </a:r>
            <a:r>
              <a:rPr dirty="0">
                <a:solidFill>
                  <a:srgbClr val="0F2044"/>
                </a:solidFill>
                <a:latin typeface="Arial MT"/>
                <a:cs typeface="Arial MT"/>
              </a:rPr>
              <a:t>header</a:t>
            </a:r>
            <a:r>
              <a:rPr spc="-30" dirty="0">
                <a:solidFill>
                  <a:srgbClr val="0F2044"/>
                </a:solidFill>
                <a:latin typeface="Arial MT"/>
                <a:cs typeface="Arial MT"/>
              </a:rPr>
              <a:t> </a:t>
            </a:r>
            <a:r>
              <a:rPr dirty="0">
                <a:solidFill>
                  <a:srgbClr val="0F2044"/>
                </a:solidFill>
                <a:latin typeface="Arial MT"/>
                <a:cs typeface="Arial MT"/>
              </a:rPr>
              <a:t>(size</a:t>
            </a:r>
            <a:r>
              <a:rPr spc="-25" dirty="0">
                <a:solidFill>
                  <a:srgbClr val="0F2044"/>
                </a:solidFill>
                <a:latin typeface="Arial MT"/>
                <a:cs typeface="Arial MT"/>
              </a:rPr>
              <a:t> </a:t>
            </a:r>
            <a:r>
              <a:rPr dirty="0">
                <a:solidFill>
                  <a:srgbClr val="0F2044"/>
                </a:solidFill>
                <a:latin typeface="Arial MT"/>
                <a:cs typeface="Arial MT"/>
              </a:rPr>
              <a:t>&amp;</a:t>
            </a:r>
            <a:r>
              <a:rPr spc="-30" dirty="0">
                <a:solidFill>
                  <a:srgbClr val="0F2044"/>
                </a:solidFill>
                <a:latin typeface="Arial MT"/>
                <a:cs typeface="Arial MT"/>
              </a:rPr>
              <a:t> </a:t>
            </a:r>
            <a:r>
              <a:rPr dirty="0">
                <a:solidFill>
                  <a:srgbClr val="0F2044"/>
                </a:solidFill>
                <a:latin typeface="Arial MT"/>
                <a:cs typeface="Arial MT"/>
              </a:rPr>
              <a:t>allocation</a:t>
            </a:r>
            <a:r>
              <a:rPr spc="-25" dirty="0">
                <a:solidFill>
                  <a:srgbClr val="0F2044"/>
                </a:solidFill>
                <a:latin typeface="Arial MT"/>
                <a:cs typeface="Arial MT"/>
              </a:rPr>
              <a:t> </a:t>
            </a:r>
            <a:r>
              <a:rPr dirty="0">
                <a:solidFill>
                  <a:srgbClr val="0F2044"/>
                </a:solidFill>
                <a:latin typeface="Arial MT"/>
                <a:cs typeface="Arial MT"/>
              </a:rPr>
              <a:t>flag)</a:t>
            </a:r>
            <a:r>
              <a:rPr spc="-30" dirty="0">
                <a:solidFill>
                  <a:srgbClr val="0F2044"/>
                </a:solidFill>
                <a:latin typeface="Arial MT"/>
                <a:cs typeface="Arial MT"/>
              </a:rPr>
              <a:t> </a:t>
            </a:r>
            <a:r>
              <a:rPr dirty="0">
                <a:solidFill>
                  <a:srgbClr val="0F2044"/>
                </a:solidFill>
                <a:latin typeface="Arial MT"/>
                <a:cs typeface="Arial MT"/>
              </a:rPr>
              <a:t>at</a:t>
            </a:r>
            <a:r>
              <a:rPr spc="-25" dirty="0">
                <a:solidFill>
                  <a:srgbClr val="0F2044"/>
                </a:solidFill>
                <a:latin typeface="Arial MT"/>
                <a:cs typeface="Arial MT"/>
              </a:rPr>
              <a:t> </a:t>
            </a:r>
            <a:r>
              <a:rPr dirty="0">
                <a:solidFill>
                  <a:srgbClr val="0F2044"/>
                </a:solidFill>
                <a:latin typeface="Arial MT"/>
                <a:cs typeface="Arial MT"/>
              </a:rPr>
              <a:t>the</a:t>
            </a:r>
            <a:r>
              <a:rPr spc="-30" dirty="0">
                <a:solidFill>
                  <a:srgbClr val="0F2044"/>
                </a:solidFill>
                <a:latin typeface="Arial MT"/>
                <a:cs typeface="Arial MT"/>
              </a:rPr>
              <a:t> </a:t>
            </a:r>
            <a:r>
              <a:rPr dirty="0">
                <a:solidFill>
                  <a:srgbClr val="0F2044"/>
                </a:solidFill>
                <a:latin typeface="Arial MT"/>
                <a:cs typeface="Arial MT"/>
              </a:rPr>
              <a:t>bottom</a:t>
            </a:r>
            <a:r>
              <a:rPr spc="-25" dirty="0">
                <a:solidFill>
                  <a:srgbClr val="0F2044"/>
                </a:solidFill>
                <a:latin typeface="Arial MT"/>
                <a:cs typeface="Arial MT"/>
              </a:rPr>
              <a:t> of </a:t>
            </a:r>
            <a:r>
              <a:rPr dirty="0">
                <a:solidFill>
                  <a:srgbClr val="0F2044"/>
                </a:solidFill>
                <a:latin typeface="Arial MT"/>
                <a:cs typeface="Arial MT"/>
              </a:rPr>
              <a:t>the</a:t>
            </a:r>
            <a:r>
              <a:rPr spc="-20" dirty="0">
                <a:solidFill>
                  <a:srgbClr val="0F2044"/>
                </a:solidFill>
                <a:latin typeface="Arial MT"/>
                <a:cs typeface="Arial MT"/>
              </a:rPr>
              <a:t> </a:t>
            </a:r>
            <a:r>
              <a:rPr dirty="0">
                <a:solidFill>
                  <a:srgbClr val="0F2044"/>
                </a:solidFill>
                <a:latin typeface="Arial MT"/>
                <a:cs typeface="Arial MT"/>
              </a:rPr>
              <a:t>block</a:t>
            </a:r>
            <a:r>
              <a:rPr spc="-15" dirty="0">
                <a:solidFill>
                  <a:srgbClr val="0F2044"/>
                </a:solidFill>
                <a:latin typeface="Arial MT"/>
                <a:cs typeface="Arial MT"/>
              </a:rPr>
              <a:t> </a:t>
            </a:r>
            <a:r>
              <a:rPr dirty="0">
                <a:solidFill>
                  <a:srgbClr val="0F2044"/>
                </a:solidFill>
                <a:latin typeface="Arial MT"/>
                <a:cs typeface="Arial MT"/>
              </a:rPr>
              <a:t>→</a:t>
            </a:r>
            <a:r>
              <a:rPr spc="-15" dirty="0">
                <a:solidFill>
                  <a:srgbClr val="0F2044"/>
                </a:solidFill>
                <a:latin typeface="Arial MT"/>
                <a:cs typeface="Arial MT"/>
              </a:rPr>
              <a:t> </a:t>
            </a:r>
            <a:r>
              <a:rPr spc="-10" dirty="0">
                <a:solidFill>
                  <a:srgbClr val="0F2044"/>
                </a:solidFill>
                <a:latin typeface="Arial MT"/>
                <a:cs typeface="Arial MT"/>
              </a:rPr>
              <a:t>footer</a:t>
            </a:r>
            <a:endParaRPr dirty="0">
              <a:latin typeface="Arial MT"/>
              <a:cs typeface="Arial MT"/>
            </a:endParaRPr>
          </a:p>
          <a:p>
            <a:pPr marL="469900" marR="323215" indent="-351790">
              <a:lnSpc>
                <a:spcPct val="150000"/>
              </a:lnSpc>
              <a:buChar char="●"/>
              <a:tabLst>
                <a:tab pos="469900" algn="l"/>
              </a:tabLst>
            </a:pPr>
            <a:r>
              <a:rPr dirty="0">
                <a:solidFill>
                  <a:srgbClr val="0F2044"/>
                </a:solidFill>
                <a:latin typeface="Arial MT"/>
                <a:cs typeface="Arial MT"/>
              </a:rPr>
              <a:t>Allows</a:t>
            </a:r>
            <a:r>
              <a:rPr spc="-35" dirty="0">
                <a:solidFill>
                  <a:srgbClr val="0F2044"/>
                </a:solidFill>
                <a:latin typeface="Arial MT"/>
                <a:cs typeface="Arial MT"/>
              </a:rPr>
              <a:t> </a:t>
            </a:r>
            <a:r>
              <a:rPr dirty="0">
                <a:solidFill>
                  <a:srgbClr val="0F2044"/>
                </a:solidFill>
                <a:latin typeface="Arial MT"/>
                <a:cs typeface="Arial MT"/>
              </a:rPr>
              <a:t>us</a:t>
            </a:r>
            <a:r>
              <a:rPr spc="-35" dirty="0">
                <a:solidFill>
                  <a:srgbClr val="0F2044"/>
                </a:solidFill>
                <a:latin typeface="Arial MT"/>
                <a:cs typeface="Arial MT"/>
              </a:rPr>
              <a:t> </a:t>
            </a:r>
            <a:r>
              <a:rPr dirty="0">
                <a:solidFill>
                  <a:srgbClr val="0F2044"/>
                </a:solidFill>
                <a:latin typeface="Arial MT"/>
                <a:cs typeface="Arial MT"/>
              </a:rPr>
              <a:t>to</a:t>
            </a:r>
            <a:r>
              <a:rPr spc="-35" dirty="0">
                <a:solidFill>
                  <a:srgbClr val="0F2044"/>
                </a:solidFill>
                <a:latin typeface="Arial MT"/>
                <a:cs typeface="Arial MT"/>
              </a:rPr>
              <a:t> </a:t>
            </a:r>
            <a:r>
              <a:rPr dirty="0">
                <a:solidFill>
                  <a:srgbClr val="0F2044"/>
                </a:solidFill>
                <a:latin typeface="Arial MT"/>
                <a:cs typeface="Arial MT"/>
              </a:rPr>
              <a:t>traverse</a:t>
            </a:r>
            <a:r>
              <a:rPr spc="-35" dirty="0">
                <a:solidFill>
                  <a:srgbClr val="0F2044"/>
                </a:solidFill>
                <a:latin typeface="Arial MT"/>
                <a:cs typeface="Arial MT"/>
              </a:rPr>
              <a:t> </a:t>
            </a:r>
            <a:r>
              <a:rPr dirty="0">
                <a:solidFill>
                  <a:srgbClr val="0F2044"/>
                </a:solidFill>
                <a:latin typeface="Arial MT"/>
                <a:cs typeface="Arial MT"/>
              </a:rPr>
              <a:t>the</a:t>
            </a:r>
            <a:r>
              <a:rPr spc="-35" dirty="0">
                <a:solidFill>
                  <a:srgbClr val="0F2044"/>
                </a:solidFill>
                <a:latin typeface="Arial MT"/>
                <a:cs typeface="Arial MT"/>
              </a:rPr>
              <a:t> </a:t>
            </a:r>
            <a:r>
              <a:rPr dirty="0">
                <a:solidFill>
                  <a:srgbClr val="0F2044"/>
                </a:solidFill>
                <a:latin typeface="Arial MT"/>
                <a:cs typeface="Arial MT"/>
              </a:rPr>
              <a:t>list</a:t>
            </a:r>
            <a:r>
              <a:rPr spc="-35" dirty="0">
                <a:solidFill>
                  <a:srgbClr val="0F2044"/>
                </a:solidFill>
                <a:latin typeface="Arial MT"/>
                <a:cs typeface="Arial MT"/>
              </a:rPr>
              <a:t> </a:t>
            </a:r>
            <a:r>
              <a:rPr dirty="0">
                <a:solidFill>
                  <a:srgbClr val="0F2044"/>
                </a:solidFill>
                <a:latin typeface="Arial MT"/>
                <a:cs typeface="Arial MT"/>
              </a:rPr>
              <a:t>backwards,</a:t>
            </a:r>
            <a:r>
              <a:rPr spc="-35" dirty="0">
                <a:solidFill>
                  <a:srgbClr val="0F2044"/>
                </a:solidFill>
                <a:latin typeface="Arial MT"/>
                <a:cs typeface="Arial MT"/>
              </a:rPr>
              <a:t> </a:t>
            </a:r>
            <a:r>
              <a:rPr dirty="0">
                <a:solidFill>
                  <a:srgbClr val="0F2044"/>
                </a:solidFill>
                <a:latin typeface="Arial MT"/>
                <a:cs typeface="Arial MT"/>
              </a:rPr>
              <a:t>but</a:t>
            </a:r>
            <a:r>
              <a:rPr spc="-35" dirty="0">
                <a:solidFill>
                  <a:srgbClr val="0F2044"/>
                </a:solidFill>
                <a:latin typeface="Arial MT"/>
                <a:cs typeface="Arial MT"/>
              </a:rPr>
              <a:t> </a:t>
            </a:r>
            <a:r>
              <a:rPr spc="-10" dirty="0">
                <a:solidFill>
                  <a:srgbClr val="0F2044"/>
                </a:solidFill>
                <a:latin typeface="Arial MT"/>
                <a:cs typeface="Arial MT"/>
              </a:rPr>
              <a:t>requires </a:t>
            </a:r>
            <a:r>
              <a:rPr dirty="0">
                <a:solidFill>
                  <a:srgbClr val="0F2044"/>
                </a:solidFill>
                <a:latin typeface="Arial MT"/>
                <a:cs typeface="Arial MT"/>
              </a:rPr>
              <a:t>extra</a:t>
            </a:r>
            <a:r>
              <a:rPr spc="-65" dirty="0">
                <a:solidFill>
                  <a:srgbClr val="0F2044"/>
                </a:solidFill>
                <a:latin typeface="Arial MT"/>
                <a:cs typeface="Arial MT"/>
              </a:rPr>
              <a:t> </a:t>
            </a:r>
            <a:r>
              <a:rPr spc="-10" dirty="0">
                <a:solidFill>
                  <a:srgbClr val="0F2044"/>
                </a:solidFill>
                <a:latin typeface="Arial MT"/>
                <a:cs typeface="Arial MT"/>
              </a:rPr>
              <a:t>space</a:t>
            </a:r>
            <a:endParaRPr dirty="0">
              <a:latin typeface="Arial MT"/>
              <a:cs typeface="Arial MT"/>
            </a:endParaRPr>
          </a:p>
          <a:p>
            <a:pPr marL="469265" indent="-351155">
              <a:lnSpc>
                <a:spcPct val="100000"/>
              </a:lnSpc>
              <a:spcBef>
                <a:spcPts val="960"/>
              </a:spcBef>
              <a:buChar char="●"/>
              <a:tabLst>
                <a:tab pos="469265" algn="l"/>
              </a:tabLst>
            </a:pPr>
            <a:r>
              <a:rPr dirty="0">
                <a:solidFill>
                  <a:srgbClr val="0F2044"/>
                </a:solidFill>
                <a:latin typeface="Arial MT"/>
                <a:cs typeface="Arial MT"/>
              </a:rPr>
              <a:t>T</a:t>
            </a:r>
            <a:r>
              <a:rPr dirty="0">
                <a:latin typeface="Arial MT"/>
                <a:cs typeface="Arial MT"/>
              </a:rPr>
              <a:t>ogether,</a:t>
            </a:r>
            <a:r>
              <a:rPr spc="-45" dirty="0">
                <a:latin typeface="Arial MT"/>
                <a:cs typeface="Arial MT"/>
              </a:rPr>
              <a:t> </a:t>
            </a:r>
            <a:r>
              <a:rPr dirty="0">
                <a:latin typeface="Arial MT"/>
                <a:cs typeface="Arial MT"/>
              </a:rPr>
              <a:t>the</a:t>
            </a:r>
            <a:r>
              <a:rPr spc="-40" dirty="0">
                <a:latin typeface="Arial MT"/>
                <a:cs typeface="Arial MT"/>
              </a:rPr>
              <a:t> </a:t>
            </a:r>
            <a:r>
              <a:rPr dirty="0">
                <a:latin typeface="Arial MT"/>
                <a:cs typeface="Arial MT"/>
              </a:rPr>
              <a:t>header</a:t>
            </a:r>
            <a:r>
              <a:rPr spc="-40" dirty="0">
                <a:latin typeface="Arial MT"/>
                <a:cs typeface="Arial MT"/>
              </a:rPr>
              <a:t> </a:t>
            </a:r>
            <a:r>
              <a:rPr dirty="0">
                <a:latin typeface="Arial MT"/>
                <a:cs typeface="Arial MT"/>
              </a:rPr>
              <a:t>and</a:t>
            </a:r>
            <a:r>
              <a:rPr spc="-45" dirty="0">
                <a:latin typeface="Arial MT"/>
                <a:cs typeface="Arial MT"/>
              </a:rPr>
              <a:t> </a:t>
            </a:r>
            <a:r>
              <a:rPr dirty="0">
                <a:latin typeface="Arial MT"/>
                <a:cs typeface="Arial MT"/>
              </a:rPr>
              <a:t>footer</a:t>
            </a:r>
            <a:r>
              <a:rPr spc="-40" dirty="0">
                <a:latin typeface="Arial MT"/>
                <a:cs typeface="Arial MT"/>
              </a:rPr>
              <a:t> </a:t>
            </a:r>
            <a:r>
              <a:rPr dirty="0">
                <a:latin typeface="Arial MT"/>
                <a:cs typeface="Arial MT"/>
              </a:rPr>
              <a:t>form</a:t>
            </a:r>
            <a:r>
              <a:rPr spc="-35" dirty="0">
                <a:latin typeface="Arial MT"/>
                <a:cs typeface="Arial MT"/>
              </a:rPr>
              <a:t> </a:t>
            </a:r>
            <a:r>
              <a:rPr b="1" i="1" dirty="0">
                <a:latin typeface="Arial"/>
                <a:cs typeface="Arial"/>
              </a:rPr>
              <a:t>boundary</a:t>
            </a:r>
            <a:r>
              <a:rPr b="1" i="1" spc="-40" dirty="0">
                <a:latin typeface="Arial"/>
                <a:cs typeface="Arial"/>
              </a:rPr>
              <a:t> </a:t>
            </a:r>
            <a:r>
              <a:rPr b="1" i="1" spc="-20" dirty="0">
                <a:latin typeface="Arial"/>
                <a:cs typeface="Arial"/>
              </a:rPr>
              <a:t>tags</a:t>
            </a:r>
            <a:endParaRPr dirty="0">
              <a:latin typeface="Arial"/>
              <a:cs typeface="Arial"/>
            </a:endParaRPr>
          </a:p>
          <a:p>
            <a:pPr marL="469900" marR="208279" indent="-351790">
              <a:lnSpc>
                <a:spcPct val="150000"/>
              </a:lnSpc>
              <a:buClr>
                <a:srgbClr val="0F2044"/>
              </a:buClr>
              <a:buChar char="●"/>
              <a:tabLst>
                <a:tab pos="469900" algn="l"/>
              </a:tabLst>
            </a:pPr>
            <a:r>
              <a:rPr dirty="0">
                <a:latin typeface="Arial MT"/>
                <a:cs typeface="Arial MT"/>
              </a:rPr>
              <a:t>If</a:t>
            </a:r>
            <a:r>
              <a:rPr spc="-30" dirty="0">
                <a:latin typeface="Arial MT"/>
                <a:cs typeface="Arial MT"/>
              </a:rPr>
              <a:t> </a:t>
            </a:r>
            <a:r>
              <a:rPr dirty="0">
                <a:latin typeface="Arial MT"/>
                <a:cs typeface="Arial MT"/>
              </a:rPr>
              <a:t>we</a:t>
            </a:r>
            <a:r>
              <a:rPr spc="-30" dirty="0">
                <a:latin typeface="Arial MT"/>
                <a:cs typeface="Arial MT"/>
              </a:rPr>
              <a:t> </a:t>
            </a:r>
            <a:r>
              <a:rPr dirty="0">
                <a:latin typeface="Arial MT"/>
                <a:cs typeface="Arial MT"/>
              </a:rPr>
              <a:t>go</a:t>
            </a:r>
            <a:r>
              <a:rPr spc="-25" dirty="0">
                <a:latin typeface="Arial MT"/>
                <a:cs typeface="Arial MT"/>
              </a:rPr>
              <a:t> </a:t>
            </a:r>
            <a:r>
              <a:rPr dirty="0">
                <a:latin typeface="Arial MT"/>
                <a:cs typeface="Arial MT"/>
              </a:rPr>
              <a:t>back</a:t>
            </a:r>
            <a:r>
              <a:rPr spc="-30" dirty="0">
                <a:latin typeface="Arial MT"/>
                <a:cs typeface="Arial MT"/>
              </a:rPr>
              <a:t> </a:t>
            </a:r>
            <a:r>
              <a:rPr dirty="0">
                <a:latin typeface="Arial MT"/>
                <a:cs typeface="Arial MT"/>
              </a:rPr>
              <a:t>one</a:t>
            </a:r>
            <a:r>
              <a:rPr spc="-30" dirty="0">
                <a:latin typeface="Arial MT"/>
                <a:cs typeface="Arial MT"/>
              </a:rPr>
              <a:t> </a:t>
            </a:r>
            <a:r>
              <a:rPr dirty="0">
                <a:latin typeface="Arial MT"/>
                <a:cs typeface="Arial MT"/>
              </a:rPr>
              <a:t>word</a:t>
            </a:r>
            <a:r>
              <a:rPr spc="-25" dirty="0">
                <a:latin typeface="Arial MT"/>
                <a:cs typeface="Arial MT"/>
              </a:rPr>
              <a:t> </a:t>
            </a:r>
            <a:r>
              <a:rPr dirty="0">
                <a:latin typeface="Arial MT"/>
                <a:cs typeface="Arial MT"/>
              </a:rPr>
              <a:t>from</a:t>
            </a:r>
            <a:r>
              <a:rPr spc="-30" dirty="0">
                <a:latin typeface="Arial MT"/>
                <a:cs typeface="Arial MT"/>
              </a:rPr>
              <a:t> </a:t>
            </a:r>
            <a:r>
              <a:rPr dirty="0">
                <a:latin typeface="Arial MT"/>
                <a:cs typeface="Arial MT"/>
              </a:rPr>
              <a:t>the</a:t>
            </a:r>
            <a:r>
              <a:rPr spc="-25" dirty="0">
                <a:latin typeface="Arial MT"/>
                <a:cs typeface="Arial MT"/>
              </a:rPr>
              <a:t> </a:t>
            </a:r>
            <a:r>
              <a:rPr dirty="0">
                <a:latin typeface="Arial MT"/>
                <a:cs typeface="Arial MT"/>
              </a:rPr>
              <a:t>header,</a:t>
            </a:r>
            <a:r>
              <a:rPr spc="-30" dirty="0">
                <a:latin typeface="Arial MT"/>
                <a:cs typeface="Arial MT"/>
              </a:rPr>
              <a:t> </a:t>
            </a:r>
            <a:r>
              <a:rPr dirty="0">
                <a:latin typeface="Arial MT"/>
                <a:cs typeface="Arial MT"/>
              </a:rPr>
              <a:t>we</a:t>
            </a:r>
            <a:r>
              <a:rPr spc="-30" dirty="0">
                <a:latin typeface="Arial MT"/>
                <a:cs typeface="Arial MT"/>
              </a:rPr>
              <a:t> </a:t>
            </a:r>
            <a:r>
              <a:rPr dirty="0">
                <a:latin typeface="Arial MT"/>
                <a:cs typeface="Arial MT"/>
              </a:rPr>
              <a:t>get</a:t>
            </a:r>
            <a:r>
              <a:rPr spc="-25" dirty="0">
                <a:latin typeface="Arial MT"/>
                <a:cs typeface="Arial MT"/>
              </a:rPr>
              <a:t> </a:t>
            </a:r>
            <a:r>
              <a:rPr dirty="0">
                <a:latin typeface="Arial MT"/>
                <a:cs typeface="Arial MT"/>
              </a:rPr>
              <a:t>to</a:t>
            </a:r>
            <a:r>
              <a:rPr spc="-30" dirty="0">
                <a:latin typeface="Arial MT"/>
                <a:cs typeface="Arial MT"/>
              </a:rPr>
              <a:t> </a:t>
            </a:r>
            <a:r>
              <a:rPr spc="-25" dirty="0">
                <a:latin typeface="Arial MT"/>
                <a:cs typeface="Arial MT"/>
              </a:rPr>
              <a:t>the </a:t>
            </a:r>
            <a:r>
              <a:rPr dirty="0">
                <a:latin typeface="Arial MT"/>
                <a:cs typeface="Arial MT"/>
              </a:rPr>
              <a:t>footer</a:t>
            </a:r>
            <a:r>
              <a:rPr spc="-30" dirty="0">
                <a:latin typeface="Arial MT"/>
                <a:cs typeface="Arial MT"/>
              </a:rPr>
              <a:t> </a:t>
            </a:r>
            <a:r>
              <a:rPr dirty="0">
                <a:latin typeface="Arial MT"/>
                <a:cs typeface="Arial MT"/>
              </a:rPr>
              <a:t>of</a:t>
            </a:r>
            <a:r>
              <a:rPr spc="-30" dirty="0">
                <a:latin typeface="Arial MT"/>
                <a:cs typeface="Arial MT"/>
              </a:rPr>
              <a:t> </a:t>
            </a:r>
            <a:r>
              <a:rPr dirty="0">
                <a:latin typeface="Arial MT"/>
                <a:cs typeface="Arial MT"/>
              </a:rPr>
              <a:t>the</a:t>
            </a:r>
            <a:r>
              <a:rPr spc="-25" dirty="0">
                <a:latin typeface="Arial MT"/>
                <a:cs typeface="Arial MT"/>
              </a:rPr>
              <a:t> </a:t>
            </a:r>
            <a:r>
              <a:rPr dirty="0">
                <a:latin typeface="Arial MT"/>
                <a:cs typeface="Arial MT"/>
              </a:rPr>
              <a:t>previous</a:t>
            </a:r>
            <a:r>
              <a:rPr spc="-30" dirty="0">
                <a:latin typeface="Arial MT"/>
                <a:cs typeface="Arial MT"/>
              </a:rPr>
              <a:t> </a:t>
            </a:r>
            <a:r>
              <a:rPr spc="-10" dirty="0">
                <a:latin typeface="Arial MT"/>
                <a:cs typeface="Arial MT"/>
              </a:rPr>
              <a:t>block</a:t>
            </a:r>
            <a:endParaRPr dirty="0">
              <a:latin typeface="Arial MT"/>
              <a:cs typeface="Arial MT"/>
            </a:endParaRPr>
          </a:p>
        </p:txBody>
      </p:sp>
      <p:pic>
        <p:nvPicPr>
          <p:cNvPr id="4" name="object 4" descr="A detailed block structure diagram showing a Header and a Footer (both containing block size and allocation status), with the payload and optional padding sandwiched between them."/>
          <p:cNvPicPr/>
          <p:nvPr/>
        </p:nvPicPr>
        <p:blipFill>
          <a:blip r:embed="rId3" cstate="print"/>
          <a:stretch>
            <a:fillRect/>
          </a:stretch>
        </p:blipFill>
        <p:spPr>
          <a:xfrm>
            <a:off x="7098821" y="2684855"/>
            <a:ext cx="4635979" cy="2859564"/>
          </a:xfrm>
          <a:prstGeom prst="rect">
            <a:avLst/>
          </a:prstGeom>
        </p:spPr>
      </p:pic>
      <p:sp>
        <p:nvSpPr>
          <p:cNvPr id="5" name="object 5">
            <a:extLst>
              <a:ext uri="{C183D7F6-B498-43B3-948B-1728B52AA6E4}">
                <adec:decorative xmlns:adec="http://schemas.microsoft.com/office/drawing/2017/decorative" val="1"/>
              </a:ext>
            </a:extLst>
          </p:cNvPr>
          <p:cNvSpPr txBox="1"/>
          <p:nvPr/>
        </p:nvSpPr>
        <p:spPr>
          <a:xfrm>
            <a:off x="7503562" y="5868104"/>
            <a:ext cx="266382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0F2044"/>
                </a:solidFill>
                <a:latin typeface="Arial MT"/>
                <a:cs typeface="Arial MT"/>
              </a:rPr>
              <a:t>Image</a:t>
            </a:r>
            <a:r>
              <a:rPr sz="1200" spc="-25" dirty="0">
                <a:solidFill>
                  <a:srgbClr val="0F2044"/>
                </a:solidFill>
                <a:latin typeface="Arial MT"/>
                <a:cs typeface="Arial MT"/>
              </a:rPr>
              <a:t> </a:t>
            </a:r>
            <a:r>
              <a:rPr sz="1200" dirty="0">
                <a:solidFill>
                  <a:srgbClr val="0F2044"/>
                </a:solidFill>
                <a:latin typeface="Arial MT"/>
                <a:cs typeface="Arial MT"/>
              </a:rPr>
              <a:t>credit</a:t>
            </a:r>
            <a:r>
              <a:rPr sz="1200" spc="-20" dirty="0">
                <a:solidFill>
                  <a:srgbClr val="0F2044"/>
                </a:solidFill>
                <a:latin typeface="Arial MT"/>
                <a:cs typeface="Arial MT"/>
              </a:rPr>
              <a:t> </a:t>
            </a:r>
            <a:r>
              <a:rPr sz="1200" dirty="0">
                <a:solidFill>
                  <a:srgbClr val="0F2044"/>
                </a:solidFill>
                <a:latin typeface="Arial MT"/>
                <a:cs typeface="Arial MT"/>
              </a:rPr>
              <a:t>-</a:t>
            </a:r>
            <a:r>
              <a:rPr sz="1200" spc="-20" dirty="0">
                <a:solidFill>
                  <a:srgbClr val="0F2044"/>
                </a:solidFill>
                <a:latin typeface="Arial MT"/>
                <a:cs typeface="Arial MT"/>
              </a:rPr>
              <a:t> </a:t>
            </a:r>
            <a:r>
              <a:rPr sz="1200" spc="-10" dirty="0">
                <a:solidFill>
                  <a:srgbClr val="0F2044"/>
                </a:solidFill>
                <a:latin typeface="Arial MT"/>
                <a:cs typeface="Arial MT"/>
              </a:rPr>
              <a:t>https://csit.kutztown.edu/</a:t>
            </a:r>
            <a:endParaRPr sz="1200">
              <a:latin typeface="Arial MT"/>
              <a:cs typeface="Arial M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Implicit</a:t>
            </a:r>
            <a:r>
              <a:rPr spc="-90" dirty="0"/>
              <a:t> </a:t>
            </a:r>
            <a:r>
              <a:rPr dirty="0"/>
              <a:t>Free</a:t>
            </a:r>
            <a:r>
              <a:rPr spc="-90" dirty="0"/>
              <a:t> </a:t>
            </a:r>
            <a:r>
              <a:rPr dirty="0"/>
              <a:t>List:</a:t>
            </a:r>
            <a:r>
              <a:rPr spc="-85" dirty="0"/>
              <a:t> </a:t>
            </a:r>
            <a:r>
              <a:rPr spc="-10" dirty="0"/>
              <a:t>Bidirectional</a:t>
            </a:r>
            <a:r>
              <a:rPr spc="-90" dirty="0"/>
              <a:t> </a:t>
            </a:r>
            <a:r>
              <a:rPr spc="-10" dirty="0"/>
              <a:t>Coalescing</a:t>
            </a:r>
          </a:p>
        </p:txBody>
      </p:sp>
      <p:grpSp>
        <p:nvGrpSpPr>
          <p:cNvPr id="20" name="Group 19" descr="A visualization of a Bidirectional Implicit Free List. It uses blue arrows pointing forward and orange arrows pointing backward to demonstrate how memory blocks can be traversed in both directions using headers and footers.">
            <a:extLst>
              <a:ext uri="{FF2B5EF4-FFF2-40B4-BE49-F238E27FC236}">
                <a16:creationId xmlns:a16="http://schemas.microsoft.com/office/drawing/2014/main" id="{DFA0C70D-40A6-24AB-0FE1-09D2356B07C9}"/>
              </a:ext>
            </a:extLst>
          </p:cNvPr>
          <p:cNvGrpSpPr/>
          <p:nvPr/>
        </p:nvGrpSpPr>
        <p:grpSpPr>
          <a:xfrm>
            <a:off x="241788" y="3192687"/>
            <a:ext cx="6425741" cy="1056640"/>
            <a:chOff x="241788" y="3192687"/>
            <a:chExt cx="6425741" cy="1056640"/>
          </a:xfrm>
        </p:grpSpPr>
        <p:grpSp>
          <p:nvGrpSpPr>
            <p:cNvPr id="3" name="object 3"/>
            <p:cNvGrpSpPr/>
            <p:nvPr/>
          </p:nvGrpSpPr>
          <p:grpSpPr>
            <a:xfrm>
              <a:off x="415137" y="3192687"/>
              <a:ext cx="1924050" cy="218440"/>
              <a:chOff x="415137" y="3192687"/>
              <a:chExt cx="1924050" cy="218440"/>
            </a:xfrm>
          </p:grpSpPr>
          <p:sp>
            <p:nvSpPr>
              <p:cNvPr id="4" name="object 4"/>
              <p:cNvSpPr/>
              <p:nvPr/>
            </p:nvSpPr>
            <p:spPr>
              <a:xfrm>
                <a:off x="419899" y="3197449"/>
                <a:ext cx="1914525" cy="208915"/>
              </a:xfrm>
              <a:custGeom>
                <a:avLst/>
                <a:gdLst/>
                <a:ahLst/>
                <a:cxnLst/>
                <a:rect l="l" t="t" r="r" b="b"/>
                <a:pathLst>
                  <a:path w="1914525" h="208914">
                    <a:moveTo>
                      <a:pt x="52199" y="208799"/>
                    </a:moveTo>
                    <a:lnTo>
                      <a:pt x="0" y="208799"/>
                    </a:lnTo>
                    <a:lnTo>
                      <a:pt x="0" y="91349"/>
                    </a:lnTo>
                    <a:lnTo>
                      <a:pt x="7057" y="56391"/>
                    </a:lnTo>
                    <a:lnTo>
                      <a:pt x="7178" y="55792"/>
                    </a:lnTo>
                    <a:lnTo>
                      <a:pt x="26755" y="26755"/>
                    </a:lnTo>
                    <a:lnTo>
                      <a:pt x="55792" y="7178"/>
                    </a:lnTo>
                    <a:lnTo>
                      <a:pt x="91349" y="0"/>
                    </a:lnTo>
                    <a:lnTo>
                      <a:pt x="1796849" y="0"/>
                    </a:lnTo>
                    <a:lnTo>
                      <a:pt x="1847530" y="15347"/>
                    </a:lnTo>
                    <a:lnTo>
                      <a:pt x="1879008" y="52199"/>
                    </a:lnTo>
                    <a:lnTo>
                      <a:pt x="91349" y="52199"/>
                    </a:lnTo>
                    <a:lnTo>
                      <a:pt x="76111" y="55276"/>
                    </a:lnTo>
                    <a:lnTo>
                      <a:pt x="63666" y="63666"/>
                    </a:lnTo>
                    <a:lnTo>
                      <a:pt x="55276" y="76111"/>
                    </a:lnTo>
                    <a:lnTo>
                      <a:pt x="52199" y="91349"/>
                    </a:lnTo>
                    <a:lnTo>
                      <a:pt x="52199" y="208799"/>
                    </a:lnTo>
                    <a:close/>
                  </a:path>
                  <a:path w="1914525" h="208914">
                    <a:moveTo>
                      <a:pt x="1888199" y="104399"/>
                    </a:moveTo>
                    <a:lnTo>
                      <a:pt x="1835999" y="104399"/>
                    </a:lnTo>
                    <a:lnTo>
                      <a:pt x="1835999" y="91349"/>
                    </a:lnTo>
                    <a:lnTo>
                      <a:pt x="1832923" y="76111"/>
                    </a:lnTo>
                    <a:lnTo>
                      <a:pt x="1824533" y="63666"/>
                    </a:lnTo>
                    <a:lnTo>
                      <a:pt x="1812088" y="55276"/>
                    </a:lnTo>
                    <a:lnTo>
                      <a:pt x="1796849" y="52199"/>
                    </a:lnTo>
                    <a:lnTo>
                      <a:pt x="1879008" y="52199"/>
                    </a:lnTo>
                    <a:lnTo>
                      <a:pt x="1881246" y="56391"/>
                    </a:lnTo>
                    <a:lnTo>
                      <a:pt x="1886428" y="73445"/>
                    </a:lnTo>
                    <a:lnTo>
                      <a:pt x="1888199" y="91349"/>
                    </a:lnTo>
                    <a:lnTo>
                      <a:pt x="1888199" y="104399"/>
                    </a:lnTo>
                    <a:close/>
                  </a:path>
                  <a:path w="1914525" h="208914">
                    <a:moveTo>
                      <a:pt x="1862099" y="156599"/>
                    </a:moveTo>
                    <a:lnTo>
                      <a:pt x="1809899" y="104399"/>
                    </a:lnTo>
                    <a:lnTo>
                      <a:pt x="1914299" y="104399"/>
                    </a:lnTo>
                    <a:lnTo>
                      <a:pt x="1862099" y="156599"/>
                    </a:lnTo>
                    <a:close/>
                  </a:path>
                </a:pathLst>
              </a:custGeom>
              <a:solidFill>
                <a:srgbClr val="4A86E7"/>
              </a:solidFill>
            </p:spPr>
            <p:txBody>
              <a:bodyPr wrap="square" lIns="0" tIns="0" rIns="0" bIns="0" rtlCol="0"/>
              <a:lstStyle/>
              <a:p>
                <a:endParaRPr/>
              </a:p>
            </p:txBody>
          </p:sp>
          <p:sp>
            <p:nvSpPr>
              <p:cNvPr id="5" name="object 5"/>
              <p:cNvSpPr/>
              <p:nvPr/>
            </p:nvSpPr>
            <p:spPr>
              <a:xfrm>
                <a:off x="419899" y="3197449"/>
                <a:ext cx="1914525" cy="208915"/>
              </a:xfrm>
              <a:custGeom>
                <a:avLst/>
                <a:gdLst/>
                <a:ahLst/>
                <a:cxnLst/>
                <a:rect l="l" t="t" r="r" b="b"/>
                <a:pathLst>
                  <a:path w="1914525" h="208914">
                    <a:moveTo>
                      <a:pt x="0" y="208799"/>
                    </a:moveTo>
                    <a:lnTo>
                      <a:pt x="0" y="91349"/>
                    </a:lnTo>
                    <a:lnTo>
                      <a:pt x="7178" y="55792"/>
                    </a:lnTo>
                    <a:lnTo>
                      <a:pt x="26755" y="26755"/>
                    </a:lnTo>
                    <a:lnTo>
                      <a:pt x="55792" y="7178"/>
                    </a:lnTo>
                    <a:lnTo>
                      <a:pt x="91349" y="0"/>
                    </a:lnTo>
                    <a:lnTo>
                      <a:pt x="1796849" y="0"/>
                    </a:lnTo>
                    <a:lnTo>
                      <a:pt x="1847530" y="15347"/>
                    </a:lnTo>
                    <a:lnTo>
                      <a:pt x="1881246" y="56391"/>
                    </a:lnTo>
                    <a:lnTo>
                      <a:pt x="1888199" y="91349"/>
                    </a:lnTo>
                    <a:lnTo>
                      <a:pt x="1888199" y="104399"/>
                    </a:lnTo>
                    <a:lnTo>
                      <a:pt x="1914299" y="104399"/>
                    </a:lnTo>
                    <a:lnTo>
                      <a:pt x="1862099" y="156599"/>
                    </a:lnTo>
                    <a:lnTo>
                      <a:pt x="1809899" y="104399"/>
                    </a:lnTo>
                    <a:lnTo>
                      <a:pt x="1835999" y="104399"/>
                    </a:lnTo>
                    <a:lnTo>
                      <a:pt x="1835999" y="91349"/>
                    </a:lnTo>
                    <a:lnTo>
                      <a:pt x="1832923" y="76111"/>
                    </a:lnTo>
                    <a:lnTo>
                      <a:pt x="1824533" y="63666"/>
                    </a:lnTo>
                    <a:lnTo>
                      <a:pt x="1812088" y="55276"/>
                    </a:lnTo>
                    <a:lnTo>
                      <a:pt x="1796849" y="52199"/>
                    </a:lnTo>
                    <a:lnTo>
                      <a:pt x="91349" y="52199"/>
                    </a:lnTo>
                    <a:lnTo>
                      <a:pt x="76111" y="55276"/>
                    </a:lnTo>
                    <a:lnTo>
                      <a:pt x="63666" y="63666"/>
                    </a:lnTo>
                    <a:lnTo>
                      <a:pt x="55276" y="76111"/>
                    </a:lnTo>
                    <a:lnTo>
                      <a:pt x="52199" y="91349"/>
                    </a:lnTo>
                    <a:lnTo>
                      <a:pt x="52199" y="208799"/>
                    </a:lnTo>
                    <a:lnTo>
                      <a:pt x="0" y="208799"/>
                    </a:lnTo>
                    <a:close/>
                  </a:path>
                </a:pathLst>
              </a:custGeom>
              <a:ln w="9524">
                <a:solidFill>
                  <a:srgbClr val="0F2044"/>
                </a:solidFill>
              </a:ln>
            </p:spPr>
            <p:txBody>
              <a:bodyPr wrap="square" lIns="0" tIns="0" rIns="0" bIns="0" rtlCol="0"/>
              <a:lstStyle/>
              <a:p>
                <a:endParaRPr/>
              </a:p>
            </p:txBody>
          </p:sp>
        </p:grpSp>
        <p:grpSp>
          <p:nvGrpSpPr>
            <p:cNvPr id="9" name="object 9"/>
            <p:cNvGrpSpPr/>
            <p:nvPr/>
          </p:nvGrpSpPr>
          <p:grpSpPr>
            <a:xfrm>
              <a:off x="2421362" y="3192687"/>
              <a:ext cx="2009775" cy="218440"/>
              <a:chOff x="2421362" y="3192687"/>
              <a:chExt cx="2009775" cy="218440"/>
            </a:xfrm>
          </p:grpSpPr>
          <p:sp>
            <p:nvSpPr>
              <p:cNvPr id="10" name="object 10"/>
              <p:cNvSpPr/>
              <p:nvPr/>
            </p:nvSpPr>
            <p:spPr>
              <a:xfrm>
                <a:off x="2426124" y="3197449"/>
                <a:ext cx="2000250" cy="208915"/>
              </a:xfrm>
              <a:custGeom>
                <a:avLst/>
                <a:gdLst/>
                <a:ahLst/>
                <a:cxnLst/>
                <a:rect l="l" t="t" r="r" b="b"/>
                <a:pathLst>
                  <a:path w="2000250" h="208914">
                    <a:moveTo>
                      <a:pt x="52199" y="208799"/>
                    </a:moveTo>
                    <a:lnTo>
                      <a:pt x="0" y="208799"/>
                    </a:lnTo>
                    <a:lnTo>
                      <a:pt x="0" y="91349"/>
                    </a:lnTo>
                    <a:lnTo>
                      <a:pt x="26755" y="26755"/>
                    </a:lnTo>
                    <a:lnTo>
                      <a:pt x="91349" y="0"/>
                    </a:lnTo>
                    <a:lnTo>
                      <a:pt x="1882349" y="0"/>
                    </a:lnTo>
                    <a:lnTo>
                      <a:pt x="1933031" y="15347"/>
                    </a:lnTo>
                    <a:lnTo>
                      <a:pt x="1964508" y="52199"/>
                    </a:lnTo>
                    <a:lnTo>
                      <a:pt x="91349" y="52199"/>
                    </a:lnTo>
                    <a:lnTo>
                      <a:pt x="76111" y="55276"/>
                    </a:lnTo>
                    <a:lnTo>
                      <a:pt x="63666" y="63666"/>
                    </a:lnTo>
                    <a:lnTo>
                      <a:pt x="55276" y="76111"/>
                    </a:lnTo>
                    <a:lnTo>
                      <a:pt x="52199" y="91349"/>
                    </a:lnTo>
                    <a:lnTo>
                      <a:pt x="52199" y="208799"/>
                    </a:lnTo>
                    <a:close/>
                  </a:path>
                  <a:path w="2000250" h="208914">
                    <a:moveTo>
                      <a:pt x="1973699" y="104399"/>
                    </a:moveTo>
                    <a:lnTo>
                      <a:pt x="1921499" y="104399"/>
                    </a:lnTo>
                    <a:lnTo>
                      <a:pt x="1921499" y="91349"/>
                    </a:lnTo>
                    <a:lnTo>
                      <a:pt x="1918423" y="76111"/>
                    </a:lnTo>
                    <a:lnTo>
                      <a:pt x="1910033" y="63666"/>
                    </a:lnTo>
                    <a:lnTo>
                      <a:pt x="1897588" y="55276"/>
                    </a:lnTo>
                    <a:lnTo>
                      <a:pt x="1882349" y="52199"/>
                    </a:lnTo>
                    <a:lnTo>
                      <a:pt x="1964508" y="52199"/>
                    </a:lnTo>
                    <a:lnTo>
                      <a:pt x="1966746" y="56391"/>
                    </a:lnTo>
                    <a:lnTo>
                      <a:pt x="1971928" y="73445"/>
                    </a:lnTo>
                    <a:lnTo>
                      <a:pt x="1973699" y="91349"/>
                    </a:lnTo>
                    <a:lnTo>
                      <a:pt x="1973699" y="104399"/>
                    </a:lnTo>
                    <a:close/>
                  </a:path>
                  <a:path w="2000250" h="208914">
                    <a:moveTo>
                      <a:pt x="1947599" y="156599"/>
                    </a:moveTo>
                    <a:lnTo>
                      <a:pt x="1895399" y="104399"/>
                    </a:lnTo>
                    <a:lnTo>
                      <a:pt x="1999799" y="104399"/>
                    </a:lnTo>
                    <a:lnTo>
                      <a:pt x="1947599" y="156599"/>
                    </a:lnTo>
                    <a:close/>
                  </a:path>
                </a:pathLst>
              </a:custGeom>
              <a:solidFill>
                <a:srgbClr val="4A86E7"/>
              </a:solidFill>
            </p:spPr>
            <p:txBody>
              <a:bodyPr wrap="square" lIns="0" tIns="0" rIns="0" bIns="0" rtlCol="0"/>
              <a:lstStyle/>
              <a:p>
                <a:endParaRPr/>
              </a:p>
            </p:txBody>
          </p:sp>
          <p:sp>
            <p:nvSpPr>
              <p:cNvPr id="11" name="object 11"/>
              <p:cNvSpPr/>
              <p:nvPr/>
            </p:nvSpPr>
            <p:spPr>
              <a:xfrm>
                <a:off x="2426124" y="3197449"/>
                <a:ext cx="2000250" cy="208915"/>
              </a:xfrm>
              <a:custGeom>
                <a:avLst/>
                <a:gdLst/>
                <a:ahLst/>
                <a:cxnLst/>
                <a:rect l="l" t="t" r="r" b="b"/>
                <a:pathLst>
                  <a:path w="2000250" h="208914">
                    <a:moveTo>
                      <a:pt x="0" y="208799"/>
                    </a:moveTo>
                    <a:lnTo>
                      <a:pt x="0" y="91349"/>
                    </a:lnTo>
                    <a:lnTo>
                      <a:pt x="7178" y="55792"/>
                    </a:lnTo>
                    <a:lnTo>
                      <a:pt x="26755" y="26755"/>
                    </a:lnTo>
                    <a:lnTo>
                      <a:pt x="55792" y="7178"/>
                    </a:lnTo>
                    <a:lnTo>
                      <a:pt x="91349" y="0"/>
                    </a:lnTo>
                    <a:lnTo>
                      <a:pt x="1882349" y="0"/>
                    </a:lnTo>
                    <a:lnTo>
                      <a:pt x="1933031" y="15347"/>
                    </a:lnTo>
                    <a:lnTo>
                      <a:pt x="1966746" y="56391"/>
                    </a:lnTo>
                    <a:lnTo>
                      <a:pt x="1973699" y="91349"/>
                    </a:lnTo>
                    <a:lnTo>
                      <a:pt x="1973699" y="104399"/>
                    </a:lnTo>
                    <a:lnTo>
                      <a:pt x="1999799" y="104399"/>
                    </a:lnTo>
                    <a:lnTo>
                      <a:pt x="1947599" y="156599"/>
                    </a:lnTo>
                    <a:lnTo>
                      <a:pt x="1895399" y="104399"/>
                    </a:lnTo>
                    <a:lnTo>
                      <a:pt x="1921499" y="104399"/>
                    </a:lnTo>
                    <a:lnTo>
                      <a:pt x="1921499" y="91349"/>
                    </a:lnTo>
                    <a:lnTo>
                      <a:pt x="1918423" y="76111"/>
                    </a:lnTo>
                    <a:lnTo>
                      <a:pt x="1910033" y="63666"/>
                    </a:lnTo>
                    <a:lnTo>
                      <a:pt x="1897588" y="55276"/>
                    </a:lnTo>
                    <a:lnTo>
                      <a:pt x="1882349" y="52199"/>
                    </a:lnTo>
                    <a:lnTo>
                      <a:pt x="91349" y="52199"/>
                    </a:lnTo>
                    <a:lnTo>
                      <a:pt x="76111" y="55276"/>
                    </a:lnTo>
                    <a:lnTo>
                      <a:pt x="63666" y="63666"/>
                    </a:lnTo>
                    <a:lnTo>
                      <a:pt x="55276" y="76111"/>
                    </a:lnTo>
                    <a:lnTo>
                      <a:pt x="52199" y="91349"/>
                    </a:lnTo>
                    <a:lnTo>
                      <a:pt x="52199" y="208799"/>
                    </a:lnTo>
                    <a:lnTo>
                      <a:pt x="0" y="208799"/>
                    </a:lnTo>
                    <a:close/>
                  </a:path>
                </a:pathLst>
              </a:custGeom>
              <a:ln w="9524">
                <a:solidFill>
                  <a:srgbClr val="0F2044"/>
                </a:solidFill>
              </a:ln>
            </p:spPr>
            <p:txBody>
              <a:bodyPr wrap="square" lIns="0" tIns="0" rIns="0" bIns="0" rtlCol="0"/>
              <a:lstStyle/>
              <a:p>
                <a:endParaRPr/>
              </a:p>
            </p:txBody>
          </p:sp>
        </p:grpSp>
        <p:grpSp>
          <p:nvGrpSpPr>
            <p:cNvPr id="12" name="object 12"/>
            <p:cNvGrpSpPr/>
            <p:nvPr/>
          </p:nvGrpSpPr>
          <p:grpSpPr>
            <a:xfrm>
              <a:off x="3728737" y="4030887"/>
              <a:ext cx="2634615" cy="218440"/>
              <a:chOff x="3728737" y="4030887"/>
              <a:chExt cx="2634615" cy="218440"/>
            </a:xfrm>
          </p:grpSpPr>
          <p:sp>
            <p:nvSpPr>
              <p:cNvPr id="13" name="object 13"/>
              <p:cNvSpPr/>
              <p:nvPr/>
            </p:nvSpPr>
            <p:spPr>
              <a:xfrm>
                <a:off x="3733500" y="4035649"/>
                <a:ext cx="2625090" cy="208915"/>
              </a:xfrm>
              <a:custGeom>
                <a:avLst/>
                <a:gdLst/>
                <a:ahLst/>
                <a:cxnLst/>
                <a:rect l="l" t="t" r="r" b="b"/>
                <a:pathLst>
                  <a:path w="2625090" h="208914">
                    <a:moveTo>
                      <a:pt x="2615399" y="156599"/>
                    </a:moveTo>
                    <a:lnTo>
                      <a:pt x="2533649" y="156599"/>
                    </a:lnTo>
                    <a:lnTo>
                      <a:pt x="2548888" y="153523"/>
                    </a:lnTo>
                    <a:lnTo>
                      <a:pt x="2561333" y="145133"/>
                    </a:lnTo>
                    <a:lnTo>
                      <a:pt x="2569723" y="132688"/>
                    </a:lnTo>
                    <a:lnTo>
                      <a:pt x="2572799" y="117449"/>
                    </a:lnTo>
                    <a:lnTo>
                      <a:pt x="2572799" y="0"/>
                    </a:lnTo>
                    <a:lnTo>
                      <a:pt x="2624999" y="0"/>
                    </a:lnTo>
                    <a:lnTo>
                      <a:pt x="2624999" y="117449"/>
                    </a:lnTo>
                    <a:lnTo>
                      <a:pt x="2617942" y="152408"/>
                    </a:lnTo>
                    <a:lnTo>
                      <a:pt x="2617821" y="153007"/>
                    </a:lnTo>
                    <a:lnTo>
                      <a:pt x="2615399" y="156599"/>
                    </a:lnTo>
                    <a:close/>
                  </a:path>
                  <a:path w="2625090" h="208914">
                    <a:moveTo>
                      <a:pt x="104399" y="104399"/>
                    </a:moveTo>
                    <a:lnTo>
                      <a:pt x="0" y="104399"/>
                    </a:lnTo>
                    <a:lnTo>
                      <a:pt x="52199" y="52199"/>
                    </a:lnTo>
                    <a:lnTo>
                      <a:pt x="104399" y="104399"/>
                    </a:lnTo>
                    <a:close/>
                  </a:path>
                  <a:path w="2625090" h="208914">
                    <a:moveTo>
                      <a:pt x="2533649" y="208799"/>
                    </a:moveTo>
                    <a:lnTo>
                      <a:pt x="117449" y="208799"/>
                    </a:lnTo>
                    <a:lnTo>
                      <a:pt x="99545" y="207028"/>
                    </a:lnTo>
                    <a:lnTo>
                      <a:pt x="52855" y="182044"/>
                    </a:lnTo>
                    <a:lnTo>
                      <a:pt x="27871" y="135354"/>
                    </a:lnTo>
                    <a:lnTo>
                      <a:pt x="26099" y="117449"/>
                    </a:lnTo>
                    <a:lnTo>
                      <a:pt x="26099" y="104399"/>
                    </a:lnTo>
                    <a:lnTo>
                      <a:pt x="78299" y="104399"/>
                    </a:lnTo>
                    <a:lnTo>
                      <a:pt x="78299" y="117449"/>
                    </a:lnTo>
                    <a:lnTo>
                      <a:pt x="81376" y="132688"/>
                    </a:lnTo>
                    <a:lnTo>
                      <a:pt x="89766" y="145133"/>
                    </a:lnTo>
                    <a:lnTo>
                      <a:pt x="102211" y="153523"/>
                    </a:lnTo>
                    <a:lnTo>
                      <a:pt x="117449" y="156599"/>
                    </a:lnTo>
                    <a:lnTo>
                      <a:pt x="2615399" y="156599"/>
                    </a:lnTo>
                    <a:lnTo>
                      <a:pt x="2598244" y="182044"/>
                    </a:lnTo>
                    <a:lnTo>
                      <a:pt x="2569207" y="201621"/>
                    </a:lnTo>
                    <a:lnTo>
                      <a:pt x="2533649" y="208799"/>
                    </a:lnTo>
                    <a:close/>
                  </a:path>
                </a:pathLst>
              </a:custGeom>
              <a:solidFill>
                <a:srgbClr val="FF9900"/>
              </a:solidFill>
            </p:spPr>
            <p:txBody>
              <a:bodyPr wrap="square" lIns="0" tIns="0" rIns="0" bIns="0" rtlCol="0"/>
              <a:lstStyle/>
              <a:p>
                <a:endParaRPr/>
              </a:p>
            </p:txBody>
          </p:sp>
          <p:sp>
            <p:nvSpPr>
              <p:cNvPr id="14" name="object 14"/>
              <p:cNvSpPr/>
              <p:nvPr/>
            </p:nvSpPr>
            <p:spPr>
              <a:xfrm>
                <a:off x="3733500" y="4035649"/>
                <a:ext cx="2625090" cy="208915"/>
              </a:xfrm>
              <a:custGeom>
                <a:avLst/>
                <a:gdLst/>
                <a:ahLst/>
                <a:cxnLst/>
                <a:rect l="l" t="t" r="r" b="b"/>
                <a:pathLst>
                  <a:path w="2625090" h="208914">
                    <a:moveTo>
                      <a:pt x="2624999" y="0"/>
                    </a:moveTo>
                    <a:lnTo>
                      <a:pt x="2624999" y="117449"/>
                    </a:lnTo>
                    <a:lnTo>
                      <a:pt x="2617821" y="153007"/>
                    </a:lnTo>
                    <a:lnTo>
                      <a:pt x="2598244" y="182044"/>
                    </a:lnTo>
                    <a:lnTo>
                      <a:pt x="2569207" y="201621"/>
                    </a:lnTo>
                    <a:lnTo>
                      <a:pt x="2533649" y="208799"/>
                    </a:lnTo>
                    <a:lnTo>
                      <a:pt x="117449" y="208799"/>
                    </a:lnTo>
                    <a:lnTo>
                      <a:pt x="66768" y="193452"/>
                    </a:lnTo>
                    <a:lnTo>
                      <a:pt x="33053" y="152408"/>
                    </a:lnTo>
                    <a:lnTo>
                      <a:pt x="26099" y="117449"/>
                    </a:lnTo>
                    <a:lnTo>
                      <a:pt x="26099" y="104399"/>
                    </a:lnTo>
                    <a:lnTo>
                      <a:pt x="0" y="104399"/>
                    </a:lnTo>
                    <a:lnTo>
                      <a:pt x="52199" y="52199"/>
                    </a:lnTo>
                    <a:lnTo>
                      <a:pt x="104399" y="104399"/>
                    </a:lnTo>
                    <a:lnTo>
                      <a:pt x="78299" y="104399"/>
                    </a:lnTo>
                    <a:lnTo>
                      <a:pt x="78299" y="117449"/>
                    </a:lnTo>
                    <a:lnTo>
                      <a:pt x="81376" y="132688"/>
                    </a:lnTo>
                    <a:lnTo>
                      <a:pt x="89766" y="145133"/>
                    </a:lnTo>
                    <a:lnTo>
                      <a:pt x="102211" y="153523"/>
                    </a:lnTo>
                    <a:lnTo>
                      <a:pt x="117449" y="156599"/>
                    </a:lnTo>
                    <a:lnTo>
                      <a:pt x="2533649" y="156599"/>
                    </a:lnTo>
                    <a:lnTo>
                      <a:pt x="2548888" y="153523"/>
                    </a:lnTo>
                    <a:lnTo>
                      <a:pt x="2561333" y="145133"/>
                    </a:lnTo>
                    <a:lnTo>
                      <a:pt x="2569723" y="132688"/>
                    </a:lnTo>
                    <a:lnTo>
                      <a:pt x="2572799" y="117449"/>
                    </a:lnTo>
                    <a:lnTo>
                      <a:pt x="2572799" y="0"/>
                    </a:lnTo>
                    <a:lnTo>
                      <a:pt x="2624999" y="0"/>
                    </a:lnTo>
                    <a:close/>
                  </a:path>
                </a:pathLst>
              </a:custGeom>
              <a:ln w="9524">
                <a:solidFill>
                  <a:srgbClr val="0F2044"/>
                </a:solidFill>
              </a:ln>
            </p:spPr>
            <p:txBody>
              <a:bodyPr wrap="square" lIns="0" tIns="0" rIns="0" bIns="0" rtlCol="0"/>
              <a:lstStyle/>
              <a:p>
                <a:endParaRPr/>
              </a:p>
            </p:txBody>
          </p:sp>
        </p:grpSp>
        <p:grpSp>
          <p:nvGrpSpPr>
            <p:cNvPr id="15" name="object 15"/>
            <p:cNvGrpSpPr/>
            <p:nvPr/>
          </p:nvGrpSpPr>
          <p:grpSpPr>
            <a:xfrm>
              <a:off x="1842587" y="4030887"/>
              <a:ext cx="1795780" cy="218440"/>
              <a:chOff x="1842587" y="4030887"/>
              <a:chExt cx="1795780" cy="218440"/>
            </a:xfrm>
          </p:grpSpPr>
          <p:sp>
            <p:nvSpPr>
              <p:cNvPr id="16" name="object 16"/>
              <p:cNvSpPr/>
              <p:nvPr/>
            </p:nvSpPr>
            <p:spPr>
              <a:xfrm>
                <a:off x="1847350" y="4035649"/>
                <a:ext cx="1786255" cy="208915"/>
              </a:xfrm>
              <a:custGeom>
                <a:avLst/>
                <a:gdLst/>
                <a:ahLst/>
                <a:cxnLst/>
                <a:rect l="l" t="t" r="r" b="b"/>
                <a:pathLst>
                  <a:path w="1786254" h="208914">
                    <a:moveTo>
                      <a:pt x="1776299" y="156599"/>
                    </a:moveTo>
                    <a:lnTo>
                      <a:pt x="1694549" y="156599"/>
                    </a:lnTo>
                    <a:lnTo>
                      <a:pt x="1709788" y="153523"/>
                    </a:lnTo>
                    <a:lnTo>
                      <a:pt x="1722233" y="145133"/>
                    </a:lnTo>
                    <a:lnTo>
                      <a:pt x="1730623" y="132688"/>
                    </a:lnTo>
                    <a:lnTo>
                      <a:pt x="1733699" y="117449"/>
                    </a:lnTo>
                    <a:lnTo>
                      <a:pt x="1733699" y="0"/>
                    </a:lnTo>
                    <a:lnTo>
                      <a:pt x="1785899" y="0"/>
                    </a:lnTo>
                    <a:lnTo>
                      <a:pt x="1785899" y="117449"/>
                    </a:lnTo>
                    <a:lnTo>
                      <a:pt x="1778842" y="152408"/>
                    </a:lnTo>
                    <a:lnTo>
                      <a:pt x="1778721" y="153007"/>
                    </a:lnTo>
                    <a:lnTo>
                      <a:pt x="1776299" y="156599"/>
                    </a:lnTo>
                    <a:close/>
                  </a:path>
                  <a:path w="1786254" h="208914">
                    <a:moveTo>
                      <a:pt x="104399" y="104399"/>
                    </a:moveTo>
                    <a:lnTo>
                      <a:pt x="0" y="104399"/>
                    </a:lnTo>
                    <a:lnTo>
                      <a:pt x="52199" y="52199"/>
                    </a:lnTo>
                    <a:lnTo>
                      <a:pt x="104399" y="104399"/>
                    </a:lnTo>
                    <a:close/>
                  </a:path>
                  <a:path w="1786254" h="208914">
                    <a:moveTo>
                      <a:pt x="1694549" y="208799"/>
                    </a:moveTo>
                    <a:lnTo>
                      <a:pt x="117449" y="208799"/>
                    </a:lnTo>
                    <a:lnTo>
                      <a:pt x="99545" y="207028"/>
                    </a:lnTo>
                    <a:lnTo>
                      <a:pt x="52855" y="182044"/>
                    </a:lnTo>
                    <a:lnTo>
                      <a:pt x="27871" y="135354"/>
                    </a:lnTo>
                    <a:lnTo>
                      <a:pt x="26099" y="117449"/>
                    </a:lnTo>
                    <a:lnTo>
                      <a:pt x="26099" y="104399"/>
                    </a:lnTo>
                    <a:lnTo>
                      <a:pt x="78299" y="104399"/>
                    </a:lnTo>
                    <a:lnTo>
                      <a:pt x="78299" y="117449"/>
                    </a:lnTo>
                    <a:lnTo>
                      <a:pt x="81376" y="132688"/>
                    </a:lnTo>
                    <a:lnTo>
                      <a:pt x="89766" y="145133"/>
                    </a:lnTo>
                    <a:lnTo>
                      <a:pt x="102211" y="153523"/>
                    </a:lnTo>
                    <a:lnTo>
                      <a:pt x="117449" y="156599"/>
                    </a:lnTo>
                    <a:lnTo>
                      <a:pt x="1776299" y="156599"/>
                    </a:lnTo>
                    <a:lnTo>
                      <a:pt x="1759144" y="182044"/>
                    </a:lnTo>
                    <a:lnTo>
                      <a:pt x="1730107" y="201621"/>
                    </a:lnTo>
                    <a:lnTo>
                      <a:pt x="1694549" y="208799"/>
                    </a:lnTo>
                    <a:close/>
                  </a:path>
                </a:pathLst>
              </a:custGeom>
              <a:solidFill>
                <a:srgbClr val="FF9900"/>
              </a:solidFill>
            </p:spPr>
            <p:txBody>
              <a:bodyPr wrap="square" lIns="0" tIns="0" rIns="0" bIns="0" rtlCol="0"/>
              <a:lstStyle/>
              <a:p>
                <a:endParaRPr/>
              </a:p>
            </p:txBody>
          </p:sp>
          <p:sp>
            <p:nvSpPr>
              <p:cNvPr id="17" name="object 17"/>
              <p:cNvSpPr/>
              <p:nvPr/>
            </p:nvSpPr>
            <p:spPr>
              <a:xfrm>
                <a:off x="1847350" y="4035649"/>
                <a:ext cx="1786255" cy="208915"/>
              </a:xfrm>
              <a:custGeom>
                <a:avLst/>
                <a:gdLst/>
                <a:ahLst/>
                <a:cxnLst/>
                <a:rect l="l" t="t" r="r" b="b"/>
                <a:pathLst>
                  <a:path w="1786254" h="208914">
                    <a:moveTo>
                      <a:pt x="1785899" y="0"/>
                    </a:moveTo>
                    <a:lnTo>
                      <a:pt x="1785899" y="117449"/>
                    </a:lnTo>
                    <a:lnTo>
                      <a:pt x="1778721" y="153007"/>
                    </a:lnTo>
                    <a:lnTo>
                      <a:pt x="1759144" y="182044"/>
                    </a:lnTo>
                    <a:lnTo>
                      <a:pt x="1730107" y="201621"/>
                    </a:lnTo>
                    <a:lnTo>
                      <a:pt x="1694549" y="208799"/>
                    </a:lnTo>
                    <a:lnTo>
                      <a:pt x="117449" y="208799"/>
                    </a:lnTo>
                    <a:lnTo>
                      <a:pt x="66769" y="193452"/>
                    </a:lnTo>
                    <a:lnTo>
                      <a:pt x="33053" y="152408"/>
                    </a:lnTo>
                    <a:lnTo>
                      <a:pt x="26099" y="117449"/>
                    </a:lnTo>
                    <a:lnTo>
                      <a:pt x="26099" y="104399"/>
                    </a:lnTo>
                    <a:lnTo>
                      <a:pt x="0" y="104399"/>
                    </a:lnTo>
                    <a:lnTo>
                      <a:pt x="52199" y="52199"/>
                    </a:lnTo>
                    <a:lnTo>
                      <a:pt x="104399" y="104399"/>
                    </a:lnTo>
                    <a:lnTo>
                      <a:pt x="78299" y="104399"/>
                    </a:lnTo>
                    <a:lnTo>
                      <a:pt x="78299" y="117449"/>
                    </a:lnTo>
                    <a:lnTo>
                      <a:pt x="81376" y="132688"/>
                    </a:lnTo>
                    <a:lnTo>
                      <a:pt x="89766" y="145133"/>
                    </a:lnTo>
                    <a:lnTo>
                      <a:pt x="102211" y="153523"/>
                    </a:lnTo>
                    <a:lnTo>
                      <a:pt x="117449" y="156599"/>
                    </a:lnTo>
                    <a:lnTo>
                      <a:pt x="1694549" y="156599"/>
                    </a:lnTo>
                    <a:lnTo>
                      <a:pt x="1709788" y="153523"/>
                    </a:lnTo>
                    <a:lnTo>
                      <a:pt x="1722233" y="145133"/>
                    </a:lnTo>
                    <a:lnTo>
                      <a:pt x="1730623" y="132688"/>
                    </a:lnTo>
                    <a:lnTo>
                      <a:pt x="1733699" y="117449"/>
                    </a:lnTo>
                    <a:lnTo>
                      <a:pt x="1733699" y="0"/>
                    </a:lnTo>
                    <a:lnTo>
                      <a:pt x="1785899" y="0"/>
                    </a:lnTo>
                    <a:close/>
                  </a:path>
                </a:pathLst>
              </a:custGeom>
              <a:ln w="9524">
                <a:solidFill>
                  <a:srgbClr val="0F2044"/>
                </a:solidFill>
              </a:ln>
            </p:spPr>
            <p:txBody>
              <a:bodyPr wrap="square" lIns="0" tIns="0" rIns="0" bIns="0" rtlCol="0"/>
              <a:lstStyle/>
              <a:p>
                <a:endParaRPr/>
              </a:p>
            </p:txBody>
          </p:sp>
        </p:grpSp>
        <p:pic>
          <p:nvPicPr>
            <p:cNvPr id="19" name="Picture 18">
              <a:extLst>
                <a:ext uri="{FF2B5EF4-FFF2-40B4-BE49-F238E27FC236}">
                  <a16:creationId xmlns:a16="http://schemas.microsoft.com/office/drawing/2014/main" id="{5B259708-87D6-B6F7-3337-FD9D3D4F17B7}"/>
                </a:ext>
              </a:extLst>
            </p:cNvPr>
            <p:cNvPicPr>
              <a:picLocks noChangeAspect="1"/>
            </p:cNvPicPr>
            <p:nvPr/>
          </p:nvPicPr>
          <p:blipFill>
            <a:blip r:embed="rId3"/>
            <a:stretch>
              <a:fillRect/>
            </a:stretch>
          </p:blipFill>
          <p:spPr>
            <a:xfrm>
              <a:off x="241788" y="3544277"/>
              <a:ext cx="6425741" cy="451143"/>
            </a:xfrm>
            <a:prstGeom prst="rect">
              <a:avLst/>
            </a:prstGeom>
          </p:spPr>
        </p:pic>
      </p:grpSp>
      <p:sp>
        <p:nvSpPr>
          <p:cNvPr id="18" name="object 18"/>
          <p:cNvSpPr txBox="1"/>
          <p:nvPr/>
        </p:nvSpPr>
        <p:spPr>
          <a:xfrm>
            <a:off x="492681" y="4800600"/>
            <a:ext cx="5923956" cy="933845"/>
          </a:xfrm>
          <a:prstGeom prst="rect">
            <a:avLst/>
          </a:prstGeom>
        </p:spPr>
        <p:txBody>
          <a:bodyPr vert="horz" wrap="square" lIns="0" tIns="12700" rIns="0" bIns="0" rtlCol="0">
            <a:spAutoFit/>
          </a:bodyPr>
          <a:lstStyle/>
          <a:p>
            <a:pPr marL="12700" marR="5080" algn="just">
              <a:lnSpc>
                <a:spcPct val="114000"/>
              </a:lnSpc>
              <a:spcBef>
                <a:spcPts val="100"/>
              </a:spcBef>
            </a:pPr>
            <a:r>
              <a:rPr dirty="0">
                <a:solidFill>
                  <a:srgbClr val="0F2044"/>
                </a:solidFill>
                <a:latin typeface="Arial MT"/>
                <a:cs typeface="Arial MT"/>
              </a:rPr>
              <a:t>Footer</a:t>
            </a:r>
            <a:r>
              <a:rPr spc="-25" dirty="0">
                <a:solidFill>
                  <a:srgbClr val="0F2044"/>
                </a:solidFill>
                <a:latin typeface="Arial MT"/>
                <a:cs typeface="Arial MT"/>
              </a:rPr>
              <a:t> </a:t>
            </a:r>
            <a:r>
              <a:rPr dirty="0">
                <a:solidFill>
                  <a:srgbClr val="0F2044"/>
                </a:solidFill>
                <a:latin typeface="Arial MT"/>
                <a:cs typeface="Arial MT"/>
              </a:rPr>
              <a:t>is</a:t>
            </a:r>
            <a:r>
              <a:rPr spc="-15" dirty="0">
                <a:solidFill>
                  <a:srgbClr val="0F2044"/>
                </a:solidFill>
                <a:latin typeface="Arial MT"/>
                <a:cs typeface="Arial MT"/>
              </a:rPr>
              <a:t> </a:t>
            </a:r>
            <a:r>
              <a:rPr dirty="0">
                <a:solidFill>
                  <a:srgbClr val="0F2044"/>
                </a:solidFill>
                <a:latin typeface="Arial MT"/>
                <a:cs typeface="Arial MT"/>
              </a:rPr>
              <a:t>used</a:t>
            </a:r>
            <a:r>
              <a:rPr spc="-15" dirty="0">
                <a:solidFill>
                  <a:srgbClr val="0F2044"/>
                </a:solidFill>
                <a:latin typeface="Arial MT"/>
                <a:cs typeface="Arial MT"/>
              </a:rPr>
              <a:t> </a:t>
            </a:r>
            <a:r>
              <a:rPr dirty="0">
                <a:solidFill>
                  <a:srgbClr val="0F2044"/>
                </a:solidFill>
                <a:latin typeface="Arial MT"/>
                <a:cs typeface="Arial MT"/>
              </a:rPr>
              <a:t>for</a:t>
            </a:r>
            <a:r>
              <a:rPr spc="-15" dirty="0">
                <a:solidFill>
                  <a:srgbClr val="0F2044"/>
                </a:solidFill>
                <a:latin typeface="Arial MT"/>
                <a:cs typeface="Arial MT"/>
              </a:rPr>
              <a:t> </a:t>
            </a:r>
            <a:r>
              <a:rPr dirty="0">
                <a:solidFill>
                  <a:srgbClr val="0F2044"/>
                </a:solidFill>
                <a:latin typeface="Arial MT"/>
                <a:cs typeface="Arial MT"/>
              </a:rPr>
              <a:t>easier</a:t>
            </a:r>
            <a:r>
              <a:rPr spc="-15" dirty="0">
                <a:solidFill>
                  <a:srgbClr val="0F2044"/>
                </a:solidFill>
                <a:latin typeface="Arial MT"/>
                <a:cs typeface="Arial MT"/>
              </a:rPr>
              <a:t> </a:t>
            </a:r>
            <a:r>
              <a:rPr dirty="0">
                <a:solidFill>
                  <a:srgbClr val="0F2044"/>
                </a:solidFill>
                <a:latin typeface="Arial MT"/>
                <a:cs typeface="Arial MT"/>
              </a:rPr>
              <a:t>navigation</a:t>
            </a:r>
            <a:r>
              <a:rPr spc="-15" dirty="0">
                <a:solidFill>
                  <a:srgbClr val="0F2044"/>
                </a:solidFill>
                <a:latin typeface="Arial MT"/>
                <a:cs typeface="Arial MT"/>
              </a:rPr>
              <a:t> </a:t>
            </a:r>
            <a:r>
              <a:rPr dirty="0">
                <a:solidFill>
                  <a:srgbClr val="0F2044"/>
                </a:solidFill>
                <a:latin typeface="Arial MT"/>
                <a:cs typeface="Arial MT"/>
              </a:rPr>
              <a:t>in</a:t>
            </a:r>
            <a:r>
              <a:rPr spc="-15" dirty="0">
                <a:solidFill>
                  <a:srgbClr val="0F2044"/>
                </a:solidFill>
                <a:latin typeface="Arial MT"/>
                <a:cs typeface="Arial MT"/>
              </a:rPr>
              <a:t> </a:t>
            </a:r>
            <a:r>
              <a:rPr dirty="0">
                <a:solidFill>
                  <a:srgbClr val="0F2044"/>
                </a:solidFill>
                <a:latin typeface="Arial MT"/>
                <a:cs typeface="Arial MT"/>
              </a:rPr>
              <a:t>some</a:t>
            </a:r>
            <a:r>
              <a:rPr spc="-15" dirty="0">
                <a:solidFill>
                  <a:srgbClr val="0F2044"/>
                </a:solidFill>
                <a:latin typeface="Arial MT"/>
                <a:cs typeface="Arial MT"/>
              </a:rPr>
              <a:t> </a:t>
            </a:r>
            <a:r>
              <a:rPr spc="-10" dirty="0">
                <a:solidFill>
                  <a:srgbClr val="0F2044"/>
                </a:solidFill>
                <a:latin typeface="Arial MT"/>
                <a:cs typeface="Arial MT"/>
              </a:rPr>
              <a:t>memory </a:t>
            </a:r>
            <a:r>
              <a:rPr dirty="0">
                <a:solidFill>
                  <a:srgbClr val="0F2044"/>
                </a:solidFill>
                <a:latin typeface="Arial MT"/>
                <a:cs typeface="Arial MT"/>
              </a:rPr>
              <a:t>management</a:t>
            </a:r>
            <a:r>
              <a:rPr spc="-30" dirty="0">
                <a:solidFill>
                  <a:srgbClr val="0F2044"/>
                </a:solidFill>
                <a:latin typeface="Arial MT"/>
                <a:cs typeface="Arial MT"/>
              </a:rPr>
              <a:t> </a:t>
            </a:r>
            <a:r>
              <a:rPr dirty="0">
                <a:solidFill>
                  <a:srgbClr val="0F2044"/>
                </a:solidFill>
                <a:latin typeface="Arial MT"/>
                <a:cs typeface="Arial MT"/>
              </a:rPr>
              <a:t>schemes</a:t>
            </a:r>
            <a:r>
              <a:rPr spc="-15" dirty="0">
                <a:solidFill>
                  <a:srgbClr val="0F2044"/>
                </a:solidFill>
                <a:latin typeface="Arial MT"/>
                <a:cs typeface="Arial MT"/>
              </a:rPr>
              <a:t> </a:t>
            </a:r>
            <a:r>
              <a:rPr dirty="0">
                <a:solidFill>
                  <a:srgbClr val="0F2044"/>
                </a:solidFill>
                <a:latin typeface="Arial MT"/>
                <a:cs typeface="Arial MT"/>
              </a:rPr>
              <a:t>→</a:t>
            </a:r>
            <a:r>
              <a:rPr spc="-45" dirty="0">
                <a:solidFill>
                  <a:srgbClr val="0F2044"/>
                </a:solidFill>
                <a:latin typeface="Arial MT"/>
                <a:cs typeface="Arial MT"/>
              </a:rPr>
              <a:t> </a:t>
            </a:r>
            <a:r>
              <a:rPr dirty="0">
                <a:solidFill>
                  <a:srgbClr val="0F2044"/>
                </a:solidFill>
                <a:latin typeface="Arial MT"/>
                <a:cs typeface="Arial MT"/>
              </a:rPr>
              <a:t>The</a:t>
            </a:r>
            <a:r>
              <a:rPr spc="-15" dirty="0">
                <a:solidFill>
                  <a:srgbClr val="0F2044"/>
                </a:solidFill>
                <a:latin typeface="Arial MT"/>
                <a:cs typeface="Arial MT"/>
              </a:rPr>
              <a:t> </a:t>
            </a:r>
            <a:r>
              <a:rPr dirty="0">
                <a:solidFill>
                  <a:srgbClr val="0F2044"/>
                </a:solidFill>
                <a:latin typeface="Arial MT"/>
                <a:cs typeface="Arial MT"/>
              </a:rPr>
              <a:t>allocator</a:t>
            </a:r>
            <a:r>
              <a:rPr spc="-15" dirty="0">
                <a:solidFill>
                  <a:srgbClr val="0F2044"/>
                </a:solidFill>
                <a:latin typeface="Arial MT"/>
                <a:cs typeface="Arial MT"/>
              </a:rPr>
              <a:t> </a:t>
            </a:r>
            <a:r>
              <a:rPr dirty="0">
                <a:solidFill>
                  <a:srgbClr val="0F2044"/>
                </a:solidFill>
                <a:latin typeface="Arial MT"/>
                <a:cs typeface="Arial MT"/>
              </a:rPr>
              <a:t>can</a:t>
            </a:r>
            <a:r>
              <a:rPr spc="-15" dirty="0">
                <a:solidFill>
                  <a:srgbClr val="0F2044"/>
                </a:solidFill>
                <a:latin typeface="Arial MT"/>
                <a:cs typeface="Arial MT"/>
              </a:rPr>
              <a:t> </a:t>
            </a:r>
            <a:r>
              <a:rPr spc="-10" dirty="0">
                <a:solidFill>
                  <a:srgbClr val="0F2044"/>
                </a:solidFill>
                <a:latin typeface="Arial MT"/>
                <a:cs typeface="Arial MT"/>
              </a:rPr>
              <a:t>traverse </a:t>
            </a:r>
            <a:r>
              <a:rPr dirty="0">
                <a:solidFill>
                  <a:srgbClr val="0F2044"/>
                </a:solidFill>
                <a:latin typeface="Arial MT"/>
                <a:cs typeface="Arial MT"/>
              </a:rPr>
              <a:t>memory</a:t>
            </a:r>
            <a:r>
              <a:rPr spc="-15" dirty="0">
                <a:solidFill>
                  <a:srgbClr val="0F2044"/>
                </a:solidFill>
                <a:latin typeface="Arial MT"/>
                <a:cs typeface="Arial MT"/>
              </a:rPr>
              <a:t> </a:t>
            </a:r>
            <a:r>
              <a:rPr dirty="0">
                <a:solidFill>
                  <a:srgbClr val="0F2044"/>
                </a:solidFill>
                <a:latin typeface="Arial MT"/>
                <a:cs typeface="Arial MT"/>
              </a:rPr>
              <a:t>blocks</a:t>
            </a:r>
            <a:r>
              <a:rPr spc="-15" dirty="0">
                <a:solidFill>
                  <a:srgbClr val="0F2044"/>
                </a:solidFill>
                <a:latin typeface="Arial MT"/>
                <a:cs typeface="Arial MT"/>
              </a:rPr>
              <a:t> </a:t>
            </a:r>
            <a:r>
              <a:rPr dirty="0">
                <a:solidFill>
                  <a:srgbClr val="0F2044"/>
                </a:solidFill>
                <a:latin typeface="Arial MT"/>
                <a:cs typeface="Arial MT"/>
              </a:rPr>
              <a:t>forward</a:t>
            </a:r>
            <a:r>
              <a:rPr spc="-15" dirty="0">
                <a:solidFill>
                  <a:srgbClr val="0F2044"/>
                </a:solidFill>
                <a:latin typeface="Arial MT"/>
                <a:cs typeface="Arial MT"/>
              </a:rPr>
              <a:t> </a:t>
            </a:r>
            <a:r>
              <a:rPr dirty="0">
                <a:solidFill>
                  <a:srgbClr val="0F2044"/>
                </a:solidFill>
                <a:latin typeface="Arial MT"/>
                <a:cs typeface="Arial MT"/>
              </a:rPr>
              <a:t>and</a:t>
            </a:r>
            <a:r>
              <a:rPr spc="-15" dirty="0">
                <a:solidFill>
                  <a:srgbClr val="0F2044"/>
                </a:solidFill>
                <a:latin typeface="Arial MT"/>
                <a:cs typeface="Arial MT"/>
              </a:rPr>
              <a:t> </a:t>
            </a:r>
            <a:r>
              <a:rPr spc="-10" dirty="0">
                <a:solidFill>
                  <a:srgbClr val="0F2044"/>
                </a:solidFill>
                <a:latin typeface="Arial MT"/>
                <a:cs typeface="Arial MT"/>
              </a:rPr>
              <a:t>backwards.</a:t>
            </a:r>
            <a:endParaRPr dirty="0">
              <a:latin typeface="Arial MT"/>
              <a:cs typeface="Arial MT"/>
            </a:endParaRPr>
          </a:p>
        </p:txBody>
      </p:sp>
      <p:pic>
        <p:nvPicPr>
          <p:cNvPr id="6" name="object 6">
            <a:extLst>
              <a:ext uri="{C183D7F6-B498-43B3-948B-1728B52AA6E4}">
                <adec:decorative xmlns:adec="http://schemas.microsoft.com/office/drawing/2017/decorative" val="1"/>
              </a:ext>
            </a:extLst>
          </p:cNvPr>
          <p:cNvPicPr/>
          <p:nvPr/>
        </p:nvPicPr>
        <p:blipFill>
          <a:blip r:embed="rId4" cstate="print"/>
          <a:stretch>
            <a:fillRect/>
          </a:stretch>
        </p:blipFill>
        <p:spPr>
          <a:xfrm>
            <a:off x="7098821" y="2684855"/>
            <a:ext cx="4635979" cy="2859564"/>
          </a:xfrm>
          <a:prstGeom prst="rect">
            <a:avLst/>
          </a:prstGeom>
        </p:spPr>
      </p:pic>
      <p:sp>
        <p:nvSpPr>
          <p:cNvPr id="7" name="object 7">
            <a:extLst>
              <a:ext uri="{C183D7F6-B498-43B3-948B-1728B52AA6E4}">
                <adec:decorative xmlns:adec="http://schemas.microsoft.com/office/drawing/2017/decorative" val="1"/>
              </a:ext>
            </a:extLst>
          </p:cNvPr>
          <p:cNvSpPr txBox="1"/>
          <p:nvPr/>
        </p:nvSpPr>
        <p:spPr>
          <a:xfrm>
            <a:off x="7503562" y="5868104"/>
            <a:ext cx="266382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0F2044"/>
                </a:solidFill>
                <a:latin typeface="Arial MT"/>
                <a:cs typeface="Arial MT"/>
              </a:rPr>
              <a:t>Image</a:t>
            </a:r>
            <a:r>
              <a:rPr sz="1200" spc="-25" dirty="0">
                <a:solidFill>
                  <a:srgbClr val="0F2044"/>
                </a:solidFill>
                <a:latin typeface="Arial MT"/>
                <a:cs typeface="Arial MT"/>
              </a:rPr>
              <a:t> </a:t>
            </a:r>
            <a:r>
              <a:rPr sz="1200" dirty="0">
                <a:solidFill>
                  <a:srgbClr val="0F2044"/>
                </a:solidFill>
                <a:latin typeface="Arial MT"/>
                <a:cs typeface="Arial MT"/>
              </a:rPr>
              <a:t>credit</a:t>
            </a:r>
            <a:r>
              <a:rPr sz="1200" spc="-20" dirty="0">
                <a:solidFill>
                  <a:srgbClr val="0F2044"/>
                </a:solidFill>
                <a:latin typeface="Arial MT"/>
                <a:cs typeface="Arial MT"/>
              </a:rPr>
              <a:t> </a:t>
            </a:r>
            <a:r>
              <a:rPr sz="1200" dirty="0">
                <a:solidFill>
                  <a:srgbClr val="0F2044"/>
                </a:solidFill>
                <a:latin typeface="Arial MT"/>
                <a:cs typeface="Arial MT"/>
              </a:rPr>
              <a:t>-</a:t>
            </a:r>
            <a:r>
              <a:rPr sz="1200" spc="-20" dirty="0">
                <a:solidFill>
                  <a:srgbClr val="0F2044"/>
                </a:solidFill>
                <a:latin typeface="Arial MT"/>
                <a:cs typeface="Arial MT"/>
              </a:rPr>
              <a:t> </a:t>
            </a:r>
            <a:r>
              <a:rPr sz="1200" spc="-10" dirty="0">
                <a:solidFill>
                  <a:srgbClr val="0F2044"/>
                </a:solidFill>
                <a:latin typeface="Arial MT"/>
                <a:cs typeface="Arial MT"/>
              </a:rPr>
              <a:t>https://csit.kutztown.edu/</a:t>
            </a:r>
            <a:endParaRPr sz="1200" dirty="0">
              <a:latin typeface="Arial MT"/>
              <a:cs typeface="Arial M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Implicit</a:t>
            </a:r>
            <a:r>
              <a:rPr spc="-90" dirty="0"/>
              <a:t> </a:t>
            </a:r>
            <a:r>
              <a:rPr dirty="0"/>
              <a:t>Free</a:t>
            </a:r>
            <a:r>
              <a:rPr spc="-90" dirty="0"/>
              <a:t> </a:t>
            </a:r>
            <a:r>
              <a:rPr dirty="0"/>
              <a:t>List:</a:t>
            </a:r>
            <a:r>
              <a:rPr spc="-85" dirty="0"/>
              <a:t> </a:t>
            </a:r>
            <a:r>
              <a:rPr spc="-10" dirty="0"/>
              <a:t>Bidirectional</a:t>
            </a:r>
            <a:r>
              <a:rPr spc="-90" dirty="0"/>
              <a:t> </a:t>
            </a:r>
            <a:r>
              <a:rPr spc="-10" dirty="0"/>
              <a:t>Coalescing</a:t>
            </a:r>
          </a:p>
        </p:txBody>
      </p:sp>
      <p:sp>
        <p:nvSpPr>
          <p:cNvPr id="5" name="object 5"/>
          <p:cNvSpPr txBox="1"/>
          <p:nvPr/>
        </p:nvSpPr>
        <p:spPr>
          <a:xfrm>
            <a:off x="455700" y="2301030"/>
            <a:ext cx="5855335" cy="4152675"/>
          </a:xfrm>
          <a:prstGeom prst="rect">
            <a:avLst/>
          </a:prstGeom>
        </p:spPr>
        <p:txBody>
          <a:bodyPr vert="horz" wrap="square" lIns="0" tIns="12700" rIns="0" bIns="0" rtlCol="0">
            <a:spAutoFit/>
          </a:bodyPr>
          <a:lstStyle/>
          <a:p>
            <a:pPr marL="12700">
              <a:lnSpc>
                <a:spcPct val="114000"/>
              </a:lnSpc>
              <a:spcBef>
                <a:spcPts val="100"/>
              </a:spcBef>
            </a:pPr>
            <a:r>
              <a:rPr sz="1800" b="1" dirty="0">
                <a:latin typeface="Arial"/>
                <a:cs typeface="Arial"/>
              </a:rPr>
              <a:t>The</a:t>
            </a:r>
            <a:r>
              <a:rPr sz="1800" b="1" spc="-35" dirty="0">
                <a:latin typeface="Arial"/>
                <a:cs typeface="Arial"/>
              </a:rPr>
              <a:t> </a:t>
            </a:r>
            <a:r>
              <a:rPr sz="1800" b="1" dirty="0">
                <a:latin typeface="Arial"/>
                <a:cs typeface="Arial"/>
              </a:rPr>
              <a:t>problem</a:t>
            </a:r>
            <a:r>
              <a:rPr sz="1800" b="1" spc="-30" dirty="0">
                <a:latin typeface="Arial"/>
                <a:cs typeface="Arial"/>
              </a:rPr>
              <a:t> </a:t>
            </a:r>
            <a:r>
              <a:rPr sz="1800" b="1" dirty="0">
                <a:latin typeface="Arial"/>
                <a:cs typeface="Arial"/>
              </a:rPr>
              <a:t>with</a:t>
            </a:r>
            <a:r>
              <a:rPr sz="1800" b="1" spc="-35" dirty="0">
                <a:latin typeface="Arial"/>
                <a:cs typeface="Arial"/>
              </a:rPr>
              <a:t> </a:t>
            </a:r>
            <a:r>
              <a:rPr sz="1800" b="1" dirty="0">
                <a:latin typeface="Arial"/>
                <a:cs typeface="Arial"/>
              </a:rPr>
              <a:t>always</a:t>
            </a:r>
            <a:r>
              <a:rPr sz="1800" b="1" spc="-30" dirty="0">
                <a:latin typeface="Arial"/>
                <a:cs typeface="Arial"/>
              </a:rPr>
              <a:t> </a:t>
            </a:r>
            <a:r>
              <a:rPr sz="1800" b="1" dirty="0">
                <a:latin typeface="Arial"/>
                <a:cs typeface="Arial"/>
              </a:rPr>
              <a:t>using</a:t>
            </a:r>
            <a:r>
              <a:rPr sz="1800" b="1" spc="-35" dirty="0">
                <a:latin typeface="Arial"/>
                <a:cs typeface="Arial"/>
              </a:rPr>
              <a:t> </a:t>
            </a:r>
            <a:r>
              <a:rPr sz="1800" b="1" spc="-10" dirty="0">
                <a:latin typeface="Arial"/>
                <a:cs typeface="Arial"/>
              </a:rPr>
              <a:t>footers:</a:t>
            </a:r>
            <a:endParaRPr sz="1800" dirty="0">
              <a:latin typeface="Arial"/>
              <a:cs typeface="Arial"/>
            </a:endParaRPr>
          </a:p>
          <a:p>
            <a:pPr marL="469265" indent="-366395">
              <a:lnSpc>
                <a:spcPct val="114000"/>
              </a:lnSpc>
              <a:spcBef>
                <a:spcPts val="600"/>
              </a:spcBef>
              <a:buChar char="●"/>
              <a:tabLst>
                <a:tab pos="469265" algn="l"/>
              </a:tabLst>
            </a:pPr>
            <a:r>
              <a:rPr sz="1800" dirty="0">
                <a:latin typeface="Arial MT"/>
                <a:cs typeface="Arial MT"/>
              </a:rPr>
              <a:t>If</a:t>
            </a:r>
            <a:r>
              <a:rPr sz="1800" spc="-25" dirty="0">
                <a:latin typeface="Arial MT"/>
                <a:cs typeface="Arial MT"/>
              </a:rPr>
              <a:t> </a:t>
            </a:r>
            <a:r>
              <a:rPr sz="1800" dirty="0">
                <a:latin typeface="Arial MT"/>
                <a:cs typeface="Arial MT"/>
              </a:rPr>
              <a:t>blocks</a:t>
            </a:r>
            <a:r>
              <a:rPr sz="1800" spc="-15" dirty="0">
                <a:latin typeface="Arial MT"/>
                <a:cs typeface="Arial MT"/>
              </a:rPr>
              <a:t> </a:t>
            </a:r>
            <a:r>
              <a:rPr sz="1800" dirty="0">
                <a:latin typeface="Arial MT"/>
                <a:cs typeface="Arial MT"/>
              </a:rPr>
              <a:t>are</a:t>
            </a:r>
            <a:r>
              <a:rPr sz="1800" spc="-10" dirty="0">
                <a:latin typeface="Arial MT"/>
                <a:cs typeface="Arial MT"/>
              </a:rPr>
              <a:t> </a:t>
            </a:r>
            <a:r>
              <a:rPr sz="1800" b="1" dirty="0">
                <a:latin typeface="Arial"/>
                <a:cs typeface="Arial"/>
              </a:rPr>
              <a:t>very</a:t>
            </a:r>
            <a:r>
              <a:rPr sz="1800" b="1" spc="-15" dirty="0">
                <a:latin typeface="Arial"/>
                <a:cs typeface="Arial"/>
              </a:rPr>
              <a:t> </a:t>
            </a:r>
            <a:r>
              <a:rPr sz="1800" b="1" dirty="0">
                <a:latin typeface="Arial"/>
                <a:cs typeface="Arial"/>
              </a:rPr>
              <a:t>small</a:t>
            </a:r>
            <a:r>
              <a:rPr sz="1800" dirty="0">
                <a:latin typeface="Arial MT"/>
                <a:cs typeface="Arial MT"/>
              </a:rPr>
              <a:t>,</a:t>
            </a:r>
            <a:r>
              <a:rPr sz="1800" spc="-15" dirty="0">
                <a:latin typeface="Arial MT"/>
                <a:cs typeface="Arial MT"/>
              </a:rPr>
              <a:t> </a:t>
            </a:r>
            <a:r>
              <a:rPr sz="1800" dirty="0">
                <a:latin typeface="Arial MT"/>
                <a:cs typeface="Arial MT"/>
              </a:rPr>
              <a:t>that</a:t>
            </a:r>
            <a:r>
              <a:rPr sz="1800" spc="-15" dirty="0">
                <a:latin typeface="Arial MT"/>
                <a:cs typeface="Arial MT"/>
              </a:rPr>
              <a:t> </a:t>
            </a:r>
            <a:r>
              <a:rPr sz="1800" dirty="0">
                <a:latin typeface="Arial MT"/>
                <a:cs typeface="Arial MT"/>
              </a:rPr>
              <a:t>extra</a:t>
            </a:r>
            <a:r>
              <a:rPr sz="1800" spc="-10" dirty="0">
                <a:latin typeface="Arial MT"/>
                <a:cs typeface="Arial MT"/>
              </a:rPr>
              <a:t> </a:t>
            </a:r>
            <a:r>
              <a:rPr sz="1800" dirty="0">
                <a:latin typeface="Arial MT"/>
                <a:cs typeface="Arial MT"/>
              </a:rPr>
              <a:t>footer</a:t>
            </a:r>
            <a:r>
              <a:rPr sz="1800" spc="-15" dirty="0">
                <a:latin typeface="Arial MT"/>
                <a:cs typeface="Arial MT"/>
              </a:rPr>
              <a:t> </a:t>
            </a:r>
            <a:r>
              <a:rPr sz="1800" spc="-20" dirty="0">
                <a:latin typeface="Arial MT"/>
                <a:cs typeface="Arial MT"/>
              </a:rPr>
              <a:t>adds</a:t>
            </a:r>
            <a:endParaRPr sz="1800" dirty="0">
              <a:latin typeface="Arial MT"/>
              <a:cs typeface="Arial MT"/>
            </a:endParaRPr>
          </a:p>
          <a:p>
            <a:pPr marL="469900">
              <a:lnSpc>
                <a:spcPct val="114000"/>
              </a:lnSpc>
              <a:spcBef>
                <a:spcPts val="325"/>
              </a:spcBef>
              <a:spcAft>
                <a:spcPts val="600"/>
              </a:spcAft>
            </a:pPr>
            <a:r>
              <a:rPr sz="1800" b="1" spc="-10" dirty="0">
                <a:latin typeface="Arial"/>
                <a:cs typeface="Arial"/>
              </a:rPr>
              <a:t>non-</a:t>
            </a:r>
            <a:r>
              <a:rPr sz="1800" b="1" dirty="0">
                <a:latin typeface="Arial"/>
                <a:cs typeface="Arial"/>
              </a:rPr>
              <a:t>trivial</a:t>
            </a:r>
            <a:r>
              <a:rPr sz="1800" b="1" spc="-15" dirty="0">
                <a:latin typeface="Arial"/>
                <a:cs typeface="Arial"/>
              </a:rPr>
              <a:t> </a:t>
            </a:r>
            <a:r>
              <a:rPr sz="1800" b="1" spc="-10" dirty="0">
                <a:latin typeface="Arial"/>
                <a:cs typeface="Arial"/>
              </a:rPr>
              <a:t>overhead</a:t>
            </a:r>
            <a:r>
              <a:rPr sz="1800" spc="-10" dirty="0">
                <a:latin typeface="Arial MT"/>
                <a:cs typeface="Arial MT"/>
              </a:rPr>
              <a:t>.</a:t>
            </a:r>
            <a:endParaRPr sz="1800" dirty="0">
              <a:latin typeface="Arial MT"/>
              <a:cs typeface="Arial MT"/>
            </a:endParaRPr>
          </a:p>
          <a:p>
            <a:pPr marL="468630" marR="5080" indent="-365760" algn="just">
              <a:lnSpc>
                <a:spcPct val="114000"/>
              </a:lnSpc>
              <a:buChar char="●"/>
              <a:tabLst>
                <a:tab pos="469900" algn="l"/>
              </a:tabLst>
            </a:pPr>
            <a:r>
              <a:rPr sz="1800" dirty="0">
                <a:latin typeface="Arial MT"/>
                <a:cs typeface="Arial MT"/>
              </a:rPr>
              <a:t>If</a:t>
            </a:r>
            <a:r>
              <a:rPr sz="1800" spc="-25" dirty="0">
                <a:latin typeface="Arial MT"/>
                <a:cs typeface="Arial MT"/>
              </a:rPr>
              <a:t> </a:t>
            </a:r>
            <a:r>
              <a:rPr sz="1800" dirty="0">
                <a:latin typeface="Arial MT"/>
                <a:cs typeface="Arial MT"/>
              </a:rPr>
              <a:t>many</a:t>
            </a:r>
            <a:r>
              <a:rPr sz="1800" spc="-15" dirty="0">
                <a:latin typeface="Arial MT"/>
                <a:cs typeface="Arial MT"/>
              </a:rPr>
              <a:t> </a:t>
            </a:r>
            <a:r>
              <a:rPr sz="1800" dirty="0">
                <a:latin typeface="Arial MT"/>
                <a:cs typeface="Arial MT"/>
              </a:rPr>
              <a:t>blocks</a:t>
            </a:r>
            <a:r>
              <a:rPr sz="1800" spc="-15" dirty="0">
                <a:latin typeface="Arial MT"/>
                <a:cs typeface="Arial MT"/>
              </a:rPr>
              <a:t> </a:t>
            </a:r>
            <a:r>
              <a:rPr sz="1800" dirty="0">
                <a:latin typeface="Arial MT"/>
                <a:cs typeface="Arial MT"/>
              </a:rPr>
              <a:t>are</a:t>
            </a:r>
            <a:r>
              <a:rPr sz="1800" spc="-15" dirty="0">
                <a:latin typeface="Arial MT"/>
                <a:cs typeface="Arial MT"/>
              </a:rPr>
              <a:t> </a:t>
            </a:r>
            <a:r>
              <a:rPr sz="1800" dirty="0">
                <a:latin typeface="Arial MT"/>
                <a:cs typeface="Arial MT"/>
              </a:rPr>
              <a:t>allocated</a:t>
            </a:r>
            <a:r>
              <a:rPr sz="1800" spc="-15" dirty="0">
                <a:latin typeface="Arial MT"/>
                <a:cs typeface="Arial MT"/>
              </a:rPr>
              <a:t> </a:t>
            </a:r>
            <a:r>
              <a:rPr sz="1800" dirty="0">
                <a:latin typeface="Arial MT"/>
                <a:cs typeface="Arial MT"/>
              </a:rPr>
              <a:t>at</a:t>
            </a:r>
            <a:r>
              <a:rPr sz="1800" spc="-15" dirty="0">
                <a:latin typeface="Arial MT"/>
                <a:cs typeface="Arial MT"/>
              </a:rPr>
              <a:t> </a:t>
            </a:r>
            <a:r>
              <a:rPr sz="1800" dirty="0">
                <a:latin typeface="Arial MT"/>
                <a:cs typeface="Arial MT"/>
              </a:rPr>
              <a:t>once,</a:t>
            </a:r>
            <a:r>
              <a:rPr sz="1800" spc="-15" dirty="0">
                <a:latin typeface="Arial MT"/>
                <a:cs typeface="Arial MT"/>
              </a:rPr>
              <a:t> </a:t>
            </a:r>
            <a:r>
              <a:rPr sz="1800" dirty="0">
                <a:latin typeface="Arial MT"/>
                <a:cs typeface="Arial MT"/>
              </a:rPr>
              <a:t>footers</a:t>
            </a:r>
            <a:r>
              <a:rPr sz="1800" spc="-15" dirty="0">
                <a:latin typeface="Arial MT"/>
                <a:cs typeface="Arial MT"/>
              </a:rPr>
              <a:t> </a:t>
            </a:r>
            <a:r>
              <a:rPr sz="1800" dirty="0">
                <a:latin typeface="Arial MT"/>
                <a:cs typeface="Arial MT"/>
              </a:rPr>
              <a:t>in</a:t>
            </a:r>
            <a:r>
              <a:rPr sz="1800" spc="-10" dirty="0">
                <a:latin typeface="Arial MT"/>
                <a:cs typeface="Arial MT"/>
              </a:rPr>
              <a:t> every 	</a:t>
            </a:r>
            <a:r>
              <a:rPr sz="1800" dirty="0">
                <a:latin typeface="Arial MT"/>
                <a:cs typeface="Arial MT"/>
              </a:rPr>
              <a:t>one</a:t>
            </a:r>
            <a:r>
              <a:rPr sz="1800" spc="-25" dirty="0">
                <a:latin typeface="Arial MT"/>
                <a:cs typeface="Arial MT"/>
              </a:rPr>
              <a:t> </a:t>
            </a:r>
            <a:r>
              <a:rPr sz="1800" dirty="0">
                <a:latin typeface="Arial MT"/>
                <a:cs typeface="Arial MT"/>
              </a:rPr>
              <a:t>of</a:t>
            </a:r>
            <a:r>
              <a:rPr sz="1800" spc="-15" dirty="0">
                <a:latin typeface="Arial MT"/>
                <a:cs typeface="Arial MT"/>
              </a:rPr>
              <a:t> </a:t>
            </a:r>
            <a:r>
              <a:rPr sz="1800" dirty="0">
                <a:latin typeface="Arial MT"/>
                <a:cs typeface="Arial MT"/>
              </a:rPr>
              <a:t>them</a:t>
            </a:r>
            <a:r>
              <a:rPr sz="1800" spc="-10" dirty="0">
                <a:latin typeface="Arial MT"/>
                <a:cs typeface="Arial MT"/>
              </a:rPr>
              <a:t> </a:t>
            </a:r>
            <a:r>
              <a:rPr sz="1800" dirty="0">
                <a:latin typeface="Arial MT"/>
                <a:cs typeface="Arial MT"/>
              </a:rPr>
              <a:t>wastes</a:t>
            </a:r>
            <a:r>
              <a:rPr sz="1800" spc="-15" dirty="0">
                <a:latin typeface="Arial MT"/>
                <a:cs typeface="Arial MT"/>
              </a:rPr>
              <a:t> </a:t>
            </a:r>
            <a:r>
              <a:rPr sz="1800" dirty="0">
                <a:latin typeface="Arial MT"/>
                <a:cs typeface="Arial MT"/>
              </a:rPr>
              <a:t>space</a:t>
            </a:r>
            <a:r>
              <a:rPr sz="1800" spc="-15" dirty="0">
                <a:latin typeface="Arial MT"/>
                <a:cs typeface="Arial MT"/>
              </a:rPr>
              <a:t> </a:t>
            </a:r>
            <a:r>
              <a:rPr sz="1800" dirty="0">
                <a:latin typeface="Arial MT"/>
                <a:cs typeface="Arial MT"/>
              </a:rPr>
              <a:t>needlessly</a:t>
            </a:r>
            <a:r>
              <a:rPr sz="1800" spc="-10" dirty="0">
                <a:latin typeface="Arial MT"/>
                <a:cs typeface="Arial MT"/>
              </a:rPr>
              <a:t> </a:t>
            </a:r>
            <a:r>
              <a:rPr sz="1800" dirty="0">
                <a:latin typeface="Arial MT"/>
                <a:cs typeface="Arial MT"/>
              </a:rPr>
              <a:t>—</a:t>
            </a:r>
            <a:r>
              <a:rPr sz="1800" spc="-15" dirty="0">
                <a:latin typeface="Arial MT"/>
                <a:cs typeface="Arial MT"/>
              </a:rPr>
              <a:t> </a:t>
            </a:r>
            <a:r>
              <a:rPr sz="1800" dirty="0">
                <a:latin typeface="Arial MT"/>
                <a:cs typeface="Arial MT"/>
              </a:rPr>
              <a:t>because</a:t>
            </a:r>
            <a:r>
              <a:rPr sz="1800" spc="-10" dirty="0">
                <a:latin typeface="Arial MT"/>
                <a:cs typeface="Arial MT"/>
              </a:rPr>
              <a:t> </a:t>
            </a:r>
            <a:r>
              <a:rPr sz="1800" spc="-25" dirty="0">
                <a:latin typeface="Arial MT"/>
                <a:cs typeface="Arial MT"/>
              </a:rPr>
              <a:t>we 	</a:t>
            </a:r>
            <a:r>
              <a:rPr sz="1800" dirty="0">
                <a:latin typeface="Arial MT"/>
                <a:cs typeface="Arial MT"/>
              </a:rPr>
              <a:t>don’t</a:t>
            </a:r>
            <a:r>
              <a:rPr sz="1800" spc="-25" dirty="0">
                <a:latin typeface="Arial MT"/>
                <a:cs typeface="Arial MT"/>
              </a:rPr>
              <a:t> </a:t>
            </a:r>
            <a:r>
              <a:rPr sz="1800" dirty="0">
                <a:latin typeface="Arial MT"/>
                <a:cs typeface="Arial MT"/>
              </a:rPr>
              <a:t>use</a:t>
            </a:r>
            <a:r>
              <a:rPr sz="1800" spc="-10" dirty="0">
                <a:latin typeface="Arial MT"/>
                <a:cs typeface="Arial MT"/>
              </a:rPr>
              <a:t> </a:t>
            </a:r>
            <a:r>
              <a:rPr sz="1800" dirty="0">
                <a:latin typeface="Arial MT"/>
                <a:cs typeface="Arial MT"/>
              </a:rPr>
              <a:t>them</a:t>
            </a:r>
            <a:r>
              <a:rPr sz="1800" spc="-15" dirty="0">
                <a:latin typeface="Arial MT"/>
                <a:cs typeface="Arial MT"/>
              </a:rPr>
              <a:t> </a:t>
            </a:r>
            <a:r>
              <a:rPr sz="1800" dirty="0">
                <a:latin typeface="Arial MT"/>
                <a:cs typeface="Arial MT"/>
              </a:rPr>
              <a:t>until</a:t>
            </a:r>
            <a:r>
              <a:rPr sz="1800" spc="-10" dirty="0">
                <a:latin typeface="Arial MT"/>
                <a:cs typeface="Arial MT"/>
              </a:rPr>
              <a:t> </a:t>
            </a:r>
            <a:r>
              <a:rPr sz="1800" dirty="0">
                <a:latin typeface="Arial MT"/>
                <a:cs typeface="Arial MT"/>
              </a:rPr>
              <a:t>a</a:t>
            </a:r>
            <a:r>
              <a:rPr sz="1800" spc="-15" dirty="0">
                <a:latin typeface="Arial MT"/>
                <a:cs typeface="Arial MT"/>
              </a:rPr>
              <a:t> </a:t>
            </a:r>
            <a:r>
              <a:rPr sz="1800" dirty="0">
                <a:latin typeface="Arial MT"/>
                <a:cs typeface="Arial MT"/>
              </a:rPr>
              <a:t>block</a:t>
            </a:r>
            <a:r>
              <a:rPr sz="1800" spc="-10" dirty="0">
                <a:latin typeface="Arial MT"/>
                <a:cs typeface="Arial MT"/>
              </a:rPr>
              <a:t> </a:t>
            </a:r>
            <a:r>
              <a:rPr sz="1800" dirty="0">
                <a:latin typeface="Arial MT"/>
                <a:cs typeface="Arial MT"/>
              </a:rPr>
              <a:t>is</a:t>
            </a:r>
            <a:r>
              <a:rPr sz="1800" spc="-10" dirty="0">
                <a:latin typeface="Arial MT"/>
                <a:cs typeface="Arial MT"/>
              </a:rPr>
              <a:t> freed.</a:t>
            </a:r>
            <a:endParaRPr sz="1800" dirty="0">
              <a:latin typeface="Arial MT"/>
              <a:cs typeface="Arial MT"/>
            </a:endParaRPr>
          </a:p>
          <a:p>
            <a:pPr marL="12700">
              <a:lnSpc>
                <a:spcPct val="114000"/>
              </a:lnSpc>
              <a:spcBef>
                <a:spcPts val="1525"/>
              </a:spcBef>
              <a:spcAft>
                <a:spcPts val="1200"/>
              </a:spcAft>
            </a:pPr>
            <a:r>
              <a:rPr sz="1800" b="1" dirty="0">
                <a:latin typeface="Arial"/>
                <a:cs typeface="Arial"/>
              </a:rPr>
              <a:t>Only</a:t>
            </a:r>
            <a:r>
              <a:rPr sz="1800" b="1" spc="-20" dirty="0">
                <a:latin typeface="Arial"/>
                <a:cs typeface="Arial"/>
              </a:rPr>
              <a:t> </a:t>
            </a:r>
            <a:r>
              <a:rPr sz="1800" b="1" dirty="0">
                <a:latin typeface="Arial"/>
                <a:cs typeface="Arial"/>
              </a:rPr>
              <a:t>free</a:t>
            </a:r>
            <a:r>
              <a:rPr sz="1800" b="1" spc="-20" dirty="0">
                <a:latin typeface="Arial"/>
                <a:cs typeface="Arial"/>
              </a:rPr>
              <a:t> </a:t>
            </a:r>
            <a:r>
              <a:rPr sz="1800" b="1" dirty="0">
                <a:latin typeface="Arial"/>
                <a:cs typeface="Arial"/>
              </a:rPr>
              <a:t>blocks</a:t>
            </a:r>
            <a:r>
              <a:rPr sz="1800" b="1" spc="-20" dirty="0">
                <a:latin typeface="Arial"/>
                <a:cs typeface="Arial"/>
              </a:rPr>
              <a:t> </a:t>
            </a:r>
            <a:r>
              <a:rPr sz="1800" b="1" dirty="0">
                <a:latin typeface="Arial"/>
                <a:cs typeface="Arial"/>
              </a:rPr>
              <a:t>get</a:t>
            </a:r>
            <a:r>
              <a:rPr sz="1800" b="1" spc="-15" dirty="0">
                <a:latin typeface="Arial"/>
                <a:cs typeface="Arial"/>
              </a:rPr>
              <a:t> </a:t>
            </a:r>
            <a:r>
              <a:rPr sz="1800" b="1" spc="-10" dirty="0">
                <a:latin typeface="Arial"/>
                <a:cs typeface="Arial"/>
              </a:rPr>
              <a:t>footers.</a:t>
            </a:r>
            <a:endParaRPr sz="1800" dirty="0">
              <a:latin typeface="Arial"/>
              <a:cs typeface="Arial"/>
            </a:endParaRPr>
          </a:p>
          <a:p>
            <a:pPr marL="12700">
              <a:lnSpc>
                <a:spcPct val="114000"/>
              </a:lnSpc>
            </a:pPr>
            <a:r>
              <a:rPr sz="1800" dirty="0">
                <a:latin typeface="Arial MT"/>
                <a:cs typeface="Arial MT"/>
              </a:rPr>
              <a:t>This</a:t>
            </a:r>
            <a:r>
              <a:rPr sz="1800" spc="-15" dirty="0">
                <a:latin typeface="Arial MT"/>
                <a:cs typeface="Arial MT"/>
              </a:rPr>
              <a:t> </a:t>
            </a:r>
            <a:r>
              <a:rPr sz="1800" dirty="0">
                <a:latin typeface="Arial MT"/>
                <a:cs typeface="Arial MT"/>
              </a:rPr>
              <a:t>is</a:t>
            </a:r>
            <a:r>
              <a:rPr sz="1800" spc="-15" dirty="0">
                <a:latin typeface="Arial MT"/>
                <a:cs typeface="Arial MT"/>
              </a:rPr>
              <a:t> </a:t>
            </a:r>
            <a:r>
              <a:rPr sz="1800" dirty="0">
                <a:latin typeface="Arial MT"/>
                <a:cs typeface="Arial MT"/>
              </a:rPr>
              <a:t>enough</a:t>
            </a:r>
            <a:r>
              <a:rPr sz="1800" spc="-10" dirty="0">
                <a:latin typeface="Arial MT"/>
                <a:cs typeface="Arial MT"/>
              </a:rPr>
              <a:t> because:</a:t>
            </a:r>
            <a:endParaRPr lang="en-US" sz="1800" spc="-10" dirty="0">
              <a:latin typeface="Arial MT"/>
              <a:cs typeface="Arial MT"/>
            </a:endParaRPr>
          </a:p>
          <a:p>
            <a:pPr marL="457200" indent="-366713">
              <a:lnSpc>
                <a:spcPct val="114000"/>
              </a:lnSpc>
              <a:spcBef>
                <a:spcPts val="600"/>
              </a:spcBef>
              <a:spcAft>
                <a:spcPts val="600"/>
              </a:spcAft>
              <a:buChar char="●"/>
              <a:tabLst>
                <a:tab pos="346075" algn="l"/>
              </a:tabLst>
            </a:pPr>
            <a:r>
              <a:rPr lang="en-US" sz="1800" dirty="0">
                <a:latin typeface="Arial MT"/>
                <a:cs typeface="Arial MT"/>
              </a:rPr>
              <a:t>When</a:t>
            </a:r>
            <a:r>
              <a:rPr lang="en-US" sz="1800" spc="-20" dirty="0">
                <a:latin typeface="Arial MT"/>
                <a:cs typeface="Arial MT"/>
              </a:rPr>
              <a:t> </a:t>
            </a:r>
            <a:r>
              <a:rPr lang="en-US" sz="1800" dirty="0">
                <a:latin typeface="Arial MT"/>
                <a:cs typeface="Arial MT"/>
              </a:rPr>
              <a:t>a</a:t>
            </a:r>
            <a:r>
              <a:rPr lang="en-US" sz="1800" spc="-10" dirty="0">
                <a:latin typeface="Arial MT"/>
                <a:cs typeface="Arial MT"/>
              </a:rPr>
              <a:t> </a:t>
            </a:r>
            <a:r>
              <a:rPr lang="en-US" sz="1800" dirty="0">
                <a:latin typeface="Arial MT"/>
                <a:cs typeface="Arial MT"/>
              </a:rPr>
              <a:t>block</a:t>
            </a:r>
            <a:r>
              <a:rPr lang="en-US" sz="1800" spc="-10" dirty="0">
                <a:latin typeface="Arial MT"/>
                <a:cs typeface="Arial MT"/>
              </a:rPr>
              <a:t> </a:t>
            </a:r>
            <a:r>
              <a:rPr lang="en-US" sz="1800" dirty="0">
                <a:latin typeface="Arial MT"/>
                <a:cs typeface="Arial MT"/>
              </a:rPr>
              <a:t>is</a:t>
            </a:r>
            <a:r>
              <a:rPr lang="en-US" sz="1800" spc="5" dirty="0">
                <a:latin typeface="Arial MT"/>
                <a:cs typeface="Arial MT"/>
              </a:rPr>
              <a:t> </a:t>
            </a:r>
            <a:r>
              <a:rPr lang="en-US" sz="1800" b="1" dirty="0">
                <a:latin typeface="Arial"/>
                <a:cs typeface="Arial"/>
              </a:rPr>
              <a:t>freed</a:t>
            </a:r>
            <a:r>
              <a:rPr lang="en-US" sz="1800" dirty="0">
                <a:latin typeface="Arial MT"/>
                <a:cs typeface="Arial MT"/>
              </a:rPr>
              <a:t>,</a:t>
            </a:r>
            <a:r>
              <a:rPr lang="en-US" sz="1800" spc="-10" dirty="0">
                <a:latin typeface="Arial MT"/>
                <a:cs typeface="Arial MT"/>
              </a:rPr>
              <a:t> </a:t>
            </a:r>
            <a:r>
              <a:rPr lang="en-US" sz="1800" dirty="0">
                <a:latin typeface="Arial MT"/>
                <a:cs typeface="Arial MT"/>
              </a:rPr>
              <a:t>a</a:t>
            </a:r>
            <a:r>
              <a:rPr lang="en-US" sz="1800" spc="-10" dirty="0">
                <a:latin typeface="Arial MT"/>
                <a:cs typeface="Arial MT"/>
              </a:rPr>
              <a:t> </a:t>
            </a:r>
            <a:r>
              <a:rPr lang="en-US" sz="1800" dirty="0">
                <a:latin typeface="Arial MT"/>
                <a:cs typeface="Arial MT"/>
              </a:rPr>
              <a:t>footer</a:t>
            </a:r>
            <a:r>
              <a:rPr lang="en-US" sz="1800" spc="-10" dirty="0">
                <a:latin typeface="Arial MT"/>
                <a:cs typeface="Arial MT"/>
              </a:rPr>
              <a:t> </a:t>
            </a:r>
            <a:r>
              <a:rPr lang="en-US" sz="1800" dirty="0">
                <a:latin typeface="Arial MT"/>
                <a:cs typeface="Arial MT"/>
              </a:rPr>
              <a:t>is</a:t>
            </a:r>
            <a:r>
              <a:rPr lang="en-US" sz="1800" spc="-5" dirty="0">
                <a:latin typeface="Arial MT"/>
                <a:cs typeface="Arial MT"/>
              </a:rPr>
              <a:t> </a:t>
            </a:r>
            <a:r>
              <a:rPr lang="en-US" sz="1800" spc="-10" dirty="0">
                <a:latin typeface="Arial MT"/>
                <a:cs typeface="Arial MT"/>
              </a:rPr>
              <a:t>written.</a:t>
            </a:r>
            <a:endParaRPr lang="en-US" sz="1800" dirty="0">
              <a:latin typeface="Arial MT"/>
              <a:cs typeface="Arial MT"/>
            </a:endParaRPr>
          </a:p>
          <a:p>
            <a:pPr marL="457200" marR="5080" indent="-366713">
              <a:lnSpc>
                <a:spcPct val="114000"/>
              </a:lnSpc>
              <a:buChar char="●"/>
              <a:tabLst>
                <a:tab pos="346075" algn="l"/>
              </a:tabLst>
            </a:pPr>
            <a:r>
              <a:rPr lang="en-US" sz="1800" dirty="0">
                <a:latin typeface="Arial MT"/>
                <a:cs typeface="Arial MT"/>
              </a:rPr>
              <a:t>When</a:t>
            </a:r>
            <a:r>
              <a:rPr lang="en-US" sz="1800" spc="-35" dirty="0">
                <a:latin typeface="Arial MT"/>
                <a:cs typeface="Arial MT"/>
              </a:rPr>
              <a:t> </a:t>
            </a:r>
            <a:r>
              <a:rPr lang="en-US" sz="1800" dirty="0">
                <a:latin typeface="Arial MT"/>
                <a:cs typeface="Arial MT"/>
              </a:rPr>
              <a:t>checking</a:t>
            </a:r>
            <a:r>
              <a:rPr lang="en-US" sz="1800" spc="-25" dirty="0">
                <a:latin typeface="Arial MT"/>
                <a:cs typeface="Arial MT"/>
              </a:rPr>
              <a:t> </a:t>
            </a:r>
            <a:r>
              <a:rPr lang="en-US" sz="1800" dirty="0">
                <a:latin typeface="Arial MT"/>
                <a:cs typeface="Arial MT"/>
              </a:rPr>
              <a:t>for</a:t>
            </a:r>
            <a:r>
              <a:rPr lang="en-US" sz="1800" spc="-20" dirty="0">
                <a:latin typeface="Arial MT"/>
                <a:cs typeface="Arial MT"/>
              </a:rPr>
              <a:t> </a:t>
            </a:r>
            <a:r>
              <a:rPr lang="en-US" sz="1800" dirty="0">
                <a:latin typeface="Arial MT"/>
                <a:cs typeface="Arial MT"/>
              </a:rPr>
              <a:t>coalescing,</a:t>
            </a:r>
            <a:r>
              <a:rPr lang="en-US" sz="1800" spc="-25" dirty="0">
                <a:latin typeface="Arial MT"/>
                <a:cs typeface="Arial MT"/>
              </a:rPr>
              <a:t> </a:t>
            </a:r>
            <a:r>
              <a:rPr lang="en-US" sz="1800" dirty="0">
                <a:latin typeface="Arial MT"/>
                <a:cs typeface="Arial MT"/>
              </a:rPr>
              <a:t>you</a:t>
            </a:r>
            <a:r>
              <a:rPr lang="en-US" sz="1800" spc="-20" dirty="0">
                <a:latin typeface="Arial MT"/>
                <a:cs typeface="Arial MT"/>
              </a:rPr>
              <a:t> </a:t>
            </a:r>
            <a:r>
              <a:rPr lang="en-US" sz="1800" dirty="0">
                <a:latin typeface="Arial MT"/>
                <a:cs typeface="Arial MT"/>
              </a:rPr>
              <a:t>only</a:t>
            </a:r>
            <a:r>
              <a:rPr lang="en-US" sz="1800" spc="-25" dirty="0">
                <a:latin typeface="Arial MT"/>
                <a:cs typeface="Arial MT"/>
              </a:rPr>
              <a:t> </a:t>
            </a:r>
            <a:r>
              <a:rPr lang="en-US" sz="1800" dirty="0">
                <a:latin typeface="Arial MT"/>
                <a:cs typeface="Arial MT"/>
              </a:rPr>
              <a:t>need</a:t>
            </a:r>
            <a:r>
              <a:rPr lang="en-US" sz="1800" spc="-20" dirty="0">
                <a:latin typeface="Arial MT"/>
                <a:cs typeface="Arial MT"/>
              </a:rPr>
              <a:t> </a:t>
            </a:r>
            <a:r>
              <a:rPr lang="en-US" sz="1800" spc="-25" dirty="0">
                <a:latin typeface="Arial MT"/>
                <a:cs typeface="Arial MT"/>
              </a:rPr>
              <a:t>the </a:t>
            </a:r>
            <a:r>
              <a:rPr lang="en-US" sz="1800" dirty="0">
                <a:latin typeface="Arial MT"/>
                <a:cs typeface="Arial MT"/>
              </a:rPr>
              <a:t>footer</a:t>
            </a:r>
            <a:r>
              <a:rPr lang="en-US" sz="1800" spc="-20" dirty="0">
                <a:latin typeface="Arial MT"/>
                <a:cs typeface="Arial MT"/>
              </a:rPr>
              <a:t> </a:t>
            </a:r>
            <a:r>
              <a:rPr lang="en-US" sz="1800" dirty="0">
                <a:latin typeface="Arial MT"/>
                <a:cs typeface="Arial MT"/>
              </a:rPr>
              <a:t>of</a:t>
            </a:r>
            <a:r>
              <a:rPr lang="en-US" sz="1800" spc="-15" dirty="0">
                <a:latin typeface="Arial MT"/>
                <a:cs typeface="Arial MT"/>
              </a:rPr>
              <a:t> </a:t>
            </a:r>
            <a:r>
              <a:rPr lang="en-US" sz="1800" dirty="0">
                <a:latin typeface="Arial MT"/>
                <a:cs typeface="Arial MT"/>
              </a:rPr>
              <a:t>a</a:t>
            </a:r>
            <a:r>
              <a:rPr lang="en-US" sz="1800" spc="-5" dirty="0">
                <a:latin typeface="Arial MT"/>
                <a:cs typeface="Arial MT"/>
              </a:rPr>
              <a:t> </a:t>
            </a:r>
            <a:r>
              <a:rPr lang="en-US" sz="1800" b="1" dirty="0">
                <a:latin typeface="Arial"/>
                <a:cs typeface="Arial"/>
              </a:rPr>
              <a:t>free</a:t>
            </a:r>
            <a:r>
              <a:rPr lang="en-US" sz="1800" b="1" spc="-15" dirty="0">
                <a:latin typeface="Arial"/>
                <a:cs typeface="Arial"/>
              </a:rPr>
              <a:t> </a:t>
            </a:r>
            <a:r>
              <a:rPr lang="en-US" sz="1800" b="1" dirty="0">
                <a:latin typeface="Arial"/>
                <a:cs typeface="Arial"/>
              </a:rPr>
              <a:t>previous</a:t>
            </a:r>
            <a:r>
              <a:rPr lang="en-US" sz="1800" b="1" spc="-15" dirty="0">
                <a:latin typeface="Arial"/>
                <a:cs typeface="Arial"/>
              </a:rPr>
              <a:t> </a:t>
            </a:r>
            <a:r>
              <a:rPr lang="en-US" sz="1800" b="1" spc="-10" dirty="0">
                <a:latin typeface="Arial"/>
                <a:cs typeface="Arial"/>
              </a:rPr>
              <a:t>block</a:t>
            </a:r>
            <a:r>
              <a:rPr lang="en-US" sz="1800" spc="-10" dirty="0">
                <a:latin typeface="Arial MT"/>
                <a:cs typeface="Arial MT"/>
              </a:rPr>
              <a:t>.</a:t>
            </a:r>
            <a:endParaRPr lang="en-US" sz="1800" dirty="0">
              <a:latin typeface="Arial MT"/>
              <a:cs typeface="Arial MT"/>
            </a:endParaRPr>
          </a:p>
        </p:txBody>
      </p:sp>
      <p:pic>
        <p:nvPicPr>
          <p:cNvPr id="3" name="object 3">
            <a:extLst>
              <a:ext uri="{C183D7F6-B498-43B3-948B-1728B52AA6E4}">
                <adec:decorative xmlns:adec="http://schemas.microsoft.com/office/drawing/2017/decorative" val="1"/>
              </a:ext>
            </a:extLst>
          </p:cNvPr>
          <p:cNvPicPr/>
          <p:nvPr/>
        </p:nvPicPr>
        <p:blipFill>
          <a:blip r:embed="rId3" cstate="print"/>
          <a:stretch>
            <a:fillRect/>
          </a:stretch>
        </p:blipFill>
        <p:spPr>
          <a:xfrm>
            <a:off x="7098821" y="2684855"/>
            <a:ext cx="4635979" cy="2859564"/>
          </a:xfrm>
          <a:prstGeom prst="rect">
            <a:avLst/>
          </a:prstGeom>
        </p:spPr>
      </p:pic>
      <p:sp>
        <p:nvSpPr>
          <p:cNvPr id="4" name="object 4">
            <a:extLst>
              <a:ext uri="{C183D7F6-B498-43B3-948B-1728B52AA6E4}">
                <adec:decorative xmlns:adec="http://schemas.microsoft.com/office/drawing/2017/decorative" val="1"/>
              </a:ext>
            </a:extLst>
          </p:cNvPr>
          <p:cNvSpPr txBox="1"/>
          <p:nvPr/>
        </p:nvSpPr>
        <p:spPr>
          <a:xfrm>
            <a:off x="7503562" y="5868104"/>
            <a:ext cx="266382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0F2044"/>
                </a:solidFill>
                <a:latin typeface="Arial MT"/>
                <a:cs typeface="Arial MT"/>
              </a:rPr>
              <a:t>Image</a:t>
            </a:r>
            <a:r>
              <a:rPr sz="1200" spc="-25" dirty="0">
                <a:solidFill>
                  <a:srgbClr val="0F2044"/>
                </a:solidFill>
                <a:latin typeface="Arial MT"/>
                <a:cs typeface="Arial MT"/>
              </a:rPr>
              <a:t> </a:t>
            </a:r>
            <a:r>
              <a:rPr sz="1200" dirty="0">
                <a:solidFill>
                  <a:srgbClr val="0F2044"/>
                </a:solidFill>
                <a:latin typeface="Arial MT"/>
                <a:cs typeface="Arial MT"/>
              </a:rPr>
              <a:t>credit</a:t>
            </a:r>
            <a:r>
              <a:rPr sz="1200" spc="-20" dirty="0">
                <a:solidFill>
                  <a:srgbClr val="0F2044"/>
                </a:solidFill>
                <a:latin typeface="Arial MT"/>
                <a:cs typeface="Arial MT"/>
              </a:rPr>
              <a:t> </a:t>
            </a:r>
            <a:r>
              <a:rPr sz="1200" dirty="0">
                <a:solidFill>
                  <a:srgbClr val="0F2044"/>
                </a:solidFill>
                <a:latin typeface="Arial MT"/>
                <a:cs typeface="Arial MT"/>
              </a:rPr>
              <a:t>-</a:t>
            </a:r>
            <a:r>
              <a:rPr sz="1200" spc="-20" dirty="0">
                <a:solidFill>
                  <a:srgbClr val="0F2044"/>
                </a:solidFill>
                <a:latin typeface="Arial MT"/>
                <a:cs typeface="Arial MT"/>
              </a:rPr>
              <a:t> </a:t>
            </a:r>
            <a:r>
              <a:rPr sz="1200" spc="-10" dirty="0">
                <a:solidFill>
                  <a:srgbClr val="0F2044"/>
                </a:solidFill>
                <a:latin typeface="Arial MT"/>
                <a:cs typeface="Arial MT"/>
              </a:rPr>
              <a:t>https://csit.kutztown.edu/</a:t>
            </a:r>
            <a:endParaRPr sz="1200">
              <a:latin typeface="Arial MT"/>
              <a:cs typeface="Arial M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animEffect transition="in" filter="fade">
                                      <p:cBhvr>
                                        <p:cTn id="7" dur="500"/>
                                        <p:tgtEl>
                                          <p:spTgt spid="5">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5" end="5"/>
                                            </p:txEl>
                                          </p:spTgt>
                                        </p:tgtEl>
                                        <p:attrNameLst>
                                          <p:attrName>style.visibility</p:attrName>
                                        </p:attrNameLst>
                                      </p:cBhvr>
                                      <p:to>
                                        <p:strVal val="visible"/>
                                      </p:to>
                                    </p:set>
                                    <p:animEffect transition="in" filter="fade">
                                      <p:cBhvr>
                                        <p:cTn id="10" dur="500"/>
                                        <p:tgtEl>
                                          <p:spTgt spid="5">
                                            <p:txEl>
                                              <p:pRg st="5" end="5"/>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5">
                                            <p:txEl>
                                              <p:pRg st="6" end="6"/>
                                            </p:txEl>
                                          </p:spTgt>
                                        </p:tgtEl>
                                        <p:attrNameLst>
                                          <p:attrName>style.visibility</p:attrName>
                                        </p:attrNameLst>
                                      </p:cBhvr>
                                      <p:to>
                                        <p:strVal val="visible"/>
                                      </p:to>
                                    </p:set>
                                    <p:animEffect transition="in" filter="fade">
                                      <p:cBhvr>
                                        <p:cTn id="13" dur="500"/>
                                        <p:tgtEl>
                                          <p:spTgt spid="5">
                                            <p:txEl>
                                              <p:pRg st="6" end="6"/>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5">
                                            <p:txEl>
                                              <p:pRg st="7" end="7"/>
                                            </p:txEl>
                                          </p:spTgt>
                                        </p:tgtEl>
                                        <p:attrNameLst>
                                          <p:attrName>style.visibility</p:attrName>
                                        </p:attrNameLst>
                                      </p:cBhvr>
                                      <p:to>
                                        <p:strVal val="visible"/>
                                      </p:to>
                                    </p:set>
                                    <p:animEffect transition="in" filter="fade">
                                      <p:cBhvr>
                                        <p:cTn id="16"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Explicit</a:t>
            </a:r>
            <a:r>
              <a:rPr spc="-100" dirty="0"/>
              <a:t> </a:t>
            </a:r>
            <a:r>
              <a:rPr dirty="0"/>
              <a:t>Free</a:t>
            </a:r>
            <a:r>
              <a:rPr spc="-95" dirty="0"/>
              <a:t> </a:t>
            </a:r>
            <a:r>
              <a:rPr spc="-20" dirty="0"/>
              <a:t>List</a:t>
            </a:r>
          </a:p>
        </p:txBody>
      </p:sp>
      <p:grpSp>
        <p:nvGrpSpPr>
          <p:cNvPr id="51" name="Group 50" descr="A memory row visualization showing an explicit free list. Blue arrows above the blocks represent the forward &quot;next&quot; pointers connecting free blocks, while green arrows below represent the &quot;previous&quot; pointers, forming a doubly-linked list of available memory.">
            <a:extLst>
              <a:ext uri="{FF2B5EF4-FFF2-40B4-BE49-F238E27FC236}">
                <a16:creationId xmlns:a16="http://schemas.microsoft.com/office/drawing/2014/main" id="{A8EF555A-EF50-1447-35C0-9FF1BEB2FF49}"/>
              </a:ext>
            </a:extLst>
          </p:cNvPr>
          <p:cNvGrpSpPr/>
          <p:nvPr/>
        </p:nvGrpSpPr>
        <p:grpSpPr>
          <a:xfrm>
            <a:off x="434970" y="2419637"/>
            <a:ext cx="10309230" cy="1113878"/>
            <a:chOff x="434970" y="2419637"/>
            <a:chExt cx="10309230" cy="1113878"/>
          </a:xfrm>
        </p:grpSpPr>
        <p:grpSp>
          <p:nvGrpSpPr>
            <p:cNvPr id="16" name="object 16"/>
            <p:cNvGrpSpPr/>
            <p:nvPr/>
          </p:nvGrpSpPr>
          <p:grpSpPr>
            <a:xfrm>
              <a:off x="585500" y="3324600"/>
              <a:ext cx="4869180" cy="208915"/>
              <a:chOff x="585500" y="3324600"/>
              <a:chExt cx="4869180" cy="208915"/>
            </a:xfrm>
          </p:grpSpPr>
          <p:sp>
            <p:nvSpPr>
              <p:cNvPr id="17" name="object 17"/>
              <p:cNvSpPr/>
              <p:nvPr/>
            </p:nvSpPr>
            <p:spPr>
              <a:xfrm>
                <a:off x="585500" y="3324600"/>
                <a:ext cx="4869180" cy="208915"/>
              </a:xfrm>
              <a:custGeom>
                <a:avLst/>
                <a:gdLst/>
                <a:ahLst/>
                <a:cxnLst/>
                <a:rect l="l" t="t" r="r" b="b"/>
                <a:pathLst>
                  <a:path w="4869180" h="208914">
                    <a:moveTo>
                      <a:pt x="4751549" y="208799"/>
                    </a:moveTo>
                    <a:lnTo>
                      <a:pt x="91349" y="208799"/>
                    </a:lnTo>
                    <a:lnTo>
                      <a:pt x="55792" y="201621"/>
                    </a:lnTo>
                    <a:lnTo>
                      <a:pt x="26755" y="182044"/>
                    </a:lnTo>
                    <a:lnTo>
                      <a:pt x="7178" y="153007"/>
                    </a:lnTo>
                    <a:lnTo>
                      <a:pt x="0" y="117449"/>
                    </a:lnTo>
                    <a:lnTo>
                      <a:pt x="0" y="0"/>
                    </a:lnTo>
                    <a:lnTo>
                      <a:pt x="52199" y="0"/>
                    </a:lnTo>
                    <a:lnTo>
                      <a:pt x="52199" y="117449"/>
                    </a:lnTo>
                    <a:lnTo>
                      <a:pt x="55276" y="132688"/>
                    </a:lnTo>
                    <a:lnTo>
                      <a:pt x="63666" y="145133"/>
                    </a:lnTo>
                    <a:lnTo>
                      <a:pt x="76111" y="153523"/>
                    </a:lnTo>
                    <a:lnTo>
                      <a:pt x="91349" y="156599"/>
                    </a:lnTo>
                    <a:lnTo>
                      <a:pt x="4833708" y="156599"/>
                    </a:lnTo>
                    <a:lnTo>
                      <a:pt x="4827552" y="168131"/>
                    </a:lnTo>
                    <a:lnTo>
                      <a:pt x="4816144" y="182044"/>
                    </a:lnTo>
                    <a:lnTo>
                      <a:pt x="4802231" y="193452"/>
                    </a:lnTo>
                    <a:lnTo>
                      <a:pt x="4786508" y="201846"/>
                    </a:lnTo>
                    <a:lnTo>
                      <a:pt x="4769454" y="207028"/>
                    </a:lnTo>
                    <a:lnTo>
                      <a:pt x="4751549" y="208799"/>
                    </a:lnTo>
                    <a:close/>
                  </a:path>
                  <a:path w="4869180" h="208914">
                    <a:moveTo>
                      <a:pt x="4868999" y="104399"/>
                    </a:moveTo>
                    <a:lnTo>
                      <a:pt x="4764599" y="104399"/>
                    </a:lnTo>
                    <a:lnTo>
                      <a:pt x="4816799" y="52199"/>
                    </a:lnTo>
                    <a:lnTo>
                      <a:pt x="4868999" y="104399"/>
                    </a:lnTo>
                    <a:close/>
                  </a:path>
                  <a:path w="4869180" h="208914">
                    <a:moveTo>
                      <a:pt x="4833708" y="156599"/>
                    </a:moveTo>
                    <a:lnTo>
                      <a:pt x="4751549" y="156599"/>
                    </a:lnTo>
                    <a:lnTo>
                      <a:pt x="4766788" y="153523"/>
                    </a:lnTo>
                    <a:lnTo>
                      <a:pt x="4779233" y="145133"/>
                    </a:lnTo>
                    <a:lnTo>
                      <a:pt x="4787623" y="132688"/>
                    </a:lnTo>
                    <a:lnTo>
                      <a:pt x="4790699" y="117449"/>
                    </a:lnTo>
                    <a:lnTo>
                      <a:pt x="4790699" y="104399"/>
                    </a:lnTo>
                    <a:lnTo>
                      <a:pt x="4842899" y="104399"/>
                    </a:lnTo>
                    <a:lnTo>
                      <a:pt x="4842899" y="117449"/>
                    </a:lnTo>
                    <a:lnTo>
                      <a:pt x="4841128" y="135354"/>
                    </a:lnTo>
                    <a:lnTo>
                      <a:pt x="4835946" y="152408"/>
                    </a:lnTo>
                    <a:lnTo>
                      <a:pt x="4833708" y="156599"/>
                    </a:lnTo>
                    <a:close/>
                  </a:path>
                </a:pathLst>
              </a:custGeom>
              <a:solidFill>
                <a:srgbClr val="B6D7A8"/>
              </a:solidFill>
            </p:spPr>
            <p:txBody>
              <a:bodyPr wrap="square" lIns="0" tIns="0" rIns="0" bIns="0" rtlCol="0"/>
              <a:lstStyle/>
              <a:p>
                <a:endParaRPr/>
              </a:p>
            </p:txBody>
          </p:sp>
          <p:sp>
            <p:nvSpPr>
              <p:cNvPr id="18" name="object 18"/>
              <p:cNvSpPr/>
              <p:nvPr/>
            </p:nvSpPr>
            <p:spPr>
              <a:xfrm>
                <a:off x="585500" y="3324600"/>
                <a:ext cx="4869180" cy="208915"/>
              </a:xfrm>
              <a:custGeom>
                <a:avLst/>
                <a:gdLst/>
                <a:ahLst/>
                <a:cxnLst/>
                <a:rect l="l" t="t" r="r" b="b"/>
                <a:pathLst>
                  <a:path w="4869180" h="208914">
                    <a:moveTo>
                      <a:pt x="0" y="0"/>
                    </a:moveTo>
                    <a:lnTo>
                      <a:pt x="0" y="117449"/>
                    </a:lnTo>
                    <a:lnTo>
                      <a:pt x="7178" y="153007"/>
                    </a:lnTo>
                    <a:lnTo>
                      <a:pt x="26755" y="182044"/>
                    </a:lnTo>
                    <a:lnTo>
                      <a:pt x="55792" y="201621"/>
                    </a:lnTo>
                    <a:lnTo>
                      <a:pt x="91349" y="208799"/>
                    </a:lnTo>
                    <a:lnTo>
                      <a:pt x="4751549" y="208799"/>
                    </a:lnTo>
                    <a:lnTo>
                      <a:pt x="4802231" y="193452"/>
                    </a:lnTo>
                    <a:lnTo>
                      <a:pt x="4835946" y="152408"/>
                    </a:lnTo>
                    <a:lnTo>
                      <a:pt x="4842899" y="117449"/>
                    </a:lnTo>
                    <a:lnTo>
                      <a:pt x="4842899" y="104399"/>
                    </a:lnTo>
                    <a:lnTo>
                      <a:pt x="4868999" y="104399"/>
                    </a:lnTo>
                    <a:lnTo>
                      <a:pt x="4816799" y="52199"/>
                    </a:lnTo>
                    <a:lnTo>
                      <a:pt x="4764599" y="104399"/>
                    </a:lnTo>
                    <a:lnTo>
                      <a:pt x="4790699" y="104399"/>
                    </a:lnTo>
                    <a:lnTo>
                      <a:pt x="4790699" y="117449"/>
                    </a:lnTo>
                    <a:lnTo>
                      <a:pt x="4787623" y="132688"/>
                    </a:lnTo>
                    <a:lnTo>
                      <a:pt x="4779233" y="145133"/>
                    </a:lnTo>
                    <a:lnTo>
                      <a:pt x="4766788" y="153523"/>
                    </a:lnTo>
                    <a:lnTo>
                      <a:pt x="4751549" y="156599"/>
                    </a:lnTo>
                    <a:lnTo>
                      <a:pt x="91349" y="156599"/>
                    </a:lnTo>
                    <a:lnTo>
                      <a:pt x="76111" y="153523"/>
                    </a:lnTo>
                    <a:lnTo>
                      <a:pt x="63666" y="145133"/>
                    </a:lnTo>
                    <a:lnTo>
                      <a:pt x="55276" y="132688"/>
                    </a:lnTo>
                    <a:lnTo>
                      <a:pt x="52199" y="117449"/>
                    </a:lnTo>
                    <a:lnTo>
                      <a:pt x="52199" y="0"/>
                    </a:lnTo>
                    <a:lnTo>
                      <a:pt x="0" y="0"/>
                    </a:lnTo>
                    <a:close/>
                  </a:path>
                </a:pathLst>
              </a:custGeom>
              <a:ln w="9524">
                <a:solidFill>
                  <a:srgbClr val="0F2044"/>
                </a:solidFill>
              </a:ln>
            </p:spPr>
            <p:txBody>
              <a:bodyPr wrap="square" lIns="0" tIns="0" rIns="0" bIns="0" rtlCol="0"/>
              <a:lstStyle/>
              <a:p>
                <a:endParaRPr/>
              </a:p>
            </p:txBody>
          </p:sp>
        </p:grpSp>
        <p:grpSp>
          <p:nvGrpSpPr>
            <p:cNvPr id="19" name="object 19"/>
            <p:cNvGrpSpPr/>
            <p:nvPr/>
          </p:nvGrpSpPr>
          <p:grpSpPr>
            <a:xfrm>
              <a:off x="5586250" y="3324600"/>
              <a:ext cx="4869180" cy="208915"/>
              <a:chOff x="5586250" y="3324600"/>
              <a:chExt cx="4869180" cy="208915"/>
            </a:xfrm>
          </p:grpSpPr>
          <p:sp>
            <p:nvSpPr>
              <p:cNvPr id="20" name="object 20"/>
              <p:cNvSpPr/>
              <p:nvPr/>
            </p:nvSpPr>
            <p:spPr>
              <a:xfrm>
                <a:off x="5586250" y="3324600"/>
                <a:ext cx="4869180" cy="208915"/>
              </a:xfrm>
              <a:custGeom>
                <a:avLst/>
                <a:gdLst/>
                <a:ahLst/>
                <a:cxnLst/>
                <a:rect l="l" t="t" r="r" b="b"/>
                <a:pathLst>
                  <a:path w="4869180" h="208914">
                    <a:moveTo>
                      <a:pt x="4751549" y="208799"/>
                    </a:moveTo>
                    <a:lnTo>
                      <a:pt x="91349" y="208799"/>
                    </a:lnTo>
                    <a:lnTo>
                      <a:pt x="55792" y="201621"/>
                    </a:lnTo>
                    <a:lnTo>
                      <a:pt x="26755" y="182044"/>
                    </a:lnTo>
                    <a:lnTo>
                      <a:pt x="7178" y="153007"/>
                    </a:lnTo>
                    <a:lnTo>
                      <a:pt x="0" y="117449"/>
                    </a:lnTo>
                    <a:lnTo>
                      <a:pt x="0" y="0"/>
                    </a:lnTo>
                    <a:lnTo>
                      <a:pt x="52199" y="0"/>
                    </a:lnTo>
                    <a:lnTo>
                      <a:pt x="52199" y="117449"/>
                    </a:lnTo>
                    <a:lnTo>
                      <a:pt x="55276" y="132688"/>
                    </a:lnTo>
                    <a:lnTo>
                      <a:pt x="63666" y="145133"/>
                    </a:lnTo>
                    <a:lnTo>
                      <a:pt x="76111" y="153523"/>
                    </a:lnTo>
                    <a:lnTo>
                      <a:pt x="91349" y="156599"/>
                    </a:lnTo>
                    <a:lnTo>
                      <a:pt x="4833708" y="156599"/>
                    </a:lnTo>
                    <a:lnTo>
                      <a:pt x="4827552" y="168131"/>
                    </a:lnTo>
                    <a:lnTo>
                      <a:pt x="4816144" y="182044"/>
                    </a:lnTo>
                    <a:lnTo>
                      <a:pt x="4802231" y="193452"/>
                    </a:lnTo>
                    <a:lnTo>
                      <a:pt x="4786508" y="201846"/>
                    </a:lnTo>
                    <a:lnTo>
                      <a:pt x="4769454" y="207028"/>
                    </a:lnTo>
                    <a:lnTo>
                      <a:pt x="4751549" y="208799"/>
                    </a:lnTo>
                    <a:close/>
                  </a:path>
                  <a:path w="4869180" h="208914">
                    <a:moveTo>
                      <a:pt x="4868999" y="104399"/>
                    </a:moveTo>
                    <a:lnTo>
                      <a:pt x="4764599" y="104399"/>
                    </a:lnTo>
                    <a:lnTo>
                      <a:pt x="4816799" y="52199"/>
                    </a:lnTo>
                    <a:lnTo>
                      <a:pt x="4868999" y="104399"/>
                    </a:lnTo>
                    <a:close/>
                  </a:path>
                  <a:path w="4869180" h="208914">
                    <a:moveTo>
                      <a:pt x="4833708" y="156599"/>
                    </a:moveTo>
                    <a:lnTo>
                      <a:pt x="4751549" y="156599"/>
                    </a:lnTo>
                    <a:lnTo>
                      <a:pt x="4766788" y="153523"/>
                    </a:lnTo>
                    <a:lnTo>
                      <a:pt x="4779233" y="145133"/>
                    </a:lnTo>
                    <a:lnTo>
                      <a:pt x="4787623" y="132688"/>
                    </a:lnTo>
                    <a:lnTo>
                      <a:pt x="4790699" y="117449"/>
                    </a:lnTo>
                    <a:lnTo>
                      <a:pt x="4790699" y="104399"/>
                    </a:lnTo>
                    <a:lnTo>
                      <a:pt x="4842899" y="104399"/>
                    </a:lnTo>
                    <a:lnTo>
                      <a:pt x="4842899" y="117449"/>
                    </a:lnTo>
                    <a:lnTo>
                      <a:pt x="4841128" y="135354"/>
                    </a:lnTo>
                    <a:lnTo>
                      <a:pt x="4835946" y="152408"/>
                    </a:lnTo>
                    <a:lnTo>
                      <a:pt x="4833708" y="156599"/>
                    </a:lnTo>
                    <a:close/>
                  </a:path>
                </a:pathLst>
              </a:custGeom>
              <a:solidFill>
                <a:srgbClr val="B6D7A8"/>
              </a:solidFill>
            </p:spPr>
            <p:txBody>
              <a:bodyPr wrap="square" lIns="0" tIns="0" rIns="0" bIns="0" rtlCol="0"/>
              <a:lstStyle/>
              <a:p>
                <a:endParaRPr/>
              </a:p>
            </p:txBody>
          </p:sp>
          <p:sp>
            <p:nvSpPr>
              <p:cNvPr id="21" name="object 21"/>
              <p:cNvSpPr/>
              <p:nvPr/>
            </p:nvSpPr>
            <p:spPr>
              <a:xfrm>
                <a:off x="5586250" y="3324600"/>
                <a:ext cx="4869180" cy="208915"/>
              </a:xfrm>
              <a:custGeom>
                <a:avLst/>
                <a:gdLst/>
                <a:ahLst/>
                <a:cxnLst/>
                <a:rect l="l" t="t" r="r" b="b"/>
                <a:pathLst>
                  <a:path w="4869180" h="208914">
                    <a:moveTo>
                      <a:pt x="0" y="0"/>
                    </a:moveTo>
                    <a:lnTo>
                      <a:pt x="0" y="117449"/>
                    </a:lnTo>
                    <a:lnTo>
                      <a:pt x="7178" y="153007"/>
                    </a:lnTo>
                    <a:lnTo>
                      <a:pt x="26755" y="182044"/>
                    </a:lnTo>
                    <a:lnTo>
                      <a:pt x="55792" y="201621"/>
                    </a:lnTo>
                    <a:lnTo>
                      <a:pt x="91349" y="208799"/>
                    </a:lnTo>
                    <a:lnTo>
                      <a:pt x="4751549" y="208799"/>
                    </a:lnTo>
                    <a:lnTo>
                      <a:pt x="4802231" y="193452"/>
                    </a:lnTo>
                    <a:lnTo>
                      <a:pt x="4835946" y="152408"/>
                    </a:lnTo>
                    <a:lnTo>
                      <a:pt x="4842899" y="117449"/>
                    </a:lnTo>
                    <a:lnTo>
                      <a:pt x="4842899" y="104399"/>
                    </a:lnTo>
                    <a:lnTo>
                      <a:pt x="4868999" y="104399"/>
                    </a:lnTo>
                    <a:lnTo>
                      <a:pt x="4816799" y="52199"/>
                    </a:lnTo>
                    <a:lnTo>
                      <a:pt x="4764599" y="104399"/>
                    </a:lnTo>
                    <a:lnTo>
                      <a:pt x="4790699" y="104399"/>
                    </a:lnTo>
                    <a:lnTo>
                      <a:pt x="4790699" y="117449"/>
                    </a:lnTo>
                    <a:lnTo>
                      <a:pt x="4787623" y="132688"/>
                    </a:lnTo>
                    <a:lnTo>
                      <a:pt x="4779233" y="145133"/>
                    </a:lnTo>
                    <a:lnTo>
                      <a:pt x="4766788" y="153523"/>
                    </a:lnTo>
                    <a:lnTo>
                      <a:pt x="4751549" y="156599"/>
                    </a:lnTo>
                    <a:lnTo>
                      <a:pt x="91349" y="156599"/>
                    </a:lnTo>
                    <a:lnTo>
                      <a:pt x="76111" y="153523"/>
                    </a:lnTo>
                    <a:lnTo>
                      <a:pt x="63666" y="145133"/>
                    </a:lnTo>
                    <a:lnTo>
                      <a:pt x="55276" y="132688"/>
                    </a:lnTo>
                    <a:lnTo>
                      <a:pt x="52199" y="117449"/>
                    </a:lnTo>
                    <a:lnTo>
                      <a:pt x="52199" y="0"/>
                    </a:lnTo>
                    <a:lnTo>
                      <a:pt x="0" y="0"/>
                    </a:lnTo>
                    <a:close/>
                  </a:path>
                </a:pathLst>
              </a:custGeom>
              <a:ln w="9524">
                <a:solidFill>
                  <a:srgbClr val="0F2044"/>
                </a:solidFill>
              </a:ln>
            </p:spPr>
            <p:txBody>
              <a:bodyPr wrap="square" lIns="0" tIns="0" rIns="0" bIns="0" rtlCol="0"/>
              <a:lstStyle/>
              <a:p>
                <a:endParaRPr/>
              </a:p>
            </p:txBody>
          </p:sp>
        </p:grpSp>
        <p:grpSp>
          <p:nvGrpSpPr>
            <p:cNvPr id="37" name="Group 36">
              <a:extLst>
                <a:ext uri="{FF2B5EF4-FFF2-40B4-BE49-F238E27FC236}">
                  <a16:creationId xmlns:a16="http://schemas.microsoft.com/office/drawing/2014/main" id="{349EE58E-D0A7-FB9D-BA37-9CA144298472}"/>
                </a:ext>
              </a:extLst>
            </p:cNvPr>
            <p:cNvGrpSpPr/>
            <p:nvPr/>
          </p:nvGrpSpPr>
          <p:grpSpPr>
            <a:xfrm>
              <a:off x="434970" y="2419637"/>
              <a:ext cx="10309230" cy="856963"/>
              <a:chOff x="434970" y="2419637"/>
              <a:chExt cx="10309230" cy="856963"/>
            </a:xfrm>
          </p:grpSpPr>
          <p:grpSp>
            <p:nvGrpSpPr>
              <p:cNvPr id="38" name="object 4">
                <a:extLst>
                  <a:ext uri="{FF2B5EF4-FFF2-40B4-BE49-F238E27FC236}">
                    <a16:creationId xmlns:a16="http://schemas.microsoft.com/office/drawing/2014/main" id="{ED86E7AE-44BD-7B29-2E24-FE0B21924C2B}"/>
                  </a:ext>
                </a:extLst>
              </p:cNvPr>
              <p:cNvGrpSpPr/>
              <p:nvPr/>
            </p:nvGrpSpPr>
            <p:grpSpPr>
              <a:xfrm>
                <a:off x="649112" y="2419637"/>
                <a:ext cx="2482850" cy="218440"/>
                <a:chOff x="649112" y="2419637"/>
                <a:chExt cx="2482850" cy="218440"/>
              </a:xfrm>
            </p:grpSpPr>
            <p:sp>
              <p:nvSpPr>
                <p:cNvPr id="49" name="object 5">
                  <a:extLst>
                    <a:ext uri="{FF2B5EF4-FFF2-40B4-BE49-F238E27FC236}">
                      <a16:creationId xmlns:a16="http://schemas.microsoft.com/office/drawing/2014/main" id="{B8E75819-0203-20D5-0065-E68D7E7FE1F7}"/>
                    </a:ext>
                  </a:extLst>
                </p:cNvPr>
                <p:cNvSpPr/>
                <p:nvPr/>
              </p:nvSpPr>
              <p:spPr>
                <a:xfrm>
                  <a:off x="653875" y="2424400"/>
                  <a:ext cx="2473325" cy="208915"/>
                </a:xfrm>
                <a:custGeom>
                  <a:avLst/>
                  <a:gdLst/>
                  <a:ahLst/>
                  <a:cxnLst/>
                  <a:rect l="l" t="t" r="r" b="b"/>
                  <a:pathLst>
                    <a:path w="2473325" h="208914">
                      <a:moveTo>
                        <a:pt x="52199" y="208799"/>
                      </a:moveTo>
                      <a:lnTo>
                        <a:pt x="0" y="208799"/>
                      </a:lnTo>
                      <a:lnTo>
                        <a:pt x="0" y="91349"/>
                      </a:lnTo>
                      <a:lnTo>
                        <a:pt x="26755" y="26755"/>
                      </a:lnTo>
                      <a:lnTo>
                        <a:pt x="91349" y="0"/>
                      </a:lnTo>
                      <a:lnTo>
                        <a:pt x="2355749" y="0"/>
                      </a:lnTo>
                      <a:lnTo>
                        <a:pt x="2406430" y="15347"/>
                      </a:lnTo>
                      <a:lnTo>
                        <a:pt x="2437908" y="52199"/>
                      </a:lnTo>
                      <a:lnTo>
                        <a:pt x="91349" y="52199"/>
                      </a:lnTo>
                      <a:lnTo>
                        <a:pt x="76111" y="55276"/>
                      </a:lnTo>
                      <a:lnTo>
                        <a:pt x="63666" y="63666"/>
                      </a:lnTo>
                      <a:lnTo>
                        <a:pt x="55276" y="76111"/>
                      </a:lnTo>
                      <a:lnTo>
                        <a:pt x="52199" y="91349"/>
                      </a:lnTo>
                      <a:lnTo>
                        <a:pt x="52199" y="208799"/>
                      </a:lnTo>
                      <a:close/>
                    </a:path>
                    <a:path w="2473325" h="208914">
                      <a:moveTo>
                        <a:pt x="2447099" y="104399"/>
                      </a:moveTo>
                      <a:lnTo>
                        <a:pt x="2394899" y="104399"/>
                      </a:lnTo>
                      <a:lnTo>
                        <a:pt x="2394899" y="91349"/>
                      </a:lnTo>
                      <a:lnTo>
                        <a:pt x="2391823" y="76111"/>
                      </a:lnTo>
                      <a:lnTo>
                        <a:pt x="2383433" y="63666"/>
                      </a:lnTo>
                      <a:lnTo>
                        <a:pt x="2370988" y="55276"/>
                      </a:lnTo>
                      <a:lnTo>
                        <a:pt x="2355749" y="52199"/>
                      </a:lnTo>
                      <a:lnTo>
                        <a:pt x="2437908" y="52199"/>
                      </a:lnTo>
                      <a:lnTo>
                        <a:pt x="2440146" y="56391"/>
                      </a:lnTo>
                      <a:lnTo>
                        <a:pt x="2445328" y="73445"/>
                      </a:lnTo>
                      <a:lnTo>
                        <a:pt x="2447099" y="91349"/>
                      </a:lnTo>
                      <a:lnTo>
                        <a:pt x="2447099" y="104399"/>
                      </a:lnTo>
                      <a:close/>
                    </a:path>
                    <a:path w="2473325" h="208914">
                      <a:moveTo>
                        <a:pt x="2420999" y="156599"/>
                      </a:moveTo>
                      <a:lnTo>
                        <a:pt x="2368799" y="104399"/>
                      </a:lnTo>
                      <a:lnTo>
                        <a:pt x="2473199" y="104399"/>
                      </a:lnTo>
                      <a:lnTo>
                        <a:pt x="2420999" y="156599"/>
                      </a:lnTo>
                      <a:close/>
                    </a:path>
                  </a:pathLst>
                </a:custGeom>
                <a:solidFill>
                  <a:srgbClr val="BEC0C1"/>
                </a:solidFill>
              </p:spPr>
              <p:txBody>
                <a:bodyPr wrap="square" lIns="0" tIns="0" rIns="0" bIns="0" rtlCol="0"/>
                <a:lstStyle/>
                <a:p>
                  <a:endParaRPr/>
                </a:p>
              </p:txBody>
            </p:sp>
            <p:sp>
              <p:nvSpPr>
                <p:cNvPr id="50" name="object 6">
                  <a:extLst>
                    <a:ext uri="{FF2B5EF4-FFF2-40B4-BE49-F238E27FC236}">
                      <a16:creationId xmlns:a16="http://schemas.microsoft.com/office/drawing/2014/main" id="{B190B822-0D07-8A6B-39C3-638A897FDFE6}"/>
                    </a:ext>
                  </a:extLst>
                </p:cNvPr>
                <p:cNvSpPr/>
                <p:nvPr/>
              </p:nvSpPr>
              <p:spPr>
                <a:xfrm>
                  <a:off x="653875" y="2424400"/>
                  <a:ext cx="2473325" cy="208915"/>
                </a:xfrm>
                <a:custGeom>
                  <a:avLst/>
                  <a:gdLst/>
                  <a:ahLst/>
                  <a:cxnLst/>
                  <a:rect l="l" t="t" r="r" b="b"/>
                  <a:pathLst>
                    <a:path w="2473325" h="208914">
                      <a:moveTo>
                        <a:pt x="0" y="208799"/>
                      </a:moveTo>
                      <a:lnTo>
                        <a:pt x="0" y="91349"/>
                      </a:lnTo>
                      <a:lnTo>
                        <a:pt x="7178" y="55792"/>
                      </a:lnTo>
                      <a:lnTo>
                        <a:pt x="26755" y="26755"/>
                      </a:lnTo>
                      <a:lnTo>
                        <a:pt x="55792" y="7178"/>
                      </a:lnTo>
                      <a:lnTo>
                        <a:pt x="91349" y="0"/>
                      </a:lnTo>
                      <a:lnTo>
                        <a:pt x="2355749" y="0"/>
                      </a:lnTo>
                      <a:lnTo>
                        <a:pt x="2406430" y="15347"/>
                      </a:lnTo>
                      <a:lnTo>
                        <a:pt x="2440146" y="56391"/>
                      </a:lnTo>
                      <a:lnTo>
                        <a:pt x="2447099" y="91349"/>
                      </a:lnTo>
                      <a:lnTo>
                        <a:pt x="2447099" y="104399"/>
                      </a:lnTo>
                      <a:lnTo>
                        <a:pt x="2473199" y="104399"/>
                      </a:lnTo>
                      <a:lnTo>
                        <a:pt x="2420999" y="156599"/>
                      </a:lnTo>
                      <a:lnTo>
                        <a:pt x="2368799" y="104399"/>
                      </a:lnTo>
                      <a:lnTo>
                        <a:pt x="2394899" y="104399"/>
                      </a:lnTo>
                      <a:lnTo>
                        <a:pt x="2394899" y="91349"/>
                      </a:lnTo>
                      <a:lnTo>
                        <a:pt x="2391823" y="76111"/>
                      </a:lnTo>
                      <a:lnTo>
                        <a:pt x="2383433" y="63666"/>
                      </a:lnTo>
                      <a:lnTo>
                        <a:pt x="2370988" y="55276"/>
                      </a:lnTo>
                      <a:lnTo>
                        <a:pt x="2355749" y="52199"/>
                      </a:lnTo>
                      <a:lnTo>
                        <a:pt x="91349" y="52199"/>
                      </a:lnTo>
                      <a:lnTo>
                        <a:pt x="76111" y="55276"/>
                      </a:lnTo>
                      <a:lnTo>
                        <a:pt x="63666" y="63666"/>
                      </a:lnTo>
                      <a:lnTo>
                        <a:pt x="55276" y="76111"/>
                      </a:lnTo>
                      <a:lnTo>
                        <a:pt x="52199" y="91349"/>
                      </a:lnTo>
                      <a:lnTo>
                        <a:pt x="52199" y="208799"/>
                      </a:lnTo>
                      <a:lnTo>
                        <a:pt x="0" y="208799"/>
                      </a:lnTo>
                      <a:close/>
                    </a:path>
                  </a:pathLst>
                </a:custGeom>
                <a:ln w="9524">
                  <a:solidFill>
                    <a:srgbClr val="0F2044"/>
                  </a:solidFill>
                </a:ln>
              </p:spPr>
              <p:txBody>
                <a:bodyPr wrap="square" lIns="0" tIns="0" rIns="0" bIns="0" rtlCol="0"/>
                <a:lstStyle/>
                <a:p>
                  <a:endParaRPr/>
                </a:p>
              </p:txBody>
            </p:sp>
          </p:grpSp>
          <p:grpSp>
            <p:nvGrpSpPr>
              <p:cNvPr id="39" name="object 7">
                <a:extLst>
                  <a:ext uri="{FF2B5EF4-FFF2-40B4-BE49-F238E27FC236}">
                    <a16:creationId xmlns:a16="http://schemas.microsoft.com/office/drawing/2014/main" id="{EE21FD80-284B-5E84-E800-AF1A8EECE8B9}"/>
                  </a:ext>
                </a:extLst>
              </p:cNvPr>
              <p:cNvGrpSpPr/>
              <p:nvPr/>
            </p:nvGrpSpPr>
            <p:grpSpPr>
              <a:xfrm>
                <a:off x="3182762" y="2419637"/>
                <a:ext cx="2347595" cy="218440"/>
                <a:chOff x="3182762" y="2419637"/>
                <a:chExt cx="2347595" cy="218440"/>
              </a:xfrm>
            </p:grpSpPr>
            <p:sp>
              <p:nvSpPr>
                <p:cNvPr id="47" name="object 8">
                  <a:extLst>
                    <a:ext uri="{FF2B5EF4-FFF2-40B4-BE49-F238E27FC236}">
                      <a16:creationId xmlns:a16="http://schemas.microsoft.com/office/drawing/2014/main" id="{6006266B-2BDD-5177-2363-91D776E47D69}"/>
                    </a:ext>
                  </a:extLst>
                </p:cNvPr>
                <p:cNvSpPr/>
                <p:nvPr/>
              </p:nvSpPr>
              <p:spPr>
                <a:xfrm>
                  <a:off x="3187524" y="2424400"/>
                  <a:ext cx="2338070" cy="208915"/>
                </a:xfrm>
                <a:custGeom>
                  <a:avLst/>
                  <a:gdLst/>
                  <a:ahLst/>
                  <a:cxnLst/>
                  <a:rect l="l" t="t" r="r" b="b"/>
                  <a:pathLst>
                    <a:path w="2338070" h="208914">
                      <a:moveTo>
                        <a:pt x="52199" y="208799"/>
                      </a:moveTo>
                      <a:lnTo>
                        <a:pt x="0" y="208799"/>
                      </a:lnTo>
                      <a:lnTo>
                        <a:pt x="0" y="91349"/>
                      </a:lnTo>
                      <a:lnTo>
                        <a:pt x="7057" y="56391"/>
                      </a:lnTo>
                      <a:lnTo>
                        <a:pt x="7178" y="55792"/>
                      </a:lnTo>
                      <a:lnTo>
                        <a:pt x="26755" y="26755"/>
                      </a:lnTo>
                      <a:lnTo>
                        <a:pt x="55792" y="7178"/>
                      </a:lnTo>
                      <a:lnTo>
                        <a:pt x="91349" y="0"/>
                      </a:lnTo>
                      <a:lnTo>
                        <a:pt x="2220149" y="0"/>
                      </a:lnTo>
                      <a:lnTo>
                        <a:pt x="2270831" y="15347"/>
                      </a:lnTo>
                      <a:lnTo>
                        <a:pt x="2302308" y="52199"/>
                      </a:lnTo>
                      <a:lnTo>
                        <a:pt x="91349" y="52199"/>
                      </a:lnTo>
                      <a:lnTo>
                        <a:pt x="76111" y="55276"/>
                      </a:lnTo>
                      <a:lnTo>
                        <a:pt x="63666" y="63666"/>
                      </a:lnTo>
                      <a:lnTo>
                        <a:pt x="55276" y="76111"/>
                      </a:lnTo>
                      <a:lnTo>
                        <a:pt x="52199" y="91349"/>
                      </a:lnTo>
                      <a:lnTo>
                        <a:pt x="52199" y="208799"/>
                      </a:lnTo>
                      <a:close/>
                    </a:path>
                    <a:path w="2338070" h="208914">
                      <a:moveTo>
                        <a:pt x="2311499" y="104399"/>
                      </a:moveTo>
                      <a:lnTo>
                        <a:pt x="2259299" y="104399"/>
                      </a:lnTo>
                      <a:lnTo>
                        <a:pt x="2259299" y="91349"/>
                      </a:lnTo>
                      <a:lnTo>
                        <a:pt x="2256223" y="76111"/>
                      </a:lnTo>
                      <a:lnTo>
                        <a:pt x="2247833" y="63666"/>
                      </a:lnTo>
                      <a:lnTo>
                        <a:pt x="2235388" y="55276"/>
                      </a:lnTo>
                      <a:lnTo>
                        <a:pt x="2220149" y="52199"/>
                      </a:lnTo>
                      <a:lnTo>
                        <a:pt x="2302308" y="52199"/>
                      </a:lnTo>
                      <a:lnTo>
                        <a:pt x="2304546" y="56391"/>
                      </a:lnTo>
                      <a:lnTo>
                        <a:pt x="2309728" y="73445"/>
                      </a:lnTo>
                      <a:lnTo>
                        <a:pt x="2311499" y="91349"/>
                      </a:lnTo>
                      <a:lnTo>
                        <a:pt x="2311499" y="104399"/>
                      </a:lnTo>
                      <a:close/>
                    </a:path>
                    <a:path w="2338070" h="208914">
                      <a:moveTo>
                        <a:pt x="2285399" y="156599"/>
                      </a:moveTo>
                      <a:lnTo>
                        <a:pt x="2233199" y="104399"/>
                      </a:lnTo>
                      <a:lnTo>
                        <a:pt x="2337599" y="104399"/>
                      </a:lnTo>
                      <a:lnTo>
                        <a:pt x="2285399" y="156599"/>
                      </a:lnTo>
                      <a:close/>
                    </a:path>
                  </a:pathLst>
                </a:custGeom>
                <a:solidFill>
                  <a:srgbClr val="BEC0C1"/>
                </a:solidFill>
              </p:spPr>
              <p:txBody>
                <a:bodyPr wrap="square" lIns="0" tIns="0" rIns="0" bIns="0" rtlCol="0"/>
                <a:lstStyle/>
                <a:p>
                  <a:endParaRPr/>
                </a:p>
              </p:txBody>
            </p:sp>
            <p:sp>
              <p:nvSpPr>
                <p:cNvPr id="48" name="object 9">
                  <a:extLst>
                    <a:ext uri="{FF2B5EF4-FFF2-40B4-BE49-F238E27FC236}">
                      <a16:creationId xmlns:a16="http://schemas.microsoft.com/office/drawing/2014/main" id="{E3B9ADC8-98C5-1B7A-5915-BF0EC70EF7BA}"/>
                    </a:ext>
                  </a:extLst>
                </p:cNvPr>
                <p:cNvSpPr/>
                <p:nvPr/>
              </p:nvSpPr>
              <p:spPr>
                <a:xfrm>
                  <a:off x="3187525" y="2424400"/>
                  <a:ext cx="2338070" cy="208915"/>
                </a:xfrm>
                <a:custGeom>
                  <a:avLst/>
                  <a:gdLst/>
                  <a:ahLst/>
                  <a:cxnLst/>
                  <a:rect l="l" t="t" r="r" b="b"/>
                  <a:pathLst>
                    <a:path w="2338070" h="208914">
                      <a:moveTo>
                        <a:pt x="0" y="208799"/>
                      </a:moveTo>
                      <a:lnTo>
                        <a:pt x="0" y="91349"/>
                      </a:lnTo>
                      <a:lnTo>
                        <a:pt x="7178" y="55792"/>
                      </a:lnTo>
                      <a:lnTo>
                        <a:pt x="26755" y="26755"/>
                      </a:lnTo>
                      <a:lnTo>
                        <a:pt x="55792" y="7178"/>
                      </a:lnTo>
                      <a:lnTo>
                        <a:pt x="91349" y="0"/>
                      </a:lnTo>
                      <a:lnTo>
                        <a:pt x="2220149" y="0"/>
                      </a:lnTo>
                      <a:lnTo>
                        <a:pt x="2270831" y="15347"/>
                      </a:lnTo>
                      <a:lnTo>
                        <a:pt x="2304546" y="56391"/>
                      </a:lnTo>
                      <a:lnTo>
                        <a:pt x="2311499" y="91349"/>
                      </a:lnTo>
                      <a:lnTo>
                        <a:pt x="2311499" y="104399"/>
                      </a:lnTo>
                      <a:lnTo>
                        <a:pt x="2337599" y="104399"/>
                      </a:lnTo>
                      <a:lnTo>
                        <a:pt x="2285399" y="156599"/>
                      </a:lnTo>
                      <a:lnTo>
                        <a:pt x="2233199" y="104399"/>
                      </a:lnTo>
                      <a:lnTo>
                        <a:pt x="2259299" y="104399"/>
                      </a:lnTo>
                      <a:lnTo>
                        <a:pt x="2259299" y="91349"/>
                      </a:lnTo>
                      <a:lnTo>
                        <a:pt x="2256223" y="76111"/>
                      </a:lnTo>
                      <a:lnTo>
                        <a:pt x="2247833" y="63666"/>
                      </a:lnTo>
                      <a:lnTo>
                        <a:pt x="2235388" y="55276"/>
                      </a:lnTo>
                      <a:lnTo>
                        <a:pt x="2220149" y="52199"/>
                      </a:lnTo>
                      <a:lnTo>
                        <a:pt x="91349" y="52199"/>
                      </a:lnTo>
                      <a:lnTo>
                        <a:pt x="76111" y="55276"/>
                      </a:lnTo>
                      <a:lnTo>
                        <a:pt x="63666" y="63666"/>
                      </a:lnTo>
                      <a:lnTo>
                        <a:pt x="55276" y="76111"/>
                      </a:lnTo>
                      <a:lnTo>
                        <a:pt x="52199" y="91349"/>
                      </a:lnTo>
                      <a:lnTo>
                        <a:pt x="52199" y="208799"/>
                      </a:lnTo>
                      <a:lnTo>
                        <a:pt x="0" y="208799"/>
                      </a:lnTo>
                      <a:close/>
                    </a:path>
                  </a:pathLst>
                </a:custGeom>
                <a:ln w="9524">
                  <a:solidFill>
                    <a:srgbClr val="0F2044"/>
                  </a:solidFill>
                </a:ln>
              </p:spPr>
              <p:txBody>
                <a:bodyPr wrap="square" lIns="0" tIns="0" rIns="0" bIns="0" rtlCol="0"/>
                <a:lstStyle/>
                <a:p>
                  <a:endParaRPr/>
                </a:p>
              </p:txBody>
            </p:sp>
          </p:grpSp>
          <p:grpSp>
            <p:nvGrpSpPr>
              <p:cNvPr id="40" name="object 10">
                <a:extLst>
                  <a:ext uri="{FF2B5EF4-FFF2-40B4-BE49-F238E27FC236}">
                    <a16:creationId xmlns:a16="http://schemas.microsoft.com/office/drawing/2014/main" id="{54B76CE7-080C-B4AA-3795-C17EC861874E}"/>
                  </a:ext>
                </a:extLst>
              </p:cNvPr>
              <p:cNvGrpSpPr/>
              <p:nvPr/>
            </p:nvGrpSpPr>
            <p:grpSpPr>
              <a:xfrm>
                <a:off x="5655962" y="2419637"/>
                <a:ext cx="3558540" cy="218440"/>
                <a:chOff x="5655962" y="2419637"/>
                <a:chExt cx="3558540" cy="218440"/>
              </a:xfrm>
            </p:grpSpPr>
            <p:sp>
              <p:nvSpPr>
                <p:cNvPr id="45" name="object 11">
                  <a:extLst>
                    <a:ext uri="{FF2B5EF4-FFF2-40B4-BE49-F238E27FC236}">
                      <a16:creationId xmlns:a16="http://schemas.microsoft.com/office/drawing/2014/main" id="{8FE2D66F-3592-1784-87D7-741BA3A98014}"/>
                    </a:ext>
                  </a:extLst>
                </p:cNvPr>
                <p:cNvSpPr/>
                <p:nvPr/>
              </p:nvSpPr>
              <p:spPr>
                <a:xfrm>
                  <a:off x="5660724" y="2424400"/>
                  <a:ext cx="3549015" cy="208915"/>
                </a:xfrm>
                <a:custGeom>
                  <a:avLst/>
                  <a:gdLst/>
                  <a:ahLst/>
                  <a:cxnLst/>
                  <a:rect l="l" t="t" r="r" b="b"/>
                  <a:pathLst>
                    <a:path w="3549015" h="208914">
                      <a:moveTo>
                        <a:pt x="52199" y="208799"/>
                      </a:moveTo>
                      <a:lnTo>
                        <a:pt x="0" y="208799"/>
                      </a:lnTo>
                      <a:lnTo>
                        <a:pt x="0" y="91349"/>
                      </a:lnTo>
                      <a:lnTo>
                        <a:pt x="7057" y="56391"/>
                      </a:lnTo>
                      <a:lnTo>
                        <a:pt x="7178" y="55792"/>
                      </a:lnTo>
                      <a:lnTo>
                        <a:pt x="26755" y="26755"/>
                      </a:lnTo>
                      <a:lnTo>
                        <a:pt x="55792" y="7178"/>
                      </a:lnTo>
                      <a:lnTo>
                        <a:pt x="91349" y="0"/>
                      </a:lnTo>
                      <a:lnTo>
                        <a:pt x="3431549" y="0"/>
                      </a:lnTo>
                      <a:lnTo>
                        <a:pt x="3482231" y="15347"/>
                      </a:lnTo>
                      <a:lnTo>
                        <a:pt x="3513708" y="52199"/>
                      </a:lnTo>
                      <a:lnTo>
                        <a:pt x="91349" y="52199"/>
                      </a:lnTo>
                      <a:lnTo>
                        <a:pt x="76111" y="55276"/>
                      </a:lnTo>
                      <a:lnTo>
                        <a:pt x="63666" y="63666"/>
                      </a:lnTo>
                      <a:lnTo>
                        <a:pt x="55276" y="76111"/>
                      </a:lnTo>
                      <a:lnTo>
                        <a:pt x="52199" y="91349"/>
                      </a:lnTo>
                      <a:lnTo>
                        <a:pt x="52199" y="208799"/>
                      </a:lnTo>
                      <a:close/>
                    </a:path>
                    <a:path w="3549015" h="208914">
                      <a:moveTo>
                        <a:pt x="3522899" y="104399"/>
                      </a:moveTo>
                      <a:lnTo>
                        <a:pt x="3470699" y="104399"/>
                      </a:lnTo>
                      <a:lnTo>
                        <a:pt x="3470699" y="91349"/>
                      </a:lnTo>
                      <a:lnTo>
                        <a:pt x="3467623" y="76111"/>
                      </a:lnTo>
                      <a:lnTo>
                        <a:pt x="3459233" y="63666"/>
                      </a:lnTo>
                      <a:lnTo>
                        <a:pt x="3446788" y="55276"/>
                      </a:lnTo>
                      <a:lnTo>
                        <a:pt x="3431549" y="52199"/>
                      </a:lnTo>
                      <a:lnTo>
                        <a:pt x="3513708" y="52199"/>
                      </a:lnTo>
                      <a:lnTo>
                        <a:pt x="3515946" y="56391"/>
                      </a:lnTo>
                      <a:lnTo>
                        <a:pt x="3521128" y="73445"/>
                      </a:lnTo>
                      <a:lnTo>
                        <a:pt x="3522899" y="91349"/>
                      </a:lnTo>
                      <a:lnTo>
                        <a:pt x="3522899" y="104399"/>
                      </a:lnTo>
                      <a:close/>
                    </a:path>
                    <a:path w="3549015" h="208914">
                      <a:moveTo>
                        <a:pt x="3496799" y="156599"/>
                      </a:moveTo>
                      <a:lnTo>
                        <a:pt x="3444599" y="104399"/>
                      </a:lnTo>
                      <a:lnTo>
                        <a:pt x="3548999" y="104399"/>
                      </a:lnTo>
                      <a:lnTo>
                        <a:pt x="3496799" y="156599"/>
                      </a:lnTo>
                      <a:close/>
                    </a:path>
                  </a:pathLst>
                </a:custGeom>
                <a:solidFill>
                  <a:srgbClr val="BEC0C1"/>
                </a:solidFill>
              </p:spPr>
              <p:txBody>
                <a:bodyPr wrap="square" lIns="0" tIns="0" rIns="0" bIns="0" rtlCol="0"/>
                <a:lstStyle/>
                <a:p>
                  <a:endParaRPr/>
                </a:p>
              </p:txBody>
            </p:sp>
            <p:sp>
              <p:nvSpPr>
                <p:cNvPr id="46" name="object 12">
                  <a:extLst>
                    <a:ext uri="{FF2B5EF4-FFF2-40B4-BE49-F238E27FC236}">
                      <a16:creationId xmlns:a16="http://schemas.microsoft.com/office/drawing/2014/main" id="{624C797B-60D0-DE8D-AEA7-7A03788C3AA3}"/>
                    </a:ext>
                  </a:extLst>
                </p:cNvPr>
                <p:cNvSpPr/>
                <p:nvPr/>
              </p:nvSpPr>
              <p:spPr>
                <a:xfrm>
                  <a:off x="5660725" y="2424400"/>
                  <a:ext cx="3549015" cy="208915"/>
                </a:xfrm>
                <a:custGeom>
                  <a:avLst/>
                  <a:gdLst/>
                  <a:ahLst/>
                  <a:cxnLst/>
                  <a:rect l="l" t="t" r="r" b="b"/>
                  <a:pathLst>
                    <a:path w="3549015" h="208914">
                      <a:moveTo>
                        <a:pt x="0" y="208799"/>
                      </a:moveTo>
                      <a:lnTo>
                        <a:pt x="0" y="91349"/>
                      </a:lnTo>
                      <a:lnTo>
                        <a:pt x="7178" y="55792"/>
                      </a:lnTo>
                      <a:lnTo>
                        <a:pt x="26755" y="26755"/>
                      </a:lnTo>
                      <a:lnTo>
                        <a:pt x="55792" y="7178"/>
                      </a:lnTo>
                      <a:lnTo>
                        <a:pt x="91349" y="0"/>
                      </a:lnTo>
                      <a:lnTo>
                        <a:pt x="3431549" y="0"/>
                      </a:lnTo>
                      <a:lnTo>
                        <a:pt x="3482231" y="15347"/>
                      </a:lnTo>
                      <a:lnTo>
                        <a:pt x="3515946" y="56391"/>
                      </a:lnTo>
                      <a:lnTo>
                        <a:pt x="3522899" y="91349"/>
                      </a:lnTo>
                      <a:lnTo>
                        <a:pt x="3522899" y="104399"/>
                      </a:lnTo>
                      <a:lnTo>
                        <a:pt x="3548999" y="104399"/>
                      </a:lnTo>
                      <a:lnTo>
                        <a:pt x="3496799" y="156599"/>
                      </a:lnTo>
                      <a:lnTo>
                        <a:pt x="3444599" y="104399"/>
                      </a:lnTo>
                      <a:lnTo>
                        <a:pt x="3470699" y="104399"/>
                      </a:lnTo>
                      <a:lnTo>
                        <a:pt x="3470699" y="91349"/>
                      </a:lnTo>
                      <a:lnTo>
                        <a:pt x="3467623" y="76111"/>
                      </a:lnTo>
                      <a:lnTo>
                        <a:pt x="3459233" y="63666"/>
                      </a:lnTo>
                      <a:lnTo>
                        <a:pt x="3446788" y="55276"/>
                      </a:lnTo>
                      <a:lnTo>
                        <a:pt x="3431549" y="52199"/>
                      </a:lnTo>
                      <a:lnTo>
                        <a:pt x="91349" y="52199"/>
                      </a:lnTo>
                      <a:lnTo>
                        <a:pt x="76111" y="55276"/>
                      </a:lnTo>
                      <a:lnTo>
                        <a:pt x="63666" y="63666"/>
                      </a:lnTo>
                      <a:lnTo>
                        <a:pt x="55276" y="76111"/>
                      </a:lnTo>
                      <a:lnTo>
                        <a:pt x="52199" y="91349"/>
                      </a:lnTo>
                      <a:lnTo>
                        <a:pt x="52199" y="208799"/>
                      </a:lnTo>
                      <a:lnTo>
                        <a:pt x="0" y="208799"/>
                      </a:lnTo>
                      <a:close/>
                    </a:path>
                  </a:pathLst>
                </a:custGeom>
                <a:ln w="9524">
                  <a:solidFill>
                    <a:srgbClr val="0F2044"/>
                  </a:solidFill>
                </a:ln>
              </p:spPr>
              <p:txBody>
                <a:bodyPr wrap="square" lIns="0" tIns="0" rIns="0" bIns="0" rtlCol="0"/>
                <a:lstStyle/>
                <a:p>
                  <a:endParaRPr/>
                </a:p>
              </p:txBody>
            </p:sp>
          </p:grpSp>
          <p:grpSp>
            <p:nvGrpSpPr>
              <p:cNvPr id="41" name="object 13">
                <a:extLst>
                  <a:ext uri="{FF2B5EF4-FFF2-40B4-BE49-F238E27FC236}">
                    <a16:creationId xmlns:a16="http://schemas.microsoft.com/office/drawing/2014/main" id="{646BCF0D-1701-5496-7A25-8F3994E6067F}"/>
                  </a:ext>
                </a:extLst>
              </p:cNvPr>
              <p:cNvGrpSpPr/>
              <p:nvPr/>
            </p:nvGrpSpPr>
            <p:grpSpPr>
              <a:xfrm>
                <a:off x="9296887" y="2419637"/>
                <a:ext cx="1221105" cy="218440"/>
                <a:chOff x="9296887" y="2419637"/>
                <a:chExt cx="1221105" cy="218440"/>
              </a:xfrm>
            </p:grpSpPr>
            <p:sp>
              <p:nvSpPr>
                <p:cNvPr id="43" name="object 14">
                  <a:extLst>
                    <a:ext uri="{FF2B5EF4-FFF2-40B4-BE49-F238E27FC236}">
                      <a16:creationId xmlns:a16="http://schemas.microsoft.com/office/drawing/2014/main" id="{F301009D-DB2A-D72F-933C-573CE51A8DB2}"/>
                    </a:ext>
                  </a:extLst>
                </p:cNvPr>
                <p:cNvSpPr/>
                <p:nvPr/>
              </p:nvSpPr>
              <p:spPr>
                <a:xfrm>
                  <a:off x="9301650" y="2424400"/>
                  <a:ext cx="1211580" cy="208915"/>
                </a:xfrm>
                <a:custGeom>
                  <a:avLst/>
                  <a:gdLst/>
                  <a:ahLst/>
                  <a:cxnLst/>
                  <a:rect l="l" t="t" r="r" b="b"/>
                  <a:pathLst>
                    <a:path w="1211579" h="208914">
                      <a:moveTo>
                        <a:pt x="52199" y="208799"/>
                      </a:moveTo>
                      <a:lnTo>
                        <a:pt x="0" y="208799"/>
                      </a:lnTo>
                      <a:lnTo>
                        <a:pt x="0" y="91349"/>
                      </a:lnTo>
                      <a:lnTo>
                        <a:pt x="26755" y="26755"/>
                      </a:lnTo>
                      <a:lnTo>
                        <a:pt x="91349" y="0"/>
                      </a:lnTo>
                      <a:lnTo>
                        <a:pt x="1093949" y="0"/>
                      </a:lnTo>
                      <a:lnTo>
                        <a:pt x="1144631" y="15347"/>
                      </a:lnTo>
                      <a:lnTo>
                        <a:pt x="1176108" y="52199"/>
                      </a:lnTo>
                      <a:lnTo>
                        <a:pt x="91349" y="52199"/>
                      </a:lnTo>
                      <a:lnTo>
                        <a:pt x="76111" y="55276"/>
                      </a:lnTo>
                      <a:lnTo>
                        <a:pt x="63666" y="63666"/>
                      </a:lnTo>
                      <a:lnTo>
                        <a:pt x="55276" y="76111"/>
                      </a:lnTo>
                      <a:lnTo>
                        <a:pt x="52199" y="91349"/>
                      </a:lnTo>
                      <a:lnTo>
                        <a:pt x="52199" y="208799"/>
                      </a:lnTo>
                      <a:close/>
                    </a:path>
                    <a:path w="1211579" h="208914">
                      <a:moveTo>
                        <a:pt x="1185299" y="104399"/>
                      </a:moveTo>
                      <a:lnTo>
                        <a:pt x="1133099" y="104399"/>
                      </a:lnTo>
                      <a:lnTo>
                        <a:pt x="1133099" y="91349"/>
                      </a:lnTo>
                      <a:lnTo>
                        <a:pt x="1130023" y="76111"/>
                      </a:lnTo>
                      <a:lnTo>
                        <a:pt x="1121633" y="63666"/>
                      </a:lnTo>
                      <a:lnTo>
                        <a:pt x="1109188" y="55276"/>
                      </a:lnTo>
                      <a:lnTo>
                        <a:pt x="1093949" y="52199"/>
                      </a:lnTo>
                      <a:lnTo>
                        <a:pt x="1176108" y="52199"/>
                      </a:lnTo>
                      <a:lnTo>
                        <a:pt x="1178346" y="56391"/>
                      </a:lnTo>
                      <a:lnTo>
                        <a:pt x="1183528" y="73445"/>
                      </a:lnTo>
                      <a:lnTo>
                        <a:pt x="1185299" y="91349"/>
                      </a:lnTo>
                      <a:lnTo>
                        <a:pt x="1185299" y="104399"/>
                      </a:lnTo>
                      <a:close/>
                    </a:path>
                    <a:path w="1211579" h="208914">
                      <a:moveTo>
                        <a:pt x="1159199" y="156599"/>
                      </a:moveTo>
                      <a:lnTo>
                        <a:pt x="1106999" y="104399"/>
                      </a:lnTo>
                      <a:lnTo>
                        <a:pt x="1211399" y="104399"/>
                      </a:lnTo>
                      <a:lnTo>
                        <a:pt x="1159199" y="156599"/>
                      </a:lnTo>
                      <a:close/>
                    </a:path>
                  </a:pathLst>
                </a:custGeom>
                <a:solidFill>
                  <a:srgbClr val="BEC0C1"/>
                </a:solidFill>
              </p:spPr>
              <p:txBody>
                <a:bodyPr wrap="square" lIns="0" tIns="0" rIns="0" bIns="0" rtlCol="0"/>
                <a:lstStyle/>
                <a:p>
                  <a:endParaRPr/>
                </a:p>
              </p:txBody>
            </p:sp>
            <p:sp>
              <p:nvSpPr>
                <p:cNvPr id="44" name="object 15">
                  <a:extLst>
                    <a:ext uri="{FF2B5EF4-FFF2-40B4-BE49-F238E27FC236}">
                      <a16:creationId xmlns:a16="http://schemas.microsoft.com/office/drawing/2014/main" id="{3BDCA723-B737-34FC-D5FD-454F8771A807}"/>
                    </a:ext>
                  </a:extLst>
                </p:cNvPr>
                <p:cNvSpPr/>
                <p:nvPr/>
              </p:nvSpPr>
              <p:spPr>
                <a:xfrm>
                  <a:off x="9301650" y="2424400"/>
                  <a:ext cx="1211580" cy="208915"/>
                </a:xfrm>
                <a:custGeom>
                  <a:avLst/>
                  <a:gdLst/>
                  <a:ahLst/>
                  <a:cxnLst/>
                  <a:rect l="l" t="t" r="r" b="b"/>
                  <a:pathLst>
                    <a:path w="1211579" h="208914">
                      <a:moveTo>
                        <a:pt x="0" y="208799"/>
                      </a:moveTo>
                      <a:lnTo>
                        <a:pt x="0" y="91349"/>
                      </a:lnTo>
                      <a:lnTo>
                        <a:pt x="7178" y="55792"/>
                      </a:lnTo>
                      <a:lnTo>
                        <a:pt x="26755" y="26755"/>
                      </a:lnTo>
                      <a:lnTo>
                        <a:pt x="55792" y="7178"/>
                      </a:lnTo>
                      <a:lnTo>
                        <a:pt x="91349" y="0"/>
                      </a:lnTo>
                      <a:lnTo>
                        <a:pt x="1093949" y="0"/>
                      </a:lnTo>
                      <a:lnTo>
                        <a:pt x="1144631" y="15347"/>
                      </a:lnTo>
                      <a:lnTo>
                        <a:pt x="1178346" y="56391"/>
                      </a:lnTo>
                      <a:lnTo>
                        <a:pt x="1185299" y="91349"/>
                      </a:lnTo>
                      <a:lnTo>
                        <a:pt x="1185299" y="104399"/>
                      </a:lnTo>
                      <a:lnTo>
                        <a:pt x="1211399" y="104399"/>
                      </a:lnTo>
                      <a:lnTo>
                        <a:pt x="1159199" y="156599"/>
                      </a:lnTo>
                      <a:lnTo>
                        <a:pt x="1106999" y="104399"/>
                      </a:lnTo>
                      <a:lnTo>
                        <a:pt x="1133099" y="104399"/>
                      </a:lnTo>
                      <a:lnTo>
                        <a:pt x="1133099" y="91349"/>
                      </a:lnTo>
                      <a:lnTo>
                        <a:pt x="1130023" y="76111"/>
                      </a:lnTo>
                      <a:lnTo>
                        <a:pt x="1121633" y="63666"/>
                      </a:lnTo>
                      <a:lnTo>
                        <a:pt x="1109188" y="55276"/>
                      </a:lnTo>
                      <a:lnTo>
                        <a:pt x="1093949" y="52199"/>
                      </a:lnTo>
                      <a:lnTo>
                        <a:pt x="91349" y="52199"/>
                      </a:lnTo>
                      <a:lnTo>
                        <a:pt x="76111" y="55276"/>
                      </a:lnTo>
                      <a:lnTo>
                        <a:pt x="63666" y="63666"/>
                      </a:lnTo>
                      <a:lnTo>
                        <a:pt x="55276" y="76111"/>
                      </a:lnTo>
                      <a:lnTo>
                        <a:pt x="52199" y="91349"/>
                      </a:lnTo>
                      <a:lnTo>
                        <a:pt x="52199" y="208799"/>
                      </a:lnTo>
                      <a:lnTo>
                        <a:pt x="0" y="208799"/>
                      </a:lnTo>
                      <a:close/>
                    </a:path>
                  </a:pathLst>
                </a:custGeom>
                <a:ln w="9524">
                  <a:solidFill>
                    <a:srgbClr val="0F2044"/>
                  </a:solidFill>
                </a:ln>
              </p:spPr>
              <p:txBody>
                <a:bodyPr wrap="square" lIns="0" tIns="0" rIns="0" bIns="0" rtlCol="0"/>
                <a:lstStyle/>
                <a:p>
                  <a:endParaRPr/>
                </a:p>
              </p:txBody>
            </p:sp>
          </p:grpSp>
          <p:pic>
            <p:nvPicPr>
              <p:cNvPr id="42" name="Picture 41">
                <a:extLst>
                  <a:ext uri="{FF2B5EF4-FFF2-40B4-BE49-F238E27FC236}">
                    <a16:creationId xmlns:a16="http://schemas.microsoft.com/office/drawing/2014/main" id="{7D23B9E5-C22E-0418-5EAC-2337236C749A}"/>
                  </a:ext>
                </a:extLst>
              </p:cNvPr>
              <p:cNvPicPr>
                <a:picLocks noChangeAspect="1"/>
              </p:cNvPicPr>
              <p:nvPr/>
            </p:nvPicPr>
            <p:blipFill>
              <a:blip r:embed="rId3"/>
              <a:stretch>
                <a:fillRect/>
              </a:stretch>
            </p:blipFill>
            <p:spPr>
              <a:xfrm>
                <a:off x="434970" y="2819360"/>
                <a:ext cx="10309230" cy="457240"/>
              </a:xfrm>
              <a:prstGeom prst="rect">
                <a:avLst/>
              </a:prstGeom>
            </p:spPr>
          </p:pic>
        </p:grpSp>
      </p:grpSp>
      <p:sp>
        <p:nvSpPr>
          <p:cNvPr id="22" name="object 22"/>
          <p:cNvSpPr txBox="1"/>
          <p:nvPr/>
        </p:nvSpPr>
        <p:spPr>
          <a:xfrm>
            <a:off x="515825" y="3733800"/>
            <a:ext cx="10028555" cy="2902333"/>
          </a:xfrm>
          <a:prstGeom prst="rect">
            <a:avLst/>
          </a:prstGeom>
        </p:spPr>
        <p:txBody>
          <a:bodyPr vert="horz" wrap="square" lIns="0" tIns="12700" rIns="0" bIns="0" rtlCol="0">
            <a:spAutoFit/>
          </a:bodyPr>
          <a:lstStyle/>
          <a:p>
            <a:pPr marL="12700">
              <a:lnSpc>
                <a:spcPct val="114000"/>
              </a:lnSpc>
              <a:spcBef>
                <a:spcPts val="100"/>
              </a:spcBef>
              <a:spcAft>
                <a:spcPts val="600"/>
              </a:spcAft>
            </a:pPr>
            <a:r>
              <a:rPr sz="1800" dirty="0">
                <a:solidFill>
                  <a:srgbClr val="0F2044"/>
                </a:solidFill>
                <a:latin typeface="Arial MT"/>
                <a:cs typeface="Arial MT"/>
              </a:rPr>
              <a:t>Currently</a:t>
            </a:r>
            <a:r>
              <a:rPr sz="1800" spc="-15" dirty="0">
                <a:solidFill>
                  <a:srgbClr val="0F2044"/>
                </a:solidFill>
                <a:latin typeface="Arial MT"/>
                <a:cs typeface="Arial MT"/>
              </a:rPr>
              <a:t> </a:t>
            </a:r>
            <a:r>
              <a:rPr sz="1800" dirty="0">
                <a:solidFill>
                  <a:srgbClr val="0F2044"/>
                </a:solidFill>
                <a:latin typeface="Arial MT"/>
                <a:cs typeface="Arial MT"/>
              </a:rPr>
              <a:t>we</a:t>
            </a:r>
            <a:r>
              <a:rPr sz="1800" spc="-15" dirty="0">
                <a:solidFill>
                  <a:srgbClr val="0F2044"/>
                </a:solidFill>
                <a:latin typeface="Arial MT"/>
                <a:cs typeface="Arial MT"/>
              </a:rPr>
              <a:t> </a:t>
            </a:r>
            <a:r>
              <a:rPr sz="1800" dirty="0">
                <a:solidFill>
                  <a:srgbClr val="0F2044"/>
                </a:solidFill>
                <a:latin typeface="Arial MT"/>
                <a:cs typeface="Arial MT"/>
              </a:rPr>
              <a:t>have</a:t>
            </a:r>
            <a:r>
              <a:rPr sz="1800" spc="-15" dirty="0">
                <a:solidFill>
                  <a:srgbClr val="0F2044"/>
                </a:solidFill>
                <a:latin typeface="Arial MT"/>
                <a:cs typeface="Arial MT"/>
              </a:rPr>
              <a:t> </a:t>
            </a:r>
            <a:r>
              <a:rPr sz="1800" dirty="0">
                <a:solidFill>
                  <a:srgbClr val="0F2044"/>
                </a:solidFill>
                <a:latin typeface="Arial MT"/>
                <a:cs typeface="Arial MT"/>
              </a:rPr>
              <a:t>to</a:t>
            </a:r>
            <a:r>
              <a:rPr sz="1800" spc="-15" dirty="0">
                <a:solidFill>
                  <a:srgbClr val="0F2044"/>
                </a:solidFill>
                <a:latin typeface="Arial MT"/>
                <a:cs typeface="Arial MT"/>
              </a:rPr>
              <a:t> </a:t>
            </a:r>
            <a:r>
              <a:rPr sz="1800" dirty="0">
                <a:solidFill>
                  <a:srgbClr val="0F2044"/>
                </a:solidFill>
                <a:latin typeface="Arial MT"/>
                <a:cs typeface="Arial MT"/>
              </a:rPr>
              <a:t>look</a:t>
            </a:r>
            <a:r>
              <a:rPr sz="1800" spc="-15" dirty="0">
                <a:solidFill>
                  <a:srgbClr val="0F2044"/>
                </a:solidFill>
                <a:latin typeface="Arial MT"/>
                <a:cs typeface="Arial MT"/>
              </a:rPr>
              <a:t> </a:t>
            </a:r>
            <a:r>
              <a:rPr sz="1800" dirty="0">
                <a:solidFill>
                  <a:srgbClr val="0F2044"/>
                </a:solidFill>
                <a:latin typeface="Arial MT"/>
                <a:cs typeface="Arial MT"/>
              </a:rPr>
              <a:t>at</a:t>
            </a:r>
            <a:r>
              <a:rPr sz="1800" spc="-15" dirty="0">
                <a:solidFill>
                  <a:srgbClr val="0F2044"/>
                </a:solidFill>
                <a:latin typeface="Arial MT"/>
                <a:cs typeface="Arial MT"/>
              </a:rPr>
              <a:t> </a:t>
            </a:r>
            <a:r>
              <a:rPr sz="1800" dirty="0">
                <a:solidFill>
                  <a:srgbClr val="0F2044"/>
                </a:solidFill>
                <a:latin typeface="Arial MT"/>
                <a:cs typeface="Arial MT"/>
              </a:rPr>
              <a:t>all</a:t>
            </a:r>
            <a:r>
              <a:rPr sz="1800" spc="-10" dirty="0">
                <a:solidFill>
                  <a:srgbClr val="0F2044"/>
                </a:solidFill>
                <a:latin typeface="Arial MT"/>
                <a:cs typeface="Arial MT"/>
              </a:rPr>
              <a:t> </a:t>
            </a:r>
            <a:r>
              <a:rPr sz="1800" dirty="0">
                <a:solidFill>
                  <a:srgbClr val="0F2044"/>
                </a:solidFill>
                <a:latin typeface="Arial MT"/>
                <a:cs typeface="Arial MT"/>
              </a:rPr>
              <a:t>blocks</a:t>
            </a:r>
            <a:r>
              <a:rPr sz="1800" spc="-15" dirty="0">
                <a:solidFill>
                  <a:srgbClr val="0F2044"/>
                </a:solidFill>
                <a:latin typeface="Arial MT"/>
                <a:cs typeface="Arial MT"/>
              </a:rPr>
              <a:t> </a:t>
            </a:r>
            <a:r>
              <a:rPr sz="1800" dirty="0">
                <a:solidFill>
                  <a:srgbClr val="0F2044"/>
                </a:solidFill>
                <a:latin typeface="Arial MT"/>
                <a:cs typeface="Arial MT"/>
              </a:rPr>
              <a:t>to</a:t>
            </a:r>
            <a:r>
              <a:rPr sz="1800" spc="-15" dirty="0">
                <a:solidFill>
                  <a:srgbClr val="0F2044"/>
                </a:solidFill>
                <a:latin typeface="Arial MT"/>
                <a:cs typeface="Arial MT"/>
              </a:rPr>
              <a:t> </a:t>
            </a:r>
            <a:r>
              <a:rPr sz="1800" dirty="0">
                <a:solidFill>
                  <a:srgbClr val="0F2044"/>
                </a:solidFill>
                <a:latin typeface="Arial MT"/>
                <a:cs typeface="Arial MT"/>
              </a:rPr>
              <a:t>find</a:t>
            </a:r>
            <a:r>
              <a:rPr sz="1800" spc="-15" dirty="0">
                <a:solidFill>
                  <a:srgbClr val="0F2044"/>
                </a:solidFill>
                <a:latin typeface="Arial MT"/>
                <a:cs typeface="Arial MT"/>
              </a:rPr>
              <a:t> </a:t>
            </a:r>
            <a:r>
              <a:rPr sz="1800" dirty="0">
                <a:solidFill>
                  <a:srgbClr val="0F2044"/>
                </a:solidFill>
                <a:latin typeface="Arial MT"/>
                <a:cs typeface="Arial MT"/>
              </a:rPr>
              <a:t>free</a:t>
            </a:r>
            <a:r>
              <a:rPr sz="1800" spc="-15" dirty="0">
                <a:solidFill>
                  <a:srgbClr val="0F2044"/>
                </a:solidFill>
                <a:latin typeface="Arial MT"/>
                <a:cs typeface="Arial MT"/>
              </a:rPr>
              <a:t> </a:t>
            </a:r>
            <a:r>
              <a:rPr sz="1800" dirty="0">
                <a:solidFill>
                  <a:srgbClr val="0F2044"/>
                </a:solidFill>
                <a:latin typeface="Arial MT"/>
                <a:cs typeface="Arial MT"/>
              </a:rPr>
              <a:t>blocks.</a:t>
            </a:r>
            <a:r>
              <a:rPr sz="1800" spc="-15" dirty="0">
                <a:solidFill>
                  <a:srgbClr val="0F2044"/>
                </a:solidFill>
                <a:latin typeface="Arial MT"/>
                <a:cs typeface="Arial MT"/>
              </a:rPr>
              <a:t> </a:t>
            </a:r>
            <a:endParaRPr lang="en-US" spc="-15" dirty="0">
              <a:solidFill>
                <a:srgbClr val="0F2044"/>
              </a:solidFill>
              <a:latin typeface="Arial MT"/>
              <a:cs typeface="Arial MT"/>
            </a:endParaRPr>
          </a:p>
          <a:p>
            <a:pPr marL="12700">
              <a:lnSpc>
                <a:spcPct val="114000"/>
              </a:lnSpc>
              <a:spcBef>
                <a:spcPts val="100"/>
              </a:spcBef>
              <a:spcAft>
                <a:spcPts val="1800"/>
              </a:spcAft>
            </a:pPr>
            <a:r>
              <a:rPr sz="1800" b="1" dirty="0">
                <a:solidFill>
                  <a:srgbClr val="980000"/>
                </a:solidFill>
                <a:latin typeface="Arial MT"/>
                <a:cs typeface="Arial MT"/>
              </a:rPr>
              <a:t>What</a:t>
            </a:r>
            <a:r>
              <a:rPr sz="1800" b="1" spc="-15" dirty="0">
                <a:solidFill>
                  <a:srgbClr val="980000"/>
                </a:solidFill>
                <a:latin typeface="Arial MT"/>
                <a:cs typeface="Arial MT"/>
              </a:rPr>
              <a:t> </a:t>
            </a:r>
            <a:r>
              <a:rPr sz="1800" b="1" dirty="0">
                <a:solidFill>
                  <a:srgbClr val="980000"/>
                </a:solidFill>
                <a:latin typeface="Arial MT"/>
                <a:cs typeface="Arial MT"/>
              </a:rPr>
              <a:t>if</a:t>
            </a:r>
            <a:r>
              <a:rPr sz="1800" b="1" spc="-10" dirty="0">
                <a:solidFill>
                  <a:srgbClr val="980000"/>
                </a:solidFill>
                <a:latin typeface="Arial MT"/>
                <a:cs typeface="Arial MT"/>
              </a:rPr>
              <a:t> </a:t>
            </a:r>
            <a:r>
              <a:rPr sz="1800" b="1" dirty="0">
                <a:solidFill>
                  <a:srgbClr val="980000"/>
                </a:solidFill>
                <a:latin typeface="Arial MT"/>
                <a:cs typeface="Arial MT"/>
              </a:rPr>
              <a:t>we</a:t>
            </a:r>
            <a:r>
              <a:rPr sz="1800" b="1" spc="-15" dirty="0">
                <a:solidFill>
                  <a:srgbClr val="980000"/>
                </a:solidFill>
                <a:latin typeface="Arial MT"/>
                <a:cs typeface="Arial MT"/>
              </a:rPr>
              <a:t> </a:t>
            </a:r>
            <a:r>
              <a:rPr sz="1800" b="1" dirty="0">
                <a:solidFill>
                  <a:srgbClr val="980000"/>
                </a:solidFill>
                <a:latin typeface="Arial MT"/>
                <a:cs typeface="Arial MT"/>
              </a:rPr>
              <a:t>could</a:t>
            </a:r>
            <a:r>
              <a:rPr sz="1800" b="1" spc="-15" dirty="0">
                <a:solidFill>
                  <a:srgbClr val="980000"/>
                </a:solidFill>
                <a:latin typeface="Arial MT"/>
                <a:cs typeface="Arial MT"/>
              </a:rPr>
              <a:t> </a:t>
            </a:r>
            <a:r>
              <a:rPr sz="1800" b="1" dirty="0">
                <a:solidFill>
                  <a:srgbClr val="980000"/>
                </a:solidFill>
                <a:latin typeface="Arial MT"/>
                <a:cs typeface="Arial MT"/>
              </a:rPr>
              <a:t>just</a:t>
            </a:r>
            <a:r>
              <a:rPr sz="1800" b="1" spc="-15" dirty="0">
                <a:solidFill>
                  <a:srgbClr val="980000"/>
                </a:solidFill>
                <a:latin typeface="Arial MT"/>
                <a:cs typeface="Arial MT"/>
              </a:rPr>
              <a:t> </a:t>
            </a:r>
            <a:r>
              <a:rPr sz="1800" b="1" dirty="0">
                <a:solidFill>
                  <a:srgbClr val="980000"/>
                </a:solidFill>
                <a:latin typeface="Arial MT"/>
                <a:cs typeface="Arial MT"/>
              </a:rPr>
              <a:t>look</a:t>
            </a:r>
            <a:r>
              <a:rPr sz="1800" b="1" spc="-15" dirty="0">
                <a:solidFill>
                  <a:srgbClr val="980000"/>
                </a:solidFill>
                <a:latin typeface="Arial MT"/>
                <a:cs typeface="Arial MT"/>
              </a:rPr>
              <a:t> </a:t>
            </a:r>
            <a:r>
              <a:rPr sz="1800" b="1" dirty="0">
                <a:solidFill>
                  <a:srgbClr val="980000"/>
                </a:solidFill>
                <a:latin typeface="Arial MT"/>
                <a:cs typeface="Arial MT"/>
              </a:rPr>
              <a:t>at</a:t>
            </a:r>
            <a:r>
              <a:rPr sz="1800" b="1" spc="-15" dirty="0">
                <a:solidFill>
                  <a:srgbClr val="980000"/>
                </a:solidFill>
                <a:latin typeface="Arial MT"/>
                <a:cs typeface="Arial MT"/>
              </a:rPr>
              <a:t> </a:t>
            </a:r>
            <a:r>
              <a:rPr sz="1800" b="1" dirty="0">
                <a:solidFill>
                  <a:srgbClr val="980000"/>
                </a:solidFill>
                <a:latin typeface="Arial MT"/>
                <a:cs typeface="Arial MT"/>
              </a:rPr>
              <a:t>free</a:t>
            </a:r>
            <a:r>
              <a:rPr sz="1800" b="1" spc="-10" dirty="0">
                <a:solidFill>
                  <a:srgbClr val="980000"/>
                </a:solidFill>
                <a:latin typeface="Arial MT"/>
                <a:cs typeface="Arial MT"/>
              </a:rPr>
              <a:t> blocks?</a:t>
            </a:r>
            <a:endParaRPr sz="1800" b="1" dirty="0">
              <a:solidFill>
                <a:srgbClr val="980000"/>
              </a:solidFill>
              <a:latin typeface="Arial MT"/>
              <a:cs typeface="Arial MT"/>
            </a:endParaRPr>
          </a:p>
          <a:p>
            <a:pPr marL="12700" marR="5080">
              <a:lnSpc>
                <a:spcPct val="114000"/>
              </a:lnSpc>
              <a:spcAft>
                <a:spcPts val="1800"/>
              </a:spcAft>
            </a:pPr>
            <a:r>
              <a:rPr sz="1800" dirty="0">
                <a:solidFill>
                  <a:srgbClr val="0F2044"/>
                </a:solidFill>
                <a:latin typeface="Arial MT"/>
                <a:cs typeface="Arial MT"/>
              </a:rPr>
              <a:t>In</a:t>
            </a:r>
            <a:r>
              <a:rPr sz="1800" spc="-25" dirty="0">
                <a:solidFill>
                  <a:srgbClr val="0F2044"/>
                </a:solidFill>
                <a:latin typeface="Arial MT"/>
                <a:cs typeface="Arial MT"/>
              </a:rPr>
              <a:t> </a:t>
            </a:r>
            <a:r>
              <a:rPr sz="1800" dirty="0">
                <a:solidFill>
                  <a:srgbClr val="0F2044"/>
                </a:solidFill>
                <a:latin typeface="Arial MT"/>
                <a:cs typeface="Arial MT"/>
              </a:rPr>
              <a:t>that</a:t>
            </a:r>
            <a:r>
              <a:rPr sz="1800" spc="-20" dirty="0">
                <a:solidFill>
                  <a:srgbClr val="0F2044"/>
                </a:solidFill>
                <a:latin typeface="Arial MT"/>
                <a:cs typeface="Arial MT"/>
              </a:rPr>
              <a:t> </a:t>
            </a:r>
            <a:r>
              <a:rPr sz="1800" dirty="0">
                <a:solidFill>
                  <a:srgbClr val="0F2044"/>
                </a:solidFill>
                <a:latin typeface="Arial MT"/>
                <a:cs typeface="Arial MT"/>
              </a:rPr>
              <a:t>case,</a:t>
            </a:r>
            <a:r>
              <a:rPr sz="1800" spc="-20" dirty="0">
                <a:solidFill>
                  <a:srgbClr val="0F2044"/>
                </a:solidFill>
                <a:latin typeface="Arial MT"/>
                <a:cs typeface="Arial MT"/>
              </a:rPr>
              <a:t> </a:t>
            </a:r>
            <a:r>
              <a:rPr sz="1800" dirty="0">
                <a:solidFill>
                  <a:srgbClr val="0F2044"/>
                </a:solidFill>
                <a:latin typeface="Arial MT"/>
                <a:cs typeface="Arial MT"/>
              </a:rPr>
              <a:t>the</a:t>
            </a:r>
            <a:r>
              <a:rPr sz="1800" spc="-20" dirty="0">
                <a:solidFill>
                  <a:srgbClr val="0F2044"/>
                </a:solidFill>
                <a:latin typeface="Arial MT"/>
                <a:cs typeface="Arial MT"/>
              </a:rPr>
              <a:t> </a:t>
            </a:r>
            <a:r>
              <a:rPr sz="1800" dirty="0">
                <a:solidFill>
                  <a:srgbClr val="0F2044"/>
                </a:solidFill>
                <a:latin typeface="Arial MT"/>
                <a:cs typeface="Arial MT"/>
              </a:rPr>
              <a:t>amount</a:t>
            </a:r>
            <a:r>
              <a:rPr sz="1800" spc="-20" dirty="0">
                <a:solidFill>
                  <a:srgbClr val="0F2044"/>
                </a:solidFill>
                <a:latin typeface="Arial MT"/>
                <a:cs typeface="Arial MT"/>
              </a:rPr>
              <a:t> </a:t>
            </a:r>
            <a:r>
              <a:rPr sz="1800" dirty="0">
                <a:solidFill>
                  <a:srgbClr val="0F2044"/>
                </a:solidFill>
                <a:latin typeface="Arial MT"/>
                <a:cs typeface="Arial MT"/>
              </a:rPr>
              <a:t>of</a:t>
            </a:r>
            <a:r>
              <a:rPr sz="1800" spc="-20" dirty="0">
                <a:solidFill>
                  <a:srgbClr val="0F2044"/>
                </a:solidFill>
                <a:latin typeface="Arial MT"/>
                <a:cs typeface="Arial MT"/>
              </a:rPr>
              <a:t> </a:t>
            </a:r>
            <a:r>
              <a:rPr sz="1800" dirty="0">
                <a:solidFill>
                  <a:srgbClr val="0F2044"/>
                </a:solidFill>
                <a:latin typeface="Arial MT"/>
                <a:cs typeface="Arial MT"/>
              </a:rPr>
              <a:t>time</a:t>
            </a:r>
            <a:r>
              <a:rPr sz="1800" spc="-20" dirty="0">
                <a:solidFill>
                  <a:srgbClr val="0F2044"/>
                </a:solidFill>
                <a:latin typeface="Arial MT"/>
                <a:cs typeface="Arial MT"/>
              </a:rPr>
              <a:t> </a:t>
            </a:r>
            <a:r>
              <a:rPr sz="1800" dirty="0">
                <a:solidFill>
                  <a:srgbClr val="0F2044"/>
                </a:solidFill>
                <a:latin typeface="Arial MT"/>
                <a:cs typeface="Arial MT"/>
              </a:rPr>
              <a:t>it</a:t>
            </a:r>
            <a:r>
              <a:rPr sz="1800" spc="-20" dirty="0">
                <a:solidFill>
                  <a:srgbClr val="0F2044"/>
                </a:solidFill>
                <a:latin typeface="Arial MT"/>
                <a:cs typeface="Arial MT"/>
              </a:rPr>
              <a:t> </a:t>
            </a:r>
            <a:r>
              <a:rPr sz="1800" dirty="0">
                <a:solidFill>
                  <a:srgbClr val="0F2044"/>
                </a:solidFill>
                <a:latin typeface="Arial MT"/>
                <a:cs typeface="Arial MT"/>
              </a:rPr>
              <a:t>takes</a:t>
            </a:r>
            <a:r>
              <a:rPr sz="1800" spc="-20" dirty="0">
                <a:solidFill>
                  <a:srgbClr val="0F2044"/>
                </a:solidFill>
                <a:latin typeface="Arial MT"/>
                <a:cs typeface="Arial MT"/>
              </a:rPr>
              <a:t> </a:t>
            </a:r>
            <a:r>
              <a:rPr sz="1800" dirty="0">
                <a:solidFill>
                  <a:srgbClr val="0F2044"/>
                </a:solidFill>
                <a:latin typeface="Arial MT"/>
                <a:cs typeface="Arial MT"/>
              </a:rPr>
              <a:t>for</a:t>
            </a:r>
            <a:r>
              <a:rPr sz="1800" spc="-20" dirty="0">
                <a:solidFill>
                  <a:srgbClr val="0F2044"/>
                </a:solidFill>
                <a:latin typeface="Arial MT"/>
                <a:cs typeface="Arial MT"/>
              </a:rPr>
              <a:t> </a:t>
            </a:r>
            <a:r>
              <a:rPr sz="1800" dirty="0">
                <a:solidFill>
                  <a:srgbClr val="0F2044"/>
                </a:solidFill>
                <a:latin typeface="Arial MT"/>
                <a:cs typeface="Arial MT"/>
              </a:rPr>
              <a:t>us</a:t>
            </a:r>
            <a:r>
              <a:rPr sz="1800" spc="-25" dirty="0">
                <a:solidFill>
                  <a:srgbClr val="0F2044"/>
                </a:solidFill>
                <a:latin typeface="Arial MT"/>
                <a:cs typeface="Arial MT"/>
              </a:rPr>
              <a:t> </a:t>
            </a:r>
            <a:r>
              <a:rPr sz="1800" dirty="0">
                <a:solidFill>
                  <a:srgbClr val="0F2044"/>
                </a:solidFill>
                <a:latin typeface="Arial MT"/>
                <a:cs typeface="Arial MT"/>
              </a:rPr>
              <a:t>to</a:t>
            </a:r>
            <a:r>
              <a:rPr sz="1800" spc="-20" dirty="0">
                <a:solidFill>
                  <a:srgbClr val="0F2044"/>
                </a:solidFill>
                <a:latin typeface="Arial MT"/>
                <a:cs typeface="Arial MT"/>
              </a:rPr>
              <a:t> </a:t>
            </a:r>
            <a:r>
              <a:rPr sz="1800" dirty="0">
                <a:solidFill>
                  <a:srgbClr val="0F2044"/>
                </a:solidFill>
                <a:latin typeface="Arial MT"/>
                <a:cs typeface="Arial MT"/>
              </a:rPr>
              <a:t>traverse</a:t>
            </a:r>
            <a:r>
              <a:rPr sz="1800" spc="-20" dirty="0">
                <a:solidFill>
                  <a:srgbClr val="0F2044"/>
                </a:solidFill>
                <a:latin typeface="Arial MT"/>
                <a:cs typeface="Arial MT"/>
              </a:rPr>
              <a:t> </a:t>
            </a:r>
            <a:r>
              <a:rPr sz="1800" dirty="0">
                <a:solidFill>
                  <a:srgbClr val="0F2044"/>
                </a:solidFill>
                <a:latin typeface="Arial MT"/>
                <a:cs typeface="Arial MT"/>
              </a:rPr>
              <a:t>through</a:t>
            </a:r>
            <a:r>
              <a:rPr sz="1800" spc="-20" dirty="0">
                <a:solidFill>
                  <a:srgbClr val="0F2044"/>
                </a:solidFill>
                <a:latin typeface="Arial MT"/>
                <a:cs typeface="Arial MT"/>
              </a:rPr>
              <a:t> </a:t>
            </a:r>
            <a:r>
              <a:rPr sz="1800" dirty="0">
                <a:solidFill>
                  <a:srgbClr val="0F2044"/>
                </a:solidFill>
                <a:latin typeface="Arial MT"/>
                <a:cs typeface="Arial MT"/>
              </a:rPr>
              <a:t>the</a:t>
            </a:r>
            <a:r>
              <a:rPr sz="1800" spc="-20" dirty="0">
                <a:solidFill>
                  <a:srgbClr val="0F2044"/>
                </a:solidFill>
                <a:latin typeface="Arial MT"/>
                <a:cs typeface="Arial MT"/>
              </a:rPr>
              <a:t> </a:t>
            </a:r>
            <a:r>
              <a:rPr sz="1800" dirty="0">
                <a:solidFill>
                  <a:srgbClr val="0F2044"/>
                </a:solidFill>
                <a:latin typeface="Arial MT"/>
                <a:cs typeface="Arial MT"/>
              </a:rPr>
              <a:t>free</a:t>
            </a:r>
            <a:r>
              <a:rPr sz="1800" spc="-20" dirty="0">
                <a:solidFill>
                  <a:srgbClr val="0F2044"/>
                </a:solidFill>
                <a:latin typeface="Arial MT"/>
                <a:cs typeface="Arial MT"/>
              </a:rPr>
              <a:t> </a:t>
            </a:r>
            <a:r>
              <a:rPr sz="1800" dirty="0">
                <a:solidFill>
                  <a:srgbClr val="0F2044"/>
                </a:solidFill>
                <a:latin typeface="Arial MT"/>
                <a:cs typeface="Arial MT"/>
              </a:rPr>
              <a:t>list</a:t>
            </a:r>
            <a:r>
              <a:rPr sz="1800" spc="-20" dirty="0">
                <a:solidFill>
                  <a:srgbClr val="0F2044"/>
                </a:solidFill>
                <a:latin typeface="Arial MT"/>
                <a:cs typeface="Arial MT"/>
              </a:rPr>
              <a:t> </a:t>
            </a:r>
            <a:r>
              <a:rPr sz="1800" dirty="0">
                <a:solidFill>
                  <a:srgbClr val="0F2044"/>
                </a:solidFill>
                <a:latin typeface="Arial MT"/>
                <a:cs typeface="Arial MT"/>
              </a:rPr>
              <a:t>will</a:t>
            </a:r>
            <a:r>
              <a:rPr sz="1800" spc="-20" dirty="0">
                <a:solidFill>
                  <a:srgbClr val="0F2044"/>
                </a:solidFill>
                <a:latin typeface="Arial MT"/>
                <a:cs typeface="Arial MT"/>
              </a:rPr>
              <a:t> </a:t>
            </a:r>
            <a:r>
              <a:rPr sz="1800" dirty="0">
                <a:solidFill>
                  <a:srgbClr val="0F2044"/>
                </a:solidFill>
                <a:latin typeface="Arial MT"/>
                <a:cs typeface="Arial MT"/>
              </a:rPr>
              <a:t>be</a:t>
            </a:r>
            <a:r>
              <a:rPr sz="1800" spc="-20" dirty="0">
                <a:solidFill>
                  <a:srgbClr val="0F2044"/>
                </a:solidFill>
                <a:latin typeface="Arial MT"/>
                <a:cs typeface="Arial MT"/>
              </a:rPr>
              <a:t> </a:t>
            </a:r>
            <a:r>
              <a:rPr sz="1800" dirty="0">
                <a:solidFill>
                  <a:srgbClr val="0F2044"/>
                </a:solidFill>
                <a:latin typeface="Arial MT"/>
                <a:cs typeface="Arial MT"/>
              </a:rPr>
              <a:t>proportional</a:t>
            </a:r>
            <a:r>
              <a:rPr sz="1800" spc="-20" dirty="0">
                <a:solidFill>
                  <a:srgbClr val="0F2044"/>
                </a:solidFill>
                <a:latin typeface="Arial MT"/>
                <a:cs typeface="Arial MT"/>
              </a:rPr>
              <a:t> </a:t>
            </a:r>
            <a:r>
              <a:rPr sz="1800" spc="-25" dirty="0">
                <a:solidFill>
                  <a:srgbClr val="0F2044"/>
                </a:solidFill>
                <a:latin typeface="Arial MT"/>
                <a:cs typeface="Arial MT"/>
              </a:rPr>
              <a:t>to </a:t>
            </a:r>
            <a:r>
              <a:rPr sz="1800" dirty="0">
                <a:solidFill>
                  <a:srgbClr val="0F2044"/>
                </a:solidFill>
                <a:latin typeface="Arial MT"/>
                <a:cs typeface="Arial MT"/>
              </a:rPr>
              <a:t>number</a:t>
            </a:r>
            <a:r>
              <a:rPr sz="1800" spc="-30" dirty="0">
                <a:solidFill>
                  <a:srgbClr val="0F2044"/>
                </a:solidFill>
                <a:latin typeface="Arial MT"/>
                <a:cs typeface="Arial MT"/>
              </a:rPr>
              <a:t> </a:t>
            </a:r>
            <a:r>
              <a:rPr sz="1800" dirty="0">
                <a:solidFill>
                  <a:srgbClr val="0F2044"/>
                </a:solidFill>
                <a:latin typeface="Arial MT"/>
                <a:cs typeface="Arial MT"/>
              </a:rPr>
              <a:t>of</a:t>
            </a:r>
            <a:r>
              <a:rPr sz="1800" spc="-15" dirty="0">
                <a:solidFill>
                  <a:srgbClr val="0F2044"/>
                </a:solidFill>
                <a:latin typeface="Arial MT"/>
                <a:cs typeface="Arial MT"/>
              </a:rPr>
              <a:t> </a:t>
            </a:r>
            <a:r>
              <a:rPr sz="1800" dirty="0">
                <a:solidFill>
                  <a:srgbClr val="0F2044"/>
                </a:solidFill>
                <a:latin typeface="Arial MT"/>
                <a:cs typeface="Arial MT"/>
              </a:rPr>
              <a:t>freed</a:t>
            </a:r>
            <a:r>
              <a:rPr sz="1800" spc="-20" dirty="0">
                <a:solidFill>
                  <a:srgbClr val="0F2044"/>
                </a:solidFill>
                <a:latin typeface="Arial MT"/>
                <a:cs typeface="Arial MT"/>
              </a:rPr>
              <a:t> </a:t>
            </a:r>
            <a:r>
              <a:rPr sz="1800" dirty="0">
                <a:solidFill>
                  <a:srgbClr val="0F2044"/>
                </a:solidFill>
                <a:latin typeface="Arial MT"/>
                <a:cs typeface="Arial MT"/>
              </a:rPr>
              <a:t>blocks</a:t>
            </a:r>
            <a:r>
              <a:rPr sz="1800" spc="-15" dirty="0">
                <a:solidFill>
                  <a:srgbClr val="0F2044"/>
                </a:solidFill>
                <a:latin typeface="Arial MT"/>
                <a:cs typeface="Arial MT"/>
              </a:rPr>
              <a:t> </a:t>
            </a:r>
            <a:r>
              <a:rPr sz="1800" dirty="0">
                <a:solidFill>
                  <a:srgbClr val="0F2044"/>
                </a:solidFill>
                <a:latin typeface="Arial MT"/>
                <a:cs typeface="Arial MT"/>
              </a:rPr>
              <a:t>(not</a:t>
            </a:r>
            <a:r>
              <a:rPr sz="1800" spc="-15" dirty="0">
                <a:solidFill>
                  <a:srgbClr val="0F2044"/>
                </a:solidFill>
                <a:latin typeface="Arial MT"/>
                <a:cs typeface="Arial MT"/>
              </a:rPr>
              <a:t> </a:t>
            </a:r>
            <a:r>
              <a:rPr sz="1800" dirty="0">
                <a:solidFill>
                  <a:srgbClr val="0F2044"/>
                </a:solidFill>
                <a:latin typeface="Arial MT"/>
                <a:cs typeface="Arial MT"/>
              </a:rPr>
              <a:t>allocated</a:t>
            </a:r>
            <a:r>
              <a:rPr sz="1800" spc="-20" dirty="0">
                <a:solidFill>
                  <a:srgbClr val="0F2044"/>
                </a:solidFill>
                <a:latin typeface="Arial MT"/>
                <a:cs typeface="Arial MT"/>
              </a:rPr>
              <a:t> </a:t>
            </a:r>
            <a:r>
              <a:rPr sz="1800" dirty="0">
                <a:solidFill>
                  <a:srgbClr val="0F2044"/>
                </a:solidFill>
                <a:latin typeface="Arial MT"/>
                <a:cs typeface="Arial MT"/>
              </a:rPr>
              <a:t>+</a:t>
            </a:r>
            <a:r>
              <a:rPr sz="1800" spc="-15" dirty="0">
                <a:solidFill>
                  <a:srgbClr val="0F2044"/>
                </a:solidFill>
                <a:latin typeface="Arial MT"/>
                <a:cs typeface="Arial MT"/>
              </a:rPr>
              <a:t> </a:t>
            </a:r>
            <a:r>
              <a:rPr sz="1800" dirty="0">
                <a:solidFill>
                  <a:srgbClr val="0F2044"/>
                </a:solidFill>
                <a:latin typeface="Arial MT"/>
                <a:cs typeface="Arial MT"/>
              </a:rPr>
              <a:t>free</a:t>
            </a:r>
            <a:r>
              <a:rPr sz="1800" spc="-15" dirty="0">
                <a:solidFill>
                  <a:srgbClr val="0F2044"/>
                </a:solidFill>
                <a:latin typeface="Arial MT"/>
                <a:cs typeface="Arial MT"/>
              </a:rPr>
              <a:t> </a:t>
            </a:r>
            <a:r>
              <a:rPr sz="1800" spc="-10" dirty="0">
                <a:solidFill>
                  <a:srgbClr val="0F2044"/>
                </a:solidFill>
                <a:latin typeface="Arial MT"/>
                <a:cs typeface="Arial MT"/>
              </a:rPr>
              <a:t>blocks).</a:t>
            </a:r>
            <a:endParaRPr sz="1800" dirty="0">
              <a:latin typeface="Arial MT"/>
              <a:cs typeface="Arial MT"/>
            </a:endParaRPr>
          </a:p>
          <a:p>
            <a:pPr marL="12700">
              <a:lnSpc>
                <a:spcPct val="114000"/>
              </a:lnSpc>
              <a:spcAft>
                <a:spcPts val="600"/>
              </a:spcAft>
            </a:pPr>
            <a:r>
              <a:rPr sz="1800" dirty="0">
                <a:solidFill>
                  <a:srgbClr val="0F2044"/>
                </a:solidFill>
                <a:latin typeface="Arial MT"/>
                <a:cs typeface="Arial MT"/>
              </a:rPr>
              <a:t>That’s</a:t>
            </a:r>
            <a:r>
              <a:rPr sz="1800" spc="-30" dirty="0">
                <a:solidFill>
                  <a:srgbClr val="0F2044"/>
                </a:solidFill>
                <a:latin typeface="Arial MT"/>
                <a:cs typeface="Arial MT"/>
              </a:rPr>
              <a:t> </a:t>
            </a:r>
            <a:r>
              <a:rPr sz="1800" dirty="0">
                <a:solidFill>
                  <a:srgbClr val="0F2044"/>
                </a:solidFill>
                <a:latin typeface="Arial MT"/>
                <a:cs typeface="Arial MT"/>
              </a:rPr>
              <a:t>where</a:t>
            </a:r>
            <a:r>
              <a:rPr sz="1800" spc="-20" dirty="0">
                <a:solidFill>
                  <a:srgbClr val="0F2044"/>
                </a:solidFill>
                <a:latin typeface="Arial MT"/>
                <a:cs typeface="Arial MT"/>
              </a:rPr>
              <a:t> </a:t>
            </a:r>
            <a:r>
              <a:rPr sz="1800" b="1" dirty="0">
                <a:solidFill>
                  <a:srgbClr val="0F2044"/>
                </a:solidFill>
                <a:latin typeface="Arial"/>
                <a:cs typeface="Arial"/>
              </a:rPr>
              <a:t>Explicit</a:t>
            </a:r>
            <a:r>
              <a:rPr sz="1800" b="1" spc="-15" dirty="0">
                <a:solidFill>
                  <a:srgbClr val="0F2044"/>
                </a:solidFill>
                <a:latin typeface="Arial"/>
                <a:cs typeface="Arial"/>
              </a:rPr>
              <a:t> </a:t>
            </a:r>
            <a:r>
              <a:rPr sz="1800" b="1" dirty="0">
                <a:solidFill>
                  <a:srgbClr val="0F2044"/>
                </a:solidFill>
                <a:latin typeface="Arial"/>
                <a:cs typeface="Arial"/>
              </a:rPr>
              <a:t>Free</a:t>
            </a:r>
            <a:r>
              <a:rPr sz="1800" b="1" spc="-20" dirty="0">
                <a:solidFill>
                  <a:srgbClr val="0F2044"/>
                </a:solidFill>
                <a:latin typeface="Arial"/>
                <a:cs typeface="Arial"/>
              </a:rPr>
              <a:t> </a:t>
            </a:r>
            <a:r>
              <a:rPr sz="1800" b="1" dirty="0">
                <a:solidFill>
                  <a:srgbClr val="0F2044"/>
                </a:solidFill>
                <a:latin typeface="Arial"/>
                <a:cs typeface="Arial"/>
              </a:rPr>
              <a:t>List</a:t>
            </a:r>
            <a:r>
              <a:rPr sz="1800" b="1" spc="-20" dirty="0">
                <a:solidFill>
                  <a:srgbClr val="0F2044"/>
                </a:solidFill>
                <a:latin typeface="Arial"/>
                <a:cs typeface="Arial"/>
              </a:rPr>
              <a:t> </a:t>
            </a:r>
            <a:r>
              <a:rPr sz="1800" dirty="0">
                <a:solidFill>
                  <a:srgbClr val="0F2044"/>
                </a:solidFill>
                <a:latin typeface="Arial MT"/>
                <a:cs typeface="Arial MT"/>
              </a:rPr>
              <a:t>comes</a:t>
            </a:r>
            <a:r>
              <a:rPr sz="1800" spc="-15" dirty="0">
                <a:solidFill>
                  <a:srgbClr val="0F2044"/>
                </a:solidFill>
                <a:latin typeface="Arial MT"/>
                <a:cs typeface="Arial MT"/>
              </a:rPr>
              <a:t> </a:t>
            </a:r>
            <a:r>
              <a:rPr sz="1800" spc="-25" dirty="0">
                <a:solidFill>
                  <a:srgbClr val="0F2044"/>
                </a:solidFill>
                <a:latin typeface="Arial MT"/>
                <a:cs typeface="Arial MT"/>
              </a:rPr>
              <a:t>in.</a:t>
            </a:r>
            <a:endParaRPr sz="1800" dirty="0">
              <a:latin typeface="Arial MT"/>
              <a:cs typeface="Arial MT"/>
            </a:endParaRPr>
          </a:p>
          <a:p>
            <a:pPr marL="469265" indent="-366395">
              <a:lnSpc>
                <a:spcPct val="114000"/>
              </a:lnSpc>
              <a:spcAft>
                <a:spcPts val="600"/>
              </a:spcAft>
              <a:buChar char="●"/>
              <a:tabLst>
                <a:tab pos="469265" algn="l"/>
              </a:tabLst>
            </a:pPr>
            <a:r>
              <a:rPr sz="1800" dirty="0">
                <a:latin typeface="Arial MT"/>
                <a:cs typeface="Arial MT"/>
              </a:rPr>
              <a:t>Uses</a:t>
            </a:r>
            <a:r>
              <a:rPr sz="1800" spc="-25" dirty="0">
                <a:latin typeface="Arial MT"/>
                <a:cs typeface="Arial MT"/>
              </a:rPr>
              <a:t> </a:t>
            </a:r>
            <a:r>
              <a:rPr sz="1800" dirty="0">
                <a:latin typeface="Arial MT"/>
                <a:cs typeface="Arial MT"/>
              </a:rPr>
              <a:t>a</a:t>
            </a:r>
            <a:r>
              <a:rPr sz="1800" spc="-15" dirty="0">
                <a:latin typeface="Arial MT"/>
                <a:cs typeface="Arial MT"/>
              </a:rPr>
              <a:t> </a:t>
            </a:r>
            <a:r>
              <a:rPr sz="1800" b="1" dirty="0">
                <a:latin typeface="Arial"/>
                <a:cs typeface="Arial"/>
              </a:rPr>
              <a:t>linked</a:t>
            </a:r>
            <a:r>
              <a:rPr sz="1800" b="1" spc="-20" dirty="0">
                <a:latin typeface="Arial"/>
                <a:cs typeface="Arial"/>
              </a:rPr>
              <a:t> </a:t>
            </a:r>
            <a:r>
              <a:rPr sz="1800" b="1" dirty="0">
                <a:latin typeface="Arial"/>
                <a:cs typeface="Arial"/>
              </a:rPr>
              <a:t>list</a:t>
            </a:r>
            <a:r>
              <a:rPr sz="1800" b="1" spc="-20" dirty="0">
                <a:latin typeface="Arial"/>
                <a:cs typeface="Arial"/>
              </a:rPr>
              <a:t> </a:t>
            </a:r>
            <a:r>
              <a:rPr sz="1800" b="1" dirty="0">
                <a:latin typeface="Arial"/>
                <a:cs typeface="Arial"/>
              </a:rPr>
              <a:t>of</a:t>
            </a:r>
            <a:r>
              <a:rPr sz="1800" b="1" spc="-20" dirty="0">
                <a:latin typeface="Arial"/>
                <a:cs typeface="Arial"/>
              </a:rPr>
              <a:t> </a:t>
            </a:r>
            <a:r>
              <a:rPr sz="1800" b="1" dirty="0">
                <a:latin typeface="Arial"/>
                <a:cs typeface="Arial"/>
              </a:rPr>
              <a:t>free</a:t>
            </a:r>
            <a:r>
              <a:rPr sz="1800" b="1" spc="-20" dirty="0">
                <a:latin typeface="Arial"/>
                <a:cs typeface="Arial"/>
              </a:rPr>
              <a:t> </a:t>
            </a:r>
            <a:r>
              <a:rPr sz="1800" b="1" dirty="0">
                <a:latin typeface="Arial"/>
                <a:cs typeface="Arial"/>
              </a:rPr>
              <a:t>blocks </a:t>
            </a:r>
            <a:r>
              <a:rPr sz="1800" dirty="0">
                <a:latin typeface="Arial MT"/>
                <a:cs typeface="Arial MT"/>
              </a:rPr>
              <a:t>instead</a:t>
            </a:r>
            <a:r>
              <a:rPr sz="1800" spc="-20" dirty="0">
                <a:latin typeface="Arial MT"/>
                <a:cs typeface="Arial MT"/>
              </a:rPr>
              <a:t> </a:t>
            </a:r>
            <a:r>
              <a:rPr sz="1800" dirty="0">
                <a:latin typeface="Arial MT"/>
                <a:cs typeface="Arial MT"/>
              </a:rPr>
              <a:t>of</a:t>
            </a:r>
            <a:r>
              <a:rPr sz="1800" spc="-25" dirty="0">
                <a:latin typeface="Arial MT"/>
                <a:cs typeface="Arial MT"/>
              </a:rPr>
              <a:t> </a:t>
            </a:r>
            <a:r>
              <a:rPr sz="1800" dirty="0">
                <a:latin typeface="Arial MT"/>
                <a:cs typeface="Arial MT"/>
              </a:rPr>
              <a:t>scanning</a:t>
            </a:r>
            <a:r>
              <a:rPr sz="1800" spc="-20" dirty="0">
                <a:latin typeface="Arial MT"/>
                <a:cs typeface="Arial MT"/>
              </a:rPr>
              <a:t> </a:t>
            </a:r>
            <a:r>
              <a:rPr sz="1800" dirty="0">
                <a:latin typeface="Arial MT"/>
                <a:cs typeface="Arial MT"/>
              </a:rPr>
              <a:t>the</a:t>
            </a:r>
            <a:r>
              <a:rPr sz="1800" spc="-20" dirty="0">
                <a:latin typeface="Arial MT"/>
                <a:cs typeface="Arial MT"/>
              </a:rPr>
              <a:t> </a:t>
            </a:r>
            <a:r>
              <a:rPr sz="1800" dirty="0">
                <a:latin typeface="Arial MT"/>
                <a:cs typeface="Arial MT"/>
              </a:rPr>
              <a:t>entire</a:t>
            </a:r>
            <a:r>
              <a:rPr sz="1800" spc="-20" dirty="0">
                <a:latin typeface="Arial MT"/>
                <a:cs typeface="Arial MT"/>
              </a:rPr>
              <a:t> </a:t>
            </a:r>
            <a:r>
              <a:rPr sz="1800" spc="-10" dirty="0">
                <a:latin typeface="Arial MT"/>
                <a:cs typeface="Arial MT"/>
              </a:rPr>
              <a:t>heap.</a:t>
            </a:r>
            <a:endParaRPr sz="1800" dirty="0">
              <a:latin typeface="Arial MT"/>
              <a:cs typeface="Arial MT"/>
            </a:endParaRPr>
          </a:p>
          <a:p>
            <a:pPr marL="469265" indent="-366395">
              <a:lnSpc>
                <a:spcPct val="114000"/>
              </a:lnSpc>
              <a:buChar char="●"/>
              <a:tabLst>
                <a:tab pos="469265" algn="l"/>
              </a:tabLst>
            </a:pPr>
            <a:r>
              <a:rPr sz="1800" dirty="0">
                <a:latin typeface="Arial MT"/>
                <a:cs typeface="Arial MT"/>
              </a:rPr>
              <a:t>Blocks</a:t>
            </a:r>
            <a:r>
              <a:rPr sz="1800" spc="-25" dirty="0">
                <a:latin typeface="Arial MT"/>
                <a:cs typeface="Arial MT"/>
              </a:rPr>
              <a:t> </a:t>
            </a:r>
            <a:r>
              <a:rPr sz="1800" dirty="0">
                <a:latin typeface="Arial MT"/>
                <a:cs typeface="Arial MT"/>
              </a:rPr>
              <a:t>maintain</a:t>
            </a:r>
            <a:r>
              <a:rPr sz="1800" spc="-25" dirty="0">
                <a:latin typeface="Arial MT"/>
                <a:cs typeface="Arial MT"/>
              </a:rPr>
              <a:t> </a:t>
            </a:r>
            <a:r>
              <a:rPr sz="1800" dirty="0">
                <a:latin typeface="Arial MT"/>
                <a:cs typeface="Arial MT"/>
              </a:rPr>
              <a:t>explicit</a:t>
            </a:r>
            <a:r>
              <a:rPr sz="1800" spc="-5" dirty="0">
                <a:latin typeface="Arial MT"/>
                <a:cs typeface="Arial MT"/>
              </a:rPr>
              <a:t> </a:t>
            </a:r>
            <a:r>
              <a:rPr sz="1800" b="1" dirty="0">
                <a:latin typeface="Arial"/>
                <a:cs typeface="Arial"/>
              </a:rPr>
              <a:t>next</a:t>
            </a:r>
            <a:r>
              <a:rPr sz="1800" b="1" spc="-25" dirty="0">
                <a:latin typeface="Arial"/>
                <a:cs typeface="Arial"/>
              </a:rPr>
              <a:t> </a:t>
            </a:r>
            <a:r>
              <a:rPr sz="1800" b="1" dirty="0">
                <a:latin typeface="Arial"/>
                <a:cs typeface="Arial"/>
              </a:rPr>
              <a:t>and</a:t>
            </a:r>
            <a:r>
              <a:rPr sz="1800" b="1" spc="-25" dirty="0">
                <a:latin typeface="Arial"/>
                <a:cs typeface="Arial"/>
              </a:rPr>
              <a:t> </a:t>
            </a:r>
            <a:r>
              <a:rPr sz="1800" b="1" dirty="0">
                <a:latin typeface="Arial"/>
                <a:cs typeface="Arial"/>
              </a:rPr>
              <a:t>previous</a:t>
            </a:r>
            <a:r>
              <a:rPr sz="1800" b="1" spc="-20" dirty="0">
                <a:latin typeface="Arial"/>
                <a:cs typeface="Arial"/>
              </a:rPr>
              <a:t> </a:t>
            </a:r>
            <a:r>
              <a:rPr sz="1800" b="1" spc="-10" dirty="0">
                <a:latin typeface="Arial"/>
                <a:cs typeface="Arial"/>
              </a:rPr>
              <a:t>pointers</a:t>
            </a:r>
            <a:r>
              <a:rPr sz="1800" spc="-10" dirty="0">
                <a:latin typeface="Arial MT"/>
                <a:cs typeface="Arial MT"/>
              </a:rPr>
              <a:t>.</a:t>
            </a:r>
            <a:endParaRPr sz="1800" dirty="0">
              <a:latin typeface="Arial MT"/>
              <a:cs typeface="Arial M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xEl>
                                              <p:pRg st="1" end="1"/>
                                            </p:txEl>
                                          </p:spTgt>
                                        </p:tgtEl>
                                        <p:attrNameLst>
                                          <p:attrName>style.visibility</p:attrName>
                                        </p:attrNameLst>
                                      </p:cBhvr>
                                      <p:to>
                                        <p:strVal val="visible"/>
                                      </p:to>
                                    </p:set>
                                    <p:animEffect transition="in" filter="fade">
                                      <p:cBhvr>
                                        <p:cTn id="7" dur="500"/>
                                        <p:tgtEl>
                                          <p:spTgt spid="2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
                                            <p:txEl>
                                              <p:pRg st="2" end="2"/>
                                            </p:txEl>
                                          </p:spTgt>
                                        </p:tgtEl>
                                        <p:attrNameLst>
                                          <p:attrName>style.visibility</p:attrName>
                                        </p:attrNameLst>
                                      </p:cBhvr>
                                      <p:to>
                                        <p:strVal val="visible"/>
                                      </p:to>
                                    </p:set>
                                    <p:animEffect transition="in" filter="fade">
                                      <p:cBhvr>
                                        <p:cTn id="12" dur="500"/>
                                        <p:tgtEl>
                                          <p:spTgt spid="22">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22">
                                            <p:txEl>
                                              <p:pRg st="3" end="3"/>
                                            </p:txEl>
                                          </p:spTgt>
                                        </p:tgtEl>
                                        <p:attrNameLst>
                                          <p:attrName>style.visibility</p:attrName>
                                        </p:attrNameLst>
                                      </p:cBhvr>
                                      <p:to>
                                        <p:strVal val="visible"/>
                                      </p:to>
                                    </p:set>
                                    <p:animEffect transition="in" filter="fade">
                                      <p:cBhvr>
                                        <p:cTn id="15" dur="500"/>
                                        <p:tgtEl>
                                          <p:spTgt spid="22">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xEl>
                                              <p:pRg st="4" end="4"/>
                                            </p:txEl>
                                          </p:spTgt>
                                        </p:tgtEl>
                                        <p:attrNameLst>
                                          <p:attrName>style.visibility</p:attrName>
                                        </p:attrNameLst>
                                      </p:cBhvr>
                                      <p:to>
                                        <p:strVal val="visible"/>
                                      </p:to>
                                    </p:set>
                                    <p:animEffect transition="in" filter="fade">
                                      <p:cBhvr>
                                        <p:cTn id="18" dur="500"/>
                                        <p:tgtEl>
                                          <p:spTgt spid="22">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22">
                                            <p:txEl>
                                              <p:pRg st="5" end="5"/>
                                            </p:txEl>
                                          </p:spTgt>
                                        </p:tgtEl>
                                        <p:attrNameLst>
                                          <p:attrName>style.visibility</p:attrName>
                                        </p:attrNameLst>
                                      </p:cBhvr>
                                      <p:to>
                                        <p:strVal val="visible"/>
                                      </p:to>
                                    </p:set>
                                    <p:animEffect transition="in" filter="fade">
                                      <p:cBhvr>
                                        <p:cTn id="21" dur="500"/>
                                        <p:tgtEl>
                                          <p:spTgt spid="2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Explicit</a:t>
            </a:r>
            <a:r>
              <a:rPr spc="-100" dirty="0"/>
              <a:t> </a:t>
            </a:r>
            <a:r>
              <a:rPr dirty="0"/>
              <a:t>Free</a:t>
            </a:r>
            <a:r>
              <a:rPr spc="-95" dirty="0"/>
              <a:t> </a:t>
            </a:r>
            <a:r>
              <a:rPr spc="-20" dirty="0"/>
              <a:t>List</a:t>
            </a:r>
          </a:p>
        </p:txBody>
      </p:sp>
      <p:grpSp>
        <p:nvGrpSpPr>
          <p:cNvPr id="23" name="Group 22">
            <a:extLst>
              <a:ext uri="{FF2B5EF4-FFF2-40B4-BE49-F238E27FC236}">
                <a16:creationId xmlns:a16="http://schemas.microsoft.com/office/drawing/2014/main" id="{FE2BBC46-A732-A095-1316-9CC034D1F6B8}"/>
              </a:ext>
              <a:ext uri="{C183D7F6-B498-43B3-948B-1728B52AA6E4}">
                <adec:decorative xmlns:adec="http://schemas.microsoft.com/office/drawing/2017/decorative" val="1"/>
              </a:ext>
            </a:extLst>
          </p:cNvPr>
          <p:cNvGrpSpPr/>
          <p:nvPr/>
        </p:nvGrpSpPr>
        <p:grpSpPr>
          <a:xfrm>
            <a:off x="434970" y="2419637"/>
            <a:ext cx="10309230" cy="1113878"/>
            <a:chOff x="434970" y="2419637"/>
            <a:chExt cx="10309230" cy="1113878"/>
          </a:xfrm>
        </p:grpSpPr>
        <p:grpSp>
          <p:nvGrpSpPr>
            <p:cNvPr id="24" name="object 16">
              <a:extLst>
                <a:ext uri="{FF2B5EF4-FFF2-40B4-BE49-F238E27FC236}">
                  <a16:creationId xmlns:a16="http://schemas.microsoft.com/office/drawing/2014/main" id="{BFEE3657-FF07-CF99-29E3-79BD8AA8F8CF}"/>
                </a:ext>
              </a:extLst>
            </p:cNvPr>
            <p:cNvGrpSpPr/>
            <p:nvPr/>
          </p:nvGrpSpPr>
          <p:grpSpPr>
            <a:xfrm>
              <a:off x="585500" y="3324600"/>
              <a:ext cx="4869180" cy="208915"/>
              <a:chOff x="585500" y="3324600"/>
              <a:chExt cx="4869180" cy="208915"/>
            </a:xfrm>
          </p:grpSpPr>
          <p:sp>
            <p:nvSpPr>
              <p:cNvPr id="42" name="object 17">
                <a:extLst>
                  <a:ext uri="{FF2B5EF4-FFF2-40B4-BE49-F238E27FC236}">
                    <a16:creationId xmlns:a16="http://schemas.microsoft.com/office/drawing/2014/main" id="{F118F14B-9022-542D-2E94-B3DED374D52F}"/>
                  </a:ext>
                </a:extLst>
              </p:cNvPr>
              <p:cNvSpPr/>
              <p:nvPr/>
            </p:nvSpPr>
            <p:spPr>
              <a:xfrm>
                <a:off x="585500" y="3324600"/>
                <a:ext cx="4869180" cy="208915"/>
              </a:xfrm>
              <a:custGeom>
                <a:avLst/>
                <a:gdLst/>
                <a:ahLst/>
                <a:cxnLst/>
                <a:rect l="l" t="t" r="r" b="b"/>
                <a:pathLst>
                  <a:path w="4869180" h="208914">
                    <a:moveTo>
                      <a:pt x="4751549" y="208799"/>
                    </a:moveTo>
                    <a:lnTo>
                      <a:pt x="91349" y="208799"/>
                    </a:lnTo>
                    <a:lnTo>
                      <a:pt x="55792" y="201621"/>
                    </a:lnTo>
                    <a:lnTo>
                      <a:pt x="26755" y="182044"/>
                    </a:lnTo>
                    <a:lnTo>
                      <a:pt x="7178" y="153007"/>
                    </a:lnTo>
                    <a:lnTo>
                      <a:pt x="0" y="117449"/>
                    </a:lnTo>
                    <a:lnTo>
                      <a:pt x="0" y="0"/>
                    </a:lnTo>
                    <a:lnTo>
                      <a:pt x="52199" y="0"/>
                    </a:lnTo>
                    <a:lnTo>
                      <a:pt x="52199" y="117449"/>
                    </a:lnTo>
                    <a:lnTo>
                      <a:pt x="55276" y="132688"/>
                    </a:lnTo>
                    <a:lnTo>
                      <a:pt x="63666" y="145133"/>
                    </a:lnTo>
                    <a:lnTo>
                      <a:pt x="76111" y="153523"/>
                    </a:lnTo>
                    <a:lnTo>
                      <a:pt x="91349" y="156599"/>
                    </a:lnTo>
                    <a:lnTo>
                      <a:pt x="4833708" y="156599"/>
                    </a:lnTo>
                    <a:lnTo>
                      <a:pt x="4827552" y="168131"/>
                    </a:lnTo>
                    <a:lnTo>
                      <a:pt x="4816144" y="182044"/>
                    </a:lnTo>
                    <a:lnTo>
                      <a:pt x="4802231" y="193452"/>
                    </a:lnTo>
                    <a:lnTo>
                      <a:pt x="4786508" y="201846"/>
                    </a:lnTo>
                    <a:lnTo>
                      <a:pt x="4769454" y="207028"/>
                    </a:lnTo>
                    <a:lnTo>
                      <a:pt x="4751549" y="208799"/>
                    </a:lnTo>
                    <a:close/>
                  </a:path>
                  <a:path w="4869180" h="208914">
                    <a:moveTo>
                      <a:pt x="4868999" y="104399"/>
                    </a:moveTo>
                    <a:lnTo>
                      <a:pt x="4764599" y="104399"/>
                    </a:lnTo>
                    <a:lnTo>
                      <a:pt x="4816799" y="52199"/>
                    </a:lnTo>
                    <a:lnTo>
                      <a:pt x="4868999" y="104399"/>
                    </a:lnTo>
                    <a:close/>
                  </a:path>
                  <a:path w="4869180" h="208914">
                    <a:moveTo>
                      <a:pt x="4833708" y="156599"/>
                    </a:moveTo>
                    <a:lnTo>
                      <a:pt x="4751549" y="156599"/>
                    </a:lnTo>
                    <a:lnTo>
                      <a:pt x="4766788" y="153523"/>
                    </a:lnTo>
                    <a:lnTo>
                      <a:pt x="4779233" y="145133"/>
                    </a:lnTo>
                    <a:lnTo>
                      <a:pt x="4787623" y="132688"/>
                    </a:lnTo>
                    <a:lnTo>
                      <a:pt x="4790699" y="117449"/>
                    </a:lnTo>
                    <a:lnTo>
                      <a:pt x="4790699" y="104399"/>
                    </a:lnTo>
                    <a:lnTo>
                      <a:pt x="4842899" y="104399"/>
                    </a:lnTo>
                    <a:lnTo>
                      <a:pt x="4842899" y="117449"/>
                    </a:lnTo>
                    <a:lnTo>
                      <a:pt x="4841128" y="135354"/>
                    </a:lnTo>
                    <a:lnTo>
                      <a:pt x="4835946" y="152408"/>
                    </a:lnTo>
                    <a:lnTo>
                      <a:pt x="4833708" y="156599"/>
                    </a:lnTo>
                    <a:close/>
                  </a:path>
                </a:pathLst>
              </a:custGeom>
              <a:solidFill>
                <a:srgbClr val="B6D7A8"/>
              </a:solidFill>
            </p:spPr>
            <p:txBody>
              <a:bodyPr wrap="square" lIns="0" tIns="0" rIns="0" bIns="0" rtlCol="0"/>
              <a:lstStyle/>
              <a:p>
                <a:endParaRPr/>
              </a:p>
            </p:txBody>
          </p:sp>
          <p:sp>
            <p:nvSpPr>
              <p:cNvPr id="43" name="object 18">
                <a:extLst>
                  <a:ext uri="{FF2B5EF4-FFF2-40B4-BE49-F238E27FC236}">
                    <a16:creationId xmlns:a16="http://schemas.microsoft.com/office/drawing/2014/main" id="{C0CC0DC9-3EA6-E131-3D80-2E6B7679C549}"/>
                  </a:ext>
                </a:extLst>
              </p:cNvPr>
              <p:cNvSpPr/>
              <p:nvPr/>
            </p:nvSpPr>
            <p:spPr>
              <a:xfrm>
                <a:off x="585500" y="3324600"/>
                <a:ext cx="4869180" cy="208915"/>
              </a:xfrm>
              <a:custGeom>
                <a:avLst/>
                <a:gdLst/>
                <a:ahLst/>
                <a:cxnLst/>
                <a:rect l="l" t="t" r="r" b="b"/>
                <a:pathLst>
                  <a:path w="4869180" h="208914">
                    <a:moveTo>
                      <a:pt x="0" y="0"/>
                    </a:moveTo>
                    <a:lnTo>
                      <a:pt x="0" y="117449"/>
                    </a:lnTo>
                    <a:lnTo>
                      <a:pt x="7178" y="153007"/>
                    </a:lnTo>
                    <a:lnTo>
                      <a:pt x="26755" y="182044"/>
                    </a:lnTo>
                    <a:lnTo>
                      <a:pt x="55792" y="201621"/>
                    </a:lnTo>
                    <a:lnTo>
                      <a:pt x="91349" y="208799"/>
                    </a:lnTo>
                    <a:lnTo>
                      <a:pt x="4751549" y="208799"/>
                    </a:lnTo>
                    <a:lnTo>
                      <a:pt x="4802231" y="193452"/>
                    </a:lnTo>
                    <a:lnTo>
                      <a:pt x="4835946" y="152408"/>
                    </a:lnTo>
                    <a:lnTo>
                      <a:pt x="4842899" y="117449"/>
                    </a:lnTo>
                    <a:lnTo>
                      <a:pt x="4842899" y="104399"/>
                    </a:lnTo>
                    <a:lnTo>
                      <a:pt x="4868999" y="104399"/>
                    </a:lnTo>
                    <a:lnTo>
                      <a:pt x="4816799" y="52199"/>
                    </a:lnTo>
                    <a:lnTo>
                      <a:pt x="4764599" y="104399"/>
                    </a:lnTo>
                    <a:lnTo>
                      <a:pt x="4790699" y="104399"/>
                    </a:lnTo>
                    <a:lnTo>
                      <a:pt x="4790699" y="117449"/>
                    </a:lnTo>
                    <a:lnTo>
                      <a:pt x="4787623" y="132688"/>
                    </a:lnTo>
                    <a:lnTo>
                      <a:pt x="4779233" y="145133"/>
                    </a:lnTo>
                    <a:lnTo>
                      <a:pt x="4766788" y="153523"/>
                    </a:lnTo>
                    <a:lnTo>
                      <a:pt x="4751549" y="156599"/>
                    </a:lnTo>
                    <a:lnTo>
                      <a:pt x="91349" y="156599"/>
                    </a:lnTo>
                    <a:lnTo>
                      <a:pt x="76111" y="153523"/>
                    </a:lnTo>
                    <a:lnTo>
                      <a:pt x="63666" y="145133"/>
                    </a:lnTo>
                    <a:lnTo>
                      <a:pt x="55276" y="132688"/>
                    </a:lnTo>
                    <a:lnTo>
                      <a:pt x="52199" y="117449"/>
                    </a:lnTo>
                    <a:lnTo>
                      <a:pt x="52199" y="0"/>
                    </a:lnTo>
                    <a:lnTo>
                      <a:pt x="0" y="0"/>
                    </a:lnTo>
                    <a:close/>
                  </a:path>
                </a:pathLst>
              </a:custGeom>
              <a:ln w="9524">
                <a:solidFill>
                  <a:srgbClr val="0F2044"/>
                </a:solidFill>
              </a:ln>
            </p:spPr>
            <p:txBody>
              <a:bodyPr wrap="square" lIns="0" tIns="0" rIns="0" bIns="0" rtlCol="0"/>
              <a:lstStyle/>
              <a:p>
                <a:endParaRPr/>
              </a:p>
            </p:txBody>
          </p:sp>
        </p:grpSp>
        <p:grpSp>
          <p:nvGrpSpPr>
            <p:cNvPr id="25" name="object 19">
              <a:extLst>
                <a:ext uri="{FF2B5EF4-FFF2-40B4-BE49-F238E27FC236}">
                  <a16:creationId xmlns:a16="http://schemas.microsoft.com/office/drawing/2014/main" id="{192817A3-765D-9E64-7245-BEA35F4008BC}"/>
                </a:ext>
              </a:extLst>
            </p:cNvPr>
            <p:cNvGrpSpPr/>
            <p:nvPr/>
          </p:nvGrpSpPr>
          <p:grpSpPr>
            <a:xfrm>
              <a:off x="5586250" y="3324600"/>
              <a:ext cx="4869180" cy="208915"/>
              <a:chOff x="5586250" y="3324600"/>
              <a:chExt cx="4869180" cy="208915"/>
            </a:xfrm>
          </p:grpSpPr>
          <p:sp>
            <p:nvSpPr>
              <p:cNvPr id="40" name="object 20">
                <a:extLst>
                  <a:ext uri="{FF2B5EF4-FFF2-40B4-BE49-F238E27FC236}">
                    <a16:creationId xmlns:a16="http://schemas.microsoft.com/office/drawing/2014/main" id="{C1776895-23E6-5FF7-F4C2-850029941044}"/>
                  </a:ext>
                </a:extLst>
              </p:cNvPr>
              <p:cNvSpPr/>
              <p:nvPr/>
            </p:nvSpPr>
            <p:spPr>
              <a:xfrm>
                <a:off x="5586250" y="3324600"/>
                <a:ext cx="4869180" cy="208915"/>
              </a:xfrm>
              <a:custGeom>
                <a:avLst/>
                <a:gdLst/>
                <a:ahLst/>
                <a:cxnLst/>
                <a:rect l="l" t="t" r="r" b="b"/>
                <a:pathLst>
                  <a:path w="4869180" h="208914">
                    <a:moveTo>
                      <a:pt x="4751549" y="208799"/>
                    </a:moveTo>
                    <a:lnTo>
                      <a:pt x="91349" y="208799"/>
                    </a:lnTo>
                    <a:lnTo>
                      <a:pt x="55792" y="201621"/>
                    </a:lnTo>
                    <a:lnTo>
                      <a:pt x="26755" y="182044"/>
                    </a:lnTo>
                    <a:lnTo>
                      <a:pt x="7178" y="153007"/>
                    </a:lnTo>
                    <a:lnTo>
                      <a:pt x="0" y="117449"/>
                    </a:lnTo>
                    <a:lnTo>
                      <a:pt x="0" y="0"/>
                    </a:lnTo>
                    <a:lnTo>
                      <a:pt x="52199" y="0"/>
                    </a:lnTo>
                    <a:lnTo>
                      <a:pt x="52199" y="117449"/>
                    </a:lnTo>
                    <a:lnTo>
                      <a:pt x="55276" y="132688"/>
                    </a:lnTo>
                    <a:lnTo>
                      <a:pt x="63666" y="145133"/>
                    </a:lnTo>
                    <a:lnTo>
                      <a:pt x="76111" y="153523"/>
                    </a:lnTo>
                    <a:lnTo>
                      <a:pt x="91349" y="156599"/>
                    </a:lnTo>
                    <a:lnTo>
                      <a:pt x="4833708" y="156599"/>
                    </a:lnTo>
                    <a:lnTo>
                      <a:pt x="4827552" y="168131"/>
                    </a:lnTo>
                    <a:lnTo>
                      <a:pt x="4816144" y="182044"/>
                    </a:lnTo>
                    <a:lnTo>
                      <a:pt x="4802231" y="193452"/>
                    </a:lnTo>
                    <a:lnTo>
                      <a:pt x="4786508" y="201846"/>
                    </a:lnTo>
                    <a:lnTo>
                      <a:pt x="4769454" y="207028"/>
                    </a:lnTo>
                    <a:lnTo>
                      <a:pt x="4751549" y="208799"/>
                    </a:lnTo>
                    <a:close/>
                  </a:path>
                  <a:path w="4869180" h="208914">
                    <a:moveTo>
                      <a:pt x="4868999" y="104399"/>
                    </a:moveTo>
                    <a:lnTo>
                      <a:pt x="4764599" y="104399"/>
                    </a:lnTo>
                    <a:lnTo>
                      <a:pt x="4816799" y="52199"/>
                    </a:lnTo>
                    <a:lnTo>
                      <a:pt x="4868999" y="104399"/>
                    </a:lnTo>
                    <a:close/>
                  </a:path>
                  <a:path w="4869180" h="208914">
                    <a:moveTo>
                      <a:pt x="4833708" y="156599"/>
                    </a:moveTo>
                    <a:lnTo>
                      <a:pt x="4751549" y="156599"/>
                    </a:lnTo>
                    <a:lnTo>
                      <a:pt x="4766788" y="153523"/>
                    </a:lnTo>
                    <a:lnTo>
                      <a:pt x="4779233" y="145133"/>
                    </a:lnTo>
                    <a:lnTo>
                      <a:pt x="4787623" y="132688"/>
                    </a:lnTo>
                    <a:lnTo>
                      <a:pt x="4790699" y="117449"/>
                    </a:lnTo>
                    <a:lnTo>
                      <a:pt x="4790699" y="104399"/>
                    </a:lnTo>
                    <a:lnTo>
                      <a:pt x="4842899" y="104399"/>
                    </a:lnTo>
                    <a:lnTo>
                      <a:pt x="4842899" y="117449"/>
                    </a:lnTo>
                    <a:lnTo>
                      <a:pt x="4841128" y="135354"/>
                    </a:lnTo>
                    <a:lnTo>
                      <a:pt x="4835946" y="152408"/>
                    </a:lnTo>
                    <a:lnTo>
                      <a:pt x="4833708" y="156599"/>
                    </a:lnTo>
                    <a:close/>
                  </a:path>
                </a:pathLst>
              </a:custGeom>
              <a:solidFill>
                <a:srgbClr val="B6D7A8"/>
              </a:solidFill>
            </p:spPr>
            <p:txBody>
              <a:bodyPr wrap="square" lIns="0" tIns="0" rIns="0" bIns="0" rtlCol="0"/>
              <a:lstStyle/>
              <a:p>
                <a:endParaRPr/>
              </a:p>
            </p:txBody>
          </p:sp>
          <p:sp>
            <p:nvSpPr>
              <p:cNvPr id="41" name="object 21">
                <a:extLst>
                  <a:ext uri="{FF2B5EF4-FFF2-40B4-BE49-F238E27FC236}">
                    <a16:creationId xmlns:a16="http://schemas.microsoft.com/office/drawing/2014/main" id="{11BF3140-791E-969B-6399-A42DE6E28A9B}"/>
                  </a:ext>
                </a:extLst>
              </p:cNvPr>
              <p:cNvSpPr/>
              <p:nvPr/>
            </p:nvSpPr>
            <p:spPr>
              <a:xfrm>
                <a:off x="5586250" y="3324600"/>
                <a:ext cx="4869180" cy="208915"/>
              </a:xfrm>
              <a:custGeom>
                <a:avLst/>
                <a:gdLst/>
                <a:ahLst/>
                <a:cxnLst/>
                <a:rect l="l" t="t" r="r" b="b"/>
                <a:pathLst>
                  <a:path w="4869180" h="208914">
                    <a:moveTo>
                      <a:pt x="0" y="0"/>
                    </a:moveTo>
                    <a:lnTo>
                      <a:pt x="0" y="117449"/>
                    </a:lnTo>
                    <a:lnTo>
                      <a:pt x="7178" y="153007"/>
                    </a:lnTo>
                    <a:lnTo>
                      <a:pt x="26755" y="182044"/>
                    </a:lnTo>
                    <a:lnTo>
                      <a:pt x="55792" y="201621"/>
                    </a:lnTo>
                    <a:lnTo>
                      <a:pt x="91349" y="208799"/>
                    </a:lnTo>
                    <a:lnTo>
                      <a:pt x="4751549" y="208799"/>
                    </a:lnTo>
                    <a:lnTo>
                      <a:pt x="4802231" y="193452"/>
                    </a:lnTo>
                    <a:lnTo>
                      <a:pt x="4835946" y="152408"/>
                    </a:lnTo>
                    <a:lnTo>
                      <a:pt x="4842899" y="117449"/>
                    </a:lnTo>
                    <a:lnTo>
                      <a:pt x="4842899" y="104399"/>
                    </a:lnTo>
                    <a:lnTo>
                      <a:pt x="4868999" y="104399"/>
                    </a:lnTo>
                    <a:lnTo>
                      <a:pt x="4816799" y="52199"/>
                    </a:lnTo>
                    <a:lnTo>
                      <a:pt x="4764599" y="104399"/>
                    </a:lnTo>
                    <a:lnTo>
                      <a:pt x="4790699" y="104399"/>
                    </a:lnTo>
                    <a:lnTo>
                      <a:pt x="4790699" y="117449"/>
                    </a:lnTo>
                    <a:lnTo>
                      <a:pt x="4787623" y="132688"/>
                    </a:lnTo>
                    <a:lnTo>
                      <a:pt x="4779233" y="145133"/>
                    </a:lnTo>
                    <a:lnTo>
                      <a:pt x="4766788" y="153523"/>
                    </a:lnTo>
                    <a:lnTo>
                      <a:pt x="4751549" y="156599"/>
                    </a:lnTo>
                    <a:lnTo>
                      <a:pt x="91349" y="156599"/>
                    </a:lnTo>
                    <a:lnTo>
                      <a:pt x="76111" y="153523"/>
                    </a:lnTo>
                    <a:lnTo>
                      <a:pt x="63666" y="145133"/>
                    </a:lnTo>
                    <a:lnTo>
                      <a:pt x="55276" y="132688"/>
                    </a:lnTo>
                    <a:lnTo>
                      <a:pt x="52199" y="117449"/>
                    </a:lnTo>
                    <a:lnTo>
                      <a:pt x="52199" y="0"/>
                    </a:lnTo>
                    <a:lnTo>
                      <a:pt x="0" y="0"/>
                    </a:lnTo>
                    <a:close/>
                  </a:path>
                </a:pathLst>
              </a:custGeom>
              <a:ln w="9524">
                <a:solidFill>
                  <a:srgbClr val="0F2044"/>
                </a:solidFill>
              </a:ln>
            </p:spPr>
            <p:txBody>
              <a:bodyPr wrap="square" lIns="0" tIns="0" rIns="0" bIns="0" rtlCol="0"/>
              <a:lstStyle/>
              <a:p>
                <a:endParaRPr/>
              </a:p>
            </p:txBody>
          </p:sp>
        </p:grpSp>
        <p:grpSp>
          <p:nvGrpSpPr>
            <p:cNvPr id="26" name="Group 25">
              <a:extLst>
                <a:ext uri="{FF2B5EF4-FFF2-40B4-BE49-F238E27FC236}">
                  <a16:creationId xmlns:a16="http://schemas.microsoft.com/office/drawing/2014/main" id="{C4B086C9-C8A0-A273-14A5-59D9A97B0404}"/>
                </a:ext>
              </a:extLst>
            </p:cNvPr>
            <p:cNvGrpSpPr/>
            <p:nvPr/>
          </p:nvGrpSpPr>
          <p:grpSpPr>
            <a:xfrm>
              <a:off x="434970" y="2419637"/>
              <a:ext cx="10309230" cy="856963"/>
              <a:chOff x="434970" y="2419637"/>
              <a:chExt cx="10309230" cy="856963"/>
            </a:xfrm>
          </p:grpSpPr>
          <p:grpSp>
            <p:nvGrpSpPr>
              <p:cNvPr id="27" name="object 4">
                <a:extLst>
                  <a:ext uri="{FF2B5EF4-FFF2-40B4-BE49-F238E27FC236}">
                    <a16:creationId xmlns:a16="http://schemas.microsoft.com/office/drawing/2014/main" id="{C5D2C359-6D71-CFC7-81B0-8E6DA8536D15}"/>
                  </a:ext>
                </a:extLst>
              </p:cNvPr>
              <p:cNvGrpSpPr/>
              <p:nvPr/>
            </p:nvGrpSpPr>
            <p:grpSpPr>
              <a:xfrm>
                <a:off x="649112" y="2419637"/>
                <a:ext cx="2482850" cy="218440"/>
                <a:chOff x="649112" y="2419637"/>
                <a:chExt cx="2482850" cy="218440"/>
              </a:xfrm>
            </p:grpSpPr>
            <p:sp>
              <p:nvSpPr>
                <p:cNvPr id="38" name="object 5">
                  <a:extLst>
                    <a:ext uri="{FF2B5EF4-FFF2-40B4-BE49-F238E27FC236}">
                      <a16:creationId xmlns:a16="http://schemas.microsoft.com/office/drawing/2014/main" id="{494DDAD3-00E5-AB73-CE6E-8A5B8FCD7391}"/>
                    </a:ext>
                  </a:extLst>
                </p:cNvPr>
                <p:cNvSpPr/>
                <p:nvPr/>
              </p:nvSpPr>
              <p:spPr>
                <a:xfrm>
                  <a:off x="653875" y="2424400"/>
                  <a:ext cx="2473325" cy="208915"/>
                </a:xfrm>
                <a:custGeom>
                  <a:avLst/>
                  <a:gdLst/>
                  <a:ahLst/>
                  <a:cxnLst/>
                  <a:rect l="l" t="t" r="r" b="b"/>
                  <a:pathLst>
                    <a:path w="2473325" h="208914">
                      <a:moveTo>
                        <a:pt x="52199" y="208799"/>
                      </a:moveTo>
                      <a:lnTo>
                        <a:pt x="0" y="208799"/>
                      </a:lnTo>
                      <a:lnTo>
                        <a:pt x="0" y="91349"/>
                      </a:lnTo>
                      <a:lnTo>
                        <a:pt x="26755" y="26755"/>
                      </a:lnTo>
                      <a:lnTo>
                        <a:pt x="91349" y="0"/>
                      </a:lnTo>
                      <a:lnTo>
                        <a:pt x="2355749" y="0"/>
                      </a:lnTo>
                      <a:lnTo>
                        <a:pt x="2406430" y="15347"/>
                      </a:lnTo>
                      <a:lnTo>
                        <a:pt x="2437908" y="52199"/>
                      </a:lnTo>
                      <a:lnTo>
                        <a:pt x="91349" y="52199"/>
                      </a:lnTo>
                      <a:lnTo>
                        <a:pt x="76111" y="55276"/>
                      </a:lnTo>
                      <a:lnTo>
                        <a:pt x="63666" y="63666"/>
                      </a:lnTo>
                      <a:lnTo>
                        <a:pt x="55276" y="76111"/>
                      </a:lnTo>
                      <a:lnTo>
                        <a:pt x="52199" y="91349"/>
                      </a:lnTo>
                      <a:lnTo>
                        <a:pt x="52199" y="208799"/>
                      </a:lnTo>
                      <a:close/>
                    </a:path>
                    <a:path w="2473325" h="208914">
                      <a:moveTo>
                        <a:pt x="2447099" y="104399"/>
                      </a:moveTo>
                      <a:lnTo>
                        <a:pt x="2394899" y="104399"/>
                      </a:lnTo>
                      <a:lnTo>
                        <a:pt x="2394899" y="91349"/>
                      </a:lnTo>
                      <a:lnTo>
                        <a:pt x="2391823" y="76111"/>
                      </a:lnTo>
                      <a:lnTo>
                        <a:pt x="2383433" y="63666"/>
                      </a:lnTo>
                      <a:lnTo>
                        <a:pt x="2370988" y="55276"/>
                      </a:lnTo>
                      <a:lnTo>
                        <a:pt x="2355749" y="52199"/>
                      </a:lnTo>
                      <a:lnTo>
                        <a:pt x="2437908" y="52199"/>
                      </a:lnTo>
                      <a:lnTo>
                        <a:pt x="2440146" y="56391"/>
                      </a:lnTo>
                      <a:lnTo>
                        <a:pt x="2445328" y="73445"/>
                      </a:lnTo>
                      <a:lnTo>
                        <a:pt x="2447099" y="91349"/>
                      </a:lnTo>
                      <a:lnTo>
                        <a:pt x="2447099" y="104399"/>
                      </a:lnTo>
                      <a:close/>
                    </a:path>
                    <a:path w="2473325" h="208914">
                      <a:moveTo>
                        <a:pt x="2420999" y="156599"/>
                      </a:moveTo>
                      <a:lnTo>
                        <a:pt x="2368799" y="104399"/>
                      </a:lnTo>
                      <a:lnTo>
                        <a:pt x="2473199" y="104399"/>
                      </a:lnTo>
                      <a:lnTo>
                        <a:pt x="2420999" y="156599"/>
                      </a:lnTo>
                      <a:close/>
                    </a:path>
                  </a:pathLst>
                </a:custGeom>
                <a:solidFill>
                  <a:srgbClr val="BEC0C1"/>
                </a:solidFill>
              </p:spPr>
              <p:txBody>
                <a:bodyPr wrap="square" lIns="0" tIns="0" rIns="0" bIns="0" rtlCol="0"/>
                <a:lstStyle/>
                <a:p>
                  <a:endParaRPr/>
                </a:p>
              </p:txBody>
            </p:sp>
            <p:sp>
              <p:nvSpPr>
                <p:cNvPr id="39" name="object 6">
                  <a:extLst>
                    <a:ext uri="{FF2B5EF4-FFF2-40B4-BE49-F238E27FC236}">
                      <a16:creationId xmlns:a16="http://schemas.microsoft.com/office/drawing/2014/main" id="{9FA3C4B5-C416-410D-FB2F-4D2A578AC109}"/>
                    </a:ext>
                  </a:extLst>
                </p:cNvPr>
                <p:cNvSpPr/>
                <p:nvPr/>
              </p:nvSpPr>
              <p:spPr>
                <a:xfrm>
                  <a:off x="653875" y="2424400"/>
                  <a:ext cx="2473325" cy="208915"/>
                </a:xfrm>
                <a:custGeom>
                  <a:avLst/>
                  <a:gdLst/>
                  <a:ahLst/>
                  <a:cxnLst/>
                  <a:rect l="l" t="t" r="r" b="b"/>
                  <a:pathLst>
                    <a:path w="2473325" h="208914">
                      <a:moveTo>
                        <a:pt x="0" y="208799"/>
                      </a:moveTo>
                      <a:lnTo>
                        <a:pt x="0" y="91349"/>
                      </a:lnTo>
                      <a:lnTo>
                        <a:pt x="7178" y="55792"/>
                      </a:lnTo>
                      <a:lnTo>
                        <a:pt x="26755" y="26755"/>
                      </a:lnTo>
                      <a:lnTo>
                        <a:pt x="55792" y="7178"/>
                      </a:lnTo>
                      <a:lnTo>
                        <a:pt x="91349" y="0"/>
                      </a:lnTo>
                      <a:lnTo>
                        <a:pt x="2355749" y="0"/>
                      </a:lnTo>
                      <a:lnTo>
                        <a:pt x="2406430" y="15347"/>
                      </a:lnTo>
                      <a:lnTo>
                        <a:pt x="2440146" y="56391"/>
                      </a:lnTo>
                      <a:lnTo>
                        <a:pt x="2447099" y="91349"/>
                      </a:lnTo>
                      <a:lnTo>
                        <a:pt x="2447099" y="104399"/>
                      </a:lnTo>
                      <a:lnTo>
                        <a:pt x="2473199" y="104399"/>
                      </a:lnTo>
                      <a:lnTo>
                        <a:pt x="2420999" y="156599"/>
                      </a:lnTo>
                      <a:lnTo>
                        <a:pt x="2368799" y="104399"/>
                      </a:lnTo>
                      <a:lnTo>
                        <a:pt x="2394899" y="104399"/>
                      </a:lnTo>
                      <a:lnTo>
                        <a:pt x="2394899" y="91349"/>
                      </a:lnTo>
                      <a:lnTo>
                        <a:pt x="2391823" y="76111"/>
                      </a:lnTo>
                      <a:lnTo>
                        <a:pt x="2383433" y="63666"/>
                      </a:lnTo>
                      <a:lnTo>
                        <a:pt x="2370988" y="55276"/>
                      </a:lnTo>
                      <a:lnTo>
                        <a:pt x="2355749" y="52199"/>
                      </a:lnTo>
                      <a:lnTo>
                        <a:pt x="91349" y="52199"/>
                      </a:lnTo>
                      <a:lnTo>
                        <a:pt x="76111" y="55276"/>
                      </a:lnTo>
                      <a:lnTo>
                        <a:pt x="63666" y="63666"/>
                      </a:lnTo>
                      <a:lnTo>
                        <a:pt x="55276" y="76111"/>
                      </a:lnTo>
                      <a:lnTo>
                        <a:pt x="52199" y="91349"/>
                      </a:lnTo>
                      <a:lnTo>
                        <a:pt x="52199" y="208799"/>
                      </a:lnTo>
                      <a:lnTo>
                        <a:pt x="0" y="208799"/>
                      </a:lnTo>
                      <a:close/>
                    </a:path>
                  </a:pathLst>
                </a:custGeom>
                <a:ln w="9524">
                  <a:solidFill>
                    <a:srgbClr val="0F2044"/>
                  </a:solidFill>
                </a:ln>
              </p:spPr>
              <p:txBody>
                <a:bodyPr wrap="square" lIns="0" tIns="0" rIns="0" bIns="0" rtlCol="0"/>
                <a:lstStyle/>
                <a:p>
                  <a:endParaRPr/>
                </a:p>
              </p:txBody>
            </p:sp>
          </p:grpSp>
          <p:grpSp>
            <p:nvGrpSpPr>
              <p:cNvPr id="28" name="object 7">
                <a:extLst>
                  <a:ext uri="{FF2B5EF4-FFF2-40B4-BE49-F238E27FC236}">
                    <a16:creationId xmlns:a16="http://schemas.microsoft.com/office/drawing/2014/main" id="{77A6A8E9-4FF1-7BE6-8E27-3DB31091E731}"/>
                  </a:ext>
                </a:extLst>
              </p:cNvPr>
              <p:cNvGrpSpPr/>
              <p:nvPr/>
            </p:nvGrpSpPr>
            <p:grpSpPr>
              <a:xfrm>
                <a:off x="3182762" y="2419637"/>
                <a:ext cx="2347595" cy="218440"/>
                <a:chOff x="3182762" y="2419637"/>
                <a:chExt cx="2347595" cy="218440"/>
              </a:xfrm>
            </p:grpSpPr>
            <p:sp>
              <p:nvSpPr>
                <p:cNvPr id="36" name="object 8">
                  <a:extLst>
                    <a:ext uri="{FF2B5EF4-FFF2-40B4-BE49-F238E27FC236}">
                      <a16:creationId xmlns:a16="http://schemas.microsoft.com/office/drawing/2014/main" id="{32D47C94-B1CD-AD72-1A13-7CD499AD077B}"/>
                    </a:ext>
                  </a:extLst>
                </p:cNvPr>
                <p:cNvSpPr/>
                <p:nvPr/>
              </p:nvSpPr>
              <p:spPr>
                <a:xfrm>
                  <a:off x="3187524" y="2424400"/>
                  <a:ext cx="2338070" cy="208915"/>
                </a:xfrm>
                <a:custGeom>
                  <a:avLst/>
                  <a:gdLst/>
                  <a:ahLst/>
                  <a:cxnLst/>
                  <a:rect l="l" t="t" r="r" b="b"/>
                  <a:pathLst>
                    <a:path w="2338070" h="208914">
                      <a:moveTo>
                        <a:pt x="52199" y="208799"/>
                      </a:moveTo>
                      <a:lnTo>
                        <a:pt x="0" y="208799"/>
                      </a:lnTo>
                      <a:lnTo>
                        <a:pt x="0" y="91349"/>
                      </a:lnTo>
                      <a:lnTo>
                        <a:pt x="7057" y="56391"/>
                      </a:lnTo>
                      <a:lnTo>
                        <a:pt x="7178" y="55792"/>
                      </a:lnTo>
                      <a:lnTo>
                        <a:pt x="26755" y="26755"/>
                      </a:lnTo>
                      <a:lnTo>
                        <a:pt x="55792" y="7178"/>
                      </a:lnTo>
                      <a:lnTo>
                        <a:pt x="91349" y="0"/>
                      </a:lnTo>
                      <a:lnTo>
                        <a:pt x="2220149" y="0"/>
                      </a:lnTo>
                      <a:lnTo>
                        <a:pt x="2270831" y="15347"/>
                      </a:lnTo>
                      <a:lnTo>
                        <a:pt x="2302308" y="52199"/>
                      </a:lnTo>
                      <a:lnTo>
                        <a:pt x="91349" y="52199"/>
                      </a:lnTo>
                      <a:lnTo>
                        <a:pt x="76111" y="55276"/>
                      </a:lnTo>
                      <a:lnTo>
                        <a:pt x="63666" y="63666"/>
                      </a:lnTo>
                      <a:lnTo>
                        <a:pt x="55276" y="76111"/>
                      </a:lnTo>
                      <a:lnTo>
                        <a:pt x="52199" y="91349"/>
                      </a:lnTo>
                      <a:lnTo>
                        <a:pt x="52199" y="208799"/>
                      </a:lnTo>
                      <a:close/>
                    </a:path>
                    <a:path w="2338070" h="208914">
                      <a:moveTo>
                        <a:pt x="2311499" y="104399"/>
                      </a:moveTo>
                      <a:lnTo>
                        <a:pt x="2259299" y="104399"/>
                      </a:lnTo>
                      <a:lnTo>
                        <a:pt x="2259299" y="91349"/>
                      </a:lnTo>
                      <a:lnTo>
                        <a:pt x="2256223" y="76111"/>
                      </a:lnTo>
                      <a:lnTo>
                        <a:pt x="2247833" y="63666"/>
                      </a:lnTo>
                      <a:lnTo>
                        <a:pt x="2235388" y="55276"/>
                      </a:lnTo>
                      <a:lnTo>
                        <a:pt x="2220149" y="52199"/>
                      </a:lnTo>
                      <a:lnTo>
                        <a:pt x="2302308" y="52199"/>
                      </a:lnTo>
                      <a:lnTo>
                        <a:pt x="2304546" y="56391"/>
                      </a:lnTo>
                      <a:lnTo>
                        <a:pt x="2309728" y="73445"/>
                      </a:lnTo>
                      <a:lnTo>
                        <a:pt x="2311499" y="91349"/>
                      </a:lnTo>
                      <a:lnTo>
                        <a:pt x="2311499" y="104399"/>
                      </a:lnTo>
                      <a:close/>
                    </a:path>
                    <a:path w="2338070" h="208914">
                      <a:moveTo>
                        <a:pt x="2285399" y="156599"/>
                      </a:moveTo>
                      <a:lnTo>
                        <a:pt x="2233199" y="104399"/>
                      </a:lnTo>
                      <a:lnTo>
                        <a:pt x="2337599" y="104399"/>
                      </a:lnTo>
                      <a:lnTo>
                        <a:pt x="2285399" y="156599"/>
                      </a:lnTo>
                      <a:close/>
                    </a:path>
                  </a:pathLst>
                </a:custGeom>
                <a:solidFill>
                  <a:srgbClr val="BEC0C1"/>
                </a:solidFill>
              </p:spPr>
              <p:txBody>
                <a:bodyPr wrap="square" lIns="0" tIns="0" rIns="0" bIns="0" rtlCol="0"/>
                <a:lstStyle/>
                <a:p>
                  <a:endParaRPr/>
                </a:p>
              </p:txBody>
            </p:sp>
            <p:sp>
              <p:nvSpPr>
                <p:cNvPr id="37" name="object 9">
                  <a:extLst>
                    <a:ext uri="{FF2B5EF4-FFF2-40B4-BE49-F238E27FC236}">
                      <a16:creationId xmlns:a16="http://schemas.microsoft.com/office/drawing/2014/main" id="{3797125C-99D5-3D5A-4472-44DF922613C4}"/>
                    </a:ext>
                  </a:extLst>
                </p:cNvPr>
                <p:cNvSpPr/>
                <p:nvPr/>
              </p:nvSpPr>
              <p:spPr>
                <a:xfrm>
                  <a:off x="3187525" y="2424400"/>
                  <a:ext cx="2338070" cy="208915"/>
                </a:xfrm>
                <a:custGeom>
                  <a:avLst/>
                  <a:gdLst/>
                  <a:ahLst/>
                  <a:cxnLst/>
                  <a:rect l="l" t="t" r="r" b="b"/>
                  <a:pathLst>
                    <a:path w="2338070" h="208914">
                      <a:moveTo>
                        <a:pt x="0" y="208799"/>
                      </a:moveTo>
                      <a:lnTo>
                        <a:pt x="0" y="91349"/>
                      </a:lnTo>
                      <a:lnTo>
                        <a:pt x="7178" y="55792"/>
                      </a:lnTo>
                      <a:lnTo>
                        <a:pt x="26755" y="26755"/>
                      </a:lnTo>
                      <a:lnTo>
                        <a:pt x="55792" y="7178"/>
                      </a:lnTo>
                      <a:lnTo>
                        <a:pt x="91349" y="0"/>
                      </a:lnTo>
                      <a:lnTo>
                        <a:pt x="2220149" y="0"/>
                      </a:lnTo>
                      <a:lnTo>
                        <a:pt x="2270831" y="15347"/>
                      </a:lnTo>
                      <a:lnTo>
                        <a:pt x="2304546" y="56391"/>
                      </a:lnTo>
                      <a:lnTo>
                        <a:pt x="2311499" y="91349"/>
                      </a:lnTo>
                      <a:lnTo>
                        <a:pt x="2311499" y="104399"/>
                      </a:lnTo>
                      <a:lnTo>
                        <a:pt x="2337599" y="104399"/>
                      </a:lnTo>
                      <a:lnTo>
                        <a:pt x="2285399" y="156599"/>
                      </a:lnTo>
                      <a:lnTo>
                        <a:pt x="2233199" y="104399"/>
                      </a:lnTo>
                      <a:lnTo>
                        <a:pt x="2259299" y="104399"/>
                      </a:lnTo>
                      <a:lnTo>
                        <a:pt x="2259299" y="91349"/>
                      </a:lnTo>
                      <a:lnTo>
                        <a:pt x="2256223" y="76111"/>
                      </a:lnTo>
                      <a:lnTo>
                        <a:pt x="2247833" y="63666"/>
                      </a:lnTo>
                      <a:lnTo>
                        <a:pt x="2235388" y="55276"/>
                      </a:lnTo>
                      <a:lnTo>
                        <a:pt x="2220149" y="52199"/>
                      </a:lnTo>
                      <a:lnTo>
                        <a:pt x="91349" y="52199"/>
                      </a:lnTo>
                      <a:lnTo>
                        <a:pt x="76111" y="55276"/>
                      </a:lnTo>
                      <a:lnTo>
                        <a:pt x="63666" y="63666"/>
                      </a:lnTo>
                      <a:lnTo>
                        <a:pt x="55276" y="76111"/>
                      </a:lnTo>
                      <a:lnTo>
                        <a:pt x="52199" y="91349"/>
                      </a:lnTo>
                      <a:lnTo>
                        <a:pt x="52199" y="208799"/>
                      </a:lnTo>
                      <a:lnTo>
                        <a:pt x="0" y="208799"/>
                      </a:lnTo>
                      <a:close/>
                    </a:path>
                  </a:pathLst>
                </a:custGeom>
                <a:ln w="9524">
                  <a:solidFill>
                    <a:srgbClr val="0F2044"/>
                  </a:solidFill>
                </a:ln>
              </p:spPr>
              <p:txBody>
                <a:bodyPr wrap="square" lIns="0" tIns="0" rIns="0" bIns="0" rtlCol="0"/>
                <a:lstStyle/>
                <a:p>
                  <a:endParaRPr/>
                </a:p>
              </p:txBody>
            </p:sp>
          </p:grpSp>
          <p:grpSp>
            <p:nvGrpSpPr>
              <p:cNvPr id="29" name="object 10">
                <a:extLst>
                  <a:ext uri="{FF2B5EF4-FFF2-40B4-BE49-F238E27FC236}">
                    <a16:creationId xmlns:a16="http://schemas.microsoft.com/office/drawing/2014/main" id="{DC6C5791-11BD-9A01-D634-6E5A3ACA134F}"/>
                  </a:ext>
                </a:extLst>
              </p:cNvPr>
              <p:cNvGrpSpPr/>
              <p:nvPr/>
            </p:nvGrpSpPr>
            <p:grpSpPr>
              <a:xfrm>
                <a:off x="5655962" y="2419637"/>
                <a:ext cx="3558540" cy="218440"/>
                <a:chOff x="5655962" y="2419637"/>
                <a:chExt cx="3558540" cy="218440"/>
              </a:xfrm>
            </p:grpSpPr>
            <p:sp>
              <p:nvSpPr>
                <p:cNvPr id="34" name="object 11">
                  <a:extLst>
                    <a:ext uri="{FF2B5EF4-FFF2-40B4-BE49-F238E27FC236}">
                      <a16:creationId xmlns:a16="http://schemas.microsoft.com/office/drawing/2014/main" id="{56015189-1B68-AD4A-99E3-0B9B54F03363}"/>
                    </a:ext>
                  </a:extLst>
                </p:cNvPr>
                <p:cNvSpPr/>
                <p:nvPr/>
              </p:nvSpPr>
              <p:spPr>
                <a:xfrm>
                  <a:off x="5660724" y="2424400"/>
                  <a:ext cx="3549015" cy="208915"/>
                </a:xfrm>
                <a:custGeom>
                  <a:avLst/>
                  <a:gdLst/>
                  <a:ahLst/>
                  <a:cxnLst/>
                  <a:rect l="l" t="t" r="r" b="b"/>
                  <a:pathLst>
                    <a:path w="3549015" h="208914">
                      <a:moveTo>
                        <a:pt x="52199" y="208799"/>
                      </a:moveTo>
                      <a:lnTo>
                        <a:pt x="0" y="208799"/>
                      </a:lnTo>
                      <a:lnTo>
                        <a:pt x="0" y="91349"/>
                      </a:lnTo>
                      <a:lnTo>
                        <a:pt x="7057" y="56391"/>
                      </a:lnTo>
                      <a:lnTo>
                        <a:pt x="7178" y="55792"/>
                      </a:lnTo>
                      <a:lnTo>
                        <a:pt x="26755" y="26755"/>
                      </a:lnTo>
                      <a:lnTo>
                        <a:pt x="55792" y="7178"/>
                      </a:lnTo>
                      <a:lnTo>
                        <a:pt x="91349" y="0"/>
                      </a:lnTo>
                      <a:lnTo>
                        <a:pt x="3431549" y="0"/>
                      </a:lnTo>
                      <a:lnTo>
                        <a:pt x="3482231" y="15347"/>
                      </a:lnTo>
                      <a:lnTo>
                        <a:pt x="3513708" y="52199"/>
                      </a:lnTo>
                      <a:lnTo>
                        <a:pt x="91349" y="52199"/>
                      </a:lnTo>
                      <a:lnTo>
                        <a:pt x="76111" y="55276"/>
                      </a:lnTo>
                      <a:lnTo>
                        <a:pt x="63666" y="63666"/>
                      </a:lnTo>
                      <a:lnTo>
                        <a:pt x="55276" y="76111"/>
                      </a:lnTo>
                      <a:lnTo>
                        <a:pt x="52199" y="91349"/>
                      </a:lnTo>
                      <a:lnTo>
                        <a:pt x="52199" y="208799"/>
                      </a:lnTo>
                      <a:close/>
                    </a:path>
                    <a:path w="3549015" h="208914">
                      <a:moveTo>
                        <a:pt x="3522899" y="104399"/>
                      </a:moveTo>
                      <a:lnTo>
                        <a:pt x="3470699" y="104399"/>
                      </a:lnTo>
                      <a:lnTo>
                        <a:pt x="3470699" y="91349"/>
                      </a:lnTo>
                      <a:lnTo>
                        <a:pt x="3467623" y="76111"/>
                      </a:lnTo>
                      <a:lnTo>
                        <a:pt x="3459233" y="63666"/>
                      </a:lnTo>
                      <a:lnTo>
                        <a:pt x="3446788" y="55276"/>
                      </a:lnTo>
                      <a:lnTo>
                        <a:pt x="3431549" y="52199"/>
                      </a:lnTo>
                      <a:lnTo>
                        <a:pt x="3513708" y="52199"/>
                      </a:lnTo>
                      <a:lnTo>
                        <a:pt x="3515946" y="56391"/>
                      </a:lnTo>
                      <a:lnTo>
                        <a:pt x="3521128" y="73445"/>
                      </a:lnTo>
                      <a:lnTo>
                        <a:pt x="3522899" y="91349"/>
                      </a:lnTo>
                      <a:lnTo>
                        <a:pt x="3522899" y="104399"/>
                      </a:lnTo>
                      <a:close/>
                    </a:path>
                    <a:path w="3549015" h="208914">
                      <a:moveTo>
                        <a:pt x="3496799" y="156599"/>
                      </a:moveTo>
                      <a:lnTo>
                        <a:pt x="3444599" y="104399"/>
                      </a:lnTo>
                      <a:lnTo>
                        <a:pt x="3548999" y="104399"/>
                      </a:lnTo>
                      <a:lnTo>
                        <a:pt x="3496799" y="156599"/>
                      </a:lnTo>
                      <a:close/>
                    </a:path>
                  </a:pathLst>
                </a:custGeom>
                <a:solidFill>
                  <a:srgbClr val="BEC0C1"/>
                </a:solidFill>
              </p:spPr>
              <p:txBody>
                <a:bodyPr wrap="square" lIns="0" tIns="0" rIns="0" bIns="0" rtlCol="0"/>
                <a:lstStyle/>
                <a:p>
                  <a:endParaRPr/>
                </a:p>
              </p:txBody>
            </p:sp>
            <p:sp>
              <p:nvSpPr>
                <p:cNvPr id="35" name="object 12">
                  <a:extLst>
                    <a:ext uri="{FF2B5EF4-FFF2-40B4-BE49-F238E27FC236}">
                      <a16:creationId xmlns:a16="http://schemas.microsoft.com/office/drawing/2014/main" id="{39C7AFAC-4E5D-52A8-496B-AA863B90D8CE}"/>
                    </a:ext>
                  </a:extLst>
                </p:cNvPr>
                <p:cNvSpPr/>
                <p:nvPr/>
              </p:nvSpPr>
              <p:spPr>
                <a:xfrm>
                  <a:off x="5660725" y="2424400"/>
                  <a:ext cx="3549015" cy="208915"/>
                </a:xfrm>
                <a:custGeom>
                  <a:avLst/>
                  <a:gdLst/>
                  <a:ahLst/>
                  <a:cxnLst/>
                  <a:rect l="l" t="t" r="r" b="b"/>
                  <a:pathLst>
                    <a:path w="3549015" h="208914">
                      <a:moveTo>
                        <a:pt x="0" y="208799"/>
                      </a:moveTo>
                      <a:lnTo>
                        <a:pt x="0" y="91349"/>
                      </a:lnTo>
                      <a:lnTo>
                        <a:pt x="7178" y="55792"/>
                      </a:lnTo>
                      <a:lnTo>
                        <a:pt x="26755" y="26755"/>
                      </a:lnTo>
                      <a:lnTo>
                        <a:pt x="55792" y="7178"/>
                      </a:lnTo>
                      <a:lnTo>
                        <a:pt x="91349" y="0"/>
                      </a:lnTo>
                      <a:lnTo>
                        <a:pt x="3431549" y="0"/>
                      </a:lnTo>
                      <a:lnTo>
                        <a:pt x="3482231" y="15347"/>
                      </a:lnTo>
                      <a:lnTo>
                        <a:pt x="3515946" y="56391"/>
                      </a:lnTo>
                      <a:lnTo>
                        <a:pt x="3522899" y="91349"/>
                      </a:lnTo>
                      <a:lnTo>
                        <a:pt x="3522899" y="104399"/>
                      </a:lnTo>
                      <a:lnTo>
                        <a:pt x="3548999" y="104399"/>
                      </a:lnTo>
                      <a:lnTo>
                        <a:pt x="3496799" y="156599"/>
                      </a:lnTo>
                      <a:lnTo>
                        <a:pt x="3444599" y="104399"/>
                      </a:lnTo>
                      <a:lnTo>
                        <a:pt x="3470699" y="104399"/>
                      </a:lnTo>
                      <a:lnTo>
                        <a:pt x="3470699" y="91349"/>
                      </a:lnTo>
                      <a:lnTo>
                        <a:pt x="3467623" y="76111"/>
                      </a:lnTo>
                      <a:lnTo>
                        <a:pt x="3459233" y="63666"/>
                      </a:lnTo>
                      <a:lnTo>
                        <a:pt x="3446788" y="55276"/>
                      </a:lnTo>
                      <a:lnTo>
                        <a:pt x="3431549" y="52199"/>
                      </a:lnTo>
                      <a:lnTo>
                        <a:pt x="91349" y="52199"/>
                      </a:lnTo>
                      <a:lnTo>
                        <a:pt x="76111" y="55276"/>
                      </a:lnTo>
                      <a:lnTo>
                        <a:pt x="63666" y="63666"/>
                      </a:lnTo>
                      <a:lnTo>
                        <a:pt x="55276" y="76111"/>
                      </a:lnTo>
                      <a:lnTo>
                        <a:pt x="52199" y="91349"/>
                      </a:lnTo>
                      <a:lnTo>
                        <a:pt x="52199" y="208799"/>
                      </a:lnTo>
                      <a:lnTo>
                        <a:pt x="0" y="208799"/>
                      </a:lnTo>
                      <a:close/>
                    </a:path>
                  </a:pathLst>
                </a:custGeom>
                <a:ln w="9524">
                  <a:solidFill>
                    <a:srgbClr val="0F2044"/>
                  </a:solidFill>
                </a:ln>
              </p:spPr>
              <p:txBody>
                <a:bodyPr wrap="square" lIns="0" tIns="0" rIns="0" bIns="0" rtlCol="0"/>
                <a:lstStyle/>
                <a:p>
                  <a:endParaRPr/>
                </a:p>
              </p:txBody>
            </p:sp>
          </p:grpSp>
          <p:grpSp>
            <p:nvGrpSpPr>
              <p:cNvPr id="30" name="object 13">
                <a:extLst>
                  <a:ext uri="{FF2B5EF4-FFF2-40B4-BE49-F238E27FC236}">
                    <a16:creationId xmlns:a16="http://schemas.microsoft.com/office/drawing/2014/main" id="{B4A35546-1A3F-BF50-9983-2FB424108330}"/>
                  </a:ext>
                </a:extLst>
              </p:cNvPr>
              <p:cNvGrpSpPr/>
              <p:nvPr/>
            </p:nvGrpSpPr>
            <p:grpSpPr>
              <a:xfrm>
                <a:off x="9296887" y="2419637"/>
                <a:ext cx="1221105" cy="218440"/>
                <a:chOff x="9296887" y="2419637"/>
                <a:chExt cx="1221105" cy="218440"/>
              </a:xfrm>
            </p:grpSpPr>
            <p:sp>
              <p:nvSpPr>
                <p:cNvPr id="32" name="object 14">
                  <a:extLst>
                    <a:ext uri="{FF2B5EF4-FFF2-40B4-BE49-F238E27FC236}">
                      <a16:creationId xmlns:a16="http://schemas.microsoft.com/office/drawing/2014/main" id="{BB928EC6-2E59-5E11-B27D-BF73AD3B2EDE}"/>
                    </a:ext>
                  </a:extLst>
                </p:cNvPr>
                <p:cNvSpPr/>
                <p:nvPr/>
              </p:nvSpPr>
              <p:spPr>
                <a:xfrm>
                  <a:off x="9301650" y="2424400"/>
                  <a:ext cx="1211580" cy="208915"/>
                </a:xfrm>
                <a:custGeom>
                  <a:avLst/>
                  <a:gdLst/>
                  <a:ahLst/>
                  <a:cxnLst/>
                  <a:rect l="l" t="t" r="r" b="b"/>
                  <a:pathLst>
                    <a:path w="1211579" h="208914">
                      <a:moveTo>
                        <a:pt x="52199" y="208799"/>
                      </a:moveTo>
                      <a:lnTo>
                        <a:pt x="0" y="208799"/>
                      </a:lnTo>
                      <a:lnTo>
                        <a:pt x="0" y="91349"/>
                      </a:lnTo>
                      <a:lnTo>
                        <a:pt x="26755" y="26755"/>
                      </a:lnTo>
                      <a:lnTo>
                        <a:pt x="91349" y="0"/>
                      </a:lnTo>
                      <a:lnTo>
                        <a:pt x="1093949" y="0"/>
                      </a:lnTo>
                      <a:lnTo>
                        <a:pt x="1144631" y="15347"/>
                      </a:lnTo>
                      <a:lnTo>
                        <a:pt x="1176108" y="52199"/>
                      </a:lnTo>
                      <a:lnTo>
                        <a:pt x="91349" y="52199"/>
                      </a:lnTo>
                      <a:lnTo>
                        <a:pt x="76111" y="55276"/>
                      </a:lnTo>
                      <a:lnTo>
                        <a:pt x="63666" y="63666"/>
                      </a:lnTo>
                      <a:lnTo>
                        <a:pt x="55276" y="76111"/>
                      </a:lnTo>
                      <a:lnTo>
                        <a:pt x="52199" y="91349"/>
                      </a:lnTo>
                      <a:lnTo>
                        <a:pt x="52199" y="208799"/>
                      </a:lnTo>
                      <a:close/>
                    </a:path>
                    <a:path w="1211579" h="208914">
                      <a:moveTo>
                        <a:pt x="1185299" y="104399"/>
                      </a:moveTo>
                      <a:lnTo>
                        <a:pt x="1133099" y="104399"/>
                      </a:lnTo>
                      <a:lnTo>
                        <a:pt x="1133099" y="91349"/>
                      </a:lnTo>
                      <a:lnTo>
                        <a:pt x="1130023" y="76111"/>
                      </a:lnTo>
                      <a:lnTo>
                        <a:pt x="1121633" y="63666"/>
                      </a:lnTo>
                      <a:lnTo>
                        <a:pt x="1109188" y="55276"/>
                      </a:lnTo>
                      <a:lnTo>
                        <a:pt x="1093949" y="52199"/>
                      </a:lnTo>
                      <a:lnTo>
                        <a:pt x="1176108" y="52199"/>
                      </a:lnTo>
                      <a:lnTo>
                        <a:pt x="1178346" y="56391"/>
                      </a:lnTo>
                      <a:lnTo>
                        <a:pt x="1183528" y="73445"/>
                      </a:lnTo>
                      <a:lnTo>
                        <a:pt x="1185299" y="91349"/>
                      </a:lnTo>
                      <a:lnTo>
                        <a:pt x="1185299" y="104399"/>
                      </a:lnTo>
                      <a:close/>
                    </a:path>
                    <a:path w="1211579" h="208914">
                      <a:moveTo>
                        <a:pt x="1159199" y="156599"/>
                      </a:moveTo>
                      <a:lnTo>
                        <a:pt x="1106999" y="104399"/>
                      </a:lnTo>
                      <a:lnTo>
                        <a:pt x="1211399" y="104399"/>
                      </a:lnTo>
                      <a:lnTo>
                        <a:pt x="1159199" y="156599"/>
                      </a:lnTo>
                      <a:close/>
                    </a:path>
                  </a:pathLst>
                </a:custGeom>
                <a:solidFill>
                  <a:srgbClr val="BEC0C1"/>
                </a:solidFill>
              </p:spPr>
              <p:txBody>
                <a:bodyPr wrap="square" lIns="0" tIns="0" rIns="0" bIns="0" rtlCol="0"/>
                <a:lstStyle/>
                <a:p>
                  <a:endParaRPr/>
                </a:p>
              </p:txBody>
            </p:sp>
            <p:sp>
              <p:nvSpPr>
                <p:cNvPr id="33" name="object 15">
                  <a:extLst>
                    <a:ext uri="{FF2B5EF4-FFF2-40B4-BE49-F238E27FC236}">
                      <a16:creationId xmlns:a16="http://schemas.microsoft.com/office/drawing/2014/main" id="{B261496E-B5CA-6CCB-01ED-DDECF18E2CFA}"/>
                    </a:ext>
                  </a:extLst>
                </p:cNvPr>
                <p:cNvSpPr/>
                <p:nvPr/>
              </p:nvSpPr>
              <p:spPr>
                <a:xfrm>
                  <a:off x="9301650" y="2424400"/>
                  <a:ext cx="1211580" cy="208915"/>
                </a:xfrm>
                <a:custGeom>
                  <a:avLst/>
                  <a:gdLst/>
                  <a:ahLst/>
                  <a:cxnLst/>
                  <a:rect l="l" t="t" r="r" b="b"/>
                  <a:pathLst>
                    <a:path w="1211579" h="208914">
                      <a:moveTo>
                        <a:pt x="0" y="208799"/>
                      </a:moveTo>
                      <a:lnTo>
                        <a:pt x="0" y="91349"/>
                      </a:lnTo>
                      <a:lnTo>
                        <a:pt x="7178" y="55792"/>
                      </a:lnTo>
                      <a:lnTo>
                        <a:pt x="26755" y="26755"/>
                      </a:lnTo>
                      <a:lnTo>
                        <a:pt x="55792" y="7178"/>
                      </a:lnTo>
                      <a:lnTo>
                        <a:pt x="91349" y="0"/>
                      </a:lnTo>
                      <a:lnTo>
                        <a:pt x="1093949" y="0"/>
                      </a:lnTo>
                      <a:lnTo>
                        <a:pt x="1144631" y="15347"/>
                      </a:lnTo>
                      <a:lnTo>
                        <a:pt x="1178346" y="56391"/>
                      </a:lnTo>
                      <a:lnTo>
                        <a:pt x="1185299" y="91349"/>
                      </a:lnTo>
                      <a:lnTo>
                        <a:pt x="1185299" y="104399"/>
                      </a:lnTo>
                      <a:lnTo>
                        <a:pt x="1211399" y="104399"/>
                      </a:lnTo>
                      <a:lnTo>
                        <a:pt x="1159199" y="156599"/>
                      </a:lnTo>
                      <a:lnTo>
                        <a:pt x="1106999" y="104399"/>
                      </a:lnTo>
                      <a:lnTo>
                        <a:pt x="1133099" y="104399"/>
                      </a:lnTo>
                      <a:lnTo>
                        <a:pt x="1133099" y="91349"/>
                      </a:lnTo>
                      <a:lnTo>
                        <a:pt x="1130023" y="76111"/>
                      </a:lnTo>
                      <a:lnTo>
                        <a:pt x="1121633" y="63666"/>
                      </a:lnTo>
                      <a:lnTo>
                        <a:pt x="1109188" y="55276"/>
                      </a:lnTo>
                      <a:lnTo>
                        <a:pt x="1093949" y="52199"/>
                      </a:lnTo>
                      <a:lnTo>
                        <a:pt x="91349" y="52199"/>
                      </a:lnTo>
                      <a:lnTo>
                        <a:pt x="76111" y="55276"/>
                      </a:lnTo>
                      <a:lnTo>
                        <a:pt x="63666" y="63666"/>
                      </a:lnTo>
                      <a:lnTo>
                        <a:pt x="55276" y="76111"/>
                      </a:lnTo>
                      <a:lnTo>
                        <a:pt x="52199" y="91349"/>
                      </a:lnTo>
                      <a:lnTo>
                        <a:pt x="52199" y="208799"/>
                      </a:lnTo>
                      <a:lnTo>
                        <a:pt x="0" y="208799"/>
                      </a:lnTo>
                      <a:close/>
                    </a:path>
                  </a:pathLst>
                </a:custGeom>
                <a:ln w="9524">
                  <a:solidFill>
                    <a:srgbClr val="0F2044"/>
                  </a:solidFill>
                </a:ln>
              </p:spPr>
              <p:txBody>
                <a:bodyPr wrap="square" lIns="0" tIns="0" rIns="0" bIns="0" rtlCol="0"/>
                <a:lstStyle/>
                <a:p>
                  <a:endParaRPr/>
                </a:p>
              </p:txBody>
            </p:sp>
          </p:grpSp>
          <p:pic>
            <p:nvPicPr>
              <p:cNvPr id="31" name="Picture 30">
                <a:extLst>
                  <a:ext uri="{FF2B5EF4-FFF2-40B4-BE49-F238E27FC236}">
                    <a16:creationId xmlns:a16="http://schemas.microsoft.com/office/drawing/2014/main" id="{643E64B7-D7C0-020B-2F07-9E5CB096AB99}"/>
                  </a:ext>
                </a:extLst>
              </p:cNvPr>
              <p:cNvPicPr>
                <a:picLocks noChangeAspect="1"/>
              </p:cNvPicPr>
              <p:nvPr/>
            </p:nvPicPr>
            <p:blipFill>
              <a:blip r:embed="rId2"/>
              <a:stretch>
                <a:fillRect/>
              </a:stretch>
            </p:blipFill>
            <p:spPr>
              <a:xfrm>
                <a:off x="434970" y="2819360"/>
                <a:ext cx="10309230" cy="457240"/>
              </a:xfrm>
              <a:prstGeom prst="rect">
                <a:avLst/>
              </a:prstGeom>
            </p:spPr>
          </p:pic>
        </p:grpSp>
      </p:grpSp>
      <p:sp>
        <p:nvSpPr>
          <p:cNvPr id="22" name="object 22"/>
          <p:cNvSpPr txBox="1"/>
          <p:nvPr/>
        </p:nvSpPr>
        <p:spPr>
          <a:xfrm>
            <a:off x="2787061" y="4004779"/>
            <a:ext cx="5747326" cy="1105687"/>
          </a:xfrm>
          <a:prstGeom prst="rect">
            <a:avLst/>
          </a:prstGeom>
          <a:ln w="12700">
            <a:solidFill>
              <a:srgbClr val="000000"/>
            </a:solidFill>
          </a:ln>
        </p:spPr>
        <p:txBody>
          <a:bodyPr vert="horz" wrap="square" lIns="0" tIns="91440" rIns="0" bIns="91440" rtlCol="0">
            <a:spAutoFit/>
          </a:bodyPr>
          <a:lstStyle/>
          <a:p>
            <a:pPr marL="182880" marR="198120">
              <a:lnSpc>
                <a:spcPct val="114000"/>
              </a:lnSpc>
              <a:spcBef>
                <a:spcPts val="600"/>
              </a:spcBef>
            </a:pPr>
            <a:r>
              <a:rPr b="1" dirty="0">
                <a:solidFill>
                  <a:srgbClr val="980000"/>
                </a:solidFill>
                <a:latin typeface="Arial"/>
                <a:cs typeface="Arial"/>
              </a:rPr>
              <a:t>The</a:t>
            </a:r>
            <a:r>
              <a:rPr b="1" spc="-35" dirty="0">
                <a:solidFill>
                  <a:srgbClr val="980000"/>
                </a:solidFill>
                <a:latin typeface="Arial"/>
                <a:cs typeface="Arial"/>
              </a:rPr>
              <a:t> </a:t>
            </a:r>
            <a:r>
              <a:rPr b="1" dirty="0">
                <a:solidFill>
                  <a:srgbClr val="980000"/>
                </a:solidFill>
                <a:latin typeface="Arial"/>
                <a:cs typeface="Arial"/>
              </a:rPr>
              <a:t>amount</a:t>
            </a:r>
            <a:r>
              <a:rPr b="1" spc="-40" dirty="0">
                <a:solidFill>
                  <a:srgbClr val="980000"/>
                </a:solidFill>
                <a:latin typeface="Arial"/>
                <a:cs typeface="Arial"/>
              </a:rPr>
              <a:t> </a:t>
            </a:r>
            <a:r>
              <a:rPr b="1" dirty="0">
                <a:solidFill>
                  <a:srgbClr val="980000"/>
                </a:solidFill>
                <a:latin typeface="Arial"/>
                <a:cs typeface="Arial"/>
              </a:rPr>
              <a:t>of</a:t>
            </a:r>
            <a:r>
              <a:rPr b="1" spc="-35" dirty="0">
                <a:solidFill>
                  <a:srgbClr val="980000"/>
                </a:solidFill>
                <a:latin typeface="Arial"/>
                <a:cs typeface="Arial"/>
              </a:rPr>
              <a:t> </a:t>
            </a:r>
            <a:r>
              <a:rPr b="1" dirty="0">
                <a:solidFill>
                  <a:srgbClr val="980000"/>
                </a:solidFill>
                <a:latin typeface="Arial"/>
                <a:cs typeface="Arial"/>
              </a:rPr>
              <a:t>time</a:t>
            </a:r>
            <a:r>
              <a:rPr b="1" spc="-35" dirty="0">
                <a:solidFill>
                  <a:srgbClr val="980000"/>
                </a:solidFill>
                <a:latin typeface="Arial"/>
                <a:cs typeface="Arial"/>
              </a:rPr>
              <a:t> </a:t>
            </a:r>
            <a:r>
              <a:rPr b="1" dirty="0">
                <a:solidFill>
                  <a:srgbClr val="980000"/>
                </a:solidFill>
                <a:latin typeface="Arial"/>
                <a:cs typeface="Arial"/>
              </a:rPr>
              <a:t>it</a:t>
            </a:r>
            <a:r>
              <a:rPr b="1" spc="-35" dirty="0">
                <a:solidFill>
                  <a:srgbClr val="980000"/>
                </a:solidFill>
                <a:latin typeface="Arial"/>
                <a:cs typeface="Arial"/>
              </a:rPr>
              <a:t> </a:t>
            </a:r>
            <a:r>
              <a:rPr b="1" dirty="0">
                <a:solidFill>
                  <a:srgbClr val="980000"/>
                </a:solidFill>
                <a:latin typeface="Arial"/>
                <a:cs typeface="Arial"/>
              </a:rPr>
              <a:t>takes</a:t>
            </a:r>
            <a:r>
              <a:rPr b="1" spc="-35" dirty="0">
                <a:solidFill>
                  <a:srgbClr val="980000"/>
                </a:solidFill>
                <a:latin typeface="Arial"/>
                <a:cs typeface="Arial"/>
              </a:rPr>
              <a:t> </a:t>
            </a:r>
            <a:r>
              <a:rPr b="1" dirty="0">
                <a:solidFill>
                  <a:srgbClr val="980000"/>
                </a:solidFill>
                <a:latin typeface="Arial"/>
                <a:cs typeface="Arial"/>
              </a:rPr>
              <a:t>for</a:t>
            </a:r>
            <a:r>
              <a:rPr b="1" spc="-35" dirty="0">
                <a:solidFill>
                  <a:srgbClr val="980000"/>
                </a:solidFill>
                <a:latin typeface="Arial"/>
                <a:cs typeface="Arial"/>
              </a:rPr>
              <a:t> </a:t>
            </a:r>
            <a:r>
              <a:rPr b="1" dirty="0">
                <a:solidFill>
                  <a:srgbClr val="980000"/>
                </a:solidFill>
                <a:latin typeface="Arial"/>
                <a:cs typeface="Arial"/>
              </a:rPr>
              <a:t>us</a:t>
            </a:r>
            <a:r>
              <a:rPr b="1" spc="-35" dirty="0">
                <a:solidFill>
                  <a:srgbClr val="980000"/>
                </a:solidFill>
                <a:latin typeface="Arial"/>
                <a:cs typeface="Arial"/>
              </a:rPr>
              <a:t> </a:t>
            </a:r>
            <a:r>
              <a:rPr b="1" dirty="0">
                <a:solidFill>
                  <a:srgbClr val="980000"/>
                </a:solidFill>
                <a:latin typeface="Arial"/>
                <a:cs typeface="Arial"/>
              </a:rPr>
              <a:t>to</a:t>
            </a:r>
            <a:r>
              <a:rPr b="1" spc="-35" dirty="0">
                <a:solidFill>
                  <a:srgbClr val="980000"/>
                </a:solidFill>
                <a:latin typeface="Arial"/>
                <a:cs typeface="Arial"/>
              </a:rPr>
              <a:t> </a:t>
            </a:r>
            <a:r>
              <a:rPr b="1" dirty="0">
                <a:solidFill>
                  <a:srgbClr val="980000"/>
                </a:solidFill>
                <a:latin typeface="Arial"/>
                <a:cs typeface="Arial"/>
              </a:rPr>
              <a:t>through</a:t>
            </a:r>
            <a:r>
              <a:rPr b="1" spc="-35" dirty="0">
                <a:solidFill>
                  <a:srgbClr val="980000"/>
                </a:solidFill>
                <a:latin typeface="Arial"/>
                <a:cs typeface="Arial"/>
              </a:rPr>
              <a:t> </a:t>
            </a:r>
            <a:r>
              <a:rPr b="1" spc="-25" dirty="0">
                <a:solidFill>
                  <a:srgbClr val="980000"/>
                </a:solidFill>
                <a:latin typeface="Arial"/>
                <a:cs typeface="Arial"/>
              </a:rPr>
              <a:t>the </a:t>
            </a:r>
            <a:r>
              <a:rPr b="1" dirty="0">
                <a:solidFill>
                  <a:srgbClr val="980000"/>
                </a:solidFill>
                <a:latin typeface="Arial"/>
                <a:cs typeface="Arial"/>
              </a:rPr>
              <a:t>free</a:t>
            </a:r>
            <a:r>
              <a:rPr b="1" spc="-35" dirty="0">
                <a:solidFill>
                  <a:srgbClr val="980000"/>
                </a:solidFill>
                <a:latin typeface="Arial"/>
                <a:cs typeface="Arial"/>
              </a:rPr>
              <a:t> </a:t>
            </a:r>
            <a:r>
              <a:rPr b="1" dirty="0">
                <a:solidFill>
                  <a:srgbClr val="980000"/>
                </a:solidFill>
                <a:latin typeface="Arial"/>
                <a:cs typeface="Arial"/>
              </a:rPr>
              <a:t>list</a:t>
            </a:r>
            <a:r>
              <a:rPr b="1" spc="-20" dirty="0">
                <a:solidFill>
                  <a:srgbClr val="980000"/>
                </a:solidFill>
                <a:latin typeface="Arial"/>
                <a:cs typeface="Arial"/>
              </a:rPr>
              <a:t> </a:t>
            </a:r>
            <a:r>
              <a:rPr b="1" dirty="0">
                <a:solidFill>
                  <a:srgbClr val="980000"/>
                </a:solidFill>
                <a:latin typeface="Arial"/>
                <a:cs typeface="Arial"/>
              </a:rPr>
              <a:t>is</a:t>
            </a:r>
            <a:r>
              <a:rPr b="1" spc="-25" dirty="0">
                <a:solidFill>
                  <a:srgbClr val="980000"/>
                </a:solidFill>
                <a:latin typeface="Arial"/>
                <a:cs typeface="Arial"/>
              </a:rPr>
              <a:t> </a:t>
            </a:r>
            <a:r>
              <a:rPr b="1" spc="-10" dirty="0">
                <a:solidFill>
                  <a:srgbClr val="980000"/>
                </a:solidFill>
                <a:latin typeface="Arial"/>
                <a:cs typeface="Arial"/>
              </a:rPr>
              <a:t>proportional</a:t>
            </a:r>
            <a:r>
              <a:rPr b="1" spc="-20" dirty="0">
                <a:solidFill>
                  <a:srgbClr val="980000"/>
                </a:solidFill>
                <a:latin typeface="Arial"/>
                <a:cs typeface="Arial"/>
              </a:rPr>
              <a:t> </a:t>
            </a:r>
            <a:r>
              <a:rPr b="1" dirty="0">
                <a:solidFill>
                  <a:srgbClr val="980000"/>
                </a:solidFill>
                <a:latin typeface="Arial"/>
                <a:cs typeface="Arial"/>
              </a:rPr>
              <a:t>to</a:t>
            </a:r>
            <a:r>
              <a:rPr b="1" spc="-20" dirty="0">
                <a:solidFill>
                  <a:srgbClr val="980000"/>
                </a:solidFill>
                <a:latin typeface="Arial"/>
                <a:cs typeface="Arial"/>
              </a:rPr>
              <a:t> </a:t>
            </a:r>
            <a:r>
              <a:rPr b="1" dirty="0">
                <a:solidFill>
                  <a:srgbClr val="980000"/>
                </a:solidFill>
                <a:latin typeface="Arial"/>
                <a:cs typeface="Arial"/>
              </a:rPr>
              <a:t>the</a:t>
            </a:r>
            <a:r>
              <a:rPr b="1" spc="-25" dirty="0">
                <a:solidFill>
                  <a:srgbClr val="980000"/>
                </a:solidFill>
                <a:latin typeface="Arial"/>
                <a:cs typeface="Arial"/>
              </a:rPr>
              <a:t> </a:t>
            </a:r>
            <a:r>
              <a:rPr b="1" dirty="0">
                <a:solidFill>
                  <a:srgbClr val="980000"/>
                </a:solidFill>
                <a:latin typeface="Arial"/>
                <a:cs typeface="Arial"/>
              </a:rPr>
              <a:t>number</a:t>
            </a:r>
            <a:r>
              <a:rPr b="1" spc="-20" dirty="0">
                <a:solidFill>
                  <a:srgbClr val="980000"/>
                </a:solidFill>
                <a:latin typeface="Arial"/>
                <a:cs typeface="Arial"/>
              </a:rPr>
              <a:t> </a:t>
            </a:r>
            <a:r>
              <a:rPr b="1" dirty="0">
                <a:solidFill>
                  <a:srgbClr val="980000"/>
                </a:solidFill>
                <a:latin typeface="Arial"/>
                <a:cs typeface="Arial"/>
              </a:rPr>
              <a:t>of</a:t>
            </a:r>
            <a:r>
              <a:rPr b="1" spc="-20" dirty="0">
                <a:solidFill>
                  <a:srgbClr val="980000"/>
                </a:solidFill>
                <a:latin typeface="Arial"/>
                <a:cs typeface="Arial"/>
              </a:rPr>
              <a:t> </a:t>
            </a:r>
            <a:r>
              <a:rPr b="1" spc="-10" dirty="0">
                <a:solidFill>
                  <a:srgbClr val="980000"/>
                </a:solidFill>
                <a:latin typeface="Arial"/>
                <a:cs typeface="Arial"/>
              </a:rPr>
              <a:t>freed </a:t>
            </a:r>
            <a:r>
              <a:rPr b="1" dirty="0">
                <a:solidFill>
                  <a:srgbClr val="980000"/>
                </a:solidFill>
                <a:latin typeface="Arial"/>
                <a:cs typeface="Arial"/>
              </a:rPr>
              <a:t>blocks</a:t>
            </a:r>
            <a:r>
              <a:rPr b="1" spc="-30" dirty="0">
                <a:solidFill>
                  <a:srgbClr val="980000"/>
                </a:solidFill>
                <a:latin typeface="Arial"/>
                <a:cs typeface="Arial"/>
              </a:rPr>
              <a:t> </a:t>
            </a:r>
            <a:r>
              <a:rPr b="1" dirty="0">
                <a:solidFill>
                  <a:srgbClr val="980000"/>
                </a:solidFill>
                <a:latin typeface="Arial"/>
                <a:cs typeface="Arial"/>
              </a:rPr>
              <a:t>rather</a:t>
            </a:r>
            <a:r>
              <a:rPr b="1" spc="-30" dirty="0">
                <a:solidFill>
                  <a:srgbClr val="980000"/>
                </a:solidFill>
                <a:latin typeface="Arial"/>
                <a:cs typeface="Arial"/>
              </a:rPr>
              <a:t> </a:t>
            </a:r>
            <a:r>
              <a:rPr b="1" dirty="0">
                <a:solidFill>
                  <a:srgbClr val="980000"/>
                </a:solidFill>
                <a:latin typeface="Arial"/>
                <a:cs typeface="Arial"/>
              </a:rPr>
              <a:t>than</a:t>
            </a:r>
            <a:r>
              <a:rPr b="1" spc="-30" dirty="0">
                <a:solidFill>
                  <a:srgbClr val="980000"/>
                </a:solidFill>
                <a:latin typeface="Arial"/>
                <a:cs typeface="Arial"/>
              </a:rPr>
              <a:t> </a:t>
            </a:r>
            <a:r>
              <a:rPr b="1" dirty="0">
                <a:solidFill>
                  <a:srgbClr val="980000"/>
                </a:solidFill>
                <a:latin typeface="Arial"/>
                <a:cs typeface="Arial"/>
              </a:rPr>
              <a:t>all</a:t>
            </a:r>
            <a:r>
              <a:rPr b="1" spc="-30" dirty="0">
                <a:solidFill>
                  <a:srgbClr val="980000"/>
                </a:solidFill>
                <a:latin typeface="Arial"/>
                <a:cs typeface="Arial"/>
              </a:rPr>
              <a:t> </a:t>
            </a:r>
            <a:r>
              <a:rPr b="1" dirty="0">
                <a:solidFill>
                  <a:srgbClr val="980000"/>
                </a:solidFill>
                <a:latin typeface="Arial"/>
                <a:cs typeface="Arial"/>
              </a:rPr>
              <a:t>(allocated</a:t>
            </a:r>
            <a:r>
              <a:rPr b="1" spc="-30" dirty="0">
                <a:solidFill>
                  <a:srgbClr val="980000"/>
                </a:solidFill>
                <a:latin typeface="Arial"/>
                <a:cs typeface="Arial"/>
              </a:rPr>
              <a:t> </a:t>
            </a:r>
            <a:r>
              <a:rPr b="1" dirty="0">
                <a:solidFill>
                  <a:srgbClr val="980000"/>
                </a:solidFill>
                <a:latin typeface="Arial"/>
                <a:cs typeface="Arial"/>
              </a:rPr>
              <a:t>+</a:t>
            </a:r>
            <a:r>
              <a:rPr b="1" spc="-30" dirty="0">
                <a:solidFill>
                  <a:srgbClr val="980000"/>
                </a:solidFill>
                <a:latin typeface="Arial"/>
                <a:cs typeface="Arial"/>
              </a:rPr>
              <a:t> </a:t>
            </a:r>
            <a:r>
              <a:rPr b="1" dirty="0">
                <a:solidFill>
                  <a:srgbClr val="980000"/>
                </a:solidFill>
                <a:latin typeface="Arial"/>
                <a:cs typeface="Arial"/>
              </a:rPr>
              <a:t>free</a:t>
            </a:r>
            <a:r>
              <a:rPr b="1" spc="-30" dirty="0">
                <a:solidFill>
                  <a:srgbClr val="980000"/>
                </a:solidFill>
                <a:latin typeface="Arial"/>
                <a:cs typeface="Arial"/>
              </a:rPr>
              <a:t> </a:t>
            </a:r>
            <a:r>
              <a:rPr b="1" spc="-10" dirty="0">
                <a:solidFill>
                  <a:srgbClr val="980000"/>
                </a:solidFill>
                <a:latin typeface="Arial"/>
                <a:cs typeface="Arial"/>
              </a:rPr>
              <a:t>blocks).</a:t>
            </a:r>
            <a:endParaRPr dirty="0">
              <a:latin typeface="Arial"/>
              <a:cs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2700" rIns="0" bIns="0" rtlCol="0">
            <a:spAutoFit/>
          </a:bodyPr>
          <a:lstStyle/>
          <a:p>
            <a:pPr marL="12700">
              <a:lnSpc>
                <a:spcPct val="100000"/>
              </a:lnSpc>
              <a:spcBef>
                <a:spcPts val="100"/>
              </a:spcBef>
            </a:pPr>
            <a:r>
              <a:rPr dirty="0"/>
              <a:t>Explicit</a:t>
            </a:r>
            <a:r>
              <a:rPr spc="-100" dirty="0"/>
              <a:t> </a:t>
            </a:r>
            <a:r>
              <a:rPr dirty="0"/>
              <a:t>Free</a:t>
            </a:r>
            <a:r>
              <a:rPr spc="-95" dirty="0"/>
              <a:t> </a:t>
            </a:r>
            <a:r>
              <a:rPr spc="-20" dirty="0"/>
              <a:t>List</a:t>
            </a:r>
          </a:p>
        </p:txBody>
      </p:sp>
      <p:grpSp>
        <p:nvGrpSpPr>
          <p:cNvPr id="9" name="Group 8" descr="A comparison of an allocated block versus a free block. The free block diagram highlights the &quot;old payload&quot; area now housing explicit next and prev pointers, used to navigate the free list without increasing memory overhead.">
            <a:extLst>
              <a:ext uri="{FF2B5EF4-FFF2-40B4-BE49-F238E27FC236}">
                <a16:creationId xmlns:a16="http://schemas.microsoft.com/office/drawing/2014/main" id="{411F7BC8-6AF0-F347-21F9-5DE274D8D34A}"/>
              </a:ext>
            </a:extLst>
          </p:cNvPr>
          <p:cNvGrpSpPr/>
          <p:nvPr/>
        </p:nvGrpSpPr>
        <p:grpSpPr>
          <a:xfrm>
            <a:off x="315848" y="2610298"/>
            <a:ext cx="5661660" cy="3314065"/>
            <a:chOff x="315848" y="2610298"/>
            <a:chExt cx="5661660" cy="3314065"/>
          </a:xfrm>
        </p:grpSpPr>
        <p:grpSp>
          <p:nvGrpSpPr>
            <p:cNvPr id="3" name="object 3"/>
            <p:cNvGrpSpPr/>
            <p:nvPr/>
          </p:nvGrpSpPr>
          <p:grpSpPr>
            <a:xfrm>
              <a:off x="315848" y="2610298"/>
              <a:ext cx="5661660" cy="3314065"/>
              <a:chOff x="315848" y="2610298"/>
              <a:chExt cx="5661660" cy="3314065"/>
            </a:xfrm>
          </p:grpSpPr>
          <p:pic>
            <p:nvPicPr>
              <p:cNvPr id="4" name="object 4"/>
              <p:cNvPicPr/>
              <p:nvPr/>
            </p:nvPicPr>
            <p:blipFill>
              <a:blip r:embed="rId3" cstate="print"/>
              <a:stretch>
                <a:fillRect/>
              </a:stretch>
            </p:blipFill>
            <p:spPr>
              <a:xfrm>
                <a:off x="315848" y="2610298"/>
                <a:ext cx="5598117" cy="3313569"/>
              </a:xfrm>
              <a:prstGeom prst="rect">
                <a:avLst/>
              </a:prstGeom>
            </p:spPr>
          </p:pic>
          <p:sp>
            <p:nvSpPr>
              <p:cNvPr id="5" name="object 5"/>
              <p:cNvSpPr/>
              <p:nvPr/>
            </p:nvSpPr>
            <p:spPr>
              <a:xfrm>
                <a:off x="3978174" y="3322399"/>
                <a:ext cx="1985010" cy="1741805"/>
              </a:xfrm>
              <a:custGeom>
                <a:avLst/>
                <a:gdLst/>
                <a:ahLst/>
                <a:cxnLst/>
                <a:rect l="l" t="t" r="r" b="b"/>
                <a:pathLst>
                  <a:path w="1985010" h="1741804">
                    <a:moveTo>
                      <a:pt x="0" y="0"/>
                    </a:moveTo>
                    <a:lnTo>
                      <a:pt x="1984499" y="0"/>
                    </a:lnTo>
                    <a:lnTo>
                      <a:pt x="1984499" y="1741799"/>
                    </a:lnTo>
                    <a:lnTo>
                      <a:pt x="0" y="1741799"/>
                    </a:lnTo>
                    <a:lnTo>
                      <a:pt x="0" y="0"/>
                    </a:lnTo>
                    <a:close/>
                  </a:path>
                </a:pathLst>
              </a:custGeom>
              <a:ln w="28574">
                <a:solidFill>
                  <a:srgbClr val="980000"/>
                </a:solidFill>
              </a:ln>
            </p:spPr>
            <p:txBody>
              <a:bodyPr wrap="square" lIns="0" tIns="0" rIns="0" bIns="0" rtlCol="0"/>
              <a:lstStyle/>
              <a:p>
                <a:endParaRPr/>
              </a:p>
            </p:txBody>
          </p:sp>
        </p:grpSp>
        <p:sp>
          <p:nvSpPr>
            <p:cNvPr id="7" name="object 7"/>
            <p:cNvSpPr txBox="1"/>
            <p:nvPr/>
          </p:nvSpPr>
          <p:spPr>
            <a:xfrm>
              <a:off x="2778425" y="3986581"/>
              <a:ext cx="888365" cy="574040"/>
            </a:xfrm>
            <a:prstGeom prst="rect">
              <a:avLst/>
            </a:prstGeom>
          </p:spPr>
          <p:txBody>
            <a:bodyPr vert="horz" wrap="square" lIns="0" tIns="12700" rIns="0" bIns="0" rtlCol="0">
              <a:spAutoFit/>
            </a:bodyPr>
            <a:lstStyle/>
            <a:p>
              <a:pPr marL="12700" marR="5080" algn="ctr">
                <a:lnSpc>
                  <a:spcPct val="100000"/>
                </a:lnSpc>
                <a:spcBef>
                  <a:spcPts val="100"/>
                </a:spcBef>
              </a:pPr>
              <a:r>
                <a:rPr sz="1800" b="1" spc="-25" dirty="0">
                  <a:solidFill>
                    <a:srgbClr val="980000"/>
                  </a:solidFill>
                  <a:latin typeface="Arial"/>
                  <a:cs typeface="Arial"/>
                </a:rPr>
                <a:t>old </a:t>
              </a:r>
              <a:r>
                <a:rPr sz="1800" b="1" spc="-10" dirty="0">
                  <a:solidFill>
                    <a:srgbClr val="980000"/>
                  </a:solidFill>
                  <a:latin typeface="Arial"/>
                  <a:cs typeface="Arial"/>
                </a:rPr>
                <a:t>payload</a:t>
              </a:r>
              <a:endParaRPr sz="1800" dirty="0">
                <a:latin typeface="Arial"/>
                <a:cs typeface="Arial"/>
              </a:endParaRPr>
            </a:p>
          </p:txBody>
        </p:sp>
      </p:grpSp>
      <p:pic>
        <p:nvPicPr>
          <p:cNvPr id="8" name="object 8" descr="A diagram titled &quot;List Order ≠ Memory Order.&quot; It shows an abstract doubly-linked list (A-B-C) and its concrete implementation where pointers jump between non-contiguous memory addresses, illustrating that free list logical order is independent of physical placement."/>
          <p:cNvPicPr/>
          <p:nvPr/>
        </p:nvPicPr>
        <p:blipFill>
          <a:blip r:embed="rId4" cstate="print"/>
          <a:stretch>
            <a:fillRect/>
          </a:stretch>
        </p:blipFill>
        <p:spPr>
          <a:xfrm>
            <a:off x="6498843" y="1799518"/>
            <a:ext cx="5159757" cy="3875373"/>
          </a:xfrm>
          <a:prstGeom prst="rect">
            <a:avLst/>
          </a:prstGeom>
        </p:spPr>
      </p:pic>
      <p:sp>
        <p:nvSpPr>
          <p:cNvPr id="6" name="object 6">
            <a:extLst>
              <a:ext uri="{C183D7F6-B498-43B3-948B-1728B52AA6E4}">
                <adec:decorative xmlns:adec="http://schemas.microsoft.com/office/drawing/2017/decorative" val="1"/>
              </a:ext>
            </a:extLst>
          </p:cNvPr>
          <p:cNvSpPr txBox="1"/>
          <p:nvPr/>
        </p:nvSpPr>
        <p:spPr>
          <a:xfrm>
            <a:off x="4866875" y="6146129"/>
            <a:ext cx="197040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0F2044"/>
                </a:solidFill>
                <a:latin typeface="Arial MT"/>
                <a:cs typeface="Arial MT"/>
              </a:rPr>
              <a:t>Image</a:t>
            </a:r>
            <a:r>
              <a:rPr sz="1200" spc="-25" dirty="0">
                <a:solidFill>
                  <a:srgbClr val="0F2044"/>
                </a:solidFill>
                <a:latin typeface="Arial MT"/>
                <a:cs typeface="Arial MT"/>
              </a:rPr>
              <a:t> </a:t>
            </a:r>
            <a:r>
              <a:rPr sz="1200" dirty="0">
                <a:solidFill>
                  <a:srgbClr val="0F2044"/>
                </a:solidFill>
                <a:latin typeface="Arial MT"/>
                <a:cs typeface="Arial MT"/>
              </a:rPr>
              <a:t>credit</a:t>
            </a:r>
            <a:r>
              <a:rPr sz="1200" spc="-20" dirty="0">
                <a:solidFill>
                  <a:srgbClr val="0F2044"/>
                </a:solidFill>
                <a:latin typeface="Arial MT"/>
                <a:cs typeface="Arial MT"/>
              </a:rPr>
              <a:t> </a:t>
            </a:r>
            <a:r>
              <a:rPr sz="1200" dirty="0">
                <a:solidFill>
                  <a:srgbClr val="0F2044"/>
                </a:solidFill>
                <a:latin typeface="Arial MT"/>
                <a:cs typeface="Arial MT"/>
              </a:rPr>
              <a:t>-</a:t>
            </a:r>
            <a:r>
              <a:rPr sz="1200" spc="-20" dirty="0">
                <a:solidFill>
                  <a:srgbClr val="0F2044"/>
                </a:solidFill>
                <a:latin typeface="Arial MT"/>
                <a:cs typeface="Arial MT"/>
              </a:rPr>
              <a:t> </a:t>
            </a:r>
            <a:r>
              <a:rPr sz="1200" spc="-10" dirty="0">
                <a:solidFill>
                  <a:srgbClr val="0F2044"/>
                </a:solidFill>
                <a:latin typeface="Arial MT"/>
                <a:cs typeface="Arial MT"/>
              </a:rPr>
              <a:t>https://awb.fyi/</a:t>
            </a:r>
            <a:endParaRPr sz="1200" dirty="0">
              <a:latin typeface="Arial MT"/>
              <a:cs typeface="Arial M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Explicit</a:t>
            </a:r>
            <a:r>
              <a:rPr spc="-100" dirty="0"/>
              <a:t> </a:t>
            </a:r>
            <a:r>
              <a:rPr dirty="0"/>
              <a:t>Free</a:t>
            </a:r>
            <a:r>
              <a:rPr spc="-95" dirty="0"/>
              <a:t> </a:t>
            </a:r>
            <a:r>
              <a:rPr spc="-20" dirty="0"/>
              <a:t>List</a:t>
            </a:r>
          </a:p>
        </p:txBody>
      </p:sp>
      <p:sp>
        <p:nvSpPr>
          <p:cNvPr id="4" name="object 4"/>
          <p:cNvSpPr txBox="1"/>
          <p:nvPr/>
        </p:nvSpPr>
        <p:spPr>
          <a:xfrm>
            <a:off x="802225" y="2565406"/>
            <a:ext cx="4584700" cy="3157211"/>
          </a:xfrm>
          <a:prstGeom prst="rect">
            <a:avLst/>
          </a:prstGeom>
        </p:spPr>
        <p:txBody>
          <a:bodyPr vert="horz" wrap="square" lIns="0" tIns="12700" rIns="0" bIns="0" rtlCol="0">
            <a:spAutoFit/>
          </a:bodyPr>
          <a:lstStyle/>
          <a:p>
            <a:pPr marL="12700" marR="5080">
              <a:lnSpc>
                <a:spcPct val="114000"/>
              </a:lnSpc>
              <a:spcBef>
                <a:spcPts val="100"/>
              </a:spcBef>
            </a:pPr>
            <a:r>
              <a:rPr sz="1800" dirty="0">
                <a:solidFill>
                  <a:srgbClr val="0F2044"/>
                </a:solidFill>
                <a:latin typeface="Arial MT"/>
                <a:cs typeface="Arial MT"/>
              </a:rPr>
              <a:t>In</a:t>
            </a:r>
            <a:r>
              <a:rPr sz="1800" spc="-25" dirty="0">
                <a:solidFill>
                  <a:srgbClr val="0F2044"/>
                </a:solidFill>
                <a:latin typeface="Arial MT"/>
                <a:cs typeface="Arial MT"/>
              </a:rPr>
              <a:t> </a:t>
            </a:r>
            <a:r>
              <a:rPr sz="1800" dirty="0">
                <a:solidFill>
                  <a:srgbClr val="0F2044"/>
                </a:solidFill>
                <a:latin typeface="Arial MT"/>
                <a:cs typeface="Arial MT"/>
              </a:rPr>
              <a:t>the</a:t>
            </a:r>
            <a:r>
              <a:rPr sz="1800" spc="-10" dirty="0">
                <a:solidFill>
                  <a:srgbClr val="0F2044"/>
                </a:solidFill>
                <a:latin typeface="Arial MT"/>
                <a:cs typeface="Arial MT"/>
              </a:rPr>
              <a:t> </a:t>
            </a:r>
            <a:r>
              <a:rPr sz="1800" dirty="0">
                <a:solidFill>
                  <a:srgbClr val="0F2044"/>
                </a:solidFill>
                <a:latin typeface="Arial MT"/>
                <a:cs typeface="Arial MT"/>
              </a:rPr>
              <a:t>case</a:t>
            </a:r>
            <a:r>
              <a:rPr sz="1800" spc="-10" dirty="0">
                <a:solidFill>
                  <a:srgbClr val="0F2044"/>
                </a:solidFill>
                <a:latin typeface="Arial MT"/>
                <a:cs typeface="Arial MT"/>
              </a:rPr>
              <a:t> </a:t>
            </a:r>
            <a:r>
              <a:rPr sz="1800" dirty="0">
                <a:solidFill>
                  <a:srgbClr val="0F2044"/>
                </a:solidFill>
                <a:latin typeface="Arial MT"/>
                <a:cs typeface="Arial MT"/>
              </a:rPr>
              <a:t>of</a:t>
            </a:r>
            <a:r>
              <a:rPr sz="1800" spc="-15" dirty="0">
                <a:solidFill>
                  <a:srgbClr val="0F2044"/>
                </a:solidFill>
                <a:latin typeface="Arial MT"/>
                <a:cs typeface="Arial MT"/>
              </a:rPr>
              <a:t> </a:t>
            </a:r>
            <a:r>
              <a:rPr sz="1800" dirty="0">
                <a:solidFill>
                  <a:srgbClr val="0F2044"/>
                </a:solidFill>
                <a:latin typeface="Arial MT"/>
                <a:cs typeface="Arial MT"/>
              </a:rPr>
              <a:t>the</a:t>
            </a:r>
            <a:r>
              <a:rPr sz="1800" spc="5" dirty="0">
                <a:solidFill>
                  <a:srgbClr val="0F2044"/>
                </a:solidFill>
                <a:latin typeface="Arial MT"/>
                <a:cs typeface="Arial MT"/>
              </a:rPr>
              <a:t> </a:t>
            </a:r>
            <a:r>
              <a:rPr sz="1800" b="1" dirty="0">
                <a:solidFill>
                  <a:srgbClr val="0F2044"/>
                </a:solidFill>
                <a:latin typeface="Arial"/>
                <a:cs typeface="Arial"/>
              </a:rPr>
              <a:t>Explicit</a:t>
            </a:r>
            <a:r>
              <a:rPr sz="1800" b="1" spc="-15" dirty="0">
                <a:solidFill>
                  <a:srgbClr val="0F2044"/>
                </a:solidFill>
                <a:latin typeface="Arial"/>
                <a:cs typeface="Arial"/>
              </a:rPr>
              <a:t> </a:t>
            </a:r>
            <a:r>
              <a:rPr sz="1800" b="1" dirty="0">
                <a:solidFill>
                  <a:srgbClr val="0F2044"/>
                </a:solidFill>
                <a:latin typeface="Arial"/>
                <a:cs typeface="Arial"/>
              </a:rPr>
              <a:t>Free</a:t>
            </a:r>
            <a:r>
              <a:rPr sz="1800" b="1" spc="-10" dirty="0">
                <a:solidFill>
                  <a:srgbClr val="0F2044"/>
                </a:solidFill>
                <a:latin typeface="Arial"/>
                <a:cs typeface="Arial"/>
              </a:rPr>
              <a:t> </a:t>
            </a:r>
            <a:r>
              <a:rPr sz="1800" b="1" dirty="0">
                <a:solidFill>
                  <a:srgbClr val="0F2044"/>
                </a:solidFill>
                <a:latin typeface="Arial"/>
                <a:cs typeface="Arial"/>
              </a:rPr>
              <a:t>List</a:t>
            </a:r>
            <a:r>
              <a:rPr sz="1800" dirty="0">
                <a:solidFill>
                  <a:srgbClr val="0F2044"/>
                </a:solidFill>
                <a:latin typeface="Arial MT"/>
                <a:cs typeface="Arial MT"/>
              </a:rPr>
              <a:t>,</a:t>
            </a:r>
            <a:r>
              <a:rPr sz="1800" spc="-10" dirty="0">
                <a:solidFill>
                  <a:srgbClr val="0F2044"/>
                </a:solidFill>
                <a:latin typeface="Arial MT"/>
                <a:cs typeface="Arial MT"/>
              </a:rPr>
              <a:t> </a:t>
            </a:r>
            <a:r>
              <a:rPr sz="1800" dirty="0">
                <a:solidFill>
                  <a:srgbClr val="0F2044"/>
                </a:solidFill>
                <a:latin typeface="Arial MT"/>
                <a:cs typeface="Arial MT"/>
              </a:rPr>
              <a:t>from</a:t>
            </a:r>
            <a:r>
              <a:rPr sz="1800" spc="-10" dirty="0">
                <a:solidFill>
                  <a:srgbClr val="0F2044"/>
                </a:solidFill>
                <a:latin typeface="Arial MT"/>
                <a:cs typeface="Arial MT"/>
              </a:rPr>
              <a:t> </a:t>
            </a:r>
            <a:r>
              <a:rPr sz="1800" spc="-50" dirty="0">
                <a:solidFill>
                  <a:srgbClr val="0F2044"/>
                </a:solidFill>
                <a:latin typeface="Arial MT"/>
                <a:cs typeface="Arial MT"/>
              </a:rPr>
              <a:t>a </a:t>
            </a:r>
            <a:r>
              <a:rPr sz="1800" dirty="0">
                <a:solidFill>
                  <a:srgbClr val="0F2044"/>
                </a:solidFill>
                <a:latin typeface="Arial MT"/>
                <a:cs typeface="Arial MT"/>
              </a:rPr>
              <a:t>logical</a:t>
            </a:r>
            <a:r>
              <a:rPr sz="1800" spc="-40" dirty="0">
                <a:solidFill>
                  <a:srgbClr val="0F2044"/>
                </a:solidFill>
                <a:latin typeface="Arial MT"/>
                <a:cs typeface="Arial MT"/>
              </a:rPr>
              <a:t> </a:t>
            </a:r>
            <a:r>
              <a:rPr sz="1800" dirty="0">
                <a:solidFill>
                  <a:srgbClr val="0F2044"/>
                </a:solidFill>
                <a:latin typeface="Arial MT"/>
                <a:cs typeface="Arial MT"/>
              </a:rPr>
              <a:t>point</a:t>
            </a:r>
            <a:r>
              <a:rPr sz="1800" spc="-35" dirty="0">
                <a:solidFill>
                  <a:srgbClr val="0F2044"/>
                </a:solidFill>
                <a:latin typeface="Arial MT"/>
                <a:cs typeface="Arial MT"/>
              </a:rPr>
              <a:t> </a:t>
            </a:r>
            <a:r>
              <a:rPr sz="1800" dirty="0">
                <a:solidFill>
                  <a:srgbClr val="0F2044"/>
                </a:solidFill>
                <a:latin typeface="Arial MT"/>
                <a:cs typeface="Arial MT"/>
              </a:rPr>
              <a:t>of</a:t>
            </a:r>
            <a:r>
              <a:rPr sz="1800" spc="-35" dirty="0">
                <a:solidFill>
                  <a:srgbClr val="0F2044"/>
                </a:solidFill>
                <a:latin typeface="Arial MT"/>
                <a:cs typeface="Arial MT"/>
              </a:rPr>
              <a:t> </a:t>
            </a:r>
            <a:r>
              <a:rPr sz="1800" dirty="0">
                <a:solidFill>
                  <a:srgbClr val="0F2044"/>
                </a:solidFill>
                <a:latin typeface="Arial MT"/>
                <a:cs typeface="Arial MT"/>
              </a:rPr>
              <a:t>view,</a:t>
            </a:r>
            <a:r>
              <a:rPr sz="1800" spc="-40" dirty="0">
                <a:solidFill>
                  <a:srgbClr val="0F2044"/>
                </a:solidFill>
                <a:latin typeface="Arial MT"/>
                <a:cs typeface="Arial MT"/>
              </a:rPr>
              <a:t> </a:t>
            </a:r>
            <a:r>
              <a:rPr sz="1800" dirty="0">
                <a:solidFill>
                  <a:srgbClr val="0F2044"/>
                </a:solidFill>
                <a:latin typeface="Arial MT"/>
                <a:cs typeface="Arial MT"/>
              </a:rPr>
              <a:t>it</a:t>
            </a:r>
            <a:r>
              <a:rPr sz="1800" spc="-35" dirty="0">
                <a:solidFill>
                  <a:srgbClr val="0F2044"/>
                </a:solidFill>
                <a:latin typeface="Arial MT"/>
                <a:cs typeface="Arial MT"/>
              </a:rPr>
              <a:t> </a:t>
            </a:r>
            <a:r>
              <a:rPr sz="1800" dirty="0">
                <a:solidFill>
                  <a:srgbClr val="0F2044"/>
                </a:solidFill>
                <a:latin typeface="Arial MT"/>
                <a:cs typeface="Arial MT"/>
              </a:rPr>
              <a:t>is</a:t>
            </a:r>
            <a:r>
              <a:rPr sz="1800" spc="-35" dirty="0">
                <a:solidFill>
                  <a:srgbClr val="0F2044"/>
                </a:solidFill>
                <a:latin typeface="Arial MT"/>
                <a:cs typeface="Arial MT"/>
              </a:rPr>
              <a:t> </a:t>
            </a:r>
            <a:r>
              <a:rPr sz="1800" dirty="0">
                <a:solidFill>
                  <a:srgbClr val="0F2044"/>
                </a:solidFill>
                <a:latin typeface="Arial MT"/>
                <a:cs typeface="Arial MT"/>
              </a:rPr>
              <a:t>a</a:t>
            </a:r>
            <a:r>
              <a:rPr sz="1800" spc="-10" dirty="0">
                <a:solidFill>
                  <a:srgbClr val="0F2044"/>
                </a:solidFill>
                <a:latin typeface="Arial MT"/>
                <a:cs typeface="Arial MT"/>
              </a:rPr>
              <a:t> </a:t>
            </a:r>
            <a:r>
              <a:rPr sz="1800" b="1" dirty="0">
                <a:solidFill>
                  <a:srgbClr val="0F2044"/>
                </a:solidFill>
                <a:latin typeface="Arial"/>
                <a:cs typeface="Arial"/>
              </a:rPr>
              <a:t>doubly</a:t>
            </a:r>
            <a:r>
              <a:rPr sz="1800" b="1" spc="-35" dirty="0">
                <a:solidFill>
                  <a:srgbClr val="0F2044"/>
                </a:solidFill>
                <a:latin typeface="Arial"/>
                <a:cs typeface="Arial"/>
              </a:rPr>
              <a:t> </a:t>
            </a:r>
            <a:r>
              <a:rPr sz="1800" b="1" dirty="0">
                <a:solidFill>
                  <a:srgbClr val="0F2044"/>
                </a:solidFill>
                <a:latin typeface="Arial"/>
                <a:cs typeface="Arial"/>
              </a:rPr>
              <a:t>linked</a:t>
            </a:r>
            <a:r>
              <a:rPr sz="1800" b="1" spc="-35" dirty="0">
                <a:solidFill>
                  <a:srgbClr val="0F2044"/>
                </a:solidFill>
                <a:latin typeface="Arial"/>
                <a:cs typeface="Arial"/>
              </a:rPr>
              <a:t> </a:t>
            </a:r>
            <a:r>
              <a:rPr sz="1800" b="1" spc="-20" dirty="0">
                <a:solidFill>
                  <a:srgbClr val="0F2044"/>
                </a:solidFill>
                <a:latin typeface="Arial"/>
                <a:cs typeface="Arial"/>
              </a:rPr>
              <a:t>list </a:t>
            </a:r>
            <a:r>
              <a:rPr sz="1800" dirty="0">
                <a:solidFill>
                  <a:srgbClr val="0F2044"/>
                </a:solidFill>
                <a:latin typeface="Arial MT"/>
                <a:cs typeface="Arial MT"/>
              </a:rPr>
              <a:t>that</a:t>
            </a:r>
            <a:r>
              <a:rPr sz="1800" spc="-30" dirty="0">
                <a:solidFill>
                  <a:srgbClr val="0F2044"/>
                </a:solidFill>
                <a:latin typeface="Arial MT"/>
                <a:cs typeface="Arial MT"/>
              </a:rPr>
              <a:t> </a:t>
            </a:r>
            <a:r>
              <a:rPr sz="1800" dirty="0">
                <a:solidFill>
                  <a:srgbClr val="0F2044"/>
                </a:solidFill>
                <a:latin typeface="Arial MT"/>
                <a:cs typeface="Arial MT"/>
              </a:rPr>
              <a:t>is</a:t>
            </a:r>
            <a:r>
              <a:rPr sz="1800" spc="-20" dirty="0">
                <a:solidFill>
                  <a:srgbClr val="0F2044"/>
                </a:solidFill>
                <a:latin typeface="Arial MT"/>
                <a:cs typeface="Arial MT"/>
              </a:rPr>
              <a:t> </a:t>
            </a:r>
            <a:r>
              <a:rPr sz="1800" dirty="0">
                <a:solidFill>
                  <a:srgbClr val="0F2044"/>
                </a:solidFill>
                <a:latin typeface="Arial MT"/>
                <a:cs typeface="Arial MT"/>
              </a:rPr>
              <a:t>arranged</a:t>
            </a:r>
            <a:r>
              <a:rPr sz="1800" spc="-15" dirty="0">
                <a:solidFill>
                  <a:srgbClr val="0F2044"/>
                </a:solidFill>
                <a:latin typeface="Arial MT"/>
                <a:cs typeface="Arial MT"/>
              </a:rPr>
              <a:t> </a:t>
            </a:r>
            <a:r>
              <a:rPr sz="1800" dirty="0">
                <a:solidFill>
                  <a:srgbClr val="0F2044"/>
                </a:solidFill>
                <a:latin typeface="Arial MT"/>
                <a:cs typeface="Arial MT"/>
              </a:rPr>
              <a:t>in</a:t>
            </a:r>
            <a:r>
              <a:rPr sz="1800" spc="-20" dirty="0">
                <a:solidFill>
                  <a:srgbClr val="0F2044"/>
                </a:solidFill>
                <a:latin typeface="Arial MT"/>
                <a:cs typeface="Arial MT"/>
              </a:rPr>
              <a:t> </a:t>
            </a:r>
            <a:r>
              <a:rPr sz="1800" dirty="0">
                <a:solidFill>
                  <a:srgbClr val="0F2044"/>
                </a:solidFill>
                <a:latin typeface="Arial MT"/>
                <a:cs typeface="Arial MT"/>
              </a:rPr>
              <a:t>a</a:t>
            </a:r>
            <a:r>
              <a:rPr sz="1800" spc="-20" dirty="0">
                <a:solidFill>
                  <a:srgbClr val="0F2044"/>
                </a:solidFill>
                <a:latin typeface="Arial MT"/>
                <a:cs typeface="Arial MT"/>
              </a:rPr>
              <a:t> </a:t>
            </a:r>
            <a:r>
              <a:rPr sz="1800" dirty="0">
                <a:solidFill>
                  <a:srgbClr val="0F2044"/>
                </a:solidFill>
                <a:latin typeface="Arial MT"/>
                <a:cs typeface="Arial MT"/>
              </a:rPr>
              <a:t>straight</a:t>
            </a:r>
            <a:r>
              <a:rPr sz="1800" spc="-15" dirty="0">
                <a:solidFill>
                  <a:srgbClr val="0F2044"/>
                </a:solidFill>
                <a:latin typeface="Arial MT"/>
                <a:cs typeface="Arial MT"/>
              </a:rPr>
              <a:t> </a:t>
            </a:r>
            <a:r>
              <a:rPr sz="1800" dirty="0">
                <a:solidFill>
                  <a:srgbClr val="0F2044"/>
                </a:solidFill>
                <a:latin typeface="Arial MT"/>
                <a:cs typeface="Arial MT"/>
              </a:rPr>
              <a:t>line,</a:t>
            </a:r>
            <a:r>
              <a:rPr sz="1800" spc="-20" dirty="0">
                <a:solidFill>
                  <a:srgbClr val="0F2044"/>
                </a:solidFill>
                <a:latin typeface="Arial MT"/>
                <a:cs typeface="Arial MT"/>
              </a:rPr>
              <a:t> </a:t>
            </a:r>
            <a:r>
              <a:rPr sz="1800" dirty="0">
                <a:solidFill>
                  <a:srgbClr val="0F2044"/>
                </a:solidFill>
                <a:latin typeface="Arial MT"/>
                <a:cs typeface="Arial MT"/>
              </a:rPr>
              <a:t>but</a:t>
            </a:r>
            <a:r>
              <a:rPr sz="1800" spc="-20" dirty="0">
                <a:solidFill>
                  <a:srgbClr val="0F2044"/>
                </a:solidFill>
                <a:latin typeface="Arial MT"/>
                <a:cs typeface="Arial MT"/>
              </a:rPr>
              <a:t> </a:t>
            </a:r>
            <a:r>
              <a:rPr sz="1800" dirty="0">
                <a:solidFill>
                  <a:srgbClr val="0F2044"/>
                </a:solidFill>
                <a:latin typeface="Arial MT"/>
                <a:cs typeface="Arial MT"/>
              </a:rPr>
              <a:t>from</a:t>
            </a:r>
            <a:r>
              <a:rPr sz="1800" spc="-15" dirty="0">
                <a:solidFill>
                  <a:srgbClr val="0F2044"/>
                </a:solidFill>
                <a:latin typeface="Arial MT"/>
                <a:cs typeface="Arial MT"/>
              </a:rPr>
              <a:t> </a:t>
            </a:r>
            <a:r>
              <a:rPr sz="1800" spc="-50" dirty="0">
                <a:solidFill>
                  <a:srgbClr val="0F2044"/>
                </a:solidFill>
                <a:latin typeface="Arial MT"/>
                <a:cs typeface="Arial MT"/>
              </a:rPr>
              <a:t>a </a:t>
            </a:r>
            <a:r>
              <a:rPr sz="1800" dirty="0">
                <a:solidFill>
                  <a:srgbClr val="0F2044"/>
                </a:solidFill>
                <a:latin typeface="Arial MT"/>
                <a:cs typeface="Arial MT"/>
              </a:rPr>
              <a:t>physical</a:t>
            </a:r>
            <a:r>
              <a:rPr sz="1800" spc="-30" dirty="0">
                <a:solidFill>
                  <a:srgbClr val="0F2044"/>
                </a:solidFill>
                <a:latin typeface="Arial MT"/>
                <a:cs typeface="Arial MT"/>
              </a:rPr>
              <a:t> </a:t>
            </a:r>
            <a:r>
              <a:rPr sz="1800" dirty="0">
                <a:solidFill>
                  <a:srgbClr val="0F2044"/>
                </a:solidFill>
                <a:latin typeface="Arial MT"/>
                <a:cs typeface="Arial MT"/>
              </a:rPr>
              <a:t>point</a:t>
            </a:r>
            <a:r>
              <a:rPr sz="1800" spc="-25" dirty="0">
                <a:solidFill>
                  <a:srgbClr val="0F2044"/>
                </a:solidFill>
                <a:latin typeface="Arial MT"/>
                <a:cs typeface="Arial MT"/>
              </a:rPr>
              <a:t> </a:t>
            </a:r>
            <a:r>
              <a:rPr sz="1800" dirty="0">
                <a:solidFill>
                  <a:srgbClr val="0F2044"/>
                </a:solidFill>
                <a:latin typeface="Arial MT"/>
                <a:cs typeface="Arial MT"/>
              </a:rPr>
              <a:t>of</a:t>
            </a:r>
            <a:r>
              <a:rPr sz="1800" spc="-30" dirty="0">
                <a:solidFill>
                  <a:srgbClr val="0F2044"/>
                </a:solidFill>
                <a:latin typeface="Arial MT"/>
                <a:cs typeface="Arial MT"/>
              </a:rPr>
              <a:t> </a:t>
            </a:r>
            <a:r>
              <a:rPr sz="1800" dirty="0">
                <a:solidFill>
                  <a:srgbClr val="0F2044"/>
                </a:solidFill>
                <a:latin typeface="Arial MT"/>
                <a:cs typeface="Arial MT"/>
              </a:rPr>
              <a:t>view,</a:t>
            </a:r>
            <a:r>
              <a:rPr sz="1800" spc="-25" dirty="0">
                <a:solidFill>
                  <a:srgbClr val="0F2044"/>
                </a:solidFill>
                <a:latin typeface="Arial MT"/>
                <a:cs typeface="Arial MT"/>
              </a:rPr>
              <a:t> </a:t>
            </a:r>
            <a:r>
              <a:rPr sz="1800" dirty="0">
                <a:solidFill>
                  <a:srgbClr val="0F2044"/>
                </a:solidFill>
                <a:latin typeface="Arial MT"/>
                <a:cs typeface="Arial MT"/>
              </a:rPr>
              <a:t>it</a:t>
            </a:r>
            <a:r>
              <a:rPr sz="1800" spc="-30" dirty="0">
                <a:solidFill>
                  <a:srgbClr val="0F2044"/>
                </a:solidFill>
                <a:latin typeface="Arial MT"/>
                <a:cs typeface="Arial MT"/>
              </a:rPr>
              <a:t> </a:t>
            </a:r>
            <a:r>
              <a:rPr sz="1800" dirty="0">
                <a:solidFill>
                  <a:srgbClr val="0F2044"/>
                </a:solidFill>
                <a:latin typeface="Arial MT"/>
                <a:cs typeface="Arial MT"/>
              </a:rPr>
              <a:t>is</a:t>
            </a:r>
            <a:r>
              <a:rPr sz="1800" spc="-25" dirty="0">
                <a:solidFill>
                  <a:srgbClr val="0F2044"/>
                </a:solidFill>
                <a:latin typeface="Arial MT"/>
                <a:cs typeface="Arial MT"/>
              </a:rPr>
              <a:t> </a:t>
            </a:r>
            <a:r>
              <a:rPr sz="1800" dirty="0">
                <a:solidFill>
                  <a:srgbClr val="0F2044"/>
                </a:solidFill>
                <a:latin typeface="Arial MT"/>
                <a:cs typeface="Arial MT"/>
              </a:rPr>
              <a:t>highly</a:t>
            </a:r>
            <a:r>
              <a:rPr sz="1800" spc="-30" dirty="0">
                <a:solidFill>
                  <a:srgbClr val="0F2044"/>
                </a:solidFill>
                <a:latin typeface="Arial MT"/>
                <a:cs typeface="Arial MT"/>
              </a:rPr>
              <a:t> </a:t>
            </a:r>
            <a:r>
              <a:rPr sz="1800" dirty="0">
                <a:solidFill>
                  <a:srgbClr val="0F2044"/>
                </a:solidFill>
                <a:latin typeface="Arial MT"/>
                <a:cs typeface="Arial MT"/>
              </a:rPr>
              <a:t>likely</a:t>
            </a:r>
            <a:r>
              <a:rPr sz="1800" spc="-25" dirty="0">
                <a:solidFill>
                  <a:srgbClr val="0F2044"/>
                </a:solidFill>
                <a:latin typeface="Arial MT"/>
                <a:cs typeface="Arial MT"/>
              </a:rPr>
              <a:t> to </a:t>
            </a:r>
            <a:r>
              <a:rPr sz="1800" dirty="0">
                <a:solidFill>
                  <a:srgbClr val="0F2044"/>
                </a:solidFill>
                <a:latin typeface="Arial MT"/>
                <a:cs typeface="Arial MT"/>
              </a:rPr>
              <a:t>have</a:t>
            </a:r>
            <a:r>
              <a:rPr sz="1800" spc="-30" dirty="0">
                <a:solidFill>
                  <a:srgbClr val="0F2044"/>
                </a:solidFill>
                <a:latin typeface="Arial MT"/>
                <a:cs typeface="Arial MT"/>
              </a:rPr>
              <a:t> </a:t>
            </a:r>
            <a:r>
              <a:rPr sz="1800" dirty="0">
                <a:solidFill>
                  <a:srgbClr val="0F2044"/>
                </a:solidFill>
                <a:latin typeface="Arial MT"/>
                <a:cs typeface="Arial MT"/>
              </a:rPr>
              <a:t>a</a:t>
            </a:r>
            <a:r>
              <a:rPr sz="1800" spc="-25" dirty="0">
                <a:solidFill>
                  <a:srgbClr val="0F2044"/>
                </a:solidFill>
                <a:latin typeface="Arial MT"/>
                <a:cs typeface="Arial MT"/>
              </a:rPr>
              <a:t> </a:t>
            </a:r>
            <a:r>
              <a:rPr sz="1800" dirty="0">
                <a:solidFill>
                  <a:srgbClr val="0F2044"/>
                </a:solidFill>
                <a:latin typeface="Arial MT"/>
                <a:cs typeface="Arial MT"/>
              </a:rPr>
              <a:t>jumbled</a:t>
            </a:r>
            <a:r>
              <a:rPr sz="1800" spc="-30" dirty="0">
                <a:solidFill>
                  <a:srgbClr val="0F2044"/>
                </a:solidFill>
                <a:latin typeface="Arial MT"/>
                <a:cs typeface="Arial MT"/>
              </a:rPr>
              <a:t> </a:t>
            </a:r>
            <a:r>
              <a:rPr sz="1800" dirty="0">
                <a:solidFill>
                  <a:srgbClr val="0F2044"/>
                </a:solidFill>
                <a:latin typeface="Arial MT"/>
                <a:cs typeface="Arial MT"/>
              </a:rPr>
              <a:t>connection</a:t>
            </a:r>
            <a:r>
              <a:rPr sz="1800" spc="-25" dirty="0">
                <a:solidFill>
                  <a:srgbClr val="0F2044"/>
                </a:solidFill>
                <a:latin typeface="Arial MT"/>
                <a:cs typeface="Arial MT"/>
              </a:rPr>
              <a:t> </a:t>
            </a:r>
            <a:r>
              <a:rPr sz="1800" spc="-10" dirty="0">
                <a:solidFill>
                  <a:srgbClr val="0F2044"/>
                </a:solidFill>
                <a:latin typeface="Arial MT"/>
                <a:cs typeface="Arial MT"/>
              </a:rPr>
              <a:t>relationship.</a:t>
            </a:r>
            <a:endParaRPr sz="1800" dirty="0">
              <a:latin typeface="Arial MT"/>
              <a:cs typeface="Arial MT"/>
            </a:endParaRPr>
          </a:p>
          <a:p>
            <a:pPr>
              <a:lnSpc>
                <a:spcPct val="114000"/>
              </a:lnSpc>
              <a:spcBef>
                <a:spcPts val="90"/>
              </a:spcBef>
            </a:pPr>
            <a:endParaRPr sz="1800" dirty="0">
              <a:latin typeface="Arial MT"/>
              <a:cs typeface="Arial MT"/>
            </a:endParaRPr>
          </a:p>
          <a:p>
            <a:pPr marL="12700" marR="5715">
              <a:lnSpc>
                <a:spcPct val="114000"/>
              </a:lnSpc>
            </a:pPr>
            <a:r>
              <a:rPr sz="1800" b="1" dirty="0">
                <a:solidFill>
                  <a:srgbClr val="980000"/>
                </a:solidFill>
                <a:latin typeface="Arial MT"/>
                <a:cs typeface="Arial MT"/>
              </a:rPr>
              <a:t>Why?</a:t>
            </a:r>
            <a:r>
              <a:rPr sz="1800" b="1" spc="-40" dirty="0">
                <a:solidFill>
                  <a:srgbClr val="980000"/>
                </a:solidFill>
                <a:latin typeface="Arial MT"/>
                <a:cs typeface="Arial MT"/>
              </a:rPr>
              <a:t> </a:t>
            </a:r>
            <a:endParaRPr lang="en-US" sz="1800" b="1" spc="-40" dirty="0">
              <a:solidFill>
                <a:srgbClr val="980000"/>
              </a:solidFill>
              <a:latin typeface="Arial MT"/>
              <a:cs typeface="Arial MT"/>
            </a:endParaRPr>
          </a:p>
          <a:p>
            <a:pPr marL="12700" marR="5715">
              <a:lnSpc>
                <a:spcPct val="114000"/>
              </a:lnSpc>
            </a:pPr>
            <a:endParaRPr lang="en-US" spc="-40" dirty="0">
              <a:solidFill>
                <a:srgbClr val="0F2044"/>
              </a:solidFill>
              <a:latin typeface="Arial MT"/>
              <a:cs typeface="Arial MT"/>
            </a:endParaRPr>
          </a:p>
          <a:p>
            <a:pPr marL="12700" marR="5715">
              <a:lnSpc>
                <a:spcPct val="114000"/>
              </a:lnSpc>
            </a:pPr>
            <a:r>
              <a:rPr sz="1800" dirty="0">
                <a:solidFill>
                  <a:srgbClr val="0F2044"/>
                </a:solidFill>
                <a:latin typeface="Arial MT"/>
                <a:cs typeface="Arial MT"/>
              </a:rPr>
              <a:t>Because</a:t>
            </a:r>
            <a:r>
              <a:rPr sz="1800" spc="-25" dirty="0">
                <a:solidFill>
                  <a:srgbClr val="0F2044"/>
                </a:solidFill>
                <a:latin typeface="Arial MT"/>
                <a:cs typeface="Arial MT"/>
              </a:rPr>
              <a:t> </a:t>
            </a:r>
            <a:r>
              <a:rPr sz="1800" dirty="0">
                <a:solidFill>
                  <a:srgbClr val="0F2044"/>
                </a:solidFill>
                <a:latin typeface="Arial MT"/>
                <a:cs typeface="Arial MT"/>
              </a:rPr>
              <a:t>Free</a:t>
            </a:r>
            <a:r>
              <a:rPr sz="1800" spc="-25" dirty="0">
                <a:solidFill>
                  <a:srgbClr val="0F2044"/>
                </a:solidFill>
                <a:latin typeface="Arial MT"/>
                <a:cs typeface="Arial MT"/>
              </a:rPr>
              <a:t> </a:t>
            </a:r>
            <a:r>
              <a:rPr sz="1800" dirty="0">
                <a:solidFill>
                  <a:srgbClr val="0F2044"/>
                </a:solidFill>
                <a:latin typeface="Arial MT"/>
                <a:cs typeface="Arial MT"/>
              </a:rPr>
              <a:t>is</a:t>
            </a:r>
            <a:r>
              <a:rPr sz="1800" spc="-30" dirty="0">
                <a:solidFill>
                  <a:srgbClr val="0F2044"/>
                </a:solidFill>
                <a:latin typeface="Arial MT"/>
                <a:cs typeface="Arial MT"/>
              </a:rPr>
              <a:t> </a:t>
            </a:r>
            <a:r>
              <a:rPr sz="1800" dirty="0">
                <a:solidFill>
                  <a:srgbClr val="0F2044"/>
                </a:solidFill>
                <a:latin typeface="Arial MT"/>
                <a:cs typeface="Arial MT"/>
              </a:rPr>
              <a:t>not</a:t>
            </a:r>
            <a:r>
              <a:rPr sz="1800" spc="-25" dirty="0">
                <a:solidFill>
                  <a:srgbClr val="0F2044"/>
                </a:solidFill>
                <a:latin typeface="Arial MT"/>
                <a:cs typeface="Arial MT"/>
              </a:rPr>
              <a:t> </a:t>
            </a:r>
            <a:r>
              <a:rPr sz="1800" dirty="0">
                <a:solidFill>
                  <a:srgbClr val="0F2044"/>
                </a:solidFill>
                <a:latin typeface="Arial MT"/>
                <a:cs typeface="Arial MT"/>
              </a:rPr>
              <a:t>done</a:t>
            </a:r>
            <a:r>
              <a:rPr sz="1800" spc="-25" dirty="0">
                <a:solidFill>
                  <a:srgbClr val="0F2044"/>
                </a:solidFill>
                <a:latin typeface="Arial MT"/>
                <a:cs typeface="Arial MT"/>
              </a:rPr>
              <a:t> </a:t>
            </a:r>
            <a:r>
              <a:rPr sz="1800" dirty="0">
                <a:solidFill>
                  <a:srgbClr val="0F2044"/>
                </a:solidFill>
                <a:latin typeface="Arial MT"/>
                <a:cs typeface="Arial MT"/>
              </a:rPr>
              <a:t>in</a:t>
            </a:r>
            <a:r>
              <a:rPr sz="1800" spc="-30" dirty="0">
                <a:solidFill>
                  <a:srgbClr val="0F2044"/>
                </a:solidFill>
                <a:latin typeface="Arial MT"/>
                <a:cs typeface="Arial MT"/>
              </a:rPr>
              <a:t> </a:t>
            </a:r>
            <a:r>
              <a:rPr sz="1800" dirty="0">
                <a:solidFill>
                  <a:srgbClr val="0F2044"/>
                </a:solidFill>
                <a:latin typeface="Arial MT"/>
                <a:cs typeface="Arial MT"/>
              </a:rPr>
              <a:t>order.</a:t>
            </a:r>
            <a:r>
              <a:rPr sz="1800" spc="-25" dirty="0">
                <a:solidFill>
                  <a:srgbClr val="0F2044"/>
                </a:solidFill>
                <a:latin typeface="Arial MT"/>
                <a:cs typeface="Arial MT"/>
              </a:rPr>
              <a:t> </a:t>
            </a:r>
            <a:br>
              <a:rPr lang="en-US" sz="1800" spc="-25" dirty="0">
                <a:solidFill>
                  <a:srgbClr val="0F2044"/>
                </a:solidFill>
                <a:latin typeface="Arial MT"/>
                <a:cs typeface="Arial MT"/>
              </a:rPr>
            </a:br>
            <a:r>
              <a:rPr sz="1800" dirty="0">
                <a:solidFill>
                  <a:srgbClr val="0F2044"/>
                </a:solidFill>
                <a:latin typeface="Arial MT"/>
                <a:cs typeface="Arial MT"/>
              </a:rPr>
              <a:t>It</a:t>
            </a:r>
            <a:r>
              <a:rPr sz="1800" spc="-25" dirty="0">
                <a:solidFill>
                  <a:srgbClr val="0F2044"/>
                </a:solidFill>
                <a:latin typeface="Arial MT"/>
                <a:cs typeface="Arial MT"/>
              </a:rPr>
              <a:t> is </a:t>
            </a:r>
            <a:r>
              <a:rPr sz="1800" dirty="0">
                <a:solidFill>
                  <a:srgbClr val="0F2044"/>
                </a:solidFill>
                <a:latin typeface="Arial MT"/>
                <a:cs typeface="Arial MT"/>
              </a:rPr>
              <a:t>bound</a:t>
            </a:r>
            <a:r>
              <a:rPr sz="1800" spc="-20" dirty="0">
                <a:solidFill>
                  <a:srgbClr val="0F2044"/>
                </a:solidFill>
                <a:latin typeface="Arial MT"/>
                <a:cs typeface="Arial MT"/>
              </a:rPr>
              <a:t> </a:t>
            </a:r>
            <a:r>
              <a:rPr sz="1800" dirty="0">
                <a:solidFill>
                  <a:srgbClr val="0F2044"/>
                </a:solidFill>
                <a:latin typeface="Arial MT"/>
                <a:cs typeface="Arial MT"/>
              </a:rPr>
              <a:t>to</a:t>
            </a:r>
            <a:r>
              <a:rPr sz="1800" spc="-20" dirty="0">
                <a:solidFill>
                  <a:srgbClr val="0F2044"/>
                </a:solidFill>
                <a:latin typeface="Arial MT"/>
                <a:cs typeface="Arial MT"/>
              </a:rPr>
              <a:t> </a:t>
            </a:r>
            <a:r>
              <a:rPr sz="1800" dirty="0">
                <a:solidFill>
                  <a:srgbClr val="0F2044"/>
                </a:solidFill>
                <a:latin typeface="Arial MT"/>
                <a:cs typeface="Arial MT"/>
              </a:rPr>
              <a:t>get</a:t>
            </a:r>
            <a:r>
              <a:rPr sz="1800" spc="-20" dirty="0">
                <a:solidFill>
                  <a:srgbClr val="0F2044"/>
                </a:solidFill>
                <a:latin typeface="Arial MT"/>
                <a:cs typeface="Arial MT"/>
              </a:rPr>
              <a:t> </a:t>
            </a:r>
            <a:r>
              <a:rPr sz="1800" dirty="0">
                <a:solidFill>
                  <a:srgbClr val="0F2044"/>
                </a:solidFill>
                <a:latin typeface="Arial MT"/>
                <a:cs typeface="Arial MT"/>
              </a:rPr>
              <a:t>mixed</a:t>
            </a:r>
            <a:r>
              <a:rPr sz="1800" spc="-15" dirty="0">
                <a:solidFill>
                  <a:srgbClr val="0F2044"/>
                </a:solidFill>
                <a:latin typeface="Arial MT"/>
                <a:cs typeface="Arial MT"/>
              </a:rPr>
              <a:t> </a:t>
            </a:r>
            <a:r>
              <a:rPr sz="1800" spc="-25" dirty="0">
                <a:solidFill>
                  <a:srgbClr val="0F2044"/>
                </a:solidFill>
                <a:latin typeface="Arial MT"/>
                <a:cs typeface="Arial MT"/>
              </a:rPr>
              <a:t>up.</a:t>
            </a:r>
            <a:endParaRPr sz="1800" dirty="0">
              <a:latin typeface="Arial MT"/>
              <a:cs typeface="Arial MT"/>
            </a:endParaRPr>
          </a:p>
        </p:txBody>
      </p:sp>
      <p:pic>
        <p:nvPicPr>
          <p:cNvPr id="3" name="object 3">
            <a:extLst>
              <a:ext uri="{C183D7F6-B498-43B3-948B-1728B52AA6E4}">
                <adec:decorative xmlns:adec="http://schemas.microsoft.com/office/drawing/2017/decorative" val="1"/>
              </a:ext>
            </a:extLst>
          </p:cNvPr>
          <p:cNvPicPr/>
          <p:nvPr/>
        </p:nvPicPr>
        <p:blipFill>
          <a:blip r:embed="rId3" cstate="print"/>
          <a:stretch>
            <a:fillRect/>
          </a:stretch>
        </p:blipFill>
        <p:spPr>
          <a:xfrm>
            <a:off x="6498843" y="1799518"/>
            <a:ext cx="5159757" cy="387537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500"/>
                                        <p:tgtEl>
                                          <p:spTgt spid="4">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4" end="4"/>
                                            </p:txEl>
                                          </p:spTgt>
                                        </p:tgtEl>
                                        <p:attrNameLst>
                                          <p:attrName>style.visibility</p:attrName>
                                        </p:attrNameLst>
                                      </p:cBhvr>
                                      <p:to>
                                        <p:strVal val="visible"/>
                                      </p:to>
                                    </p:set>
                                    <p:animEffect transition="in" filter="fade">
                                      <p:cBhvr>
                                        <p:cTn id="12"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Case</a:t>
            </a:r>
            <a:r>
              <a:rPr spc="-35" dirty="0"/>
              <a:t> </a:t>
            </a:r>
            <a:r>
              <a:rPr dirty="0"/>
              <a:t>1:</a:t>
            </a:r>
            <a:r>
              <a:rPr spc="-30" dirty="0"/>
              <a:t> </a:t>
            </a:r>
            <a:r>
              <a:rPr dirty="0"/>
              <a:t>No</a:t>
            </a:r>
            <a:r>
              <a:rPr spc="-35" dirty="0"/>
              <a:t> </a:t>
            </a:r>
            <a:r>
              <a:rPr spc="-10" dirty="0"/>
              <a:t>Coalescing</a:t>
            </a:r>
            <a:r>
              <a:rPr spc="-30" dirty="0"/>
              <a:t> </a:t>
            </a:r>
            <a:r>
              <a:rPr spc="-10" dirty="0"/>
              <a:t>Needed</a:t>
            </a:r>
          </a:p>
        </p:txBody>
      </p:sp>
      <p:pic>
        <p:nvPicPr>
          <p:cNvPr id="3" name="object 3" descr="An illustration of &quot;Freeing With a LIFO Policy (Case 1).&quot; It demonstrates a newly freed block being inserted at the &quot;Root&quot; of the list, with pointers updated to make it the first element in the sequence."/>
          <p:cNvPicPr/>
          <p:nvPr/>
        </p:nvPicPr>
        <p:blipFill>
          <a:blip r:embed="rId3" cstate="print"/>
          <a:stretch>
            <a:fillRect/>
          </a:stretch>
        </p:blipFill>
        <p:spPr>
          <a:xfrm>
            <a:off x="477738" y="2420254"/>
            <a:ext cx="5936865" cy="4051037"/>
          </a:xfrm>
          <a:prstGeom prst="rect">
            <a:avLst/>
          </a:prstGeom>
        </p:spPr>
      </p:pic>
      <p:sp>
        <p:nvSpPr>
          <p:cNvPr id="4" name="object 4"/>
          <p:cNvSpPr txBox="1"/>
          <p:nvPr/>
        </p:nvSpPr>
        <p:spPr>
          <a:xfrm>
            <a:off x="6951376" y="3241781"/>
            <a:ext cx="4773295" cy="2538452"/>
          </a:xfrm>
          <a:prstGeom prst="rect">
            <a:avLst/>
          </a:prstGeom>
        </p:spPr>
        <p:txBody>
          <a:bodyPr vert="horz" wrap="square" lIns="0" tIns="12700" rIns="0" bIns="0" rtlCol="0">
            <a:spAutoFit/>
          </a:bodyPr>
          <a:lstStyle/>
          <a:p>
            <a:pPr marL="431800" marR="5080" indent="-419734">
              <a:lnSpc>
                <a:spcPct val="114000"/>
              </a:lnSpc>
              <a:spcBef>
                <a:spcPts val="100"/>
              </a:spcBef>
              <a:buAutoNum type="arabicPeriod"/>
              <a:tabLst>
                <a:tab pos="431800" algn="l"/>
              </a:tabLst>
            </a:pPr>
            <a:r>
              <a:rPr sz="1800" b="1" spc="-10" dirty="0">
                <a:solidFill>
                  <a:srgbClr val="0F2044"/>
                </a:solidFill>
                <a:latin typeface="Arial MT"/>
                <a:cs typeface="Arial MT"/>
              </a:rPr>
              <a:t>Before:</a:t>
            </a:r>
            <a:r>
              <a:rPr sz="1800" spc="-105" dirty="0">
                <a:solidFill>
                  <a:srgbClr val="0F2044"/>
                </a:solidFill>
                <a:latin typeface="Arial MT"/>
                <a:cs typeface="Arial MT"/>
              </a:rPr>
              <a:t> </a:t>
            </a:r>
            <a:r>
              <a:rPr sz="1800" dirty="0">
                <a:solidFill>
                  <a:srgbClr val="0F2044"/>
                </a:solidFill>
                <a:latin typeface="Arial MT"/>
                <a:cs typeface="Arial MT"/>
              </a:rPr>
              <a:t>A</a:t>
            </a:r>
            <a:r>
              <a:rPr sz="1800" spc="-105" dirty="0">
                <a:solidFill>
                  <a:srgbClr val="0F2044"/>
                </a:solidFill>
                <a:latin typeface="Arial MT"/>
                <a:cs typeface="Arial MT"/>
              </a:rPr>
              <a:t> </a:t>
            </a:r>
            <a:r>
              <a:rPr sz="1800" dirty="0">
                <a:solidFill>
                  <a:srgbClr val="0F2044"/>
                </a:solidFill>
                <a:latin typeface="Arial MT"/>
                <a:cs typeface="Arial MT"/>
              </a:rPr>
              <a:t>block</a:t>
            </a:r>
            <a:r>
              <a:rPr sz="1800" spc="-5" dirty="0">
                <a:solidFill>
                  <a:srgbClr val="0F2044"/>
                </a:solidFill>
                <a:latin typeface="Arial MT"/>
                <a:cs typeface="Arial MT"/>
              </a:rPr>
              <a:t> </a:t>
            </a:r>
            <a:r>
              <a:rPr sz="1800" dirty="0">
                <a:solidFill>
                  <a:srgbClr val="0F2044"/>
                </a:solidFill>
                <a:latin typeface="Arial MT"/>
                <a:cs typeface="Arial MT"/>
              </a:rPr>
              <a:t>of</a:t>
            </a:r>
            <a:r>
              <a:rPr sz="1800" spc="-5" dirty="0">
                <a:solidFill>
                  <a:srgbClr val="0F2044"/>
                </a:solidFill>
                <a:latin typeface="Arial MT"/>
                <a:cs typeface="Arial MT"/>
              </a:rPr>
              <a:t> </a:t>
            </a:r>
            <a:r>
              <a:rPr sz="1800" dirty="0">
                <a:solidFill>
                  <a:srgbClr val="0F2044"/>
                </a:solidFill>
                <a:latin typeface="Arial MT"/>
                <a:cs typeface="Arial MT"/>
              </a:rPr>
              <a:t>memory</a:t>
            </a:r>
            <a:r>
              <a:rPr sz="1800" spc="-5" dirty="0">
                <a:solidFill>
                  <a:srgbClr val="0F2044"/>
                </a:solidFill>
                <a:latin typeface="Arial MT"/>
                <a:cs typeface="Arial MT"/>
              </a:rPr>
              <a:t> </a:t>
            </a:r>
            <a:r>
              <a:rPr sz="1800" dirty="0">
                <a:solidFill>
                  <a:srgbClr val="0F2044"/>
                </a:solidFill>
                <a:latin typeface="Arial MT"/>
                <a:cs typeface="Arial MT"/>
              </a:rPr>
              <a:t>is</a:t>
            </a:r>
            <a:r>
              <a:rPr sz="1800" spc="-5" dirty="0">
                <a:solidFill>
                  <a:srgbClr val="0F2044"/>
                </a:solidFill>
                <a:latin typeface="Arial MT"/>
                <a:cs typeface="Arial MT"/>
              </a:rPr>
              <a:t> </a:t>
            </a:r>
            <a:r>
              <a:rPr sz="1800" dirty="0">
                <a:solidFill>
                  <a:srgbClr val="0F2044"/>
                </a:solidFill>
                <a:latin typeface="Arial MT"/>
                <a:cs typeface="Arial MT"/>
              </a:rPr>
              <a:t>freed,</a:t>
            </a:r>
            <a:r>
              <a:rPr sz="1800" spc="-5" dirty="0">
                <a:solidFill>
                  <a:srgbClr val="0F2044"/>
                </a:solidFill>
                <a:latin typeface="Arial MT"/>
                <a:cs typeface="Arial MT"/>
              </a:rPr>
              <a:t> </a:t>
            </a:r>
            <a:r>
              <a:rPr sz="1800" dirty="0">
                <a:solidFill>
                  <a:srgbClr val="0F2044"/>
                </a:solidFill>
                <a:latin typeface="Arial MT"/>
                <a:cs typeface="Arial MT"/>
              </a:rPr>
              <a:t>and</a:t>
            </a:r>
            <a:r>
              <a:rPr sz="1800" spc="30" dirty="0">
                <a:solidFill>
                  <a:srgbClr val="0F2044"/>
                </a:solidFill>
                <a:latin typeface="Arial MT"/>
                <a:cs typeface="Arial MT"/>
              </a:rPr>
              <a:t> </a:t>
            </a:r>
            <a:r>
              <a:rPr sz="1800" spc="-20" dirty="0">
                <a:solidFill>
                  <a:srgbClr val="0F2044"/>
                </a:solidFill>
                <a:latin typeface="Arial MT"/>
                <a:cs typeface="Arial MT"/>
              </a:rPr>
              <a:t>it’s </a:t>
            </a:r>
            <a:r>
              <a:rPr sz="1800" dirty="0">
                <a:solidFill>
                  <a:srgbClr val="0F2044"/>
                </a:solidFill>
                <a:latin typeface="Arial MT"/>
                <a:cs typeface="Arial MT"/>
              </a:rPr>
              <a:t>not</a:t>
            </a:r>
            <a:r>
              <a:rPr sz="1800" spc="-30" dirty="0">
                <a:solidFill>
                  <a:srgbClr val="0F2044"/>
                </a:solidFill>
                <a:latin typeface="Arial MT"/>
                <a:cs typeface="Arial MT"/>
              </a:rPr>
              <a:t> </a:t>
            </a:r>
            <a:r>
              <a:rPr sz="1800" dirty="0">
                <a:solidFill>
                  <a:srgbClr val="0F2044"/>
                </a:solidFill>
                <a:latin typeface="Arial MT"/>
                <a:cs typeface="Arial MT"/>
              </a:rPr>
              <a:t>adjacent</a:t>
            </a:r>
            <a:r>
              <a:rPr sz="1800" spc="-15" dirty="0">
                <a:solidFill>
                  <a:srgbClr val="0F2044"/>
                </a:solidFill>
                <a:latin typeface="Arial MT"/>
                <a:cs typeface="Arial MT"/>
              </a:rPr>
              <a:t> </a:t>
            </a:r>
            <a:r>
              <a:rPr sz="1800" dirty="0">
                <a:solidFill>
                  <a:srgbClr val="0F2044"/>
                </a:solidFill>
                <a:latin typeface="Arial MT"/>
                <a:cs typeface="Arial MT"/>
              </a:rPr>
              <a:t>to</a:t>
            </a:r>
            <a:r>
              <a:rPr sz="1800" spc="-15" dirty="0">
                <a:solidFill>
                  <a:srgbClr val="0F2044"/>
                </a:solidFill>
                <a:latin typeface="Arial MT"/>
                <a:cs typeface="Arial MT"/>
              </a:rPr>
              <a:t> </a:t>
            </a:r>
            <a:r>
              <a:rPr sz="1800" dirty="0">
                <a:solidFill>
                  <a:srgbClr val="0F2044"/>
                </a:solidFill>
                <a:latin typeface="Arial MT"/>
                <a:cs typeface="Arial MT"/>
              </a:rPr>
              <a:t>any</a:t>
            </a:r>
            <a:r>
              <a:rPr sz="1800" spc="-15" dirty="0">
                <a:solidFill>
                  <a:srgbClr val="0F2044"/>
                </a:solidFill>
                <a:latin typeface="Arial MT"/>
                <a:cs typeface="Arial MT"/>
              </a:rPr>
              <a:t> </a:t>
            </a:r>
            <a:r>
              <a:rPr sz="1800" dirty="0">
                <a:solidFill>
                  <a:srgbClr val="0F2044"/>
                </a:solidFill>
                <a:latin typeface="Arial MT"/>
                <a:cs typeface="Arial MT"/>
              </a:rPr>
              <a:t>other</a:t>
            </a:r>
            <a:r>
              <a:rPr sz="1800" spc="-15" dirty="0">
                <a:solidFill>
                  <a:srgbClr val="0F2044"/>
                </a:solidFill>
                <a:latin typeface="Arial MT"/>
                <a:cs typeface="Arial MT"/>
              </a:rPr>
              <a:t> </a:t>
            </a:r>
            <a:r>
              <a:rPr sz="1800" dirty="0">
                <a:solidFill>
                  <a:srgbClr val="0F2044"/>
                </a:solidFill>
                <a:latin typeface="Arial MT"/>
                <a:cs typeface="Arial MT"/>
              </a:rPr>
              <a:t>free</a:t>
            </a:r>
            <a:r>
              <a:rPr sz="1800" spc="-15" dirty="0">
                <a:solidFill>
                  <a:srgbClr val="0F2044"/>
                </a:solidFill>
                <a:latin typeface="Arial MT"/>
                <a:cs typeface="Arial MT"/>
              </a:rPr>
              <a:t> </a:t>
            </a:r>
            <a:r>
              <a:rPr sz="1800" spc="-10" dirty="0">
                <a:solidFill>
                  <a:srgbClr val="0F2044"/>
                </a:solidFill>
                <a:latin typeface="Arial MT"/>
                <a:cs typeface="Arial MT"/>
              </a:rPr>
              <a:t>block.</a:t>
            </a:r>
            <a:endParaRPr sz="1800" dirty="0">
              <a:latin typeface="Arial MT"/>
              <a:cs typeface="Arial MT"/>
            </a:endParaRPr>
          </a:p>
          <a:p>
            <a:pPr>
              <a:lnSpc>
                <a:spcPct val="114000"/>
              </a:lnSpc>
              <a:spcBef>
                <a:spcPts val="90"/>
              </a:spcBef>
              <a:buClr>
                <a:srgbClr val="0F2044"/>
              </a:buClr>
              <a:buFont typeface="Arial MT"/>
              <a:buAutoNum type="arabicPeriod"/>
            </a:pPr>
            <a:endParaRPr sz="1800" dirty="0">
              <a:latin typeface="Arial MT"/>
              <a:cs typeface="Arial MT"/>
            </a:endParaRPr>
          </a:p>
          <a:p>
            <a:pPr marL="431800" marR="334010" indent="-419734">
              <a:lnSpc>
                <a:spcPct val="114000"/>
              </a:lnSpc>
              <a:buAutoNum type="arabicPeriod"/>
              <a:tabLst>
                <a:tab pos="431800" algn="l"/>
              </a:tabLst>
            </a:pPr>
            <a:r>
              <a:rPr sz="1800" b="1" dirty="0">
                <a:solidFill>
                  <a:srgbClr val="0F2044"/>
                </a:solidFill>
                <a:latin typeface="Arial MT"/>
                <a:cs typeface="Arial MT"/>
              </a:rPr>
              <a:t>Action:</a:t>
            </a:r>
            <a:r>
              <a:rPr sz="1800" spc="-25" dirty="0">
                <a:solidFill>
                  <a:srgbClr val="0F2044"/>
                </a:solidFill>
                <a:latin typeface="Arial MT"/>
                <a:cs typeface="Arial MT"/>
              </a:rPr>
              <a:t> </a:t>
            </a:r>
            <a:r>
              <a:rPr sz="1800" dirty="0">
                <a:solidFill>
                  <a:srgbClr val="0F2044"/>
                </a:solidFill>
                <a:latin typeface="Arial MT"/>
                <a:cs typeface="Arial MT"/>
              </a:rPr>
              <a:t>Simply</a:t>
            </a:r>
            <a:r>
              <a:rPr sz="1800" spc="-15" dirty="0">
                <a:solidFill>
                  <a:srgbClr val="0F2044"/>
                </a:solidFill>
                <a:latin typeface="Arial MT"/>
                <a:cs typeface="Arial MT"/>
              </a:rPr>
              <a:t> </a:t>
            </a:r>
            <a:r>
              <a:rPr sz="1800" dirty="0">
                <a:solidFill>
                  <a:srgbClr val="0F2044"/>
                </a:solidFill>
                <a:latin typeface="Arial MT"/>
                <a:cs typeface="Arial MT"/>
              </a:rPr>
              <a:t>add</a:t>
            </a:r>
            <a:r>
              <a:rPr sz="1800" spc="-15" dirty="0">
                <a:solidFill>
                  <a:srgbClr val="0F2044"/>
                </a:solidFill>
                <a:latin typeface="Arial MT"/>
                <a:cs typeface="Arial MT"/>
              </a:rPr>
              <a:t> </a:t>
            </a:r>
            <a:r>
              <a:rPr sz="1800" dirty="0">
                <a:solidFill>
                  <a:srgbClr val="0F2044"/>
                </a:solidFill>
                <a:latin typeface="Arial MT"/>
                <a:cs typeface="Arial MT"/>
              </a:rPr>
              <a:t>this</a:t>
            </a:r>
            <a:r>
              <a:rPr sz="1800" spc="-10" dirty="0">
                <a:solidFill>
                  <a:srgbClr val="0F2044"/>
                </a:solidFill>
                <a:latin typeface="Arial MT"/>
                <a:cs typeface="Arial MT"/>
              </a:rPr>
              <a:t> </a:t>
            </a:r>
            <a:r>
              <a:rPr sz="1800" dirty="0">
                <a:solidFill>
                  <a:srgbClr val="0F2044"/>
                </a:solidFill>
                <a:latin typeface="Arial MT"/>
                <a:cs typeface="Arial MT"/>
              </a:rPr>
              <a:t>free</a:t>
            </a:r>
            <a:r>
              <a:rPr sz="1800" spc="-15" dirty="0">
                <a:solidFill>
                  <a:srgbClr val="0F2044"/>
                </a:solidFill>
                <a:latin typeface="Arial MT"/>
                <a:cs typeface="Arial MT"/>
              </a:rPr>
              <a:t> </a:t>
            </a:r>
            <a:r>
              <a:rPr sz="1800" dirty="0">
                <a:solidFill>
                  <a:srgbClr val="0F2044"/>
                </a:solidFill>
                <a:latin typeface="Arial MT"/>
                <a:cs typeface="Arial MT"/>
              </a:rPr>
              <a:t>block</a:t>
            </a:r>
            <a:r>
              <a:rPr sz="1800" spc="-15" dirty="0">
                <a:solidFill>
                  <a:srgbClr val="0F2044"/>
                </a:solidFill>
                <a:latin typeface="Arial MT"/>
                <a:cs typeface="Arial MT"/>
              </a:rPr>
              <a:t> </a:t>
            </a:r>
            <a:r>
              <a:rPr sz="1800" dirty="0">
                <a:solidFill>
                  <a:srgbClr val="0F2044"/>
                </a:solidFill>
                <a:latin typeface="Arial MT"/>
                <a:cs typeface="Arial MT"/>
              </a:rPr>
              <a:t>to</a:t>
            </a:r>
            <a:r>
              <a:rPr sz="1800" spc="-10" dirty="0">
                <a:solidFill>
                  <a:srgbClr val="0F2044"/>
                </a:solidFill>
                <a:latin typeface="Arial MT"/>
                <a:cs typeface="Arial MT"/>
              </a:rPr>
              <a:t> </a:t>
            </a:r>
            <a:r>
              <a:rPr sz="1800" spc="-25" dirty="0">
                <a:solidFill>
                  <a:srgbClr val="0F2044"/>
                </a:solidFill>
                <a:latin typeface="Arial MT"/>
                <a:cs typeface="Arial MT"/>
              </a:rPr>
              <a:t>the </a:t>
            </a:r>
            <a:r>
              <a:rPr sz="1800" dirty="0">
                <a:solidFill>
                  <a:srgbClr val="0F2044"/>
                </a:solidFill>
                <a:latin typeface="Arial MT"/>
                <a:cs typeface="Arial MT"/>
              </a:rPr>
              <a:t>front</a:t>
            </a:r>
            <a:r>
              <a:rPr sz="1800" spc="-20" dirty="0">
                <a:solidFill>
                  <a:srgbClr val="0F2044"/>
                </a:solidFill>
                <a:latin typeface="Arial MT"/>
                <a:cs typeface="Arial MT"/>
              </a:rPr>
              <a:t> </a:t>
            </a:r>
            <a:r>
              <a:rPr sz="1800" dirty="0">
                <a:solidFill>
                  <a:srgbClr val="0F2044"/>
                </a:solidFill>
                <a:latin typeface="Arial MT"/>
                <a:cs typeface="Arial MT"/>
              </a:rPr>
              <a:t>of</a:t>
            </a:r>
            <a:r>
              <a:rPr sz="1800" spc="-15" dirty="0">
                <a:solidFill>
                  <a:srgbClr val="0F2044"/>
                </a:solidFill>
                <a:latin typeface="Arial MT"/>
                <a:cs typeface="Arial MT"/>
              </a:rPr>
              <a:t> </a:t>
            </a:r>
            <a:r>
              <a:rPr sz="1800" dirty="0">
                <a:solidFill>
                  <a:srgbClr val="0F2044"/>
                </a:solidFill>
                <a:latin typeface="Arial MT"/>
                <a:cs typeface="Arial MT"/>
              </a:rPr>
              <a:t>the</a:t>
            </a:r>
            <a:r>
              <a:rPr sz="1800" spc="-15" dirty="0">
                <a:solidFill>
                  <a:srgbClr val="0F2044"/>
                </a:solidFill>
                <a:latin typeface="Arial MT"/>
                <a:cs typeface="Arial MT"/>
              </a:rPr>
              <a:t> </a:t>
            </a:r>
            <a:r>
              <a:rPr sz="1800" spc="-10" dirty="0">
                <a:solidFill>
                  <a:srgbClr val="0F2044"/>
                </a:solidFill>
                <a:latin typeface="Arial MT"/>
                <a:cs typeface="Arial MT"/>
              </a:rPr>
              <a:t>list.</a:t>
            </a:r>
            <a:endParaRPr sz="1800" dirty="0">
              <a:latin typeface="Arial MT"/>
              <a:cs typeface="Arial MT"/>
            </a:endParaRPr>
          </a:p>
          <a:p>
            <a:pPr>
              <a:lnSpc>
                <a:spcPct val="114000"/>
              </a:lnSpc>
              <a:spcBef>
                <a:spcPts val="90"/>
              </a:spcBef>
              <a:buClr>
                <a:srgbClr val="0F2044"/>
              </a:buClr>
              <a:buFont typeface="Arial MT"/>
              <a:buAutoNum type="arabicPeriod"/>
            </a:pPr>
            <a:endParaRPr sz="1800" dirty="0">
              <a:latin typeface="Arial MT"/>
              <a:cs typeface="Arial MT"/>
            </a:endParaRPr>
          </a:p>
          <a:p>
            <a:pPr marL="431800" indent="-419100">
              <a:lnSpc>
                <a:spcPct val="114000"/>
              </a:lnSpc>
              <a:buAutoNum type="arabicPeriod"/>
              <a:tabLst>
                <a:tab pos="431800" algn="l"/>
              </a:tabLst>
            </a:pPr>
            <a:r>
              <a:rPr sz="1800" b="1" dirty="0">
                <a:solidFill>
                  <a:srgbClr val="0F2044"/>
                </a:solidFill>
                <a:latin typeface="Arial MT"/>
                <a:cs typeface="Arial MT"/>
              </a:rPr>
              <a:t>After:</a:t>
            </a:r>
            <a:r>
              <a:rPr sz="1800" b="1" spc="-50" dirty="0">
                <a:solidFill>
                  <a:srgbClr val="0F2044"/>
                </a:solidFill>
                <a:latin typeface="Arial MT"/>
                <a:cs typeface="Arial MT"/>
              </a:rPr>
              <a:t> </a:t>
            </a:r>
            <a:r>
              <a:rPr sz="1800" dirty="0">
                <a:solidFill>
                  <a:srgbClr val="0F2044"/>
                </a:solidFill>
                <a:latin typeface="Arial MT"/>
                <a:cs typeface="Arial MT"/>
              </a:rPr>
              <a:t>The</a:t>
            </a:r>
            <a:r>
              <a:rPr sz="1800" spc="-15" dirty="0">
                <a:solidFill>
                  <a:srgbClr val="0F2044"/>
                </a:solidFill>
                <a:latin typeface="Arial MT"/>
                <a:cs typeface="Arial MT"/>
              </a:rPr>
              <a:t> </a:t>
            </a:r>
            <a:r>
              <a:rPr sz="1800" dirty="0">
                <a:solidFill>
                  <a:srgbClr val="0F2044"/>
                </a:solidFill>
                <a:latin typeface="Arial MT"/>
                <a:cs typeface="Arial MT"/>
              </a:rPr>
              <a:t>new</a:t>
            </a:r>
            <a:r>
              <a:rPr sz="1800" spc="-15" dirty="0">
                <a:solidFill>
                  <a:srgbClr val="0F2044"/>
                </a:solidFill>
                <a:latin typeface="Arial MT"/>
                <a:cs typeface="Arial MT"/>
              </a:rPr>
              <a:t> </a:t>
            </a:r>
            <a:r>
              <a:rPr sz="1800" dirty="0">
                <a:solidFill>
                  <a:srgbClr val="0F2044"/>
                </a:solidFill>
                <a:latin typeface="Arial MT"/>
                <a:cs typeface="Arial MT"/>
              </a:rPr>
              <a:t>free</a:t>
            </a:r>
            <a:r>
              <a:rPr sz="1800" spc="-15" dirty="0">
                <a:solidFill>
                  <a:srgbClr val="0F2044"/>
                </a:solidFill>
                <a:latin typeface="Arial MT"/>
                <a:cs typeface="Arial MT"/>
              </a:rPr>
              <a:t> </a:t>
            </a:r>
            <a:r>
              <a:rPr sz="1800" dirty="0">
                <a:solidFill>
                  <a:srgbClr val="0F2044"/>
                </a:solidFill>
                <a:latin typeface="Arial MT"/>
                <a:cs typeface="Arial MT"/>
              </a:rPr>
              <a:t>block</a:t>
            </a:r>
            <a:r>
              <a:rPr sz="1800" spc="-15" dirty="0">
                <a:solidFill>
                  <a:srgbClr val="0F2044"/>
                </a:solidFill>
                <a:latin typeface="Arial MT"/>
                <a:cs typeface="Arial MT"/>
              </a:rPr>
              <a:t> </a:t>
            </a:r>
            <a:r>
              <a:rPr sz="1800" dirty="0">
                <a:solidFill>
                  <a:srgbClr val="0F2044"/>
                </a:solidFill>
                <a:latin typeface="Arial MT"/>
                <a:cs typeface="Arial MT"/>
              </a:rPr>
              <a:t>is</a:t>
            </a:r>
            <a:r>
              <a:rPr sz="1800" spc="-15" dirty="0">
                <a:solidFill>
                  <a:srgbClr val="0F2044"/>
                </a:solidFill>
                <a:latin typeface="Arial MT"/>
                <a:cs typeface="Arial MT"/>
              </a:rPr>
              <a:t> </a:t>
            </a:r>
            <a:r>
              <a:rPr sz="1800" dirty="0">
                <a:solidFill>
                  <a:srgbClr val="0F2044"/>
                </a:solidFill>
                <a:latin typeface="Arial MT"/>
                <a:cs typeface="Arial MT"/>
              </a:rPr>
              <a:t>now</a:t>
            </a:r>
            <a:r>
              <a:rPr sz="1800" spc="-15" dirty="0">
                <a:solidFill>
                  <a:srgbClr val="0F2044"/>
                </a:solidFill>
                <a:latin typeface="Arial MT"/>
                <a:cs typeface="Arial MT"/>
              </a:rPr>
              <a:t> </a:t>
            </a:r>
            <a:r>
              <a:rPr sz="1800" dirty="0">
                <a:solidFill>
                  <a:srgbClr val="0F2044"/>
                </a:solidFill>
                <a:latin typeface="Arial MT"/>
                <a:cs typeface="Arial MT"/>
              </a:rPr>
              <a:t>at</a:t>
            </a:r>
            <a:r>
              <a:rPr sz="1800" spc="-10" dirty="0">
                <a:solidFill>
                  <a:srgbClr val="0F2044"/>
                </a:solidFill>
                <a:latin typeface="Arial MT"/>
                <a:cs typeface="Arial MT"/>
              </a:rPr>
              <a:t> </a:t>
            </a:r>
            <a:r>
              <a:rPr sz="1800" spc="-25" dirty="0">
                <a:solidFill>
                  <a:srgbClr val="0F2044"/>
                </a:solidFill>
                <a:latin typeface="Arial MT"/>
                <a:cs typeface="Arial MT"/>
              </a:rPr>
              <a:t>the</a:t>
            </a:r>
            <a:endParaRPr sz="1800" dirty="0">
              <a:latin typeface="Arial MT"/>
              <a:cs typeface="Arial MT"/>
            </a:endParaRPr>
          </a:p>
          <a:p>
            <a:pPr marL="431800">
              <a:lnSpc>
                <a:spcPct val="114000"/>
              </a:lnSpc>
            </a:pPr>
            <a:r>
              <a:rPr sz="1800" b="1" dirty="0">
                <a:solidFill>
                  <a:srgbClr val="0F2044"/>
                </a:solidFill>
                <a:latin typeface="Arial"/>
                <a:cs typeface="Arial"/>
              </a:rPr>
              <a:t>“</a:t>
            </a:r>
            <a:r>
              <a:rPr sz="1800" b="1" dirty="0">
                <a:solidFill>
                  <a:srgbClr val="0070C0"/>
                </a:solidFill>
                <a:latin typeface="Arial"/>
                <a:cs typeface="Arial"/>
              </a:rPr>
              <a:t>root</a:t>
            </a:r>
            <a:r>
              <a:rPr sz="1800" b="1" dirty="0">
                <a:solidFill>
                  <a:srgbClr val="0F2044"/>
                </a:solidFill>
                <a:latin typeface="Arial"/>
                <a:cs typeface="Arial"/>
              </a:rPr>
              <a:t>”</a:t>
            </a:r>
            <a:r>
              <a:rPr sz="1800" b="1" spc="-30" dirty="0">
                <a:solidFill>
                  <a:srgbClr val="0F2044"/>
                </a:solidFill>
                <a:latin typeface="Arial"/>
                <a:cs typeface="Arial"/>
              </a:rPr>
              <a:t> </a:t>
            </a:r>
            <a:r>
              <a:rPr sz="1800" dirty="0">
                <a:solidFill>
                  <a:srgbClr val="0F2044"/>
                </a:solidFill>
                <a:latin typeface="Arial MT"/>
                <a:cs typeface="Arial MT"/>
              </a:rPr>
              <a:t>of</a:t>
            </a:r>
            <a:r>
              <a:rPr sz="1800" spc="-25" dirty="0">
                <a:solidFill>
                  <a:srgbClr val="0F2044"/>
                </a:solidFill>
                <a:latin typeface="Arial MT"/>
                <a:cs typeface="Arial MT"/>
              </a:rPr>
              <a:t> </a:t>
            </a:r>
            <a:r>
              <a:rPr sz="1800" dirty="0">
                <a:solidFill>
                  <a:srgbClr val="0F2044"/>
                </a:solidFill>
                <a:latin typeface="Arial MT"/>
                <a:cs typeface="Arial MT"/>
              </a:rPr>
              <a:t>the</a:t>
            </a:r>
            <a:r>
              <a:rPr sz="1800" spc="-25" dirty="0">
                <a:solidFill>
                  <a:srgbClr val="0F2044"/>
                </a:solidFill>
                <a:latin typeface="Arial MT"/>
                <a:cs typeface="Arial MT"/>
              </a:rPr>
              <a:t> </a:t>
            </a:r>
            <a:r>
              <a:rPr sz="1800" dirty="0">
                <a:solidFill>
                  <a:srgbClr val="0F2044"/>
                </a:solidFill>
                <a:latin typeface="Arial MT"/>
                <a:cs typeface="Arial MT"/>
              </a:rPr>
              <a:t>free</a:t>
            </a:r>
            <a:r>
              <a:rPr sz="1800" spc="-25" dirty="0">
                <a:solidFill>
                  <a:srgbClr val="0F2044"/>
                </a:solidFill>
                <a:latin typeface="Arial MT"/>
                <a:cs typeface="Arial MT"/>
              </a:rPr>
              <a:t> </a:t>
            </a:r>
            <a:r>
              <a:rPr sz="1800" spc="-20" dirty="0">
                <a:solidFill>
                  <a:srgbClr val="0F2044"/>
                </a:solidFill>
                <a:latin typeface="Arial MT"/>
                <a:cs typeface="Arial MT"/>
              </a:rPr>
              <a:t>list</a:t>
            </a:r>
            <a:endParaRPr sz="1800" dirty="0">
              <a:latin typeface="Arial MT"/>
              <a:cs typeface="Arial M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Case</a:t>
            </a:r>
            <a:r>
              <a:rPr spc="-35" dirty="0"/>
              <a:t> </a:t>
            </a:r>
            <a:r>
              <a:rPr dirty="0"/>
              <a:t>1:</a:t>
            </a:r>
            <a:r>
              <a:rPr spc="-30" dirty="0"/>
              <a:t> </a:t>
            </a:r>
            <a:r>
              <a:rPr dirty="0"/>
              <a:t>No</a:t>
            </a:r>
            <a:r>
              <a:rPr spc="-35" dirty="0"/>
              <a:t> </a:t>
            </a:r>
            <a:r>
              <a:rPr spc="-10" dirty="0"/>
              <a:t>Coalescing</a:t>
            </a:r>
            <a:r>
              <a:rPr spc="-30" dirty="0"/>
              <a:t> </a:t>
            </a:r>
            <a:r>
              <a:rPr spc="-10" dirty="0"/>
              <a:t>Needed</a:t>
            </a:r>
          </a:p>
        </p:txBody>
      </p:sp>
      <p:sp>
        <p:nvSpPr>
          <p:cNvPr id="3" name="object 3"/>
          <p:cNvSpPr txBox="1"/>
          <p:nvPr/>
        </p:nvSpPr>
        <p:spPr>
          <a:xfrm>
            <a:off x="6951376" y="3241781"/>
            <a:ext cx="4773930" cy="2209836"/>
          </a:xfrm>
          <a:prstGeom prst="rect">
            <a:avLst/>
          </a:prstGeom>
        </p:spPr>
        <p:txBody>
          <a:bodyPr vert="horz" wrap="square" lIns="0" tIns="12700" rIns="0" bIns="0" rtlCol="0">
            <a:spAutoFit/>
          </a:bodyPr>
          <a:lstStyle/>
          <a:p>
            <a:pPr marL="431800" marR="5080" indent="-419734">
              <a:lnSpc>
                <a:spcPct val="114000"/>
              </a:lnSpc>
              <a:spcBef>
                <a:spcPts val="100"/>
              </a:spcBef>
              <a:buAutoNum type="arabicPeriod"/>
              <a:tabLst>
                <a:tab pos="431800" algn="l"/>
              </a:tabLst>
            </a:pPr>
            <a:r>
              <a:rPr sz="1800" dirty="0">
                <a:solidFill>
                  <a:srgbClr val="0F2044"/>
                </a:solidFill>
                <a:latin typeface="Arial MT"/>
                <a:cs typeface="Arial MT"/>
              </a:rPr>
              <a:t>When</a:t>
            </a:r>
            <a:r>
              <a:rPr sz="1800" spc="-35" dirty="0">
                <a:solidFill>
                  <a:srgbClr val="0F2044"/>
                </a:solidFill>
                <a:latin typeface="Arial MT"/>
                <a:cs typeface="Arial MT"/>
              </a:rPr>
              <a:t> </a:t>
            </a:r>
            <a:r>
              <a:rPr sz="1800" dirty="0">
                <a:solidFill>
                  <a:srgbClr val="0F2044"/>
                </a:solidFill>
                <a:latin typeface="Arial MT"/>
                <a:cs typeface="Arial MT"/>
              </a:rPr>
              <a:t>trying</a:t>
            </a:r>
            <a:r>
              <a:rPr sz="1800" spc="-25" dirty="0">
                <a:solidFill>
                  <a:srgbClr val="0F2044"/>
                </a:solidFill>
                <a:latin typeface="Arial MT"/>
                <a:cs typeface="Arial MT"/>
              </a:rPr>
              <a:t> </a:t>
            </a:r>
            <a:r>
              <a:rPr sz="1800" dirty="0">
                <a:solidFill>
                  <a:srgbClr val="0F2044"/>
                </a:solidFill>
                <a:latin typeface="Arial MT"/>
                <a:cs typeface="Arial MT"/>
              </a:rPr>
              <a:t>to</a:t>
            </a:r>
            <a:r>
              <a:rPr sz="1800" spc="-20" dirty="0">
                <a:solidFill>
                  <a:srgbClr val="0F2044"/>
                </a:solidFill>
                <a:latin typeface="Arial MT"/>
                <a:cs typeface="Arial MT"/>
              </a:rPr>
              <a:t> </a:t>
            </a:r>
            <a:r>
              <a:rPr sz="1800" dirty="0">
                <a:solidFill>
                  <a:srgbClr val="0F2044"/>
                </a:solidFill>
                <a:latin typeface="Arial MT"/>
                <a:cs typeface="Arial MT"/>
              </a:rPr>
              <a:t>Free</a:t>
            </a:r>
            <a:r>
              <a:rPr sz="1800" spc="-25" dirty="0">
                <a:solidFill>
                  <a:srgbClr val="0F2044"/>
                </a:solidFill>
                <a:latin typeface="Arial MT"/>
                <a:cs typeface="Arial MT"/>
              </a:rPr>
              <a:t> </a:t>
            </a:r>
            <a:r>
              <a:rPr sz="1800" dirty="0">
                <a:solidFill>
                  <a:srgbClr val="0F2044"/>
                </a:solidFill>
                <a:latin typeface="Arial MT"/>
                <a:cs typeface="Arial MT"/>
              </a:rPr>
              <a:t>an</a:t>
            </a:r>
            <a:r>
              <a:rPr sz="1800" spc="-120" dirty="0">
                <a:solidFill>
                  <a:srgbClr val="0F2044"/>
                </a:solidFill>
                <a:latin typeface="Arial MT"/>
                <a:cs typeface="Arial MT"/>
              </a:rPr>
              <a:t> </a:t>
            </a:r>
            <a:r>
              <a:rPr sz="1800" dirty="0">
                <a:solidFill>
                  <a:srgbClr val="0F2044"/>
                </a:solidFill>
                <a:latin typeface="Arial MT"/>
                <a:cs typeface="Arial MT"/>
              </a:rPr>
              <a:t>Allocated</a:t>
            </a:r>
            <a:r>
              <a:rPr sz="1800" spc="-20" dirty="0">
                <a:solidFill>
                  <a:srgbClr val="0F2044"/>
                </a:solidFill>
                <a:latin typeface="Arial MT"/>
                <a:cs typeface="Arial MT"/>
              </a:rPr>
              <a:t> </a:t>
            </a:r>
            <a:r>
              <a:rPr sz="1800" spc="-10" dirty="0">
                <a:solidFill>
                  <a:srgbClr val="0F2044"/>
                </a:solidFill>
                <a:latin typeface="Arial MT"/>
                <a:cs typeface="Arial MT"/>
              </a:rPr>
              <a:t>Block, </a:t>
            </a:r>
            <a:r>
              <a:rPr sz="1800" dirty="0">
                <a:solidFill>
                  <a:srgbClr val="0F2044"/>
                </a:solidFill>
                <a:latin typeface="Arial MT"/>
                <a:cs typeface="Arial MT"/>
              </a:rPr>
              <a:t>both</a:t>
            </a:r>
            <a:r>
              <a:rPr sz="1800" spc="-15" dirty="0">
                <a:solidFill>
                  <a:srgbClr val="0F2044"/>
                </a:solidFill>
                <a:latin typeface="Arial MT"/>
                <a:cs typeface="Arial MT"/>
              </a:rPr>
              <a:t> </a:t>
            </a:r>
            <a:r>
              <a:rPr sz="1800" dirty="0">
                <a:solidFill>
                  <a:srgbClr val="0F2044"/>
                </a:solidFill>
                <a:latin typeface="Arial MT"/>
                <a:cs typeface="Arial MT"/>
              </a:rPr>
              <a:t>Previous</a:t>
            </a:r>
            <a:r>
              <a:rPr sz="1800" spc="-10" dirty="0">
                <a:solidFill>
                  <a:srgbClr val="0F2044"/>
                </a:solidFill>
                <a:latin typeface="Arial MT"/>
                <a:cs typeface="Arial MT"/>
              </a:rPr>
              <a:t> </a:t>
            </a:r>
            <a:r>
              <a:rPr sz="1800" dirty="0">
                <a:solidFill>
                  <a:srgbClr val="0F2044"/>
                </a:solidFill>
                <a:latin typeface="Arial MT"/>
                <a:cs typeface="Arial MT"/>
              </a:rPr>
              <a:t>&amp;</a:t>
            </a:r>
            <a:r>
              <a:rPr sz="1800" spc="-15" dirty="0">
                <a:solidFill>
                  <a:srgbClr val="0F2044"/>
                </a:solidFill>
                <a:latin typeface="Arial MT"/>
                <a:cs typeface="Arial MT"/>
              </a:rPr>
              <a:t> </a:t>
            </a:r>
            <a:r>
              <a:rPr sz="1800" dirty="0">
                <a:solidFill>
                  <a:srgbClr val="0F2044"/>
                </a:solidFill>
                <a:latin typeface="Arial MT"/>
                <a:cs typeface="Arial MT"/>
              </a:rPr>
              <a:t>Next</a:t>
            </a:r>
            <a:r>
              <a:rPr sz="1800" spc="-10" dirty="0">
                <a:solidFill>
                  <a:srgbClr val="0F2044"/>
                </a:solidFill>
                <a:latin typeface="Arial MT"/>
                <a:cs typeface="Arial MT"/>
              </a:rPr>
              <a:t> </a:t>
            </a:r>
            <a:r>
              <a:rPr sz="1800" dirty="0">
                <a:solidFill>
                  <a:srgbClr val="0F2044"/>
                </a:solidFill>
                <a:latin typeface="Arial MT"/>
                <a:cs typeface="Arial MT"/>
              </a:rPr>
              <a:t>Blocks</a:t>
            </a:r>
            <a:r>
              <a:rPr sz="1800" spc="-10" dirty="0">
                <a:solidFill>
                  <a:srgbClr val="0F2044"/>
                </a:solidFill>
                <a:latin typeface="Arial MT"/>
                <a:cs typeface="Arial MT"/>
              </a:rPr>
              <a:t> </a:t>
            </a:r>
            <a:r>
              <a:rPr sz="1800" dirty="0">
                <a:solidFill>
                  <a:srgbClr val="0F2044"/>
                </a:solidFill>
                <a:latin typeface="Arial MT"/>
                <a:cs typeface="Arial MT"/>
              </a:rPr>
              <a:t>are</a:t>
            </a:r>
            <a:r>
              <a:rPr sz="1800" spc="-110" dirty="0">
                <a:solidFill>
                  <a:srgbClr val="0F2044"/>
                </a:solidFill>
                <a:latin typeface="Arial MT"/>
                <a:cs typeface="Arial MT"/>
              </a:rPr>
              <a:t> </a:t>
            </a:r>
            <a:r>
              <a:rPr sz="1800" spc="-10" dirty="0">
                <a:solidFill>
                  <a:srgbClr val="0F2044"/>
                </a:solidFill>
                <a:latin typeface="Arial MT"/>
                <a:cs typeface="Arial MT"/>
              </a:rPr>
              <a:t>Allocated.</a:t>
            </a:r>
            <a:endParaRPr sz="1800" dirty="0">
              <a:latin typeface="Arial MT"/>
              <a:cs typeface="Arial MT"/>
            </a:endParaRPr>
          </a:p>
          <a:p>
            <a:pPr>
              <a:lnSpc>
                <a:spcPct val="114000"/>
              </a:lnSpc>
              <a:spcBef>
                <a:spcPts val="90"/>
              </a:spcBef>
              <a:buClr>
                <a:srgbClr val="0F2044"/>
              </a:buClr>
              <a:buFont typeface="Arial MT"/>
              <a:buAutoNum type="arabicPeriod"/>
            </a:pPr>
            <a:endParaRPr sz="1800" dirty="0">
              <a:latin typeface="Arial MT"/>
              <a:cs typeface="Arial MT"/>
            </a:endParaRPr>
          </a:p>
          <a:p>
            <a:pPr marL="431800" marR="40005" indent="-419734">
              <a:lnSpc>
                <a:spcPct val="114000"/>
              </a:lnSpc>
              <a:buAutoNum type="arabicPeriod"/>
              <a:tabLst>
                <a:tab pos="431800" algn="l"/>
              </a:tabLst>
            </a:pPr>
            <a:r>
              <a:rPr sz="1800" dirty="0">
                <a:solidFill>
                  <a:srgbClr val="0F2044"/>
                </a:solidFill>
                <a:latin typeface="Arial MT"/>
                <a:cs typeface="Arial MT"/>
              </a:rPr>
              <a:t>Simply</a:t>
            </a:r>
            <a:r>
              <a:rPr sz="1800" spc="-10" dirty="0">
                <a:solidFill>
                  <a:srgbClr val="0F2044"/>
                </a:solidFill>
                <a:latin typeface="Arial MT"/>
                <a:cs typeface="Arial MT"/>
              </a:rPr>
              <a:t> </a:t>
            </a:r>
            <a:r>
              <a:rPr sz="1800" dirty="0">
                <a:solidFill>
                  <a:srgbClr val="0F2044"/>
                </a:solidFill>
                <a:latin typeface="Arial MT"/>
                <a:cs typeface="Arial MT"/>
              </a:rPr>
              <a:t>perform</a:t>
            </a:r>
            <a:r>
              <a:rPr sz="1800" spc="-10" dirty="0">
                <a:solidFill>
                  <a:srgbClr val="0F2044"/>
                </a:solidFill>
                <a:latin typeface="Arial MT"/>
                <a:cs typeface="Arial MT"/>
              </a:rPr>
              <a:t> </a:t>
            </a:r>
            <a:r>
              <a:rPr sz="1800" dirty="0">
                <a:solidFill>
                  <a:srgbClr val="0F2044"/>
                </a:solidFill>
                <a:latin typeface="Arial MT"/>
                <a:cs typeface="Arial MT"/>
              </a:rPr>
              <a:t>a</a:t>
            </a:r>
            <a:r>
              <a:rPr sz="1800" spc="-10" dirty="0">
                <a:solidFill>
                  <a:srgbClr val="0F2044"/>
                </a:solidFill>
                <a:latin typeface="Arial MT"/>
                <a:cs typeface="Arial MT"/>
              </a:rPr>
              <a:t> </a:t>
            </a:r>
            <a:r>
              <a:rPr sz="1800" dirty="0">
                <a:solidFill>
                  <a:srgbClr val="0F2044"/>
                </a:solidFill>
                <a:latin typeface="Arial MT"/>
                <a:cs typeface="Arial MT"/>
              </a:rPr>
              <a:t>Doubly</a:t>
            </a:r>
            <a:r>
              <a:rPr sz="1800" spc="-10" dirty="0">
                <a:solidFill>
                  <a:srgbClr val="0F2044"/>
                </a:solidFill>
                <a:latin typeface="Arial MT"/>
                <a:cs typeface="Arial MT"/>
              </a:rPr>
              <a:t> </a:t>
            </a:r>
            <a:r>
              <a:rPr sz="1800" dirty="0">
                <a:solidFill>
                  <a:srgbClr val="0F2044"/>
                </a:solidFill>
                <a:latin typeface="Arial MT"/>
                <a:cs typeface="Arial MT"/>
              </a:rPr>
              <a:t>Link</a:t>
            </a:r>
            <a:r>
              <a:rPr sz="1800" spc="-10" dirty="0">
                <a:solidFill>
                  <a:srgbClr val="0F2044"/>
                </a:solidFill>
                <a:latin typeface="Arial MT"/>
                <a:cs typeface="Arial MT"/>
              </a:rPr>
              <a:t> </a:t>
            </a:r>
            <a:r>
              <a:rPr sz="1800" dirty="0">
                <a:solidFill>
                  <a:srgbClr val="0F2044"/>
                </a:solidFill>
                <a:latin typeface="Arial MT"/>
                <a:cs typeface="Arial MT"/>
              </a:rPr>
              <a:t>between</a:t>
            </a:r>
            <a:r>
              <a:rPr sz="1800" spc="-10" dirty="0">
                <a:solidFill>
                  <a:srgbClr val="0F2044"/>
                </a:solidFill>
                <a:latin typeface="Arial MT"/>
                <a:cs typeface="Arial MT"/>
              </a:rPr>
              <a:t> </a:t>
            </a:r>
            <a:r>
              <a:rPr sz="1800" spc="-25" dirty="0">
                <a:solidFill>
                  <a:srgbClr val="0F2044"/>
                </a:solidFill>
                <a:latin typeface="Arial MT"/>
                <a:cs typeface="Arial MT"/>
              </a:rPr>
              <a:t>the </a:t>
            </a:r>
            <a:r>
              <a:rPr sz="1800" dirty="0">
                <a:solidFill>
                  <a:srgbClr val="0F2044"/>
                </a:solidFill>
                <a:latin typeface="Arial MT"/>
                <a:cs typeface="Arial MT"/>
              </a:rPr>
              <a:t>Root</a:t>
            </a:r>
            <a:r>
              <a:rPr sz="1800" spc="-15" dirty="0">
                <a:solidFill>
                  <a:srgbClr val="0F2044"/>
                </a:solidFill>
                <a:latin typeface="Arial MT"/>
                <a:cs typeface="Arial MT"/>
              </a:rPr>
              <a:t> </a:t>
            </a:r>
            <a:r>
              <a:rPr sz="1800" dirty="0">
                <a:solidFill>
                  <a:srgbClr val="0F2044"/>
                </a:solidFill>
                <a:latin typeface="Arial MT"/>
                <a:cs typeface="Arial MT"/>
              </a:rPr>
              <a:t>(Head)</a:t>
            </a:r>
            <a:r>
              <a:rPr sz="1800" spc="-15" dirty="0">
                <a:solidFill>
                  <a:srgbClr val="0F2044"/>
                </a:solidFill>
                <a:latin typeface="Arial MT"/>
                <a:cs typeface="Arial MT"/>
              </a:rPr>
              <a:t> </a:t>
            </a:r>
            <a:r>
              <a:rPr sz="1800" dirty="0">
                <a:solidFill>
                  <a:srgbClr val="0F2044"/>
                </a:solidFill>
                <a:latin typeface="Arial MT"/>
                <a:cs typeface="Arial MT"/>
              </a:rPr>
              <a:t>and</a:t>
            </a:r>
            <a:r>
              <a:rPr sz="1800" spc="-15" dirty="0">
                <a:solidFill>
                  <a:srgbClr val="0F2044"/>
                </a:solidFill>
                <a:latin typeface="Arial MT"/>
                <a:cs typeface="Arial MT"/>
              </a:rPr>
              <a:t> </a:t>
            </a:r>
            <a:r>
              <a:rPr sz="1800" dirty="0">
                <a:solidFill>
                  <a:srgbClr val="0F2044"/>
                </a:solidFill>
                <a:latin typeface="Arial MT"/>
                <a:cs typeface="Arial MT"/>
              </a:rPr>
              <a:t>the</a:t>
            </a:r>
            <a:r>
              <a:rPr sz="1800" spc="-15" dirty="0">
                <a:solidFill>
                  <a:srgbClr val="0F2044"/>
                </a:solidFill>
                <a:latin typeface="Arial MT"/>
                <a:cs typeface="Arial MT"/>
              </a:rPr>
              <a:t> </a:t>
            </a:r>
            <a:r>
              <a:rPr sz="1800" dirty="0">
                <a:solidFill>
                  <a:srgbClr val="0F2044"/>
                </a:solidFill>
                <a:latin typeface="Arial MT"/>
                <a:cs typeface="Arial MT"/>
              </a:rPr>
              <a:t>'Newly</a:t>
            </a:r>
            <a:r>
              <a:rPr sz="1800" spc="-15" dirty="0">
                <a:solidFill>
                  <a:srgbClr val="0F2044"/>
                </a:solidFill>
                <a:latin typeface="Arial MT"/>
                <a:cs typeface="Arial MT"/>
              </a:rPr>
              <a:t> </a:t>
            </a:r>
            <a:r>
              <a:rPr sz="1800" dirty="0">
                <a:solidFill>
                  <a:srgbClr val="0F2044"/>
                </a:solidFill>
                <a:latin typeface="Arial MT"/>
                <a:cs typeface="Arial MT"/>
              </a:rPr>
              <a:t>Freed</a:t>
            </a:r>
            <a:r>
              <a:rPr sz="1800" spc="-10" dirty="0">
                <a:solidFill>
                  <a:srgbClr val="0F2044"/>
                </a:solidFill>
                <a:latin typeface="Arial MT"/>
                <a:cs typeface="Arial MT"/>
              </a:rPr>
              <a:t> Block', </a:t>
            </a:r>
            <a:r>
              <a:rPr sz="1800" dirty="0">
                <a:solidFill>
                  <a:srgbClr val="0F2044"/>
                </a:solidFill>
                <a:latin typeface="Arial MT"/>
                <a:cs typeface="Arial MT"/>
              </a:rPr>
              <a:t>the</a:t>
            </a:r>
            <a:r>
              <a:rPr sz="1800" spc="-20" dirty="0">
                <a:solidFill>
                  <a:srgbClr val="0F2044"/>
                </a:solidFill>
                <a:latin typeface="Arial MT"/>
                <a:cs typeface="Arial MT"/>
              </a:rPr>
              <a:t> </a:t>
            </a:r>
            <a:r>
              <a:rPr sz="1800" dirty="0">
                <a:solidFill>
                  <a:srgbClr val="0F2044"/>
                </a:solidFill>
                <a:latin typeface="Arial MT"/>
                <a:cs typeface="Arial MT"/>
              </a:rPr>
              <a:t>'Newly</a:t>
            </a:r>
            <a:r>
              <a:rPr sz="1800" spc="-15" dirty="0">
                <a:solidFill>
                  <a:srgbClr val="0F2044"/>
                </a:solidFill>
                <a:latin typeface="Arial MT"/>
                <a:cs typeface="Arial MT"/>
              </a:rPr>
              <a:t> </a:t>
            </a:r>
            <a:r>
              <a:rPr sz="1800" dirty="0">
                <a:solidFill>
                  <a:srgbClr val="0F2044"/>
                </a:solidFill>
                <a:latin typeface="Arial MT"/>
                <a:cs typeface="Arial MT"/>
              </a:rPr>
              <a:t>Freed</a:t>
            </a:r>
            <a:r>
              <a:rPr sz="1800" spc="-20" dirty="0">
                <a:solidFill>
                  <a:srgbClr val="0F2044"/>
                </a:solidFill>
                <a:latin typeface="Arial MT"/>
                <a:cs typeface="Arial MT"/>
              </a:rPr>
              <a:t> </a:t>
            </a:r>
            <a:r>
              <a:rPr sz="1800" dirty="0">
                <a:solidFill>
                  <a:srgbClr val="0F2044"/>
                </a:solidFill>
                <a:latin typeface="Arial MT"/>
                <a:cs typeface="Arial MT"/>
              </a:rPr>
              <a:t>Block'</a:t>
            </a:r>
            <a:r>
              <a:rPr sz="1800" spc="-15" dirty="0">
                <a:solidFill>
                  <a:srgbClr val="0F2044"/>
                </a:solidFill>
                <a:latin typeface="Arial MT"/>
                <a:cs typeface="Arial MT"/>
              </a:rPr>
              <a:t> </a:t>
            </a:r>
            <a:r>
              <a:rPr sz="1800" dirty="0">
                <a:solidFill>
                  <a:srgbClr val="0F2044"/>
                </a:solidFill>
                <a:latin typeface="Arial MT"/>
                <a:cs typeface="Arial MT"/>
              </a:rPr>
              <a:t>and</a:t>
            </a:r>
            <a:r>
              <a:rPr sz="1800" spc="-20" dirty="0">
                <a:solidFill>
                  <a:srgbClr val="0F2044"/>
                </a:solidFill>
                <a:latin typeface="Arial MT"/>
                <a:cs typeface="Arial MT"/>
              </a:rPr>
              <a:t> </a:t>
            </a:r>
            <a:r>
              <a:rPr sz="1800" dirty="0">
                <a:solidFill>
                  <a:srgbClr val="0F2044"/>
                </a:solidFill>
                <a:latin typeface="Arial MT"/>
                <a:cs typeface="Arial MT"/>
              </a:rPr>
              <a:t>the</a:t>
            </a:r>
            <a:r>
              <a:rPr sz="1800" spc="-15" dirty="0">
                <a:solidFill>
                  <a:srgbClr val="0F2044"/>
                </a:solidFill>
                <a:latin typeface="Arial MT"/>
                <a:cs typeface="Arial MT"/>
              </a:rPr>
              <a:t> </a:t>
            </a:r>
            <a:r>
              <a:rPr sz="1800" spc="-10" dirty="0">
                <a:solidFill>
                  <a:srgbClr val="0F2044"/>
                </a:solidFill>
                <a:latin typeface="Arial MT"/>
                <a:cs typeface="Arial MT"/>
              </a:rPr>
              <a:t>'Previous </a:t>
            </a:r>
            <a:r>
              <a:rPr sz="1800" dirty="0">
                <a:solidFill>
                  <a:srgbClr val="0F2044"/>
                </a:solidFill>
                <a:latin typeface="Arial MT"/>
                <a:cs typeface="Arial MT"/>
              </a:rPr>
              <a:t>First</a:t>
            </a:r>
            <a:r>
              <a:rPr sz="1800" spc="-40" dirty="0">
                <a:solidFill>
                  <a:srgbClr val="0F2044"/>
                </a:solidFill>
                <a:latin typeface="Arial MT"/>
                <a:cs typeface="Arial MT"/>
              </a:rPr>
              <a:t> </a:t>
            </a:r>
            <a:r>
              <a:rPr sz="1800" dirty="0">
                <a:solidFill>
                  <a:srgbClr val="0F2044"/>
                </a:solidFill>
                <a:latin typeface="Arial MT"/>
                <a:cs typeface="Arial MT"/>
              </a:rPr>
              <a:t>Free</a:t>
            </a:r>
            <a:r>
              <a:rPr sz="1800" spc="-40" dirty="0">
                <a:solidFill>
                  <a:srgbClr val="0F2044"/>
                </a:solidFill>
                <a:latin typeface="Arial MT"/>
                <a:cs typeface="Arial MT"/>
              </a:rPr>
              <a:t> </a:t>
            </a:r>
            <a:r>
              <a:rPr sz="1800" spc="-10" dirty="0">
                <a:solidFill>
                  <a:srgbClr val="0F2044"/>
                </a:solidFill>
                <a:latin typeface="Arial MT"/>
                <a:cs typeface="Arial MT"/>
              </a:rPr>
              <a:t>Block'.</a:t>
            </a:r>
            <a:endParaRPr sz="1800" dirty="0">
              <a:latin typeface="Arial MT"/>
              <a:cs typeface="Arial MT"/>
            </a:endParaRPr>
          </a:p>
        </p:txBody>
      </p:sp>
      <p:pic>
        <p:nvPicPr>
          <p:cNvPr id="4" name="object 4" descr="A step-by-step graphic showing the transition of a middle memory block from allocated (lime green) to free (white), resulting in its insertion at the front of the explicit free list."/>
          <p:cNvPicPr/>
          <p:nvPr/>
        </p:nvPicPr>
        <p:blipFill>
          <a:blip r:embed="rId3" cstate="print"/>
          <a:stretch>
            <a:fillRect/>
          </a:stretch>
        </p:blipFill>
        <p:spPr>
          <a:xfrm>
            <a:off x="238394" y="3041141"/>
            <a:ext cx="6157223" cy="2436517"/>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Case</a:t>
            </a:r>
            <a:r>
              <a:rPr spc="-60" dirty="0"/>
              <a:t> </a:t>
            </a:r>
            <a:r>
              <a:rPr dirty="0"/>
              <a:t>2:</a:t>
            </a:r>
            <a:r>
              <a:rPr spc="-55" dirty="0"/>
              <a:t> </a:t>
            </a:r>
            <a:r>
              <a:rPr spc="-10" dirty="0"/>
              <a:t>Coalescing</a:t>
            </a:r>
            <a:r>
              <a:rPr spc="-55" dirty="0"/>
              <a:t> </a:t>
            </a:r>
            <a:r>
              <a:rPr dirty="0"/>
              <a:t>With</a:t>
            </a:r>
            <a:r>
              <a:rPr spc="-55" dirty="0"/>
              <a:t> </a:t>
            </a:r>
            <a:r>
              <a:rPr dirty="0"/>
              <a:t>The</a:t>
            </a:r>
            <a:r>
              <a:rPr spc="-55" dirty="0"/>
              <a:t> </a:t>
            </a:r>
            <a:r>
              <a:rPr dirty="0"/>
              <a:t>Previous</a:t>
            </a:r>
            <a:r>
              <a:rPr spc="-55" dirty="0"/>
              <a:t> </a:t>
            </a:r>
            <a:r>
              <a:rPr spc="-10" dirty="0"/>
              <a:t>Block</a:t>
            </a:r>
          </a:p>
        </p:txBody>
      </p:sp>
      <p:pic>
        <p:nvPicPr>
          <p:cNvPr id="3" name="object 3" descr="An illustration of &quot;Freeing With a LIFO Policy (Case 2).&quot; It shows a block being freed adjacent to a predecessor free block; the two are coalesced into a single larger block and then moved to the root of the list."/>
          <p:cNvPicPr/>
          <p:nvPr/>
        </p:nvPicPr>
        <p:blipFill>
          <a:blip r:embed="rId3" cstate="print"/>
          <a:stretch>
            <a:fillRect/>
          </a:stretch>
        </p:blipFill>
        <p:spPr>
          <a:xfrm>
            <a:off x="570560" y="2420419"/>
            <a:ext cx="5663692" cy="4276907"/>
          </a:xfrm>
          <a:prstGeom prst="rect">
            <a:avLst/>
          </a:prstGeom>
        </p:spPr>
      </p:pic>
      <p:sp>
        <p:nvSpPr>
          <p:cNvPr id="4" name="object 4"/>
          <p:cNvSpPr txBox="1"/>
          <p:nvPr/>
        </p:nvSpPr>
        <p:spPr>
          <a:xfrm>
            <a:off x="6951376" y="3241781"/>
            <a:ext cx="4670064" cy="2854243"/>
          </a:xfrm>
          <a:prstGeom prst="rect">
            <a:avLst/>
          </a:prstGeom>
        </p:spPr>
        <p:txBody>
          <a:bodyPr vert="horz" wrap="square" lIns="0" tIns="12700" rIns="0" bIns="0" rtlCol="0">
            <a:spAutoFit/>
          </a:bodyPr>
          <a:lstStyle/>
          <a:p>
            <a:pPr marL="431800" marR="272415" indent="-419734">
              <a:lnSpc>
                <a:spcPct val="114000"/>
              </a:lnSpc>
              <a:spcBef>
                <a:spcPts val="100"/>
              </a:spcBef>
              <a:buAutoNum type="arabicPeriod"/>
              <a:tabLst>
                <a:tab pos="431800" algn="l"/>
              </a:tabLst>
            </a:pPr>
            <a:r>
              <a:rPr sz="1800" b="1" spc="-10" dirty="0">
                <a:solidFill>
                  <a:srgbClr val="0F2044"/>
                </a:solidFill>
                <a:latin typeface="Arial MT"/>
                <a:cs typeface="Arial MT"/>
              </a:rPr>
              <a:t>Before:</a:t>
            </a:r>
            <a:r>
              <a:rPr sz="1800" spc="-110" dirty="0">
                <a:solidFill>
                  <a:srgbClr val="0F2044"/>
                </a:solidFill>
                <a:latin typeface="Arial MT"/>
                <a:cs typeface="Arial MT"/>
              </a:rPr>
              <a:t> </a:t>
            </a:r>
            <a:r>
              <a:rPr sz="1800" dirty="0">
                <a:solidFill>
                  <a:srgbClr val="0F2044"/>
                </a:solidFill>
                <a:latin typeface="Arial MT"/>
                <a:cs typeface="Arial MT"/>
              </a:rPr>
              <a:t>A</a:t>
            </a:r>
            <a:r>
              <a:rPr sz="1800" spc="-105" dirty="0">
                <a:solidFill>
                  <a:srgbClr val="0F2044"/>
                </a:solidFill>
                <a:latin typeface="Arial MT"/>
                <a:cs typeface="Arial MT"/>
              </a:rPr>
              <a:t> </a:t>
            </a:r>
            <a:r>
              <a:rPr sz="1800" dirty="0">
                <a:solidFill>
                  <a:srgbClr val="0F2044"/>
                </a:solidFill>
                <a:latin typeface="Arial MT"/>
                <a:cs typeface="Arial MT"/>
              </a:rPr>
              <a:t>block</a:t>
            </a:r>
            <a:r>
              <a:rPr sz="1800" spc="-5" dirty="0">
                <a:solidFill>
                  <a:srgbClr val="0F2044"/>
                </a:solidFill>
                <a:latin typeface="Arial MT"/>
                <a:cs typeface="Arial MT"/>
              </a:rPr>
              <a:t> </a:t>
            </a:r>
            <a:r>
              <a:rPr sz="1800" dirty="0">
                <a:solidFill>
                  <a:srgbClr val="0F2044"/>
                </a:solidFill>
                <a:latin typeface="Arial MT"/>
                <a:cs typeface="Arial MT"/>
              </a:rPr>
              <a:t>is</a:t>
            </a:r>
            <a:r>
              <a:rPr sz="1800" spc="-5" dirty="0">
                <a:solidFill>
                  <a:srgbClr val="0F2044"/>
                </a:solidFill>
                <a:latin typeface="Arial MT"/>
                <a:cs typeface="Arial MT"/>
              </a:rPr>
              <a:t> </a:t>
            </a:r>
            <a:r>
              <a:rPr sz="1800" dirty="0">
                <a:solidFill>
                  <a:srgbClr val="0F2044"/>
                </a:solidFill>
                <a:latin typeface="Arial MT"/>
                <a:cs typeface="Arial MT"/>
              </a:rPr>
              <a:t>freed,</a:t>
            </a:r>
            <a:r>
              <a:rPr sz="1800" spc="-5" dirty="0">
                <a:solidFill>
                  <a:srgbClr val="0F2044"/>
                </a:solidFill>
                <a:latin typeface="Arial MT"/>
                <a:cs typeface="Arial MT"/>
              </a:rPr>
              <a:t> </a:t>
            </a:r>
            <a:r>
              <a:rPr sz="1800" dirty="0">
                <a:solidFill>
                  <a:srgbClr val="0F2044"/>
                </a:solidFill>
                <a:latin typeface="Arial MT"/>
                <a:cs typeface="Arial MT"/>
              </a:rPr>
              <a:t>and</a:t>
            </a:r>
            <a:r>
              <a:rPr sz="1800" spc="-5" dirty="0">
                <a:solidFill>
                  <a:srgbClr val="0F2044"/>
                </a:solidFill>
                <a:latin typeface="Arial MT"/>
                <a:cs typeface="Arial MT"/>
              </a:rPr>
              <a:t> </a:t>
            </a:r>
            <a:r>
              <a:rPr sz="1800" dirty="0">
                <a:solidFill>
                  <a:srgbClr val="0F2044"/>
                </a:solidFill>
                <a:latin typeface="Arial MT"/>
                <a:cs typeface="Arial MT"/>
              </a:rPr>
              <a:t>the</a:t>
            </a:r>
            <a:r>
              <a:rPr sz="1800" spc="-5" dirty="0">
                <a:solidFill>
                  <a:srgbClr val="0F2044"/>
                </a:solidFill>
                <a:latin typeface="Arial MT"/>
                <a:cs typeface="Arial MT"/>
              </a:rPr>
              <a:t> </a:t>
            </a:r>
            <a:r>
              <a:rPr sz="1800" spc="-10" dirty="0">
                <a:solidFill>
                  <a:srgbClr val="0F2044"/>
                </a:solidFill>
                <a:latin typeface="Arial MT"/>
                <a:cs typeface="Arial MT"/>
              </a:rPr>
              <a:t>block </a:t>
            </a:r>
            <a:r>
              <a:rPr sz="1800" dirty="0">
                <a:solidFill>
                  <a:srgbClr val="0F2044"/>
                </a:solidFill>
                <a:latin typeface="Arial MT"/>
                <a:cs typeface="Arial MT"/>
              </a:rPr>
              <a:t>before</a:t>
            </a:r>
            <a:r>
              <a:rPr sz="1800" spc="-15" dirty="0">
                <a:solidFill>
                  <a:srgbClr val="0F2044"/>
                </a:solidFill>
                <a:latin typeface="Arial MT"/>
                <a:cs typeface="Arial MT"/>
              </a:rPr>
              <a:t> </a:t>
            </a:r>
            <a:r>
              <a:rPr sz="1800" dirty="0">
                <a:solidFill>
                  <a:srgbClr val="0F2044"/>
                </a:solidFill>
                <a:latin typeface="Arial MT"/>
                <a:cs typeface="Arial MT"/>
              </a:rPr>
              <a:t>it</a:t>
            </a:r>
            <a:r>
              <a:rPr sz="1800" spc="-15" dirty="0">
                <a:solidFill>
                  <a:srgbClr val="0F2044"/>
                </a:solidFill>
                <a:latin typeface="Arial MT"/>
                <a:cs typeface="Arial MT"/>
              </a:rPr>
              <a:t> </a:t>
            </a:r>
            <a:r>
              <a:rPr sz="1800" dirty="0">
                <a:solidFill>
                  <a:srgbClr val="0F2044"/>
                </a:solidFill>
                <a:latin typeface="Arial MT"/>
                <a:cs typeface="Arial MT"/>
              </a:rPr>
              <a:t>(in</a:t>
            </a:r>
            <a:r>
              <a:rPr sz="1800" spc="-15" dirty="0">
                <a:solidFill>
                  <a:srgbClr val="0F2044"/>
                </a:solidFill>
                <a:latin typeface="Arial MT"/>
                <a:cs typeface="Arial MT"/>
              </a:rPr>
              <a:t> </a:t>
            </a:r>
            <a:r>
              <a:rPr sz="1800" dirty="0">
                <a:solidFill>
                  <a:srgbClr val="0F2044"/>
                </a:solidFill>
                <a:latin typeface="Arial MT"/>
                <a:cs typeface="Arial MT"/>
              </a:rPr>
              <a:t>memory)</a:t>
            </a:r>
            <a:r>
              <a:rPr sz="1800" spc="-15" dirty="0">
                <a:solidFill>
                  <a:srgbClr val="0F2044"/>
                </a:solidFill>
                <a:latin typeface="Arial MT"/>
                <a:cs typeface="Arial MT"/>
              </a:rPr>
              <a:t> </a:t>
            </a:r>
            <a:r>
              <a:rPr sz="1800" dirty="0">
                <a:solidFill>
                  <a:srgbClr val="0F2044"/>
                </a:solidFill>
                <a:latin typeface="Arial MT"/>
                <a:cs typeface="Arial MT"/>
              </a:rPr>
              <a:t>is</a:t>
            </a:r>
            <a:r>
              <a:rPr sz="1800" spc="-15" dirty="0">
                <a:solidFill>
                  <a:srgbClr val="0F2044"/>
                </a:solidFill>
                <a:latin typeface="Arial MT"/>
                <a:cs typeface="Arial MT"/>
              </a:rPr>
              <a:t> </a:t>
            </a:r>
            <a:r>
              <a:rPr sz="1800" dirty="0">
                <a:solidFill>
                  <a:srgbClr val="0F2044"/>
                </a:solidFill>
                <a:latin typeface="Arial MT"/>
                <a:cs typeface="Arial MT"/>
              </a:rPr>
              <a:t>also</a:t>
            </a:r>
            <a:r>
              <a:rPr sz="1800" spc="-10" dirty="0">
                <a:solidFill>
                  <a:srgbClr val="0F2044"/>
                </a:solidFill>
                <a:latin typeface="Arial MT"/>
                <a:cs typeface="Arial MT"/>
              </a:rPr>
              <a:t> free.</a:t>
            </a:r>
            <a:endParaRPr sz="1800" dirty="0">
              <a:latin typeface="Arial MT"/>
              <a:cs typeface="Arial MT"/>
            </a:endParaRPr>
          </a:p>
          <a:p>
            <a:pPr>
              <a:lnSpc>
                <a:spcPct val="114000"/>
              </a:lnSpc>
              <a:spcBef>
                <a:spcPts val="90"/>
              </a:spcBef>
              <a:buClr>
                <a:srgbClr val="0F2044"/>
              </a:buClr>
              <a:buFont typeface="Arial MT"/>
              <a:buAutoNum type="arabicPeriod"/>
            </a:pPr>
            <a:endParaRPr sz="1800" dirty="0">
              <a:latin typeface="Arial MT"/>
              <a:cs typeface="Arial MT"/>
            </a:endParaRPr>
          </a:p>
          <a:p>
            <a:pPr marL="430530" marR="5080" indent="-418465" algn="just">
              <a:lnSpc>
                <a:spcPct val="114000"/>
              </a:lnSpc>
              <a:buAutoNum type="arabicPeriod"/>
              <a:tabLst>
                <a:tab pos="431800" algn="l"/>
              </a:tabLst>
            </a:pPr>
            <a:r>
              <a:rPr sz="1800" b="1" dirty="0">
                <a:solidFill>
                  <a:srgbClr val="0F2044"/>
                </a:solidFill>
                <a:latin typeface="Arial MT"/>
                <a:cs typeface="Arial MT"/>
              </a:rPr>
              <a:t>Action:</a:t>
            </a:r>
            <a:r>
              <a:rPr sz="1800" b="1" spc="-30" dirty="0">
                <a:solidFill>
                  <a:srgbClr val="0F2044"/>
                </a:solidFill>
                <a:latin typeface="Arial MT"/>
                <a:cs typeface="Arial MT"/>
              </a:rPr>
              <a:t> </a:t>
            </a:r>
            <a:r>
              <a:rPr sz="1800" dirty="0">
                <a:solidFill>
                  <a:srgbClr val="0F2044"/>
                </a:solidFill>
                <a:latin typeface="Arial MT"/>
                <a:cs typeface="Arial MT"/>
              </a:rPr>
              <a:t>Remove</a:t>
            </a:r>
            <a:r>
              <a:rPr sz="1800" spc="-20" dirty="0">
                <a:solidFill>
                  <a:srgbClr val="0F2044"/>
                </a:solidFill>
                <a:latin typeface="Arial MT"/>
                <a:cs typeface="Arial MT"/>
              </a:rPr>
              <a:t> </a:t>
            </a:r>
            <a:r>
              <a:rPr sz="1800" dirty="0">
                <a:solidFill>
                  <a:srgbClr val="0F2044"/>
                </a:solidFill>
                <a:latin typeface="Arial MT"/>
                <a:cs typeface="Arial MT"/>
              </a:rPr>
              <a:t>the</a:t>
            </a:r>
            <a:r>
              <a:rPr sz="1800" spc="-15" dirty="0">
                <a:solidFill>
                  <a:srgbClr val="0F2044"/>
                </a:solidFill>
                <a:latin typeface="Arial MT"/>
                <a:cs typeface="Arial MT"/>
              </a:rPr>
              <a:t> </a:t>
            </a:r>
            <a:r>
              <a:rPr sz="1800" dirty="0">
                <a:solidFill>
                  <a:srgbClr val="0F2044"/>
                </a:solidFill>
                <a:latin typeface="Arial MT"/>
                <a:cs typeface="Arial MT"/>
              </a:rPr>
              <a:t>previous</a:t>
            </a:r>
            <a:r>
              <a:rPr sz="1800" spc="-20" dirty="0">
                <a:solidFill>
                  <a:srgbClr val="0F2044"/>
                </a:solidFill>
                <a:latin typeface="Arial MT"/>
                <a:cs typeface="Arial MT"/>
              </a:rPr>
              <a:t> </a:t>
            </a:r>
            <a:r>
              <a:rPr sz="1800" dirty="0">
                <a:solidFill>
                  <a:srgbClr val="0F2044"/>
                </a:solidFill>
                <a:latin typeface="Arial MT"/>
                <a:cs typeface="Arial MT"/>
              </a:rPr>
              <a:t>block</a:t>
            </a:r>
            <a:r>
              <a:rPr sz="1800" spc="-15" dirty="0">
                <a:solidFill>
                  <a:srgbClr val="0F2044"/>
                </a:solidFill>
                <a:latin typeface="Arial MT"/>
                <a:cs typeface="Arial MT"/>
              </a:rPr>
              <a:t> </a:t>
            </a:r>
            <a:r>
              <a:rPr sz="1800" spc="-20" dirty="0">
                <a:solidFill>
                  <a:srgbClr val="0F2044"/>
                </a:solidFill>
                <a:latin typeface="Arial MT"/>
                <a:cs typeface="Arial MT"/>
              </a:rPr>
              <a:t>from 	</a:t>
            </a:r>
            <a:r>
              <a:rPr sz="1800" dirty="0">
                <a:solidFill>
                  <a:srgbClr val="0F2044"/>
                </a:solidFill>
                <a:latin typeface="Arial MT"/>
                <a:cs typeface="Arial MT"/>
              </a:rPr>
              <a:t>the</a:t>
            </a:r>
            <a:r>
              <a:rPr sz="1800" spc="-25" dirty="0">
                <a:solidFill>
                  <a:srgbClr val="0F2044"/>
                </a:solidFill>
                <a:latin typeface="Arial MT"/>
                <a:cs typeface="Arial MT"/>
              </a:rPr>
              <a:t> </a:t>
            </a:r>
            <a:r>
              <a:rPr sz="1800" dirty="0">
                <a:solidFill>
                  <a:srgbClr val="0F2044"/>
                </a:solidFill>
                <a:latin typeface="Arial MT"/>
                <a:cs typeface="Arial MT"/>
              </a:rPr>
              <a:t>list,</a:t>
            </a:r>
            <a:r>
              <a:rPr sz="1800" spc="-10" dirty="0">
                <a:solidFill>
                  <a:srgbClr val="0F2044"/>
                </a:solidFill>
                <a:latin typeface="Arial MT"/>
                <a:cs typeface="Arial MT"/>
              </a:rPr>
              <a:t> </a:t>
            </a:r>
            <a:r>
              <a:rPr sz="1800" dirty="0">
                <a:solidFill>
                  <a:srgbClr val="0F2044"/>
                </a:solidFill>
                <a:latin typeface="Arial MT"/>
                <a:cs typeface="Arial MT"/>
              </a:rPr>
              <a:t>merge</a:t>
            </a:r>
            <a:r>
              <a:rPr sz="1800" spc="-15" dirty="0">
                <a:solidFill>
                  <a:srgbClr val="0F2044"/>
                </a:solidFill>
                <a:latin typeface="Arial MT"/>
                <a:cs typeface="Arial MT"/>
              </a:rPr>
              <a:t> </a:t>
            </a:r>
            <a:r>
              <a:rPr sz="1800" dirty="0">
                <a:solidFill>
                  <a:srgbClr val="0F2044"/>
                </a:solidFill>
                <a:latin typeface="Arial MT"/>
                <a:cs typeface="Arial MT"/>
              </a:rPr>
              <a:t>to</a:t>
            </a:r>
            <a:r>
              <a:rPr sz="1800" spc="-10" dirty="0">
                <a:solidFill>
                  <a:srgbClr val="0F2044"/>
                </a:solidFill>
                <a:latin typeface="Arial MT"/>
                <a:cs typeface="Arial MT"/>
              </a:rPr>
              <a:t> </a:t>
            </a:r>
            <a:r>
              <a:rPr sz="1800" dirty="0">
                <a:solidFill>
                  <a:srgbClr val="0F2044"/>
                </a:solidFill>
                <a:latin typeface="Arial MT"/>
                <a:cs typeface="Arial MT"/>
              </a:rPr>
              <a:t>form</a:t>
            </a:r>
            <a:r>
              <a:rPr sz="1800" spc="-10" dirty="0">
                <a:solidFill>
                  <a:srgbClr val="0F2044"/>
                </a:solidFill>
                <a:latin typeface="Arial MT"/>
                <a:cs typeface="Arial MT"/>
              </a:rPr>
              <a:t> </a:t>
            </a:r>
            <a:r>
              <a:rPr sz="1800" dirty="0">
                <a:solidFill>
                  <a:srgbClr val="0F2044"/>
                </a:solidFill>
                <a:latin typeface="Arial MT"/>
                <a:cs typeface="Arial MT"/>
              </a:rPr>
              <a:t>a</a:t>
            </a:r>
            <a:r>
              <a:rPr sz="1800" spc="-15" dirty="0">
                <a:solidFill>
                  <a:srgbClr val="0F2044"/>
                </a:solidFill>
                <a:latin typeface="Arial MT"/>
                <a:cs typeface="Arial MT"/>
              </a:rPr>
              <a:t> </a:t>
            </a:r>
            <a:r>
              <a:rPr sz="1800" dirty="0">
                <a:solidFill>
                  <a:srgbClr val="0F2044"/>
                </a:solidFill>
                <a:latin typeface="Arial MT"/>
                <a:cs typeface="Arial MT"/>
              </a:rPr>
              <a:t>larger</a:t>
            </a:r>
            <a:r>
              <a:rPr sz="1800" spc="-10" dirty="0">
                <a:solidFill>
                  <a:srgbClr val="0F2044"/>
                </a:solidFill>
                <a:latin typeface="Arial MT"/>
                <a:cs typeface="Arial MT"/>
              </a:rPr>
              <a:t> </a:t>
            </a:r>
            <a:r>
              <a:rPr sz="1800" dirty="0">
                <a:solidFill>
                  <a:srgbClr val="0F2044"/>
                </a:solidFill>
                <a:latin typeface="Arial MT"/>
                <a:cs typeface="Arial MT"/>
              </a:rPr>
              <a:t>block</a:t>
            </a:r>
            <a:r>
              <a:rPr sz="1800" spc="-10" dirty="0">
                <a:solidFill>
                  <a:srgbClr val="0F2044"/>
                </a:solidFill>
                <a:latin typeface="Arial MT"/>
                <a:cs typeface="Arial MT"/>
              </a:rPr>
              <a:t> </a:t>
            </a:r>
            <a:r>
              <a:rPr sz="1800" spc="-25" dirty="0">
                <a:solidFill>
                  <a:srgbClr val="0F2044"/>
                </a:solidFill>
                <a:latin typeface="Arial MT"/>
                <a:cs typeface="Arial MT"/>
              </a:rPr>
              <a:t>and 	</a:t>
            </a:r>
            <a:r>
              <a:rPr sz="1800" dirty="0">
                <a:solidFill>
                  <a:srgbClr val="0F2044"/>
                </a:solidFill>
                <a:latin typeface="Arial MT"/>
                <a:cs typeface="Arial MT"/>
              </a:rPr>
              <a:t>put</a:t>
            </a:r>
            <a:r>
              <a:rPr sz="1800" spc="-15" dirty="0">
                <a:solidFill>
                  <a:srgbClr val="0F2044"/>
                </a:solidFill>
                <a:latin typeface="Arial MT"/>
                <a:cs typeface="Arial MT"/>
              </a:rPr>
              <a:t> </a:t>
            </a:r>
            <a:r>
              <a:rPr sz="1800" dirty="0">
                <a:solidFill>
                  <a:srgbClr val="0F2044"/>
                </a:solidFill>
                <a:latin typeface="Arial MT"/>
                <a:cs typeface="Arial MT"/>
              </a:rPr>
              <a:t>it</a:t>
            </a:r>
            <a:r>
              <a:rPr sz="1800" spc="-15" dirty="0">
                <a:solidFill>
                  <a:srgbClr val="0F2044"/>
                </a:solidFill>
                <a:latin typeface="Arial MT"/>
                <a:cs typeface="Arial MT"/>
              </a:rPr>
              <a:t> </a:t>
            </a:r>
            <a:r>
              <a:rPr sz="1800" dirty="0">
                <a:solidFill>
                  <a:srgbClr val="0F2044"/>
                </a:solidFill>
                <a:latin typeface="Arial MT"/>
                <a:cs typeface="Arial MT"/>
              </a:rPr>
              <a:t>on</a:t>
            </a:r>
            <a:r>
              <a:rPr sz="1800" spc="-15" dirty="0">
                <a:solidFill>
                  <a:srgbClr val="0F2044"/>
                </a:solidFill>
                <a:latin typeface="Arial MT"/>
                <a:cs typeface="Arial MT"/>
              </a:rPr>
              <a:t> </a:t>
            </a:r>
            <a:r>
              <a:rPr sz="1800" dirty="0">
                <a:solidFill>
                  <a:srgbClr val="0F2044"/>
                </a:solidFill>
                <a:latin typeface="Arial MT"/>
                <a:cs typeface="Arial MT"/>
              </a:rPr>
              <a:t>front</a:t>
            </a:r>
            <a:r>
              <a:rPr sz="1800" spc="-15" dirty="0">
                <a:solidFill>
                  <a:srgbClr val="0F2044"/>
                </a:solidFill>
                <a:latin typeface="Arial MT"/>
                <a:cs typeface="Arial MT"/>
              </a:rPr>
              <a:t> </a:t>
            </a:r>
            <a:r>
              <a:rPr sz="1800" dirty="0">
                <a:solidFill>
                  <a:srgbClr val="0F2044"/>
                </a:solidFill>
                <a:latin typeface="Arial MT"/>
                <a:cs typeface="Arial MT"/>
              </a:rPr>
              <a:t>of</a:t>
            </a:r>
            <a:r>
              <a:rPr sz="1800" spc="-15" dirty="0">
                <a:solidFill>
                  <a:srgbClr val="0F2044"/>
                </a:solidFill>
                <a:latin typeface="Arial MT"/>
                <a:cs typeface="Arial MT"/>
              </a:rPr>
              <a:t> </a:t>
            </a:r>
            <a:r>
              <a:rPr sz="1800" dirty="0">
                <a:solidFill>
                  <a:srgbClr val="0F2044"/>
                </a:solidFill>
                <a:latin typeface="Arial MT"/>
                <a:cs typeface="Arial MT"/>
              </a:rPr>
              <a:t>the</a:t>
            </a:r>
            <a:r>
              <a:rPr sz="1800" spc="-10" dirty="0">
                <a:solidFill>
                  <a:srgbClr val="0F2044"/>
                </a:solidFill>
                <a:latin typeface="Arial MT"/>
                <a:cs typeface="Arial MT"/>
              </a:rPr>
              <a:t> list.</a:t>
            </a:r>
            <a:endParaRPr sz="1800" dirty="0">
              <a:latin typeface="Arial MT"/>
              <a:cs typeface="Arial MT"/>
            </a:endParaRPr>
          </a:p>
          <a:p>
            <a:pPr>
              <a:lnSpc>
                <a:spcPct val="114000"/>
              </a:lnSpc>
              <a:spcBef>
                <a:spcPts val="90"/>
              </a:spcBef>
              <a:buClr>
                <a:srgbClr val="0F2044"/>
              </a:buClr>
              <a:buFont typeface="Arial MT"/>
              <a:buAutoNum type="arabicPeriod"/>
            </a:pPr>
            <a:endParaRPr sz="1800" dirty="0">
              <a:latin typeface="Arial MT"/>
              <a:cs typeface="Arial MT"/>
            </a:endParaRPr>
          </a:p>
          <a:p>
            <a:pPr marL="431800" indent="-419100">
              <a:lnSpc>
                <a:spcPct val="114000"/>
              </a:lnSpc>
              <a:buAutoNum type="arabicPeriod"/>
              <a:tabLst>
                <a:tab pos="431800" algn="l"/>
              </a:tabLst>
            </a:pPr>
            <a:r>
              <a:rPr sz="1800" b="1" dirty="0">
                <a:solidFill>
                  <a:srgbClr val="0F2044"/>
                </a:solidFill>
                <a:latin typeface="Arial MT"/>
                <a:cs typeface="Arial MT"/>
              </a:rPr>
              <a:t>After:</a:t>
            </a:r>
            <a:r>
              <a:rPr sz="1800" b="1" spc="-65" dirty="0">
                <a:solidFill>
                  <a:srgbClr val="0F2044"/>
                </a:solidFill>
                <a:latin typeface="Arial MT"/>
                <a:cs typeface="Arial MT"/>
              </a:rPr>
              <a:t> </a:t>
            </a:r>
            <a:r>
              <a:rPr sz="1800" dirty="0">
                <a:solidFill>
                  <a:srgbClr val="0F2044"/>
                </a:solidFill>
                <a:latin typeface="Arial MT"/>
                <a:cs typeface="Arial MT"/>
              </a:rPr>
              <a:t>The</a:t>
            </a:r>
            <a:r>
              <a:rPr sz="1800" spc="-20" dirty="0">
                <a:solidFill>
                  <a:srgbClr val="0F2044"/>
                </a:solidFill>
                <a:latin typeface="Arial MT"/>
                <a:cs typeface="Arial MT"/>
              </a:rPr>
              <a:t> </a:t>
            </a:r>
            <a:r>
              <a:rPr sz="1800" dirty="0">
                <a:solidFill>
                  <a:srgbClr val="0F2044"/>
                </a:solidFill>
                <a:latin typeface="Arial MT"/>
                <a:cs typeface="Arial MT"/>
              </a:rPr>
              <a:t>coalesced</a:t>
            </a:r>
            <a:r>
              <a:rPr sz="1800" spc="-20" dirty="0">
                <a:solidFill>
                  <a:srgbClr val="0F2044"/>
                </a:solidFill>
                <a:latin typeface="Arial MT"/>
                <a:cs typeface="Arial MT"/>
              </a:rPr>
              <a:t> </a:t>
            </a:r>
            <a:r>
              <a:rPr sz="1800" dirty="0">
                <a:solidFill>
                  <a:srgbClr val="0F2044"/>
                </a:solidFill>
                <a:latin typeface="Arial MT"/>
                <a:cs typeface="Arial MT"/>
              </a:rPr>
              <a:t>block</a:t>
            </a:r>
            <a:r>
              <a:rPr sz="1800" spc="-20" dirty="0">
                <a:solidFill>
                  <a:srgbClr val="0F2044"/>
                </a:solidFill>
                <a:latin typeface="Arial MT"/>
                <a:cs typeface="Arial MT"/>
              </a:rPr>
              <a:t> </a:t>
            </a:r>
            <a:r>
              <a:rPr sz="1800" dirty="0">
                <a:solidFill>
                  <a:srgbClr val="0F2044"/>
                </a:solidFill>
                <a:latin typeface="Arial MT"/>
                <a:cs typeface="Arial MT"/>
              </a:rPr>
              <a:t>is</a:t>
            </a:r>
            <a:r>
              <a:rPr sz="1800" spc="-20" dirty="0">
                <a:solidFill>
                  <a:srgbClr val="0F2044"/>
                </a:solidFill>
                <a:latin typeface="Arial MT"/>
                <a:cs typeface="Arial MT"/>
              </a:rPr>
              <a:t> </a:t>
            </a:r>
            <a:r>
              <a:rPr sz="1800" dirty="0">
                <a:solidFill>
                  <a:srgbClr val="0F2044"/>
                </a:solidFill>
                <a:latin typeface="Arial MT"/>
                <a:cs typeface="Arial MT"/>
              </a:rPr>
              <a:t>the</a:t>
            </a:r>
            <a:r>
              <a:rPr sz="1800" spc="-15" dirty="0">
                <a:solidFill>
                  <a:srgbClr val="0F2044"/>
                </a:solidFill>
                <a:latin typeface="Arial MT"/>
                <a:cs typeface="Arial MT"/>
              </a:rPr>
              <a:t> </a:t>
            </a:r>
            <a:r>
              <a:rPr sz="1800" spc="-25" dirty="0">
                <a:solidFill>
                  <a:srgbClr val="0F2044"/>
                </a:solidFill>
                <a:latin typeface="Arial MT"/>
                <a:cs typeface="Arial MT"/>
              </a:rPr>
              <a:t>new</a:t>
            </a:r>
            <a:endParaRPr sz="1800" dirty="0">
              <a:latin typeface="Arial MT"/>
              <a:cs typeface="Arial MT"/>
            </a:endParaRPr>
          </a:p>
          <a:p>
            <a:pPr marL="431800">
              <a:lnSpc>
                <a:spcPct val="114000"/>
              </a:lnSpc>
            </a:pPr>
            <a:r>
              <a:rPr sz="1800" b="1" spc="-10" dirty="0">
                <a:solidFill>
                  <a:srgbClr val="0F2044"/>
                </a:solidFill>
                <a:latin typeface="Arial"/>
                <a:cs typeface="Arial"/>
              </a:rPr>
              <a:t>“</a:t>
            </a:r>
            <a:r>
              <a:rPr sz="1800" b="1" spc="-10" dirty="0">
                <a:solidFill>
                  <a:srgbClr val="0070C0"/>
                </a:solidFill>
                <a:latin typeface="Arial"/>
                <a:cs typeface="Arial"/>
              </a:rPr>
              <a:t>root</a:t>
            </a:r>
            <a:r>
              <a:rPr sz="1800" b="1" spc="-10" dirty="0">
                <a:solidFill>
                  <a:srgbClr val="0F2044"/>
                </a:solidFill>
                <a:latin typeface="Arial"/>
                <a:cs typeface="Arial"/>
              </a:rPr>
              <a:t>”</a:t>
            </a:r>
            <a:endParaRPr sz="1800" dirty="0">
              <a:latin typeface="Arial"/>
              <a:cs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Case</a:t>
            </a:r>
            <a:r>
              <a:rPr spc="-60" dirty="0"/>
              <a:t> </a:t>
            </a:r>
            <a:r>
              <a:rPr dirty="0"/>
              <a:t>2:</a:t>
            </a:r>
            <a:r>
              <a:rPr spc="-55" dirty="0"/>
              <a:t> </a:t>
            </a:r>
            <a:r>
              <a:rPr spc="-10" dirty="0"/>
              <a:t>Coalescing</a:t>
            </a:r>
            <a:r>
              <a:rPr spc="-55" dirty="0"/>
              <a:t> </a:t>
            </a:r>
            <a:r>
              <a:rPr dirty="0"/>
              <a:t>With</a:t>
            </a:r>
            <a:r>
              <a:rPr spc="-55" dirty="0"/>
              <a:t> </a:t>
            </a:r>
            <a:r>
              <a:rPr dirty="0"/>
              <a:t>The</a:t>
            </a:r>
            <a:r>
              <a:rPr spc="-55" dirty="0"/>
              <a:t> </a:t>
            </a:r>
            <a:r>
              <a:rPr dirty="0"/>
              <a:t>Previous</a:t>
            </a:r>
            <a:r>
              <a:rPr spc="-55" dirty="0"/>
              <a:t> </a:t>
            </a:r>
            <a:r>
              <a:rPr spc="-10" dirty="0"/>
              <a:t>Block</a:t>
            </a:r>
          </a:p>
        </p:txBody>
      </p:sp>
      <p:pic>
        <p:nvPicPr>
          <p:cNvPr id="4" name="object 4" descr="A multi-step flow showing the freeing process. A block is freed and merged with its successor, requiring the successor to be &quot;spliced out&quot; of its current list position before the new, larger block is moved to the root."/>
          <p:cNvPicPr/>
          <p:nvPr/>
        </p:nvPicPr>
        <p:blipFill>
          <a:blip r:embed="rId3" cstate="print"/>
          <a:stretch>
            <a:fillRect/>
          </a:stretch>
        </p:blipFill>
        <p:spPr>
          <a:xfrm>
            <a:off x="397241" y="2308264"/>
            <a:ext cx="4250959" cy="4305558"/>
          </a:xfrm>
          <a:prstGeom prst="rect">
            <a:avLst/>
          </a:prstGeom>
        </p:spPr>
      </p:pic>
      <p:sp>
        <p:nvSpPr>
          <p:cNvPr id="3" name="object 3"/>
          <p:cNvSpPr txBox="1">
            <a:spLocks noGrp="1"/>
          </p:cNvSpPr>
          <p:nvPr>
            <p:ph type="body" idx="1"/>
          </p:nvPr>
        </p:nvSpPr>
        <p:spPr>
          <a:xfrm>
            <a:off x="5029200" y="2324325"/>
            <a:ext cx="7086600" cy="4152675"/>
          </a:xfrm>
          <a:prstGeom prst="rect">
            <a:avLst/>
          </a:prstGeom>
        </p:spPr>
        <p:txBody>
          <a:bodyPr vert="horz" wrap="square" lIns="0" tIns="12700" rIns="0" bIns="0" rtlCol="0">
            <a:spAutoFit/>
          </a:bodyPr>
          <a:lstStyle/>
          <a:p>
            <a:pPr marL="410209" indent="-397510">
              <a:lnSpc>
                <a:spcPct val="114000"/>
              </a:lnSpc>
              <a:spcBef>
                <a:spcPts val="100"/>
              </a:spcBef>
              <a:spcAft>
                <a:spcPts val="600"/>
              </a:spcAft>
              <a:buAutoNum type="arabicPeriod"/>
              <a:tabLst>
                <a:tab pos="410209" algn="l"/>
              </a:tabLst>
            </a:pPr>
            <a:r>
              <a:rPr sz="1800" dirty="0"/>
              <a:t>Trying</a:t>
            </a:r>
            <a:r>
              <a:rPr sz="1800" spc="-35" dirty="0"/>
              <a:t> </a:t>
            </a:r>
            <a:r>
              <a:rPr sz="1800" dirty="0"/>
              <a:t>to</a:t>
            </a:r>
            <a:r>
              <a:rPr sz="1800" spc="-35" dirty="0"/>
              <a:t> </a:t>
            </a:r>
            <a:r>
              <a:rPr sz="1800" dirty="0"/>
              <a:t>free</a:t>
            </a:r>
            <a:r>
              <a:rPr sz="1800" spc="-35" dirty="0"/>
              <a:t> </a:t>
            </a:r>
            <a:r>
              <a:rPr sz="1800" dirty="0"/>
              <a:t>an</a:t>
            </a:r>
            <a:r>
              <a:rPr sz="1800" spc="-35" dirty="0"/>
              <a:t> </a:t>
            </a:r>
            <a:r>
              <a:rPr sz="1800" dirty="0"/>
              <a:t>allocated</a:t>
            </a:r>
            <a:r>
              <a:rPr sz="1800" spc="-35" dirty="0"/>
              <a:t> </a:t>
            </a:r>
            <a:r>
              <a:rPr sz="1800" dirty="0"/>
              <a:t>block,</a:t>
            </a:r>
            <a:r>
              <a:rPr sz="1800" spc="-35" dirty="0"/>
              <a:t> </a:t>
            </a:r>
            <a:r>
              <a:rPr sz="1800" dirty="0"/>
              <a:t>but</a:t>
            </a:r>
            <a:r>
              <a:rPr sz="1800" spc="-35" dirty="0"/>
              <a:t> </a:t>
            </a:r>
            <a:r>
              <a:rPr sz="1800" dirty="0"/>
              <a:t>the</a:t>
            </a:r>
            <a:r>
              <a:rPr sz="1800" spc="-35" dirty="0"/>
              <a:t> </a:t>
            </a:r>
            <a:r>
              <a:rPr sz="1800" dirty="0"/>
              <a:t>next</a:t>
            </a:r>
            <a:r>
              <a:rPr sz="1800" spc="-35" dirty="0"/>
              <a:t> </a:t>
            </a:r>
            <a:r>
              <a:rPr sz="1800" dirty="0"/>
              <a:t>block</a:t>
            </a:r>
            <a:r>
              <a:rPr sz="1800" spc="-35" dirty="0"/>
              <a:t> </a:t>
            </a:r>
            <a:r>
              <a:rPr sz="1800" dirty="0"/>
              <a:t>is</a:t>
            </a:r>
            <a:r>
              <a:rPr sz="1800" spc="-35" dirty="0"/>
              <a:t> </a:t>
            </a:r>
            <a:r>
              <a:rPr sz="1800" spc="-20" dirty="0"/>
              <a:t>free</a:t>
            </a:r>
          </a:p>
          <a:p>
            <a:pPr marL="867410" lvl="1" indent="-398145">
              <a:lnSpc>
                <a:spcPct val="114000"/>
              </a:lnSpc>
              <a:spcAft>
                <a:spcPts val="600"/>
              </a:spcAft>
              <a:buAutoNum type="alphaLcPeriod"/>
              <a:tabLst>
                <a:tab pos="867410" algn="l"/>
              </a:tabLst>
            </a:pPr>
            <a:r>
              <a:rPr dirty="0">
                <a:solidFill>
                  <a:srgbClr val="0F2044"/>
                </a:solidFill>
                <a:latin typeface="Arial MT"/>
                <a:cs typeface="Arial MT"/>
              </a:rPr>
              <a:t>First,</a:t>
            </a:r>
            <a:r>
              <a:rPr spc="-40" dirty="0">
                <a:solidFill>
                  <a:srgbClr val="0F2044"/>
                </a:solidFill>
                <a:latin typeface="Arial MT"/>
                <a:cs typeface="Arial MT"/>
              </a:rPr>
              <a:t> </a:t>
            </a:r>
            <a:r>
              <a:rPr dirty="0">
                <a:solidFill>
                  <a:srgbClr val="0F2044"/>
                </a:solidFill>
                <a:latin typeface="Arial MT"/>
                <a:cs typeface="Arial MT"/>
              </a:rPr>
              <a:t>let's</a:t>
            </a:r>
            <a:r>
              <a:rPr spc="-40" dirty="0">
                <a:solidFill>
                  <a:srgbClr val="0F2044"/>
                </a:solidFill>
                <a:latin typeface="Arial MT"/>
                <a:cs typeface="Arial MT"/>
              </a:rPr>
              <a:t> </a:t>
            </a:r>
            <a:r>
              <a:rPr dirty="0">
                <a:solidFill>
                  <a:srgbClr val="0F2044"/>
                </a:solidFill>
                <a:latin typeface="Arial MT"/>
                <a:cs typeface="Arial MT"/>
              </a:rPr>
              <a:t>start</a:t>
            </a:r>
            <a:r>
              <a:rPr spc="-40" dirty="0">
                <a:solidFill>
                  <a:srgbClr val="0F2044"/>
                </a:solidFill>
                <a:latin typeface="Arial MT"/>
                <a:cs typeface="Arial MT"/>
              </a:rPr>
              <a:t> </a:t>
            </a:r>
            <a:r>
              <a:rPr dirty="0">
                <a:solidFill>
                  <a:srgbClr val="0F2044"/>
                </a:solidFill>
                <a:latin typeface="Arial MT"/>
                <a:cs typeface="Arial MT"/>
              </a:rPr>
              <a:t>with</a:t>
            </a:r>
            <a:r>
              <a:rPr spc="-40" dirty="0">
                <a:solidFill>
                  <a:srgbClr val="0F2044"/>
                </a:solidFill>
                <a:latin typeface="Arial MT"/>
                <a:cs typeface="Arial MT"/>
              </a:rPr>
              <a:t> </a:t>
            </a:r>
            <a:r>
              <a:rPr dirty="0">
                <a:solidFill>
                  <a:srgbClr val="0F2044"/>
                </a:solidFill>
                <a:latin typeface="Arial MT"/>
                <a:cs typeface="Arial MT"/>
              </a:rPr>
              <a:t>Coalescing</a:t>
            </a:r>
            <a:r>
              <a:rPr spc="-50" dirty="0">
                <a:solidFill>
                  <a:srgbClr val="0F2044"/>
                </a:solidFill>
                <a:latin typeface="Arial MT"/>
                <a:cs typeface="Arial MT"/>
              </a:rPr>
              <a:t>.</a:t>
            </a:r>
            <a:endParaRPr dirty="0">
              <a:latin typeface="Arial MT"/>
              <a:cs typeface="Arial MT"/>
            </a:endParaRPr>
          </a:p>
          <a:p>
            <a:pPr marL="1324610" marR="428625" lvl="2" indent="-330200">
              <a:lnSpc>
                <a:spcPct val="114000"/>
              </a:lnSpc>
              <a:spcAft>
                <a:spcPts val="600"/>
              </a:spcAft>
              <a:buAutoNum type="romanLcPeriod"/>
              <a:tabLst>
                <a:tab pos="1324610" algn="l"/>
              </a:tabLst>
            </a:pPr>
            <a:r>
              <a:rPr spc="-80" dirty="0">
                <a:solidFill>
                  <a:srgbClr val="0F2044"/>
                </a:solidFill>
                <a:latin typeface="Arial MT"/>
                <a:cs typeface="Arial MT"/>
              </a:rPr>
              <a:t>To</a:t>
            </a:r>
            <a:r>
              <a:rPr spc="-35" dirty="0">
                <a:solidFill>
                  <a:srgbClr val="0F2044"/>
                </a:solidFill>
                <a:latin typeface="Arial MT"/>
                <a:cs typeface="Arial MT"/>
              </a:rPr>
              <a:t> </a:t>
            </a:r>
            <a:r>
              <a:rPr dirty="0">
                <a:solidFill>
                  <a:srgbClr val="0F2044"/>
                </a:solidFill>
                <a:latin typeface="Arial MT"/>
                <a:cs typeface="Arial MT"/>
              </a:rPr>
              <a:t>do</a:t>
            </a:r>
            <a:r>
              <a:rPr spc="-30" dirty="0">
                <a:solidFill>
                  <a:srgbClr val="0F2044"/>
                </a:solidFill>
                <a:latin typeface="Arial MT"/>
                <a:cs typeface="Arial MT"/>
              </a:rPr>
              <a:t> </a:t>
            </a:r>
            <a:r>
              <a:rPr dirty="0">
                <a:solidFill>
                  <a:srgbClr val="0F2044"/>
                </a:solidFill>
                <a:latin typeface="Arial MT"/>
                <a:cs typeface="Arial MT"/>
              </a:rPr>
              <a:t>this,</a:t>
            </a:r>
            <a:r>
              <a:rPr spc="-30" dirty="0">
                <a:solidFill>
                  <a:srgbClr val="0F2044"/>
                </a:solidFill>
                <a:latin typeface="Arial MT"/>
                <a:cs typeface="Arial MT"/>
              </a:rPr>
              <a:t> </a:t>
            </a:r>
            <a:r>
              <a:rPr dirty="0">
                <a:solidFill>
                  <a:srgbClr val="0F2044"/>
                </a:solidFill>
                <a:latin typeface="Arial MT"/>
                <a:cs typeface="Arial MT"/>
              </a:rPr>
              <a:t>first</a:t>
            </a:r>
            <a:r>
              <a:rPr spc="-15" dirty="0">
                <a:solidFill>
                  <a:srgbClr val="0F2044"/>
                </a:solidFill>
                <a:latin typeface="Arial MT"/>
                <a:cs typeface="Arial MT"/>
              </a:rPr>
              <a:t> </a:t>
            </a:r>
            <a:r>
              <a:rPr b="1" dirty="0">
                <a:solidFill>
                  <a:srgbClr val="0F2044"/>
                </a:solidFill>
                <a:latin typeface="Arial"/>
                <a:cs typeface="Arial"/>
              </a:rPr>
              <a:t>Splice</a:t>
            </a:r>
            <a:r>
              <a:rPr b="1" spc="-30" dirty="0">
                <a:solidFill>
                  <a:srgbClr val="0F2044"/>
                </a:solidFill>
                <a:latin typeface="Arial"/>
                <a:cs typeface="Arial"/>
              </a:rPr>
              <a:t> </a:t>
            </a:r>
            <a:r>
              <a:rPr b="1" dirty="0">
                <a:solidFill>
                  <a:srgbClr val="0F2044"/>
                </a:solidFill>
                <a:latin typeface="Arial"/>
                <a:cs typeface="Arial"/>
              </a:rPr>
              <a:t>Out</a:t>
            </a:r>
            <a:r>
              <a:rPr b="1" spc="-30" dirty="0">
                <a:solidFill>
                  <a:srgbClr val="0F2044"/>
                </a:solidFill>
                <a:latin typeface="Arial"/>
                <a:cs typeface="Arial"/>
              </a:rPr>
              <a:t> </a:t>
            </a:r>
            <a:r>
              <a:rPr dirty="0">
                <a:solidFill>
                  <a:srgbClr val="0F2044"/>
                </a:solidFill>
                <a:latin typeface="Arial MT"/>
                <a:cs typeface="Arial MT"/>
              </a:rPr>
              <a:t>the</a:t>
            </a:r>
            <a:r>
              <a:rPr spc="-30" dirty="0">
                <a:solidFill>
                  <a:srgbClr val="0F2044"/>
                </a:solidFill>
                <a:latin typeface="Arial MT"/>
                <a:cs typeface="Arial MT"/>
              </a:rPr>
              <a:t> </a:t>
            </a:r>
            <a:r>
              <a:rPr dirty="0">
                <a:solidFill>
                  <a:srgbClr val="0F2044"/>
                </a:solidFill>
                <a:latin typeface="Arial MT"/>
                <a:cs typeface="Arial MT"/>
              </a:rPr>
              <a:t>Next</a:t>
            </a:r>
            <a:r>
              <a:rPr spc="-30" dirty="0">
                <a:solidFill>
                  <a:srgbClr val="0F2044"/>
                </a:solidFill>
                <a:latin typeface="Arial MT"/>
                <a:cs typeface="Arial MT"/>
              </a:rPr>
              <a:t> </a:t>
            </a:r>
            <a:r>
              <a:rPr dirty="0">
                <a:solidFill>
                  <a:srgbClr val="0F2044"/>
                </a:solidFill>
                <a:latin typeface="Arial MT"/>
                <a:cs typeface="Arial MT"/>
              </a:rPr>
              <a:t>Block</a:t>
            </a:r>
            <a:r>
              <a:rPr spc="-30" dirty="0">
                <a:solidFill>
                  <a:srgbClr val="0F2044"/>
                </a:solidFill>
                <a:latin typeface="Arial MT"/>
                <a:cs typeface="Arial MT"/>
              </a:rPr>
              <a:t> </a:t>
            </a:r>
            <a:r>
              <a:rPr dirty="0">
                <a:solidFill>
                  <a:srgbClr val="0F2044"/>
                </a:solidFill>
                <a:latin typeface="Arial MT"/>
                <a:cs typeface="Arial MT"/>
              </a:rPr>
              <a:t>from</a:t>
            </a:r>
            <a:r>
              <a:rPr spc="-30" dirty="0">
                <a:solidFill>
                  <a:srgbClr val="0F2044"/>
                </a:solidFill>
                <a:latin typeface="Arial MT"/>
                <a:cs typeface="Arial MT"/>
              </a:rPr>
              <a:t> </a:t>
            </a:r>
            <a:r>
              <a:rPr spc="-25" dirty="0">
                <a:solidFill>
                  <a:srgbClr val="0F2044"/>
                </a:solidFill>
                <a:latin typeface="Arial MT"/>
                <a:cs typeface="Arial MT"/>
              </a:rPr>
              <a:t>the </a:t>
            </a:r>
            <a:r>
              <a:rPr dirty="0">
                <a:solidFill>
                  <a:srgbClr val="0F2044"/>
                </a:solidFill>
                <a:latin typeface="Arial MT"/>
                <a:cs typeface="Arial MT"/>
              </a:rPr>
              <a:t>Free</a:t>
            </a:r>
            <a:r>
              <a:rPr spc="-25" dirty="0">
                <a:solidFill>
                  <a:srgbClr val="0F2044"/>
                </a:solidFill>
                <a:latin typeface="Arial MT"/>
                <a:cs typeface="Arial MT"/>
              </a:rPr>
              <a:t> </a:t>
            </a:r>
            <a:r>
              <a:rPr dirty="0">
                <a:solidFill>
                  <a:srgbClr val="0F2044"/>
                </a:solidFill>
                <a:latin typeface="Arial MT"/>
                <a:cs typeface="Arial MT"/>
              </a:rPr>
              <a:t>List</a:t>
            </a:r>
            <a:r>
              <a:rPr spc="-25" dirty="0">
                <a:solidFill>
                  <a:srgbClr val="0F2044"/>
                </a:solidFill>
                <a:latin typeface="Arial MT"/>
                <a:cs typeface="Arial MT"/>
              </a:rPr>
              <a:t> </a:t>
            </a:r>
            <a:r>
              <a:rPr dirty="0">
                <a:solidFill>
                  <a:srgbClr val="0F2044"/>
                </a:solidFill>
                <a:latin typeface="Arial MT"/>
                <a:cs typeface="Arial MT"/>
              </a:rPr>
              <a:t>,</a:t>
            </a:r>
            <a:r>
              <a:rPr spc="-25" dirty="0">
                <a:solidFill>
                  <a:srgbClr val="0F2044"/>
                </a:solidFill>
                <a:latin typeface="Arial MT"/>
                <a:cs typeface="Arial MT"/>
              </a:rPr>
              <a:t> </a:t>
            </a:r>
            <a:r>
              <a:rPr dirty="0">
                <a:solidFill>
                  <a:srgbClr val="0F2044"/>
                </a:solidFill>
                <a:latin typeface="Arial MT"/>
                <a:cs typeface="Arial MT"/>
              </a:rPr>
              <a:t>that</a:t>
            </a:r>
            <a:r>
              <a:rPr spc="-20" dirty="0">
                <a:solidFill>
                  <a:srgbClr val="0F2044"/>
                </a:solidFill>
                <a:latin typeface="Arial MT"/>
                <a:cs typeface="Arial MT"/>
              </a:rPr>
              <a:t> </a:t>
            </a:r>
            <a:r>
              <a:rPr dirty="0">
                <a:solidFill>
                  <a:srgbClr val="0F2044"/>
                </a:solidFill>
                <a:latin typeface="Arial MT"/>
                <a:cs typeface="Arial MT"/>
              </a:rPr>
              <a:t>is,</a:t>
            </a:r>
            <a:r>
              <a:rPr spc="-25" dirty="0">
                <a:solidFill>
                  <a:srgbClr val="0F2044"/>
                </a:solidFill>
                <a:latin typeface="Arial MT"/>
                <a:cs typeface="Arial MT"/>
              </a:rPr>
              <a:t> </a:t>
            </a:r>
            <a:r>
              <a:rPr dirty="0">
                <a:solidFill>
                  <a:srgbClr val="0F2044"/>
                </a:solidFill>
                <a:latin typeface="Arial MT"/>
                <a:cs typeface="Arial MT"/>
              </a:rPr>
              <a:t>eject</a:t>
            </a:r>
            <a:r>
              <a:rPr spc="-25" dirty="0">
                <a:solidFill>
                  <a:srgbClr val="0F2044"/>
                </a:solidFill>
                <a:latin typeface="Arial MT"/>
                <a:cs typeface="Arial MT"/>
              </a:rPr>
              <a:t> it.</a:t>
            </a:r>
            <a:endParaRPr dirty="0">
              <a:latin typeface="Arial MT"/>
              <a:cs typeface="Arial MT"/>
            </a:endParaRPr>
          </a:p>
          <a:p>
            <a:pPr marL="1324610" marR="89535" lvl="2" indent="-375920">
              <a:lnSpc>
                <a:spcPct val="114000"/>
              </a:lnSpc>
              <a:spcAft>
                <a:spcPts val="1800"/>
              </a:spcAft>
              <a:buAutoNum type="romanLcPeriod"/>
              <a:tabLst>
                <a:tab pos="1324610" algn="l"/>
              </a:tabLst>
            </a:pPr>
            <a:r>
              <a:rPr dirty="0">
                <a:solidFill>
                  <a:srgbClr val="0F2044"/>
                </a:solidFill>
                <a:latin typeface="Arial MT"/>
                <a:cs typeface="Arial MT"/>
              </a:rPr>
              <a:t>Next,</a:t>
            </a:r>
            <a:r>
              <a:rPr spc="-30" dirty="0">
                <a:solidFill>
                  <a:srgbClr val="0F2044"/>
                </a:solidFill>
                <a:latin typeface="Arial MT"/>
                <a:cs typeface="Arial MT"/>
              </a:rPr>
              <a:t> </a:t>
            </a:r>
            <a:r>
              <a:rPr dirty="0">
                <a:solidFill>
                  <a:srgbClr val="0F2044"/>
                </a:solidFill>
                <a:latin typeface="Arial MT"/>
                <a:cs typeface="Arial MT"/>
              </a:rPr>
              <a:t>the</a:t>
            </a:r>
            <a:r>
              <a:rPr spc="-25" dirty="0">
                <a:solidFill>
                  <a:srgbClr val="0F2044"/>
                </a:solidFill>
                <a:latin typeface="Arial MT"/>
                <a:cs typeface="Arial MT"/>
              </a:rPr>
              <a:t> </a:t>
            </a:r>
            <a:r>
              <a:rPr dirty="0">
                <a:solidFill>
                  <a:srgbClr val="0F2044"/>
                </a:solidFill>
                <a:latin typeface="Arial MT"/>
                <a:cs typeface="Arial MT"/>
              </a:rPr>
              <a:t>evicted</a:t>
            </a:r>
            <a:r>
              <a:rPr spc="-25" dirty="0">
                <a:solidFill>
                  <a:srgbClr val="0F2044"/>
                </a:solidFill>
                <a:latin typeface="Arial MT"/>
                <a:cs typeface="Arial MT"/>
              </a:rPr>
              <a:t> </a:t>
            </a:r>
            <a:r>
              <a:rPr dirty="0">
                <a:solidFill>
                  <a:srgbClr val="0F2044"/>
                </a:solidFill>
                <a:latin typeface="Arial MT"/>
                <a:cs typeface="Arial MT"/>
              </a:rPr>
              <a:t>block</a:t>
            </a:r>
            <a:r>
              <a:rPr spc="-25" dirty="0">
                <a:solidFill>
                  <a:srgbClr val="0F2044"/>
                </a:solidFill>
                <a:latin typeface="Arial MT"/>
                <a:cs typeface="Arial MT"/>
              </a:rPr>
              <a:t> </a:t>
            </a:r>
            <a:r>
              <a:rPr dirty="0">
                <a:solidFill>
                  <a:srgbClr val="0F2044"/>
                </a:solidFill>
                <a:latin typeface="Arial MT"/>
                <a:cs typeface="Arial MT"/>
              </a:rPr>
              <a:t>and</a:t>
            </a:r>
            <a:r>
              <a:rPr spc="-25" dirty="0">
                <a:solidFill>
                  <a:srgbClr val="0F2044"/>
                </a:solidFill>
                <a:latin typeface="Arial MT"/>
                <a:cs typeface="Arial MT"/>
              </a:rPr>
              <a:t> </a:t>
            </a:r>
            <a:r>
              <a:rPr dirty="0">
                <a:solidFill>
                  <a:srgbClr val="0F2044"/>
                </a:solidFill>
                <a:latin typeface="Arial MT"/>
                <a:cs typeface="Arial MT"/>
              </a:rPr>
              <a:t>the</a:t>
            </a:r>
            <a:r>
              <a:rPr spc="-25" dirty="0">
                <a:solidFill>
                  <a:srgbClr val="0F2044"/>
                </a:solidFill>
                <a:latin typeface="Arial MT"/>
                <a:cs typeface="Arial MT"/>
              </a:rPr>
              <a:t> </a:t>
            </a:r>
            <a:r>
              <a:rPr dirty="0">
                <a:solidFill>
                  <a:srgbClr val="0F2044"/>
                </a:solidFill>
                <a:latin typeface="Arial MT"/>
                <a:cs typeface="Arial MT"/>
              </a:rPr>
              <a:t>Newly</a:t>
            </a:r>
            <a:r>
              <a:rPr spc="-25" dirty="0">
                <a:solidFill>
                  <a:srgbClr val="0F2044"/>
                </a:solidFill>
                <a:latin typeface="Arial MT"/>
                <a:cs typeface="Arial MT"/>
              </a:rPr>
              <a:t> </a:t>
            </a:r>
            <a:r>
              <a:rPr dirty="0">
                <a:solidFill>
                  <a:srgbClr val="0F2044"/>
                </a:solidFill>
                <a:latin typeface="Arial MT"/>
                <a:cs typeface="Arial MT"/>
              </a:rPr>
              <a:t>Freed</a:t>
            </a:r>
            <a:r>
              <a:rPr spc="-25" dirty="0">
                <a:solidFill>
                  <a:srgbClr val="0F2044"/>
                </a:solidFill>
                <a:latin typeface="Arial MT"/>
                <a:cs typeface="Arial MT"/>
              </a:rPr>
              <a:t> </a:t>
            </a:r>
            <a:r>
              <a:rPr dirty="0">
                <a:solidFill>
                  <a:srgbClr val="0F2044"/>
                </a:solidFill>
                <a:latin typeface="Arial MT"/>
                <a:cs typeface="Arial MT"/>
              </a:rPr>
              <a:t>Block</a:t>
            </a:r>
            <a:r>
              <a:rPr spc="-25" dirty="0">
                <a:solidFill>
                  <a:srgbClr val="0F2044"/>
                </a:solidFill>
                <a:latin typeface="Arial MT"/>
                <a:cs typeface="Arial MT"/>
              </a:rPr>
              <a:t> are </a:t>
            </a:r>
            <a:r>
              <a:rPr dirty="0">
                <a:solidFill>
                  <a:srgbClr val="0F2044"/>
                </a:solidFill>
                <a:latin typeface="Arial MT"/>
                <a:cs typeface="Arial MT"/>
              </a:rPr>
              <a:t>merged</a:t>
            </a:r>
            <a:r>
              <a:rPr spc="-35" dirty="0">
                <a:solidFill>
                  <a:srgbClr val="0F2044"/>
                </a:solidFill>
                <a:latin typeface="Arial MT"/>
                <a:cs typeface="Arial MT"/>
              </a:rPr>
              <a:t> </a:t>
            </a:r>
            <a:r>
              <a:rPr dirty="0">
                <a:solidFill>
                  <a:srgbClr val="0F2044"/>
                </a:solidFill>
                <a:latin typeface="Arial MT"/>
                <a:cs typeface="Arial MT"/>
              </a:rPr>
              <a:t>into</a:t>
            </a:r>
            <a:r>
              <a:rPr spc="-20" dirty="0">
                <a:solidFill>
                  <a:srgbClr val="0F2044"/>
                </a:solidFill>
                <a:latin typeface="Arial MT"/>
                <a:cs typeface="Arial MT"/>
              </a:rPr>
              <a:t> </a:t>
            </a:r>
            <a:r>
              <a:rPr dirty="0">
                <a:solidFill>
                  <a:srgbClr val="0F2044"/>
                </a:solidFill>
                <a:latin typeface="Arial MT"/>
                <a:cs typeface="Arial MT"/>
              </a:rPr>
              <a:t>one</a:t>
            </a:r>
            <a:r>
              <a:rPr spc="-25" dirty="0">
                <a:solidFill>
                  <a:srgbClr val="0F2044"/>
                </a:solidFill>
                <a:latin typeface="Arial MT"/>
                <a:cs typeface="Arial MT"/>
              </a:rPr>
              <a:t> </a:t>
            </a:r>
            <a:r>
              <a:rPr dirty="0">
                <a:solidFill>
                  <a:srgbClr val="0F2044"/>
                </a:solidFill>
                <a:latin typeface="Arial MT"/>
                <a:cs typeface="Arial MT"/>
              </a:rPr>
              <a:t>→</a:t>
            </a:r>
            <a:r>
              <a:rPr spc="-20" dirty="0">
                <a:solidFill>
                  <a:srgbClr val="0F2044"/>
                </a:solidFill>
                <a:latin typeface="Arial MT"/>
                <a:cs typeface="Arial MT"/>
              </a:rPr>
              <a:t> </a:t>
            </a:r>
            <a:r>
              <a:rPr dirty="0">
                <a:solidFill>
                  <a:srgbClr val="0F2044"/>
                </a:solidFill>
                <a:latin typeface="Arial MT"/>
                <a:cs typeface="Arial MT"/>
              </a:rPr>
              <a:t>Using</a:t>
            </a:r>
            <a:r>
              <a:rPr spc="-20" dirty="0">
                <a:solidFill>
                  <a:srgbClr val="0F2044"/>
                </a:solidFill>
                <a:latin typeface="Arial MT"/>
                <a:cs typeface="Arial MT"/>
              </a:rPr>
              <a:t> </a:t>
            </a:r>
            <a:r>
              <a:rPr b="1" dirty="0">
                <a:solidFill>
                  <a:srgbClr val="0F2044"/>
                </a:solidFill>
                <a:latin typeface="Arial"/>
                <a:cs typeface="Arial"/>
              </a:rPr>
              <a:t>Boundary</a:t>
            </a:r>
            <a:r>
              <a:rPr b="1" spc="-20" dirty="0">
                <a:solidFill>
                  <a:srgbClr val="0F2044"/>
                </a:solidFill>
                <a:latin typeface="Arial"/>
                <a:cs typeface="Arial"/>
              </a:rPr>
              <a:t> </a:t>
            </a:r>
            <a:r>
              <a:rPr b="1" spc="-10" dirty="0">
                <a:solidFill>
                  <a:srgbClr val="0F2044"/>
                </a:solidFill>
                <a:latin typeface="Arial"/>
                <a:cs typeface="Arial"/>
              </a:rPr>
              <a:t>Tags</a:t>
            </a:r>
            <a:r>
              <a:rPr spc="-10" dirty="0">
                <a:solidFill>
                  <a:srgbClr val="0F2044"/>
                </a:solidFill>
                <a:latin typeface="Arial MT"/>
                <a:cs typeface="Arial MT"/>
              </a:rPr>
              <a:t>.</a:t>
            </a:r>
            <a:endParaRPr dirty="0">
              <a:latin typeface="Arial MT"/>
              <a:cs typeface="Arial MT"/>
            </a:endParaRPr>
          </a:p>
          <a:p>
            <a:pPr marL="410209" marR="157480" indent="-398145">
              <a:lnSpc>
                <a:spcPct val="114000"/>
              </a:lnSpc>
              <a:spcAft>
                <a:spcPts val="1800"/>
              </a:spcAft>
              <a:buAutoNum type="arabicPeriod"/>
              <a:tabLst>
                <a:tab pos="410209" algn="l"/>
              </a:tabLst>
            </a:pPr>
            <a:r>
              <a:rPr sz="1800" dirty="0"/>
              <a:t>After</a:t>
            </a:r>
            <a:r>
              <a:rPr sz="1800" spc="-40" dirty="0"/>
              <a:t> </a:t>
            </a:r>
            <a:r>
              <a:rPr sz="1800" dirty="0"/>
              <a:t>coalescing</a:t>
            </a:r>
            <a:r>
              <a:rPr sz="1800" spc="-35" dirty="0"/>
              <a:t> </a:t>
            </a:r>
            <a:r>
              <a:rPr sz="1800" dirty="0"/>
              <a:t>is</a:t>
            </a:r>
            <a:r>
              <a:rPr sz="1800" spc="-40" dirty="0"/>
              <a:t> </a:t>
            </a:r>
            <a:r>
              <a:rPr sz="1800" spc="-10" dirty="0"/>
              <a:t>complete,</a:t>
            </a:r>
            <a:r>
              <a:rPr sz="1800" spc="-35" dirty="0"/>
              <a:t> </a:t>
            </a:r>
            <a:r>
              <a:rPr sz="1800" dirty="0"/>
              <a:t>the</a:t>
            </a:r>
            <a:r>
              <a:rPr sz="1800" spc="-35" dirty="0"/>
              <a:t> </a:t>
            </a:r>
            <a:r>
              <a:rPr sz="1800" dirty="0"/>
              <a:t>newly</a:t>
            </a:r>
            <a:r>
              <a:rPr sz="1800" spc="-40" dirty="0"/>
              <a:t> </a:t>
            </a:r>
            <a:r>
              <a:rPr sz="1800" dirty="0"/>
              <a:t>created</a:t>
            </a:r>
            <a:r>
              <a:rPr sz="1800" spc="-35" dirty="0"/>
              <a:t> </a:t>
            </a:r>
            <a:r>
              <a:rPr sz="1800" dirty="0"/>
              <a:t>Coalesced</a:t>
            </a:r>
            <a:r>
              <a:rPr sz="1800" spc="-35" dirty="0"/>
              <a:t> </a:t>
            </a:r>
            <a:r>
              <a:rPr sz="1800" spc="-20" dirty="0"/>
              <a:t>Free </a:t>
            </a:r>
            <a:r>
              <a:rPr sz="1800" dirty="0"/>
              <a:t>Block</a:t>
            </a:r>
            <a:r>
              <a:rPr sz="1800" spc="-30" dirty="0"/>
              <a:t> </a:t>
            </a:r>
            <a:r>
              <a:rPr sz="1800" dirty="0"/>
              <a:t>is</a:t>
            </a:r>
            <a:r>
              <a:rPr sz="1800" spc="-30" dirty="0"/>
              <a:t> </a:t>
            </a:r>
            <a:r>
              <a:rPr sz="1800" dirty="0"/>
              <a:t>inserted</a:t>
            </a:r>
            <a:r>
              <a:rPr sz="1800" spc="-30" dirty="0"/>
              <a:t> </a:t>
            </a:r>
            <a:r>
              <a:rPr sz="1800" dirty="0"/>
              <a:t>at</a:t>
            </a:r>
            <a:r>
              <a:rPr sz="1800" spc="-25" dirty="0"/>
              <a:t> </a:t>
            </a:r>
            <a:r>
              <a:rPr sz="1800" dirty="0"/>
              <a:t>the</a:t>
            </a:r>
            <a:r>
              <a:rPr sz="1800" spc="-30" dirty="0"/>
              <a:t> </a:t>
            </a:r>
            <a:r>
              <a:rPr sz="1800" dirty="0"/>
              <a:t>very</a:t>
            </a:r>
            <a:r>
              <a:rPr sz="1800" spc="-30" dirty="0"/>
              <a:t> </a:t>
            </a:r>
            <a:r>
              <a:rPr sz="1800" dirty="0"/>
              <a:t>front</a:t>
            </a:r>
            <a:r>
              <a:rPr sz="1800" spc="-25" dirty="0"/>
              <a:t> </a:t>
            </a:r>
            <a:r>
              <a:rPr sz="1800" dirty="0"/>
              <a:t>of</a:t>
            </a:r>
            <a:r>
              <a:rPr sz="1800" spc="-30" dirty="0"/>
              <a:t> </a:t>
            </a:r>
            <a:r>
              <a:rPr sz="1800" dirty="0"/>
              <a:t>the</a:t>
            </a:r>
            <a:r>
              <a:rPr sz="1800" spc="-30" dirty="0"/>
              <a:t> </a:t>
            </a:r>
            <a:r>
              <a:rPr sz="1800" dirty="0"/>
              <a:t>Free</a:t>
            </a:r>
            <a:r>
              <a:rPr sz="1800" spc="-25" dirty="0"/>
              <a:t> </a:t>
            </a:r>
            <a:r>
              <a:rPr sz="1800" spc="-10" dirty="0"/>
              <a:t>List!</a:t>
            </a:r>
          </a:p>
          <a:p>
            <a:pPr marL="410209" marR="5080" indent="-398145">
              <a:lnSpc>
                <a:spcPct val="114000"/>
              </a:lnSpc>
              <a:buAutoNum type="arabicPeriod"/>
              <a:tabLst>
                <a:tab pos="410209" algn="l"/>
              </a:tabLst>
            </a:pPr>
            <a:r>
              <a:rPr sz="1800" spc="-25" dirty="0"/>
              <a:t>You</a:t>
            </a:r>
            <a:r>
              <a:rPr sz="1800" spc="-30" dirty="0"/>
              <a:t> </a:t>
            </a:r>
            <a:r>
              <a:rPr sz="1800" dirty="0"/>
              <a:t>can</a:t>
            </a:r>
            <a:r>
              <a:rPr sz="1800" spc="-30" dirty="0"/>
              <a:t> </a:t>
            </a:r>
            <a:r>
              <a:rPr sz="1800" dirty="0"/>
              <a:t>see</a:t>
            </a:r>
            <a:r>
              <a:rPr sz="1800" spc="-30" dirty="0"/>
              <a:t> </a:t>
            </a:r>
            <a:r>
              <a:rPr sz="1800" dirty="0"/>
              <a:t>that</a:t>
            </a:r>
            <a:r>
              <a:rPr sz="1800" spc="-30" dirty="0"/>
              <a:t> </a:t>
            </a:r>
            <a:r>
              <a:rPr sz="1800" dirty="0"/>
              <a:t>it</a:t>
            </a:r>
            <a:r>
              <a:rPr sz="1800" spc="-30" dirty="0"/>
              <a:t> </a:t>
            </a:r>
            <a:r>
              <a:rPr sz="1800" dirty="0"/>
              <a:t>first</a:t>
            </a:r>
            <a:r>
              <a:rPr sz="1800" spc="-30" dirty="0"/>
              <a:t> </a:t>
            </a:r>
            <a:r>
              <a:rPr sz="1800" dirty="0"/>
              <a:t>deletes</a:t>
            </a:r>
            <a:r>
              <a:rPr sz="1800" spc="-30" dirty="0"/>
              <a:t> </a:t>
            </a:r>
            <a:r>
              <a:rPr sz="1800" dirty="0"/>
              <a:t>the</a:t>
            </a:r>
            <a:r>
              <a:rPr sz="1800" spc="-30" dirty="0"/>
              <a:t> </a:t>
            </a:r>
            <a:r>
              <a:rPr sz="1800" dirty="0"/>
              <a:t>Next</a:t>
            </a:r>
            <a:r>
              <a:rPr sz="1800" spc="-25" dirty="0"/>
              <a:t> </a:t>
            </a:r>
            <a:r>
              <a:rPr sz="1800" dirty="0"/>
              <a:t>Free</a:t>
            </a:r>
            <a:r>
              <a:rPr sz="1800" spc="-30" dirty="0"/>
              <a:t> </a:t>
            </a:r>
            <a:r>
              <a:rPr sz="1800" dirty="0"/>
              <a:t>Block</a:t>
            </a:r>
            <a:r>
              <a:rPr sz="1800" spc="-30" dirty="0"/>
              <a:t> </a:t>
            </a:r>
            <a:r>
              <a:rPr sz="1800" dirty="0"/>
              <a:t>from</a:t>
            </a:r>
            <a:r>
              <a:rPr sz="1800" spc="-30" dirty="0"/>
              <a:t> </a:t>
            </a:r>
            <a:r>
              <a:rPr sz="1800" dirty="0"/>
              <a:t>the</a:t>
            </a:r>
            <a:r>
              <a:rPr sz="1800" spc="5" dirty="0"/>
              <a:t> </a:t>
            </a:r>
            <a:r>
              <a:rPr sz="1800" spc="-20" dirty="0"/>
              <a:t>Free </a:t>
            </a:r>
            <a:r>
              <a:rPr sz="1800" dirty="0"/>
              <a:t>List,</a:t>
            </a:r>
            <a:r>
              <a:rPr sz="1800" spc="-30" dirty="0"/>
              <a:t> </a:t>
            </a:r>
            <a:r>
              <a:rPr sz="1800" dirty="0"/>
              <a:t>then</a:t>
            </a:r>
            <a:r>
              <a:rPr sz="1800" spc="-30" dirty="0"/>
              <a:t> </a:t>
            </a:r>
            <a:r>
              <a:rPr sz="1800" dirty="0"/>
              <a:t>merges</a:t>
            </a:r>
            <a:r>
              <a:rPr sz="1800" spc="-30" dirty="0"/>
              <a:t> </a:t>
            </a:r>
            <a:r>
              <a:rPr sz="1800" dirty="0"/>
              <a:t>that</a:t>
            </a:r>
            <a:r>
              <a:rPr sz="1800" spc="-30" dirty="0"/>
              <a:t> </a:t>
            </a:r>
            <a:r>
              <a:rPr sz="1800" dirty="0"/>
              <a:t>Block</a:t>
            </a:r>
            <a:r>
              <a:rPr sz="1800" spc="-30" dirty="0"/>
              <a:t> </a:t>
            </a:r>
            <a:r>
              <a:rPr sz="1800" dirty="0"/>
              <a:t>with</a:t>
            </a:r>
            <a:r>
              <a:rPr sz="1800" spc="-30" dirty="0"/>
              <a:t> </a:t>
            </a:r>
            <a:r>
              <a:rPr sz="1800" dirty="0"/>
              <a:t>the</a:t>
            </a:r>
            <a:r>
              <a:rPr sz="1800" spc="-25" dirty="0"/>
              <a:t> </a:t>
            </a:r>
            <a:r>
              <a:rPr sz="1800" dirty="0"/>
              <a:t>new</a:t>
            </a:r>
            <a:r>
              <a:rPr sz="1800" spc="-30" dirty="0"/>
              <a:t> </a:t>
            </a:r>
            <a:r>
              <a:rPr sz="1800" dirty="0"/>
              <a:t>Free</a:t>
            </a:r>
            <a:r>
              <a:rPr sz="1800" spc="-30" dirty="0"/>
              <a:t> </a:t>
            </a:r>
            <a:r>
              <a:rPr sz="1800" dirty="0"/>
              <a:t>Block,</a:t>
            </a:r>
            <a:r>
              <a:rPr sz="1800" spc="-30" dirty="0"/>
              <a:t> </a:t>
            </a:r>
            <a:r>
              <a:rPr sz="1800" dirty="0"/>
              <a:t>and</a:t>
            </a:r>
            <a:r>
              <a:rPr sz="1800" spc="-30" dirty="0"/>
              <a:t> </a:t>
            </a:r>
            <a:r>
              <a:rPr sz="1800" spc="-20" dirty="0"/>
              <a:t>then </a:t>
            </a:r>
            <a:r>
              <a:rPr sz="1800" dirty="0"/>
              <a:t>inserts</a:t>
            </a:r>
            <a:r>
              <a:rPr sz="1800" spc="-35" dirty="0"/>
              <a:t> </a:t>
            </a:r>
            <a:r>
              <a:rPr sz="1800" dirty="0"/>
              <a:t>them</a:t>
            </a:r>
            <a:r>
              <a:rPr sz="1800" spc="-35" dirty="0"/>
              <a:t> </a:t>
            </a:r>
            <a:r>
              <a:rPr sz="1800" dirty="0"/>
              <a:t>back</a:t>
            </a:r>
            <a:r>
              <a:rPr sz="1800" spc="-35" dirty="0"/>
              <a:t> </a:t>
            </a:r>
            <a:r>
              <a:rPr sz="1800" dirty="0"/>
              <a:t>into</a:t>
            </a:r>
            <a:r>
              <a:rPr sz="1800" spc="-35" dirty="0"/>
              <a:t> </a:t>
            </a:r>
            <a:r>
              <a:rPr sz="1800" dirty="0"/>
              <a:t>the</a:t>
            </a:r>
            <a:r>
              <a:rPr sz="1800" spc="-35" dirty="0"/>
              <a:t> </a:t>
            </a:r>
            <a:r>
              <a:rPr sz="1800" dirty="0"/>
              <a:t>Free</a:t>
            </a:r>
            <a:r>
              <a:rPr sz="1800" spc="-30" dirty="0"/>
              <a:t> </a:t>
            </a:r>
            <a:r>
              <a:rPr sz="1800" dirty="0"/>
              <a:t>List.</a:t>
            </a:r>
            <a:r>
              <a:rPr sz="1800" spc="-35" dirty="0"/>
              <a:t> </a:t>
            </a:r>
            <a:r>
              <a:rPr sz="1800" dirty="0"/>
              <a:t>Instead,</a:t>
            </a:r>
            <a:r>
              <a:rPr sz="1800" spc="-35" dirty="0"/>
              <a:t> </a:t>
            </a:r>
            <a:r>
              <a:rPr sz="1800" dirty="0"/>
              <a:t>to</a:t>
            </a:r>
            <a:r>
              <a:rPr sz="1800" spc="-35" dirty="0"/>
              <a:t> </a:t>
            </a:r>
            <a:r>
              <a:rPr sz="1800" dirty="0"/>
              <a:t>the</a:t>
            </a:r>
            <a:r>
              <a:rPr sz="1800" spc="-35" dirty="0"/>
              <a:t> </a:t>
            </a:r>
            <a:r>
              <a:rPr sz="1800" dirty="0"/>
              <a:t>very</a:t>
            </a:r>
            <a:r>
              <a:rPr sz="1800" spc="-35" dirty="0"/>
              <a:t> </a:t>
            </a:r>
            <a:r>
              <a:rPr sz="1800" spc="-10" dirty="0"/>
              <a:t>front!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2700" rIns="0" bIns="0" rtlCol="0">
            <a:spAutoFit/>
          </a:bodyPr>
          <a:lstStyle/>
          <a:p>
            <a:pPr marL="12700">
              <a:lnSpc>
                <a:spcPct val="100000"/>
              </a:lnSpc>
              <a:spcBef>
                <a:spcPts val="100"/>
              </a:spcBef>
            </a:pPr>
            <a:r>
              <a:rPr dirty="0"/>
              <a:t>Case</a:t>
            </a:r>
            <a:r>
              <a:rPr spc="-40" dirty="0"/>
              <a:t> </a:t>
            </a:r>
            <a:r>
              <a:rPr dirty="0"/>
              <a:t>3:</a:t>
            </a:r>
            <a:r>
              <a:rPr spc="-35" dirty="0"/>
              <a:t> </a:t>
            </a:r>
            <a:r>
              <a:rPr spc="-10" dirty="0"/>
              <a:t>Coalescing</a:t>
            </a:r>
            <a:r>
              <a:rPr spc="-35" dirty="0"/>
              <a:t> </a:t>
            </a:r>
            <a:r>
              <a:rPr dirty="0"/>
              <a:t>With</a:t>
            </a:r>
            <a:r>
              <a:rPr spc="-35" dirty="0"/>
              <a:t> </a:t>
            </a:r>
            <a:r>
              <a:rPr dirty="0"/>
              <a:t>The</a:t>
            </a:r>
            <a:r>
              <a:rPr spc="-40" dirty="0"/>
              <a:t> </a:t>
            </a:r>
            <a:r>
              <a:rPr dirty="0"/>
              <a:t>Next</a:t>
            </a:r>
            <a:r>
              <a:rPr spc="-35" dirty="0"/>
              <a:t> </a:t>
            </a:r>
            <a:r>
              <a:rPr spc="-10" dirty="0"/>
              <a:t>Block</a:t>
            </a:r>
          </a:p>
        </p:txBody>
      </p:sp>
      <p:pic>
        <p:nvPicPr>
          <p:cNvPr id="3" name="object 3" descr="An illustration of &quot;Freeing With a LIFO Policy (Case 3).&quot;, highlighting the splicing of a successor block and the subsequent coalescence into a new free block positioned at the list root."/>
          <p:cNvPicPr/>
          <p:nvPr/>
        </p:nvPicPr>
        <p:blipFill>
          <a:blip r:embed="rId3" cstate="print"/>
          <a:stretch>
            <a:fillRect/>
          </a:stretch>
        </p:blipFill>
        <p:spPr>
          <a:xfrm>
            <a:off x="486004" y="2398004"/>
            <a:ext cx="5686196" cy="4200094"/>
          </a:xfrm>
          <a:prstGeom prst="rect">
            <a:avLst/>
          </a:prstGeom>
        </p:spPr>
      </p:pic>
      <p:sp>
        <p:nvSpPr>
          <p:cNvPr id="4" name="object 4"/>
          <p:cNvSpPr txBox="1"/>
          <p:nvPr/>
        </p:nvSpPr>
        <p:spPr>
          <a:xfrm>
            <a:off x="7672450" y="4283531"/>
            <a:ext cx="175323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0F2044"/>
                </a:solidFill>
                <a:latin typeface="Arial"/>
                <a:cs typeface="Arial"/>
              </a:rPr>
              <a:t>Same</a:t>
            </a:r>
            <a:r>
              <a:rPr sz="1800" b="1" spc="-20" dirty="0">
                <a:solidFill>
                  <a:srgbClr val="0F2044"/>
                </a:solidFill>
                <a:latin typeface="Arial"/>
                <a:cs typeface="Arial"/>
              </a:rPr>
              <a:t> </a:t>
            </a:r>
            <a:r>
              <a:rPr sz="1800" b="1" dirty="0">
                <a:solidFill>
                  <a:srgbClr val="0F2044"/>
                </a:solidFill>
                <a:latin typeface="Arial"/>
                <a:cs typeface="Arial"/>
              </a:rPr>
              <a:t>as</a:t>
            </a:r>
            <a:r>
              <a:rPr sz="1800" b="1" spc="-15" dirty="0">
                <a:solidFill>
                  <a:srgbClr val="0F2044"/>
                </a:solidFill>
                <a:latin typeface="Arial"/>
                <a:cs typeface="Arial"/>
              </a:rPr>
              <a:t> </a:t>
            </a:r>
            <a:r>
              <a:rPr sz="1800" b="1" dirty="0">
                <a:solidFill>
                  <a:srgbClr val="0F2044"/>
                </a:solidFill>
                <a:latin typeface="Arial"/>
                <a:cs typeface="Arial"/>
              </a:rPr>
              <a:t>Case</a:t>
            </a:r>
            <a:r>
              <a:rPr sz="1800" b="1" spc="-15" dirty="0">
                <a:solidFill>
                  <a:srgbClr val="0F2044"/>
                </a:solidFill>
                <a:latin typeface="Arial"/>
                <a:cs typeface="Arial"/>
              </a:rPr>
              <a:t> </a:t>
            </a:r>
            <a:r>
              <a:rPr sz="1800" b="1" spc="-50" dirty="0">
                <a:solidFill>
                  <a:srgbClr val="0F2044"/>
                </a:solidFill>
                <a:latin typeface="Arial"/>
                <a:cs typeface="Arial"/>
              </a:rPr>
              <a:t>2</a:t>
            </a:r>
            <a:endParaRPr sz="1800" dirty="0">
              <a:latin typeface="Arial"/>
              <a:cs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Case</a:t>
            </a:r>
            <a:r>
              <a:rPr spc="-50" dirty="0"/>
              <a:t> </a:t>
            </a:r>
            <a:r>
              <a:rPr dirty="0"/>
              <a:t>4:</a:t>
            </a:r>
            <a:r>
              <a:rPr spc="-50" dirty="0"/>
              <a:t> </a:t>
            </a:r>
            <a:r>
              <a:rPr spc="-10" dirty="0"/>
              <a:t>Coalescing</a:t>
            </a:r>
            <a:r>
              <a:rPr spc="-50" dirty="0"/>
              <a:t> </a:t>
            </a:r>
            <a:r>
              <a:rPr dirty="0"/>
              <a:t>With</a:t>
            </a:r>
            <a:r>
              <a:rPr spc="-50" dirty="0"/>
              <a:t> </a:t>
            </a:r>
            <a:r>
              <a:rPr dirty="0"/>
              <a:t>Both</a:t>
            </a:r>
            <a:r>
              <a:rPr spc="-50" dirty="0"/>
              <a:t> </a:t>
            </a:r>
            <a:r>
              <a:rPr dirty="0"/>
              <a:t>Adjacent</a:t>
            </a:r>
            <a:r>
              <a:rPr spc="-50" dirty="0"/>
              <a:t> </a:t>
            </a:r>
            <a:r>
              <a:rPr spc="-10" dirty="0"/>
              <a:t>Blocks</a:t>
            </a:r>
          </a:p>
        </p:txBody>
      </p:sp>
      <p:pic>
        <p:nvPicPr>
          <p:cNvPr id="3" name="object 3" descr="An illustration of &quot;Freeing With a LIFO Policy (Case 4).&quot; It depicts a block being freed between two existing free blocks; all three are coalesced into one large block, which is then linked at the root of the list."/>
          <p:cNvPicPr/>
          <p:nvPr/>
        </p:nvPicPr>
        <p:blipFill>
          <a:blip r:embed="rId3" cstate="print"/>
          <a:stretch>
            <a:fillRect/>
          </a:stretch>
        </p:blipFill>
        <p:spPr>
          <a:xfrm>
            <a:off x="504153" y="2362228"/>
            <a:ext cx="5671312" cy="4236798"/>
          </a:xfrm>
          <a:prstGeom prst="rect">
            <a:avLst/>
          </a:prstGeom>
        </p:spPr>
      </p:pic>
      <p:sp>
        <p:nvSpPr>
          <p:cNvPr id="4" name="object 4"/>
          <p:cNvSpPr txBox="1"/>
          <p:nvPr/>
        </p:nvSpPr>
        <p:spPr>
          <a:xfrm>
            <a:off x="6951376" y="3241781"/>
            <a:ext cx="4736471" cy="2854243"/>
          </a:xfrm>
          <a:prstGeom prst="rect">
            <a:avLst/>
          </a:prstGeom>
        </p:spPr>
        <p:txBody>
          <a:bodyPr vert="horz" wrap="square" lIns="0" tIns="12700" rIns="0" bIns="0" rtlCol="0">
            <a:spAutoFit/>
          </a:bodyPr>
          <a:lstStyle/>
          <a:p>
            <a:pPr marL="431800" marR="309245" indent="-419734">
              <a:lnSpc>
                <a:spcPct val="114000"/>
              </a:lnSpc>
              <a:spcBef>
                <a:spcPts val="100"/>
              </a:spcBef>
              <a:buAutoNum type="arabicPeriod"/>
              <a:tabLst>
                <a:tab pos="431800" algn="l"/>
              </a:tabLst>
            </a:pPr>
            <a:r>
              <a:rPr sz="1800" b="1" dirty="0">
                <a:solidFill>
                  <a:srgbClr val="0F2044"/>
                </a:solidFill>
                <a:latin typeface="Arial MT"/>
                <a:cs typeface="Arial MT"/>
              </a:rPr>
              <a:t>Before:</a:t>
            </a:r>
            <a:r>
              <a:rPr sz="1800" b="1" spc="-65" dirty="0">
                <a:solidFill>
                  <a:srgbClr val="0F2044"/>
                </a:solidFill>
                <a:latin typeface="Arial MT"/>
                <a:cs typeface="Arial MT"/>
              </a:rPr>
              <a:t> </a:t>
            </a:r>
            <a:r>
              <a:rPr sz="1800" dirty="0">
                <a:solidFill>
                  <a:srgbClr val="0F2044"/>
                </a:solidFill>
                <a:latin typeface="Arial MT"/>
                <a:cs typeface="Arial MT"/>
              </a:rPr>
              <a:t>The</a:t>
            </a:r>
            <a:r>
              <a:rPr sz="1800" spc="-20" dirty="0">
                <a:solidFill>
                  <a:srgbClr val="0F2044"/>
                </a:solidFill>
                <a:latin typeface="Arial MT"/>
                <a:cs typeface="Arial MT"/>
              </a:rPr>
              <a:t> </a:t>
            </a:r>
            <a:r>
              <a:rPr sz="1800" dirty="0">
                <a:solidFill>
                  <a:srgbClr val="0F2044"/>
                </a:solidFill>
                <a:latin typeface="Arial MT"/>
                <a:cs typeface="Arial MT"/>
              </a:rPr>
              <a:t>freed</a:t>
            </a:r>
            <a:r>
              <a:rPr sz="1800" spc="-20" dirty="0">
                <a:solidFill>
                  <a:srgbClr val="0F2044"/>
                </a:solidFill>
                <a:latin typeface="Arial MT"/>
                <a:cs typeface="Arial MT"/>
              </a:rPr>
              <a:t> </a:t>
            </a:r>
            <a:r>
              <a:rPr sz="1800" dirty="0">
                <a:solidFill>
                  <a:srgbClr val="0F2044"/>
                </a:solidFill>
                <a:latin typeface="Arial MT"/>
                <a:cs typeface="Arial MT"/>
              </a:rPr>
              <a:t>block</a:t>
            </a:r>
            <a:r>
              <a:rPr sz="1800" spc="-20" dirty="0">
                <a:solidFill>
                  <a:srgbClr val="0F2044"/>
                </a:solidFill>
                <a:latin typeface="Arial MT"/>
                <a:cs typeface="Arial MT"/>
              </a:rPr>
              <a:t> </a:t>
            </a:r>
            <a:r>
              <a:rPr sz="1800" dirty="0">
                <a:solidFill>
                  <a:srgbClr val="0F2044"/>
                </a:solidFill>
                <a:latin typeface="Arial MT"/>
                <a:cs typeface="Arial MT"/>
              </a:rPr>
              <a:t>is</a:t>
            </a:r>
            <a:r>
              <a:rPr sz="1800" spc="-20" dirty="0">
                <a:solidFill>
                  <a:srgbClr val="0F2044"/>
                </a:solidFill>
                <a:latin typeface="Arial MT"/>
                <a:cs typeface="Arial MT"/>
              </a:rPr>
              <a:t> </a:t>
            </a:r>
            <a:r>
              <a:rPr sz="1800" dirty="0">
                <a:solidFill>
                  <a:srgbClr val="0F2044"/>
                </a:solidFill>
                <a:latin typeface="Arial MT"/>
                <a:cs typeface="Arial MT"/>
              </a:rPr>
              <a:t>between</a:t>
            </a:r>
            <a:r>
              <a:rPr sz="1800" spc="-20" dirty="0">
                <a:solidFill>
                  <a:srgbClr val="0F2044"/>
                </a:solidFill>
                <a:latin typeface="Arial MT"/>
                <a:cs typeface="Arial MT"/>
              </a:rPr>
              <a:t> </a:t>
            </a:r>
            <a:r>
              <a:rPr sz="1800" spc="-25" dirty="0">
                <a:solidFill>
                  <a:srgbClr val="0F2044"/>
                </a:solidFill>
                <a:latin typeface="Arial MT"/>
                <a:cs typeface="Arial MT"/>
              </a:rPr>
              <a:t>two </a:t>
            </a:r>
            <a:r>
              <a:rPr sz="1800" dirty="0">
                <a:solidFill>
                  <a:srgbClr val="0F2044"/>
                </a:solidFill>
                <a:latin typeface="Arial MT"/>
                <a:cs typeface="Arial MT"/>
              </a:rPr>
              <a:t>free</a:t>
            </a:r>
            <a:r>
              <a:rPr sz="1800" spc="-20" dirty="0">
                <a:solidFill>
                  <a:srgbClr val="0F2044"/>
                </a:solidFill>
                <a:latin typeface="Arial MT"/>
                <a:cs typeface="Arial MT"/>
              </a:rPr>
              <a:t> </a:t>
            </a:r>
            <a:r>
              <a:rPr sz="1800" spc="-10" dirty="0">
                <a:solidFill>
                  <a:srgbClr val="0F2044"/>
                </a:solidFill>
                <a:latin typeface="Arial MT"/>
                <a:cs typeface="Arial MT"/>
              </a:rPr>
              <a:t>blocks.</a:t>
            </a:r>
            <a:endParaRPr sz="1800" dirty="0">
              <a:latin typeface="Arial MT"/>
              <a:cs typeface="Arial MT"/>
            </a:endParaRPr>
          </a:p>
          <a:p>
            <a:pPr>
              <a:lnSpc>
                <a:spcPct val="114000"/>
              </a:lnSpc>
              <a:spcBef>
                <a:spcPts val="90"/>
              </a:spcBef>
              <a:buClr>
                <a:srgbClr val="0F2044"/>
              </a:buClr>
              <a:buFont typeface="Arial MT"/>
              <a:buAutoNum type="arabicPeriod"/>
            </a:pPr>
            <a:endParaRPr sz="1800" dirty="0">
              <a:latin typeface="Arial MT"/>
              <a:cs typeface="Arial MT"/>
            </a:endParaRPr>
          </a:p>
          <a:p>
            <a:pPr marL="431800" marR="127000" indent="-419734">
              <a:lnSpc>
                <a:spcPct val="114000"/>
              </a:lnSpc>
              <a:buAutoNum type="arabicPeriod"/>
              <a:tabLst>
                <a:tab pos="431800" algn="l"/>
              </a:tabLst>
            </a:pPr>
            <a:r>
              <a:rPr sz="1800" b="1" dirty="0">
                <a:solidFill>
                  <a:srgbClr val="0F2044"/>
                </a:solidFill>
                <a:latin typeface="Arial MT"/>
                <a:cs typeface="Arial MT"/>
              </a:rPr>
              <a:t>Action:</a:t>
            </a:r>
            <a:r>
              <a:rPr sz="1800" b="1" spc="-30" dirty="0">
                <a:solidFill>
                  <a:srgbClr val="0F2044"/>
                </a:solidFill>
                <a:latin typeface="Arial MT"/>
                <a:cs typeface="Arial MT"/>
              </a:rPr>
              <a:t> </a:t>
            </a:r>
            <a:r>
              <a:rPr sz="1800" dirty="0">
                <a:solidFill>
                  <a:srgbClr val="0F2044"/>
                </a:solidFill>
                <a:latin typeface="Arial MT"/>
                <a:cs typeface="Arial MT"/>
              </a:rPr>
              <a:t>Coalesce</a:t>
            </a:r>
            <a:r>
              <a:rPr sz="1800" spc="-30" dirty="0">
                <a:solidFill>
                  <a:srgbClr val="0F2044"/>
                </a:solidFill>
                <a:latin typeface="Arial MT"/>
                <a:cs typeface="Arial MT"/>
              </a:rPr>
              <a:t> </a:t>
            </a:r>
            <a:r>
              <a:rPr sz="1800" dirty="0">
                <a:solidFill>
                  <a:srgbClr val="0F2044"/>
                </a:solidFill>
                <a:latin typeface="Arial MT"/>
                <a:cs typeface="Arial MT"/>
              </a:rPr>
              <a:t>and</a:t>
            </a:r>
            <a:r>
              <a:rPr sz="1800" spc="-30" dirty="0">
                <a:solidFill>
                  <a:srgbClr val="0F2044"/>
                </a:solidFill>
                <a:latin typeface="Arial MT"/>
                <a:cs typeface="Arial MT"/>
              </a:rPr>
              <a:t> </a:t>
            </a:r>
            <a:r>
              <a:rPr sz="1800" dirty="0">
                <a:solidFill>
                  <a:srgbClr val="0F2044"/>
                </a:solidFill>
                <a:latin typeface="Arial MT"/>
                <a:cs typeface="Arial MT"/>
              </a:rPr>
              <a:t>combine</a:t>
            </a:r>
            <a:r>
              <a:rPr sz="1800" spc="-30" dirty="0">
                <a:solidFill>
                  <a:srgbClr val="0F2044"/>
                </a:solidFill>
                <a:latin typeface="Arial MT"/>
                <a:cs typeface="Arial MT"/>
              </a:rPr>
              <a:t> </a:t>
            </a:r>
            <a:r>
              <a:rPr sz="1800" dirty="0">
                <a:solidFill>
                  <a:srgbClr val="0F2044"/>
                </a:solidFill>
                <a:latin typeface="Arial MT"/>
                <a:cs typeface="Arial MT"/>
              </a:rPr>
              <a:t>both</a:t>
            </a:r>
            <a:r>
              <a:rPr sz="1800" spc="-25" dirty="0">
                <a:solidFill>
                  <a:srgbClr val="0F2044"/>
                </a:solidFill>
                <a:latin typeface="Arial MT"/>
                <a:cs typeface="Arial MT"/>
              </a:rPr>
              <a:t> the </a:t>
            </a:r>
            <a:r>
              <a:rPr sz="1800" dirty="0">
                <a:solidFill>
                  <a:srgbClr val="0F2044"/>
                </a:solidFill>
                <a:latin typeface="Arial MT"/>
                <a:cs typeface="Arial MT"/>
              </a:rPr>
              <a:t>previous</a:t>
            </a:r>
            <a:r>
              <a:rPr sz="1800" spc="-20" dirty="0">
                <a:solidFill>
                  <a:srgbClr val="0F2044"/>
                </a:solidFill>
                <a:latin typeface="Arial MT"/>
                <a:cs typeface="Arial MT"/>
              </a:rPr>
              <a:t> </a:t>
            </a:r>
            <a:r>
              <a:rPr sz="1800" dirty="0">
                <a:solidFill>
                  <a:srgbClr val="0F2044"/>
                </a:solidFill>
                <a:latin typeface="Arial MT"/>
                <a:cs typeface="Arial MT"/>
              </a:rPr>
              <a:t>and</a:t>
            </a:r>
            <a:r>
              <a:rPr sz="1800" spc="-10" dirty="0">
                <a:solidFill>
                  <a:srgbClr val="0F2044"/>
                </a:solidFill>
                <a:latin typeface="Arial MT"/>
                <a:cs typeface="Arial MT"/>
              </a:rPr>
              <a:t> </a:t>
            </a:r>
            <a:r>
              <a:rPr sz="1800" dirty="0">
                <a:solidFill>
                  <a:srgbClr val="0F2044"/>
                </a:solidFill>
                <a:latin typeface="Arial MT"/>
                <a:cs typeface="Arial MT"/>
              </a:rPr>
              <a:t>next</a:t>
            </a:r>
            <a:r>
              <a:rPr sz="1800" spc="-10" dirty="0">
                <a:solidFill>
                  <a:srgbClr val="0F2044"/>
                </a:solidFill>
                <a:latin typeface="Arial MT"/>
                <a:cs typeface="Arial MT"/>
              </a:rPr>
              <a:t> </a:t>
            </a:r>
            <a:r>
              <a:rPr sz="1800" dirty="0">
                <a:solidFill>
                  <a:srgbClr val="0F2044"/>
                </a:solidFill>
                <a:latin typeface="Arial MT"/>
                <a:cs typeface="Arial MT"/>
              </a:rPr>
              <a:t>blocks</a:t>
            </a:r>
            <a:r>
              <a:rPr sz="1800" spc="-10" dirty="0">
                <a:solidFill>
                  <a:srgbClr val="0F2044"/>
                </a:solidFill>
                <a:latin typeface="Arial MT"/>
                <a:cs typeface="Arial MT"/>
              </a:rPr>
              <a:t> </a:t>
            </a:r>
            <a:r>
              <a:rPr sz="1800" dirty="0">
                <a:solidFill>
                  <a:srgbClr val="0F2044"/>
                </a:solidFill>
                <a:latin typeface="Arial MT"/>
                <a:cs typeface="Arial MT"/>
              </a:rPr>
              <a:t>to</a:t>
            </a:r>
            <a:r>
              <a:rPr sz="1800" spc="-10" dirty="0">
                <a:solidFill>
                  <a:srgbClr val="0F2044"/>
                </a:solidFill>
                <a:latin typeface="Arial MT"/>
                <a:cs typeface="Arial MT"/>
              </a:rPr>
              <a:t> </a:t>
            </a:r>
            <a:r>
              <a:rPr sz="1800" dirty="0">
                <a:solidFill>
                  <a:srgbClr val="0F2044"/>
                </a:solidFill>
                <a:latin typeface="Arial MT"/>
                <a:cs typeface="Arial MT"/>
              </a:rPr>
              <a:t>form</a:t>
            </a:r>
            <a:r>
              <a:rPr sz="1800" spc="-10" dirty="0">
                <a:solidFill>
                  <a:srgbClr val="0F2044"/>
                </a:solidFill>
                <a:latin typeface="Arial MT"/>
                <a:cs typeface="Arial MT"/>
              </a:rPr>
              <a:t> </a:t>
            </a:r>
            <a:r>
              <a:rPr sz="1800" dirty="0">
                <a:solidFill>
                  <a:srgbClr val="0F2044"/>
                </a:solidFill>
                <a:latin typeface="Arial MT"/>
                <a:cs typeface="Arial MT"/>
              </a:rPr>
              <a:t>a</a:t>
            </a:r>
            <a:r>
              <a:rPr sz="1800" spc="-5" dirty="0">
                <a:solidFill>
                  <a:srgbClr val="0F2044"/>
                </a:solidFill>
                <a:latin typeface="Arial MT"/>
                <a:cs typeface="Arial MT"/>
              </a:rPr>
              <a:t> </a:t>
            </a:r>
            <a:r>
              <a:rPr sz="1800" spc="-10" dirty="0">
                <a:solidFill>
                  <a:srgbClr val="0F2044"/>
                </a:solidFill>
                <a:latin typeface="Arial MT"/>
                <a:cs typeface="Arial MT"/>
              </a:rPr>
              <a:t>larger </a:t>
            </a:r>
            <a:r>
              <a:rPr sz="1800" dirty="0">
                <a:solidFill>
                  <a:srgbClr val="0F2044"/>
                </a:solidFill>
                <a:latin typeface="Arial MT"/>
                <a:cs typeface="Arial MT"/>
              </a:rPr>
              <a:t>single</a:t>
            </a:r>
            <a:r>
              <a:rPr sz="1800" spc="-30" dirty="0">
                <a:solidFill>
                  <a:srgbClr val="0F2044"/>
                </a:solidFill>
                <a:latin typeface="Arial MT"/>
                <a:cs typeface="Arial MT"/>
              </a:rPr>
              <a:t> </a:t>
            </a:r>
            <a:r>
              <a:rPr sz="1800" spc="-10" dirty="0">
                <a:solidFill>
                  <a:srgbClr val="0F2044"/>
                </a:solidFill>
                <a:latin typeface="Arial MT"/>
                <a:cs typeface="Arial MT"/>
              </a:rPr>
              <a:t>block.</a:t>
            </a:r>
            <a:endParaRPr sz="1800" dirty="0">
              <a:latin typeface="Arial MT"/>
              <a:cs typeface="Arial MT"/>
            </a:endParaRPr>
          </a:p>
          <a:p>
            <a:pPr>
              <a:lnSpc>
                <a:spcPct val="114000"/>
              </a:lnSpc>
              <a:spcBef>
                <a:spcPts val="90"/>
              </a:spcBef>
              <a:buClr>
                <a:srgbClr val="0F2044"/>
              </a:buClr>
              <a:buFont typeface="Arial MT"/>
              <a:buAutoNum type="arabicPeriod"/>
            </a:pPr>
            <a:endParaRPr sz="1800" dirty="0">
              <a:latin typeface="Arial MT"/>
              <a:cs typeface="Arial MT"/>
            </a:endParaRPr>
          </a:p>
          <a:p>
            <a:pPr marL="431800" marR="5080" indent="-419734">
              <a:lnSpc>
                <a:spcPct val="114000"/>
              </a:lnSpc>
              <a:buAutoNum type="arabicPeriod"/>
              <a:tabLst>
                <a:tab pos="431800" algn="l"/>
              </a:tabLst>
            </a:pPr>
            <a:r>
              <a:rPr sz="1800" b="1" dirty="0">
                <a:solidFill>
                  <a:srgbClr val="0F2044"/>
                </a:solidFill>
                <a:latin typeface="Arial MT"/>
                <a:cs typeface="Arial MT"/>
              </a:rPr>
              <a:t>Action:</a:t>
            </a:r>
            <a:r>
              <a:rPr sz="1800" b="1" spc="-70" dirty="0">
                <a:solidFill>
                  <a:srgbClr val="0F2044"/>
                </a:solidFill>
                <a:latin typeface="Arial MT"/>
                <a:cs typeface="Arial MT"/>
              </a:rPr>
              <a:t> </a:t>
            </a:r>
            <a:r>
              <a:rPr sz="1800" dirty="0">
                <a:solidFill>
                  <a:srgbClr val="0F2044"/>
                </a:solidFill>
                <a:latin typeface="Arial MT"/>
                <a:cs typeface="Arial MT"/>
              </a:rPr>
              <a:t>The</a:t>
            </a:r>
            <a:r>
              <a:rPr sz="1800" spc="-35" dirty="0">
                <a:solidFill>
                  <a:srgbClr val="0F2044"/>
                </a:solidFill>
                <a:latin typeface="Arial MT"/>
                <a:cs typeface="Arial MT"/>
              </a:rPr>
              <a:t> </a:t>
            </a:r>
            <a:r>
              <a:rPr sz="1800" dirty="0">
                <a:solidFill>
                  <a:srgbClr val="0F2044"/>
                </a:solidFill>
                <a:latin typeface="Arial MT"/>
                <a:cs typeface="Arial MT"/>
              </a:rPr>
              <a:t>larger,</a:t>
            </a:r>
            <a:r>
              <a:rPr sz="1800" spc="-35" dirty="0">
                <a:solidFill>
                  <a:srgbClr val="0F2044"/>
                </a:solidFill>
                <a:latin typeface="Arial MT"/>
                <a:cs typeface="Arial MT"/>
              </a:rPr>
              <a:t> </a:t>
            </a:r>
            <a:r>
              <a:rPr sz="1800" dirty="0">
                <a:solidFill>
                  <a:srgbClr val="0F2044"/>
                </a:solidFill>
                <a:latin typeface="Arial MT"/>
                <a:cs typeface="Arial MT"/>
              </a:rPr>
              <a:t>coalesced</a:t>
            </a:r>
            <a:r>
              <a:rPr sz="1800" spc="-35" dirty="0">
                <a:solidFill>
                  <a:srgbClr val="0F2044"/>
                </a:solidFill>
                <a:latin typeface="Arial MT"/>
                <a:cs typeface="Arial MT"/>
              </a:rPr>
              <a:t> </a:t>
            </a:r>
            <a:r>
              <a:rPr sz="1800" dirty="0">
                <a:solidFill>
                  <a:srgbClr val="0F2044"/>
                </a:solidFill>
                <a:latin typeface="Arial MT"/>
                <a:cs typeface="Arial MT"/>
              </a:rPr>
              <a:t>block</a:t>
            </a:r>
            <a:r>
              <a:rPr sz="1800" spc="-35" dirty="0">
                <a:solidFill>
                  <a:srgbClr val="0F2044"/>
                </a:solidFill>
                <a:latin typeface="Arial MT"/>
                <a:cs typeface="Arial MT"/>
              </a:rPr>
              <a:t> </a:t>
            </a:r>
            <a:r>
              <a:rPr sz="1800" dirty="0">
                <a:solidFill>
                  <a:srgbClr val="0F2044"/>
                </a:solidFill>
                <a:latin typeface="Arial MT"/>
                <a:cs typeface="Arial MT"/>
              </a:rPr>
              <a:t>is</a:t>
            </a:r>
            <a:r>
              <a:rPr sz="1800" spc="-35" dirty="0">
                <a:solidFill>
                  <a:srgbClr val="0F2044"/>
                </a:solidFill>
                <a:latin typeface="Arial MT"/>
                <a:cs typeface="Arial MT"/>
              </a:rPr>
              <a:t> </a:t>
            </a:r>
            <a:r>
              <a:rPr sz="1800" spc="-25" dirty="0">
                <a:solidFill>
                  <a:srgbClr val="0F2044"/>
                </a:solidFill>
                <a:latin typeface="Arial MT"/>
                <a:cs typeface="Arial MT"/>
              </a:rPr>
              <a:t>now </a:t>
            </a:r>
            <a:r>
              <a:rPr sz="1800" dirty="0">
                <a:solidFill>
                  <a:srgbClr val="0F2044"/>
                </a:solidFill>
                <a:latin typeface="Arial MT"/>
                <a:cs typeface="Arial MT"/>
              </a:rPr>
              <a:t>at</a:t>
            </a:r>
            <a:r>
              <a:rPr sz="1800" spc="-15" dirty="0">
                <a:solidFill>
                  <a:srgbClr val="0F2044"/>
                </a:solidFill>
                <a:latin typeface="Arial MT"/>
                <a:cs typeface="Arial MT"/>
              </a:rPr>
              <a:t> </a:t>
            </a:r>
            <a:r>
              <a:rPr sz="1800" dirty="0">
                <a:solidFill>
                  <a:srgbClr val="0F2044"/>
                </a:solidFill>
                <a:latin typeface="Arial MT"/>
                <a:cs typeface="Arial MT"/>
              </a:rPr>
              <a:t>the</a:t>
            </a:r>
            <a:r>
              <a:rPr sz="1800" spc="-15" dirty="0">
                <a:solidFill>
                  <a:srgbClr val="0F2044"/>
                </a:solidFill>
                <a:latin typeface="Arial MT"/>
                <a:cs typeface="Arial MT"/>
              </a:rPr>
              <a:t> </a:t>
            </a:r>
            <a:r>
              <a:rPr sz="1800" dirty="0">
                <a:solidFill>
                  <a:srgbClr val="0F2044"/>
                </a:solidFill>
                <a:latin typeface="Arial MT"/>
                <a:cs typeface="Arial MT"/>
              </a:rPr>
              <a:t>front</a:t>
            </a:r>
            <a:r>
              <a:rPr sz="1800" spc="-15" dirty="0">
                <a:solidFill>
                  <a:srgbClr val="0F2044"/>
                </a:solidFill>
                <a:latin typeface="Arial MT"/>
                <a:cs typeface="Arial MT"/>
              </a:rPr>
              <a:t> </a:t>
            </a:r>
            <a:r>
              <a:rPr sz="1800" dirty="0">
                <a:solidFill>
                  <a:srgbClr val="0F2044"/>
                </a:solidFill>
                <a:latin typeface="Arial MT"/>
                <a:cs typeface="Arial MT"/>
              </a:rPr>
              <a:t>of</a:t>
            </a:r>
            <a:r>
              <a:rPr sz="1800" spc="-15" dirty="0">
                <a:solidFill>
                  <a:srgbClr val="0F2044"/>
                </a:solidFill>
                <a:latin typeface="Arial MT"/>
                <a:cs typeface="Arial MT"/>
              </a:rPr>
              <a:t> </a:t>
            </a:r>
            <a:r>
              <a:rPr sz="1800" dirty="0">
                <a:solidFill>
                  <a:srgbClr val="0F2044"/>
                </a:solidFill>
                <a:latin typeface="Arial MT"/>
                <a:cs typeface="Arial MT"/>
              </a:rPr>
              <a:t>the</a:t>
            </a:r>
            <a:r>
              <a:rPr sz="1800" spc="-15" dirty="0">
                <a:solidFill>
                  <a:srgbClr val="0F2044"/>
                </a:solidFill>
                <a:latin typeface="Arial MT"/>
                <a:cs typeface="Arial MT"/>
              </a:rPr>
              <a:t> </a:t>
            </a:r>
            <a:r>
              <a:rPr sz="1800" spc="-10" dirty="0">
                <a:solidFill>
                  <a:srgbClr val="0F2044"/>
                </a:solidFill>
                <a:latin typeface="Arial MT"/>
                <a:cs typeface="Arial MT"/>
              </a:rPr>
              <a:t>list.</a:t>
            </a:r>
            <a:endParaRPr sz="1800" dirty="0">
              <a:latin typeface="Arial MT"/>
              <a:cs typeface="Arial M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Case</a:t>
            </a:r>
            <a:r>
              <a:rPr spc="-50" dirty="0"/>
              <a:t> </a:t>
            </a:r>
            <a:r>
              <a:rPr dirty="0"/>
              <a:t>4:</a:t>
            </a:r>
            <a:r>
              <a:rPr spc="-50" dirty="0"/>
              <a:t> </a:t>
            </a:r>
            <a:r>
              <a:rPr spc="-10" dirty="0"/>
              <a:t>Coalescing</a:t>
            </a:r>
            <a:r>
              <a:rPr spc="-50" dirty="0"/>
              <a:t> </a:t>
            </a:r>
            <a:r>
              <a:rPr dirty="0"/>
              <a:t>With</a:t>
            </a:r>
            <a:r>
              <a:rPr spc="-50" dirty="0"/>
              <a:t> </a:t>
            </a:r>
            <a:r>
              <a:rPr dirty="0"/>
              <a:t>Both</a:t>
            </a:r>
            <a:r>
              <a:rPr spc="-50" dirty="0"/>
              <a:t> </a:t>
            </a:r>
            <a:r>
              <a:rPr dirty="0"/>
              <a:t>Adjacent</a:t>
            </a:r>
            <a:r>
              <a:rPr spc="-50" dirty="0"/>
              <a:t> </a:t>
            </a:r>
            <a:r>
              <a:rPr spc="-10" dirty="0"/>
              <a:t>Blocks</a:t>
            </a:r>
          </a:p>
        </p:txBody>
      </p:sp>
      <p:pic>
        <p:nvPicPr>
          <p:cNvPr id="4" name="object 4" descr="A detailed pointer-update diagram for &quot;Case 4&quot; freeing. It shows the removal of both predecessor and successor blocks from their respective list positions to form one continuous free segment at the head of the list."/>
          <p:cNvPicPr/>
          <p:nvPr/>
        </p:nvPicPr>
        <p:blipFill>
          <a:blip r:embed="rId3" cstate="print"/>
          <a:stretch>
            <a:fillRect/>
          </a:stretch>
        </p:blipFill>
        <p:spPr>
          <a:xfrm>
            <a:off x="473777" y="2660141"/>
            <a:ext cx="5854239" cy="3303229"/>
          </a:xfrm>
          <a:prstGeom prst="rect">
            <a:avLst/>
          </a:prstGeom>
        </p:spPr>
      </p:pic>
      <p:sp>
        <p:nvSpPr>
          <p:cNvPr id="3" name="object 3"/>
          <p:cNvSpPr txBox="1"/>
          <p:nvPr/>
        </p:nvSpPr>
        <p:spPr>
          <a:xfrm>
            <a:off x="6863245" y="2759393"/>
            <a:ext cx="4849865" cy="3290260"/>
          </a:xfrm>
          <a:prstGeom prst="rect">
            <a:avLst/>
          </a:prstGeom>
        </p:spPr>
        <p:txBody>
          <a:bodyPr vert="horz" wrap="square" lIns="0" tIns="12700" rIns="0" bIns="0" rtlCol="0">
            <a:spAutoFit/>
          </a:bodyPr>
          <a:lstStyle/>
          <a:p>
            <a:pPr marL="379095" marR="5080" indent="-367030">
              <a:lnSpc>
                <a:spcPct val="114000"/>
              </a:lnSpc>
              <a:spcBef>
                <a:spcPts val="100"/>
              </a:spcBef>
              <a:spcAft>
                <a:spcPts val="1800"/>
              </a:spcAft>
              <a:buChar char="●"/>
              <a:tabLst>
                <a:tab pos="379095" algn="l"/>
              </a:tabLst>
            </a:pPr>
            <a:r>
              <a:rPr sz="1800" dirty="0">
                <a:solidFill>
                  <a:srgbClr val="0F2044"/>
                </a:solidFill>
                <a:latin typeface="Arial MT"/>
                <a:cs typeface="Arial MT"/>
              </a:rPr>
              <a:t>This</a:t>
            </a:r>
            <a:r>
              <a:rPr sz="1800" spc="-15" dirty="0">
                <a:solidFill>
                  <a:srgbClr val="0F2044"/>
                </a:solidFill>
                <a:latin typeface="Arial MT"/>
                <a:cs typeface="Arial MT"/>
              </a:rPr>
              <a:t> </a:t>
            </a:r>
            <a:r>
              <a:rPr sz="1800" dirty="0">
                <a:solidFill>
                  <a:srgbClr val="0F2044"/>
                </a:solidFill>
                <a:latin typeface="Arial MT"/>
                <a:cs typeface="Arial MT"/>
              </a:rPr>
              <a:t>is</a:t>
            </a:r>
            <a:r>
              <a:rPr sz="1800" spc="-15" dirty="0">
                <a:solidFill>
                  <a:srgbClr val="0F2044"/>
                </a:solidFill>
                <a:latin typeface="Arial MT"/>
                <a:cs typeface="Arial MT"/>
              </a:rPr>
              <a:t> </a:t>
            </a:r>
            <a:r>
              <a:rPr sz="1800" dirty="0">
                <a:solidFill>
                  <a:srgbClr val="0F2044"/>
                </a:solidFill>
                <a:latin typeface="Arial MT"/>
                <a:cs typeface="Arial MT"/>
              </a:rPr>
              <a:t>also</a:t>
            </a:r>
            <a:r>
              <a:rPr sz="1800" spc="-10" dirty="0">
                <a:solidFill>
                  <a:srgbClr val="0F2044"/>
                </a:solidFill>
                <a:latin typeface="Arial MT"/>
                <a:cs typeface="Arial MT"/>
              </a:rPr>
              <a:t> </a:t>
            </a:r>
            <a:r>
              <a:rPr sz="1800" dirty="0">
                <a:solidFill>
                  <a:srgbClr val="0F2044"/>
                </a:solidFill>
                <a:latin typeface="Arial MT"/>
                <a:cs typeface="Arial MT"/>
              </a:rPr>
              <a:t>the</a:t>
            </a:r>
            <a:r>
              <a:rPr sz="1800" spc="-15" dirty="0">
                <a:solidFill>
                  <a:srgbClr val="0F2044"/>
                </a:solidFill>
                <a:latin typeface="Arial MT"/>
                <a:cs typeface="Arial MT"/>
              </a:rPr>
              <a:t> </a:t>
            </a:r>
            <a:r>
              <a:rPr sz="1800" dirty="0">
                <a:solidFill>
                  <a:srgbClr val="0F2044"/>
                </a:solidFill>
                <a:latin typeface="Arial MT"/>
                <a:cs typeface="Arial MT"/>
              </a:rPr>
              <a:t>same</a:t>
            </a:r>
            <a:r>
              <a:rPr sz="1800" spc="-15" dirty="0">
                <a:solidFill>
                  <a:srgbClr val="0F2044"/>
                </a:solidFill>
                <a:latin typeface="Arial MT"/>
                <a:cs typeface="Arial MT"/>
              </a:rPr>
              <a:t> </a:t>
            </a:r>
            <a:r>
              <a:rPr sz="1800" dirty="0">
                <a:solidFill>
                  <a:srgbClr val="0F2044"/>
                </a:solidFill>
                <a:latin typeface="Arial MT"/>
                <a:cs typeface="Arial MT"/>
              </a:rPr>
              <a:t>as</a:t>
            </a:r>
            <a:r>
              <a:rPr sz="1800" spc="-10" dirty="0">
                <a:solidFill>
                  <a:srgbClr val="0F2044"/>
                </a:solidFill>
                <a:latin typeface="Arial MT"/>
                <a:cs typeface="Arial MT"/>
              </a:rPr>
              <a:t> </a:t>
            </a:r>
            <a:r>
              <a:rPr sz="1800" dirty="0">
                <a:solidFill>
                  <a:srgbClr val="0F2044"/>
                </a:solidFill>
                <a:latin typeface="Arial MT"/>
                <a:cs typeface="Arial MT"/>
              </a:rPr>
              <a:t>Case</a:t>
            </a:r>
            <a:r>
              <a:rPr sz="1800" spc="-15" dirty="0">
                <a:solidFill>
                  <a:srgbClr val="0F2044"/>
                </a:solidFill>
                <a:latin typeface="Arial MT"/>
                <a:cs typeface="Arial MT"/>
              </a:rPr>
              <a:t> </a:t>
            </a:r>
            <a:r>
              <a:rPr sz="1800" dirty="0">
                <a:solidFill>
                  <a:srgbClr val="0F2044"/>
                </a:solidFill>
                <a:latin typeface="Arial MT"/>
                <a:cs typeface="Arial MT"/>
              </a:rPr>
              <a:t>2.</a:t>
            </a:r>
            <a:r>
              <a:rPr sz="1800" spc="-15" dirty="0">
                <a:solidFill>
                  <a:srgbClr val="0F2044"/>
                </a:solidFill>
                <a:latin typeface="Arial MT"/>
                <a:cs typeface="Arial MT"/>
              </a:rPr>
              <a:t> </a:t>
            </a:r>
            <a:br>
              <a:rPr lang="en-US" sz="1800" spc="-15" dirty="0">
                <a:solidFill>
                  <a:srgbClr val="0F2044"/>
                </a:solidFill>
                <a:latin typeface="Arial MT"/>
                <a:cs typeface="Arial MT"/>
              </a:rPr>
            </a:br>
            <a:r>
              <a:rPr sz="1800" dirty="0">
                <a:solidFill>
                  <a:srgbClr val="0F2044"/>
                </a:solidFill>
                <a:latin typeface="Arial MT"/>
                <a:cs typeface="Arial MT"/>
              </a:rPr>
              <a:t>Both</a:t>
            </a:r>
            <a:r>
              <a:rPr sz="1800" spc="-10" dirty="0">
                <a:solidFill>
                  <a:srgbClr val="0F2044"/>
                </a:solidFill>
                <a:latin typeface="Arial MT"/>
                <a:cs typeface="Arial MT"/>
              </a:rPr>
              <a:t> </a:t>
            </a:r>
            <a:r>
              <a:rPr sz="1800" spc="-25" dirty="0">
                <a:solidFill>
                  <a:srgbClr val="0F2044"/>
                </a:solidFill>
                <a:latin typeface="Arial MT"/>
                <a:cs typeface="Arial MT"/>
              </a:rPr>
              <a:t>the </a:t>
            </a:r>
            <a:r>
              <a:rPr sz="1800" dirty="0">
                <a:solidFill>
                  <a:srgbClr val="0F2044"/>
                </a:solidFill>
                <a:latin typeface="Arial MT"/>
                <a:cs typeface="Arial MT"/>
              </a:rPr>
              <a:t>Previous</a:t>
            </a:r>
            <a:r>
              <a:rPr sz="1800" spc="-15" dirty="0">
                <a:solidFill>
                  <a:srgbClr val="0F2044"/>
                </a:solidFill>
                <a:latin typeface="Arial MT"/>
                <a:cs typeface="Arial MT"/>
              </a:rPr>
              <a:t> </a:t>
            </a:r>
            <a:r>
              <a:rPr sz="1800" dirty="0">
                <a:solidFill>
                  <a:srgbClr val="0F2044"/>
                </a:solidFill>
                <a:latin typeface="Arial MT"/>
                <a:cs typeface="Arial MT"/>
              </a:rPr>
              <a:t>Free</a:t>
            </a:r>
            <a:r>
              <a:rPr sz="1800" spc="-15" dirty="0">
                <a:solidFill>
                  <a:srgbClr val="0F2044"/>
                </a:solidFill>
                <a:latin typeface="Arial MT"/>
                <a:cs typeface="Arial MT"/>
              </a:rPr>
              <a:t> </a:t>
            </a:r>
            <a:r>
              <a:rPr sz="1800" dirty="0">
                <a:solidFill>
                  <a:srgbClr val="0F2044"/>
                </a:solidFill>
                <a:latin typeface="Arial MT"/>
                <a:cs typeface="Arial MT"/>
              </a:rPr>
              <a:t>Block</a:t>
            </a:r>
            <a:r>
              <a:rPr sz="1800" spc="-10" dirty="0">
                <a:solidFill>
                  <a:srgbClr val="0F2044"/>
                </a:solidFill>
                <a:latin typeface="Arial MT"/>
                <a:cs typeface="Arial MT"/>
              </a:rPr>
              <a:t> </a:t>
            </a:r>
            <a:r>
              <a:rPr sz="1800" dirty="0">
                <a:solidFill>
                  <a:srgbClr val="0F2044"/>
                </a:solidFill>
                <a:latin typeface="Arial MT"/>
                <a:cs typeface="Arial MT"/>
              </a:rPr>
              <a:t>and</a:t>
            </a:r>
            <a:r>
              <a:rPr sz="1800" spc="-15" dirty="0">
                <a:solidFill>
                  <a:srgbClr val="0F2044"/>
                </a:solidFill>
                <a:latin typeface="Arial MT"/>
                <a:cs typeface="Arial MT"/>
              </a:rPr>
              <a:t> </a:t>
            </a:r>
            <a:r>
              <a:rPr sz="1800" dirty="0">
                <a:solidFill>
                  <a:srgbClr val="0F2044"/>
                </a:solidFill>
                <a:latin typeface="Arial MT"/>
                <a:cs typeface="Arial MT"/>
              </a:rPr>
              <a:t>the</a:t>
            </a:r>
            <a:r>
              <a:rPr sz="1800" spc="-15" dirty="0">
                <a:solidFill>
                  <a:srgbClr val="0F2044"/>
                </a:solidFill>
                <a:latin typeface="Arial MT"/>
                <a:cs typeface="Arial MT"/>
              </a:rPr>
              <a:t> </a:t>
            </a:r>
            <a:r>
              <a:rPr sz="1800" dirty="0">
                <a:solidFill>
                  <a:srgbClr val="0F2044"/>
                </a:solidFill>
                <a:latin typeface="Arial MT"/>
                <a:cs typeface="Arial MT"/>
              </a:rPr>
              <a:t>Next</a:t>
            </a:r>
            <a:r>
              <a:rPr sz="1800" spc="-10" dirty="0">
                <a:solidFill>
                  <a:srgbClr val="0F2044"/>
                </a:solidFill>
                <a:latin typeface="Arial MT"/>
                <a:cs typeface="Arial MT"/>
              </a:rPr>
              <a:t> </a:t>
            </a:r>
            <a:r>
              <a:rPr sz="1800" spc="-20" dirty="0">
                <a:solidFill>
                  <a:srgbClr val="0F2044"/>
                </a:solidFill>
                <a:latin typeface="Arial MT"/>
                <a:cs typeface="Arial MT"/>
              </a:rPr>
              <a:t>Free </a:t>
            </a:r>
            <a:r>
              <a:rPr sz="1800" dirty="0">
                <a:solidFill>
                  <a:srgbClr val="0F2044"/>
                </a:solidFill>
                <a:latin typeface="Arial MT"/>
                <a:cs typeface="Arial MT"/>
              </a:rPr>
              <a:t>Block</a:t>
            </a:r>
            <a:r>
              <a:rPr sz="1800" spc="-30" dirty="0">
                <a:solidFill>
                  <a:srgbClr val="0F2044"/>
                </a:solidFill>
                <a:latin typeface="Arial MT"/>
                <a:cs typeface="Arial MT"/>
              </a:rPr>
              <a:t> </a:t>
            </a:r>
            <a:r>
              <a:rPr sz="1800" dirty="0">
                <a:solidFill>
                  <a:srgbClr val="0F2044"/>
                </a:solidFill>
                <a:latin typeface="Arial MT"/>
                <a:cs typeface="Arial MT"/>
              </a:rPr>
              <a:t>are</a:t>
            </a:r>
            <a:r>
              <a:rPr sz="1800" spc="-20" dirty="0">
                <a:solidFill>
                  <a:srgbClr val="0F2044"/>
                </a:solidFill>
                <a:latin typeface="Arial MT"/>
                <a:cs typeface="Arial MT"/>
              </a:rPr>
              <a:t> </a:t>
            </a:r>
            <a:r>
              <a:rPr sz="1800" dirty="0">
                <a:solidFill>
                  <a:srgbClr val="0F2044"/>
                </a:solidFill>
                <a:latin typeface="Arial MT"/>
                <a:cs typeface="Arial MT"/>
              </a:rPr>
              <a:t>extracted</a:t>
            </a:r>
            <a:r>
              <a:rPr sz="1800" spc="-20" dirty="0">
                <a:solidFill>
                  <a:srgbClr val="0F2044"/>
                </a:solidFill>
                <a:latin typeface="Arial MT"/>
                <a:cs typeface="Arial MT"/>
              </a:rPr>
              <a:t> </a:t>
            </a:r>
            <a:r>
              <a:rPr sz="1800" dirty="0">
                <a:solidFill>
                  <a:srgbClr val="0F2044"/>
                </a:solidFill>
                <a:latin typeface="Arial MT"/>
                <a:cs typeface="Arial MT"/>
              </a:rPr>
              <a:t>from</a:t>
            </a:r>
            <a:r>
              <a:rPr sz="1800" spc="-15" dirty="0">
                <a:solidFill>
                  <a:srgbClr val="0F2044"/>
                </a:solidFill>
                <a:latin typeface="Arial MT"/>
                <a:cs typeface="Arial MT"/>
              </a:rPr>
              <a:t> </a:t>
            </a:r>
            <a:r>
              <a:rPr sz="1800" dirty="0">
                <a:solidFill>
                  <a:srgbClr val="0F2044"/>
                </a:solidFill>
                <a:latin typeface="Arial MT"/>
                <a:cs typeface="Arial MT"/>
              </a:rPr>
              <a:t>the</a:t>
            </a:r>
            <a:r>
              <a:rPr sz="1800" spc="-20" dirty="0">
                <a:solidFill>
                  <a:srgbClr val="0F2044"/>
                </a:solidFill>
                <a:latin typeface="Arial MT"/>
                <a:cs typeface="Arial MT"/>
              </a:rPr>
              <a:t> </a:t>
            </a:r>
            <a:r>
              <a:rPr sz="1800" dirty="0">
                <a:solidFill>
                  <a:srgbClr val="0F2044"/>
                </a:solidFill>
                <a:latin typeface="Arial MT"/>
                <a:cs typeface="Arial MT"/>
              </a:rPr>
              <a:t>Free</a:t>
            </a:r>
            <a:r>
              <a:rPr sz="1800" spc="-20" dirty="0">
                <a:solidFill>
                  <a:srgbClr val="0F2044"/>
                </a:solidFill>
                <a:latin typeface="Arial MT"/>
                <a:cs typeface="Arial MT"/>
              </a:rPr>
              <a:t> </a:t>
            </a:r>
            <a:r>
              <a:rPr sz="1800" dirty="0">
                <a:solidFill>
                  <a:srgbClr val="0F2044"/>
                </a:solidFill>
                <a:latin typeface="Arial MT"/>
                <a:cs typeface="Arial MT"/>
              </a:rPr>
              <a:t>List,</a:t>
            </a:r>
            <a:r>
              <a:rPr sz="1800" spc="-15" dirty="0">
                <a:solidFill>
                  <a:srgbClr val="0F2044"/>
                </a:solidFill>
                <a:latin typeface="Arial MT"/>
                <a:cs typeface="Arial MT"/>
              </a:rPr>
              <a:t> </a:t>
            </a:r>
            <a:r>
              <a:rPr sz="1800" spc="-25" dirty="0">
                <a:solidFill>
                  <a:srgbClr val="0F2044"/>
                </a:solidFill>
                <a:latin typeface="Arial MT"/>
                <a:cs typeface="Arial MT"/>
              </a:rPr>
              <a:t>and </a:t>
            </a:r>
            <a:r>
              <a:rPr sz="1800" dirty="0">
                <a:solidFill>
                  <a:srgbClr val="0F2044"/>
                </a:solidFill>
                <a:latin typeface="Arial MT"/>
                <a:cs typeface="Arial MT"/>
              </a:rPr>
              <a:t>then</a:t>
            </a:r>
            <a:r>
              <a:rPr sz="1800" spc="-15" dirty="0">
                <a:solidFill>
                  <a:srgbClr val="0F2044"/>
                </a:solidFill>
                <a:latin typeface="Arial MT"/>
                <a:cs typeface="Arial MT"/>
              </a:rPr>
              <a:t> </a:t>
            </a:r>
            <a:r>
              <a:rPr sz="1800" dirty="0">
                <a:solidFill>
                  <a:srgbClr val="0F2044"/>
                </a:solidFill>
                <a:latin typeface="Arial MT"/>
                <a:cs typeface="Arial MT"/>
              </a:rPr>
              <a:t>they</a:t>
            </a:r>
            <a:r>
              <a:rPr sz="1800" spc="-15" dirty="0">
                <a:solidFill>
                  <a:srgbClr val="0F2044"/>
                </a:solidFill>
                <a:latin typeface="Arial MT"/>
                <a:cs typeface="Arial MT"/>
              </a:rPr>
              <a:t> </a:t>
            </a:r>
            <a:r>
              <a:rPr sz="1800" dirty="0">
                <a:solidFill>
                  <a:srgbClr val="0F2044"/>
                </a:solidFill>
                <a:latin typeface="Arial MT"/>
                <a:cs typeface="Arial MT"/>
              </a:rPr>
              <a:t>and</a:t>
            </a:r>
            <a:r>
              <a:rPr sz="1800" spc="-10" dirty="0">
                <a:solidFill>
                  <a:srgbClr val="0F2044"/>
                </a:solidFill>
                <a:latin typeface="Arial MT"/>
                <a:cs typeface="Arial MT"/>
              </a:rPr>
              <a:t> </a:t>
            </a:r>
            <a:r>
              <a:rPr sz="1800" dirty="0">
                <a:solidFill>
                  <a:srgbClr val="0F2044"/>
                </a:solidFill>
                <a:latin typeface="Arial MT"/>
                <a:cs typeface="Arial MT"/>
              </a:rPr>
              <a:t>the</a:t>
            </a:r>
            <a:r>
              <a:rPr sz="1800" spc="-15" dirty="0">
                <a:solidFill>
                  <a:srgbClr val="0F2044"/>
                </a:solidFill>
                <a:latin typeface="Arial MT"/>
                <a:cs typeface="Arial MT"/>
              </a:rPr>
              <a:t> </a:t>
            </a:r>
            <a:r>
              <a:rPr sz="1800" dirty="0">
                <a:solidFill>
                  <a:srgbClr val="0F2044"/>
                </a:solidFill>
                <a:latin typeface="Arial MT"/>
                <a:cs typeface="Arial MT"/>
              </a:rPr>
              <a:t>Newly</a:t>
            </a:r>
            <a:r>
              <a:rPr sz="1800" spc="-10" dirty="0">
                <a:solidFill>
                  <a:srgbClr val="0F2044"/>
                </a:solidFill>
                <a:latin typeface="Arial MT"/>
                <a:cs typeface="Arial MT"/>
              </a:rPr>
              <a:t> </a:t>
            </a:r>
            <a:r>
              <a:rPr sz="1800" dirty="0">
                <a:solidFill>
                  <a:srgbClr val="0F2044"/>
                </a:solidFill>
                <a:latin typeface="Arial MT"/>
                <a:cs typeface="Arial MT"/>
              </a:rPr>
              <a:t>Freed</a:t>
            </a:r>
            <a:r>
              <a:rPr sz="1800" spc="-15" dirty="0">
                <a:solidFill>
                  <a:srgbClr val="0F2044"/>
                </a:solidFill>
                <a:latin typeface="Arial MT"/>
                <a:cs typeface="Arial MT"/>
              </a:rPr>
              <a:t> </a:t>
            </a:r>
            <a:r>
              <a:rPr sz="1800" dirty="0">
                <a:solidFill>
                  <a:srgbClr val="0F2044"/>
                </a:solidFill>
                <a:latin typeface="Arial MT"/>
                <a:cs typeface="Arial MT"/>
              </a:rPr>
              <a:t>Block</a:t>
            </a:r>
            <a:r>
              <a:rPr sz="1800" spc="-10" dirty="0">
                <a:solidFill>
                  <a:srgbClr val="0F2044"/>
                </a:solidFill>
                <a:latin typeface="Arial MT"/>
                <a:cs typeface="Arial MT"/>
              </a:rPr>
              <a:t> </a:t>
            </a:r>
            <a:r>
              <a:rPr sz="1800" spc="-25" dirty="0">
                <a:solidFill>
                  <a:srgbClr val="0F2044"/>
                </a:solidFill>
                <a:latin typeface="Arial MT"/>
                <a:cs typeface="Arial MT"/>
              </a:rPr>
              <a:t>are </a:t>
            </a:r>
            <a:r>
              <a:rPr sz="1800" dirty="0">
                <a:solidFill>
                  <a:srgbClr val="0F2044"/>
                </a:solidFill>
                <a:latin typeface="Arial MT"/>
                <a:cs typeface="Arial MT"/>
              </a:rPr>
              <a:t>combined</a:t>
            </a:r>
            <a:r>
              <a:rPr sz="1800" spc="-35" dirty="0">
                <a:solidFill>
                  <a:srgbClr val="0F2044"/>
                </a:solidFill>
                <a:latin typeface="Arial MT"/>
                <a:cs typeface="Arial MT"/>
              </a:rPr>
              <a:t> </a:t>
            </a:r>
            <a:r>
              <a:rPr sz="1800" dirty="0">
                <a:solidFill>
                  <a:srgbClr val="0F2044"/>
                </a:solidFill>
                <a:latin typeface="Arial MT"/>
                <a:cs typeface="Arial MT"/>
              </a:rPr>
              <a:t>into</a:t>
            </a:r>
            <a:r>
              <a:rPr sz="1800" spc="-25" dirty="0">
                <a:solidFill>
                  <a:srgbClr val="0F2044"/>
                </a:solidFill>
                <a:latin typeface="Arial MT"/>
                <a:cs typeface="Arial MT"/>
              </a:rPr>
              <a:t> </a:t>
            </a:r>
            <a:r>
              <a:rPr sz="1800" dirty="0">
                <a:solidFill>
                  <a:srgbClr val="0F2044"/>
                </a:solidFill>
                <a:latin typeface="Arial MT"/>
                <a:cs typeface="Arial MT"/>
              </a:rPr>
              <a:t>one</a:t>
            </a:r>
            <a:r>
              <a:rPr sz="1800" spc="-25" dirty="0">
                <a:solidFill>
                  <a:srgbClr val="0F2044"/>
                </a:solidFill>
                <a:latin typeface="Arial MT"/>
                <a:cs typeface="Arial MT"/>
              </a:rPr>
              <a:t> </a:t>
            </a:r>
            <a:r>
              <a:rPr sz="1800" dirty="0">
                <a:solidFill>
                  <a:srgbClr val="0F2044"/>
                </a:solidFill>
                <a:latin typeface="Arial MT"/>
                <a:cs typeface="Arial MT"/>
              </a:rPr>
              <a:t>Free</a:t>
            </a:r>
            <a:r>
              <a:rPr sz="1800" spc="-20" dirty="0">
                <a:solidFill>
                  <a:srgbClr val="0F2044"/>
                </a:solidFill>
                <a:latin typeface="Arial MT"/>
                <a:cs typeface="Arial MT"/>
              </a:rPr>
              <a:t> </a:t>
            </a:r>
            <a:r>
              <a:rPr sz="1800" spc="-10" dirty="0">
                <a:solidFill>
                  <a:srgbClr val="0F2044"/>
                </a:solidFill>
                <a:latin typeface="Arial MT"/>
                <a:cs typeface="Arial MT"/>
              </a:rPr>
              <a:t>Block.</a:t>
            </a:r>
            <a:endParaRPr sz="1800" dirty="0">
              <a:latin typeface="Arial MT"/>
              <a:cs typeface="Arial MT"/>
            </a:endParaRPr>
          </a:p>
          <a:p>
            <a:pPr marL="836294" marR="501650" lvl="1" indent="-367030">
              <a:lnSpc>
                <a:spcPct val="114000"/>
              </a:lnSpc>
              <a:spcAft>
                <a:spcPts val="1800"/>
              </a:spcAft>
              <a:buChar char="○"/>
              <a:tabLst>
                <a:tab pos="836294" algn="l"/>
              </a:tabLst>
            </a:pPr>
            <a:r>
              <a:rPr sz="1800" dirty="0">
                <a:solidFill>
                  <a:srgbClr val="0F2044"/>
                </a:solidFill>
                <a:latin typeface="Arial MT"/>
                <a:cs typeface="Arial MT"/>
              </a:rPr>
              <a:t>That</a:t>
            </a:r>
            <a:r>
              <a:rPr sz="1800" spc="-20" dirty="0">
                <a:solidFill>
                  <a:srgbClr val="0F2044"/>
                </a:solidFill>
                <a:latin typeface="Arial MT"/>
                <a:cs typeface="Arial MT"/>
              </a:rPr>
              <a:t> </a:t>
            </a:r>
            <a:r>
              <a:rPr sz="1800" dirty="0">
                <a:solidFill>
                  <a:srgbClr val="0F2044"/>
                </a:solidFill>
                <a:latin typeface="Arial MT"/>
                <a:cs typeface="Arial MT"/>
              </a:rPr>
              <a:t>is,</a:t>
            </a:r>
            <a:r>
              <a:rPr sz="1800" spc="-15" dirty="0">
                <a:solidFill>
                  <a:srgbClr val="0F2044"/>
                </a:solidFill>
                <a:latin typeface="Arial MT"/>
                <a:cs typeface="Arial MT"/>
              </a:rPr>
              <a:t> </a:t>
            </a:r>
            <a:r>
              <a:rPr sz="1800" dirty="0">
                <a:solidFill>
                  <a:srgbClr val="0F2044"/>
                </a:solidFill>
                <a:latin typeface="Arial MT"/>
                <a:cs typeface="Arial MT"/>
              </a:rPr>
              <a:t>a</a:t>
            </a:r>
            <a:r>
              <a:rPr sz="1800" spc="-15" dirty="0">
                <a:solidFill>
                  <a:srgbClr val="0F2044"/>
                </a:solidFill>
                <a:latin typeface="Arial MT"/>
                <a:cs typeface="Arial MT"/>
              </a:rPr>
              <a:t> </a:t>
            </a:r>
            <a:r>
              <a:rPr sz="1800" dirty="0">
                <a:solidFill>
                  <a:srgbClr val="0F2044"/>
                </a:solidFill>
                <a:latin typeface="Arial MT"/>
                <a:cs typeface="Arial MT"/>
              </a:rPr>
              <a:t>total</a:t>
            </a:r>
            <a:r>
              <a:rPr sz="1800" spc="-20" dirty="0">
                <a:solidFill>
                  <a:srgbClr val="0F2044"/>
                </a:solidFill>
                <a:latin typeface="Arial MT"/>
                <a:cs typeface="Arial MT"/>
              </a:rPr>
              <a:t> </a:t>
            </a:r>
            <a:r>
              <a:rPr sz="1800" dirty="0">
                <a:solidFill>
                  <a:srgbClr val="0F2044"/>
                </a:solidFill>
                <a:latin typeface="Arial MT"/>
                <a:cs typeface="Arial MT"/>
              </a:rPr>
              <a:t>of</a:t>
            </a:r>
            <a:r>
              <a:rPr sz="1800" spc="-15" dirty="0">
                <a:solidFill>
                  <a:srgbClr val="0F2044"/>
                </a:solidFill>
                <a:latin typeface="Arial MT"/>
                <a:cs typeface="Arial MT"/>
              </a:rPr>
              <a:t> </a:t>
            </a:r>
            <a:r>
              <a:rPr sz="1800" dirty="0">
                <a:solidFill>
                  <a:srgbClr val="0F2044"/>
                </a:solidFill>
                <a:latin typeface="Arial MT"/>
                <a:cs typeface="Arial MT"/>
              </a:rPr>
              <a:t>three</a:t>
            </a:r>
            <a:r>
              <a:rPr sz="1800" spc="-15" dirty="0">
                <a:solidFill>
                  <a:srgbClr val="0F2044"/>
                </a:solidFill>
                <a:latin typeface="Arial MT"/>
                <a:cs typeface="Arial MT"/>
              </a:rPr>
              <a:t> </a:t>
            </a:r>
            <a:r>
              <a:rPr sz="1800" spc="-10" dirty="0">
                <a:solidFill>
                  <a:srgbClr val="0F2044"/>
                </a:solidFill>
                <a:latin typeface="Arial MT"/>
                <a:cs typeface="Arial MT"/>
              </a:rPr>
              <a:t>Memory </a:t>
            </a:r>
            <a:r>
              <a:rPr sz="1800" dirty="0">
                <a:solidFill>
                  <a:srgbClr val="0F2044"/>
                </a:solidFill>
                <a:latin typeface="Arial MT"/>
                <a:cs typeface="Arial MT"/>
              </a:rPr>
              <a:t>Blocks</a:t>
            </a:r>
            <a:r>
              <a:rPr sz="1800" spc="-20" dirty="0">
                <a:solidFill>
                  <a:srgbClr val="0F2044"/>
                </a:solidFill>
                <a:latin typeface="Arial MT"/>
                <a:cs typeface="Arial MT"/>
              </a:rPr>
              <a:t> </a:t>
            </a:r>
            <a:r>
              <a:rPr sz="1800" dirty="0">
                <a:solidFill>
                  <a:srgbClr val="0F2044"/>
                </a:solidFill>
                <a:latin typeface="Arial MT"/>
                <a:cs typeface="Arial MT"/>
              </a:rPr>
              <a:t>are</a:t>
            </a:r>
            <a:r>
              <a:rPr sz="1800" spc="-15" dirty="0">
                <a:solidFill>
                  <a:srgbClr val="0F2044"/>
                </a:solidFill>
                <a:latin typeface="Arial MT"/>
                <a:cs typeface="Arial MT"/>
              </a:rPr>
              <a:t> </a:t>
            </a:r>
            <a:r>
              <a:rPr sz="1800" dirty="0">
                <a:solidFill>
                  <a:srgbClr val="0F2044"/>
                </a:solidFill>
                <a:latin typeface="Arial MT"/>
                <a:cs typeface="Arial MT"/>
              </a:rPr>
              <a:t>subject</a:t>
            </a:r>
            <a:r>
              <a:rPr sz="1800" spc="-15" dirty="0">
                <a:solidFill>
                  <a:srgbClr val="0F2044"/>
                </a:solidFill>
                <a:latin typeface="Arial MT"/>
                <a:cs typeface="Arial MT"/>
              </a:rPr>
              <a:t> </a:t>
            </a:r>
            <a:r>
              <a:rPr sz="1800" dirty="0">
                <a:solidFill>
                  <a:srgbClr val="0F2044"/>
                </a:solidFill>
                <a:latin typeface="Arial MT"/>
                <a:cs typeface="Arial MT"/>
              </a:rPr>
              <a:t>to</a:t>
            </a:r>
            <a:r>
              <a:rPr sz="1800" spc="-15" dirty="0">
                <a:solidFill>
                  <a:srgbClr val="0F2044"/>
                </a:solidFill>
                <a:latin typeface="Arial MT"/>
                <a:cs typeface="Arial MT"/>
              </a:rPr>
              <a:t> </a:t>
            </a:r>
            <a:r>
              <a:rPr sz="1800" spc="-10" dirty="0">
                <a:solidFill>
                  <a:srgbClr val="0F2044"/>
                </a:solidFill>
                <a:latin typeface="Arial MT"/>
                <a:cs typeface="Arial MT"/>
              </a:rPr>
              <a:t>Coalescing.</a:t>
            </a:r>
            <a:endParaRPr sz="1800" dirty="0">
              <a:latin typeface="Arial MT"/>
              <a:cs typeface="Arial MT"/>
            </a:endParaRPr>
          </a:p>
          <a:p>
            <a:pPr marL="836294" marR="236220" lvl="1" indent="-367030">
              <a:lnSpc>
                <a:spcPct val="114000"/>
              </a:lnSpc>
              <a:buChar char="○"/>
              <a:tabLst>
                <a:tab pos="836294" algn="l"/>
              </a:tabLst>
            </a:pPr>
            <a:r>
              <a:rPr sz="1800" dirty="0">
                <a:solidFill>
                  <a:srgbClr val="0F2044"/>
                </a:solidFill>
                <a:latin typeface="Arial MT"/>
                <a:cs typeface="Arial MT"/>
              </a:rPr>
              <a:t>Next,</a:t>
            </a:r>
            <a:r>
              <a:rPr sz="1800" spc="-30" dirty="0">
                <a:solidFill>
                  <a:srgbClr val="0F2044"/>
                </a:solidFill>
                <a:latin typeface="Arial MT"/>
                <a:cs typeface="Arial MT"/>
              </a:rPr>
              <a:t> </a:t>
            </a:r>
            <a:r>
              <a:rPr sz="1800" dirty="0">
                <a:solidFill>
                  <a:srgbClr val="0F2044"/>
                </a:solidFill>
                <a:latin typeface="Arial MT"/>
                <a:cs typeface="Arial MT"/>
              </a:rPr>
              <a:t>insert</a:t>
            </a:r>
            <a:r>
              <a:rPr sz="1800" spc="-15" dirty="0">
                <a:solidFill>
                  <a:srgbClr val="0F2044"/>
                </a:solidFill>
                <a:latin typeface="Arial MT"/>
                <a:cs typeface="Arial MT"/>
              </a:rPr>
              <a:t> </a:t>
            </a:r>
            <a:r>
              <a:rPr sz="1800" dirty="0">
                <a:solidFill>
                  <a:srgbClr val="0F2044"/>
                </a:solidFill>
                <a:latin typeface="Arial MT"/>
                <a:cs typeface="Arial MT"/>
              </a:rPr>
              <a:t>them</a:t>
            </a:r>
            <a:r>
              <a:rPr sz="1800" spc="-15" dirty="0">
                <a:solidFill>
                  <a:srgbClr val="0F2044"/>
                </a:solidFill>
                <a:latin typeface="Arial MT"/>
                <a:cs typeface="Arial MT"/>
              </a:rPr>
              <a:t> </a:t>
            </a:r>
            <a:r>
              <a:rPr sz="1800" dirty="0">
                <a:solidFill>
                  <a:srgbClr val="0F2044"/>
                </a:solidFill>
                <a:latin typeface="Arial MT"/>
                <a:cs typeface="Arial MT"/>
              </a:rPr>
              <a:t>at</a:t>
            </a:r>
            <a:r>
              <a:rPr sz="1800" spc="-20" dirty="0">
                <a:solidFill>
                  <a:srgbClr val="0F2044"/>
                </a:solidFill>
                <a:latin typeface="Arial MT"/>
                <a:cs typeface="Arial MT"/>
              </a:rPr>
              <a:t> </a:t>
            </a:r>
            <a:r>
              <a:rPr sz="1800" dirty="0">
                <a:solidFill>
                  <a:srgbClr val="0F2044"/>
                </a:solidFill>
                <a:latin typeface="Arial MT"/>
                <a:cs typeface="Arial MT"/>
              </a:rPr>
              <a:t>the</a:t>
            </a:r>
            <a:r>
              <a:rPr sz="1800" spc="-15" dirty="0">
                <a:solidFill>
                  <a:srgbClr val="0F2044"/>
                </a:solidFill>
                <a:latin typeface="Arial MT"/>
                <a:cs typeface="Arial MT"/>
              </a:rPr>
              <a:t> </a:t>
            </a:r>
            <a:r>
              <a:rPr sz="1800" dirty="0">
                <a:solidFill>
                  <a:srgbClr val="0F2044"/>
                </a:solidFill>
                <a:latin typeface="Arial MT"/>
                <a:cs typeface="Arial MT"/>
              </a:rPr>
              <a:t>very</a:t>
            </a:r>
            <a:r>
              <a:rPr sz="1800" spc="-15" dirty="0">
                <a:solidFill>
                  <a:srgbClr val="0F2044"/>
                </a:solidFill>
                <a:latin typeface="Arial MT"/>
                <a:cs typeface="Arial MT"/>
              </a:rPr>
              <a:t> </a:t>
            </a:r>
            <a:r>
              <a:rPr sz="1800" dirty="0">
                <a:solidFill>
                  <a:srgbClr val="0F2044"/>
                </a:solidFill>
                <a:latin typeface="Arial MT"/>
                <a:cs typeface="Arial MT"/>
              </a:rPr>
              <a:t>front</a:t>
            </a:r>
            <a:r>
              <a:rPr sz="1800" spc="-15" dirty="0">
                <a:solidFill>
                  <a:srgbClr val="0F2044"/>
                </a:solidFill>
                <a:latin typeface="Arial MT"/>
                <a:cs typeface="Arial MT"/>
              </a:rPr>
              <a:t> </a:t>
            </a:r>
            <a:r>
              <a:rPr sz="1800" spc="-25" dirty="0">
                <a:solidFill>
                  <a:srgbClr val="0F2044"/>
                </a:solidFill>
                <a:latin typeface="Arial MT"/>
                <a:cs typeface="Arial MT"/>
              </a:rPr>
              <a:t>of </a:t>
            </a:r>
            <a:r>
              <a:rPr sz="1800" dirty="0">
                <a:solidFill>
                  <a:srgbClr val="0F2044"/>
                </a:solidFill>
                <a:latin typeface="Arial MT"/>
                <a:cs typeface="Arial MT"/>
              </a:rPr>
              <a:t>the</a:t>
            </a:r>
            <a:r>
              <a:rPr sz="1800" spc="-20" dirty="0">
                <a:solidFill>
                  <a:srgbClr val="0F2044"/>
                </a:solidFill>
                <a:latin typeface="Arial MT"/>
                <a:cs typeface="Arial MT"/>
              </a:rPr>
              <a:t> </a:t>
            </a:r>
            <a:r>
              <a:rPr sz="1800" dirty="0">
                <a:solidFill>
                  <a:srgbClr val="0F2044"/>
                </a:solidFill>
                <a:latin typeface="Arial MT"/>
                <a:cs typeface="Arial MT"/>
              </a:rPr>
              <a:t>Free</a:t>
            </a:r>
            <a:r>
              <a:rPr sz="1800" spc="-20" dirty="0">
                <a:solidFill>
                  <a:srgbClr val="0F2044"/>
                </a:solidFill>
                <a:latin typeface="Arial MT"/>
                <a:cs typeface="Arial MT"/>
              </a:rPr>
              <a:t> </a:t>
            </a:r>
            <a:r>
              <a:rPr sz="1800" dirty="0">
                <a:solidFill>
                  <a:srgbClr val="0F2044"/>
                </a:solidFill>
                <a:latin typeface="Arial MT"/>
                <a:cs typeface="Arial MT"/>
              </a:rPr>
              <a:t>List</a:t>
            </a:r>
            <a:r>
              <a:rPr sz="1800" spc="-15" dirty="0">
                <a:solidFill>
                  <a:srgbClr val="0F2044"/>
                </a:solidFill>
                <a:latin typeface="Arial MT"/>
                <a:cs typeface="Arial MT"/>
              </a:rPr>
              <a:t> </a:t>
            </a:r>
            <a:r>
              <a:rPr sz="1800" spc="-50" dirty="0">
                <a:solidFill>
                  <a:srgbClr val="0F2044"/>
                </a:solidFill>
                <a:latin typeface="Arial MT"/>
                <a:cs typeface="Arial MT"/>
              </a:rPr>
              <a:t>.</a:t>
            </a:r>
            <a:endParaRPr sz="1800" dirty="0">
              <a:latin typeface="Arial MT"/>
              <a:cs typeface="Arial MT"/>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0375" y="1219200"/>
            <a:ext cx="6452870" cy="406400"/>
          </a:xfrm>
          <a:prstGeom prst="rect">
            <a:avLst/>
          </a:prstGeom>
        </p:spPr>
        <p:txBody>
          <a:bodyPr vert="horz" wrap="square" lIns="0" tIns="12700" rIns="0" bIns="0" rtlCol="0">
            <a:spAutoFit/>
          </a:bodyPr>
          <a:lstStyle/>
          <a:p>
            <a:pPr marL="12700">
              <a:lnSpc>
                <a:spcPct val="100000"/>
              </a:lnSpc>
              <a:spcBef>
                <a:spcPts val="100"/>
              </a:spcBef>
            </a:pPr>
            <a:r>
              <a:rPr dirty="0"/>
              <a:t>Important</a:t>
            </a:r>
            <a:r>
              <a:rPr spc="-45" dirty="0"/>
              <a:t> </a:t>
            </a:r>
            <a:r>
              <a:rPr spc="-10" dirty="0"/>
              <a:t>Readings</a:t>
            </a:r>
          </a:p>
        </p:txBody>
      </p:sp>
      <p:sp>
        <p:nvSpPr>
          <p:cNvPr id="3" name="object 3"/>
          <p:cNvSpPr txBox="1"/>
          <p:nvPr/>
        </p:nvSpPr>
        <p:spPr>
          <a:xfrm>
            <a:off x="651349" y="1810995"/>
            <a:ext cx="6426835" cy="4817922"/>
          </a:xfrm>
          <a:prstGeom prst="rect">
            <a:avLst/>
          </a:prstGeom>
        </p:spPr>
        <p:txBody>
          <a:bodyPr vert="horz" wrap="square" lIns="0" tIns="12700" rIns="0" bIns="0" rtlCol="0">
            <a:spAutoFit/>
          </a:bodyPr>
          <a:lstStyle/>
          <a:p>
            <a:pPr marL="379095" indent="-366395">
              <a:lnSpc>
                <a:spcPct val="114000"/>
              </a:lnSpc>
              <a:spcBef>
                <a:spcPts val="100"/>
              </a:spcBef>
              <a:spcAft>
                <a:spcPts val="600"/>
              </a:spcAft>
              <a:buClr>
                <a:srgbClr val="000000"/>
              </a:buClr>
              <a:buChar char="●"/>
              <a:tabLst>
                <a:tab pos="379095" algn="l"/>
              </a:tabLst>
            </a:pPr>
            <a:r>
              <a:rPr sz="1800" u="heavy" spc="-10" dirty="0">
                <a:solidFill>
                  <a:srgbClr val="00688C"/>
                </a:solidFill>
                <a:uFill>
                  <a:solidFill>
                    <a:srgbClr val="00688C"/>
                  </a:solidFill>
                </a:uFill>
                <a:latin typeface="Arial MT"/>
                <a:cs typeface="Arial MT"/>
                <a:hlinkClick r:id="rId2"/>
              </a:rPr>
              <a:t>https://awb.fyi/courses/cs208/s22/notes/free-lists.html</a:t>
            </a:r>
            <a:endParaRPr sz="1800" dirty="0">
              <a:latin typeface="Arial MT"/>
              <a:cs typeface="Arial MT"/>
            </a:endParaRPr>
          </a:p>
          <a:p>
            <a:pPr marL="379095" marR="148590" indent="-367030">
              <a:lnSpc>
                <a:spcPct val="114000"/>
              </a:lnSpc>
              <a:spcAft>
                <a:spcPts val="600"/>
              </a:spcAft>
              <a:buClr>
                <a:srgbClr val="000000"/>
              </a:buClr>
              <a:buChar char="●"/>
              <a:tabLst>
                <a:tab pos="379095" algn="l"/>
              </a:tabLst>
            </a:pPr>
            <a:r>
              <a:rPr sz="1800" u="heavy" spc="-10" dirty="0">
                <a:solidFill>
                  <a:srgbClr val="00688C"/>
                </a:solidFill>
                <a:uFill>
                  <a:solidFill>
                    <a:srgbClr val="00688C"/>
                  </a:solidFill>
                </a:uFill>
                <a:latin typeface="Arial MT"/>
                <a:cs typeface="Arial MT"/>
                <a:hlinkClick r:id="rId3"/>
              </a:rPr>
              <a:t>https://csit.kutztown.edu/~schwesin/fall20/csc235/lectures/</a:t>
            </a:r>
            <a:r>
              <a:rPr sz="1800" spc="-10" dirty="0">
                <a:solidFill>
                  <a:srgbClr val="00688C"/>
                </a:solidFill>
                <a:latin typeface="Arial MT"/>
                <a:cs typeface="Arial MT"/>
              </a:rPr>
              <a:t> </a:t>
            </a:r>
            <a:r>
              <a:rPr sz="1800" u="heavy" spc="-10" dirty="0">
                <a:solidFill>
                  <a:srgbClr val="00688C"/>
                </a:solidFill>
                <a:uFill>
                  <a:solidFill>
                    <a:srgbClr val="00688C"/>
                  </a:solidFill>
                </a:uFill>
                <a:latin typeface="Arial MT"/>
                <a:cs typeface="Arial MT"/>
                <a:hlinkClick r:id="rId3"/>
              </a:rPr>
              <a:t>Dynamic_Memory_Allocation_Basic.html</a:t>
            </a:r>
            <a:endParaRPr sz="1800" dirty="0">
              <a:latin typeface="Arial MT"/>
              <a:cs typeface="Arial MT"/>
            </a:endParaRPr>
          </a:p>
          <a:p>
            <a:pPr marL="379095" marR="13335" indent="-367030">
              <a:lnSpc>
                <a:spcPct val="114000"/>
              </a:lnSpc>
              <a:spcAft>
                <a:spcPts val="600"/>
              </a:spcAft>
              <a:buClr>
                <a:srgbClr val="0F2044"/>
              </a:buClr>
              <a:buChar char="●"/>
              <a:tabLst>
                <a:tab pos="379095" algn="l"/>
              </a:tabLst>
            </a:pPr>
            <a:r>
              <a:rPr sz="1800" u="heavy" dirty="0">
                <a:solidFill>
                  <a:srgbClr val="00688C"/>
                </a:solidFill>
                <a:uFill>
                  <a:solidFill>
                    <a:srgbClr val="00688C"/>
                  </a:solidFill>
                </a:uFill>
                <a:latin typeface="Arial MT"/>
                <a:cs typeface="Arial MT"/>
                <a:hlinkClick r:id="rId4"/>
              </a:rPr>
              <a:t>https://velog.io/@junttang/SP-6.3-Explicit-Segregated-</a:t>
            </a:r>
            <a:r>
              <a:rPr sz="1800" u="heavy" spc="-10" dirty="0">
                <a:solidFill>
                  <a:srgbClr val="00688C"/>
                </a:solidFill>
                <a:uFill>
                  <a:solidFill>
                    <a:srgbClr val="00688C"/>
                  </a:solidFill>
                </a:uFill>
                <a:latin typeface="Arial MT"/>
                <a:cs typeface="Arial MT"/>
                <a:hlinkClick r:id="rId4"/>
              </a:rPr>
              <a:t>Free-</a:t>
            </a:r>
            <a:r>
              <a:rPr sz="1800" spc="-10" dirty="0">
                <a:solidFill>
                  <a:srgbClr val="00688C"/>
                </a:solidFill>
                <a:latin typeface="Arial MT"/>
                <a:cs typeface="Arial MT"/>
              </a:rPr>
              <a:t> </a:t>
            </a:r>
            <a:r>
              <a:rPr sz="1800" u="heavy" spc="-20" dirty="0">
                <a:solidFill>
                  <a:srgbClr val="00688C"/>
                </a:solidFill>
                <a:uFill>
                  <a:solidFill>
                    <a:srgbClr val="00688C"/>
                  </a:solidFill>
                </a:uFill>
                <a:latin typeface="Arial MT"/>
                <a:cs typeface="Arial MT"/>
                <a:hlinkClick r:id="rId4"/>
              </a:rPr>
              <a:t>List</a:t>
            </a:r>
            <a:endParaRPr sz="1800" dirty="0">
              <a:latin typeface="Arial MT"/>
              <a:cs typeface="Arial MT"/>
            </a:endParaRPr>
          </a:p>
          <a:p>
            <a:pPr marL="379095" indent="-366395">
              <a:lnSpc>
                <a:spcPct val="114000"/>
              </a:lnSpc>
              <a:buClr>
                <a:srgbClr val="0F2044"/>
              </a:buClr>
              <a:buChar char="●"/>
              <a:tabLst>
                <a:tab pos="379095" algn="l"/>
              </a:tabLst>
            </a:pPr>
            <a:r>
              <a:rPr sz="1800" u="heavy" spc="-10" dirty="0">
                <a:solidFill>
                  <a:srgbClr val="00688C"/>
                </a:solidFill>
                <a:uFill>
                  <a:solidFill>
                    <a:srgbClr val="00688C"/>
                  </a:solidFill>
                </a:uFill>
                <a:latin typeface="Arial MT"/>
                <a:cs typeface="Arial MT"/>
                <a:hlinkClick r:id="rId5"/>
              </a:rPr>
              <a:t>https://www2.lawrence.edu/fast/GREGGJ/CMSC480/malloc</a:t>
            </a:r>
            <a:endParaRPr sz="1800" dirty="0">
              <a:latin typeface="Arial MT"/>
              <a:cs typeface="Arial MT"/>
            </a:endParaRPr>
          </a:p>
          <a:p>
            <a:pPr marL="379095">
              <a:lnSpc>
                <a:spcPct val="114000"/>
              </a:lnSpc>
            </a:pPr>
            <a:r>
              <a:rPr sz="1800" u="heavy" spc="-10" dirty="0">
                <a:solidFill>
                  <a:srgbClr val="00688C"/>
                </a:solidFill>
                <a:uFill>
                  <a:solidFill>
                    <a:srgbClr val="00688C"/>
                  </a:solidFill>
                </a:uFill>
                <a:latin typeface="Arial MT"/>
                <a:cs typeface="Arial MT"/>
                <a:hlinkClick r:id="rId5"/>
              </a:rPr>
              <a:t>/malloc.html</a:t>
            </a:r>
            <a:endParaRPr sz="1800" dirty="0">
              <a:latin typeface="Arial MT"/>
              <a:cs typeface="Arial MT"/>
            </a:endParaRPr>
          </a:p>
          <a:p>
            <a:pPr>
              <a:lnSpc>
                <a:spcPct val="114000"/>
              </a:lnSpc>
              <a:spcBef>
                <a:spcPts val="180"/>
              </a:spcBef>
            </a:pPr>
            <a:endParaRPr sz="1800" dirty="0">
              <a:latin typeface="Arial MT"/>
              <a:cs typeface="Arial MT"/>
            </a:endParaRPr>
          </a:p>
          <a:p>
            <a:pPr marL="379095" marR="914400" indent="-367030">
              <a:lnSpc>
                <a:spcPct val="114000"/>
              </a:lnSpc>
              <a:spcAft>
                <a:spcPts val="600"/>
              </a:spcAft>
              <a:buClr>
                <a:srgbClr val="000000"/>
              </a:buClr>
              <a:buChar char="●"/>
              <a:tabLst>
                <a:tab pos="379095" algn="l"/>
              </a:tabLst>
            </a:pPr>
            <a:r>
              <a:rPr sz="1800" dirty="0">
                <a:solidFill>
                  <a:srgbClr val="0F2044"/>
                </a:solidFill>
                <a:latin typeface="Arial MT"/>
                <a:cs typeface="Arial MT"/>
              </a:rPr>
              <a:t>Prof.</a:t>
            </a:r>
            <a:r>
              <a:rPr sz="1800" spc="-20" dirty="0">
                <a:solidFill>
                  <a:srgbClr val="0F2044"/>
                </a:solidFill>
                <a:latin typeface="Arial MT"/>
                <a:cs typeface="Arial MT"/>
              </a:rPr>
              <a:t> </a:t>
            </a:r>
            <a:r>
              <a:rPr sz="1800" dirty="0">
                <a:solidFill>
                  <a:srgbClr val="0F2044"/>
                </a:solidFill>
                <a:latin typeface="Arial MT"/>
                <a:cs typeface="Arial MT"/>
              </a:rPr>
              <a:t>Luis</a:t>
            </a:r>
            <a:r>
              <a:rPr sz="1800" spc="-15" dirty="0">
                <a:solidFill>
                  <a:srgbClr val="0F2044"/>
                </a:solidFill>
                <a:latin typeface="Arial MT"/>
                <a:cs typeface="Arial MT"/>
              </a:rPr>
              <a:t> </a:t>
            </a:r>
            <a:r>
              <a:rPr sz="1800" dirty="0">
                <a:solidFill>
                  <a:srgbClr val="0F2044"/>
                </a:solidFill>
                <a:latin typeface="Arial MT"/>
                <a:cs typeface="Arial MT"/>
              </a:rPr>
              <a:t>Ceze</a:t>
            </a:r>
            <a:r>
              <a:rPr sz="1800" spc="-20" dirty="0">
                <a:solidFill>
                  <a:srgbClr val="0F2044"/>
                </a:solidFill>
                <a:latin typeface="Arial MT"/>
                <a:cs typeface="Arial MT"/>
              </a:rPr>
              <a:t> </a:t>
            </a:r>
            <a:r>
              <a:rPr sz="1800" dirty="0">
                <a:solidFill>
                  <a:srgbClr val="0F2044"/>
                </a:solidFill>
                <a:latin typeface="Arial MT"/>
                <a:cs typeface="Arial MT"/>
              </a:rPr>
              <a:t>Part</a:t>
            </a:r>
            <a:r>
              <a:rPr sz="1800" spc="-15" dirty="0">
                <a:solidFill>
                  <a:srgbClr val="0F2044"/>
                </a:solidFill>
                <a:latin typeface="Arial MT"/>
                <a:cs typeface="Arial MT"/>
              </a:rPr>
              <a:t> </a:t>
            </a:r>
            <a:r>
              <a:rPr sz="1800" spc="-25" dirty="0">
                <a:solidFill>
                  <a:srgbClr val="0F2044"/>
                </a:solidFill>
                <a:latin typeface="Arial MT"/>
                <a:cs typeface="Arial MT"/>
              </a:rPr>
              <a:t>1: </a:t>
            </a:r>
            <a:r>
              <a:rPr sz="1800" u="heavy" spc="-10" dirty="0">
                <a:solidFill>
                  <a:srgbClr val="00688C"/>
                </a:solidFill>
                <a:uFill>
                  <a:solidFill>
                    <a:srgbClr val="00688C"/>
                  </a:solidFill>
                </a:uFill>
                <a:latin typeface="Arial MT"/>
                <a:cs typeface="Arial MT"/>
                <a:hlinkClick r:id="rId6"/>
              </a:rPr>
              <a:t>https://www.youtube.com/watch?v=74s0m4YoHgM</a:t>
            </a:r>
            <a:endParaRPr sz="1800" dirty="0">
              <a:latin typeface="Arial MT"/>
              <a:cs typeface="Arial MT"/>
            </a:endParaRPr>
          </a:p>
          <a:p>
            <a:pPr marL="379095" marR="1174115" indent="-367030">
              <a:lnSpc>
                <a:spcPct val="114000"/>
              </a:lnSpc>
              <a:spcAft>
                <a:spcPts val="600"/>
              </a:spcAft>
              <a:buClr>
                <a:srgbClr val="000000"/>
              </a:buClr>
              <a:buChar char="●"/>
              <a:tabLst>
                <a:tab pos="379095" algn="l"/>
              </a:tabLst>
            </a:pPr>
            <a:r>
              <a:rPr sz="1800" dirty="0">
                <a:solidFill>
                  <a:srgbClr val="0F2044"/>
                </a:solidFill>
                <a:latin typeface="Arial MT"/>
                <a:cs typeface="Arial MT"/>
              </a:rPr>
              <a:t>Prof.</a:t>
            </a:r>
            <a:r>
              <a:rPr sz="1800" spc="-20" dirty="0">
                <a:solidFill>
                  <a:srgbClr val="0F2044"/>
                </a:solidFill>
                <a:latin typeface="Arial MT"/>
                <a:cs typeface="Arial MT"/>
              </a:rPr>
              <a:t> </a:t>
            </a:r>
            <a:r>
              <a:rPr sz="1800" dirty="0">
                <a:solidFill>
                  <a:srgbClr val="0F2044"/>
                </a:solidFill>
                <a:latin typeface="Arial MT"/>
                <a:cs typeface="Arial MT"/>
              </a:rPr>
              <a:t>Luis</a:t>
            </a:r>
            <a:r>
              <a:rPr sz="1800" spc="-15" dirty="0">
                <a:solidFill>
                  <a:srgbClr val="0F2044"/>
                </a:solidFill>
                <a:latin typeface="Arial MT"/>
                <a:cs typeface="Arial MT"/>
              </a:rPr>
              <a:t> </a:t>
            </a:r>
            <a:r>
              <a:rPr sz="1800" dirty="0">
                <a:solidFill>
                  <a:srgbClr val="0F2044"/>
                </a:solidFill>
                <a:latin typeface="Arial MT"/>
                <a:cs typeface="Arial MT"/>
              </a:rPr>
              <a:t>Ceze</a:t>
            </a:r>
            <a:r>
              <a:rPr sz="1800" spc="-20" dirty="0">
                <a:solidFill>
                  <a:srgbClr val="0F2044"/>
                </a:solidFill>
                <a:latin typeface="Arial MT"/>
                <a:cs typeface="Arial MT"/>
              </a:rPr>
              <a:t> </a:t>
            </a:r>
            <a:r>
              <a:rPr sz="1800" dirty="0">
                <a:solidFill>
                  <a:srgbClr val="0F2044"/>
                </a:solidFill>
                <a:latin typeface="Arial MT"/>
                <a:cs typeface="Arial MT"/>
              </a:rPr>
              <a:t>Part</a:t>
            </a:r>
            <a:r>
              <a:rPr sz="1800" spc="-15" dirty="0">
                <a:solidFill>
                  <a:srgbClr val="0F2044"/>
                </a:solidFill>
                <a:latin typeface="Arial MT"/>
                <a:cs typeface="Arial MT"/>
              </a:rPr>
              <a:t> </a:t>
            </a:r>
            <a:r>
              <a:rPr sz="1800" spc="-25" dirty="0">
                <a:solidFill>
                  <a:srgbClr val="0F2044"/>
                </a:solidFill>
                <a:latin typeface="Arial MT"/>
                <a:cs typeface="Arial MT"/>
              </a:rPr>
              <a:t>2: </a:t>
            </a:r>
            <a:r>
              <a:rPr sz="1800" u="heavy" spc="-10" dirty="0">
                <a:solidFill>
                  <a:srgbClr val="00688C"/>
                </a:solidFill>
                <a:uFill>
                  <a:solidFill>
                    <a:srgbClr val="00688C"/>
                  </a:solidFill>
                </a:uFill>
                <a:latin typeface="Arial MT"/>
                <a:cs typeface="Arial MT"/>
                <a:hlinkClick r:id="rId7"/>
              </a:rPr>
              <a:t>https://www.youtube.com/watch?v=rhLk2lf6QXA</a:t>
            </a:r>
            <a:endParaRPr sz="1800" dirty="0">
              <a:latin typeface="Arial MT"/>
              <a:cs typeface="Arial MT"/>
            </a:endParaRPr>
          </a:p>
          <a:p>
            <a:pPr marL="379095" marR="1445895" indent="-367030">
              <a:lnSpc>
                <a:spcPct val="114000"/>
              </a:lnSpc>
              <a:buChar char="●"/>
              <a:tabLst>
                <a:tab pos="379095" algn="l"/>
              </a:tabLst>
            </a:pPr>
            <a:r>
              <a:rPr sz="1800" dirty="0">
                <a:solidFill>
                  <a:srgbClr val="0F2044"/>
                </a:solidFill>
                <a:latin typeface="Arial MT"/>
                <a:cs typeface="Arial MT"/>
              </a:rPr>
              <a:t>Prof.</a:t>
            </a:r>
            <a:r>
              <a:rPr sz="1800" spc="-15" dirty="0">
                <a:solidFill>
                  <a:srgbClr val="0F2044"/>
                </a:solidFill>
                <a:latin typeface="Arial MT"/>
                <a:cs typeface="Arial MT"/>
              </a:rPr>
              <a:t> </a:t>
            </a:r>
            <a:r>
              <a:rPr sz="1800" dirty="0">
                <a:solidFill>
                  <a:srgbClr val="0F2044"/>
                </a:solidFill>
                <a:latin typeface="Arial MT"/>
                <a:cs typeface="Arial MT"/>
              </a:rPr>
              <a:t>Chris</a:t>
            </a:r>
            <a:r>
              <a:rPr sz="1800" spc="-15" dirty="0">
                <a:solidFill>
                  <a:srgbClr val="0F2044"/>
                </a:solidFill>
                <a:latin typeface="Arial MT"/>
                <a:cs typeface="Arial MT"/>
              </a:rPr>
              <a:t> </a:t>
            </a:r>
            <a:r>
              <a:rPr sz="1800" spc="-10" dirty="0">
                <a:solidFill>
                  <a:srgbClr val="0F2044"/>
                </a:solidFill>
                <a:latin typeface="Arial MT"/>
                <a:cs typeface="Arial MT"/>
              </a:rPr>
              <a:t>Kanich: </a:t>
            </a:r>
            <a:r>
              <a:rPr sz="1800" u="heavy" spc="-10" dirty="0">
                <a:solidFill>
                  <a:srgbClr val="00688C"/>
                </a:solidFill>
                <a:uFill>
                  <a:solidFill>
                    <a:srgbClr val="00688C"/>
                  </a:solidFill>
                </a:uFill>
                <a:latin typeface="Arial MT"/>
                <a:cs typeface="Arial MT"/>
                <a:hlinkClick r:id="rId8"/>
              </a:rPr>
              <a:t>https://youtu.be/UTii4dyhR5c?feature=shared</a:t>
            </a:r>
            <a:endParaRPr sz="1800" dirty="0">
              <a:latin typeface="Arial MT"/>
              <a:cs typeface="Arial MT"/>
            </a:endParaRPr>
          </a:p>
        </p:txBody>
      </p:sp>
      <p:pic>
        <p:nvPicPr>
          <p:cNvPr id="4" name="object 4">
            <a:extLst>
              <a:ext uri="{C183D7F6-B498-43B3-948B-1728B52AA6E4}">
                <adec:decorative xmlns:adec="http://schemas.microsoft.com/office/drawing/2017/decorative" val="1"/>
              </a:ext>
            </a:extLst>
          </p:cNvPr>
          <p:cNvPicPr/>
          <p:nvPr/>
        </p:nvPicPr>
        <p:blipFill>
          <a:blip r:embed="rId9" cstate="print"/>
          <a:stretch>
            <a:fillRect/>
          </a:stretch>
        </p:blipFill>
        <p:spPr>
          <a:xfrm>
            <a:off x="7295917" y="2126741"/>
            <a:ext cx="4622567" cy="436108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688C"/>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a2761ec8-7198-4440-bea0-e9dd2af28b51}" enabled="1" method="Standard" siteId="{73e15cf5-5dbb-46af-a862-753916269d73}" contentBits="0" removed="0"/>
</clbl:labelList>
</file>

<file path=docProps/app.xml><?xml version="1.0" encoding="utf-8"?>
<Properties xmlns="http://schemas.openxmlformats.org/officeDocument/2006/extended-properties" xmlns:vt="http://schemas.openxmlformats.org/officeDocument/2006/docPropsVTypes">
  <Template/>
  <TotalTime>200</TotalTime>
  <Words>3026</Words>
  <Application>Microsoft Office PowerPoint</Application>
  <PresentationFormat>Widescreen</PresentationFormat>
  <Paragraphs>357</Paragraphs>
  <Slides>33</Slides>
  <Notes>27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Aptos</vt:lpstr>
      <vt:lpstr>Arial</vt:lpstr>
      <vt:lpstr>Arial MT</vt:lpstr>
      <vt:lpstr>Georgia</vt:lpstr>
      <vt:lpstr>Office Theme</vt:lpstr>
      <vt:lpstr>CSC 362: System Programming</vt:lpstr>
      <vt:lpstr>Status Check</vt:lpstr>
      <vt:lpstr>Difficult Questions</vt:lpstr>
      <vt:lpstr>Freeing memory blocks</vt:lpstr>
      <vt:lpstr>Freeing memory blocks</vt:lpstr>
      <vt:lpstr>Keeping Track of Free Blocks</vt:lpstr>
      <vt:lpstr>Implicit Free List</vt:lpstr>
      <vt:lpstr>Implicit Free List</vt:lpstr>
      <vt:lpstr>Implicit Free List</vt:lpstr>
      <vt:lpstr>PowerPoint Presentation</vt:lpstr>
      <vt:lpstr>Implicit Free List</vt:lpstr>
      <vt:lpstr>Implicit Free List</vt:lpstr>
      <vt:lpstr>Implicit Free List</vt:lpstr>
      <vt:lpstr>Implicit Free List</vt:lpstr>
      <vt:lpstr>Implicit Free List</vt:lpstr>
      <vt:lpstr>Immediate vs Deferred Coalescing</vt:lpstr>
      <vt:lpstr>Implicit Free List</vt:lpstr>
      <vt:lpstr>Implicit Free List: Coalescing</vt:lpstr>
      <vt:lpstr>Implicit Free List: Bidirectional Coalescing</vt:lpstr>
      <vt:lpstr>Implicit Free List: Bidirectional Coalescing</vt:lpstr>
      <vt:lpstr>Implicit Free List: Bidirectional Coalescing</vt:lpstr>
      <vt:lpstr>Explicit Free List</vt:lpstr>
      <vt:lpstr>Explicit Free List</vt:lpstr>
      <vt:lpstr>Explicit Free List</vt:lpstr>
      <vt:lpstr>Explicit Free List</vt:lpstr>
      <vt:lpstr>Case 1: No Coalescing Needed</vt:lpstr>
      <vt:lpstr>Case 1: No Coalescing Needed</vt:lpstr>
      <vt:lpstr>Case 2: Coalescing With The Previous Block</vt:lpstr>
      <vt:lpstr>Case 2: Coalescing With The Previous Block</vt:lpstr>
      <vt:lpstr>Case 3: Coalescing With The Next Block</vt:lpstr>
      <vt:lpstr>Case 4: Coalescing With Both Adjacent Blocks</vt:lpstr>
      <vt:lpstr>Case 4: Coalescing With Both Adjacent Blocks</vt:lpstr>
      <vt:lpstr>Important Readings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CSC362 - Lecture 16.pptx</dc:title>
  <cp:lastModifiedBy>Richard Johnson</cp:lastModifiedBy>
  <cp:revision>170</cp:revision>
  <dcterms:created xsi:type="dcterms:W3CDTF">2026-01-14T01:00:51Z</dcterms:created>
  <dcterms:modified xsi:type="dcterms:W3CDTF">2026-03-25T01:06:10Z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2026-01-14T00:00:00Z</vt:filetime>
  </property>
  <property fmtid="{D5CDD505-2E9C-101B-9397-08002B2CF9AE}" pid="3" name="Creator">
    <vt:lpwstr>Google</vt:lpwstr>
  </property>
  <property fmtid="{D5CDD505-2E9C-101B-9397-08002B2CF9AE}" pid="4" name="LastSaved">
    <vt:filetime>2026-01-14T00:00:00Z</vt:filetime>
  </property>
</Properties>
</file>