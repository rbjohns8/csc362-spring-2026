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media/image3.jpg" ContentType="image/jp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media/image7.jpg" ContentType="image/jpg"/>
  <Override PartName="/ppt/media/image8.jpg" ContentType="image/jpg"/>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media/image14.jpg" ContentType="image/jpg"/>
  <Override PartName="/ppt/notesSlides/notesSlide34.xml" ContentType="application/vnd.openxmlformats-officedocument.presentationml.notesSlide+xml"/>
  <Override PartName="/ppt/media/image15.jpg" ContentType="image/jpg"/>
  <Override PartName="/ppt/notesSlides/notesSlide35.xml" ContentType="application/vnd.openxmlformats-officedocument.presentationml.notesSlide+xml"/>
  <Override PartName="/ppt/media/image16.jpg" ContentType="image/jpg"/>
  <Override PartName="/ppt/notesSlides/notesSlide36.xml" ContentType="application/vnd.openxmlformats-officedocument.presentationml.notesSlide+xml"/>
  <Override PartName="/ppt/media/image17.jpg" ContentType="image/jpg"/>
  <Override PartName="/ppt/media/image18.jpg" ContentType="image/jpg"/>
  <Override PartName="/ppt/notesSlides/notesSlide37.xml" ContentType="application/vnd.openxmlformats-officedocument.presentationml.notesSlide+xml"/>
  <Override PartName="/ppt/media/image19.jpg" ContentType="image/jpg"/>
  <Override PartName="/ppt/notesSlides/notesSlide38.xml" ContentType="application/vnd.openxmlformats-officedocument.presentationml.notesSlide+xml"/>
  <Override PartName="/ppt/media/image21.jpg" ContentType="image/jpg"/>
  <Override PartName="/ppt/notesSlides/notesSlide39.xml" ContentType="application/vnd.openxmlformats-officedocument.presentationml.notesSlide+xml"/>
  <Override PartName="/ppt/media/image22.jpg" ContentType="image/jpg"/>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2"/>
  </p:sldMasterIdLst>
  <p:notesMasterIdLst>
    <p:notesMasterId r:id="rId55"/>
  </p:notesMasterIdLst>
  <p:sldIdLst>
    <p:sldId id="256" r:id="rId3"/>
    <p:sldId id="257" r:id="rId4"/>
    <p:sldId id="309" r:id="rId5"/>
    <p:sldId id="258" r:id="rId6"/>
    <p:sldId id="259" r:id="rId7"/>
    <p:sldId id="260" r:id="rId8"/>
    <p:sldId id="261" r:id="rId9"/>
    <p:sldId id="262" r:id="rId10"/>
    <p:sldId id="263" r:id="rId11"/>
    <p:sldId id="264" r:id="rId12"/>
    <p:sldId id="265" r:id="rId13"/>
    <p:sldId id="266" r:id="rId14"/>
    <p:sldId id="267" r:id="rId15"/>
    <p:sldId id="269" r:id="rId16"/>
    <p:sldId id="310"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2" r:id="rId39"/>
    <p:sldId id="293" r:id="rId40"/>
    <p:sldId id="294" r:id="rId41"/>
    <p:sldId id="295"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226" autoAdjust="0"/>
  </p:normalViewPr>
  <p:slideViewPr>
    <p:cSldViewPr>
      <p:cViewPr varScale="1">
        <p:scale>
          <a:sx n="69" d="100"/>
          <a:sy n="69" d="100"/>
        </p:scale>
        <p:origin x="1128"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theme" Target="theme/theme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6494EC21-2836-46E2-AA6F-633F89F398AD}" type="datetimeFigureOut">
              <a:rPr lang="en-US" smtClean="0"/>
              <a:t>3/31/2026</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8BEFC885-2960-4CAD-A427-B1B4CB503A38}" type="slidenum">
              <a:rPr lang="en-US" smtClean="0"/>
              <a:t>‹#›</a:t>
            </a:fld>
            <a:endParaRPr lang="en-US"/>
          </a:p>
        </p:txBody>
      </p:sp>
    </p:spTree>
    <p:extLst>
      <p:ext uri="{BB962C8B-B14F-4D97-AF65-F5344CB8AC3E}">
        <p14:creationId xmlns:p14="http://schemas.microsoft.com/office/powerpoint/2010/main" val="38020176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2ba76f29f3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8" name="Google Shape;98;g2ba76f29f3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2bc5d9c6186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g2bc5d9c6186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2bc5d9c6186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g2bc5d9c6186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2bc5d9c6186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g2bc5d9c6186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2bc5d9c6186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g2bc5d9c6186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2bc5d9c6186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g2bc5d9c6186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2bc5d9c6186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g2bc5d9c6186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2bc5d9c6186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66" name="Google Shape;166;g2bc5d9c6186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2bc5d9c6186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Race Condition Illustration</a:t>
            </a:r>
            <a:r>
              <a:rPr lang="en-US" sz="120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 sequence of diagrams showing two programs attempting to increment a shared resource (value 2).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Both calculate a new value of 3 simultaneously, resulting in a final value of 3 instead of the intended 4.</a:t>
            </a:r>
            <a:endParaRPr lang="en-US" dirty="0"/>
          </a:p>
          <a:p>
            <a:pPr marL="0" lvl="0" indent="0" algn="l" rtl="0">
              <a:spcBef>
                <a:spcPts val="0"/>
              </a:spcBef>
              <a:spcAft>
                <a:spcPts val="0"/>
              </a:spcAft>
              <a:buNone/>
            </a:pPr>
            <a:endParaRPr dirty="0"/>
          </a:p>
        </p:txBody>
      </p:sp>
      <p:sp>
        <p:nvSpPr>
          <p:cNvPr id="179" name="Google Shape;179;g2bc5d9c6186_0_8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2bc5d9c6186_0_4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Figure:</a:t>
            </a:r>
          </a:p>
          <a:p>
            <a:pPr marL="0" lvl="0" indent="0" algn="l" rtl="0">
              <a:spcBef>
                <a:spcPts val="0"/>
              </a:spcBef>
              <a:spcAft>
                <a:spcPts val="0"/>
              </a:spcAft>
              <a:buNone/>
            </a:pPr>
            <a:r>
              <a:rPr lang="en-US" dirty="0"/>
              <a:t>A diagram illustrating a </a:t>
            </a:r>
            <a:r>
              <a:rPr lang="en-US" b="1" dirty="0"/>
              <a:t>race condition</a:t>
            </a:r>
            <a:r>
              <a:rPr lang="en-US" dirty="0"/>
              <a:t> in a banking context. </a:t>
            </a:r>
          </a:p>
          <a:p>
            <a:pPr marL="0" lvl="0" indent="0" algn="l" rtl="0">
              <a:spcBef>
                <a:spcPts val="0"/>
              </a:spcBef>
              <a:spcAft>
                <a:spcPts val="0"/>
              </a:spcAft>
              <a:buNone/>
            </a:pPr>
            <a:r>
              <a:rPr lang="en-US" dirty="0"/>
              <a:t>Two people (Person A and Person B) simultaneously </a:t>
            </a:r>
          </a:p>
          <a:p>
            <a:pPr marL="171450" lvl="0" indent="-171450" algn="l" rtl="0">
              <a:spcBef>
                <a:spcPts val="0"/>
              </a:spcBef>
              <a:spcAft>
                <a:spcPts val="0"/>
              </a:spcAft>
              <a:buFont typeface="Arial" panose="020B0604020202020204" pitchFamily="34" charset="0"/>
              <a:buChar char="•"/>
            </a:pPr>
            <a:r>
              <a:rPr lang="en-US" dirty="0"/>
              <a:t>read a balance of 17, </a:t>
            </a:r>
          </a:p>
          <a:p>
            <a:pPr marL="171450" lvl="0" indent="-171450" algn="l" rtl="0">
              <a:spcBef>
                <a:spcPts val="0"/>
              </a:spcBef>
              <a:spcAft>
                <a:spcPts val="0"/>
              </a:spcAft>
              <a:buFont typeface="Arial" panose="020B0604020202020204" pitchFamily="34" charset="0"/>
              <a:buChar char="•"/>
            </a:pPr>
            <a:r>
              <a:rPr lang="en-US" dirty="0"/>
              <a:t>increment it to 18, </a:t>
            </a:r>
          </a:p>
          <a:p>
            <a:pPr marL="171450" lvl="0" indent="-171450" algn="l" rtl="0">
              <a:spcBef>
                <a:spcPts val="0"/>
              </a:spcBef>
              <a:spcAft>
                <a:spcPts val="0"/>
              </a:spcAft>
              <a:buFont typeface="Arial" panose="020B0604020202020204" pitchFamily="34" charset="0"/>
              <a:buChar char="•"/>
            </a:pPr>
            <a:r>
              <a:rPr lang="en-US" dirty="0"/>
              <a:t>and write it back, </a:t>
            </a:r>
          </a:p>
          <a:p>
            <a:pPr marL="0" lvl="0" indent="0" algn="l" rtl="0">
              <a:spcBef>
                <a:spcPts val="0"/>
              </a:spcBef>
              <a:spcAft>
                <a:spcPts val="0"/>
              </a:spcAft>
              <a:buNone/>
            </a:pPr>
            <a:r>
              <a:rPr lang="en-US" dirty="0"/>
              <a:t>causing one update to be lost and resulting in an incorrect final balance of 18 instead of 19.</a:t>
            </a:r>
          </a:p>
          <a:p>
            <a:pPr marL="0" lvl="0" indent="0" algn="l" rtl="0">
              <a:spcBef>
                <a:spcPts val="0"/>
              </a:spcBef>
              <a:spcAft>
                <a:spcPts val="0"/>
              </a:spcAft>
              <a:buNone/>
            </a:pPr>
            <a:endParaRPr dirty="0"/>
          </a:p>
        </p:txBody>
      </p:sp>
      <p:sp>
        <p:nvSpPr>
          <p:cNvPr id="186" name="Google Shape;186;g2bc5d9c6186_0_4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bc5d9c6186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4" name="Google Shape;194;g2bc5d9c6186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2bc5d9c6186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Turn Indicator Strategy</a:t>
            </a:r>
            <a:r>
              <a:rPr lang="en-US" dirty="0"/>
              <a:t>: </a:t>
            </a:r>
          </a:p>
          <a:p>
            <a:pPr marL="0" lvl="0" indent="0" algn="l" rtl="0">
              <a:spcBef>
                <a:spcPts val="0"/>
              </a:spcBef>
              <a:spcAft>
                <a:spcPts val="0"/>
              </a:spcAft>
              <a:buNone/>
            </a:pPr>
            <a:r>
              <a:rPr lang="en-US" dirty="0"/>
              <a:t>A diagram where a "turn indicator" points to one program, </a:t>
            </a:r>
          </a:p>
          <a:p>
            <a:pPr marL="0" lvl="0" indent="0" algn="l" rtl="0">
              <a:spcBef>
                <a:spcPts val="0"/>
              </a:spcBef>
              <a:spcAft>
                <a:spcPts val="0"/>
              </a:spcAft>
              <a:buNone/>
            </a:pPr>
            <a:r>
              <a:rPr lang="en-US" dirty="0"/>
              <a:t>allowing only that specific program to enter the critical section to update the value from 3 to 4.</a:t>
            </a:r>
          </a:p>
          <a:p>
            <a:pPr marL="0" lvl="0" indent="0" algn="l" rtl="0">
              <a:spcBef>
                <a:spcPts val="0"/>
              </a:spcBef>
              <a:spcAft>
                <a:spcPts val="0"/>
              </a:spcAft>
              <a:buNone/>
            </a:pPr>
            <a:endParaRPr dirty="0"/>
          </a:p>
        </p:txBody>
      </p:sp>
      <p:sp>
        <p:nvSpPr>
          <p:cNvPr id="213" name="Google Shape;213;g2bc5d9c6186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2bc5d9c6186_0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g2bc5d9c6186_0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bc5d9c6186_0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8" name="Google Shape;238;g2bc5d9c6186_0_1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2bc5d9c6186_0_1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2" name="Google Shape;252;g2bc5d9c6186_0_1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2bc5d9c6186_0_1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4" name="Google Shape;264;g2bc5d9c6186_0_1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2bc5d9c6186_0_1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7" name="Google Shape;277;g2bc5d9c6186_0_1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2bc5d9c6186_0_1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1" name="Google Shape;291;g2bc5d9c6186_0_1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2bc5d9c6186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Turn Indicator Conflict</a:t>
            </a:r>
            <a:r>
              <a:rPr lang="en-US" dirty="0"/>
              <a:t>: </a:t>
            </a:r>
          </a:p>
          <a:p>
            <a:pPr marL="0" lvl="0" indent="0" algn="l" rtl="0">
              <a:spcBef>
                <a:spcPts val="0"/>
              </a:spcBef>
              <a:spcAft>
                <a:spcPts val="0"/>
              </a:spcAft>
              <a:buNone/>
            </a:pPr>
            <a:r>
              <a:rPr lang="en-US" dirty="0"/>
              <a:t>One program is shown waiting outside the critical section with the caption: </a:t>
            </a:r>
          </a:p>
          <a:p>
            <a:pPr marL="0" lvl="0" indent="0" algn="l" rtl="0">
              <a:spcBef>
                <a:spcPts val="0"/>
              </a:spcBef>
              <a:spcAft>
                <a:spcPts val="0"/>
              </a:spcAft>
              <a:buNone/>
            </a:pPr>
            <a:r>
              <a:rPr lang="en-US" dirty="0"/>
              <a:t>"It’s not my turn so have to wait!" </a:t>
            </a:r>
          </a:p>
          <a:p>
            <a:pPr marL="0" lvl="0" indent="0" algn="l" rtl="0">
              <a:spcBef>
                <a:spcPts val="0"/>
              </a:spcBef>
              <a:spcAft>
                <a:spcPts val="0"/>
              </a:spcAft>
              <a:buNone/>
            </a:pPr>
            <a:r>
              <a:rPr lang="en-US" dirty="0"/>
              <a:t>despite the other program not currently using the resource.</a:t>
            </a:r>
          </a:p>
          <a:p>
            <a:pPr marL="0" lvl="0" indent="0" algn="l" rtl="0">
              <a:spcBef>
                <a:spcPts val="0"/>
              </a:spcBef>
              <a:spcAft>
                <a:spcPts val="0"/>
              </a:spcAft>
              <a:buNone/>
            </a:pPr>
            <a:endParaRPr dirty="0"/>
          </a:p>
        </p:txBody>
      </p:sp>
      <p:sp>
        <p:nvSpPr>
          <p:cNvPr id="303" name="Google Shape;303;g2bc5d9c6186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2bc5d9c6186_0_2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Signal Light Intent</a:t>
            </a:r>
            <a:r>
              <a:rPr lang="en-US" dirty="0"/>
              <a:t>: </a:t>
            </a:r>
          </a:p>
          <a:p>
            <a:pPr marL="0" lvl="0" indent="0" algn="l" rtl="0">
              <a:spcBef>
                <a:spcPts val="0"/>
              </a:spcBef>
              <a:spcAft>
                <a:spcPts val="0"/>
              </a:spcAft>
              <a:buNone/>
            </a:pPr>
            <a:r>
              <a:rPr lang="en-US" dirty="0"/>
              <a:t>A diagram shows a shared critical section with a value of 5. </a:t>
            </a:r>
          </a:p>
          <a:p>
            <a:pPr marL="0" lvl="0" indent="0" algn="l" rtl="0">
              <a:spcBef>
                <a:spcPts val="0"/>
              </a:spcBef>
              <a:spcAft>
                <a:spcPts val="0"/>
              </a:spcAft>
              <a:buNone/>
            </a:pPr>
            <a:r>
              <a:rPr lang="en-US" dirty="0"/>
              <a:t>Two programs each have a "signal light" toggled on, displaying the text "Planning to enter“</a:t>
            </a:r>
          </a:p>
          <a:p>
            <a:pPr marL="0" lvl="0" indent="0" algn="l" rtl="0">
              <a:spcBef>
                <a:spcPts val="0"/>
              </a:spcBef>
              <a:spcAft>
                <a:spcPts val="0"/>
              </a:spcAft>
              <a:buNone/>
            </a:pPr>
            <a:endParaRPr dirty="0"/>
          </a:p>
        </p:txBody>
      </p:sp>
      <p:sp>
        <p:nvSpPr>
          <p:cNvPr id="316" name="Google Shape;316;g2bc5d9c6186_0_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2bc5d9c6186_0_2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29" name="Google Shape;329;g2bc5d9c6186_0_2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2bc5d9c6186_0_2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Initial Conflict</a:t>
            </a:r>
            <a:r>
              <a:rPr lang="en-US" sz="120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Both programs are shown outside the critical section.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Each program's status reads: "Can’t enter, the other signal light is on".</a:t>
            </a:r>
            <a:endParaRPr lang="en-US" dirty="0"/>
          </a:p>
          <a:p>
            <a:pPr marL="0" lvl="0" indent="0" algn="l" rtl="0">
              <a:spcBef>
                <a:spcPts val="0"/>
              </a:spcBef>
              <a:spcAft>
                <a:spcPts val="0"/>
              </a:spcAft>
              <a:buNone/>
            </a:pPr>
            <a:endParaRPr dirty="0"/>
          </a:p>
        </p:txBody>
      </p:sp>
      <p:sp>
        <p:nvSpPr>
          <p:cNvPr id="343" name="Google Shape;343;g2bc5d9c6186_0_2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2bc5d9c6186_0_2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9" name="Google Shape;359;g2bc5d9c6186_0_2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2bc5d9c6186_0_2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5" name="Google Shape;375;g2bc5d9c6186_0_2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2bc5d9c6186_0_2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0" name="Google Shape;390;g2bc5d9c6186_0_2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2bc5d9c6186_0_3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Deadlock State</a:t>
            </a:r>
            <a:r>
              <a:rPr lang="en-US" dirty="0"/>
              <a:t>: </a:t>
            </a:r>
          </a:p>
          <a:p>
            <a:pPr marL="0" lvl="0" indent="0" algn="l" rtl="0">
              <a:spcBef>
                <a:spcPts val="0"/>
              </a:spcBef>
              <a:spcAft>
                <a:spcPts val="0"/>
              </a:spcAft>
              <a:buNone/>
            </a:pPr>
            <a:r>
              <a:rPr lang="en-US" dirty="0"/>
              <a:t>The central text "DEADLOCK!" appears. </a:t>
            </a:r>
          </a:p>
          <a:p>
            <a:pPr marL="0" lvl="0" indent="0" algn="l" rtl="0">
              <a:spcBef>
                <a:spcPts val="0"/>
              </a:spcBef>
              <a:spcAft>
                <a:spcPts val="0"/>
              </a:spcAft>
              <a:buNone/>
            </a:pPr>
            <a:r>
              <a:rPr lang="en-US" dirty="0"/>
              <a:t>Both programs remain stuck outside the critical section </a:t>
            </a:r>
          </a:p>
          <a:p>
            <a:pPr marL="0" lvl="0" indent="0" algn="l" rtl="0">
              <a:spcBef>
                <a:spcPts val="0"/>
              </a:spcBef>
              <a:spcAft>
                <a:spcPts val="0"/>
              </a:spcAft>
              <a:buNone/>
            </a:pPr>
            <a:r>
              <a:rPr lang="en-US" dirty="0"/>
              <a:t>because they are waiting for the other's signal light to turn off, </a:t>
            </a:r>
          </a:p>
          <a:p>
            <a:pPr marL="0" lvl="0" indent="0" algn="l" rtl="0">
              <a:spcBef>
                <a:spcPts val="0"/>
              </a:spcBef>
              <a:spcAft>
                <a:spcPts val="0"/>
              </a:spcAft>
              <a:buNone/>
            </a:pPr>
            <a:r>
              <a:rPr lang="en-US" dirty="0"/>
              <a:t>which will never happen.</a:t>
            </a:r>
          </a:p>
          <a:p>
            <a:pPr marL="0" lvl="0" indent="0" algn="l" rtl="0">
              <a:spcBef>
                <a:spcPts val="0"/>
              </a:spcBef>
              <a:spcAft>
                <a:spcPts val="0"/>
              </a:spcAft>
              <a:buNone/>
            </a:pPr>
            <a:endParaRPr dirty="0"/>
          </a:p>
        </p:txBody>
      </p:sp>
      <p:sp>
        <p:nvSpPr>
          <p:cNvPr id="406" name="Google Shape;406;g2bc5d9c6186_0_3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g2bc5d9c6186_0_4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3" name="Google Shape;423;g2bc5d9c6186_0_4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2bc5d9c6186_0_3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1" name="Google Shape;431;g2bc5d9c6186_0_3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2bc5d9c6186_0_4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5" name="Google Shape;445;g2bc5d9c6186_0_4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2bc5d9c6186_0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Resolving Deadlock</a:t>
            </a:r>
            <a:r>
              <a:rPr lang="en-US" dirty="0"/>
              <a:t>: </a:t>
            </a:r>
          </a:p>
          <a:p>
            <a:pPr marL="0" lvl="0" indent="0" algn="l" rtl="0">
              <a:spcBef>
                <a:spcPts val="0"/>
              </a:spcBef>
              <a:spcAft>
                <a:spcPts val="0"/>
              </a:spcAft>
              <a:buNone/>
            </a:pPr>
            <a:r>
              <a:rPr lang="en-US" dirty="0"/>
              <a:t>A diagram showing a program checking the turn indicator while its signal is on. </a:t>
            </a:r>
          </a:p>
          <a:p>
            <a:pPr marL="0" lvl="0" indent="0" algn="l" rtl="0">
              <a:spcBef>
                <a:spcPts val="0"/>
              </a:spcBef>
              <a:spcAft>
                <a:spcPts val="0"/>
              </a:spcAft>
              <a:buNone/>
            </a:pPr>
            <a:r>
              <a:rPr lang="en-US" dirty="0"/>
              <a:t>It sees it is not its turn and toggles its signal to "off" to allow the other program to proceed.</a:t>
            </a:r>
          </a:p>
          <a:p>
            <a:pPr marL="0" lvl="0" indent="0" algn="l" rtl="0">
              <a:spcBef>
                <a:spcPts val="0"/>
              </a:spcBef>
              <a:spcAft>
                <a:spcPts val="0"/>
              </a:spcAft>
              <a:buNone/>
            </a:pPr>
            <a:endParaRPr dirty="0"/>
          </a:p>
        </p:txBody>
      </p:sp>
      <p:sp>
        <p:nvSpPr>
          <p:cNvPr id="460" name="Google Shape;460;g2bc5d9c6186_0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g2bc5d9c6186_0_3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6" name="Google Shape;476;g2bc5d9c6186_0_3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g2bc5d9c6186_0_3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3" name="Google Shape;493;g2bc5d9c6186_0_3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g2bc5d9c6186_0_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7" name="Google Shape;507;g2bc5d9c6186_0_3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EFC885-2960-4CAD-A427-B1B4CB503A38}" type="slidenum">
              <a:rPr lang="en-US" smtClean="0"/>
              <a:t>38</a:t>
            </a:fld>
            <a:endParaRPr lang="en-US"/>
          </a:p>
        </p:txBody>
      </p:sp>
    </p:spTree>
    <p:extLst>
      <p:ext uri="{BB962C8B-B14F-4D97-AF65-F5344CB8AC3E}">
        <p14:creationId xmlns:p14="http://schemas.microsoft.com/office/powerpoint/2010/main" val="374824466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See example:</a:t>
            </a:r>
          </a:p>
          <a:p>
            <a:r>
              <a:rPr lang="en-US" dirty="0" err="1"/>
              <a:t>race_condition.c</a:t>
            </a:r>
            <a:endParaRPr lang="en-US" dirty="0"/>
          </a:p>
          <a:p>
            <a:endParaRPr lang="en-US" dirty="0"/>
          </a:p>
        </p:txBody>
      </p:sp>
      <p:sp>
        <p:nvSpPr>
          <p:cNvPr id="4" name="Slide Number Placeholder 3"/>
          <p:cNvSpPr>
            <a:spLocks noGrp="1"/>
          </p:cNvSpPr>
          <p:nvPr>
            <p:ph type="sldNum" sz="quarter" idx="5"/>
          </p:nvPr>
        </p:nvSpPr>
        <p:spPr/>
        <p:txBody>
          <a:bodyPr/>
          <a:lstStyle/>
          <a:p>
            <a:fld id="{8BEFC885-2960-4CAD-A427-B1B4CB503A38}" type="slidenum">
              <a:rPr lang="en-US" smtClean="0"/>
              <a:t>39</a:t>
            </a:fld>
            <a:endParaRPr lang="en-US"/>
          </a:p>
        </p:txBody>
      </p:sp>
    </p:spTree>
    <p:extLst>
      <p:ext uri="{BB962C8B-B14F-4D97-AF65-F5344CB8AC3E}">
        <p14:creationId xmlns:p14="http://schemas.microsoft.com/office/powerpoint/2010/main" val="5266040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See example:</a:t>
            </a:r>
          </a:p>
          <a:p>
            <a:r>
              <a:rPr lang="en-US" dirty="0" err="1"/>
              <a:t>atomic_operation.c</a:t>
            </a:r>
            <a:endParaRPr lang="en-US" dirty="0"/>
          </a:p>
          <a:p>
            <a:endParaRPr lang="en-US" dirty="0"/>
          </a:p>
        </p:txBody>
      </p:sp>
      <p:sp>
        <p:nvSpPr>
          <p:cNvPr id="4" name="Slide Number Placeholder 3"/>
          <p:cNvSpPr>
            <a:spLocks noGrp="1"/>
          </p:cNvSpPr>
          <p:nvPr>
            <p:ph type="sldNum" sz="quarter" idx="5"/>
          </p:nvPr>
        </p:nvSpPr>
        <p:spPr/>
        <p:txBody>
          <a:bodyPr/>
          <a:lstStyle/>
          <a:p>
            <a:fld id="{8BEFC885-2960-4CAD-A427-B1B4CB503A38}" type="slidenum">
              <a:rPr lang="en-US" smtClean="0"/>
              <a:t>41</a:t>
            </a:fld>
            <a:endParaRPr lang="en-US"/>
          </a:p>
        </p:txBody>
      </p:sp>
    </p:spTree>
    <p:extLst>
      <p:ext uri="{BB962C8B-B14F-4D97-AF65-F5344CB8AC3E}">
        <p14:creationId xmlns:p14="http://schemas.microsoft.com/office/powerpoint/2010/main" val="15796258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Figure:</a:t>
            </a:r>
          </a:p>
          <a:p>
            <a:r>
              <a:rPr lang="en-US" dirty="0"/>
              <a:t>A sequence diagram showing interaction between Thread A, Thread B, and a Shared Resource. </a:t>
            </a:r>
          </a:p>
          <a:p>
            <a:r>
              <a:rPr lang="en-US" dirty="0"/>
              <a:t>It illustrates Thread A acquiring a </a:t>
            </a:r>
            <a:r>
              <a:rPr lang="en-US" b="1" dirty="0"/>
              <a:t>Mutex Lock</a:t>
            </a:r>
            <a:r>
              <a:rPr lang="en-US" dirty="0"/>
              <a:t>, causing Thread B's subsequent lock request to result in a </a:t>
            </a:r>
            <a:r>
              <a:rPr lang="en-US" b="1" dirty="0"/>
              <a:t>Mutex Block</a:t>
            </a:r>
            <a:r>
              <a:rPr lang="en-US" dirty="0"/>
              <a:t>. </a:t>
            </a:r>
          </a:p>
          <a:p>
            <a:r>
              <a:rPr lang="en-US" dirty="0"/>
              <a:t>Once Thread A sends a </a:t>
            </a:r>
            <a:r>
              <a:rPr lang="en-US" b="1" dirty="0"/>
              <a:t>Mutex Unlock</a:t>
            </a:r>
            <a:r>
              <a:rPr lang="en-US" dirty="0"/>
              <a:t>, Thread B successfully acquires the lock.</a:t>
            </a:r>
          </a:p>
          <a:p>
            <a:endParaRPr lang="en-US" dirty="0"/>
          </a:p>
        </p:txBody>
      </p:sp>
      <p:sp>
        <p:nvSpPr>
          <p:cNvPr id="4" name="Slide Number Placeholder 3"/>
          <p:cNvSpPr>
            <a:spLocks noGrp="1"/>
          </p:cNvSpPr>
          <p:nvPr>
            <p:ph type="sldNum" sz="quarter" idx="5"/>
          </p:nvPr>
        </p:nvSpPr>
        <p:spPr/>
        <p:txBody>
          <a:bodyPr/>
          <a:lstStyle/>
          <a:p>
            <a:fld id="{8BEFC885-2960-4CAD-A427-B1B4CB503A38}" type="slidenum">
              <a:rPr lang="en-US" smtClean="0"/>
              <a:t>44</a:t>
            </a:fld>
            <a:endParaRPr lang="en-US"/>
          </a:p>
        </p:txBody>
      </p:sp>
    </p:spTree>
    <p:extLst>
      <p:ext uri="{BB962C8B-B14F-4D97-AF65-F5344CB8AC3E}">
        <p14:creationId xmlns:p14="http://schemas.microsoft.com/office/powerpoint/2010/main" val="37767130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See example:</a:t>
            </a:r>
          </a:p>
          <a:p>
            <a:r>
              <a:rPr lang="en-US" dirty="0" err="1"/>
              <a:t>mutex.c</a:t>
            </a:r>
            <a:endParaRPr lang="en-US" dirty="0"/>
          </a:p>
          <a:p>
            <a:endParaRPr lang="en-US" dirty="0"/>
          </a:p>
        </p:txBody>
      </p:sp>
      <p:sp>
        <p:nvSpPr>
          <p:cNvPr id="4" name="Slide Number Placeholder 3"/>
          <p:cNvSpPr>
            <a:spLocks noGrp="1"/>
          </p:cNvSpPr>
          <p:nvPr>
            <p:ph type="sldNum" sz="quarter" idx="5"/>
          </p:nvPr>
        </p:nvSpPr>
        <p:spPr/>
        <p:txBody>
          <a:bodyPr/>
          <a:lstStyle/>
          <a:p>
            <a:fld id="{8BEFC885-2960-4CAD-A427-B1B4CB503A38}" type="slidenum">
              <a:rPr lang="en-US" smtClean="0"/>
              <a:t>45</a:t>
            </a:fld>
            <a:endParaRPr lang="en-US"/>
          </a:p>
        </p:txBody>
      </p:sp>
    </p:spTree>
    <p:extLst>
      <p:ext uri="{BB962C8B-B14F-4D97-AF65-F5344CB8AC3E}">
        <p14:creationId xmlns:p14="http://schemas.microsoft.com/office/powerpoint/2010/main" val="186113071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See example:</a:t>
            </a:r>
          </a:p>
          <a:p>
            <a:r>
              <a:rPr lang="en-US" dirty="0" err="1"/>
              <a:t>thread_safety.c</a:t>
            </a:r>
            <a:endParaRPr lang="en-US" dirty="0"/>
          </a:p>
          <a:p>
            <a:endParaRPr lang="en-US" dirty="0"/>
          </a:p>
        </p:txBody>
      </p:sp>
      <p:sp>
        <p:nvSpPr>
          <p:cNvPr id="4" name="Slide Number Placeholder 3"/>
          <p:cNvSpPr>
            <a:spLocks noGrp="1"/>
          </p:cNvSpPr>
          <p:nvPr>
            <p:ph type="sldNum" sz="quarter" idx="5"/>
          </p:nvPr>
        </p:nvSpPr>
        <p:spPr/>
        <p:txBody>
          <a:bodyPr/>
          <a:lstStyle/>
          <a:p>
            <a:fld id="{8BEFC885-2960-4CAD-A427-B1B4CB503A38}" type="slidenum">
              <a:rPr lang="en-US" smtClean="0"/>
              <a:t>49</a:t>
            </a:fld>
            <a:endParaRPr lang="en-US"/>
          </a:p>
        </p:txBody>
      </p:sp>
    </p:spTree>
    <p:extLst>
      <p:ext uri="{BB962C8B-B14F-4D97-AF65-F5344CB8AC3E}">
        <p14:creationId xmlns:p14="http://schemas.microsoft.com/office/powerpoint/2010/main" val="151165032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EFC885-2960-4CAD-A427-B1B4CB503A38}" type="slidenum">
              <a:rPr lang="en-US" smtClean="0"/>
              <a:t>52</a:t>
            </a:fld>
            <a:endParaRPr lang="en-US"/>
          </a:p>
        </p:txBody>
      </p:sp>
    </p:spTree>
    <p:extLst>
      <p:ext uri="{BB962C8B-B14F-4D97-AF65-F5344CB8AC3E}">
        <p14:creationId xmlns:p14="http://schemas.microsoft.com/office/powerpoint/2010/main" val="323463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500" b="0" i="0">
                <a:solidFill>
                  <a:srgbClr val="0F2044"/>
                </a:solidFill>
                <a:latin typeface="Georgia"/>
                <a:cs typeface="Georgi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300" b="0" i="0">
                <a:solidFill>
                  <a:srgbClr val="0F2044"/>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0" i="0">
                <a:solidFill>
                  <a:srgbClr val="0F2044"/>
                </a:solidFill>
                <a:latin typeface="Georgia"/>
                <a:cs typeface="Georgia"/>
              </a:defRPr>
            </a:lvl1pPr>
          </a:lstStyle>
          <a:p>
            <a:endParaRPr/>
          </a:p>
        </p:txBody>
      </p:sp>
      <p:sp>
        <p:nvSpPr>
          <p:cNvPr id="3" name="Holder 3"/>
          <p:cNvSpPr>
            <a:spLocks noGrp="1"/>
          </p:cNvSpPr>
          <p:nvPr>
            <p:ph type="body" idx="1"/>
          </p:nvPr>
        </p:nvSpPr>
        <p:spPr/>
        <p:txBody>
          <a:bodyPr lIns="0" tIns="0" rIns="0" bIns="0"/>
          <a:lstStyle>
            <a:lvl1pPr>
              <a:defRPr sz="2300" b="0" i="0">
                <a:solidFill>
                  <a:srgbClr val="0F2044"/>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0" i="0">
                <a:solidFill>
                  <a:srgbClr val="0F2044"/>
                </a:solidFill>
                <a:latin typeface="Georgia"/>
                <a:cs typeface="Georgi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3/31/2026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0" i="0">
                <a:solidFill>
                  <a:srgbClr val="0F2044"/>
                </a:solidFill>
                <a:latin typeface="Georgia"/>
                <a:cs typeface="Georg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3/31/2026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3/31/2026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20"/>
        <p:cNvGrpSpPr/>
        <p:nvPr/>
      </p:nvGrpSpPr>
      <p:grpSpPr>
        <a:xfrm>
          <a:off x="0" y="0"/>
          <a:ext cx="0" cy="0"/>
          <a:chOff x="0" y="0"/>
          <a:chExt cx="0" cy="0"/>
        </a:xfrm>
      </p:grpSpPr>
      <p:sp>
        <p:nvSpPr>
          <p:cNvPr id="21" name="Google Shape;21;p5"/>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Clr>
                <a:schemeClr val="dk2"/>
              </a:buClr>
              <a:buSzPts val="6000"/>
              <a:buFont typeface="Georgia"/>
              <a:buNone/>
              <a:defRPr sz="6000" b="0" i="0" u="none" strike="noStrike" cap="none">
                <a:solidFill>
                  <a:schemeClr val="dk2"/>
                </a:solidFill>
                <a:latin typeface="Georgia"/>
                <a:ea typeface="Georgia"/>
                <a:cs typeface="Georgia"/>
                <a:sym typeface="Georgi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22" name="Google Shape;22;p5"/>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1000"/>
              </a:spcBef>
              <a:spcAft>
                <a:spcPts val="0"/>
              </a:spcAft>
              <a:buClr>
                <a:schemeClr val="dk2"/>
              </a:buClr>
              <a:buSzPts val="2400"/>
              <a:buFont typeface="Arial"/>
              <a:buNone/>
              <a:defRPr sz="2400" b="0" i="0" u="none" strike="noStrike" cap="none">
                <a:solidFill>
                  <a:schemeClr val="dk2"/>
                </a:solidFill>
                <a:latin typeface="Arial"/>
                <a:ea typeface="Arial"/>
                <a:cs typeface="Arial"/>
                <a:sym typeface="Arial"/>
              </a:defRPr>
            </a:lvl1pPr>
            <a:lvl2pPr marR="0" lvl="1" algn="ctr" rtl="0">
              <a:lnSpc>
                <a:spcPct val="90000"/>
              </a:lnSpc>
              <a:spcBef>
                <a:spcPts val="500"/>
              </a:spcBef>
              <a:spcAft>
                <a:spcPts val="0"/>
              </a:spcAft>
              <a:buClr>
                <a:schemeClr val="dk2"/>
              </a:buClr>
              <a:buSzPts val="2000"/>
              <a:buFont typeface="Arial"/>
              <a:buNone/>
              <a:defRPr sz="2000" b="0" i="0" u="none" strike="noStrike" cap="none">
                <a:solidFill>
                  <a:schemeClr val="dk2"/>
                </a:solidFill>
                <a:latin typeface="Arial"/>
                <a:ea typeface="Arial"/>
                <a:cs typeface="Arial"/>
                <a:sym typeface="Arial"/>
              </a:defRPr>
            </a:lvl2pPr>
            <a:lvl3pPr marR="0" lvl="2" algn="ctr" rtl="0">
              <a:lnSpc>
                <a:spcPct val="90000"/>
              </a:lnSpc>
              <a:spcBef>
                <a:spcPts val="50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3pPr>
            <a:lvl4pPr marR="0" lvl="3" algn="ctr" rtl="0">
              <a:lnSpc>
                <a:spcPct val="90000"/>
              </a:lnSpc>
              <a:spcBef>
                <a:spcPts val="500"/>
              </a:spcBef>
              <a:spcAft>
                <a:spcPts val="0"/>
              </a:spcAft>
              <a:buClr>
                <a:schemeClr val="dk2"/>
              </a:buClr>
              <a:buSzPts val="1600"/>
              <a:buFont typeface="Arial"/>
              <a:buNone/>
              <a:defRPr sz="1600" b="0" i="0" u="none" strike="noStrike" cap="none">
                <a:solidFill>
                  <a:schemeClr val="dk2"/>
                </a:solidFill>
                <a:latin typeface="Arial"/>
                <a:ea typeface="Arial"/>
                <a:cs typeface="Arial"/>
                <a:sym typeface="Arial"/>
              </a:defRPr>
            </a:lvl4pPr>
            <a:lvl5pPr marR="0" lvl="4" algn="ctr" rtl="0">
              <a:lnSpc>
                <a:spcPct val="90000"/>
              </a:lnSpc>
              <a:spcBef>
                <a:spcPts val="500"/>
              </a:spcBef>
              <a:spcAft>
                <a:spcPts val="0"/>
              </a:spcAft>
              <a:buClr>
                <a:schemeClr val="dk2"/>
              </a:buClr>
              <a:buSzPts val="1600"/>
              <a:buFont typeface="Arial"/>
              <a:buNone/>
              <a:defRPr sz="1600" b="0" i="0" u="none" strike="noStrike" cap="none">
                <a:solidFill>
                  <a:schemeClr val="dk2"/>
                </a:solidFill>
                <a:latin typeface="Arial"/>
                <a:ea typeface="Arial"/>
                <a:cs typeface="Arial"/>
                <a:sym typeface="Arial"/>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9pPr>
          </a:lstStyle>
          <a:p>
            <a:endParaRPr/>
          </a:p>
        </p:txBody>
      </p:sp>
      <p:sp>
        <p:nvSpPr>
          <p:cNvPr id="23" name="Google Shape;23;p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4" name="Google Shape;24;p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5" name="Google Shape;25;p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1003671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6"/>
        <p:cNvGrpSpPr/>
        <p:nvPr/>
      </p:nvGrpSpPr>
      <p:grpSpPr>
        <a:xfrm>
          <a:off x="0" y="0"/>
          <a:ext cx="0" cy="0"/>
          <a:chOff x="0" y="0"/>
          <a:chExt cx="0" cy="0"/>
        </a:xfrm>
      </p:grpSpPr>
      <p:sp>
        <p:nvSpPr>
          <p:cNvPr id="27" name="Google Shape;27;p6"/>
          <p:cNvSpPr txBox="1">
            <a:spLocks noGrp="1"/>
          </p:cNvSpPr>
          <p:nvPr>
            <p:ph type="title"/>
          </p:nvPr>
        </p:nvSpPr>
        <p:spPr>
          <a:xfrm>
            <a:off x="838200" y="973777"/>
            <a:ext cx="10515600" cy="11745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2"/>
              </a:buClr>
              <a:buSzPts val="4400"/>
              <a:buFont typeface="Georgia"/>
              <a:buNone/>
              <a:defRPr sz="4400" b="0" i="0" u="none" strike="noStrike" cap="none">
                <a:solidFill>
                  <a:schemeClr val="dk2"/>
                </a:solidFill>
                <a:latin typeface="Georgia"/>
                <a:ea typeface="Georgia"/>
                <a:cs typeface="Georgia"/>
                <a:sym typeface="Georgi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28" name="Google Shape;28;p6"/>
          <p:cNvSpPr txBox="1">
            <a:spLocks noGrp="1"/>
          </p:cNvSpPr>
          <p:nvPr>
            <p:ph type="body" idx="1"/>
          </p:nvPr>
        </p:nvSpPr>
        <p:spPr>
          <a:xfrm>
            <a:off x="838200" y="2327563"/>
            <a:ext cx="10515600" cy="38493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90000"/>
              </a:lnSpc>
              <a:spcBef>
                <a:spcPts val="50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90000"/>
              </a:lnSpc>
              <a:spcBef>
                <a:spcPts val="500"/>
              </a:spcBef>
              <a:spcAft>
                <a:spcPts val="0"/>
              </a:spcAft>
              <a:buClr>
                <a:schemeClr val="dk2"/>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9" name="Google Shape;29;p6"/>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0" name="Google Shape;30;p6"/>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1" name="Google Shape;31;p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771311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2"/>
              </a:buClr>
              <a:buSzPts val="6000"/>
              <a:buFont typeface="Georgia"/>
              <a:buNone/>
              <a:defRPr sz="6000" b="0" i="0" u="none" strike="noStrike" cap="none">
                <a:solidFill>
                  <a:schemeClr val="dk2"/>
                </a:solidFill>
                <a:latin typeface="Georgia"/>
                <a:ea typeface="Georgia"/>
                <a:cs typeface="Georgia"/>
                <a:sym typeface="Georgi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34" name="Google Shape;34;p7"/>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Arial"/>
                <a:ea typeface="Arial"/>
                <a:cs typeface="Arial"/>
                <a:sym typeface="Arial"/>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Arial"/>
                <a:ea typeface="Arial"/>
                <a:cs typeface="Arial"/>
                <a:sym typeface="Arial"/>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Arial"/>
                <a:ea typeface="Arial"/>
                <a:cs typeface="Arial"/>
                <a:sym typeface="Arial"/>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Arial"/>
                <a:ea typeface="Arial"/>
                <a:cs typeface="Arial"/>
                <a:sym typeface="Arial"/>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Arial"/>
                <a:ea typeface="Arial"/>
                <a:cs typeface="Arial"/>
                <a:sym typeface="Arial"/>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Arial"/>
                <a:ea typeface="Arial"/>
                <a:cs typeface="Arial"/>
                <a:sym typeface="Arial"/>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Arial"/>
                <a:ea typeface="Arial"/>
                <a:cs typeface="Arial"/>
                <a:sym typeface="Arial"/>
              </a:defRPr>
            </a:lvl9pPr>
          </a:lstStyle>
          <a:p>
            <a:endParaRPr/>
          </a:p>
        </p:txBody>
      </p:sp>
      <p:sp>
        <p:nvSpPr>
          <p:cNvPr id="35" name="Google Shape;35;p7"/>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6" name="Google Shape;36;p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7" name="Google Shape;37;p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7447691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8"/>
        <p:cNvGrpSpPr/>
        <p:nvPr/>
      </p:nvGrpSpPr>
      <p:grpSpPr>
        <a:xfrm>
          <a:off x="0" y="0"/>
          <a:ext cx="0" cy="0"/>
          <a:chOff x="0" y="0"/>
          <a:chExt cx="0" cy="0"/>
        </a:xfrm>
      </p:grpSpPr>
      <p:sp>
        <p:nvSpPr>
          <p:cNvPr id="39" name="Google Shape;39;p8"/>
          <p:cNvSpPr txBox="1">
            <a:spLocks noGrp="1"/>
          </p:cNvSpPr>
          <p:nvPr>
            <p:ph type="title"/>
          </p:nvPr>
        </p:nvSpPr>
        <p:spPr>
          <a:xfrm>
            <a:off x="838200" y="1021278"/>
            <a:ext cx="10515600" cy="10914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2"/>
              </a:buClr>
              <a:buSzPts val="4400"/>
              <a:buFont typeface="Georgia"/>
              <a:buNone/>
              <a:defRPr sz="4400" b="0" i="0" u="none" strike="noStrike" cap="none">
                <a:solidFill>
                  <a:schemeClr val="dk2"/>
                </a:solidFill>
                <a:latin typeface="Georgia"/>
                <a:ea typeface="Georgia"/>
                <a:cs typeface="Georgia"/>
                <a:sym typeface="Georgi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0" name="Google Shape;40;p8"/>
          <p:cNvSpPr txBox="1">
            <a:spLocks noGrp="1"/>
          </p:cNvSpPr>
          <p:nvPr>
            <p:ph type="body" idx="1"/>
          </p:nvPr>
        </p:nvSpPr>
        <p:spPr>
          <a:xfrm>
            <a:off x="838200" y="2291937"/>
            <a:ext cx="5181600" cy="38850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90000"/>
              </a:lnSpc>
              <a:spcBef>
                <a:spcPts val="50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90000"/>
              </a:lnSpc>
              <a:spcBef>
                <a:spcPts val="500"/>
              </a:spcBef>
              <a:spcAft>
                <a:spcPts val="0"/>
              </a:spcAft>
              <a:buClr>
                <a:schemeClr val="dk2"/>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1" name="Google Shape;41;p8"/>
          <p:cNvSpPr txBox="1">
            <a:spLocks noGrp="1"/>
          </p:cNvSpPr>
          <p:nvPr>
            <p:ph type="body" idx="2"/>
          </p:nvPr>
        </p:nvSpPr>
        <p:spPr>
          <a:xfrm>
            <a:off x="6172200" y="2291937"/>
            <a:ext cx="5181600" cy="38850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90000"/>
              </a:lnSpc>
              <a:spcBef>
                <a:spcPts val="50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90000"/>
              </a:lnSpc>
              <a:spcBef>
                <a:spcPts val="500"/>
              </a:spcBef>
              <a:spcAft>
                <a:spcPts val="0"/>
              </a:spcAft>
              <a:buClr>
                <a:schemeClr val="dk2"/>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2" name="Google Shape;42;p8"/>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3" name="Google Shape;43;p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4" name="Google Shape;44;p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168739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5"/>
        <p:cNvGrpSpPr/>
        <p:nvPr/>
      </p:nvGrpSpPr>
      <p:grpSpPr>
        <a:xfrm>
          <a:off x="0" y="0"/>
          <a:ext cx="0" cy="0"/>
          <a:chOff x="0" y="0"/>
          <a:chExt cx="0" cy="0"/>
        </a:xfrm>
      </p:grpSpPr>
      <p:sp>
        <p:nvSpPr>
          <p:cNvPr id="46" name="Google Shape;46;p9"/>
          <p:cNvSpPr txBox="1">
            <a:spLocks noGrp="1"/>
          </p:cNvSpPr>
          <p:nvPr>
            <p:ph type="title"/>
          </p:nvPr>
        </p:nvSpPr>
        <p:spPr>
          <a:xfrm>
            <a:off x="838200" y="914400"/>
            <a:ext cx="10515600" cy="12684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2"/>
              </a:buClr>
              <a:buSzPts val="4400"/>
              <a:buFont typeface="Georgia"/>
              <a:buNone/>
              <a:defRPr sz="4400" b="0" i="0" u="none" strike="noStrike" cap="none">
                <a:solidFill>
                  <a:schemeClr val="dk2"/>
                </a:solidFill>
                <a:latin typeface="Georgia"/>
                <a:ea typeface="Georgia"/>
                <a:cs typeface="Georgia"/>
                <a:sym typeface="Georgi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7" name="Google Shape;47;p9"/>
          <p:cNvSpPr txBox="1">
            <a:spLocks noGrp="1"/>
          </p:cNvSpPr>
          <p:nvPr>
            <p:ph type="body" idx="1"/>
          </p:nvPr>
        </p:nvSpPr>
        <p:spPr>
          <a:xfrm>
            <a:off x="836612" y="2182813"/>
            <a:ext cx="5157900" cy="823800"/>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2"/>
              </a:buClr>
              <a:buSzPts val="2400"/>
              <a:buFont typeface="Arial"/>
              <a:buNone/>
              <a:defRPr sz="2400" b="1" i="0" u="none" strike="noStrike" cap="none">
                <a:solidFill>
                  <a:schemeClr val="dk2"/>
                </a:solidFill>
                <a:latin typeface="Arial"/>
                <a:ea typeface="Arial"/>
                <a:cs typeface="Arial"/>
                <a:sym typeface="Arial"/>
              </a:defRPr>
            </a:lvl1pPr>
            <a:lvl2pPr marL="914400" marR="0" lvl="1" indent="-228600" algn="l" rtl="0">
              <a:lnSpc>
                <a:spcPct val="90000"/>
              </a:lnSpc>
              <a:spcBef>
                <a:spcPts val="500"/>
              </a:spcBef>
              <a:spcAft>
                <a:spcPts val="0"/>
              </a:spcAft>
              <a:buClr>
                <a:schemeClr val="dk2"/>
              </a:buClr>
              <a:buSzPts val="2000"/>
              <a:buFont typeface="Arial"/>
              <a:buNone/>
              <a:defRPr sz="2000" b="1" i="0" u="none" strike="noStrike" cap="none">
                <a:solidFill>
                  <a:schemeClr val="dk2"/>
                </a:solidFill>
                <a:latin typeface="Arial"/>
                <a:ea typeface="Arial"/>
                <a:cs typeface="Arial"/>
                <a:sym typeface="Arial"/>
              </a:defRPr>
            </a:lvl2pPr>
            <a:lvl3pPr marL="1371600" marR="0" lvl="2" indent="-228600" algn="l" rtl="0">
              <a:lnSpc>
                <a:spcPct val="90000"/>
              </a:lnSpc>
              <a:spcBef>
                <a:spcPts val="500"/>
              </a:spcBef>
              <a:spcAft>
                <a:spcPts val="0"/>
              </a:spcAft>
              <a:buClr>
                <a:schemeClr val="dk2"/>
              </a:buClr>
              <a:buSzPts val="1800"/>
              <a:buFont typeface="Arial"/>
              <a:buNone/>
              <a:defRPr sz="1800" b="1" i="0" u="none" strike="noStrike" cap="none">
                <a:solidFill>
                  <a:schemeClr val="dk2"/>
                </a:solidFill>
                <a:latin typeface="Arial"/>
                <a:ea typeface="Arial"/>
                <a:cs typeface="Arial"/>
                <a:sym typeface="Arial"/>
              </a:defRPr>
            </a:lvl3pPr>
            <a:lvl4pPr marL="1828800" marR="0" lvl="3" indent="-228600" algn="l" rtl="0">
              <a:lnSpc>
                <a:spcPct val="90000"/>
              </a:lnSpc>
              <a:spcBef>
                <a:spcPts val="500"/>
              </a:spcBef>
              <a:spcAft>
                <a:spcPts val="0"/>
              </a:spcAft>
              <a:buClr>
                <a:schemeClr val="dk2"/>
              </a:buClr>
              <a:buSzPts val="1600"/>
              <a:buFont typeface="Arial"/>
              <a:buNone/>
              <a:defRPr sz="1600" b="1" i="0" u="none" strike="noStrike" cap="none">
                <a:solidFill>
                  <a:schemeClr val="dk2"/>
                </a:solidFill>
                <a:latin typeface="Arial"/>
                <a:ea typeface="Arial"/>
                <a:cs typeface="Arial"/>
                <a:sym typeface="Arial"/>
              </a:defRPr>
            </a:lvl4pPr>
            <a:lvl5pPr marL="2286000" marR="0" lvl="4" indent="-228600" algn="l" rtl="0">
              <a:lnSpc>
                <a:spcPct val="90000"/>
              </a:lnSpc>
              <a:spcBef>
                <a:spcPts val="500"/>
              </a:spcBef>
              <a:spcAft>
                <a:spcPts val="0"/>
              </a:spcAft>
              <a:buClr>
                <a:schemeClr val="dk2"/>
              </a:buClr>
              <a:buSzPts val="1600"/>
              <a:buFont typeface="Arial"/>
              <a:buNone/>
              <a:defRPr sz="1600" b="1" i="0" u="none" strike="noStrike" cap="none">
                <a:solidFill>
                  <a:schemeClr val="dk2"/>
                </a:solidFill>
                <a:latin typeface="Arial"/>
                <a:ea typeface="Arial"/>
                <a:cs typeface="Arial"/>
                <a:sym typeface="Arial"/>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9pPr>
          </a:lstStyle>
          <a:p>
            <a:endParaRPr/>
          </a:p>
        </p:txBody>
      </p:sp>
      <p:sp>
        <p:nvSpPr>
          <p:cNvPr id="48" name="Google Shape;48;p9"/>
          <p:cNvSpPr txBox="1">
            <a:spLocks noGrp="1"/>
          </p:cNvSpPr>
          <p:nvPr>
            <p:ph type="body" idx="2"/>
          </p:nvPr>
        </p:nvSpPr>
        <p:spPr>
          <a:xfrm>
            <a:off x="839788" y="3006725"/>
            <a:ext cx="5157900" cy="31830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90000"/>
              </a:lnSpc>
              <a:spcBef>
                <a:spcPts val="50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90000"/>
              </a:lnSpc>
              <a:spcBef>
                <a:spcPts val="500"/>
              </a:spcBef>
              <a:spcAft>
                <a:spcPts val="0"/>
              </a:spcAft>
              <a:buClr>
                <a:schemeClr val="dk2"/>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9" name="Google Shape;49;p9"/>
          <p:cNvSpPr txBox="1">
            <a:spLocks noGrp="1"/>
          </p:cNvSpPr>
          <p:nvPr>
            <p:ph type="body" idx="3"/>
          </p:nvPr>
        </p:nvSpPr>
        <p:spPr>
          <a:xfrm>
            <a:off x="6169024" y="2182813"/>
            <a:ext cx="5183100" cy="823800"/>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2"/>
              </a:buClr>
              <a:buSzPts val="2400"/>
              <a:buFont typeface="Arial"/>
              <a:buNone/>
              <a:defRPr sz="2400" b="1" i="0" u="none" strike="noStrike" cap="none">
                <a:solidFill>
                  <a:schemeClr val="dk2"/>
                </a:solidFill>
                <a:latin typeface="Arial"/>
                <a:ea typeface="Arial"/>
                <a:cs typeface="Arial"/>
                <a:sym typeface="Arial"/>
              </a:defRPr>
            </a:lvl1pPr>
            <a:lvl2pPr marL="914400" marR="0" lvl="1" indent="-228600" algn="l" rtl="0">
              <a:lnSpc>
                <a:spcPct val="90000"/>
              </a:lnSpc>
              <a:spcBef>
                <a:spcPts val="500"/>
              </a:spcBef>
              <a:spcAft>
                <a:spcPts val="0"/>
              </a:spcAft>
              <a:buClr>
                <a:schemeClr val="dk2"/>
              </a:buClr>
              <a:buSzPts val="2000"/>
              <a:buFont typeface="Arial"/>
              <a:buNone/>
              <a:defRPr sz="2000" b="1" i="0" u="none" strike="noStrike" cap="none">
                <a:solidFill>
                  <a:schemeClr val="dk2"/>
                </a:solidFill>
                <a:latin typeface="Arial"/>
                <a:ea typeface="Arial"/>
                <a:cs typeface="Arial"/>
                <a:sym typeface="Arial"/>
              </a:defRPr>
            </a:lvl2pPr>
            <a:lvl3pPr marL="1371600" marR="0" lvl="2" indent="-228600" algn="l" rtl="0">
              <a:lnSpc>
                <a:spcPct val="90000"/>
              </a:lnSpc>
              <a:spcBef>
                <a:spcPts val="500"/>
              </a:spcBef>
              <a:spcAft>
                <a:spcPts val="0"/>
              </a:spcAft>
              <a:buClr>
                <a:schemeClr val="dk2"/>
              </a:buClr>
              <a:buSzPts val="1800"/>
              <a:buFont typeface="Arial"/>
              <a:buNone/>
              <a:defRPr sz="1800" b="1" i="0" u="none" strike="noStrike" cap="none">
                <a:solidFill>
                  <a:schemeClr val="dk2"/>
                </a:solidFill>
                <a:latin typeface="Arial"/>
                <a:ea typeface="Arial"/>
                <a:cs typeface="Arial"/>
                <a:sym typeface="Arial"/>
              </a:defRPr>
            </a:lvl3pPr>
            <a:lvl4pPr marL="1828800" marR="0" lvl="3" indent="-228600" algn="l" rtl="0">
              <a:lnSpc>
                <a:spcPct val="90000"/>
              </a:lnSpc>
              <a:spcBef>
                <a:spcPts val="500"/>
              </a:spcBef>
              <a:spcAft>
                <a:spcPts val="0"/>
              </a:spcAft>
              <a:buClr>
                <a:schemeClr val="dk2"/>
              </a:buClr>
              <a:buSzPts val="1600"/>
              <a:buFont typeface="Arial"/>
              <a:buNone/>
              <a:defRPr sz="1600" b="1" i="0" u="none" strike="noStrike" cap="none">
                <a:solidFill>
                  <a:schemeClr val="dk2"/>
                </a:solidFill>
                <a:latin typeface="Arial"/>
                <a:ea typeface="Arial"/>
                <a:cs typeface="Arial"/>
                <a:sym typeface="Arial"/>
              </a:defRPr>
            </a:lvl4pPr>
            <a:lvl5pPr marL="2286000" marR="0" lvl="4" indent="-228600" algn="l" rtl="0">
              <a:lnSpc>
                <a:spcPct val="90000"/>
              </a:lnSpc>
              <a:spcBef>
                <a:spcPts val="500"/>
              </a:spcBef>
              <a:spcAft>
                <a:spcPts val="0"/>
              </a:spcAft>
              <a:buClr>
                <a:schemeClr val="dk2"/>
              </a:buClr>
              <a:buSzPts val="1600"/>
              <a:buFont typeface="Arial"/>
              <a:buNone/>
              <a:defRPr sz="1600" b="1" i="0" u="none" strike="noStrike" cap="none">
                <a:solidFill>
                  <a:schemeClr val="dk2"/>
                </a:solidFill>
                <a:latin typeface="Arial"/>
                <a:ea typeface="Arial"/>
                <a:cs typeface="Arial"/>
                <a:sym typeface="Arial"/>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9pPr>
          </a:lstStyle>
          <a:p>
            <a:endParaRPr/>
          </a:p>
        </p:txBody>
      </p:sp>
      <p:sp>
        <p:nvSpPr>
          <p:cNvPr id="50" name="Google Shape;50;p9"/>
          <p:cNvSpPr txBox="1">
            <a:spLocks noGrp="1"/>
          </p:cNvSpPr>
          <p:nvPr>
            <p:ph type="body" idx="4"/>
          </p:nvPr>
        </p:nvSpPr>
        <p:spPr>
          <a:xfrm>
            <a:off x="6172200" y="3006725"/>
            <a:ext cx="5183100" cy="31830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90000"/>
              </a:lnSpc>
              <a:spcBef>
                <a:spcPts val="50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90000"/>
              </a:lnSpc>
              <a:spcBef>
                <a:spcPts val="500"/>
              </a:spcBef>
              <a:spcAft>
                <a:spcPts val="0"/>
              </a:spcAft>
              <a:buClr>
                <a:schemeClr val="dk2"/>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51" name="Google Shape;51;p9"/>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2" name="Google Shape;52;p9"/>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3" name="Google Shape;53;p9"/>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6487677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838200" y="973777"/>
            <a:ext cx="10515600" cy="11745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2"/>
              </a:buClr>
              <a:buSzPts val="4400"/>
              <a:buFont typeface="Georgia"/>
              <a:buNone/>
              <a:defRPr sz="4400" b="0" i="0" u="none" strike="noStrike" cap="none">
                <a:solidFill>
                  <a:schemeClr val="dk2"/>
                </a:solidFill>
                <a:latin typeface="Georgia"/>
                <a:ea typeface="Georgia"/>
                <a:cs typeface="Georgia"/>
                <a:sym typeface="Georgi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56" name="Google Shape;56;p1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7" name="Google Shape;57;p1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8" name="Google Shape;58;p1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5644769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9"/>
        <p:cNvGrpSpPr/>
        <p:nvPr/>
      </p:nvGrpSpPr>
      <p:grpSpPr>
        <a:xfrm>
          <a:off x="0" y="0"/>
          <a:ext cx="0" cy="0"/>
          <a:chOff x="0" y="0"/>
          <a:chExt cx="0" cy="0"/>
        </a:xfrm>
      </p:grpSpPr>
      <p:sp>
        <p:nvSpPr>
          <p:cNvPr id="60" name="Google Shape;60;p1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61" name="Google Shape;61;p1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62" name="Google Shape;62;p1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7717488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63"/>
        <p:cNvGrpSpPr/>
        <p:nvPr/>
      </p:nvGrpSpPr>
      <p:grpSpPr>
        <a:xfrm>
          <a:off x="0" y="0"/>
          <a:ext cx="0" cy="0"/>
          <a:chOff x="0" y="0"/>
          <a:chExt cx="0" cy="0"/>
        </a:xfrm>
      </p:grpSpPr>
      <p:sp>
        <p:nvSpPr>
          <p:cNvPr id="64" name="Google Shape;64;p12"/>
          <p:cNvSpPr txBox="1">
            <a:spLocks noGrp="1"/>
          </p:cNvSpPr>
          <p:nvPr>
            <p:ph type="title"/>
          </p:nvPr>
        </p:nvSpPr>
        <p:spPr>
          <a:xfrm>
            <a:off x="839788" y="902524"/>
            <a:ext cx="3932100" cy="1321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2"/>
              </a:buClr>
              <a:buSzPts val="3200"/>
              <a:buFont typeface="Georgia"/>
              <a:buNone/>
              <a:defRPr sz="3200" b="0" i="0" u="none" strike="noStrike" cap="none">
                <a:solidFill>
                  <a:schemeClr val="dk2"/>
                </a:solidFill>
                <a:latin typeface="Georgia"/>
                <a:ea typeface="Georgia"/>
                <a:cs typeface="Georgia"/>
                <a:sym typeface="Georgi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65" name="Google Shape;65;p12"/>
          <p:cNvSpPr txBox="1">
            <a:spLocks noGrp="1"/>
          </p:cNvSpPr>
          <p:nvPr>
            <p:ph type="body" idx="1"/>
          </p:nvPr>
        </p:nvSpPr>
        <p:spPr>
          <a:xfrm>
            <a:off x="5183188" y="1224925"/>
            <a:ext cx="6172200" cy="4873500"/>
          </a:xfrm>
          <a:prstGeom prst="rect">
            <a:avLst/>
          </a:prstGeom>
          <a:noFill/>
          <a:ln>
            <a:noFill/>
          </a:ln>
        </p:spPr>
        <p:txBody>
          <a:bodyPr spcFirstLastPara="1" wrap="square" lIns="91425" tIns="45700" rIns="91425" bIns="45700" anchor="t" anchorCtr="0">
            <a:noAutofit/>
          </a:bodyPr>
          <a:lstStyle>
            <a:lvl1pPr marL="457200" marR="0" lvl="0" indent="-431800" algn="l" rtl="0">
              <a:lnSpc>
                <a:spcPct val="90000"/>
              </a:lnSpc>
              <a:spcBef>
                <a:spcPts val="1000"/>
              </a:spcBef>
              <a:spcAft>
                <a:spcPts val="0"/>
              </a:spcAft>
              <a:buClr>
                <a:schemeClr val="dk2"/>
              </a:buClr>
              <a:buSzPts val="3200"/>
              <a:buFont typeface="Arial"/>
              <a:buChar char="•"/>
              <a:defRPr sz="3200" b="0" i="0" u="none" strike="noStrike" cap="none">
                <a:solidFill>
                  <a:schemeClr val="dk2"/>
                </a:solidFill>
                <a:latin typeface="Arial"/>
                <a:ea typeface="Arial"/>
                <a:cs typeface="Arial"/>
                <a:sym typeface="Arial"/>
              </a:defRPr>
            </a:lvl1pPr>
            <a:lvl2pPr marL="914400" marR="0" lvl="1" indent="-406400" algn="l" rtl="0">
              <a:lnSpc>
                <a:spcPct val="90000"/>
              </a:lnSpc>
              <a:spcBef>
                <a:spcPts val="50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2pPr>
            <a:lvl3pPr marL="1371600" marR="0" lvl="2" indent="-381000" algn="l" rtl="0">
              <a:lnSpc>
                <a:spcPct val="90000"/>
              </a:lnSpc>
              <a:spcBef>
                <a:spcPts val="50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3pPr>
            <a:lvl4pPr marL="1828800" marR="0" lvl="3" indent="-355600" algn="l" rtl="0">
              <a:lnSpc>
                <a:spcPct val="90000"/>
              </a:lnSpc>
              <a:spcBef>
                <a:spcPts val="500"/>
              </a:spcBef>
              <a:spcAft>
                <a:spcPts val="0"/>
              </a:spcAft>
              <a:buClr>
                <a:schemeClr val="dk2"/>
              </a:buClr>
              <a:buSzPts val="2000"/>
              <a:buFont typeface="Arial"/>
              <a:buChar char="•"/>
              <a:defRPr sz="2000" b="0" i="0" u="none" strike="noStrike" cap="none">
                <a:solidFill>
                  <a:schemeClr val="dk2"/>
                </a:solidFill>
                <a:latin typeface="Arial"/>
                <a:ea typeface="Arial"/>
                <a:cs typeface="Arial"/>
                <a:sym typeface="Arial"/>
              </a:defRPr>
            </a:lvl4pPr>
            <a:lvl5pPr marL="2286000" marR="0" lvl="4" indent="-355600" algn="l" rtl="0">
              <a:lnSpc>
                <a:spcPct val="90000"/>
              </a:lnSpc>
              <a:spcBef>
                <a:spcPts val="500"/>
              </a:spcBef>
              <a:spcAft>
                <a:spcPts val="0"/>
              </a:spcAft>
              <a:buClr>
                <a:schemeClr val="dk2"/>
              </a:buClr>
              <a:buSzPts val="2000"/>
              <a:buFont typeface="Arial"/>
              <a:buChar char="•"/>
              <a:defRPr sz="2000" b="0" i="0" u="none" strike="noStrike" cap="none">
                <a:solidFill>
                  <a:schemeClr val="dk2"/>
                </a:solidFill>
                <a:latin typeface="Arial"/>
                <a:ea typeface="Arial"/>
                <a:cs typeface="Arial"/>
                <a:sym typeface="Arial"/>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66" name="Google Shape;66;p12"/>
          <p:cNvSpPr txBox="1">
            <a:spLocks noGrp="1"/>
          </p:cNvSpPr>
          <p:nvPr>
            <p:ph type="body" idx="2"/>
          </p:nvPr>
        </p:nvSpPr>
        <p:spPr>
          <a:xfrm>
            <a:off x="839788" y="2294900"/>
            <a:ext cx="3932100" cy="3811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2"/>
              </a:buClr>
              <a:buSzPts val="1600"/>
              <a:buFont typeface="Arial"/>
              <a:buNone/>
              <a:defRPr sz="1600" b="0" i="0" u="none" strike="noStrike" cap="none">
                <a:solidFill>
                  <a:schemeClr val="dk2"/>
                </a:solidFill>
                <a:latin typeface="Arial"/>
                <a:ea typeface="Arial"/>
                <a:cs typeface="Arial"/>
                <a:sym typeface="Arial"/>
              </a:defRPr>
            </a:lvl1pPr>
            <a:lvl2pPr marL="914400" marR="0" lvl="1" indent="-228600" algn="l" rtl="0">
              <a:lnSpc>
                <a:spcPct val="90000"/>
              </a:lnSpc>
              <a:spcBef>
                <a:spcPts val="500"/>
              </a:spcBef>
              <a:spcAft>
                <a:spcPts val="0"/>
              </a:spcAft>
              <a:buClr>
                <a:schemeClr val="dk2"/>
              </a:buClr>
              <a:buSzPts val="1400"/>
              <a:buFont typeface="Arial"/>
              <a:buNone/>
              <a:defRPr sz="1400" b="0" i="0" u="none" strike="noStrike" cap="none">
                <a:solidFill>
                  <a:schemeClr val="dk2"/>
                </a:solidFill>
                <a:latin typeface="Arial"/>
                <a:ea typeface="Arial"/>
                <a:cs typeface="Arial"/>
                <a:sym typeface="Arial"/>
              </a:defRPr>
            </a:lvl2pPr>
            <a:lvl3pPr marL="1371600" marR="0" lvl="2" indent="-228600" algn="l" rtl="0">
              <a:lnSpc>
                <a:spcPct val="90000"/>
              </a:lnSpc>
              <a:spcBef>
                <a:spcPts val="500"/>
              </a:spcBef>
              <a:spcAft>
                <a:spcPts val="0"/>
              </a:spcAft>
              <a:buClr>
                <a:schemeClr val="dk2"/>
              </a:buClr>
              <a:buSzPts val="1200"/>
              <a:buFont typeface="Arial"/>
              <a:buNone/>
              <a:defRPr sz="1200" b="0" i="0" u="none" strike="noStrike" cap="none">
                <a:solidFill>
                  <a:schemeClr val="dk2"/>
                </a:solidFill>
                <a:latin typeface="Arial"/>
                <a:ea typeface="Arial"/>
                <a:cs typeface="Arial"/>
                <a:sym typeface="Arial"/>
              </a:defRPr>
            </a:lvl3pPr>
            <a:lvl4pPr marL="1828800" marR="0" lvl="3" indent="-228600" algn="l" rtl="0">
              <a:lnSpc>
                <a:spcPct val="90000"/>
              </a:lnSpc>
              <a:spcBef>
                <a:spcPts val="50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4pPr>
            <a:lvl5pPr marL="2286000" marR="0" lvl="4" indent="-228600" algn="l" rtl="0">
              <a:lnSpc>
                <a:spcPct val="90000"/>
              </a:lnSpc>
              <a:spcBef>
                <a:spcPts val="50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9pPr>
          </a:lstStyle>
          <a:p>
            <a:endParaRPr/>
          </a:p>
        </p:txBody>
      </p:sp>
      <p:sp>
        <p:nvSpPr>
          <p:cNvPr id="67" name="Google Shape;67;p12"/>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68" name="Google Shape;68;p12"/>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69" name="Google Shape;69;p12"/>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0900463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70"/>
        <p:cNvGrpSpPr/>
        <p:nvPr/>
      </p:nvGrpSpPr>
      <p:grpSpPr>
        <a:xfrm>
          <a:off x="0" y="0"/>
          <a:ext cx="0" cy="0"/>
          <a:chOff x="0" y="0"/>
          <a:chExt cx="0" cy="0"/>
        </a:xfrm>
      </p:grpSpPr>
      <p:sp>
        <p:nvSpPr>
          <p:cNvPr id="71" name="Google Shape;71;p13"/>
          <p:cNvSpPr txBox="1">
            <a:spLocks noGrp="1"/>
          </p:cNvSpPr>
          <p:nvPr>
            <p:ph type="title"/>
          </p:nvPr>
        </p:nvSpPr>
        <p:spPr>
          <a:xfrm>
            <a:off x="839788" y="926274"/>
            <a:ext cx="3932100" cy="12975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2"/>
              </a:buClr>
              <a:buSzPts val="3200"/>
              <a:buFont typeface="Georgia"/>
              <a:buNone/>
              <a:defRPr sz="3200" b="0" i="0" u="none" strike="noStrike" cap="none">
                <a:solidFill>
                  <a:schemeClr val="dk2"/>
                </a:solidFill>
                <a:latin typeface="Georgia"/>
                <a:ea typeface="Georgia"/>
                <a:cs typeface="Georgia"/>
                <a:sym typeface="Georgi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2" name="Google Shape;72;p13"/>
          <p:cNvSpPr>
            <a:spLocks noGrp="1"/>
          </p:cNvSpPr>
          <p:nvPr>
            <p:ph type="pic" idx="2"/>
          </p:nvPr>
        </p:nvSpPr>
        <p:spPr>
          <a:xfrm>
            <a:off x="5183188" y="1272425"/>
            <a:ext cx="6172200" cy="48735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2"/>
              </a:buClr>
              <a:buSzPts val="3200"/>
              <a:buFont typeface="Arial"/>
              <a:buNone/>
              <a:defRPr sz="3200" b="0" i="0" u="none" strike="noStrike" cap="none">
                <a:solidFill>
                  <a:schemeClr val="dk2"/>
                </a:solidFill>
                <a:latin typeface="Arial"/>
                <a:ea typeface="Arial"/>
                <a:cs typeface="Arial"/>
                <a:sym typeface="Arial"/>
              </a:defRPr>
            </a:lvl1pPr>
            <a:lvl2pPr marR="0" lvl="1" algn="l" rtl="0">
              <a:lnSpc>
                <a:spcPct val="90000"/>
              </a:lnSpc>
              <a:spcBef>
                <a:spcPts val="50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R="0" lvl="2" algn="l" rtl="0">
              <a:lnSpc>
                <a:spcPct val="90000"/>
              </a:lnSpc>
              <a:spcBef>
                <a:spcPts val="500"/>
              </a:spcBef>
              <a:spcAft>
                <a:spcPts val="0"/>
              </a:spcAft>
              <a:buClr>
                <a:schemeClr val="dk2"/>
              </a:buClr>
              <a:buSzPts val="2400"/>
              <a:buFont typeface="Arial"/>
              <a:buNone/>
              <a:defRPr sz="2400" b="0" i="0" u="none" strike="noStrike" cap="none">
                <a:solidFill>
                  <a:schemeClr val="dk2"/>
                </a:solidFill>
                <a:latin typeface="Arial"/>
                <a:ea typeface="Arial"/>
                <a:cs typeface="Arial"/>
                <a:sym typeface="Arial"/>
              </a:defRPr>
            </a:lvl3pPr>
            <a:lvl4pPr marR="0" lvl="3" algn="l" rtl="0">
              <a:lnSpc>
                <a:spcPct val="90000"/>
              </a:lnSpc>
              <a:spcBef>
                <a:spcPts val="500"/>
              </a:spcBef>
              <a:spcAft>
                <a:spcPts val="0"/>
              </a:spcAft>
              <a:buClr>
                <a:schemeClr val="dk2"/>
              </a:buClr>
              <a:buSzPts val="2000"/>
              <a:buFont typeface="Arial"/>
              <a:buNone/>
              <a:defRPr sz="2000" b="0" i="0" u="none" strike="noStrike" cap="none">
                <a:solidFill>
                  <a:schemeClr val="dk2"/>
                </a:solidFill>
                <a:latin typeface="Arial"/>
                <a:ea typeface="Arial"/>
                <a:cs typeface="Arial"/>
                <a:sym typeface="Arial"/>
              </a:defRPr>
            </a:lvl4pPr>
            <a:lvl5pPr marR="0" lvl="4" algn="l" rtl="0">
              <a:lnSpc>
                <a:spcPct val="90000"/>
              </a:lnSpc>
              <a:spcBef>
                <a:spcPts val="500"/>
              </a:spcBef>
              <a:spcAft>
                <a:spcPts val="0"/>
              </a:spcAft>
              <a:buClr>
                <a:schemeClr val="dk2"/>
              </a:buClr>
              <a:buSzPts val="2000"/>
              <a:buFont typeface="Arial"/>
              <a:buNone/>
              <a:defRPr sz="2000" b="0" i="0" u="none" strike="noStrike" cap="none">
                <a:solidFill>
                  <a:schemeClr val="dk2"/>
                </a:solidFill>
                <a:latin typeface="Arial"/>
                <a:ea typeface="Arial"/>
                <a:cs typeface="Arial"/>
                <a:sym typeface="Arial"/>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9pPr>
          </a:lstStyle>
          <a:p>
            <a:endParaRPr/>
          </a:p>
        </p:txBody>
      </p:sp>
      <p:sp>
        <p:nvSpPr>
          <p:cNvPr id="73" name="Google Shape;73;p13"/>
          <p:cNvSpPr txBox="1">
            <a:spLocks noGrp="1"/>
          </p:cNvSpPr>
          <p:nvPr>
            <p:ph type="body" idx="1"/>
          </p:nvPr>
        </p:nvSpPr>
        <p:spPr>
          <a:xfrm>
            <a:off x="839788" y="2342400"/>
            <a:ext cx="3932100" cy="3811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2"/>
              </a:buClr>
              <a:buSzPts val="1600"/>
              <a:buFont typeface="Arial"/>
              <a:buNone/>
              <a:defRPr sz="1600" b="0" i="0" u="none" strike="noStrike" cap="none">
                <a:solidFill>
                  <a:schemeClr val="dk2"/>
                </a:solidFill>
                <a:latin typeface="Arial"/>
                <a:ea typeface="Arial"/>
                <a:cs typeface="Arial"/>
                <a:sym typeface="Arial"/>
              </a:defRPr>
            </a:lvl1pPr>
            <a:lvl2pPr marL="914400" marR="0" lvl="1" indent="-228600" algn="l" rtl="0">
              <a:lnSpc>
                <a:spcPct val="90000"/>
              </a:lnSpc>
              <a:spcBef>
                <a:spcPts val="500"/>
              </a:spcBef>
              <a:spcAft>
                <a:spcPts val="0"/>
              </a:spcAft>
              <a:buClr>
                <a:schemeClr val="dk2"/>
              </a:buClr>
              <a:buSzPts val="1400"/>
              <a:buFont typeface="Arial"/>
              <a:buNone/>
              <a:defRPr sz="1400" b="0" i="0" u="none" strike="noStrike" cap="none">
                <a:solidFill>
                  <a:schemeClr val="dk2"/>
                </a:solidFill>
                <a:latin typeface="Arial"/>
                <a:ea typeface="Arial"/>
                <a:cs typeface="Arial"/>
                <a:sym typeface="Arial"/>
              </a:defRPr>
            </a:lvl2pPr>
            <a:lvl3pPr marL="1371600" marR="0" lvl="2" indent="-228600" algn="l" rtl="0">
              <a:lnSpc>
                <a:spcPct val="90000"/>
              </a:lnSpc>
              <a:spcBef>
                <a:spcPts val="500"/>
              </a:spcBef>
              <a:spcAft>
                <a:spcPts val="0"/>
              </a:spcAft>
              <a:buClr>
                <a:schemeClr val="dk2"/>
              </a:buClr>
              <a:buSzPts val="1200"/>
              <a:buFont typeface="Arial"/>
              <a:buNone/>
              <a:defRPr sz="1200" b="0" i="0" u="none" strike="noStrike" cap="none">
                <a:solidFill>
                  <a:schemeClr val="dk2"/>
                </a:solidFill>
                <a:latin typeface="Arial"/>
                <a:ea typeface="Arial"/>
                <a:cs typeface="Arial"/>
                <a:sym typeface="Arial"/>
              </a:defRPr>
            </a:lvl3pPr>
            <a:lvl4pPr marL="1828800" marR="0" lvl="3" indent="-228600" algn="l" rtl="0">
              <a:lnSpc>
                <a:spcPct val="90000"/>
              </a:lnSpc>
              <a:spcBef>
                <a:spcPts val="50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4pPr>
            <a:lvl5pPr marL="2286000" marR="0" lvl="4" indent="-228600" algn="l" rtl="0">
              <a:lnSpc>
                <a:spcPct val="90000"/>
              </a:lnSpc>
              <a:spcBef>
                <a:spcPts val="500"/>
              </a:spcBef>
              <a:spcAft>
                <a:spcPts val="0"/>
              </a:spcAft>
              <a:buClr>
                <a:schemeClr val="dk2"/>
              </a:buClr>
              <a:buSzPts val="1000"/>
              <a:buFont typeface="Arial"/>
              <a:buNone/>
              <a:defRPr sz="1000" b="0" i="0" u="none" strike="noStrike" cap="none">
                <a:solidFill>
                  <a:schemeClr val="dk2"/>
                </a:solidFill>
                <a:latin typeface="Arial"/>
                <a:ea typeface="Arial"/>
                <a:cs typeface="Arial"/>
                <a:sym typeface="Arial"/>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9pPr>
          </a:lstStyle>
          <a:p>
            <a:endParaRPr/>
          </a:p>
        </p:txBody>
      </p:sp>
      <p:sp>
        <p:nvSpPr>
          <p:cNvPr id="74" name="Google Shape;74;p13"/>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75" name="Google Shape;75;p13"/>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76" name="Google Shape;76;p1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6084726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7"/>
        <p:cNvGrpSpPr/>
        <p:nvPr/>
      </p:nvGrpSpPr>
      <p:grpSpPr>
        <a:xfrm>
          <a:off x="0" y="0"/>
          <a:ext cx="0" cy="0"/>
          <a:chOff x="0" y="0"/>
          <a:chExt cx="0" cy="0"/>
        </a:xfrm>
      </p:grpSpPr>
      <p:sp>
        <p:nvSpPr>
          <p:cNvPr id="78" name="Google Shape;78;p14"/>
          <p:cNvSpPr txBox="1">
            <a:spLocks noGrp="1"/>
          </p:cNvSpPr>
          <p:nvPr>
            <p:ph type="title"/>
          </p:nvPr>
        </p:nvSpPr>
        <p:spPr>
          <a:xfrm>
            <a:off x="838200" y="973777"/>
            <a:ext cx="10515600" cy="11745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2"/>
              </a:buClr>
              <a:buSzPts val="4400"/>
              <a:buFont typeface="Georgia"/>
              <a:buNone/>
              <a:defRPr sz="4400" b="0" i="0" u="none" strike="noStrike" cap="none">
                <a:solidFill>
                  <a:schemeClr val="dk2"/>
                </a:solidFill>
                <a:latin typeface="Georgia"/>
                <a:ea typeface="Georgia"/>
                <a:cs typeface="Georgia"/>
                <a:sym typeface="Georgi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9" name="Google Shape;79;p14"/>
          <p:cNvSpPr txBox="1">
            <a:spLocks noGrp="1"/>
          </p:cNvSpPr>
          <p:nvPr>
            <p:ph type="body" idx="1"/>
          </p:nvPr>
        </p:nvSpPr>
        <p:spPr>
          <a:xfrm rot="5400000">
            <a:off x="4171350" y="-1005587"/>
            <a:ext cx="3849300" cy="105156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90000"/>
              </a:lnSpc>
              <a:spcBef>
                <a:spcPts val="50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90000"/>
              </a:lnSpc>
              <a:spcBef>
                <a:spcPts val="500"/>
              </a:spcBef>
              <a:spcAft>
                <a:spcPts val="0"/>
              </a:spcAft>
              <a:buClr>
                <a:schemeClr val="dk2"/>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0" name="Google Shape;80;p1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1" name="Google Shape;81;p1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2" name="Google Shape;82;p1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3412930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83"/>
        <p:cNvGrpSpPr/>
        <p:nvPr/>
      </p:nvGrpSpPr>
      <p:grpSpPr>
        <a:xfrm>
          <a:off x="0" y="0"/>
          <a:ext cx="0" cy="0"/>
          <a:chOff x="0" y="0"/>
          <a:chExt cx="0" cy="0"/>
        </a:xfrm>
      </p:grpSpPr>
      <p:sp>
        <p:nvSpPr>
          <p:cNvPr id="84" name="Google Shape;84;p15"/>
          <p:cNvSpPr txBox="1">
            <a:spLocks noGrp="1"/>
          </p:cNvSpPr>
          <p:nvPr>
            <p:ph type="title"/>
          </p:nvPr>
        </p:nvSpPr>
        <p:spPr>
          <a:xfrm rot="5400000">
            <a:off x="7425900" y="2249025"/>
            <a:ext cx="5226900" cy="26289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2"/>
              </a:buClr>
              <a:buSzPts val="4400"/>
              <a:buFont typeface="Georgia"/>
              <a:buNone/>
              <a:defRPr sz="4400" b="0" i="0" u="none" strike="noStrike" cap="none">
                <a:solidFill>
                  <a:schemeClr val="dk2"/>
                </a:solidFill>
                <a:latin typeface="Georgia"/>
                <a:ea typeface="Georgia"/>
                <a:cs typeface="Georgia"/>
                <a:sym typeface="Georgi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85" name="Google Shape;85;p15"/>
          <p:cNvSpPr txBox="1">
            <a:spLocks noGrp="1"/>
          </p:cNvSpPr>
          <p:nvPr>
            <p:ph type="body" idx="1"/>
          </p:nvPr>
        </p:nvSpPr>
        <p:spPr>
          <a:xfrm rot="5400000">
            <a:off x="2091900" y="-303675"/>
            <a:ext cx="5226900" cy="77343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90000"/>
              </a:lnSpc>
              <a:spcBef>
                <a:spcPts val="50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90000"/>
              </a:lnSpc>
              <a:spcBef>
                <a:spcPts val="500"/>
              </a:spcBef>
              <a:spcAft>
                <a:spcPts val="0"/>
              </a:spcAft>
              <a:buClr>
                <a:schemeClr val="dk2"/>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6" name="Google Shape;86;p1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7" name="Google Shape;87;p1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8" name="Google Shape;88;p1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9170655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image" Target="../media/image2.jpg"/><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133945"/>
            <a:ext cx="12192000" cy="1009054"/>
          </a:xfrm>
          <a:prstGeom prst="rect">
            <a:avLst/>
          </a:prstGeom>
        </p:spPr>
      </p:pic>
      <p:sp>
        <p:nvSpPr>
          <p:cNvPr id="2" name="Holder 2"/>
          <p:cNvSpPr>
            <a:spLocks noGrp="1"/>
          </p:cNvSpPr>
          <p:nvPr>
            <p:ph type="title"/>
          </p:nvPr>
        </p:nvSpPr>
        <p:spPr>
          <a:xfrm>
            <a:off x="410375" y="1188547"/>
            <a:ext cx="4366895" cy="655319"/>
          </a:xfrm>
          <a:prstGeom prst="rect">
            <a:avLst/>
          </a:prstGeom>
        </p:spPr>
        <p:txBody>
          <a:bodyPr wrap="square" lIns="0" tIns="0" rIns="0" bIns="0">
            <a:spAutoFit/>
          </a:bodyPr>
          <a:lstStyle>
            <a:lvl1pPr>
              <a:defRPr sz="2500" b="0" i="0">
                <a:solidFill>
                  <a:srgbClr val="0F2044"/>
                </a:solidFill>
                <a:latin typeface="Georgia"/>
                <a:cs typeface="Georgia"/>
              </a:defRPr>
            </a:lvl1pPr>
          </a:lstStyle>
          <a:p>
            <a:endParaRPr/>
          </a:p>
        </p:txBody>
      </p:sp>
      <p:sp>
        <p:nvSpPr>
          <p:cNvPr id="3" name="Holder 3"/>
          <p:cNvSpPr>
            <a:spLocks noGrp="1"/>
          </p:cNvSpPr>
          <p:nvPr>
            <p:ph type="body" idx="1"/>
          </p:nvPr>
        </p:nvSpPr>
        <p:spPr>
          <a:xfrm>
            <a:off x="410375" y="2074490"/>
            <a:ext cx="10798810" cy="2560954"/>
          </a:xfrm>
          <a:prstGeom prst="rect">
            <a:avLst/>
          </a:prstGeom>
        </p:spPr>
        <p:txBody>
          <a:bodyPr wrap="square" lIns="0" tIns="0" rIns="0" bIns="0">
            <a:spAutoFit/>
          </a:bodyPr>
          <a:lstStyle>
            <a:lvl1pPr>
              <a:defRPr sz="2300" b="0" i="0">
                <a:solidFill>
                  <a:srgbClr val="0F2044"/>
                </a:solidFill>
                <a:latin typeface="Arial MT"/>
                <a:cs typeface="Arial MT"/>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3/31/2026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14"/>
        <p:cNvGrpSpPr/>
        <p:nvPr/>
      </p:nvGrpSpPr>
      <p:grpSpPr>
        <a:xfrm>
          <a:off x="0" y="0"/>
          <a:ext cx="0" cy="0"/>
          <a:chOff x="0" y="0"/>
          <a:chExt cx="0" cy="0"/>
        </a:xfrm>
      </p:grpSpPr>
      <p:sp>
        <p:nvSpPr>
          <p:cNvPr id="15" name="Google Shape;15;p4"/>
          <p:cNvSpPr txBox="1">
            <a:spLocks noGrp="1"/>
          </p:cNvSpPr>
          <p:nvPr>
            <p:ph type="title"/>
          </p:nvPr>
        </p:nvSpPr>
        <p:spPr>
          <a:xfrm>
            <a:off x="838200" y="973777"/>
            <a:ext cx="10515600" cy="11745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2"/>
              </a:buClr>
              <a:buSzPts val="4400"/>
              <a:buFont typeface="Georgia"/>
              <a:buNone/>
              <a:defRPr sz="4400" b="0" i="0" u="none" strike="noStrike" cap="none">
                <a:solidFill>
                  <a:schemeClr val="dk2"/>
                </a:solidFill>
                <a:latin typeface="Georgia"/>
                <a:ea typeface="Georgia"/>
                <a:cs typeface="Georgia"/>
                <a:sym typeface="Georgi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6" name="Google Shape;16;p4"/>
          <p:cNvSpPr txBox="1">
            <a:spLocks noGrp="1"/>
          </p:cNvSpPr>
          <p:nvPr>
            <p:ph type="body" idx="1"/>
          </p:nvPr>
        </p:nvSpPr>
        <p:spPr>
          <a:xfrm>
            <a:off x="838200" y="2327563"/>
            <a:ext cx="10515600" cy="38493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lnSpc>
                <a:spcPct val="90000"/>
              </a:lnSpc>
              <a:spcBef>
                <a:spcPts val="50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lnSpc>
                <a:spcPct val="90000"/>
              </a:lnSpc>
              <a:spcBef>
                <a:spcPts val="500"/>
              </a:spcBef>
              <a:spcAft>
                <a:spcPts val="0"/>
              </a:spcAft>
              <a:buClr>
                <a:schemeClr val="dk2"/>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lnSpc>
                <a:spcPct val="90000"/>
              </a:lnSpc>
              <a:spcBef>
                <a:spcPts val="5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7" name="Google Shape;17;p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8" name="Google Shape;18;p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9" name="Google Shape;19;p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623583911"/>
      </p:ext>
    </p:extLst>
  </p:cSld>
  <p:clrMap bg1="lt1" tx1="dk1" bg2="dk2" tx2="lt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hyperlink" Target="http://www.geeksforgeeks.org/" TargetMode="External"/><Relationship Id="rId2" Type="http://schemas.openxmlformats.org/officeDocument/2006/relationships/image" Target="../media/image7.jpg"/><Relationship Id="rId1" Type="http://schemas.openxmlformats.org/officeDocument/2006/relationships/slideLayout" Target="../slideLayouts/slideLayout2.xml"/><Relationship Id="rId5" Type="http://schemas.openxmlformats.org/officeDocument/2006/relationships/hyperlink" Target="http://www.ques10.com/" TargetMode="External"/><Relationship Id="rId4" Type="http://schemas.openxmlformats.org/officeDocument/2006/relationships/image" Target="../media/image8.jp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5.pn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5.png"/></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5.png"/></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5.png"/></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image" Target="../media/image5.png"/></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11.png"/><Relationship Id="rId4" Type="http://schemas.openxmlformats.org/officeDocument/2006/relationships/image" Target="../media/image5.png"/></Relationships>
</file>

<file path=ppt/slides/_rels/slide37.xml.rels><?xml version="1.0" encoding="UTF-8" standalone="yes"?>
<Relationships xmlns="http://schemas.openxmlformats.org/package/2006/relationships"><Relationship Id="rId3" Type="http://schemas.openxmlformats.org/officeDocument/2006/relationships/hyperlink" Target="http://www.baeldung.com/" TargetMode="External"/><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hyperlink" Target="http://www.baeldung.com/" TargetMode="External"/></Relationships>
</file>

<file path=ppt/slides/_rels/slide3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www.scaler.com/" TargetMode="External"/><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hyperlink" Target="http://www.beningo.com/" TargetMode="External"/></Relationships>
</file>

<file path=ppt/slides/_rels/slide4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62183" y="2702546"/>
            <a:ext cx="8662035" cy="772160"/>
          </a:xfrm>
          <a:prstGeom prst="rect">
            <a:avLst/>
          </a:prstGeom>
        </p:spPr>
        <p:txBody>
          <a:bodyPr vert="horz" wrap="square" lIns="0" tIns="12700" rIns="0" bIns="0" rtlCol="0">
            <a:spAutoFit/>
          </a:bodyPr>
          <a:lstStyle/>
          <a:p>
            <a:pPr marL="12700">
              <a:lnSpc>
                <a:spcPct val="100000"/>
              </a:lnSpc>
              <a:spcBef>
                <a:spcPts val="100"/>
              </a:spcBef>
            </a:pPr>
            <a:r>
              <a:rPr sz="4900" dirty="0"/>
              <a:t>CSC</a:t>
            </a:r>
            <a:r>
              <a:rPr sz="4900" spc="-85" dirty="0"/>
              <a:t> </a:t>
            </a:r>
            <a:r>
              <a:rPr sz="4900" dirty="0"/>
              <a:t>362:</a:t>
            </a:r>
            <a:r>
              <a:rPr sz="4900" spc="-85" dirty="0"/>
              <a:t> </a:t>
            </a:r>
            <a:r>
              <a:rPr sz="4900" dirty="0"/>
              <a:t>System</a:t>
            </a:r>
            <a:r>
              <a:rPr sz="4900" spc="-90" dirty="0"/>
              <a:t> </a:t>
            </a:r>
            <a:r>
              <a:rPr sz="4900" spc="-10" dirty="0"/>
              <a:t>Programming</a:t>
            </a:r>
            <a:endParaRPr sz="4900"/>
          </a:p>
        </p:txBody>
      </p:sp>
      <p:sp>
        <p:nvSpPr>
          <p:cNvPr id="3" name="object 3"/>
          <p:cNvSpPr txBox="1"/>
          <p:nvPr/>
        </p:nvSpPr>
        <p:spPr>
          <a:xfrm>
            <a:off x="5363120" y="3585985"/>
            <a:ext cx="146558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F2044"/>
                </a:solidFill>
                <a:latin typeface="Arial MT"/>
                <a:cs typeface="Arial MT"/>
              </a:rPr>
              <a:t>Lecture</a:t>
            </a:r>
            <a:r>
              <a:rPr sz="2400" spc="-120" dirty="0">
                <a:solidFill>
                  <a:srgbClr val="0F2044"/>
                </a:solidFill>
                <a:latin typeface="Arial MT"/>
                <a:cs typeface="Arial MT"/>
              </a:rPr>
              <a:t> </a:t>
            </a:r>
            <a:r>
              <a:rPr sz="2400" spc="-25" dirty="0">
                <a:solidFill>
                  <a:srgbClr val="0F2044"/>
                </a:solidFill>
                <a:latin typeface="Arial MT"/>
                <a:cs typeface="Arial MT"/>
              </a:rPr>
              <a:t>18</a:t>
            </a:r>
            <a:endParaRPr sz="2400">
              <a:latin typeface="Arial MT"/>
              <a:cs typeface="Arial MT"/>
            </a:endParaRPr>
          </a:p>
        </p:txBody>
      </p:sp>
      <p:sp>
        <p:nvSpPr>
          <p:cNvPr id="6" name="object 6">
            <a:extLst>
              <a:ext uri="{C183D7F6-B498-43B3-948B-1728B52AA6E4}">
                <adec:decorative xmlns:adec="http://schemas.microsoft.com/office/drawing/2017/decorative" val="1"/>
              </a:ext>
            </a:extLst>
          </p:cNvPr>
          <p:cNvSpPr/>
          <p:nvPr/>
        </p:nvSpPr>
        <p:spPr>
          <a:xfrm>
            <a:off x="1618174" y="4145624"/>
            <a:ext cx="9054465" cy="31115"/>
          </a:xfrm>
          <a:custGeom>
            <a:avLst/>
            <a:gdLst/>
            <a:ahLst/>
            <a:cxnLst/>
            <a:rect l="l" t="t" r="r" b="b"/>
            <a:pathLst>
              <a:path w="9054465" h="31114">
                <a:moveTo>
                  <a:pt x="0" y="0"/>
                </a:moveTo>
                <a:lnTo>
                  <a:pt x="9053999" y="30899"/>
                </a:lnTo>
              </a:path>
            </a:pathLst>
          </a:custGeom>
          <a:ln w="9524">
            <a:solidFill>
              <a:srgbClr val="0F2044"/>
            </a:solidFill>
          </a:ln>
        </p:spPr>
        <p:txBody>
          <a:bodyPr wrap="square" lIns="0" tIns="0" rIns="0" bIns="0" rtlCol="0"/>
          <a:lstStyle/>
          <a:p>
            <a:endParaRPr/>
          </a:p>
        </p:txBody>
      </p:sp>
      <p:sp>
        <p:nvSpPr>
          <p:cNvPr id="7" name="TextBox 6">
            <a:extLst>
              <a:ext uri="{FF2B5EF4-FFF2-40B4-BE49-F238E27FC236}">
                <a16:creationId xmlns:a16="http://schemas.microsoft.com/office/drawing/2014/main" id="{6C452CEC-7597-5CFC-63D0-EED5693D3548}"/>
              </a:ext>
            </a:extLst>
          </p:cNvPr>
          <p:cNvSpPr txBox="1"/>
          <p:nvPr/>
        </p:nvSpPr>
        <p:spPr>
          <a:xfrm>
            <a:off x="3098244" y="4267200"/>
            <a:ext cx="6094324" cy="678134"/>
          </a:xfrm>
          <a:prstGeom prst="rect">
            <a:avLst/>
          </a:prstGeom>
          <a:noFill/>
        </p:spPr>
        <p:txBody>
          <a:bodyPr wrap="square">
            <a:spAutoFit/>
          </a:bodyPr>
          <a:lstStyle/>
          <a:p>
            <a:pPr marL="0" marR="0" lvl="0" indent="0" algn="ctr" rtl="0">
              <a:lnSpc>
                <a:spcPct val="110000"/>
              </a:lnSpc>
              <a:spcBef>
                <a:spcPts val="0"/>
              </a:spcBef>
              <a:spcAft>
                <a:spcPts val="0"/>
              </a:spcAft>
              <a:buClr>
                <a:schemeClr val="dk2"/>
              </a:buClr>
              <a:buSzPts val="2400"/>
              <a:buFont typeface="Arial"/>
              <a:buNone/>
            </a:pPr>
            <a:r>
              <a:rPr lang="en-US" dirty="0"/>
              <a:t>Original slides by: Amitabha Dey</a:t>
            </a:r>
          </a:p>
          <a:p>
            <a:pPr marL="0" marR="0" lvl="0" indent="0" algn="ctr" rtl="0">
              <a:lnSpc>
                <a:spcPct val="110000"/>
              </a:lnSpc>
              <a:spcBef>
                <a:spcPts val="0"/>
              </a:spcBef>
              <a:spcAft>
                <a:spcPts val="0"/>
              </a:spcAft>
              <a:buClr>
                <a:schemeClr val="dk2"/>
              </a:buClr>
              <a:buSzPts val="2400"/>
              <a:buFont typeface="Arial"/>
              <a:buNone/>
            </a:pPr>
            <a:r>
              <a:rPr lang="en-US" dirty="0"/>
              <a:t>Adapted by: Dr. Richard Johnson</a:t>
            </a:r>
          </a:p>
        </p:txBody>
      </p:sp>
      <p:sp>
        <p:nvSpPr>
          <p:cNvPr id="5" name="object 5"/>
          <p:cNvSpPr txBox="1"/>
          <p:nvPr/>
        </p:nvSpPr>
        <p:spPr>
          <a:xfrm>
            <a:off x="3203401" y="5437645"/>
            <a:ext cx="5782310" cy="720725"/>
          </a:xfrm>
          <a:prstGeom prst="rect">
            <a:avLst/>
          </a:prstGeom>
        </p:spPr>
        <p:txBody>
          <a:bodyPr vert="horz" wrap="square" lIns="0" tIns="53975" rIns="0" bIns="0" rtlCol="0">
            <a:spAutoFit/>
          </a:bodyPr>
          <a:lstStyle/>
          <a:p>
            <a:pPr marL="12700" marR="5080" indent="617855">
              <a:lnSpc>
                <a:spcPts val="2590"/>
              </a:lnSpc>
              <a:spcBef>
                <a:spcPts val="425"/>
              </a:spcBef>
            </a:pPr>
            <a:r>
              <a:rPr sz="2400" spc="-10" dirty="0">
                <a:solidFill>
                  <a:srgbClr val="0F2044"/>
                </a:solidFill>
                <a:latin typeface="Arial MT"/>
                <a:cs typeface="Arial MT"/>
              </a:rPr>
              <a:t>Department</a:t>
            </a:r>
            <a:r>
              <a:rPr sz="2400" spc="-70" dirty="0">
                <a:solidFill>
                  <a:srgbClr val="0F2044"/>
                </a:solidFill>
                <a:latin typeface="Arial MT"/>
                <a:cs typeface="Arial MT"/>
              </a:rPr>
              <a:t> </a:t>
            </a:r>
            <a:r>
              <a:rPr sz="2400" dirty="0">
                <a:solidFill>
                  <a:srgbClr val="0F2044"/>
                </a:solidFill>
                <a:latin typeface="Arial MT"/>
                <a:cs typeface="Arial MT"/>
              </a:rPr>
              <a:t>of</a:t>
            </a:r>
            <a:r>
              <a:rPr sz="2400" spc="-65" dirty="0">
                <a:solidFill>
                  <a:srgbClr val="0F2044"/>
                </a:solidFill>
                <a:latin typeface="Arial MT"/>
                <a:cs typeface="Arial MT"/>
              </a:rPr>
              <a:t> </a:t>
            </a:r>
            <a:r>
              <a:rPr sz="2400" dirty="0">
                <a:solidFill>
                  <a:srgbClr val="0F2044"/>
                </a:solidFill>
                <a:latin typeface="Arial MT"/>
                <a:cs typeface="Arial MT"/>
              </a:rPr>
              <a:t>Computer</a:t>
            </a:r>
            <a:r>
              <a:rPr sz="2400" spc="-65" dirty="0">
                <a:solidFill>
                  <a:srgbClr val="0F2044"/>
                </a:solidFill>
                <a:latin typeface="Arial MT"/>
                <a:cs typeface="Arial MT"/>
              </a:rPr>
              <a:t> </a:t>
            </a:r>
            <a:r>
              <a:rPr sz="2400" spc="-10" dirty="0">
                <a:solidFill>
                  <a:srgbClr val="0F2044"/>
                </a:solidFill>
                <a:latin typeface="Arial MT"/>
                <a:cs typeface="Arial MT"/>
              </a:rPr>
              <a:t>Science </a:t>
            </a:r>
            <a:r>
              <a:rPr sz="2400" dirty="0">
                <a:solidFill>
                  <a:srgbClr val="0F2044"/>
                </a:solidFill>
                <a:latin typeface="Arial MT"/>
                <a:cs typeface="Arial MT"/>
              </a:rPr>
              <a:t>University</a:t>
            </a:r>
            <a:r>
              <a:rPr sz="2400" spc="-70" dirty="0">
                <a:solidFill>
                  <a:srgbClr val="0F2044"/>
                </a:solidFill>
                <a:latin typeface="Arial MT"/>
                <a:cs typeface="Arial MT"/>
              </a:rPr>
              <a:t> </a:t>
            </a:r>
            <a:r>
              <a:rPr sz="2400" dirty="0">
                <a:solidFill>
                  <a:srgbClr val="0F2044"/>
                </a:solidFill>
                <a:latin typeface="Arial MT"/>
                <a:cs typeface="Arial MT"/>
              </a:rPr>
              <a:t>of</a:t>
            </a:r>
            <a:r>
              <a:rPr sz="2400" spc="-70" dirty="0">
                <a:solidFill>
                  <a:srgbClr val="0F2044"/>
                </a:solidFill>
                <a:latin typeface="Arial MT"/>
                <a:cs typeface="Arial MT"/>
              </a:rPr>
              <a:t> </a:t>
            </a:r>
            <a:r>
              <a:rPr sz="2400" dirty="0">
                <a:solidFill>
                  <a:srgbClr val="0F2044"/>
                </a:solidFill>
                <a:latin typeface="Arial MT"/>
                <a:cs typeface="Arial MT"/>
              </a:rPr>
              <a:t>North</a:t>
            </a:r>
            <a:r>
              <a:rPr sz="2400" spc="-70" dirty="0">
                <a:solidFill>
                  <a:srgbClr val="0F2044"/>
                </a:solidFill>
                <a:latin typeface="Arial MT"/>
                <a:cs typeface="Arial MT"/>
              </a:rPr>
              <a:t> </a:t>
            </a:r>
            <a:r>
              <a:rPr sz="2400" dirty="0">
                <a:solidFill>
                  <a:srgbClr val="0F2044"/>
                </a:solidFill>
                <a:latin typeface="Arial MT"/>
                <a:cs typeface="Arial MT"/>
              </a:rPr>
              <a:t>Carolina</a:t>
            </a:r>
            <a:r>
              <a:rPr sz="2400" spc="-70" dirty="0">
                <a:solidFill>
                  <a:srgbClr val="0F2044"/>
                </a:solidFill>
                <a:latin typeface="Arial MT"/>
                <a:cs typeface="Arial MT"/>
              </a:rPr>
              <a:t> </a:t>
            </a:r>
            <a:r>
              <a:rPr sz="2400" dirty="0">
                <a:solidFill>
                  <a:srgbClr val="0F2044"/>
                </a:solidFill>
                <a:latin typeface="Arial MT"/>
                <a:cs typeface="Arial MT"/>
              </a:rPr>
              <a:t>at</a:t>
            </a:r>
            <a:r>
              <a:rPr sz="2400" spc="-65" dirty="0">
                <a:solidFill>
                  <a:srgbClr val="0F2044"/>
                </a:solidFill>
                <a:latin typeface="Arial MT"/>
                <a:cs typeface="Arial MT"/>
              </a:rPr>
              <a:t> </a:t>
            </a:r>
            <a:r>
              <a:rPr sz="2400" spc="-10" dirty="0">
                <a:solidFill>
                  <a:srgbClr val="0F2044"/>
                </a:solidFill>
                <a:latin typeface="Arial MT"/>
                <a:cs typeface="Arial MT"/>
              </a:rPr>
              <a:t>Greensboro</a:t>
            </a:r>
            <a:endParaRPr sz="2400">
              <a:latin typeface="Arial MT"/>
              <a:cs typeface="Arial M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0375" y="1435436"/>
            <a:ext cx="1834514" cy="406400"/>
          </a:xfrm>
          <a:prstGeom prst="rect">
            <a:avLst/>
          </a:prstGeom>
        </p:spPr>
        <p:txBody>
          <a:bodyPr vert="horz" wrap="square" lIns="0" tIns="12700" rIns="0" bIns="0" rtlCol="0">
            <a:spAutoFit/>
          </a:bodyPr>
          <a:lstStyle/>
          <a:p>
            <a:pPr marL="12700">
              <a:lnSpc>
                <a:spcPct val="100000"/>
              </a:lnSpc>
              <a:spcBef>
                <a:spcPts val="100"/>
              </a:spcBef>
            </a:pPr>
            <a:r>
              <a:rPr dirty="0"/>
              <a:t>Status</a:t>
            </a:r>
            <a:r>
              <a:rPr spc="-30" dirty="0"/>
              <a:t> </a:t>
            </a:r>
            <a:r>
              <a:rPr spc="-10" dirty="0"/>
              <a:t>Check</a:t>
            </a:r>
          </a:p>
        </p:txBody>
      </p:sp>
      <p:sp>
        <p:nvSpPr>
          <p:cNvPr id="3" name="object 3"/>
          <p:cNvSpPr txBox="1"/>
          <p:nvPr/>
        </p:nvSpPr>
        <p:spPr>
          <a:xfrm>
            <a:off x="654862" y="1823430"/>
            <a:ext cx="5817870" cy="1054100"/>
          </a:xfrm>
          <a:prstGeom prst="rect">
            <a:avLst/>
          </a:prstGeom>
        </p:spPr>
        <p:txBody>
          <a:bodyPr vert="horz" wrap="square" lIns="0" tIns="127000" rIns="0" bIns="0" rtlCol="0">
            <a:spAutoFit/>
          </a:bodyPr>
          <a:lstStyle/>
          <a:p>
            <a:pPr marL="356235" indent="-343535">
              <a:lnSpc>
                <a:spcPct val="100000"/>
              </a:lnSpc>
              <a:spcBef>
                <a:spcPts val="1000"/>
              </a:spcBef>
              <a:buChar char="●"/>
              <a:tabLst>
                <a:tab pos="356235" algn="l"/>
              </a:tabLst>
            </a:pPr>
            <a:r>
              <a:rPr sz="1500" dirty="0">
                <a:solidFill>
                  <a:srgbClr val="0F2044"/>
                </a:solidFill>
                <a:latin typeface="Arial MT"/>
                <a:cs typeface="Arial MT"/>
              </a:rPr>
              <a:t>Threads</a:t>
            </a:r>
            <a:r>
              <a:rPr sz="1500" spc="-35" dirty="0">
                <a:solidFill>
                  <a:srgbClr val="0F2044"/>
                </a:solidFill>
                <a:latin typeface="Arial MT"/>
                <a:cs typeface="Arial MT"/>
              </a:rPr>
              <a:t> </a:t>
            </a:r>
            <a:r>
              <a:rPr sz="1500" dirty="0">
                <a:solidFill>
                  <a:srgbClr val="0F2044"/>
                </a:solidFill>
                <a:latin typeface="Arial MT"/>
                <a:cs typeface="Arial MT"/>
              </a:rPr>
              <a:t>vs</a:t>
            </a:r>
            <a:r>
              <a:rPr sz="1500" spc="-35" dirty="0">
                <a:solidFill>
                  <a:srgbClr val="0F2044"/>
                </a:solidFill>
                <a:latin typeface="Arial MT"/>
                <a:cs typeface="Arial MT"/>
              </a:rPr>
              <a:t> </a:t>
            </a:r>
            <a:r>
              <a:rPr sz="1500" spc="-10" dirty="0">
                <a:solidFill>
                  <a:srgbClr val="0F2044"/>
                </a:solidFill>
                <a:latin typeface="Arial MT"/>
                <a:cs typeface="Arial MT"/>
              </a:rPr>
              <a:t>Processes</a:t>
            </a:r>
            <a:endParaRPr sz="1500">
              <a:latin typeface="Arial MT"/>
              <a:cs typeface="Arial MT"/>
            </a:endParaRPr>
          </a:p>
          <a:p>
            <a:pPr marL="356235" indent="-343535">
              <a:lnSpc>
                <a:spcPct val="100000"/>
              </a:lnSpc>
              <a:spcBef>
                <a:spcPts val="900"/>
              </a:spcBef>
              <a:buChar char="●"/>
              <a:tabLst>
                <a:tab pos="356235" algn="l"/>
              </a:tabLst>
            </a:pPr>
            <a:r>
              <a:rPr sz="1500" spc="-20" dirty="0">
                <a:solidFill>
                  <a:srgbClr val="0F2044"/>
                </a:solidFill>
                <a:latin typeface="Arial MT"/>
                <a:cs typeface="Arial MT"/>
              </a:rPr>
              <a:t>Multi-</a:t>
            </a:r>
            <a:r>
              <a:rPr sz="1500" dirty="0">
                <a:solidFill>
                  <a:srgbClr val="0F2044"/>
                </a:solidFill>
                <a:latin typeface="Arial MT"/>
                <a:cs typeface="Arial MT"/>
              </a:rPr>
              <a:t>threaded</a:t>
            </a:r>
            <a:r>
              <a:rPr sz="1500" spc="-50" dirty="0">
                <a:solidFill>
                  <a:srgbClr val="0F2044"/>
                </a:solidFill>
                <a:latin typeface="Arial MT"/>
                <a:cs typeface="Arial MT"/>
              </a:rPr>
              <a:t> </a:t>
            </a:r>
            <a:r>
              <a:rPr sz="1500" dirty="0">
                <a:solidFill>
                  <a:srgbClr val="0F2044"/>
                </a:solidFill>
                <a:latin typeface="Arial MT"/>
                <a:cs typeface="Arial MT"/>
              </a:rPr>
              <a:t>Programs</a:t>
            </a:r>
            <a:r>
              <a:rPr sz="1500" spc="-45" dirty="0">
                <a:solidFill>
                  <a:srgbClr val="0F2044"/>
                </a:solidFill>
                <a:latin typeface="Arial MT"/>
                <a:cs typeface="Arial MT"/>
              </a:rPr>
              <a:t> </a:t>
            </a:r>
            <a:r>
              <a:rPr sz="1500" dirty="0">
                <a:solidFill>
                  <a:srgbClr val="0F2044"/>
                </a:solidFill>
                <a:latin typeface="Arial MT"/>
                <a:cs typeface="Arial MT"/>
              </a:rPr>
              <a:t>in</a:t>
            </a:r>
            <a:r>
              <a:rPr sz="1500" spc="-45" dirty="0">
                <a:solidFill>
                  <a:srgbClr val="0F2044"/>
                </a:solidFill>
                <a:latin typeface="Arial MT"/>
                <a:cs typeface="Arial MT"/>
              </a:rPr>
              <a:t> </a:t>
            </a:r>
            <a:r>
              <a:rPr sz="1500" spc="-50" dirty="0">
                <a:solidFill>
                  <a:srgbClr val="0F2044"/>
                </a:solidFill>
                <a:latin typeface="Arial MT"/>
                <a:cs typeface="Arial MT"/>
              </a:rPr>
              <a:t>C</a:t>
            </a:r>
            <a:endParaRPr sz="1500">
              <a:latin typeface="Arial MT"/>
              <a:cs typeface="Arial MT"/>
            </a:endParaRPr>
          </a:p>
          <a:p>
            <a:pPr marL="813435" lvl="1" indent="-344170">
              <a:lnSpc>
                <a:spcPct val="100000"/>
              </a:lnSpc>
              <a:spcBef>
                <a:spcPts val="900"/>
              </a:spcBef>
              <a:buChar char="○"/>
              <a:tabLst>
                <a:tab pos="813435" algn="l"/>
              </a:tabLst>
            </a:pPr>
            <a:r>
              <a:rPr sz="1500" spc="-10" dirty="0">
                <a:solidFill>
                  <a:srgbClr val="0F2044"/>
                </a:solidFill>
                <a:latin typeface="Arial MT"/>
                <a:cs typeface="Arial MT"/>
              </a:rPr>
              <a:t>pthread_create,</a:t>
            </a:r>
            <a:r>
              <a:rPr sz="1500" spc="-25" dirty="0">
                <a:solidFill>
                  <a:srgbClr val="0F2044"/>
                </a:solidFill>
                <a:latin typeface="Arial MT"/>
                <a:cs typeface="Arial MT"/>
              </a:rPr>
              <a:t> </a:t>
            </a:r>
            <a:r>
              <a:rPr sz="1500" spc="-10" dirty="0">
                <a:solidFill>
                  <a:srgbClr val="0F2044"/>
                </a:solidFill>
                <a:latin typeface="Arial MT"/>
                <a:cs typeface="Arial MT"/>
              </a:rPr>
              <a:t>pthread_join,</a:t>
            </a:r>
            <a:r>
              <a:rPr sz="1500" spc="-25" dirty="0">
                <a:solidFill>
                  <a:srgbClr val="0F2044"/>
                </a:solidFill>
                <a:latin typeface="Arial MT"/>
                <a:cs typeface="Arial MT"/>
              </a:rPr>
              <a:t> </a:t>
            </a:r>
            <a:r>
              <a:rPr sz="1500" spc="-10" dirty="0">
                <a:solidFill>
                  <a:srgbClr val="0F2044"/>
                </a:solidFill>
                <a:latin typeface="Arial MT"/>
                <a:cs typeface="Arial MT"/>
              </a:rPr>
              <a:t>pthread_exit,</a:t>
            </a:r>
            <a:r>
              <a:rPr sz="1500" spc="-25" dirty="0">
                <a:solidFill>
                  <a:srgbClr val="0F2044"/>
                </a:solidFill>
                <a:latin typeface="Arial MT"/>
                <a:cs typeface="Arial MT"/>
              </a:rPr>
              <a:t> </a:t>
            </a:r>
            <a:r>
              <a:rPr sz="1500" spc="-10" dirty="0">
                <a:solidFill>
                  <a:srgbClr val="0F2044"/>
                </a:solidFill>
                <a:latin typeface="Arial MT"/>
                <a:cs typeface="Arial MT"/>
              </a:rPr>
              <a:t>pthread_cancel</a:t>
            </a:r>
            <a:endParaRPr sz="1500">
              <a:latin typeface="Arial MT"/>
              <a:cs typeface="Arial MT"/>
            </a:endParaRPr>
          </a:p>
        </p:txBody>
      </p:sp>
      <p:sp>
        <p:nvSpPr>
          <p:cNvPr id="4" name="object 4"/>
          <p:cNvSpPr txBox="1"/>
          <p:nvPr/>
        </p:nvSpPr>
        <p:spPr>
          <a:xfrm>
            <a:off x="541325" y="3127217"/>
            <a:ext cx="3526154" cy="406400"/>
          </a:xfrm>
          <a:prstGeom prst="rect">
            <a:avLst/>
          </a:prstGeom>
        </p:spPr>
        <p:txBody>
          <a:bodyPr vert="horz" wrap="square" lIns="0" tIns="12700" rIns="0" bIns="0" rtlCol="0">
            <a:spAutoFit/>
          </a:bodyPr>
          <a:lstStyle/>
          <a:p>
            <a:pPr marL="12700">
              <a:lnSpc>
                <a:spcPct val="100000"/>
              </a:lnSpc>
              <a:spcBef>
                <a:spcPts val="100"/>
              </a:spcBef>
            </a:pPr>
            <a:r>
              <a:rPr sz="2500" dirty="0">
                <a:solidFill>
                  <a:srgbClr val="0F2044"/>
                </a:solidFill>
                <a:latin typeface="Georgia"/>
                <a:cs typeface="Georgia"/>
              </a:rPr>
              <a:t>What</a:t>
            </a:r>
            <a:r>
              <a:rPr sz="2500" spc="-35" dirty="0">
                <a:solidFill>
                  <a:srgbClr val="0F2044"/>
                </a:solidFill>
                <a:latin typeface="Georgia"/>
                <a:cs typeface="Georgia"/>
              </a:rPr>
              <a:t> </a:t>
            </a:r>
            <a:r>
              <a:rPr sz="2500" dirty="0">
                <a:solidFill>
                  <a:srgbClr val="0F2044"/>
                </a:solidFill>
                <a:latin typeface="Georgia"/>
                <a:cs typeface="Georgia"/>
              </a:rPr>
              <a:t>we</a:t>
            </a:r>
            <a:r>
              <a:rPr sz="2500" spc="-35" dirty="0">
                <a:solidFill>
                  <a:srgbClr val="0F2044"/>
                </a:solidFill>
                <a:latin typeface="Georgia"/>
                <a:cs typeface="Georgia"/>
              </a:rPr>
              <a:t> </a:t>
            </a:r>
            <a:r>
              <a:rPr sz="2500" dirty="0">
                <a:solidFill>
                  <a:srgbClr val="0F2044"/>
                </a:solidFill>
                <a:latin typeface="Georgia"/>
                <a:cs typeface="Georgia"/>
              </a:rPr>
              <a:t>will</a:t>
            </a:r>
            <a:r>
              <a:rPr sz="2500" spc="-35" dirty="0">
                <a:solidFill>
                  <a:srgbClr val="0F2044"/>
                </a:solidFill>
                <a:latin typeface="Georgia"/>
                <a:cs typeface="Georgia"/>
              </a:rPr>
              <a:t> </a:t>
            </a:r>
            <a:r>
              <a:rPr sz="2500" dirty="0">
                <a:solidFill>
                  <a:srgbClr val="0F2044"/>
                </a:solidFill>
                <a:latin typeface="Georgia"/>
                <a:cs typeface="Georgia"/>
              </a:rPr>
              <a:t>cover</a:t>
            </a:r>
            <a:r>
              <a:rPr sz="2500" spc="-30" dirty="0">
                <a:solidFill>
                  <a:srgbClr val="0F2044"/>
                </a:solidFill>
                <a:latin typeface="Georgia"/>
                <a:cs typeface="Georgia"/>
              </a:rPr>
              <a:t> </a:t>
            </a:r>
            <a:r>
              <a:rPr sz="2500" spc="-20" dirty="0">
                <a:solidFill>
                  <a:srgbClr val="0F2044"/>
                </a:solidFill>
                <a:latin typeface="Georgia"/>
                <a:cs typeface="Georgia"/>
              </a:rPr>
              <a:t>today</a:t>
            </a:r>
            <a:endParaRPr sz="2500">
              <a:latin typeface="Georgia"/>
              <a:cs typeface="Georgia"/>
            </a:endParaRPr>
          </a:p>
        </p:txBody>
      </p:sp>
      <p:sp>
        <p:nvSpPr>
          <p:cNvPr id="6" name="object 6"/>
          <p:cNvSpPr txBox="1"/>
          <p:nvPr/>
        </p:nvSpPr>
        <p:spPr>
          <a:xfrm>
            <a:off x="654862" y="3570605"/>
            <a:ext cx="4758690" cy="2082800"/>
          </a:xfrm>
          <a:prstGeom prst="rect">
            <a:avLst/>
          </a:prstGeom>
        </p:spPr>
        <p:txBody>
          <a:bodyPr vert="horz" wrap="square" lIns="0" tIns="127000" rIns="0" bIns="0" rtlCol="0">
            <a:spAutoFit/>
          </a:bodyPr>
          <a:lstStyle/>
          <a:p>
            <a:pPr marL="356235" indent="-343535">
              <a:lnSpc>
                <a:spcPct val="100000"/>
              </a:lnSpc>
              <a:spcBef>
                <a:spcPts val="1000"/>
              </a:spcBef>
              <a:buChar char="●"/>
              <a:tabLst>
                <a:tab pos="356235" algn="l"/>
              </a:tabLst>
            </a:pPr>
            <a:r>
              <a:rPr sz="1500" dirty="0">
                <a:solidFill>
                  <a:srgbClr val="0F2044"/>
                </a:solidFill>
                <a:latin typeface="Arial MT"/>
                <a:cs typeface="Arial MT"/>
              </a:rPr>
              <a:t>Race</a:t>
            </a:r>
            <a:r>
              <a:rPr sz="1500" spc="-60" dirty="0">
                <a:solidFill>
                  <a:srgbClr val="0F2044"/>
                </a:solidFill>
                <a:latin typeface="Arial MT"/>
                <a:cs typeface="Arial MT"/>
              </a:rPr>
              <a:t> </a:t>
            </a:r>
            <a:r>
              <a:rPr sz="1500" spc="-10" dirty="0">
                <a:solidFill>
                  <a:srgbClr val="0F2044"/>
                </a:solidFill>
                <a:latin typeface="Arial MT"/>
                <a:cs typeface="Arial MT"/>
              </a:rPr>
              <a:t>Conditions</a:t>
            </a:r>
            <a:endParaRPr sz="1500">
              <a:latin typeface="Arial MT"/>
              <a:cs typeface="Arial MT"/>
            </a:endParaRPr>
          </a:p>
          <a:p>
            <a:pPr marL="356235" indent="-343535">
              <a:lnSpc>
                <a:spcPct val="100000"/>
              </a:lnSpc>
              <a:spcBef>
                <a:spcPts val="900"/>
              </a:spcBef>
              <a:buChar char="●"/>
              <a:tabLst>
                <a:tab pos="356235" algn="l"/>
              </a:tabLst>
            </a:pPr>
            <a:r>
              <a:rPr sz="1500" dirty="0">
                <a:solidFill>
                  <a:srgbClr val="0F2044"/>
                </a:solidFill>
                <a:latin typeface="Arial MT"/>
                <a:cs typeface="Arial MT"/>
              </a:rPr>
              <a:t>Critical</a:t>
            </a:r>
            <a:r>
              <a:rPr sz="1500" spc="-90" dirty="0">
                <a:solidFill>
                  <a:srgbClr val="0F2044"/>
                </a:solidFill>
                <a:latin typeface="Arial MT"/>
                <a:cs typeface="Arial MT"/>
              </a:rPr>
              <a:t> </a:t>
            </a:r>
            <a:r>
              <a:rPr sz="1500" spc="-10" dirty="0">
                <a:solidFill>
                  <a:srgbClr val="0F2044"/>
                </a:solidFill>
                <a:latin typeface="Arial MT"/>
                <a:cs typeface="Arial MT"/>
              </a:rPr>
              <a:t>Sections</a:t>
            </a:r>
            <a:endParaRPr sz="1500">
              <a:latin typeface="Arial MT"/>
              <a:cs typeface="Arial MT"/>
            </a:endParaRPr>
          </a:p>
          <a:p>
            <a:pPr marL="356235" indent="-343535">
              <a:lnSpc>
                <a:spcPct val="100000"/>
              </a:lnSpc>
              <a:spcBef>
                <a:spcPts val="900"/>
              </a:spcBef>
              <a:buChar char="●"/>
              <a:tabLst>
                <a:tab pos="356235" algn="l"/>
              </a:tabLst>
            </a:pPr>
            <a:r>
              <a:rPr sz="1500" dirty="0">
                <a:solidFill>
                  <a:srgbClr val="0F2044"/>
                </a:solidFill>
                <a:latin typeface="Arial MT"/>
                <a:cs typeface="Arial MT"/>
              </a:rPr>
              <a:t>Atomic</a:t>
            </a:r>
            <a:r>
              <a:rPr sz="1500" spc="-55" dirty="0">
                <a:solidFill>
                  <a:srgbClr val="0F2044"/>
                </a:solidFill>
                <a:latin typeface="Arial MT"/>
                <a:cs typeface="Arial MT"/>
              </a:rPr>
              <a:t> </a:t>
            </a:r>
            <a:r>
              <a:rPr sz="1500" spc="-10" dirty="0">
                <a:solidFill>
                  <a:srgbClr val="0F2044"/>
                </a:solidFill>
                <a:latin typeface="Arial MT"/>
                <a:cs typeface="Arial MT"/>
              </a:rPr>
              <a:t>Operations</a:t>
            </a:r>
            <a:endParaRPr sz="1500">
              <a:latin typeface="Arial MT"/>
              <a:cs typeface="Arial MT"/>
            </a:endParaRPr>
          </a:p>
          <a:p>
            <a:pPr marL="356235" indent="-343535">
              <a:lnSpc>
                <a:spcPct val="100000"/>
              </a:lnSpc>
              <a:spcBef>
                <a:spcPts val="900"/>
              </a:spcBef>
              <a:buChar char="●"/>
              <a:tabLst>
                <a:tab pos="356235" algn="l"/>
              </a:tabLst>
            </a:pPr>
            <a:r>
              <a:rPr sz="1500" dirty="0">
                <a:solidFill>
                  <a:srgbClr val="0F2044"/>
                </a:solidFill>
                <a:latin typeface="Arial MT"/>
                <a:cs typeface="Arial MT"/>
              </a:rPr>
              <a:t>Thread</a:t>
            </a:r>
            <a:r>
              <a:rPr sz="1500" spc="-80" dirty="0">
                <a:solidFill>
                  <a:srgbClr val="0F2044"/>
                </a:solidFill>
                <a:latin typeface="Arial MT"/>
                <a:cs typeface="Arial MT"/>
              </a:rPr>
              <a:t> </a:t>
            </a:r>
            <a:r>
              <a:rPr sz="1500" spc="-10" dirty="0">
                <a:solidFill>
                  <a:srgbClr val="0F2044"/>
                </a:solidFill>
                <a:latin typeface="Arial MT"/>
                <a:cs typeface="Arial MT"/>
              </a:rPr>
              <a:t>Synchronization</a:t>
            </a:r>
            <a:endParaRPr sz="1500">
              <a:latin typeface="Arial MT"/>
              <a:cs typeface="Arial MT"/>
            </a:endParaRPr>
          </a:p>
          <a:p>
            <a:pPr marL="813435" lvl="1" indent="-344170">
              <a:lnSpc>
                <a:spcPct val="100000"/>
              </a:lnSpc>
              <a:spcBef>
                <a:spcPts val="900"/>
              </a:spcBef>
              <a:buChar char="○"/>
              <a:tabLst>
                <a:tab pos="813435" algn="l"/>
              </a:tabLst>
            </a:pPr>
            <a:r>
              <a:rPr sz="1500" dirty="0">
                <a:solidFill>
                  <a:srgbClr val="0F2044"/>
                </a:solidFill>
                <a:latin typeface="Arial MT"/>
                <a:cs typeface="Arial MT"/>
              </a:rPr>
              <a:t>Mutual</a:t>
            </a:r>
            <a:r>
              <a:rPr sz="1500" spc="-50" dirty="0">
                <a:solidFill>
                  <a:srgbClr val="0F2044"/>
                </a:solidFill>
                <a:latin typeface="Arial MT"/>
                <a:cs typeface="Arial MT"/>
              </a:rPr>
              <a:t> </a:t>
            </a:r>
            <a:r>
              <a:rPr sz="1500" spc="-10" dirty="0">
                <a:solidFill>
                  <a:srgbClr val="0F2044"/>
                </a:solidFill>
                <a:latin typeface="Arial MT"/>
                <a:cs typeface="Arial MT"/>
              </a:rPr>
              <a:t>Exclusion:</a:t>
            </a:r>
            <a:r>
              <a:rPr sz="1500" spc="-45" dirty="0">
                <a:solidFill>
                  <a:srgbClr val="0F2044"/>
                </a:solidFill>
                <a:latin typeface="Arial MT"/>
                <a:cs typeface="Arial MT"/>
              </a:rPr>
              <a:t> </a:t>
            </a:r>
            <a:r>
              <a:rPr sz="1500" spc="-10" dirty="0">
                <a:solidFill>
                  <a:srgbClr val="0F2044"/>
                </a:solidFill>
                <a:latin typeface="Arial MT"/>
                <a:cs typeface="Arial MT"/>
              </a:rPr>
              <a:t>Mutexes</a:t>
            </a:r>
            <a:endParaRPr sz="1500">
              <a:latin typeface="Arial MT"/>
              <a:cs typeface="Arial MT"/>
            </a:endParaRPr>
          </a:p>
          <a:p>
            <a:pPr marL="356235" indent="-343535">
              <a:lnSpc>
                <a:spcPct val="100000"/>
              </a:lnSpc>
              <a:spcBef>
                <a:spcPts val="900"/>
              </a:spcBef>
              <a:buChar char="●"/>
              <a:tabLst>
                <a:tab pos="356235" algn="l"/>
              </a:tabLst>
            </a:pPr>
            <a:r>
              <a:rPr sz="1500" dirty="0">
                <a:solidFill>
                  <a:srgbClr val="0F2044"/>
                </a:solidFill>
                <a:latin typeface="Arial MT"/>
                <a:cs typeface="Arial MT"/>
              </a:rPr>
              <a:t>Thread</a:t>
            </a:r>
            <a:r>
              <a:rPr sz="1500" spc="-35" dirty="0">
                <a:solidFill>
                  <a:srgbClr val="0F2044"/>
                </a:solidFill>
                <a:latin typeface="Arial MT"/>
                <a:cs typeface="Arial MT"/>
              </a:rPr>
              <a:t> </a:t>
            </a:r>
            <a:r>
              <a:rPr sz="1500" dirty="0">
                <a:solidFill>
                  <a:srgbClr val="0F2044"/>
                </a:solidFill>
                <a:latin typeface="Arial MT"/>
                <a:cs typeface="Arial MT"/>
              </a:rPr>
              <a:t>Safety</a:t>
            </a:r>
            <a:r>
              <a:rPr sz="1500" spc="-35" dirty="0">
                <a:solidFill>
                  <a:srgbClr val="0F2044"/>
                </a:solidFill>
                <a:latin typeface="Arial MT"/>
                <a:cs typeface="Arial MT"/>
              </a:rPr>
              <a:t> </a:t>
            </a:r>
            <a:r>
              <a:rPr sz="1500" dirty="0">
                <a:solidFill>
                  <a:srgbClr val="0F2044"/>
                </a:solidFill>
                <a:latin typeface="Arial MT"/>
                <a:cs typeface="Arial MT"/>
              </a:rPr>
              <a:t>and</a:t>
            </a:r>
            <a:r>
              <a:rPr sz="1500" spc="-30" dirty="0">
                <a:solidFill>
                  <a:srgbClr val="0F2044"/>
                </a:solidFill>
                <a:latin typeface="Arial MT"/>
                <a:cs typeface="Arial MT"/>
              </a:rPr>
              <a:t> </a:t>
            </a:r>
            <a:r>
              <a:rPr sz="1500" dirty="0">
                <a:solidFill>
                  <a:srgbClr val="0F2044"/>
                </a:solidFill>
                <a:latin typeface="Arial MT"/>
                <a:cs typeface="Arial MT"/>
              </a:rPr>
              <a:t>Basic</a:t>
            </a:r>
            <a:r>
              <a:rPr sz="1500" spc="-60" dirty="0">
                <a:solidFill>
                  <a:srgbClr val="0F2044"/>
                </a:solidFill>
                <a:latin typeface="Arial MT"/>
                <a:cs typeface="Arial MT"/>
              </a:rPr>
              <a:t> </a:t>
            </a:r>
            <a:r>
              <a:rPr sz="1500" spc="-20" dirty="0">
                <a:solidFill>
                  <a:srgbClr val="0F2044"/>
                </a:solidFill>
                <a:latin typeface="Arial MT"/>
                <a:cs typeface="Arial MT"/>
              </a:rPr>
              <a:t>Thread-</a:t>
            </a:r>
            <a:r>
              <a:rPr sz="1500" dirty="0">
                <a:solidFill>
                  <a:srgbClr val="0F2044"/>
                </a:solidFill>
                <a:latin typeface="Arial MT"/>
                <a:cs typeface="Arial MT"/>
              </a:rPr>
              <a:t>Safe</a:t>
            </a:r>
            <a:r>
              <a:rPr sz="1500" spc="-30" dirty="0">
                <a:solidFill>
                  <a:srgbClr val="0F2044"/>
                </a:solidFill>
                <a:latin typeface="Arial MT"/>
                <a:cs typeface="Arial MT"/>
              </a:rPr>
              <a:t> </a:t>
            </a:r>
            <a:r>
              <a:rPr sz="1500" spc="-10" dirty="0">
                <a:solidFill>
                  <a:srgbClr val="0F2044"/>
                </a:solidFill>
                <a:latin typeface="Arial MT"/>
                <a:cs typeface="Arial MT"/>
              </a:rPr>
              <a:t>Programming</a:t>
            </a:r>
            <a:endParaRPr sz="1500">
              <a:latin typeface="Arial MT"/>
              <a:cs typeface="Arial MT"/>
            </a:endParaRPr>
          </a:p>
        </p:txBody>
      </p:sp>
      <p:pic>
        <p:nvPicPr>
          <p:cNvPr id="5" name="object 5">
            <a:extLst>
              <a:ext uri="{C183D7F6-B498-43B3-948B-1728B52AA6E4}">
                <adec:decorative xmlns:adec="http://schemas.microsoft.com/office/drawing/2017/decorative" val="1"/>
              </a:ext>
            </a:extLst>
          </p:cNvPr>
          <p:cNvPicPr/>
          <p:nvPr/>
        </p:nvPicPr>
        <p:blipFill>
          <a:blip r:embed="rId2" cstate="print"/>
          <a:stretch>
            <a:fillRect/>
          </a:stretch>
        </p:blipFill>
        <p:spPr>
          <a:xfrm>
            <a:off x="7882518" y="2216065"/>
            <a:ext cx="3208348" cy="274389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7"/>
          <p:cNvSpPr txBox="1">
            <a:spLocks noGrp="1"/>
          </p:cNvSpPr>
          <p:nvPr>
            <p:ph type="ctrTitle"/>
          </p:nvPr>
        </p:nvSpPr>
        <p:spPr>
          <a:xfrm>
            <a:off x="337350" y="1176316"/>
            <a:ext cx="9144000" cy="6960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2"/>
              </a:buClr>
              <a:buSzPts val="6000"/>
              <a:buFont typeface="Georgia"/>
              <a:buNone/>
            </a:pPr>
            <a:r>
              <a:rPr lang="en-US" sz="2500"/>
              <a:t>Understanding Race Condition</a:t>
            </a:r>
            <a:endParaRPr sz="1800"/>
          </a:p>
        </p:txBody>
      </p:sp>
      <p:grpSp>
        <p:nvGrpSpPr>
          <p:cNvPr id="2" name="Group 1" descr="A simple illustration featuring two stylized robots—one pink and rounded on wheels, the other blue and boxy with legs—standing on either side of a central white box with a red border containing the number 1. It appears to be a visual metaphor for two entities or threads interacting with a shared resource or value.">
            <a:extLst>
              <a:ext uri="{FF2B5EF4-FFF2-40B4-BE49-F238E27FC236}">
                <a16:creationId xmlns:a16="http://schemas.microsoft.com/office/drawing/2014/main" id="{68D85694-F1BC-AB89-2FEE-BE788A900E76}"/>
              </a:ext>
              <a:ext uri="{C183D7F6-B498-43B3-948B-1728B52AA6E4}">
                <adec:decorative xmlns:adec="http://schemas.microsoft.com/office/drawing/2017/decorative" val="0"/>
              </a:ext>
            </a:extLst>
          </p:cNvPr>
          <p:cNvGrpSpPr/>
          <p:nvPr/>
        </p:nvGrpSpPr>
        <p:grpSpPr>
          <a:xfrm>
            <a:off x="1559925" y="2234900"/>
            <a:ext cx="8724449" cy="2598050"/>
            <a:chOff x="1559925" y="2234900"/>
            <a:chExt cx="8724449" cy="2598050"/>
          </a:xfrm>
        </p:grpSpPr>
        <p:sp>
          <p:nvSpPr>
            <p:cNvPr id="102" name="Google Shape;102;p17"/>
            <p:cNvSpPr/>
            <p:nvPr/>
          </p:nvSpPr>
          <p:spPr>
            <a:xfrm>
              <a:off x="4578150" y="2787450"/>
              <a:ext cx="2688000" cy="1747800"/>
            </a:xfrm>
            <a:prstGeom prst="rect">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dirty="0">
                  <a:ln>
                    <a:noFill/>
                  </a:ln>
                  <a:solidFill>
                    <a:srgbClr val="A00C30"/>
                  </a:solidFill>
                  <a:effectLst/>
                  <a:uLnTx/>
                  <a:uFillTx/>
                  <a:latin typeface="Arial"/>
                  <a:cs typeface="Arial"/>
                  <a:sym typeface="Arial"/>
                </a:rPr>
                <a:t>1</a:t>
              </a:r>
              <a:endParaRPr kumimoji="0" sz="2800" b="1" i="0" u="none" strike="noStrike" kern="0" cap="none" spc="0" normalizeH="0" baseline="0" noProof="0" dirty="0">
                <a:ln>
                  <a:noFill/>
                </a:ln>
                <a:solidFill>
                  <a:srgbClr val="A00C30"/>
                </a:solidFill>
                <a:effectLst/>
                <a:uLnTx/>
                <a:uFillTx/>
                <a:latin typeface="Arial"/>
                <a:cs typeface="Arial"/>
                <a:sym typeface="Arial"/>
              </a:endParaRPr>
            </a:p>
          </p:txBody>
        </p:sp>
        <p:pic>
          <p:nvPicPr>
            <p:cNvPr id="103" name="Google Shape;103;p17"/>
            <p:cNvPicPr preferRelativeResize="0"/>
            <p:nvPr/>
          </p:nvPicPr>
          <p:blipFill rotWithShape="1">
            <a:blip r:embed="rId3">
              <a:alphaModFix/>
            </a:blip>
            <a:srcRect b="3091"/>
            <a:stretch/>
          </p:blipFill>
          <p:spPr>
            <a:xfrm>
              <a:off x="1559925" y="2234900"/>
              <a:ext cx="2389050" cy="2432975"/>
            </a:xfrm>
            <a:prstGeom prst="rect">
              <a:avLst/>
            </a:prstGeom>
            <a:noFill/>
            <a:ln>
              <a:noFill/>
            </a:ln>
          </p:spPr>
        </p:pic>
        <p:pic>
          <p:nvPicPr>
            <p:cNvPr id="104" name="Google Shape;104;p17"/>
            <p:cNvPicPr preferRelativeResize="0"/>
            <p:nvPr/>
          </p:nvPicPr>
          <p:blipFill>
            <a:blip r:embed="rId4">
              <a:alphaModFix/>
            </a:blip>
            <a:stretch>
              <a:fillRect/>
            </a:stretch>
          </p:blipFill>
          <p:spPr>
            <a:xfrm>
              <a:off x="7895324" y="2337743"/>
              <a:ext cx="2389050" cy="2495207"/>
            </a:xfrm>
            <a:prstGeom prst="rect">
              <a:avLst/>
            </a:prstGeom>
            <a:noFill/>
            <a:ln>
              <a:noFill/>
            </a:ln>
          </p:spPr>
        </p:pic>
      </p:grpSp>
      <p:sp>
        <p:nvSpPr>
          <p:cNvPr id="101" name="Google Shape;101;p17"/>
          <p:cNvSpPr txBox="1"/>
          <p:nvPr/>
        </p:nvSpPr>
        <p:spPr>
          <a:xfrm>
            <a:off x="2736450" y="5298375"/>
            <a:ext cx="6371400" cy="1108200"/>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0" i="0" u="none" strike="noStrike" kern="0" cap="none" spc="0" normalizeH="0" baseline="0" noProof="0">
                <a:ln>
                  <a:noFill/>
                </a:ln>
                <a:solidFill>
                  <a:srgbClr val="0F2044"/>
                </a:solidFill>
                <a:effectLst/>
                <a:uLnTx/>
                <a:uFillTx/>
                <a:latin typeface="Arial"/>
                <a:cs typeface="Arial"/>
                <a:sym typeface="Arial"/>
              </a:rPr>
              <a:t>Let’s imagine two programs that make use of some shared resource. Both programs is designed to increase the value in the shared resource by 1.</a:t>
            </a:r>
            <a:endParaRPr kumimoji="0" sz="2000" b="0" i="0" u="none" strike="noStrike" kern="0" cap="none" spc="0" normalizeH="0" baseline="0" noProof="0">
              <a:ln>
                <a:noFill/>
              </a:ln>
              <a:solidFill>
                <a:srgbClr val="0F2044"/>
              </a:solidFill>
              <a:effectLst/>
              <a:uLnTx/>
              <a:uFillTx/>
              <a:latin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10" name="Google Shape;110;p18"/>
          <p:cNvSpPr txBox="1">
            <a:spLocks noGrp="1"/>
          </p:cNvSpPr>
          <p:nvPr>
            <p:ph type="ctrTitle"/>
          </p:nvPr>
        </p:nvSpPr>
        <p:spPr>
          <a:xfrm>
            <a:off x="337350" y="1176316"/>
            <a:ext cx="9144000" cy="6960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2"/>
              </a:buClr>
              <a:buSzPts val="6000"/>
              <a:buFont typeface="Georgia"/>
              <a:buNone/>
            </a:pPr>
            <a:r>
              <a:rPr lang="en-US" sz="2500"/>
              <a:t>Understanding Race Condition</a:t>
            </a:r>
            <a:endParaRPr sz="1800"/>
          </a:p>
        </p:txBody>
      </p:sp>
      <p:grpSp>
        <p:nvGrpSpPr>
          <p:cNvPr id="2" name="Group 1" descr="Increase the value by 1.">
            <a:extLst>
              <a:ext uri="{FF2B5EF4-FFF2-40B4-BE49-F238E27FC236}">
                <a16:creationId xmlns:a16="http://schemas.microsoft.com/office/drawing/2014/main" id="{4AC3D800-BC81-3332-BFEE-6C7FB8649533}"/>
              </a:ext>
              <a:ext uri="{C183D7F6-B498-43B3-948B-1728B52AA6E4}">
                <adec:decorative xmlns:adec="http://schemas.microsoft.com/office/drawing/2017/decorative" val="0"/>
              </a:ext>
            </a:extLst>
          </p:cNvPr>
          <p:cNvGrpSpPr/>
          <p:nvPr/>
        </p:nvGrpSpPr>
        <p:grpSpPr>
          <a:xfrm>
            <a:off x="1559925" y="2234900"/>
            <a:ext cx="5706225" cy="2432975"/>
            <a:chOff x="1559925" y="2234900"/>
            <a:chExt cx="5706225" cy="2432975"/>
          </a:xfrm>
        </p:grpSpPr>
        <p:pic>
          <p:nvPicPr>
            <p:cNvPr id="109" name="Google Shape;109;p18"/>
            <p:cNvPicPr preferRelativeResize="0"/>
            <p:nvPr/>
          </p:nvPicPr>
          <p:blipFill rotWithShape="1">
            <a:blip r:embed="rId3">
              <a:alphaModFix/>
            </a:blip>
            <a:srcRect b="3091"/>
            <a:stretch/>
          </p:blipFill>
          <p:spPr>
            <a:xfrm>
              <a:off x="1559925" y="2234900"/>
              <a:ext cx="2389050" cy="2432975"/>
            </a:xfrm>
            <a:prstGeom prst="rect">
              <a:avLst/>
            </a:prstGeom>
            <a:noFill/>
            <a:ln>
              <a:noFill/>
            </a:ln>
          </p:spPr>
        </p:pic>
        <p:sp>
          <p:nvSpPr>
            <p:cNvPr id="111" name="Google Shape;111;p18"/>
            <p:cNvSpPr/>
            <p:nvPr/>
          </p:nvSpPr>
          <p:spPr>
            <a:xfrm>
              <a:off x="4578150" y="2787450"/>
              <a:ext cx="2688000" cy="1747800"/>
            </a:xfrm>
            <a:prstGeom prst="rect">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dirty="0">
                  <a:ln>
                    <a:noFill/>
                  </a:ln>
                  <a:solidFill>
                    <a:srgbClr val="A00C30"/>
                  </a:solidFill>
                  <a:effectLst/>
                  <a:uLnTx/>
                  <a:uFillTx/>
                  <a:latin typeface="Arial"/>
                  <a:cs typeface="Arial"/>
                  <a:sym typeface="Arial"/>
                </a:rPr>
                <a:t>1</a:t>
              </a:r>
              <a:endParaRPr kumimoji="0" sz="2800" b="1" i="0" u="none" strike="noStrike" kern="0" cap="none" spc="0" normalizeH="0" baseline="0" noProof="0" dirty="0">
                <a:ln>
                  <a:noFill/>
                </a:ln>
                <a:solidFill>
                  <a:srgbClr val="A00C30"/>
                </a:solidFill>
                <a:effectLst/>
                <a:uLnTx/>
                <a:uFillTx/>
                <a:latin typeface="Arial"/>
                <a:cs typeface="Arial"/>
                <a:sym typeface="Arial"/>
              </a:endParaRPr>
            </a:p>
          </p:txBody>
        </p:sp>
        <p:sp>
          <p:nvSpPr>
            <p:cNvPr id="112" name="Google Shape;112;p18"/>
            <p:cNvSpPr txBox="1"/>
            <p:nvPr/>
          </p:nvSpPr>
          <p:spPr>
            <a:xfrm>
              <a:off x="2021775" y="2234900"/>
              <a:ext cx="3000000" cy="615600"/>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a:ln>
                    <a:noFill/>
                  </a:ln>
                  <a:solidFill>
                    <a:srgbClr val="A00C30"/>
                  </a:solidFill>
                  <a:effectLst/>
                  <a:uLnTx/>
                  <a:uFillTx/>
                  <a:latin typeface="Arial"/>
                  <a:cs typeface="Arial"/>
                  <a:sym typeface="Arial"/>
                </a:rPr>
                <a:t>1</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113" name="Google Shape;113;p18">
            <a:extLst>
              <a:ext uri="{C183D7F6-B498-43B3-948B-1728B52AA6E4}">
                <adec:decorative xmlns:adec="http://schemas.microsoft.com/office/drawing/2017/decorative" val="0"/>
              </a:ext>
            </a:extLst>
          </p:cNvPr>
          <p:cNvSpPr txBox="1"/>
          <p:nvPr/>
        </p:nvSpPr>
        <p:spPr>
          <a:xfrm>
            <a:off x="2736450" y="4993575"/>
            <a:ext cx="6371400" cy="1416000"/>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0" i="0" u="none" strike="noStrike" kern="0" cap="none" spc="0" normalizeH="0" baseline="0" noProof="0" dirty="0">
                <a:ln>
                  <a:noFill/>
                </a:ln>
                <a:solidFill>
                  <a:srgbClr val="0F2044"/>
                </a:solidFill>
                <a:effectLst/>
                <a:uLnTx/>
                <a:uFillTx/>
                <a:latin typeface="Arial"/>
                <a:cs typeface="Arial"/>
                <a:sym typeface="Arial"/>
              </a:rPr>
              <a:t>If one program is trying to increase the value by 1, there is no problem. The program can see what the value is, calculate the value 1 higher, and replace the existing value.</a:t>
            </a:r>
            <a:endParaRPr kumimoji="0" sz="2000" b="0" i="0" u="none" strike="noStrike" kern="0" cap="none" spc="0" normalizeH="0" baseline="0" noProof="0" dirty="0">
              <a:ln>
                <a:noFill/>
              </a:ln>
              <a:solidFill>
                <a:srgbClr val="0F2044"/>
              </a:solidFill>
              <a:effectLst/>
              <a:uLnTx/>
              <a:uFillTx/>
              <a:latin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9" name="Google Shape;119;p19"/>
          <p:cNvSpPr txBox="1">
            <a:spLocks noGrp="1"/>
          </p:cNvSpPr>
          <p:nvPr>
            <p:ph type="ctrTitle"/>
          </p:nvPr>
        </p:nvSpPr>
        <p:spPr>
          <a:xfrm>
            <a:off x="337350" y="1176316"/>
            <a:ext cx="9144000" cy="6960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2"/>
              </a:buClr>
              <a:buSzPts val="6000"/>
              <a:buFont typeface="Georgia"/>
              <a:buNone/>
            </a:pPr>
            <a:r>
              <a:rPr lang="en-US" sz="2500"/>
              <a:t>Understanding Race Condition</a:t>
            </a:r>
            <a:endParaRPr sz="1800"/>
          </a:p>
        </p:txBody>
      </p:sp>
      <p:grpSp>
        <p:nvGrpSpPr>
          <p:cNvPr id="2" name="Group 1" descr="1+1=2">
            <a:extLst>
              <a:ext uri="{FF2B5EF4-FFF2-40B4-BE49-F238E27FC236}">
                <a16:creationId xmlns:a16="http://schemas.microsoft.com/office/drawing/2014/main" id="{90F3B64C-2B14-4DDE-8012-3F646A8B57D0}"/>
              </a:ext>
              <a:ext uri="{C183D7F6-B498-43B3-948B-1728B52AA6E4}">
                <adec:decorative xmlns:adec="http://schemas.microsoft.com/office/drawing/2017/decorative" val="0"/>
              </a:ext>
            </a:extLst>
          </p:cNvPr>
          <p:cNvGrpSpPr/>
          <p:nvPr/>
        </p:nvGrpSpPr>
        <p:grpSpPr>
          <a:xfrm>
            <a:off x="1559925" y="2113225"/>
            <a:ext cx="5706225" cy="2554650"/>
            <a:chOff x="1559925" y="2113225"/>
            <a:chExt cx="5706225" cy="2554650"/>
          </a:xfrm>
        </p:grpSpPr>
        <p:pic>
          <p:nvPicPr>
            <p:cNvPr id="118" name="Google Shape;118;p19"/>
            <p:cNvPicPr preferRelativeResize="0"/>
            <p:nvPr/>
          </p:nvPicPr>
          <p:blipFill rotWithShape="1">
            <a:blip r:embed="rId3">
              <a:alphaModFix/>
            </a:blip>
            <a:srcRect b="3091"/>
            <a:stretch/>
          </p:blipFill>
          <p:spPr>
            <a:xfrm>
              <a:off x="1559925" y="2234900"/>
              <a:ext cx="2389050" cy="2432975"/>
            </a:xfrm>
            <a:prstGeom prst="rect">
              <a:avLst/>
            </a:prstGeom>
            <a:noFill/>
            <a:ln>
              <a:noFill/>
            </a:ln>
          </p:spPr>
        </p:pic>
        <p:sp>
          <p:nvSpPr>
            <p:cNvPr id="120" name="Google Shape;120;p19"/>
            <p:cNvSpPr/>
            <p:nvPr/>
          </p:nvSpPr>
          <p:spPr>
            <a:xfrm>
              <a:off x="4578150" y="2787450"/>
              <a:ext cx="2688000" cy="1747800"/>
            </a:xfrm>
            <a:prstGeom prst="rect">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a:ln>
                    <a:noFill/>
                  </a:ln>
                  <a:solidFill>
                    <a:srgbClr val="A00C30"/>
                  </a:solidFill>
                  <a:effectLst/>
                  <a:uLnTx/>
                  <a:uFillTx/>
                  <a:latin typeface="Arial"/>
                  <a:cs typeface="Arial"/>
                  <a:sym typeface="Arial"/>
                </a:rPr>
                <a:t>1</a:t>
              </a:r>
              <a:endParaRPr kumimoji="0" sz="2800" b="1" i="0" u="none" strike="noStrike" kern="0" cap="none" spc="0" normalizeH="0" baseline="0" noProof="0">
                <a:ln>
                  <a:noFill/>
                </a:ln>
                <a:solidFill>
                  <a:srgbClr val="A00C30"/>
                </a:solidFill>
                <a:effectLst/>
                <a:uLnTx/>
                <a:uFillTx/>
                <a:latin typeface="Arial"/>
                <a:cs typeface="Arial"/>
                <a:sym typeface="Arial"/>
              </a:endParaRPr>
            </a:p>
          </p:txBody>
        </p:sp>
        <p:sp>
          <p:nvSpPr>
            <p:cNvPr id="121" name="Google Shape;121;p19"/>
            <p:cNvSpPr txBox="1"/>
            <p:nvPr/>
          </p:nvSpPr>
          <p:spPr>
            <a:xfrm>
              <a:off x="2298325" y="2113225"/>
              <a:ext cx="3000000" cy="615600"/>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dirty="0">
                  <a:ln>
                    <a:noFill/>
                  </a:ln>
                  <a:solidFill>
                    <a:srgbClr val="A00C30"/>
                  </a:solidFill>
                  <a:effectLst/>
                  <a:uLnTx/>
                  <a:uFillTx/>
                  <a:latin typeface="Arial"/>
                  <a:cs typeface="Arial"/>
                  <a:sym typeface="Arial"/>
                </a:rPr>
                <a:t>1+1 = 2</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grpSp>
      <p:sp>
        <p:nvSpPr>
          <p:cNvPr id="122" name="Google Shape;122;p19">
            <a:extLst>
              <a:ext uri="{C183D7F6-B498-43B3-948B-1728B52AA6E4}">
                <adec:decorative xmlns:adec="http://schemas.microsoft.com/office/drawing/2017/decorative" val="1"/>
              </a:ext>
            </a:extLst>
          </p:cNvPr>
          <p:cNvSpPr txBox="1"/>
          <p:nvPr/>
        </p:nvSpPr>
        <p:spPr>
          <a:xfrm>
            <a:off x="2736450" y="4993575"/>
            <a:ext cx="6371400" cy="1416000"/>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0" i="0" u="none" strike="noStrike" kern="0" cap="none" spc="0" normalizeH="0" baseline="0" noProof="0" dirty="0">
                <a:ln>
                  <a:noFill/>
                </a:ln>
                <a:solidFill>
                  <a:srgbClr val="0F2044"/>
                </a:solidFill>
                <a:effectLst/>
                <a:uLnTx/>
                <a:uFillTx/>
                <a:latin typeface="Arial"/>
                <a:cs typeface="Arial"/>
                <a:sym typeface="Arial"/>
              </a:rPr>
              <a:t>If one program is trying to increase the value by 1, there is no problem. The program can see what the value is, calculate the value 1 higher, and replace the existing value.</a:t>
            </a:r>
            <a:endParaRPr kumimoji="0" sz="2000" b="0" i="0" u="none" strike="noStrike" kern="0" cap="none" spc="0" normalizeH="0" baseline="0" noProof="0" dirty="0">
              <a:ln>
                <a:noFill/>
              </a:ln>
              <a:solidFill>
                <a:srgbClr val="0F2044"/>
              </a:solidFill>
              <a:effectLst/>
              <a:uLnTx/>
              <a:uFillTx/>
              <a:latin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8" name="Google Shape;128;p20"/>
          <p:cNvSpPr txBox="1">
            <a:spLocks noGrp="1"/>
          </p:cNvSpPr>
          <p:nvPr>
            <p:ph type="ctrTitle"/>
          </p:nvPr>
        </p:nvSpPr>
        <p:spPr>
          <a:xfrm>
            <a:off x="337350" y="1176316"/>
            <a:ext cx="9144000" cy="6960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2"/>
              </a:buClr>
              <a:buSzPts val="6000"/>
              <a:buFont typeface="Georgia"/>
              <a:buNone/>
            </a:pPr>
            <a:r>
              <a:rPr lang="en-US" sz="2500"/>
              <a:t>Understanding Race Condition</a:t>
            </a:r>
            <a:endParaRPr sz="1800"/>
          </a:p>
        </p:txBody>
      </p:sp>
      <p:grpSp>
        <p:nvGrpSpPr>
          <p:cNvPr id="2" name="Group 1" descr="Update the value to 2.">
            <a:extLst>
              <a:ext uri="{FF2B5EF4-FFF2-40B4-BE49-F238E27FC236}">
                <a16:creationId xmlns:a16="http://schemas.microsoft.com/office/drawing/2014/main" id="{E376630D-48A2-A49A-9076-941F7BA3B5E8}"/>
              </a:ext>
            </a:extLst>
          </p:cNvPr>
          <p:cNvGrpSpPr/>
          <p:nvPr/>
        </p:nvGrpSpPr>
        <p:grpSpPr>
          <a:xfrm>
            <a:off x="1559925" y="2113225"/>
            <a:ext cx="5706225" cy="2554650"/>
            <a:chOff x="1559925" y="2113225"/>
            <a:chExt cx="5706225" cy="2554650"/>
          </a:xfrm>
        </p:grpSpPr>
        <p:pic>
          <p:nvPicPr>
            <p:cNvPr id="127" name="Google Shape;127;p20"/>
            <p:cNvPicPr preferRelativeResize="0"/>
            <p:nvPr/>
          </p:nvPicPr>
          <p:blipFill rotWithShape="1">
            <a:blip r:embed="rId3">
              <a:alphaModFix/>
            </a:blip>
            <a:srcRect b="3091"/>
            <a:stretch/>
          </p:blipFill>
          <p:spPr>
            <a:xfrm>
              <a:off x="1559925" y="2234900"/>
              <a:ext cx="2389050" cy="2432975"/>
            </a:xfrm>
            <a:prstGeom prst="rect">
              <a:avLst/>
            </a:prstGeom>
            <a:noFill/>
            <a:ln>
              <a:noFill/>
            </a:ln>
          </p:spPr>
        </p:pic>
        <p:sp>
          <p:nvSpPr>
            <p:cNvPr id="129" name="Google Shape;129;p20"/>
            <p:cNvSpPr/>
            <p:nvPr/>
          </p:nvSpPr>
          <p:spPr>
            <a:xfrm>
              <a:off x="4578150" y="2787450"/>
              <a:ext cx="2688000" cy="1747800"/>
            </a:xfrm>
            <a:prstGeom prst="rect">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a:ln>
                    <a:noFill/>
                  </a:ln>
                  <a:solidFill>
                    <a:srgbClr val="A00C30"/>
                  </a:solidFill>
                  <a:effectLst/>
                  <a:uLnTx/>
                  <a:uFillTx/>
                  <a:latin typeface="Arial"/>
                  <a:cs typeface="Arial"/>
                  <a:sym typeface="Arial"/>
                </a:rPr>
                <a:t>2</a:t>
              </a:r>
              <a:endParaRPr kumimoji="0" sz="2800" b="1" i="0" u="none" strike="noStrike" kern="0" cap="none" spc="0" normalizeH="0" baseline="0" noProof="0">
                <a:ln>
                  <a:noFill/>
                </a:ln>
                <a:solidFill>
                  <a:srgbClr val="A00C30"/>
                </a:solidFill>
                <a:effectLst/>
                <a:uLnTx/>
                <a:uFillTx/>
                <a:latin typeface="Arial"/>
                <a:cs typeface="Arial"/>
                <a:sym typeface="Arial"/>
              </a:endParaRPr>
            </a:p>
          </p:txBody>
        </p:sp>
        <p:sp>
          <p:nvSpPr>
            <p:cNvPr id="131" name="Google Shape;131;p20"/>
            <p:cNvSpPr txBox="1"/>
            <p:nvPr/>
          </p:nvSpPr>
          <p:spPr>
            <a:xfrm>
              <a:off x="2298325" y="2113225"/>
              <a:ext cx="3000000" cy="615600"/>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a:ln>
                    <a:noFill/>
                  </a:ln>
                  <a:solidFill>
                    <a:srgbClr val="A00C30"/>
                  </a:solidFill>
                  <a:effectLst/>
                  <a:uLnTx/>
                  <a:uFillTx/>
                  <a:latin typeface="Arial"/>
                  <a:cs typeface="Arial"/>
                  <a:sym typeface="Arial"/>
                </a:rPr>
                <a:t>1+1 = 2</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132" name="Google Shape;132;p20"/>
            <p:cNvCxnSpPr/>
            <p:nvPr/>
          </p:nvCxnSpPr>
          <p:spPr>
            <a:xfrm>
              <a:off x="4225425" y="2721075"/>
              <a:ext cx="1338300" cy="807600"/>
            </a:xfrm>
            <a:prstGeom prst="straightConnector1">
              <a:avLst/>
            </a:prstGeom>
            <a:noFill/>
            <a:ln w="38100" cap="flat" cmpd="sng">
              <a:solidFill>
                <a:schemeClr val="dk2"/>
              </a:solidFill>
              <a:prstDash val="solid"/>
              <a:round/>
              <a:headEnd type="none" w="med" len="med"/>
              <a:tailEnd type="triangle" w="med" len="med"/>
            </a:ln>
          </p:spPr>
        </p:cxnSp>
      </p:grpSp>
      <p:sp>
        <p:nvSpPr>
          <p:cNvPr id="130" name="Google Shape;130;p20">
            <a:extLst>
              <a:ext uri="{C183D7F6-B498-43B3-948B-1728B52AA6E4}">
                <adec:decorative xmlns:adec="http://schemas.microsoft.com/office/drawing/2017/decorative" val="1"/>
              </a:ext>
            </a:extLst>
          </p:cNvPr>
          <p:cNvSpPr txBox="1"/>
          <p:nvPr/>
        </p:nvSpPr>
        <p:spPr>
          <a:xfrm>
            <a:off x="2736450" y="4993575"/>
            <a:ext cx="6371400" cy="1416000"/>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0" i="0" u="none" strike="noStrike" kern="0" cap="none" spc="0" normalizeH="0" baseline="0" noProof="0" dirty="0">
                <a:ln>
                  <a:noFill/>
                </a:ln>
                <a:solidFill>
                  <a:srgbClr val="0F2044"/>
                </a:solidFill>
                <a:effectLst/>
                <a:uLnTx/>
                <a:uFillTx/>
                <a:latin typeface="Arial"/>
                <a:cs typeface="Arial"/>
                <a:sym typeface="Arial"/>
              </a:rPr>
              <a:t>If one program is trying to increase the value by 1, there is no problem. The program can see what the value is, calculate the value 1 higher, and replace the existing value.</a:t>
            </a:r>
            <a:endParaRPr kumimoji="0" sz="2000" b="0" i="0" u="none" strike="noStrike" kern="0" cap="none" spc="0" normalizeH="0" baseline="0" noProof="0" dirty="0">
              <a:ln>
                <a:noFill/>
              </a:ln>
              <a:solidFill>
                <a:srgbClr val="0F2044"/>
              </a:solidFill>
              <a:effectLst/>
              <a:uLnTx/>
              <a:uFillTx/>
              <a:latin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1"/>
          <p:cNvSpPr txBox="1">
            <a:spLocks noGrp="1"/>
          </p:cNvSpPr>
          <p:nvPr>
            <p:ph type="ctrTitle"/>
          </p:nvPr>
        </p:nvSpPr>
        <p:spPr>
          <a:xfrm>
            <a:off x="337350" y="1176316"/>
            <a:ext cx="9144000" cy="6960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2"/>
              </a:buClr>
              <a:buSzPts val="6000"/>
              <a:buFont typeface="Georgia"/>
              <a:buNone/>
            </a:pPr>
            <a:r>
              <a:rPr lang="en-US" sz="2500"/>
              <a:t>Understanding Race Condition</a:t>
            </a:r>
            <a:endParaRPr sz="1800"/>
          </a:p>
        </p:txBody>
      </p:sp>
      <p:grpSp>
        <p:nvGrpSpPr>
          <p:cNvPr id="2" name="Group 1" descr="A challenger arrives.">
            <a:extLst>
              <a:ext uri="{FF2B5EF4-FFF2-40B4-BE49-F238E27FC236}">
                <a16:creationId xmlns:a16="http://schemas.microsoft.com/office/drawing/2014/main" id="{2B9DEF47-B7D8-0C35-8BFA-AEA57CB8CA08}"/>
              </a:ext>
            </a:extLst>
          </p:cNvPr>
          <p:cNvGrpSpPr/>
          <p:nvPr/>
        </p:nvGrpSpPr>
        <p:grpSpPr>
          <a:xfrm>
            <a:off x="1559925" y="2234900"/>
            <a:ext cx="8724449" cy="2598050"/>
            <a:chOff x="1559925" y="2234900"/>
            <a:chExt cx="8724449" cy="2598050"/>
          </a:xfrm>
        </p:grpSpPr>
        <p:sp>
          <p:nvSpPr>
            <p:cNvPr id="138" name="Google Shape;138;p21"/>
            <p:cNvSpPr/>
            <p:nvPr/>
          </p:nvSpPr>
          <p:spPr>
            <a:xfrm>
              <a:off x="4578150" y="2787450"/>
              <a:ext cx="2688000" cy="1747800"/>
            </a:xfrm>
            <a:prstGeom prst="rect">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a:ln>
                    <a:noFill/>
                  </a:ln>
                  <a:solidFill>
                    <a:srgbClr val="A00C30"/>
                  </a:solidFill>
                  <a:effectLst/>
                  <a:uLnTx/>
                  <a:uFillTx/>
                  <a:latin typeface="Arial"/>
                  <a:cs typeface="Arial"/>
                  <a:sym typeface="Arial"/>
                </a:rPr>
                <a:t>2</a:t>
              </a:r>
              <a:endParaRPr kumimoji="0" sz="2800" b="1" i="0" u="none" strike="noStrike" kern="0" cap="none" spc="0" normalizeH="0" baseline="0" noProof="0">
                <a:ln>
                  <a:noFill/>
                </a:ln>
                <a:solidFill>
                  <a:srgbClr val="A00C30"/>
                </a:solidFill>
                <a:effectLst/>
                <a:uLnTx/>
                <a:uFillTx/>
                <a:latin typeface="Arial"/>
                <a:cs typeface="Arial"/>
                <a:sym typeface="Arial"/>
              </a:endParaRPr>
            </a:p>
          </p:txBody>
        </p:sp>
        <p:pic>
          <p:nvPicPr>
            <p:cNvPr id="140" name="Google Shape;140;p21"/>
            <p:cNvPicPr preferRelativeResize="0"/>
            <p:nvPr/>
          </p:nvPicPr>
          <p:blipFill>
            <a:blip r:embed="rId3">
              <a:alphaModFix/>
            </a:blip>
            <a:stretch>
              <a:fillRect/>
            </a:stretch>
          </p:blipFill>
          <p:spPr>
            <a:xfrm>
              <a:off x="7895324" y="2337743"/>
              <a:ext cx="2389050" cy="2495207"/>
            </a:xfrm>
            <a:prstGeom prst="rect">
              <a:avLst/>
            </a:prstGeom>
            <a:noFill/>
            <a:ln>
              <a:noFill/>
            </a:ln>
          </p:spPr>
        </p:pic>
        <p:pic>
          <p:nvPicPr>
            <p:cNvPr id="141" name="Google Shape;141;p21"/>
            <p:cNvPicPr preferRelativeResize="0"/>
            <p:nvPr/>
          </p:nvPicPr>
          <p:blipFill rotWithShape="1">
            <a:blip r:embed="rId4">
              <a:alphaModFix/>
            </a:blip>
            <a:srcRect b="3091"/>
            <a:stretch/>
          </p:blipFill>
          <p:spPr>
            <a:xfrm>
              <a:off x="1559925" y="2234900"/>
              <a:ext cx="2389050" cy="2432975"/>
            </a:xfrm>
            <a:prstGeom prst="rect">
              <a:avLst/>
            </a:prstGeom>
            <a:noFill/>
            <a:ln>
              <a:noFill/>
            </a:ln>
          </p:spPr>
        </p:pic>
      </p:grpSp>
      <p:sp>
        <p:nvSpPr>
          <p:cNvPr id="139" name="Google Shape;139;p21"/>
          <p:cNvSpPr txBox="1"/>
          <p:nvPr/>
        </p:nvSpPr>
        <p:spPr>
          <a:xfrm>
            <a:off x="2736450" y="4993575"/>
            <a:ext cx="6371400" cy="1108200"/>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0" i="0" u="none" strike="noStrike" kern="0" cap="none" spc="0" normalizeH="0" baseline="0" noProof="0">
                <a:ln>
                  <a:noFill/>
                </a:ln>
                <a:solidFill>
                  <a:srgbClr val="0F2044"/>
                </a:solidFill>
                <a:effectLst/>
                <a:uLnTx/>
                <a:uFillTx/>
                <a:latin typeface="Arial"/>
                <a:cs typeface="Arial"/>
                <a:sym typeface="Arial"/>
              </a:rPr>
              <a:t>A challenge computers face though is how to deal with concurrency. If both programs try to access the data at the same time, what happens?</a:t>
            </a:r>
            <a:endParaRPr kumimoji="0" sz="2000" b="0" i="0" u="none" strike="noStrike" kern="0" cap="none" spc="0" normalizeH="0" baseline="0" noProof="0">
              <a:ln>
                <a:noFill/>
              </a:ln>
              <a:solidFill>
                <a:srgbClr val="0F2044"/>
              </a:solidFill>
              <a:effectLst/>
              <a:uLnTx/>
              <a:uFillTx/>
              <a:latin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7" name="Google Shape;147;p22"/>
          <p:cNvSpPr txBox="1">
            <a:spLocks noGrp="1"/>
          </p:cNvSpPr>
          <p:nvPr>
            <p:ph type="ctrTitle"/>
          </p:nvPr>
        </p:nvSpPr>
        <p:spPr>
          <a:xfrm>
            <a:off x="337350" y="1176316"/>
            <a:ext cx="9144000" cy="6960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2"/>
              </a:buClr>
              <a:buSzPts val="6000"/>
              <a:buFont typeface="Georgia"/>
              <a:buNone/>
            </a:pPr>
            <a:r>
              <a:rPr lang="en-US" sz="2500"/>
              <a:t>Understanding Race Condition</a:t>
            </a:r>
            <a:endParaRPr sz="1800"/>
          </a:p>
        </p:txBody>
      </p:sp>
      <p:grpSp>
        <p:nvGrpSpPr>
          <p:cNvPr id="2" name="Group 1" descr="Both read 2.">
            <a:extLst>
              <a:ext uri="{FF2B5EF4-FFF2-40B4-BE49-F238E27FC236}">
                <a16:creationId xmlns:a16="http://schemas.microsoft.com/office/drawing/2014/main" id="{64AD00B4-DEE1-014D-10C5-FF9384E170FC}"/>
              </a:ext>
            </a:extLst>
          </p:cNvPr>
          <p:cNvGrpSpPr/>
          <p:nvPr/>
        </p:nvGrpSpPr>
        <p:grpSpPr>
          <a:xfrm>
            <a:off x="1559925" y="2234900"/>
            <a:ext cx="8724449" cy="2598050"/>
            <a:chOff x="1559925" y="2234900"/>
            <a:chExt cx="8724449" cy="2598050"/>
          </a:xfrm>
        </p:grpSpPr>
        <p:pic>
          <p:nvPicPr>
            <p:cNvPr id="146" name="Google Shape;146;p22"/>
            <p:cNvPicPr preferRelativeResize="0"/>
            <p:nvPr/>
          </p:nvPicPr>
          <p:blipFill rotWithShape="1">
            <a:blip r:embed="rId3">
              <a:alphaModFix/>
            </a:blip>
            <a:srcRect b="3091"/>
            <a:stretch/>
          </p:blipFill>
          <p:spPr>
            <a:xfrm>
              <a:off x="1559925" y="2234900"/>
              <a:ext cx="2389050" cy="2432975"/>
            </a:xfrm>
            <a:prstGeom prst="rect">
              <a:avLst/>
            </a:prstGeom>
            <a:noFill/>
            <a:ln>
              <a:noFill/>
            </a:ln>
          </p:spPr>
        </p:pic>
        <p:sp>
          <p:nvSpPr>
            <p:cNvPr id="148" name="Google Shape;148;p22"/>
            <p:cNvSpPr/>
            <p:nvPr/>
          </p:nvSpPr>
          <p:spPr>
            <a:xfrm>
              <a:off x="4578150" y="2787450"/>
              <a:ext cx="2688000" cy="1747800"/>
            </a:xfrm>
            <a:prstGeom prst="rect">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a:ln>
                    <a:noFill/>
                  </a:ln>
                  <a:solidFill>
                    <a:srgbClr val="A00C30"/>
                  </a:solidFill>
                  <a:effectLst/>
                  <a:uLnTx/>
                  <a:uFillTx/>
                  <a:latin typeface="Arial"/>
                  <a:cs typeface="Arial"/>
                  <a:sym typeface="Arial"/>
                </a:rPr>
                <a:t>2</a:t>
              </a:r>
              <a:endParaRPr kumimoji="0" sz="2800" b="1" i="0" u="none" strike="noStrike" kern="0" cap="none" spc="0" normalizeH="0" baseline="0" noProof="0">
                <a:ln>
                  <a:noFill/>
                </a:ln>
                <a:solidFill>
                  <a:srgbClr val="A00C30"/>
                </a:solidFill>
                <a:effectLst/>
                <a:uLnTx/>
                <a:uFillTx/>
                <a:latin typeface="Arial"/>
                <a:cs typeface="Arial"/>
                <a:sym typeface="Arial"/>
              </a:endParaRPr>
            </a:p>
          </p:txBody>
        </p:sp>
        <p:pic>
          <p:nvPicPr>
            <p:cNvPr id="150" name="Google Shape;150;p22"/>
            <p:cNvPicPr preferRelativeResize="0"/>
            <p:nvPr/>
          </p:nvPicPr>
          <p:blipFill>
            <a:blip r:embed="rId4">
              <a:alphaModFix/>
            </a:blip>
            <a:stretch>
              <a:fillRect/>
            </a:stretch>
          </p:blipFill>
          <p:spPr>
            <a:xfrm>
              <a:off x="7895324" y="2337743"/>
              <a:ext cx="2389050" cy="2495207"/>
            </a:xfrm>
            <a:prstGeom prst="rect">
              <a:avLst/>
            </a:prstGeom>
            <a:noFill/>
            <a:ln>
              <a:noFill/>
            </a:ln>
          </p:spPr>
        </p:pic>
        <p:sp>
          <p:nvSpPr>
            <p:cNvPr id="151" name="Google Shape;151;p22"/>
            <p:cNvSpPr txBox="1"/>
            <p:nvPr/>
          </p:nvSpPr>
          <p:spPr>
            <a:xfrm>
              <a:off x="2021775" y="2234900"/>
              <a:ext cx="3000000" cy="615600"/>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a:ln>
                    <a:noFill/>
                  </a:ln>
                  <a:solidFill>
                    <a:srgbClr val="A00C30"/>
                  </a:solidFill>
                  <a:effectLst/>
                  <a:uLnTx/>
                  <a:uFillTx/>
                  <a:latin typeface="Arial"/>
                  <a:cs typeface="Arial"/>
                  <a:sym typeface="Arial"/>
                </a:rPr>
                <a:t>2</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2" name="Google Shape;152;p22"/>
            <p:cNvSpPr txBox="1"/>
            <p:nvPr/>
          </p:nvSpPr>
          <p:spPr>
            <a:xfrm>
              <a:off x="6631875" y="2234900"/>
              <a:ext cx="3000000" cy="615600"/>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a:ln>
                    <a:noFill/>
                  </a:ln>
                  <a:solidFill>
                    <a:srgbClr val="A00C30"/>
                  </a:solidFill>
                  <a:effectLst/>
                  <a:uLnTx/>
                  <a:uFillTx/>
                  <a:latin typeface="Arial"/>
                  <a:cs typeface="Arial"/>
                  <a:sym typeface="Arial"/>
                </a:rPr>
                <a:t>2</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149" name="Google Shape;149;p22"/>
          <p:cNvSpPr txBox="1"/>
          <p:nvPr/>
        </p:nvSpPr>
        <p:spPr>
          <a:xfrm>
            <a:off x="2736450" y="4993575"/>
            <a:ext cx="6371400" cy="1108200"/>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0" i="0" u="none" strike="noStrike" kern="0" cap="none" spc="0" normalizeH="0" baseline="0" noProof="0">
                <a:ln>
                  <a:noFill/>
                </a:ln>
                <a:solidFill>
                  <a:srgbClr val="0F2044"/>
                </a:solidFill>
                <a:effectLst/>
                <a:uLnTx/>
                <a:uFillTx/>
                <a:latin typeface="Arial"/>
                <a:cs typeface="Arial"/>
                <a:sym typeface="Arial"/>
              </a:rPr>
              <a:t>If we are unlucky, both programs will look at the original value, both will calculate the value 1 higher, and both will try to replace the original value.</a:t>
            </a:r>
            <a:endParaRPr kumimoji="0" sz="2000" b="0" i="0" u="none" strike="noStrike" kern="0" cap="none" spc="0" normalizeH="0" baseline="0" noProof="0">
              <a:ln>
                <a:noFill/>
              </a:ln>
              <a:solidFill>
                <a:srgbClr val="0F2044"/>
              </a:solidFill>
              <a:effectLst/>
              <a:uLnTx/>
              <a:uFillTx/>
              <a:latin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8" name="Google Shape;158;p23"/>
          <p:cNvSpPr txBox="1">
            <a:spLocks noGrp="1"/>
          </p:cNvSpPr>
          <p:nvPr>
            <p:ph type="ctrTitle"/>
          </p:nvPr>
        </p:nvSpPr>
        <p:spPr>
          <a:xfrm>
            <a:off x="337350" y="1176316"/>
            <a:ext cx="9144000" cy="6960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2"/>
              </a:buClr>
              <a:buSzPts val="6000"/>
              <a:buFont typeface="Georgia"/>
              <a:buNone/>
            </a:pPr>
            <a:r>
              <a:rPr lang="en-US" sz="2500"/>
              <a:t>Understanding Race Condition</a:t>
            </a:r>
            <a:endParaRPr sz="1800"/>
          </a:p>
        </p:txBody>
      </p:sp>
      <p:grpSp>
        <p:nvGrpSpPr>
          <p:cNvPr id="2" name="Group 1" descr="Both calculate 2+1=3">
            <a:extLst>
              <a:ext uri="{FF2B5EF4-FFF2-40B4-BE49-F238E27FC236}">
                <a16:creationId xmlns:a16="http://schemas.microsoft.com/office/drawing/2014/main" id="{7B2B35EA-31ED-E4BA-3CB7-D763A371E704}"/>
              </a:ext>
            </a:extLst>
          </p:cNvPr>
          <p:cNvGrpSpPr/>
          <p:nvPr/>
        </p:nvGrpSpPr>
        <p:grpSpPr>
          <a:xfrm>
            <a:off x="1559925" y="2234900"/>
            <a:ext cx="8724449" cy="2598050"/>
            <a:chOff x="1559925" y="2234900"/>
            <a:chExt cx="8724449" cy="2598050"/>
          </a:xfrm>
        </p:grpSpPr>
        <p:pic>
          <p:nvPicPr>
            <p:cNvPr id="157" name="Google Shape;157;p23"/>
            <p:cNvPicPr preferRelativeResize="0"/>
            <p:nvPr/>
          </p:nvPicPr>
          <p:blipFill rotWithShape="1">
            <a:blip r:embed="rId3">
              <a:alphaModFix/>
            </a:blip>
            <a:srcRect b="3091"/>
            <a:stretch/>
          </p:blipFill>
          <p:spPr>
            <a:xfrm>
              <a:off x="1559925" y="2234900"/>
              <a:ext cx="2389050" cy="2432975"/>
            </a:xfrm>
            <a:prstGeom prst="rect">
              <a:avLst/>
            </a:prstGeom>
            <a:noFill/>
            <a:ln>
              <a:noFill/>
            </a:ln>
          </p:spPr>
        </p:pic>
        <p:sp>
          <p:nvSpPr>
            <p:cNvPr id="159" name="Google Shape;159;p23"/>
            <p:cNvSpPr/>
            <p:nvPr/>
          </p:nvSpPr>
          <p:spPr>
            <a:xfrm>
              <a:off x="4578150" y="2787450"/>
              <a:ext cx="2688000" cy="1747800"/>
            </a:xfrm>
            <a:prstGeom prst="rect">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a:ln>
                    <a:noFill/>
                  </a:ln>
                  <a:solidFill>
                    <a:srgbClr val="A00C30"/>
                  </a:solidFill>
                  <a:effectLst/>
                  <a:uLnTx/>
                  <a:uFillTx/>
                  <a:latin typeface="Arial"/>
                  <a:cs typeface="Arial"/>
                  <a:sym typeface="Arial"/>
                </a:rPr>
                <a:t>2</a:t>
              </a:r>
              <a:endParaRPr kumimoji="0" sz="2800" b="1" i="0" u="none" strike="noStrike" kern="0" cap="none" spc="0" normalizeH="0" baseline="0" noProof="0">
                <a:ln>
                  <a:noFill/>
                </a:ln>
                <a:solidFill>
                  <a:srgbClr val="A00C30"/>
                </a:solidFill>
                <a:effectLst/>
                <a:uLnTx/>
                <a:uFillTx/>
                <a:latin typeface="Arial"/>
                <a:cs typeface="Arial"/>
                <a:sym typeface="Arial"/>
              </a:endParaRPr>
            </a:p>
          </p:txBody>
        </p:sp>
        <p:pic>
          <p:nvPicPr>
            <p:cNvPr id="161" name="Google Shape;161;p23"/>
            <p:cNvPicPr preferRelativeResize="0"/>
            <p:nvPr/>
          </p:nvPicPr>
          <p:blipFill>
            <a:blip r:embed="rId4">
              <a:alphaModFix/>
            </a:blip>
            <a:stretch>
              <a:fillRect/>
            </a:stretch>
          </p:blipFill>
          <p:spPr>
            <a:xfrm>
              <a:off x="7895324" y="2337743"/>
              <a:ext cx="2389050" cy="2495207"/>
            </a:xfrm>
            <a:prstGeom prst="rect">
              <a:avLst/>
            </a:prstGeom>
            <a:noFill/>
            <a:ln>
              <a:noFill/>
            </a:ln>
          </p:spPr>
        </p:pic>
        <p:sp>
          <p:nvSpPr>
            <p:cNvPr id="162" name="Google Shape;162;p23"/>
            <p:cNvSpPr txBox="1"/>
            <p:nvPr/>
          </p:nvSpPr>
          <p:spPr>
            <a:xfrm>
              <a:off x="2021775" y="2234900"/>
              <a:ext cx="3000000" cy="615600"/>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a:ln>
                    <a:noFill/>
                  </a:ln>
                  <a:solidFill>
                    <a:srgbClr val="A00C30"/>
                  </a:solidFill>
                  <a:effectLst/>
                  <a:uLnTx/>
                  <a:uFillTx/>
                  <a:latin typeface="Arial"/>
                  <a:cs typeface="Arial"/>
                  <a:sym typeface="Arial"/>
                </a:rPr>
                <a:t>2+1=3</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3" name="Google Shape;163;p23"/>
            <p:cNvSpPr txBox="1"/>
            <p:nvPr/>
          </p:nvSpPr>
          <p:spPr>
            <a:xfrm>
              <a:off x="6631875" y="2234900"/>
              <a:ext cx="3000000" cy="615600"/>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a:ln>
                    <a:noFill/>
                  </a:ln>
                  <a:solidFill>
                    <a:srgbClr val="A00C30"/>
                  </a:solidFill>
                  <a:effectLst/>
                  <a:uLnTx/>
                  <a:uFillTx/>
                  <a:latin typeface="Arial"/>
                  <a:cs typeface="Arial"/>
                  <a:sym typeface="Arial"/>
                </a:rPr>
                <a:t>2+1=3</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160" name="Google Shape;160;p23">
            <a:extLst>
              <a:ext uri="{C183D7F6-B498-43B3-948B-1728B52AA6E4}">
                <adec:decorative xmlns:adec="http://schemas.microsoft.com/office/drawing/2017/decorative" val="1"/>
              </a:ext>
            </a:extLst>
          </p:cNvPr>
          <p:cNvSpPr txBox="1"/>
          <p:nvPr/>
        </p:nvSpPr>
        <p:spPr>
          <a:xfrm>
            <a:off x="2736450" y="4993575"/>
            <a:ext cx="6371400" cy="1108200"/>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0" i="0" u="none" strike="noStrike" kern="0" cap="none" spc="0" normalizeH="0" baseline="0" noProof="0" dirty="0">
                <a:ln>
                  <a:noFill/>
                </a:ln>
                <a:solidFill>
                  <a:srgbClr val="0F2044"/>
                </a:solidFill>
                <a:effectLst/>
                <a:uLnTx/>
                <a:uFillTx/>
                <a:latin typeface="Arial"/>
                <a:cs typeface="Arial"/>
                <a:sym typeface="Arial"/>
              </a:rPr>
              <a:t>If we are unlucky, both programs will look at the original value, both will calculate the value 1 higher, and both will try to replace the original value.</a:t>
            </a:r>
            <a:endParaRPr kumimoji="0" sz="2000" b="0" i="0" u="none" strike="noStrike" kern="0" cap="none" spc="0" normalizeH="0" baseline="0" noProof="0" dirty="0">
              <a:ln>
                <a:noFill/>
              </a:ln>
              <a:solidFill>
                <a:srgbClr val="0F2044"/>
              </a:solidFill>
              <a:effectLst/>
              <a:uLnTx/>
              <a:uFillTx/>
              <a:latin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9" name="Google Shape;169;p24"/>
          <p:cNvSpPr txBox="1">
            <a:spLocks noGrp="1"/>
          </p:cNvSpPr>
          <p:nvPr>
            <p:ph type="ctrTitle"/>
          </p:nvPr>
        </p:nvSpPr>
        <p:spPr>
          <a:xfrm>
            <a:off x="337350" y="1176316"/>
            <a:ext cx="9144000" cy="6960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2"/>
              </a:buClr>
              <a:buSzPts val="6000"/>
              <a:buFont typeface="Georgia"/>
              <a:buNone/>
            </a:pPr>
            <a:r>
              <a:rPr lang="en-US" sz="2500"/>
              <a:t>Understanding Race Condition</a:t>
            </a:r>
            <a:endParaRPr sz="1800"/>
          </a:p>
        </p:txBody>
      </p:sp>
      <p:grpSp>
        <p:nvGrpSpPr>
          <p:cNvPr id="2" name="Group 1" descr="Both update the value to 3.">
            <a:extLst>
              <a:ext uri="{FF2B5EF4-FFF2-40B4-BE49-F238E27FC236}">
                <a16:creationId xmlns:a16="http://schemas.microsoft.com/office/drawing/2014/main" id="{76166054-56CF-7CDD-29DE-76342D0D243C}"/>
              </a:ext>
            </a:extLst>
          </p:cNvPr>
          <p:cNvGrpSpPr/>
          <p:nvPr/>
        </p:nvGrpSpPr>
        <p:grpSpPr>
          <a:xfrm>
            <a:off x="1559925" y="2234900"/>
            <a:ext cx="8724449" cy="2598050"/>
            <a:chOff x="1559925" y="2234900"/>
            <a:chExt cx="8724449" cy="2598050"/>
          </a:xfrm>
        </p:grpSpPr>
        <p:pic>
          <p:nvPicPr>
            <p:cNvPr id="168" name="Google Shape;168;p24"/>
            <p:cNvPicPr preferRelativeResize="0"/>
            <p:nvPr/>
          </p:nvPicPr>
          <p:blipFill rotWithShape="1">
            <a:blip r:embed="rId3">
              <a:alphaModFix/>
            </a:blip>
            <a:srcRect b="3091"/>
            <a:stretch/>
          </p:blipFill>
          <p:spPr>
            <a:xfrm>
              <a:off x="1559925" y="2234900"/>
              <a:ext cx="2389050" cy="2432975"/>
            </a:xfrm>
            <a:prstGeom prst="rect">
              <a:avLst/>
            </a:prstGeom>
            <a:noFill/>
            <a:ln>
              <a:noFill/>
            </a:ln>
          </p:spPr>
        </p:pic>
        <p:sp>
          <p:nvSpPr>
            <p:cNvPr id="171" name="Google Shape;171;p24"/>
            <p:cNvSpPr/>
            <p:nvPr/>
          </p:nvSpPr>
          <p:spPr>
            <a:xfrm>
              <a:off x="4578150" y="2787450"/>
              <a:ext cx="2688000" cy="1747800"/>
            </a:xfrm>
            <a:prstGeom prst="rect">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a:ln>
                    <a:noFill/>
                  </a:ln>
                  <a:solidFill>
                    <a:srgbClr val="A00C30"/>
                  </a:solidFill>
                  <a:effectLst/>
                  <a:uLnTx/>
                  <a:uFillTx/>
                  <a:latin typeface="Arial"/>
                  <a:cs typeface="Arial"/>
                  <a:sym typeface="Arial"/>
                </a:rPr>
                <a:t>3</a:t>
              </a:r>
              <a:endParaRPr kumimoji="0" sz="2800" b="1" i="0" u="none" strike="noStrike" kern="0" cap="none" spc="0" normalizeH="0" baseline="0" noProof="0">
                <a:ln>
                  <a:noFill/>
                </a:ln>
                <a:solidFill>
                  <a:srgbClr val="A00C30"/>
                </a:solidFill>
                <a:effectLst/>
                <a:uLnTx/>
                <a:uFillTx/>
                <a:latin typeface="Arial"/>
                <a:cs typeface="Arial"/>
                <a:sym typeface="Arial"/>
              </a:endParaRPr>
            </a:p>
          </p:txBody>
        </p:sp>
        <p:pic>
          <p:nvPicPr>
            <p:cNvPr id="172" name="Google Shape;172;p24"/>
            <p:cNvPicPr preferRelativeResize="0"/>
            <p:nvPr/>
          </p:nvPicPr>
          <p:blipFill>
            <a:blip r:embed="rId4">
              <a:alphaModFix/>
            </a:blip>
            <a:stretch>
              <a:fillRect/>
            </a:stretch>
          </p:blipFill>
          <p:spPr>
            <a:xfrm>
              <a:off x="7895324" y="2337743"/>
              <a:ext cx="2389050" cy="2495207"/>
            </a:xfrm>
            <a:prstGeom prst="rect">
              <a:avLst/>
            </a:prstGeom>
            <a:noFill/>
            <a:ln>
              <a:noFill/>
            </a:ln>
          </p:spPr>
        </p:pic>
        <p:sp>
          <p:nvSpPr>
            <p:cNvPr id="173" name="Google Shape;173;p24"/>
            <p:cNvSpPr txBox="1"/>
            <p:nvPr/>
          </p:nvSpPr>
          <p:spPr>
            <a:xfrm>
              <a:off x="2021775" y="2234900"/>
              <a:ext cx="3000000" cy="615600"/>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a:ln>
                    <a:noFill/>
                  </a:ln>
                  <a:solidFill>
                    <a:srgbClr val="A00C30"/>
                  </a:solidFill>
                  <a:effectLst/>
                  <a:uLnTx/>
                  <a:uFillTx/>
                  <a:latin typeface="Arial"/>
                  <a:cs typeface="Arial"/>
                  <a:sym typeface="Arial"/>
                </a:rPr>
                <a:t>2+1=3</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4" name="Google Shape;174;p24"/>
            <p:cNvSpPr txBox="1"/>
            <p:nvPr/>
          </p:nvSpPr>
          <p:spPr>
            <a:xfrm>
              <a:off x="6631875" y="2234900"/>
              <a:ext cx="3000000" cy="615600"/>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a:ln>
                    <a:noFill/>
                  </a:ln>
                  <a:solidFill>
                    <a:srgbClr val="A00C30"/>
                  </a:solidFill>
                  <a:effectLst/>
                  <a:uLnTx/>
                  <a:uFillTx/>
                  <a:latin typeface="Arial"/>
                  <a:cs typeface="Arial"/>
                  <a:sym typeface="Arial"/>
                </a:rPr>
                <a:t>2+1=3</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175" name="Google Shape;175;p24"/>
            <p:cNvCxnSpPr/>
            <p:nvPr/>
          </p:nvCxnSpPr>
          <p:spPr>
            <a:xfrm>
              <a:off x="4225425" y="2721075"/>
              <a:ext cx="1338300" cy="807600"/>
            </a:xfrm>
            <a:prstGeom prst="straightConnector1">
              <a:avLst/>
            </a:prstGeom>
            <a:noFill/>
            <a:ln w="38100" cap="flat" cmpd="sng">
              <a:solidFill>
                <a:schemeClr val="dk2"/>
              </a:solidFill>
              <a:prstDash val="solid"/>
              <a:round/>
              <a:headEnd type="none" w="med" len="med"/>
              <a:tailEnd type="triangle" w="med" len="med"/>
            </a:ln>
          </p:spPr>
        </p:cxnSp>
        <p:cxnSp>
          <p:nvCxnSpPr>
            <p:cNvPr id="176" name="Google Shape;176;p24"/>
            <p:cNvCxnSpPr/>
            <p:nvPr/>
          </p:nvCxnSpPr>
          <p:spPr>
            <a:xfrm flipH="1">
              <a:off x="6183375" y="2754250"/>
              <a:ext cx="1426800" cy="708000"/>
            </a:xfrm>
            <a:prstGeom prst="straightConnector1">
              <a:avLst/>
            </a:prstGeom>
            <a:noFill/>
            <a:ln w="38100" cap="flat" cmpd="sng">
              <a:solidFill>
                <a:schemeClr val="dk2"/>
              </a:solidFill>
              <a:prstDash val="solid"/>
              <a:round/>
              <a:headEnd type="none" w="med" len="med"/>
              <a:tailEnd type="triangle" w="med" len="med"/>
            </a:ln>
          </p:spPr>
        </p:cxnSp>
      </p:grpSp>
      <p:sp>
        <p:nvSpPr>
          <p:cNvPr id="170" name="Google Shape;170;p24">
            <a:extLst>
              <a:ext uri="{C183D7F6-B498-43B3-948B-1728B52AA6E4}">
                <adec:decorative xmlns:adec="http://schemas.microsoft.com/office/drawing/2017/decorative" val="1"/>
              </a:ext>
            </a:extLst>
          </p:cNvPr>
          <p:cNvSpPr txBox="1"/>
          <p:nvPr/>
        </p:nvSpPr>
        <p:spPr>
          <a:xfrm>
            <a:off x="2736450" y="4993575"/>
            <a:ext cx="6371400" cy="1108200"/>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0" i="0" u="none" strike="noStrike" kern="0" cap="none" spc="0" normalizeH="0" baseline="0" noProof="0" dirty="0">
                <a:ln>
                  <a:noFill/>
                </a:ln>
                <a:solidFill>
                  <a:srgbClr val="0F2044"/>
                </a:solidFill>
                <a:effectLst/>
                <a:uLnTx/>
                <a:uFillTx/>
                <a:latin typeface="Arial"/>
                <a:cs typeface="Arial"/>
                <a:sym typeface="Arial"/>
              </a:rPr>
              <a:t>If we are unlucky, both programs will look at the original value, both will calculate the value 1 higher, and both will try to replace the original value.</a:t>
            </a:r>
            <a:endParaRPr kumimoji="0" sz="2000" b="0" i="0" u="none" strike="noStrike" kern="0" cap="none" spc="0" normalizeH="0" baseline="0" noProof="0" dirty="0">
              <a:ln>
                <a:noFill/>
              </a:ln>
              <a:solidFill>
                <a:srgbClr val="0F2044"/>
              </a:solidFill>
              <a:effectLst/>
              <a:uLnTx/>
              <a:uFillTx/>
              <a:latin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5"/>
          <p:cNvSpPr txBox="1">
            <a:spLocks noGrp="1"/>
          </p:cNvSpPr>
          <p:nvPr>
            <p:ph type="ctrTitle"/>
          </p:nvPr>
        </p:nvSpPr>
        <p:spPr>
          <a:xfrm>
            <a:off x="337350" y="1176316"/>
            <a:ext cx="9144000" cy="6960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2"/>
              </a:buClr>
              <a:buSzPts val="6000"/>
              <a:buFont typeface="Georgia"/>
              <a:buNone/>
            </a:pPr>
            <a:r>
              <a:rPr lang="en-US" sz="2500"/>
              <a:t>Understanding Race Condition</a:t>
            </a:r>
            <a:endParaRPr sz="1800"/>
          </a:p>
        </p:txBody>
      </p:sp>
      <p:sp>
        <p:nvSpPr>
          <p:cNvPr id="182" name="Google Shape;182;p25"/>
          <p:cNvSpPr txBox="1"/>
          <p:nvPr/>
        </p:nvSpPr>
        <p:spPr>
          <a:xfrm>
            <a:off x="1614900" y="2123750"/>
            <a:ext cx="6371400" cy="39558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00" b="0" i="0" u="none" strike="noStrike" kern="0" cap="none" spc="0" normalizeH="0" baseline="0" noProof="0" dirty="0">
                <a:ln>
                  <a:noFill/>
                </a:ln>
                <a:solidFill>
                  <a:srgbClr val="A00C30"/>
                </a:solidFill>
                <a:effectLst/>
                <a:uLnTx/>
                <a:uFillTx/>
                <a:latin typeface="Arial"/>
                <a:cs typeface="Arial"/>
                <a:sym typeface="Arial"/>
              </a:rPr>
              <a:t>Intent</a:t>
            </a:r>
            <a:endParaRPr kumimoji="0" sz="3500" b="0" i="0" u="none" strike="noStrike" kern="0" cap="none" spc="0" normalizeH="0" baseline="0" noProof="0" dirty="0">
              <a:ln>
                <a:noFill/>
              </a:ln>
              <a:solidFill>
                <a:srgbClr val="A00C30"/>
              </a:solidFill>
              <a:effectLst/>
              <a:uLnTx/>
              <a:uFillTx/>
              <a:latin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3500" b="0" i="0" u="none" strike="noStrike" kern="0" cap="none" spc="0" normalizeH="0" baseline="0" noProof="0" dirty="0">
              <a:ln>
                <a:noFill/>
              </a:ln>
              <a:solidFill>
                <a:srgbClr val="0F2044"/>
              </a:solidFill>
              <a:effectLst/>
              <a:uLnTx/>
              <a:uFillTx/>
              <a:latin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00" b="0" i="0" u="none" strike="noStrike" kern="0" cap="none" spc="0" normalizeH="0" baseline="0" noProof="0" dirty="0">
                <a:ln>
                  <a:noFill/>
                </a:ln>
                <a:solidFill>
                  <a:srgbClr val="0F2044"/>
                </a:solidFill>
                <a:effectLst/>
                <a:uLnTx/>
                <a:uFillTx/>
                <a:latin typeface="Arial"/>
                <a:cs typeface="Arial"/>
                <a:sym typeface="Arial"/>
              </a:rPr>
              <a:t>2 → 3 → 4</a:t>
            </a:r>
            <a:endParaRPr kumimoji="0" sz="3500" b="0" i="0" u="none" strike="noStrike" kern="0" cap="none" spc="0" normalizeH="0" baseline="0" noProof="0" dirty="0">
              <a:ln>
                <a:noFill/>
              </a:ln>
              <a:solidFill>
                <a:srgbClr val="0F2044"/>
              </a:solidFill>
              <a:effectLst/>
              <a:uLnTx/>
              <a:uFillTx/>
              <a:latin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3500" b="0" i="0" u="none" strike="noStrike" kern="0" cap="none" spc="0" normalizeH="0" baseline="0" noProof="0" dirty="0">
              <a:ln>
                <a:noFill/>
              </a:ln>
              <a:solidFill>
                <a:srgbClr val="0F2044"/>
              </a:solidFill>
              <a:effectLst/>
              <a:uLnTx/>
              <a:uFillTx/>
              <a:latin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00" b="0" i="0" u="none" strike="noStrike" kern="0" cap="none" spc="0" normalizeH="0" baseline="0" noProof="0" dirty="0">
                <a:ln>
                  <a:noFill/>
                </a:ln>
                <a:solidFill>
                  <a:srgbClr val="A00C30"/>
                </a:solidFill>
                <a:effectLst/>
                <a:uLnTx/>
                <a:uFillTx/>
                <a:latin typeface="Arial"/>
                <a:cs typeface="Arial"/>
                <a:sym typeface="Arial"/>
              </a:rPr>
              <a:t>Actual </a:t>
            </a:r>
            <a:endParaRPr kumimoji="0" sz="3500" b="0" i="0" u="none" strike="noStrike" kern="0" cap="none" spc="0" normalizeH="0" baseline="0" noProof="0" dirty="0">
              <a:ln>
                <a:noFill/>
              </a:ln>
              <a:solidFill>
                <a:srgbClr val="A00C30"/>
              </a:solidFill>
              <a:effectLst/>
              <a:uLnTx/>
              <a:uFillTx/>
              <a:latin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3500" b="0" i="0" u="none" strike="noStrike" kern="0" cap="none" spc="0" normalizeH="0" baseline="0" noProof="0" dirty="0">
              <a:ln>
                <a:noFill/>
              </a:ln>
              <a:solidFill>
                <a:srgbClr val="0F2044"/>
              </a:solidFill>
              <a:effectLst/>
              <a:uLnTx/>
              <a:uFillTx/>
              <a:latin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00" b="0" i="0" u="none" strike="noStrike" kern="0" cap="none" spc="0" normalizeH="0" baseline="0" noProof="0" dirty="0">
                <a:ln>
                  <a:noFill/>
                </a:ln>
                <a:solidFill>
                  <a:srgbClr val="0F2044"/>
                </a:solidFill>
                <a:effectLst/>
                <a:uLnTx/>
                <a:uFillTx/>
                <a:latin typeface="Arial"/>
                <a:cs typeface="Arial"/>
                <a:sym typeface="Arial"/>
              </a:rPr>
              <a:t>2 → 3 → 3</a:t>
            </a:r>
            <a:endParaRPr kumimoji="0" sz="3500" b="0" i="0" u="none" strike="noStrike" kern="0" cap="none" spc="0" normalizeH="0" baseline="0" noProof="0" dirty="0">
              <a:ln>
                <a:noFill/>
              </a:ln>
              <a:solidFill>
                <a:srgbClr val="0F2044"/>
              </a:solidFill>
              <a:effectLst/>
              <a:uLnTx/>
              <a:uFillTx/>
              <a:latin typeface="Arial"/>
              <a:cs typeface="Arial"/>
              <a:sym typeface="Arial"/>
            </a:endParaRPr>
          </a:p>
        </p:txBody>
      </p:sp>
      <p:sp>
        <p:nvSpPr>
          <p:cNvPr id="183" name="Google Shape;183;p25"/>
          <p:cNvSpPr txBox="1"/>
          <p:nvPr/>
        </p:nvSpPr>
        <p:spPr>
          <a:xfrm>
            <a:off x="8539325" y="2798500"/>
            <a:ext cx="2776500" cy="19548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300" b="0" i="0" u="none" strike="noStrike" kern="0" cap="none" spc="0" normalizeH="0" baseline="0" noProof="0">
                <a:ln>
                  <a:noFill/>
                </a:ln>
                <a:solidFill>
                  <a:srgbClr val="0F2044"/>
                </a:solidFill>
                <a:effectLst/>
                <a:uLnTx/>
                <a:uFillTx/>
                <a:latin typeface="Arial"/>
                <a:cs typeface="Arial"/>
                <a:sym typeface="Arial"/>
              </a:rPr>
              <a:t>This is an example of </a:t>
            </a:r>
            <a:r>
              <a:rPr kumimoji="0" lang="en-US" sz="2300" b="1" i="0" u="none" strike="noStrike" kern="0" cap="none" spc="0" normalizeH="0" baseline="0" noProof="0">
                <a:ln>
                  <a:noFill/>
                </a:ln>
                <a:solidFill>
                  <a:srgbClr val="0F2044"/>
                </a:solidFill>
                <a:effectLst/>
                <a:uLnTx/>
                <a:uFillTx/>
                <a:latin typeface="Arial"/>
                <a:cs typeface="Arial"/>
                <a:sym typeface="Arial"/>
              </a:rPr>
              <a:t>race condition</a:t>
            </a:r>
            <a:r>
              <a:rPr kumimoji="0" lang="en-US" sz="2300" b="0" i="0" u="none" strike="noStrike" kern="0" cap="none" spc="0" normalizeH="0" baseline="0" noProof="0">
                <a:ln>
                  <a:noFill/>
                </a:ln>
                <a:solidFill>
                  <a:srgbClr val="0F2044"/>
                </a:solidFill>
                <a:effectLst/>
                <a:uLnTx/>
                <a:uFillTx/>
                <a:latin typeface="Arial"/>
                <a:cs typeface="Arial"/>
                <a:sym typeface="Arial"/>
              </a:rPr>
              <a:t>, and we would like to avoid it if possible.</a:t>
            </a:r>
            <a:endParaRPr kumimoji="0" sz="2300" b="0" i="0" u="none" strike="noStrike" kern="0" cap="none" spc="0" normalizeH="0" baseline="0" noProof="0">
              <a:ln>
                <a:noFill/>
              </a:ln>
              <a:solidFill>
                <a:srgbClr val="0F2044"/>
              </a:solidFill>
              <a:effectLst/>
              <a:uLnTx/>
              <a:uFillTx/>
              <a:latin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6"/>
          <p:cNvSpPr txBox="1">
            <a:spLocks noGrp="1"/>
          </p:cNvSpPr>
          <p:nvPr>
            <p:ph type="ctrTitle"/>
          </p:nvPr>
        </p:nvSpPr>
        <p:spPr>
          <a:xfrm>
            <a:off x="337350" y="1176316"/>
            <a:ext cx="9144000" cy="6960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2"/>
              </a:buClr>
              <a:buSzPts val="6000"/>
              <a:buFont typeface="Georgia"/>
              <a:buNone/>
            </a:pPr>
            <a:r>
              <a:rPr lang="en-US" sz="2500" dirty="0"/>
              <a:t>Understanding Race Condition</a:t>
            </a:r>
            <a:endParaRPr sz="1800" dirty="0"/>
          </a:p>
        </p:txBody>
      </p:sp>
      <p:sp>
        <p:nvSpPr>
          <p:cNvPr id="189" name="Google Shape;189;p26"/>
          <p:cNvSpPr txBox="1"/>
          <p:nvPr/>
        </p:nvSpPr>
        <p:spPr>
          <a:xfrm>
            <a:off x="8340225" y="1238875"/>
            <a:ext cx="3473100" cy="53565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100" b="0" i="0" u="none" strike="noStrike" kern="0" cap="none" spc="0" normalizeH="0" baseline="0" noProof="0" dirty="0">
                <a:ln>
                  <a:noFill/>
                </a:ln>
                <a:solidFill>
                  <a:srgbClr val="0F2044"/>
                </a:solidFill>
                <a:effectLst/>
                <a:uLnTx/>
                <a:uFillTx/>
                <a:latin typeface="Arial"/>
                <a:cs typeface="Arial"/>
                <a:sym typeface="Arial"/>
              </a:rPr>
              <a:t>Two persons are trying to deposit 1 dollar online into the same bank account. </a:t>
            </a:r>
            <a:endParaRPr kumimoji="0" sz="2100" b="0" i="0" u="none" strike="noStrike" kern="0" cap="none" spc="0" normalizeH="0" baseline="0" noProof="0" dirty="0">
              <a:ln>
                <a:noFill/>
              </a:ln>
              <a:solidFill>
                <a:srgbClr val="0F2044"/>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100" b="0" i="0" u="none" strike="noStrike" kern="0" cap="none" spc="0" normalizeH="0" baseline="0" noProof="0" dirty="0">
              <a:ln>
                <a:noFill/>
              </a:ln>
              <a:solidFill>
                <a:srgbClr val="0F2044"/>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100" b="0" i="0" u="none" strike="noStrike" kern="0" cap="none" spc="0" normalizeH="0" baseline="0" noProof="0" dirty="0">
                <a:ln>
                  <a:noFill/>
                </a:ln>
                <a:solidFill>
                  <a:srgbClr val="0F2044"/>
                </a:solidFill>
                <a:effectLst/>
                <a:uLnTx/>
                <a:uFillTx/>
                <a:latin typeface="Arial"/>
                <a:cs typeface="Arial"/>
                <a:sym typeface="Arial"/>
              </a:rPr>
              <a:t>The initial amount is 17 dollar. Both the persons would be able to see $17 initially. Each of them tries to deposit $1, and the final amount is expected to be $19. </a:t>
            </a:r>
            <a:endParaRPr kumimoji="0" sz="2100" b="0" i="0" u="none" strike="noStrike" kern="0" cap="none" spc="0" normalizeH="0" baseline="0" noProof="0" dirty="0">
              <a:ln>
                <a:noFill/>
              </a:ln>
              <a:solidFill>
                <a:srgbClr val="0F2044"/>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100" b="0" i="0" u="none" strike="noStrike" kern="0" cap="none" spc="0" normalizeH="0" baseline="0" noProof="0" dirty="0">
              <a:ln>
                <a:noFill/>
              </a:ln>
              <a:solidFill>
                <a:srgbClr val="0F2044"/>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100" b="0" i="0" u="none" strike="noStrike" kern="0" cap="none" spc="0" normalizeH="0" baseline="0" noProof="0" dirty="0">
                <a:ln>
                  <a:noFill/>
                </a:ln>
                <a:solidFill>
                  <a:srgbClr val="0F2044"/>
                </a:solidFill>
                <a:effectLst/>
                <a:uLnTx/>
                <a:uFillTx/>
                <a:latin typeface="Arial"/>
                <a:cs typeface="Arial"/>
                <a:sym typeface="Arial"/>
              </a:rPr>
              <a:t>But due to race conditions, the final amount in the bank is $18 instead of $19. This is also known as dirty read.</a:t>
            </a:r>
            <a:endParaRPr kumimoji="0" sz="2100" b="0" i="0" u="none" strike="noStrike" kern="0" cap="none" spc="0" normalizeH="0" baseline="0" noProof="0" dirty="0">
              <a:ln>
                <a:noFill/>
              </a:ln>
              <a:solidFill>
                <a:srgbClr val="0F2044"/>
              </a:solidFill>
              <a:effectLst/>
              <a:uLnTx/>
              <a:uFillTx/>
              <a:latin typeface="Arial"/>
              <a:cs typeface="Arial"/>
              <a:sym typeface="Arial"/>
            </a:endParaRPr>
          </a:p>
        </p:txBody>
      </p:sp>
      <p:pic>
        <p:nvPicPr>
          <p:cNvPr id="190" name="Google Shape;190;p26" descr="A diagram illustrating a race condition in a banking context. Two people (Person A and Person B) simultaneously read a balance of 17, increment it to 18, and write it back, causing one update to be lost and resulting in an incorrect final balance of 18 instead of 19."/>
          <p:cNvPicPr preferRelativeResize="0"/>
          <p:nvPr/>
        </p:nvPicPr>
        <p:blipFill>
          <a:blip r:embed="rId3">
            <a:alphaModFix/>
          </a:blip>
          <a:stretch>
            <a:fillRect/>
          </a:stretch>
        </p:blipFill>
        <p:spPr>
          <a:xfrm>
            <a:off x="451075" y="1980475"/>
            <a:ext cx="7745350" cy="4115400"/>
          </a:xfrm>
          <a:prstGeom prst="rect">
            <a:avLst/>
          </a:prstGeom>
          <a:noFill/>
          <a:ln>
            <a:noFill/>
          </a:ln>
        </p:spPr>
      </p:pic>
      <p:sp>
        <p:nvSpPr>
          <p:cNvPr id="191" name="Google Shape;191;p26">
            <a:extLst>
              <a:ext uri="{C183D7F6-B498-43B3-948B-1728B52AA6E4}">
                <adec:decorative xmlns:adec="http://schemas.microsoft.com/office/drawing/2017/decorative" val="1"/>
              </a:ext>
            </a:extLst>
          </p:cNvPr>
          <p:cNvSpPr txBox="1"/>
          <p:nvPr/>
        </p:nvSpPr>
        <p:spPr>
          <a:xfrm>
            <a:off x="3934400" y="6266650"/>
            <a:ext cx="2254800" cy="3078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00" b="0" i="0" u="none" strike="noStrike" kern="0" cap="none" spc="0" normalizeH="0" baseline="0" noProof="0">
                <a:ln>
                  <a:noFill/>
                </a:ln>
                <a:solidFill>
                  <a:srgbClr val="000000"/>
                </a:solidFill>
                <a:effectLst/>
                <a:uLnTx/>
                <a:uFillTx/>
                <a:latin typeface="Arial"/>
                <a:ea typeface="Arial"/>
                <a:cs typeface="Arial"/>
                <a:sym typeface="Arial"/>
              </a:rPr>
              <a:t>Image credit - </a:t>
            </a:r>
            <a:r>
              <a:rPr kumimoji="0" lang="en-US" sz="800" b="0" i="0" u="none" strike="noStrike" kern="0" cap="none" spc="0" normalizeH="0" baseline="0" noProof="0">
                <a:ln>
                  <a:noFill/>
                </a:ln>
                <a:solidFill>
                  <a:srgbClr val="000000"/>
                </a:solidFill>
                <a:effectLst/>
                <a:uLnTx/>
                <a:uFillTx/>
                <a:latin typeface="Arial"/>
                <a:cs typeface="Arial"/>
                <a:sym typeface="Arial"/>
              </a:rPr>
              <a:t>https://cloudxlab.com/</a:t>
            </a:r>
            <a:endParaRPr kumimoji="0" sz="800" b="1" i="0" u="none" strike="noStrike" kern="0" cap="none" spc="0" normalizeH="0" baseline="0" noProof="0">
              <a:ln>
                <a:noFill/>
              </a:ln>
              <a:solidFill>
                <a:srgbClr val="000000"/>
              </a:solidFill>
              <a:effectLst/>
              <a:uLnTx/>
              <a:uFillTx/>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p27"/>
          <p:cNvSpPr txBox="1">
            <a:spLocks noGrp="1"/>
          </p:cNvSpPr>
          <p:nvPr>
            <p:ph type="ctrTitle"/>
          </p:nvPr>
        </p:nvSpPr>
        <p:spPr>
          <a:xfrm>
            <a:off x="337350" y="1176316"/>
            <a:ext cx="9144000" cy="6960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2"/>
              </a:buClr>
              <a:buSzPts val="6000"/>
              <a:buFont typeface="Georgia"/>
              <a:buNone/>
            </a:pPr>
            <a:r>
              <a:rPr lang="en-US" sz="2500"/>
              <a:t>Understanding Race Condition</a:t>
            </a:r>
            <a:endParaRPr sz="1800"/>
          </a:p>
        </p:txBody>
      </p:sp>
      <p:sp>
        <p:nvSpPr>
          <p:cNvPr id="198" name="Google Shape;198;p27"/>
          <p:cNvSpPr txBox="1"/>
          <p:nvPr/>
        </p:nvSpPr>
        <p:spPr>
          <a:xfrm>
            <a:off x="337350" y="2013150"/>
            <a:ext cx="11122200" cy="8928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300" b="0" i="0" u="none" strike="noStrike" kern="0" cap="none" spc="0" normalizeH="0" baseline="0" noProof="0">
                <a:ln>
                  <a:noFill/>
                </a:ln>
                <a:solidFill>
                  <a:srgbClr val="0F2044"/>
                </a:solidFill>
                <a:effectLst/>
                <a:uLnTx/>
                <a:uFillTx/>
                <a:latin typeface="Arial"/>
                <a:cs typeface="Arial"/>
                <a:sym typeface="Arial"/>
              </a:rPr>
              <a:t>To avoid </a:t>
            </a:r>
            <a:r>
              <a:rPr kumimoji="0" lang="en-US" sz="2300" b="1" i="0" u="none" strike="noStrike" kern="0" cap="none" spc="0" normalizeH="0" baseline="0" noProof="0">
                <a:ln>
                  <a:noFill/>
                </a:ln>
                <a:solidFill>
                  <a:srgbClr val="0F2044"/>
                </a:solidFill>
                <a:effectLst/>
                <a:uLnTx/>
                <a:uFillTx/>
                <a:latin typeface="Arial"/>
                <a:cs typeface="Arial"/>
                <a:sym typeface="Arial"/>
              </a:rPr>
              <a:t>race condition</a:t>
            </a:r>
            <a:r>
              <a:rPr kumimoji="0" lang="en-US" sz="2300" b="0" i="0" u="none" strike="noStrike" kern="0" cap="none" spc="0" normalizeH="0" baseline="0" noProof="0">
                <a:ln>
                  <a:noFill/>
                </a:ln>
                <a:solidFill>
                  <a:srgbClr val="0F2044"/>
                </a:solidFill>
                <a:effectLst/>
                <a:uLnTx/>
                <a:uFillTx/>
                <a:latin typeface="Arial"/>
                <a:cs typeface="Arial"/>
                <a:sym typeface="Arial"/>
              </a:rPr>
              <a:t>, we need some mechanism to ensure only one program at a time can access one particular region of the code, a region called </a:t>
            </a:r>
            <a:r>
              <a:rPr kumimoji="0" lang="en-US" sz="2300" b="1" i="0" u="none" strike="noStrike" kern="0" cap="none" spc="0" normalizeH="0" baseline="0" noProof="0">
                <a:ln>
                  <a:noFill/>
                </a:ln>
                <a:solidFill>
                  <a:srgbClr val="0F2044"/>
                </a:solidFill>
                <a:effectLst/>
                <a:uLnTx/>
                <a:uFillTx/>
                <a:latin typeface="Arial"/>
                <a:cs typeface="Arial"/>
                <a:sym typeface="Arial"/>
              </a:rPr>
              <a:t>critical section</a:t>
            </a:r>
            <a:r>
              <a:rPr kumimoji="0" lang="en-US" sz="2300" b="0" i="0" u="none" strike="noStrike" kern="0" cap="none" spc="0" normalizeH="0" baseline="0" noProof="0">
                <a:ln>
                  <a:noFill/>
                </a:ln>
                <a:solidFill>
                  <a:srgbClr val="0F2044"/>
                </a:solidFill>
                <a:effectLst/>
                <a:uLnTx/>
                <a:uFillTx/>
                <a:latin typeface="Arial"/>
                <a:cs typeface="Arial"/>
                <a:sym typeface="Arial"/>
              </a:rPr>
              <a:t>.</a:t>
            </a:r>
            <a:endParaRPr kumimoji="0" sz="2300" b="0" i="0" u="none" strike="noStrike" kern="0" cap="none" spc="0" normalizeH="0" baseline="0" noProof="0">
              <a:ln>
                <a:noFill/>
              </a:ln>
              <a:solidFill>
                <a:srgbClr val="0F2044"/>
              </a:solidFill>
              <a:effectLst/>
              <a:uLnTx/>
              <a:uFillTx/>
              <a:latin typeface="Arial"/>
              <a:cs typeface="Arial"/>
              <a:sym typeface="Arial"/>
            </a:endParaRPr>
          </a:p>
        </p:txBody>
      </p:sp>
      <p:grpSp>
        <p:nvGrpSpPr>
          <p:cNvPr id="2" name="Group 1" descr="Lets synchronize the value by putting it in a critical section.">
            <a:extLst>
              <a:ext uri="{FF2B5EF4-FFF2-40B4-BE49-F238E27FC236}">
                <a16:creationId xmlns:a16="http://schemas.microsoft.com/office/drawing/2014/main" id="{F2606ED1-D166-186A-2667-19B2F100397B}"/>
              </a:ext>
            </a:extLst>
          </p:cNvPr>
          <p:cNvGrpSpPr/>
          <p:nvPr/>
        </p:nvGrpSpPr>
        <p:grpSpPr>
          <a:xfrm>
            <a:off x="1559925" y="3099743"/>
            <a:ext cx="8724449" cy="3242707"/>
            <a:chOff x="1559925" y="3099743"/>
            <a:chExt cx="8724449" cy="3242707"/>
          </a:xfrm>
        </p:grpSpPr>
        <p:sp>
          <p:nvSpPr>
            <p:cNvPr id="196" name="Google Shape;196;p27"/>
            <p:cNvSpPr/>
            <p:nvPr/>
          </p:nvSpPr>
          <p:spPr>
            <a:xfrm>
              <a:off x="4114800" y="3240950"/>
              <a:ext cx="3604800" cy="2495100"/>
            </a:xfrm>
            <a:prstGeom prst="rect">
              <a:avLst/>
            </a:prstGeom>
            <a:noFill/>
            <a:ln w="3810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9" name="Google Shape;199;p27"/>
            <p:cNvSpPr/>
            <p:nvPr/>
          </p:nvSpPr>
          <p:spPr>
            <a:xfrm>
              <a:off x="4578150" y="3549450"/>
              <a:ext cx="2688000" cy="1747800"/>
            </a:xfrm>
            <a:prstGeom prst="rect">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a:ln>
                    <a:noFill/>
                  </a:ln>
                  <a:solidFill>
                    <a:srgbClr val="A00C30"/>
                  </a:solidFill>
                  <a:effectLst/>
                  <a:uLnTx/>
                  <a:uFillTx/>
                  <a:latin typeface="Arial"/>
                  <a:cs typeface="Arial"/>
                  <a:sym typeface="Arial"/>
                </a:rPr>
                <a:t>3</a:t>
              </a:r>
              <a:endParaRPr kumimoji="0" sz="2800" b="1" i="0" u="none" strike="noStrike" kern="0" cap="none" spc="0" normalizeH="0" baseline="0" noProof="0">
                <a:ln>
                  <a:noFill/>
                </a:ln>
                <a:solidFill>
                  <a:srgbClr val="A00C30"/>
                </a:solidFill>
                <a:effectLst/>
                <a:uLnTx/>
                <a:uFillTx/>
                <a:latin typeface="Arial"/>
                <a:cs typeface="Arial"/>
                <a:sym typeface="Arial"/>
              </a:endParaRPr>
            </a:p>
          </p:txBody>
        </p:sp>
        <p:pic>
          <p:nvPicPr>
            <p:cNvPr id="200" name="Google Shape;200;p27"/>
            <p:cNvPicPr preferRelativeResize="0"/>
            <p:nvPr/>
          </p:nvPicPr>
          <p:blipFill>
            <a:blip r:embed="rId3">
              <a:alphaModFix/>
            </a:blip>
            <a:stretch>
              <a:fillRect/>
            </a:stretch>
          </p:blipFill>
          <p:spPr>
            <a:xfrm>
              <a:off x="7895324" y="3099743"/>
              <a:ext cx="2389050" cy="2495207"/>
            </a:xfrm>
            <a:prstGeom prst="rect">
              <a:avLst/>
            </a:prstGeom>
            <a:noFill/>
            <a:ln>
              <a:noFill/>
            </a:ln>
          </p:spPr>
        </p:pic>
        <p:sp>
          <p:nvSpPr>
            <p:cNvPr id="201" name="Google Shape;201;p27"/>
            <p:cNvSpPr txBox="1"/>
            <p:nvPr/>
          </p:nvSpPr>
          <p:spPr>
            <a:xfrm>
              <a:off x="4700400" y="5788350"/>
              <a:ext cx="2433600" cy="5541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a:ln>
                    <a:noFill/>
                  </a:ln>
                  <a:solidFill>
                    <a:srgbClr val="0F2044"/>
                  </a:solidFill>
                  <a:effectLst/>
                  <a:uLnTx/>
                  <a:uFillTx/>
                  <a:latin typeface="Arial"/>
                  <a:cs typeface="Arial"/>
                  <a:sym typeface="Arial"/>
                </a:rPr>
                <a:t>critical section</a:t>
              </a:r>
              <a:endParaRPr kumimoji="0" sz="2400" b="1" i="0" u="none" strike="noStrike" kern="0" cap="none" spc="0" normalizeH="0" baseline="0" noProof="0">
                <a:ln>
                  <a:noFill/>
                </a:ln>
                <a:solidFill>
                  <a:srgbClr val="0F2044"/>
                </a:solidFill>
                <a:effectLst/>
                <a:uLnTx/>
                <a:uFillTx/>
                <a:latin typeface="Arial"/>
                <a:cs typeface="Arial"/>
                <a:sym typeface="Arial"/>
              </a:endParaRPr>
            </a:p>
          </p:txBody>
        </p:sp>
        <p:pic>
          <p:nvPicPr>
            <p:cNvPr id="202" name="Google Shape;202;p27"/>
            <p:cNvPicPr preferRelativeResize="0"/>
            <p:nvPr/>
          </p:nvPicPr>
          <p:blipFill rotWithShape="1">
            <a:blip r:embed="rId4">
              <a:alphaModFix/>
            </a:blip>
            <a:srcRect b="3091"/>
            <a:stretch/>
          </p:blipFill>
          <p:spPr>
            <a:xfrm>
              <a:off x="1559925" y="3225500"/>
              <a:ext cx="2389050" cy="2432975"/>
            </a:xfrm>
            <a:prstGeom prst="rect">
              <a:avLst/>
            </a:prstGeom>
            <a:noFill/>
            <a:ln>
              <a:noFill/>
            </a:ln>
          </p:spPr>
        </p:pic>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0375" y="1188547"/>
            <a:ext cx="4366895" cy="674544"/>
          </a:xfrm>
          <a:prstGeom prst="rect">
            <a:avLst/>
          </a:prstGeom>
        </p:spPr>
        <p:txBody>
          <a:bodyPr vert="horz" wrap="square" lIns="0" tIns="12700" rIns="0" bIns="0" rtlCol="0">
            <a:spAutoFit/>
          </a:bodyPr>
          <a:lstStyle/>
          <a:p>
            <a:pPr marL="12700">
              <a:spcBef>
                <a:spcPts val="100"/>
              </a:spcBef>
            </a:pPr>
            <a:r>
              <a:rPr spc="-10" dirty="0"/>
              <a:t>Understanding</a:t>
            </a:r>
            <a:r>
              <a:rPr spc="-100" dirty="0"/>
              <a:t> </a:t>
            </a:r>
            <a:r>
              <a:rPr dirty="0"/>
              <a:t>Race</a:t>
            </a:r>
            <a:r>
              <a:rPr spc="-85" dirty="0"/>
              <a:t> </a:t>
            </a:r>
            <a:r>
              <a:rPr spc="-10" dirty="0"/>
              <a:t>Condition</a:t>
            </a:r>
            <a:br>
              <a:rPr lang="en-US" spc="-10" dirty="0"/>
            </a:br>
            <a:r>
              <a:rPr lang="en-US" sz="1800" dirty="0"/>
              <a:t>Critical</a:t>
            </a:r>
            <a:r>
              <a:rPr lang="en-US" sz="1800" spc="-40" dirty="0"/>
              <a:t> </a:t>
            </a:r>
            <a:r>
              <a:rPr lang="en-US" sz="1800" spc="-10" dirty="0"/>
              <a:t>Section</a:t>
            </a:r>
            <a:endParaRPr sz="1800" spc="-10" dirty="0"/>
          </a:p>
        </p:txBody>
      </p:sp>
      <p:sp>
        <p:nvSpPr>
          <p:cNvPr id="3" name="object 3"/>
          <p:cNvSpPr txBox="1"/>
          <p:nvPr/>
        </p:nvSpPr>
        <p:spPr>
          <a:xfrm>
            <a:off x="381000" y="1932053"/>
            <a:ext cx="6514465" cy="843821"/>
          </a:xfrm>
          <a:prstGeom prst="rect">
            <a:avLst/>
          </a:prstGeom>
        </p:spPr>
        <p:txBody>
          <a:bodyPr vert="horz" wrap="square" lIns="0" tIns="12700" rIns="0" bIns="0" rtlCol="0">
            <a:spAutoFit/>
          </a:bodyPr>
          <a:lstStyle/>
          <a:p>
            <a:pPr marL="113664" marR="5080">
              <a:lnSpc>
                <a:spcPct val="100000"/>
              </a:lnSpc>
              <a:spcBef>
                <a:spcPts val="1795"/>
              </a:spcBef>
            </a:pPr>
            <a:r>
              <a:rPr sz="1800" dirty="0">
                <a:latin typeface="Arial MT"/>
                <a:cs typeface="Arial MT"/>
              </a:rPr>
              <a:t>A</a:t>
            </a:r>
            <a:r>
              <a:rPr sz="1800" spc="-125" dirty="0">
                <a:latin typeface="Arial MT"/>
                <a:cs typeface="Arial MT"/>
              </a:rPr>
              <a:t> </a:t>
            </a:r>
            <a:r>
              <a:rPr sz="1800" b="1" dirty="0">
                <a:latin typeface="Arial"/>
                <a:cs typeface="Arial"/>
              </a:rPr>
              <a:t>critical</a:t>
            </a:r>
            <a:r>
              <a:rPr sz="1800" b="1" spc="-20" dirty="0">
                <a:latin typeface="Arial"/>
                <a:cs typeface="Arial"/>
              </a:rPr>
              <a:t> </a:t>
            </a:r>
            <a:r>
              <a:rPr sz="1800" b="1" dirty="0">
                <a:latin typeface="Arial"/>
                <a:cs typeface="Arial"/>
              </a:rPr>
              <a:t>section</a:t>
            </a:r>
            <a:r>
              <a:rPr sz="1800" b="1" spc="5" dirty="0">
                <a:latin typeface="Arial"/>
                <a:cs typeface="Arial"/>
              </a:rPr>
              <a:t> </a:t>
            </a:r>
            <a:r>
              <a:rPr sz="1800" dirty="0">
                <a:latin typeface="Arial MT"/>
                <a:cs typeface="Arial MT"/>
              </a:rPr>
              <a:t>is</a:t>
            </a:r>
            <a:r>
              <a:rPr sz="1800" spc="-20" dirty="0">
                <a:latin typeface="Arial MT"/>
                <a:cs typeface="Arial MT"/>
              </a:rPr>
              <a:t> </a:t>
            </a:r>
            <a:r>
              <a:rPr sz="1800" dirty="0">
                <a:latin typeface="Arial MT"/>
                <a:cs typeface="Arial MT"/>
              </a:rPr>
              <a:t>a</a:t>
            </a:r>
            <a:r>
              <a:rPr sz="1800" spc="-15" dirty="0">
                <a:latin typeface="Arial MT"/>
                <a:cs typeface="Arial MT"/>
              </a:rPr>
              <a:t> </a:t>
            </a:r>
            <a:r>
              <a:rPr sz="1800" dirty="0">
                <a:latin typeface="Arial MT"/>
                <a:cs typeface="Arial MT"/>
              </a:rPr>
              <a:t>part</a:t>
            </a:r>
            <a:r>
              <a:rPr sz="1800" spc="-20" dirty="0">
                <a:latin typeface="Arial MT"/>
                <a:cs typeface="Arial MT"/>
              </a:rPr>
              <a:t> </a:t>
            </a:r>
            <a:r>
              <a:rPr sz="1800" dirty="0">
                <a:latin typeface="Arial MT"/>
                <a:cs typeface="Arial MT"/>
              </a:rPr>
              <a:t>of</a:t>
            </a:r>
            <a:r>
              <a:rPr sz="1800" spc="-20" dirty="0">
                <a:latin typeface="Arial MT"/>
                <a:cs typeface="Arial MT"/>
              </a:rPr>
              <a:t> </a:t>
            </a:r>
            <a:r>
              <a:rPr sz="1800" dirty="0">
                <a:latin typeface="Arial MT"/>
                <a:cs typeface="Arial MT"/>
              </a:rPr>
              <a:t>the</a:t>
            </a:r>
            <a:r>
              <a:rPr sz="1800" spc="-20" dirty="0">
                <a:latin typeface="Arial MT"/>
                <a:cs typeface="Arial MT"/>
              </a:rPr>
              <a:t> </a:t>
            </a:r>
            <a:r>
              <a:rPr sz="1800" dirty="0">
                <a:latin typeface="Arial MT"/>
                <a:cs typeface="Arial MT"/>
              </a:rPr>
              <a:t>code</a:t>
            </a:r>
            <a:r>
              <a:rPr sz="1800" spc="-20" dirty="0">
                <a:latin typeface="Arial MT"/>
                <a:cs typeface="Arial MT"/>
              </a:rPr>
              <a:t> </a:t>
            </a:r>
            <a:r>
              <a:rPr sz="1800" dirty="0">
                <a:latin typeface="Arial MT"/>
                <a:cs typeface="Arial MT"/>
              </a:rPr>
              <a:t>where</a:t>
            </a:r>
            <a:r>
              <a:rPr sz="1800" spc="-20" dirty="0">
                <a:latin typeface="Arial MT"/>
                <a:cs typeface="Arial MT"/>
              </a:rPr>
              <a:t> </a:t>
            </a:r>
            <a:r>
              <a:rPr sz="1800" dirty="0">
                <a:latin typeface="Arial MT"/>
                <a:cs typeface="Arial MT"/>
              </a:rPr>
              <a:t>shared</a:t>
            </a:r>
            <a:r>
              <a:rPr sz="1800" spc="-15" dirty="0">
                <a:latin typeface="Arial MT"/>
                <a:cs typeface="Arial MT"/>
              </a:rPr>
              <a:t> </a:t>
            </a:r>
            <a:r>
              <a:rPr sz="1800" spc="-10" dirty="0">
                <a:latin typeface="Arial MT"/>
                <a:cs typeface="Arial MT"/>
              </a:rPr>
              <a:t>resources </a:t>
            </a:r>
            <a:r>
              <a:rPr sz="1800" dirty="0">
                <a:latin typeface="Arial MT"/>
                <a:cs typeface="Arial MT"/>
              </a:rPr>
              <a:t>are</a:t>
            </a:r>
            <a:r>
              <a:rPr sz="1800" spc="-35" dirty="0">
                <a:latin typeface="Arial MT"/>
                <a:cs typeface="Arial MT"/>
              </a:rPr>
              <a:t> </a:t>
            </a:r>
            <a:r>
              <a:rPr sz="1800" dirty="0">
                <a:latin typeface="Arial MT"/>
                <a:cs typeface="Arial MT"/>
              </a:rPr>
              <a:t>accessed</a:t>
            </a:r>
            <a:r>
              <a:rPr sz="1800" spc="-25" dirty="0">
                <a:latin typeface="Arial MT"/>
                <a:cs typeface="Arial MT"/>
              </a:rPr>
              <a:t> </a:t>
            </a:r>
            <a:r>
              <a:rPr sz="1800" dirty="0">
                <a:latin typeface="Arial MT"/>
                <a:cs typeface="Arial MT"/>
              </a:rPr>
              <a:t>or</a:t>
            </a:r>
            <a:r>
              <a:rPr sz="1800" spc="-25" dirty="0">
                <a:latin typeface="Arial MT"/>
                <a:cs typeface="Arial MT"/>
              </a:rPr>
              <a:t> </a:t>
            </a:r>
            <a:r>
              <a:rPr sz="1800" dirty="0">
                <a:latin typeface="Arial MT"/>
                <a:cs typeface="Arial MT"/>
              </a:rPr>
              <a:t>modified.</a:t>
            </a:r>
            <a:r>
              <a:rPr sz="1800" spc="-25" dirty="0">
                <a:latin typeface="Arial MT"/>
                <a:cs typeface="Arial MT"/>
              </a:rPr>
              <a:t> </a:t>
            </a:r>
            <a:r>
              <a:rPr sz="1800" dirty="0">
                <a:latin typeface="Arial MT"/>
                <a:cs typeface="Arial MT"/>
              </a:rPr>
              <a:t>Only</a:t>
            </a:r>
            <a:r>
              <a:rPr sz="1800" spc="-25" dirty="0">
                <a:latin typeface="Arial MT"/>
                <a:cs typeface="Arial MT"/>
              </a:rPr>
              <a:t> </a:t>
            </a:r>
            <a:r>
              <a:rPr sz="1800" dirty="0">
                <a:latin typeface="Arial MT"/>
                <a:cs typeface="Arial MT"/>
              </a:rPr>
              <a:t>one</a:t>
            </a:r>
            <a:r>
              <a:rPr sz="1800" spc="-25" dirty="0">
                <a:latin typeface="Arial MT"/>
                <a:cs typeface="Arial MT"/>
              </a:rPr>
              <a:t> </a:t>
            </a:r>
            <a:r>
              <a:rPr sz="1800" dirty="0">
                <a:latin typeface="Arial MT"/>
                <a:cs typeface="Arial MT"/>
              </a:rPr>
              <a:t>thread</a:t>
            </a:r>
            <a:r>
              <a:rPr sz="1800" spc="-25" dirty="0">
                <a:latin typeface="Arial MT"/>
                <a:cs typeface="Arial MT"/>
              </a:rPr>
              <a:t> </a:t>
            </a:r>
            <a:r>
              <a:rPr sz="1800" dirty="0">
                <a:latin typeface="Arial MT"/>
                <a:cs typeface="Arial MT"/>
              </a:rPr>
              <a:t>should</a:t>
            </a:r>
            <a:r>
              <a:rPr sz="1800" spc="-25" dirty="0">
                <a:latin typeface="Arial MT"/>
                <a:cs typeface="Arial MT"/>
              </a:rPr>
              <a:t> </a:t>
            </a:r>
            <a:r>
              <a:rPr sz="1800" dirty="0">
                <a:latin typeface="Arial MT"/>
                <a:cs typeface="Arial MT"/>
              </a:rPr>
              <a:t>execute</a:t>
            </a:r>
            <a:r>
              <a:rPr sz="1800" spc="-20" dirty="0">
                <a:latin typeface="Arial MT"/>
                <a:cs typeface="Arial MT"/>
              </a:rPr>
              <a:t> </a:t>
            </a:r>
            <a:r>
              <a:rPr sz="1800" spc="-50" dirty="0">
                <a:latin typeface="Arial MT"/>
                <a:cs typeface="Arial MT"/>
              </a:rPr>
              <a:t>a </a:t>
            </a:r>
            <a:r>
              <a:rPr sz="1800" dirty="0">
                <a:latin typeface="Arial MT"/>
                <a:cs typeface="Arial MT"/>
              </a:rPr>
              <a:t>critical</a:t>
            </a:r>
            <a:r>
              <a:rPr sz="1800" spc="-35" dirty="0">
                <a:latin typeface="Arial MT"/>
                <a:cs typeface="Arial MT"/>
              </a:rPr>
              <a:t> </a:t>
            </a:r>
            <a:r>
              <a:rPr sz="1800" dirty="0">
                <a:latin typeface="Arial MT"/>
                <a:cs typeface="Arial MT"/>
              </a:rPr>
              <a:t>section</a:t>
            </a:r>
            <a:r>
              <a:rPr sz="1800" spc="-20" dirty="0">
                <a:latin typeface="Arial MT"/>
                <a:cs typeface="Arial MT"/>
              </a:rPr>
              <a:t> </a:t>
            </a:r>
            <a:r>
              <a:rPr sz="1800" dirty="0">
                <a:latin typeface="Arial MT"/>
                <a:cs typeface="Arial MT"/>
              </a:rPr>
              <a:t>at</a:t>
            </a:r>
            <a:r>
              <a:rPr sz="1800" spc="-20" dirty="0">
                <a:latin typeface="Arial MT"/>
                <a:cs typeface="Arial MT"/>
              </a:rPr>
              <a:t> </a:t>
            </a:r>
            <a:r>
              <a:rPr sz="1800" dirty="0">
                <a:latin typeface="Arial MT"/>
                <a:cs typeface="Arial MT"/>
              </a:rPr>
              <a:t>any</a:t>
            </a:r>
            <a:r>
              <a:rPr sz="1800" spc="-20" dirty="0">
                <a:latin typeface="Arial MT"/>
                <a:cs typeface="Arial MT"/>
              </a:rPr>
              <a:t> </a:t>
            </a:r>
            <a:r>
              <a:rPr sz="1800" dirty="0">
                <a:latin typeface="Arial MT"/>
                <a:cs typeface="Arial MT"/>
              </a:rPr>
              <a:t>time</a:t>
            </a:r>
            <a:r>
              <a:rPr sz="1800" spc="-20" dirty="0">
                <a:latin typeface="Arial MT"/>
                <a:cs typeface="Arial MT"/>
              </a:rPr>
              <a:t> </a:t>
            </a:r>
            <a:r>
              <a:rPr sz="1800" dirty="0">
                <a:latin typeface="Arial MT"/>
                <a:cs typeface="Arial MT"/>
              </a:rPr>
              <a:t>to</a:t>
            </a:r>
            <a:r>
              <a:rPr sz="1800" spc="-20" dirty="0">
                <a:latin typeface="Arial MT"/>
                <a:cs typeface="Arial MT"/>
              </a:rPr>
              <a:t> </a:t>
            </a:r>
            <a:r>
              <a:rPr sz="1800" dirty="0">
                <a:latin typeface="Arial MT"/>
                <a:cs typeface="Arial MT"/>
              </a:rPr>
              <a:t>avoid</a:t>
            </a:r>
            <a:r>
              <a:rPr sz="1800" spc="-20" dirty="0">
                <a:latin typeface="Arial MT"/>
                <a:cs typeface="Arial MT"/>
              </a:rPr>
              <a:t> </a:t>
            </a:r>
            <a:r>
              <a:rPr sz="1800" dirty="0">
                <a:latin typeface="Arial MT"/>
                <a:cs typeface="Arial MT"/>
              </a:rPr>
              <a:t>race</a:t>
            </a:r>
            <a:r>
              <a:rPr sz="1800" spc="-20" dirty="0">
                <a:latin typeface="Arial MT"/>
                <a:cs typeface="Arial MT"/>
              </a:rPr>
              <a:t> </a:t>
            </a:r>
            <a:r>
              <a:rPr sz="1800" spc="-10" dirty="0">
                <a:latin typeface="Arial MT"/>
                <a:cs typeface="Arial MT"/>
              </a:rPr>
              <a:t>conditions.</a:t>
            </a:r>
            <a:endParaRPr sz="1800" dirty="0">
              <a:latin typeface="Arial MT"/>
              <a:cs typeface="Arial MT"/>
            </a:endParaRPr>
          </a:p>
        </p:txBody>
      </p:sp>
      <p:pic>
        <p:nvPicPr>
          <p:cNvPr id="8" name="object 8" descr="A high-level diagram showing a Mutex Lock System in an operating system. Two threads interact with a central &quot;Mutex Lock System&quot; box containing a &quot;Shared Resource,&quot; using &quot;Wait&quot; or &quot;Release&quot; signals to manage access."/>
          <p:cNvPicPr/>
          <p:nvPr/>
        </p:nvPicPr>
        <p:blipFill>
          <a:blip r:embed="rId2" cstate="print"/>
          <a:stretch>
            <a:fillRect/>
          </a:stretch>
        </p:blipFill>
        <p:spPr>
          <a:xfrm>
            <a:off x="568250" y="3108225"/>
            <a:ext cx="6190499" cy="3095249"/>
          </a:xfrm>
          <a:prstGeom prst="rect">
            <a:avLst/>
          </a:prstGeom>
        </p:spPr>
      </p:pic>
      <p:sp>
        <p:nvSpPr>
          <p:cNvPr id="9" name="object 9">
            <a:extLst>
              <a:ext uri="{C183D7F6-B498-43B3-948B-1728B52AA6E4}">
                <adec:decorative xmlns:adec="http://schemas.microsoft.com/office/drawing/2017/decorative" val="1"/>
              </a:ext>
            </a:extLst>
          </p:cNvPr>
          <p:cNvSpPr txBox="1"/>
          <p:nvPr/>
        </p:nvSpPr>
        <p:spPr>
          <a:xfrm>
            <a:off x="2609125" y="6272436"/>
            <a:ext cx="2084070" cy="147320"/>
          </a:xfrm>
          <a:prstGeom prst="rect">
            <a:avLst/>
          </a:prstGeom>
        </p:spPr>
        <p:txBody>
          <a:bodyPr vert="horz" wrap="square" lIns="0" tIns="12700" rIns="0" bIns="0" rtlCol="0">
            <a:spAutoFit/>
          </a:bodyPr>
          <a:lstStyle/>
          <a:p>
            <a:pPr marL="12700">
              <a:lnSpc>
                <a:spcPct val="100000"/>
              </a:lnSpc>
              <a:spcBef>
                <a:spcPts val="100"/>
              </a:spcBef>
            </a:pPr>
            <a:r>
              <a:rPr sz="800" dirty="0">
                <a:latin typeface="Arial MT"/>
                <a:cs typeface="Arial MT"/>
              </a:rPr>
              <a:t>Image</a:t>
            </a:r>
            <a:r>
              <a:rPr sz="800" spc="-35" dirty="0">
                <a:latin typeface="Arial MT"/>
                <a:cs typeface="Arial MT"/>
              </a:rPr>
              <a:t> </a:t>
            </a:r>
            <a:r>
              <a:rPr sz="800" dirty="0">
                <a:latin typeface="Arial MT"/>
                <a:cs typeface="Arial MT"/>
              </a:rPr>
              <a:t>credit</a:t>
            </a:r>
            <a:r>
              <a:rPr sz="800" spc="-35" dirty="0">
                <a:latin typeface="Arial MT"/>
                <a:cs typeface="Arial MT"/>
              </a:rPr>
              <a:t> </a:t>
            </a:r>
            <a:r>
              <a:rPr sz="800" dirty="0">
                <a:latin typeface="Arial MT"/>
                <a:cs typeface="Arial MT"/>
              </a:rPr>
              <a:t>-</a:t>
            </a:r>
            <a:r>
              <a:rPr sz="800" spc="-30" dirty="0">
                <a:latin typeface="Arial MT"/>
                <a:cs typeface="Arial MT"/>
              </a:rPr>
              <a:t> </a:t>
            </a:r>
            <a:r>
              <a:rPr sz="800" spc="-10" dirty="0">
                <a:latin typeface="Arial MT"/>
                <a:cs typeface="Arial MT"/>
                <a:hlinkClick r:id="rId3"/>
              </a:rPr>
              <a:t>https://www.geeksforgeeks.org/</a:t>
            </a:r>
            <a:endParaRPr sz="800">
              <a:latin typeface="Arial MT"/>
              <a:cs typeface="Arial MT"/>
            </a:endParaRPr>
          </a:p>
        </p:txBody>
      </p:sp>
      <p:grpSp>
        <p:nvGrpSpPr>
          <p:cNvPr id="4" name="object 4" descr="A flowchart representing the structure of a process in a critical section problem. It shows a loop containing an &quot;Entry Section,&quot; a &quot;Critical Section&quot; (highlighted in red), an &quot;Exit Section,&quot; and a &quot;Remainder Section.&quot;"/>
          <p:cNvGrpSpPr/>
          <p:nvPr/>
        </p:nvGrpSpPr>
        <p:grpSpPr>
          <a:xfrm>
            <a:off x="7512225" y="1438275"/>
            <a:ext cx="4306570" cy="4775200"/>
            <a:chOff x="7512225" y="1438275"/>
            <a:chExt cx="4306570" cy="4775200"/>
          </a:xfrm>
        </p:grpSpPr>
        <p:pic>
          <p:nvPicPr>
            <p:cNvPr id="5" name="object 5"/>
            <p:cNvPicPr/>
            <p:nvPr/>
          </p:nvPicPr>
          <p:blipFill>
            <a:blip r:embed="rId4" cstate="print"/>
            <a:stretch>
              <a:fillRect/>
            </a:stretch>
          </p:blipFill>
          <p:spPr>
            <a:xfrm>
              <a:off x="7794905" y="1828254"/>
              <a:ext cx="3610399" cy="4089880"/>
            </a:xfrm>
            <a:prstGeom prst="rect">
              <a:avLst/>
            </a:prstGeom>
          </p:spPr>
        </p:pic>
        <p:sp>
          <p:nvSpPr>
            <p:cNvPr id="6" name="object 6"/>
            <p:cNvSpPr/>
            <p:nvPr/>
          </p:nvSpPr>
          <p:spPr>
            <a:xfrm>
              <a:off x="7516987" y="1443037"/>
              <a:ext cx="4297045" cy="4765675"/>
            </a:xfrm>
            <a:custGeom>
              <a:avLst/>
              <a:gdLst/>
              <a:ahLst/>
              <a:cxnLst/>
              <a:rect l="l" t="t" r="r" b="b"/>
              <a:pathLst>
                <a:path w="4297045" h="4765675">
                  <a:moveTo>
                    <a:pt x="0" y="0"/>
                  </a:moveTo>
                  <a:lnTo>
                    <a:pt x="4296874" y="0"/>
                  </a:lnTo>
                  <a:lnTo>
                    <a:pt x="4296874" y="4765199"/>
                  </a:lnTo>
                  <a:lnTo>
                    <a:pt x="0" y="4765199"/>
                  </a:lnTo>
                  <a:lnTo>
                    <a:pt x="0" y="0"/>
                  </a:lnTo>
                  <a:close/>
                </a:path>
              </a:pathLst>
            </a:custGeom>
            <a:ln w="9524">
              <a:solidFill>
                <a:srgbClr val="0F2044"/>
              </a:solidFill>
            </a:ln>
          </p:spPr>
          <p:txBody>
            <a:bodyPr wrap="square" lIns="0" tIns="0" rIns="0" bIns="0" rtlCol="0"/>
            <a:lstStyle/>
            <a:p>
              <a:endParaRPr/>
            </a:p>
          </p:txBody>
        </p:sp>
      </p:grpSp>
      <p:sp>
        <p:nvSpPr>
          <p:cNvPr id="7" name="object 7">
            <a:extLst>
              <a:ext uri="{C183D7F6-B498-43B3-948B-1728B52AA6E4}">
                <adec:decorative xmlns:adec="http://schemas.microsoft.com/office/drawing/2017/decorative" val="1"/>
              </a:ext>
            </a:extLst>
          </p:cNvPr>
          <p:cNvSpPr txBox="1"/>
          <p:nvPr/>
        </p:nvSpPr>
        <p:spPr>
          <a:xfrm>
            <a:off x="8980650" y="6272436"/>
            <a:ext cx="1802130" cy="147320"/>
          </a:xfrm>
          <a:prstGeom prst="rect">
            <a:avLst/>
          </a:prstGeom>
        </p:spPr>
        <p:txBody>
          <a:bodyPr vert="horz" wrap="square" lIns="0" tIns="12700" rIns="0" bIns="0" rtlCol="0">
            <a:spAutoFit/>
          </a:bodyPr>
          <a:lstStyle/>
          <a:p>
            <a:pPr marL="12700">
              <a:lnSpc>
                <a:spcPct val="100000"/>
              </a:lnSpc>
              <a:spcBef>
                <a:spcPts val="100"/>
              </a:spcBef>
            </a:pPr>
            <a:r>
              <a:rPr sz="800" dirty="0">
                <a:latin typeface="Arial MT"/>
                <a:cs typeface="Arial MT"/>
              </a:rPr>
              <a:t>Image</a:t>
            </a:r>
            <a:r>
              <a:rPr sz="800" spc="-35" dirty="0">
                <a:latin typeface="Arial MT"/>
                <a:cs typeface="Arial MT"/>
              </a:rPr>
              <a:t> </a:t>
            </a:r>
            <a:r>
              <a:rPr sz="800" dirty="0">
                <a:latin typeface="Arial MT"/>
                <a:cs typeface="Arial MT"/>
              </a:rPr>
              <a:t>credit</a:t>
            </a:r>
            <a:r>
              <a:rPr sz="800" spc="-35" dirty="0">
                <a:latin typeface="Arial MT"/>
                <a:cs typeface="Arial MT"/>
              </a:rPr>
              <a:t> </a:t>
            </a:r>
            <a:r>
              <a:rPr sz="800" dirty="0">
                <a:latin typeface="Arial MT"/>
                <a:cs typeface="Arial MT"/>
              </a:rPr>
              <a:t>-</a:t>
            </a:r>
            <a:r>
              <a:rPr sz="800" spc="-30" dirty="0">
                <a:latin typeface="Arial MT"/>
                <a:cs typeface="Arial MT"/>
              </a:rPr>
              <a:t> </a:t>
            </a:r>
            <a:r>
              <a:rPr sz="800" spc="-10" dirty="0">
                <a:latin typeface="Arial MT"/>
                <a:cs typeface="Arial MT"/>
                <a:hlinkClick r:id="rId5"/>
              </a:rPr>
              <a:t>https://www.ques10.com/</a:t>
            </a:r>
            <a:endParaRPr sz="800">
              <a:latin typeface="Arial MT"/>
              <a:cs typeface="Arial M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6" name="Google Shape;216;p29"/>
          <p:cNvSpPr txBox="1">
            <a:spLocks noGrp="1"/>
          </p:cNvSpPr>
          <p:nvPr>
            <p:ph type="ctrTitle"/>
          </p:nvPr>
        </p:nvSpPr>
        <p:spPr>
          <a:xfrm>
            <a:off x="337350" y="1176316"/>
            <a:ext cx="9144000" cy="6960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2"/>
              </a:buClr>
              <a:buSzPts val="6000"/>
              <a:buFont typeface="Georgia"/>
              <a:buNone/>
            </a:pPr>
            <a:r>
              <a:rPr lang="en-US" sz="2500"/>
              <a:t>Understanding Race Condition</a:t>
            </a:r>
            <a:endParaRPr sz="1800"/>
          </a:p>
        </p:txBody>
      </p:sp>
      <p:sp>
        <p:nvSpPr>
          <p:cNvPr id="217" name="Google Shape;217;p29"/>
          <p:cNvSpPr txBox="1"/>
          <p:nvPr/>
        </p:nvSpPr>
        <p:spPr>
          <a:xfrm>
            <a:off x="337350" y="2013150"/>
            <a:ext cx="11122200" cy="8928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300" b="0" i="0" u="none" strike="noStrike" kern="0" cap="none" spc="0" normalizeH="0" baseline="0" noProof="0">
                <a:ln>
                  <a:noFill/>
                </a:ln>
                <a:solidFill>
                  <a:srgbClr val="0F2044"/>
                </a:solidFill>
                <a:effectLst/>
                <a:uLnTx/>
                <a:uFillTx/>
                <a:latin typeface="Arial"/>
                <a:cs typeface="Arial"/>
                <a:sym typeface="Arial"/>
              </a:rPr>
              <a:t>One simple strategy is to force our programs to take turns. We can </a:t>
            </a:r>
            <a:r>
              <a:rPr kumimoji="0" lang="en-US" sz="2300" b="0" i="0" u="sng" strike="noStrike" kern="0" cap="none" spc="0" normalizeH="0" baseline="0" noProof="0">
                <a:ln>
                  <a:noFill/>
                </a:ln>
                <a:solidFill>
                  <a:srgbClr val="0F2044"/>
                </a:solidFill>
                <a:effectLst/>
                <a:uLnTx/>
                <a:uFillTx/>
                <a:latin typeface="Arial"/>
                <a:cs typeface="Arial"/>
                <a:sym typeface="Arial"/>
              </a:rPr>
              <a:t>add a value </a:t>
            </a:r>
            <a:br>
              <a:rPr kumimoji="0" lang="en-US" sz="2300" b="0" i="0" u="sng" strike="noStrike" kern="0" cap="none" spc="0" normalizeH="0" baseline="0" noProof="0">
                <a:ln>
                  <a:noFill/>
                </a:ln>
                <a:solidFill>
                  <a:srgbClr val="0F2044"/>
                </a:solidFill>
                <a:effectLst/>
                <a:uLnTx/>
                <a:uFillTx/>
                <a:latin typeface="Arial"/>
                <a:cs typeface="Arial"/>
                <a:sym typeface="Arial"/>
              </a:rPr>
            </a:br>
            <a:r>
              <a:rPr kumimoji="0" lang="en-US" sz="2300" b="0" i="0" u="sng" strike="noStrike" kern="0" cap="none" spc="0" normalizeH="0" baseline="0" noProof="0">
                <a:ln>
                  <a:noFill/>
                </a:ln>
                <a:solidFill>
                  <a:srgbClr val="0F2044"/>
                </a:solidFill>
                <a:effectLst/>
                <a:uLnTx/>
                <a:uFillTx/>
                <a:latin typeface="Arial"/>
                <a:cs typeface="Arial"/>
                <a:sym typeface="Arial"/>
              </a:rPr>
              <a:t>(turn indicator)</a:t>
            </a:r>
            <a:r>
              <a:rPr kumimoji="0" lang="en-US" sz="2300" b="0" i="0" u="none" strike="noStrike" kern="0" cap="none" spc="0" normalizeH="0" baseline="0" noProof="0">
                <a:ln>
                  <a:noFill/>
                </a:ln>
                <a:solidFill>
                  <a:srgbClr val="0F2044"/>
                </a:solidFill>
                <a:effectLst/>
                <a:uLnTx/>
                <a:uFillTx/>
                <a:latin typeface="Arial"/>
                <a:cs typeface="Arial"/>
                <a:sym typeface="Arial"/>
              </a:rPr>
              <a:t> to our setup responsible for keeping track whose turn it is.</a:t>
            </a:r>
            <a:endParaRPr kumimoji="0" sz="2300" b="0" i="0" u="none" strike="noStrike" kern="0" cap="none" spc="0" normalizeH="0" baseline="0" noProof="0">
              <a:ln>
                <a:noFill/>
              </a:ln>
              <a:solidFill>
                <a:srgbClr val="0F2044"/>
              </a:solidFill>
              <a:effectLst/>
              <a:uLnTx/>
              <a:uFillTx/>
              <a:latin typeface="Arial"/>
              <a:cs typeface="Arial"/>
              <a:sym typeface="Arial"/>
            </a:endParaRPr>
          </a:p>
        </p:txBody>
      </p:sp>
      <p:grpSp>
        <p:nvGrpSpPr>
          <p:cNvPr id="2" name="Group 1" descr="It is the pink robot's turn (robot 1).">
            <a:extLst>
              <a:ext uri="{FF2B5EF4-FFF2-40B4-BE49-F238E27FC236}">
                <a16:creationId xmlns:a16="http://schemas.microsoft.com/office/drawing/2014/main" id="{E7FC0126-3F67-4DBE-D9BA-F0D6E3F913E8}"/>
              </a:ext>
            </a:extLst>
          </p:cNvPr>
          <p:cNvGrpSpPr/>
          <p:nvPr/>
        </p:nvGrpSpPr>
        <p:grpSpPr>
          <a:xfrm>
            <a:off x="1559925" y="3099743"/>
            <a:ext cx="8724449" cy="3242707"/>
            <a:chOff x="1559925" y="3099743"/>
            <a:chExt cx="8724449" cy="3242707"/>
          </a:xfrm>
        </p:grpSpPr>
        <p:sp>
          <p:nvSpPr>
            <p:cNvPr id="215" name="Google Shape;215;p29"/>
            <p:cNvSpPr/>
            <p:nvPr/>
          </p:nvSpPr>
          <p:spPr>
            <a:xfrm>
              <a:off x="4114800" y="3240950"/>
              <a:ext cx="3604800" cy="2495100"/>
            </a:xfrm>
            <a:prstGeom prst="rect">
              <a:avLst/>
            </a:prstGeom>
            <a:noFill/>
            <a:ln w="3810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8" name="Google Shape;218;p29"/>
            <p:cNvSpPr/>
            <p:nvPr/>
          </p:nvSpPr>
          <p:spPr>
            <a:xfrm>
              <a:off x="4578150" y="3549450"/>
              <a:ext cx="2688000" cy="1747800"/>
            </a:xfrm>
            <a:prstGeom prst="rect">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a:ln>
                    <a:noFill/>
                  </a:ln>
                  <a:solidFill>
                    <a:srgbClr val="A00C30"/>
                  </a:solidFill>
                  <a:effectLst/>
                  <a:uLnTx/>
                  <a:uFillTx/>
                  <a:latin typeface="Arial"/>
                  <a:cs typeface="Arial"/>
                  <a:sym typeface="Arial"/>
                </a:rPr>
                <a:t>3</a:t>
              </a:r>
              <a:endParaRPr kumimoji="0" sz="2800" b="1" i="0" u="none" strike="noStrike" kern="0" cap="none" spc="0" normalizeH="0" baseline="0" noProof="0">
                <a:ln>
                  <a:noFill/>
                </a:ln>
                <a:solidFill>
                  <a:srgbClr val="A00C30"/>
                </a:solidFill>
                <a:effectLst/>
                <a:uLnTx/>
                <a:uFillTx/>
                <a:latin typeface="Arial"/>
                <a:cs typeface="Arial"/>
                <a:sym typeface="Arial"/>
              </a:endParaRPr>
            </a:p>
          </p:txBody>
        </p:sp>
        <p:pic>
          <p:nvPicPr>
            <p:cNvPr id="219" name="Google Shape;219;p29"/>
            <p:cNvPicPr preferRelativeResize="0"/>
            <p:nvPr/>
          </p:nvPicPr>
          <p:blipFill>
            <a:blip r:embed="rId3">
              <a:alphaModFix/>
            </a:blip>
            <a:stretch>
              <a:fillRect/>
            </a:stretch>
          </p:blipFill>
          <p:spPr>
            <a:xfrm>
              <a:off x="7895324" y="3099743"/>
              <a:ext cx="2389050" cy="2495207"/>
            </a:xfrm>
            <a:prstGeom prst="rect">
              <a:avLst/>
            </a:prstGeom>
            <a:noFill/>
            <a:ln>
              <a:noFill/>
            </a:ln>
          </p:spPr>
        </p:pic>
        <p:sp>
          <p:nvSpPr>
            <p:cNvPr id="220" name="Google Shape;220;p29"/>
            <p:cNvSpPr txBox="1"/>
            <p:nvPr/>
          </p:nvSpPr>
          <p:spPr>
            <a:xfrm>
              <a:off x="4700400" y="5788350"/>
              <a:ext cx="2433600" cy="5541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a:ln>
                    <a:noFill/>
                  </a:ln>
                  <a:solidFill>
                    <a:srgbClr val="0F2044"/>
                  </a:solidFill>
                  <a:effectLst/>
                  <a:uLnTx/>
                  <a:uFillTx/>
                  <a:latin typeface="Arial"/>
                  <a:cs typeface="Arial"/>
                  <a:sym typeface="Arial"/>
                </a:rPr>
                <a:t>critical section</a:t>
              </a:r>
              <a:endParaRPr kumimoji="0" sz="2400" b="1" i="0" u="none" strike="noStrike" kern="0" cap="none" spc="0" normalizeH="0" baseline="0" noProof="0">
                <a:ln>
                  <a:noFill/>
                </a:ln>
                <a:solidFill>
                  <a:srgbClr val="0F2044"/>
                </a:solidFill>
                <a:effectLst/>
                <a:uLnTx/>
                <a:uFillTx/>
                <a:latin typeface="Arial"/>
                <a:cs typeface="Arial"/>
                <a:sym typeface="Arial"/>
              </a:endParaRPr>
            </a:p>
          </p:txBody>
        </p:sp>
        <p:pic>
          <p:nvPicPr>
            <p:cNvPr id="221" name="Google Shape;221;p29"/>
            <p:cNvPicPr preferRelativeResize="0"/>
            <p:nvPr/>
          </p:nvPicPr>
          <p:blipFill rotWithShape="1">
            <a:blip r:embed="rId4">
              <a:alphaModFix/>
            </a:blip>
            <a:srcRect b="3091"/>
            <a:stretch/>
          </p:blipFill>
          <p:spPr>
            <a:xfrm>
              <a:off x="1559925" y="3225500"/>
              <a:ext cx="2389050" cy="2432975"/>
            </a:xfrm>
            <a:prstGeom prst="rect">
              <a:avLst/>
            </a:prstGeom>
            <a:noFill/>
            <a:ln>
              <a:noFill/>
            </a:ln>
          </p:spPr>
        </p:pic>
        <p:sp>
          <p:nvSpPr>
            <p:cNvPr id="222" name="Google Shape;222;p29"/>
            <p:cNvSpPr/>
            <p:nvPr/>
          </p:nvSpPr>
          <p:spPr>
            <a:xfrm>
              <a:off x="2560800" y="5788350"/>
              <a:ext cx="387300" cy="554100"/>
            </a:xfrm>
            <a:prstGeom prst="upArrow">
              <a:avLst>
                <a:gd name="adj1" fmla="val 50000"/>
                <a:gd name="adj2" fmla="val 50000"/>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8" name="Google Shape;228;p30"/>
          <p:cNvSpPr txBox="1">
            <a:spLocks noGrp="1"/>
          </p:cNvSpPr>
          <p:nvPr>
            <p:ph type="ctrTitle"/>
          </p:nvPr>
        </p:nvSpPr>
        <p:spPr>
          <a:xfrm>
            <a:off x="337350" y="1176316"/>
            <a:ext cx="9144000" cy="6960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2"/>
              </a:buClr>
              <a:buSzPts val="6000"/>
              <a:buFont typeface="Georgia"/>
              <a:buNone/>
            </a:pPr>
            <a:r>
              <a:rPr lang="en-US" sz="2500"/>
              <a:t>Understanding Race Condition</a:t>
            </a:r>
            <a:endParaRPr sz="1800"/>
          </a:p>
        </p:txBody>
      </p:sp>
      <p:sp>
        <p:nvSpPr>
          <p:cNvPr id="229" name="Google Shape;229;p30"/>
          <p:cNvSpPr txBox="1"/>
          <p:nvPr/>
        </p:nvSpPr>
        <p:spPr>
          <a:xfrm>
            <a:off x="337350" y="2013150"/>
            <a:ext cx="11122200" cy="8928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300" b="0" i="0" u="none" strike="noStrike" kern="0" cap="none" spc="0" normalizeH="0" baseline="0" noProof="0">
                <a:ln>
                  <a:noFill/>
                </a:ln>
                <a:solidFill>
                  <a:srgbClr val="0F2044"/>
                </a:solidFill>
                <a:effectLst/>
                <a:uLnTx/>
                <a:uFillTx/>
                <a:latin typeface="Arial"/>
                <a:cs typeface="Arial"/>
                <a:sym typeface="Arial"/>
              </a:rPr>
              <a:t>The </a:t>
            </a:r>
            <a:r>
              <a:rPr kumimoji="0" lang="en-US" sz="2300" b="1" i="0" u="none" strike="noStrike" kern="0" cap="none" spc="0" normalizeH="0" baseline="0" noProof="0">
                <a:ln>
                  <a:noFill/>
                </a:ln>
                <a:solidFill>
                  <a:srgbClr val="0F2044"/>
                </a:solidFill>
                <a:effectLst/>
                <a:uLnTx/>
                <a:uFillTx/>
                <a:latin typeface="Arial"/>
                <a:cs typeface="Arial"/>
                <a:sym typeface="Arial"/>
              </a:rPr>
              <a:t>turn indicator </a:t>
            </a:r>
            <a:r>
              <a:rPr kumimoji="0" lang="en-US" sz="2300" b="0" i="0" u="none" strike="noStrike" kern="0" cap="none" spc="0" normalizeH="0" baseline="0" noProof="0">
                <a:ln>
                  <a:noFill/>
                </a:ln>
                <a:solidFill>
                  <a:srgbClr val="0F2044"/>
                </a:solidFill>
                <a:effectLst/>
                <a:uLnTx/>
                <a:uFillTx/>
                <a:latin typeface="Arial"/>
                <a:cs typeface="Arial"/>
                <a:sym typeface="Arial"/>
              </a:rPr>
              <a:t>starts by pointing to one program, and only that program is allowed to enter the critical section.</a:t>
            </a:r>
            <a:endParaRPr kumimoji="0" sz="2300" b="0" i="0" u="none" strike="noStrike" kern="0" cap="none" spc="0" normalizeH="0" baseline="0" noProof="0">
              <a:ln>
                <a:noFill/>
              </a:ln>
              <a:solidFill>
                <a:srgbClr val="0F2044"/>
              </a:solidFill>
              <a:effectLst/>
              <a:uLnTx/>
              <a:uFillTx/>
              <a:latin typeface="Arial"/>
              <a:cs typeface="Arial"/>
              <a:sym typeface="Arial"/>
            </a:endParaRPr>
          </a:p>
        </p:txBody>
      </p:sp>
      <p:grpSp>
        <p:nvGrpSpPr>
          <p:cNvPr id="3" name="Group 2" descr="Robot 1 reads the value of 3 and calculates 3+1=4.">
            <a:extLst>
              <a:ext uri="{FF2B5EF4-FFF2-40B4-BE49-F238E27FC236}">
                <a16:creationId xmlns:a16="http://schemas.microsoft.com/office/drawing/2014/main" id="{6E89854F-AD95-A4E6-EBA0-C65E91F5DDA4}"/>
              </a:ext>
            </a:extLst>
          </p:cNvPr>
          <p:cNvGrpSpPr/>
          <p:nvPr/>
        </p:nvGrpSpPr>
        <p:grpSpPr>
          <a:xfrm>
            <a:off x="192975" y="3099743"/>
            <a:ext cx="10091399" cy="3242707"/>
            <a:chOff x="192975" y="3099743"/>
            <a:chExt cx="10091399" cy="3242707"/>
          </a:xfrm>
        </p:grpSpPr>
        <p:sp>
          <p:nvSpPr>
            <p:cNvPr id="227" name="Google Shape;227;p30"/>
            <p:cNvSpPr/>
            <p:nvPr/>
          </p:nvSpPr>
          <p:spPr>
            <a:xfrm>
              <a:off x="4114800" y="3240950"/>
              <a:ext cx="3604800" cy="2495100"/>
            </a:xfrm>
            <a:prstGeom prst="rect">
              <a:avLst/>
            </a:prstGeom>
            <a:noFill/>
            <a:ln w="3810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0" name="Google Shape;230;p30"/>
            <p:cNvSpPr/>
            <p:nvPr/>
          </p:nvSpPr>
          <p:spPr>
            <a:xfrm>
              <a:off x="4578150" y="3549450"/>
              <a:ext cx="2688000" cy="1747800"/>
            </a:xfrm>
            <a:prstGeom prst="rect">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a:ln>
                    <a:noFill/>
                  </a:ln>
                  <a:solidFill>
                    <a:srgbClr val="A00C30"/>
                  </a:solidFill>
                  <a:effectLst/>
                  <a:uLnTx/>
                  <a:uFillTx/>
                  <a:latin typeface="Arial"/>
                  <a:cs typeface="Arial"/>
                  <a:sym typeface="Arial"/>
                </a:rPr>
                <a:t>3</a:t>
              </a:r>
              <a:endParaRPr kumimoji="0" sz="2800" b="1" i="0" u="none" strike="noStrike" kern="0" cap="none" spc="0" normalizeH="0" baseline="0" noProof="0">
                <a:ln>
                  <a:noFill/>
                </a:ln>
                <a:solidFill>
                  <a:srgbClr val="A00C30"/>
                </a:solidFill>
                <a:effectLst/>
                <a:uLnTx/>
                <a:uFillTx/>
                <a:latin typeface="Arial"/>
                <a:cs typeface="Arial"/>
                <a:sym typeface="Arial"/>
              </a:endParaRPr>
            </a:p>
          </p:txBody>
        </p:sp>
        <p:pic>
          <p:nvPicPr>
            <p:cNvPr id="231" name="Google Shape;231;p30"/>
            <p:cNvPicPr preferRelativeResize="0"/>
            <p:nvPr/>
          </p:nvPicPr>
          <p:blipFill>
            <a:blip r:embed="rId3">
              <a:alphaModFix/>
            </a:blip>
            <a:stretch>
              <a:fillRect/>
            </a:stretch>
          </p:blipFill>
          <p:spPr>
            <a:xfrm>
              <a:off x="7895324" y="3099743"/>
              <a:ext cx="2389050" cy="2495207"/>
            </a:xfrm>
            <a:prstGeom prst="rect">
              <a:avLst/>
            </a:prstGeom>
            <a:noFill/>
            <a:ln>
              <a:noFill/>
            </a:ln>
          </p:spPr>
        </p:pic>
        <p:sp>
          <p:nvSpPr>
            <p:cNvPr id="232" name="Google Shape;232;p30"/>
            <p:cNvSpPr txBox="1"/>
            <p:nvPr/>
          </p:nvSpPr>
          <p:spPr>
            <a:xfrm>
              <a:off x="4700400" y="5788350"/>
              <a:ext cx="2433600" cy="5541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a:ln>
                    <a:noFill/>
                  </a:ln>
                  <a:solidFill>
                    <a:srgbClr val="0F2044"/>
                  </a:solidFill>
                  <a:effectLst/>
                  <a:uLnTx/>
                  <a:uFillTx/>
                  <a:latin typeface="Arial"/>
                  <a:cs typeface="Arial"/>
                  <a:sym typeface="Arial"/>
                </a:rPr>
                <a:t>critical section</a:t>
              </a:r>
              <a:endParaRPr kumimoji="0" sz="2400" b="1" i="0" u="none" strike="noStrike" kern="0" cap="none" spc="0" normalizeH="0" baseline="0" noProof="0">
                <a:ln>
                  <a:noFill/>
                </a:ln>
                <a:solidFill>
                  <a:srgbClr val="0F2044"/>
                </a:solidFill>
                <a:effectLst/>
                <a:uLnTx/>
                <a:uFillTx/>
                <a:latin typeface="Arial"/>
                <a:cs typeface="Arial"/>
                <a:sym typeface="Arial"/>
              </a:endParaRPr>
            </a:p>
          </p:txBody>
        </p:sp>
        <p:pic>
          <p:nvPicPr>
            <p:cNvPr id="233" name="Google Shape;233;p30"/>
            <p:cNvPicPr preferRelativeResize="0"/>
            <p:nvPr/>
          </p:nvPicPr>
          <p:blipFill rotWithShape="1">
            <a:blip r:embed="rId4">
              <a:alphaModFix/>
            </a:blip>
            <a:srcRect b="3091"/>
            <a:stretch/>
          </p:blipFill>
          <p:spPr>
            <a:xfrm>
              <a:off x="1559925" y="3225500"/>
              <a:ext cx="2389050" cy="2432975"/>
            </a:xfrm>
            <a:prstGeom prst="rect">
              <a:avLst/>
            </a:prstGeom>
            <a:noFill/>
            <a:ln>
              <a:noFill/>
            </a:ln>
          </p:spPr>
        </p:pic>
        <p:sp>
          <p:nvSpPr>
            <p:cNvPr id="234" name="Google Shape;234;p30"/>
            <p:cNvSpPr/>
            <p:nvPr/>
          </p:nvSpPr>
          <p:spPr>
            <a:xfrm>
              <a:off x="2560800" y="5788350"/>
              <a:ext cx="387300" cy="554100"/>
            </a:xfrm>
            <a:prstGeom prst="upArrow">
              <a:avLst>
                <a:gd name="adj1" fmla="val 50000"/>
                <a:gd name="adj2" fmla="val 50000"/>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5" name="Google Shape;235;p30"/>
            <p:cNvSpPr txBox="1"/>
            <p:nvPr/>
          </p:nvSpPr>
          <p:spPr>
            <a:xfrm>
              <a:off x="192975" y="3149300"/>
              <a:ext cx="3000000" cy="615600"/>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a:ln>
                    <a:noFill/>
                  </a:ln>
                  <a:solidFill>
                    <a:srgbClr val="A00C30"/>
                  </a:solidFill>
                  <a:effectLst/>
                  <a:uLnTx/>
                  <a:uFillTx/>
                  <a:latin typeface="Arial"/>
                  <a:cs typeface="Arial"/>
                  <a:sym typeface="Arial"/>
                </a:rPr>
                <a:t>3+1=4</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1" name="Google Shape;241;p31"/>
          <p:cNvSpPr txBox="1">
            <a:spLocks noGrp="1"/>
          </p:cNvSpPr>
          <p:nvPr>
            <p:ph type="ctrTitle"/>
          </p:nvPr>
        </p:nvSpPr>
        <p:spPr>
          <a:xfrm>
            <a:off x="337350" y="1176316"/>
            <a:ext cx="9144000" cy="6960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2"/>
              </a:buClr>
              <a:buSzPts val="6000"/>
              <a:buFont typeface="Georgia"/>
              <a:buNone/>
            </a:pPr>
            <a:r>
              <a:rPr lang="en-US" sz="2500"/>
              <a:t>Understanding Race Condition</a:t>
            </a:r>
            <a:endParaRPr sz="1800"/>
          </a:p>
        </p:txBody>
      </p:sp>
      <p:sp>
        <p:nvSpPr>
          <p:cNvPr id="242" name="Google Shape;242;p31">
            <a:extLst>
              <a:ext uri="{C183D7F6-B498-43B3-948B-1728B52AA6E4}">
                <adec:decorative xmlns:adec="http://schemas.microsoft.com/office/drawing/2017/decorative" val="1"/>
              </a:ext>
            </a:extLst>
          </p:cNvPr>
          <p:cNvSpPr txBox="1"/>
          <p:nvPr/>
        </p:nvSpPr>
        <p:spPr>
          <a:xfrm>
            <a:off x="337350" y="2013150"/>
            <a:ext cx="11122200" cy="8928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300" b="0" i="0" u="none" strike="noStrike" kern="0" cap="none" spc="0" normalizeH="0" baseline="0" noProof="0" dirty="0">
                <a:ln>
                  <a:noFill/>
                </a:ln>
                <a:solidFill>
                  <a:srgbClr val="0F2044"/>
                </a:solidFill>
                <a:effectLst/>
                <a:uLnTx/>
                <a:uFillTx/>
                <a:latin typeface="Arial"/>
                <a:cs typeface="Arial"/>
                <a:sym typeface="Arial"/>
              </a:rPr>
              <a:t>The </a:t>
            </a:r>
            <a:r>
              <a:rPr kumimoji="0" lang="en-US" sz="2300" b="1" i="0" u="none" strike="noStrike" kern="0" cap="none" spc="0" normalizeH="0" baseline="0" noProof="0" dirty="0">
                <a:ln>
                  <a:noFill/>
                </a:ln>
                <a:solidFill>
                  <a:srgbClr val="0F2044"/>
                </a:solidFill>
                <a:effectLst/>
                <a:uLnTx/>
                <a:uFillTx/>
                <a:latin typeface="Arial"/>
                <a:cs typeface="Arial"/>
                <a:sym typeface="Arial"/>
              </a:rPr>
              <a:t>turn indicator </a:t>
            </a:r>
            <a:r>
              <a:rPr kumimoji="0" lang="en-US" sz="2300" b="0" i="0" u="none" strike="noStrike" kern="0" cap="none" spc="0" normalizeH="0" baseline="0" noProof="0" dirty="0">
                <a:ln>
                  <a:noFill/>
                </a:ln>
                <a:solidFill>
                  <a:srgbClr val="0F2044"/>
                </a:solidFill>
                <a:effectLst/>
                <a:uLnTx/>
                <a:uFillTx/>
                <a:latin typeface="Arial"/>
                <a:cs typeface="Arial"/>
                <a:sym typeface="Arial"/>
              </a:rPr>
              <a:t>starts by pointing to one program, and only that program is allowed to enter the critical section.</a:t>
            </a:r>
            <a:endParaRPr kumimoji="0" sz="2300" b="0" i="0" u="none" strike="noStrike" kern="0" cap="none" spc="0" normalizeH="0" baseline="0" noProof="0" dirty="0">
              <a:ln>
                <a:noFill/>
              </a:ln>
              <a:solidFill>
                <a:srgbClr val="0F2044"/>
              </a:solidFill>
              <a:effectLst/>
              <a:uLnTx/>
              <a:uFillTx/>
              <a:latin typeface="Arial"/>
              <a:cs typeface="Arial"/>
              <a:sym typeface="Arial"/>
            </a:endParaRPr>
          </a:p>
        </p:txBody>
      </p:sp>
      <p:grpSp>
        <p:nvGrpSpPr>
          <p:cNvPr id="3" name="Group 2" descr="Robot 1 then updates the value to 4.">
            <a:extLst>
              <a:ext uri="{FF2B5EF4-FFF2-40B4-BE49-F238E27FC236}">
                <a16:creationId xmlns:a16="http://schemas.microsoft.com/office/drawing/2014/main" id="{599494BB-F1C0-BBC9-3EC2-F9483745469F}"/>
              </a:ext>
            </a:extLst>
          </p:cNvPr>
          <p:cNvGrpSpPr/>
          <p:nvPr/>
        </p:nvGrpSpPr>
        <p:grpSpPr>
          <a:xfrm>
            <a:off x="192975" y="3099743"/>
            <a:ext cx="10091399" cy="3242707"/>
            <a:chOff x="192975" y="3099743"/>
            <a:chExt cx="10091399" cy="3242707"/>
          </a:xfrm>
        </p:grpSpPr>
        <p:sp>
          <p:nvSpPr>
            <p:cNvPr id="240" name="Google Shape;240;p31"/>
            <p:cNvSpPr/>
            <p:nvPr/>
          </p:nvSpPr>
          <p:spPr>
            <a:xfrm>
              <a:off x="4114800" y="3240950"/>
              <a:ext cx="3604800" cy="2495100"/>
            </a:xfrm>
            <a:prstGeom prst="rect">
              <a:avLst/>
            </a:prstGeom>
            <a:noFill/>
            <a:ln w="3810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3" name="Google Shape;243;p31"/>
            <p:cNvSpPr/>
            <p:nvPr/>
          </p:nvSpPr>
          <p:spPr>
            <a:xfrm>
              <a:off x="4578150" y="3549450"/>
              <a:ext cx="2688000" cy="1747800"/>
            </a:xfrm>
            <a:prstGeom prst="rect">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a:ln>
                    <a:noFill/>
                  </a:ln>
                  <a:solidFill>
                    <a:srgbClr val="A00C30"/>
                  </a:solidFill>
                  <a:effectLst/>
                  <a:uLnTx/>
                  <a:uFillTx/>
                  <a:latin typeface="Arial"/>
                  <a:cs typeface="Arial"/>
                  <a:sym typeface="Arial"/>
                </a:rPr>
                <a:t>4</a:t>
              </a:r>
              <a:endParaRPr kumimoji="0" sz="2800" b="1" i="0" u="none" strike="noStrike" kern="0" cap="none" spc="0" normalizeH="0" baseline="0" noProof="0">
                <a:ln>
                  <a:noFill/>
                </a:ln>
                <a:solidFill>
                  <a:srgbClr val="A00C30"/>
                </a:solidFill>
                <a:effectLst/>
                <a:uLnTx/>
                <a:uFillTx/>
                <a:latin typeface="Arial"/>
                <a:cs typeface="Arial"/>
                <a:sym typeface="Arial"/>
              </a:endParaRPr>
            </a:p>
          </p:txBody>
        </p:sp>
        <p:pic>
          <p:nvPicPr>
            <p:cNvPr id="244" name="Google Shape;244;p31"/>
            <p:cNvPicPr preferRelativeResize="0"/>
            <p:nvPr/>
          </p:nvPicPr>
          <p:blipFill>
            <a:blip r:embed="rId3">
              <a:alphaModFix/>
            </a:blip>
            <a:stretch>
              <a:fillRect/>
            </a:stretch>
          </p:blipFill>
          <p:spPr>
            <a:xfrm>
              <a:off x="7895324" y="3099743"/>
              <a:ext cx="2389050" cy="2495207"/>
            </a:xfrm>
            <a:prstGeom prst="rect">
              <a:avLst/>
            </a:prstGeom>
            <a:noFill/>
            <a:ln>
              <a:noFill/>
            </a:ln>
          </p:spPr>
        </p:pic>
        <p:sp>
          <p:nvSpPr>
            <p:cNvPr id="245" name="Google Shape;245;p31"/>
            <p:cNvSpPr txBox="1"/>
            <p:nvPr/>
          </p:nvSpPr>
          <p:spPr>
            <a:xfrm>
              <a:off x="4700400" y="5788350"/>
              <a:ext cx="2433600" cy="5541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a:ln>
                    <a:noFill/>
                  </a:ln>
                  <a:solidFill>
                    <a:srgbClr val="0F2044"/>
                  </a:solidFill>
                  <a:effectLst/>
                  <a:uLnTx/>
                  <a:uFillTx/>
                  <a:latin typeface="Arial"/>
                  <a:cs typeface="Arial"/>
                  <a:sym typeface="Arial"/>
                </a:rPr>
                <a:t>critical section</a:t>
              </a:r>
              <a:endParaRPr kumimoji="0" sz="2400" b="1" i="0" u="none" strike="noStrike" kern="0" cap="none" spc="0" normalizeH="0" baseline="0" noProof="0">
                <a:ln>
                  <a:noFill/>
                </a:ln>
                <a:solidFill>
                  <a:srgbClr val="0F2044"/>
                </a:solidFill>
                <a:effectLst/>
                <a:uLnTx/>
                <a:uFillTx/>
                <a:latin typeface="Arial"/>
                <a:cs typeface="Arial"/>
                <a:sym typeface="Arial"/>
              </a:endParaRPr>
            </a:p>
          </p:txBody>
        </p:sp>
        <p:pic>
          <p:nvPicPr>
            <p:cNvPr id="246" name="Google Shape;246;p31"/>
            <p:cNvPicPr preferRelativeResize="0"/>
            <p:nvPr/>
          </p:nvPicPr>
          <p:blipFill rotWithShape="1">
            <a:blip r:embed="rId4">
              <a:alphaModFix/>
            </a:blip>
            <a:srcRect b="3091"/>
            <a:stretch/>
          </p:blipFill>
          <p:spPr>
            <a:xfrm>
              <a:off x="1559925" y="3225500"/>
              <a:ext cx="2389050" cy="2432975"/>
            </a:xfrm>
            <a:prstGeom prst="rect">
              <a:avLst/>
            </a:prstGeom>
            <a:noFill/>
            <a:ln>
              <a:noFill/>
            </a:ln>
          </p:spPr>
        </p:pic>
        <p:sp>
          <p:nvSpPr>
            <p:cNvPr id="247" name="Google Shape;247;p31"/>
            <p:cNvSpPr/>
            <p:nvPr/>
          </p:nvSpPr>
          <p:spPr>
            <a:xfrm>
              <a:off x="2560800" y="5788350"/>
              <a:ext cx="387300" cy="554100"/>
            </a:xfrm>
            <a:prstGeom prst="upArrow">
              <a:avLst>
                <a:gd name="adj1" fmla="val 50000"/>
                <a:gd name="adj2" fmla="val 50000"/>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8" name="Google Shape;248;p31"/>
            <p:cNvSpPr txBox="1"/>
            <p:nvPr/>
          </p:nvSpPr>
          <p:spPr>
            <a:xfrm>
              <a:off x="192975" y="3149300"/>
              <a:ext cx="3000000" cy="615600"/>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a:ln>
                    <a:noFill/>
                  </a:ln>
                  <a:solidFill>
                    <a:srgbClr val="A00C30"/>
                  </a:solidFill>
                  <a:effectLst/>
                  <a:uLnTx/>
                  <a:uFillTx/>
                  <a:latin typeface="Arial"/>
                  <a:cs typeface="Arial"/>
                  <a:sym typeface="Arial"/>
                </a:rPr>
                <a:t>3+1=4</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249" name="Google Shape;249;p31"/>
            <p:cNvCxnSpPr/>
            <p:nvPr/>
          </p:nvCxnSpPr>
          <p:spPr>
            <a:xfrm rot="10800000" flipH="1">
              <a:off x="3872775" y="4406888"/>
              <a:ext cx="1780800" cy="35100"/>
            </a:xfrm>
            <a:prstGeom prst="straightConnector1">
              <a:avLst/>
            </a:prstGeom>
            <a:noFill/>
            <a:ln w="38100" cap="flat" cmpd="sng">
              <a:solidFill>
                <a:schemeClr val="dk2"/>
              </a:solidFill>
              <a:prstDash val="solid"/>
              <a:round/>
              <a:headEnd type="none" w="med" len="med"/>
              <a:tailEnd type="triangle" w="med" len="med"/>
            </a:ln>
          </p:spPr>
        </p:cxn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5" name="Google Shape;255;p32"/>
          <p:cNvSpPr txBox="1">
            <a:spLocks noGrp="1"/>
          </p:cNvSpPr>
          <p:nvPr>
            <p:ph type="ctrTitle"/>
          </p:nvPr>
        </p:nvSpPr>
        <p:spPr>
          <a:xfrm>
            <a:off x="337350" y="1176316"/>
            <a:ext cx="9144000" cy="6960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2"/>
              </a:buClr>
              <a:buSzPts val="6000"/>
              <a:buFont typeface="Georgia"/>
              <a:buNone/>
            </a:pPr>
            <a:r>
              <a:rPr lang="en-US" sz="2500"/>
              <a:t>Understanding Race Condition</a:t>
            </a:r>
            <a:endParaRPr sz="1800"/>
          </a:p>
        </p:txBody>
      </p:sp>
      <p:sp>
        <p:nvSpPr>
          <p:cNvPr id="256" name="Google Shape;256;p32"/>
          <p:cNvSpPr txBox="1"/>
          <p:nvPr/>
        </p:nvSpPr>
        <p:spPr>
          <a:xfrm>
            <a:off x="337350" y="2013150"/>
            <a:ext cx="11122200" cy="8928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300" b="0" i="0" u="none" strike="noStrike" kern="0" cap="none" spc="0" normalizeH="0" baseline="0" noProof="0">
                <a:ln>
                  <a:noFill/>
                </a:ln>
                <a:solidFill>
                  <a:srgbClr val="0F2044"/>
                </a:solidFill>
                <a:effectLst/>
                <a:uLnTx/>
                <a:uFillTx/>
                <a:latin typeface="Arial"/>
                <a:cs typeface="Arial"/>
                <a:sym typeface="Arial"/>
              </a:rPr>
              <a:t>When the program leaves the critical section, they can </a:t>
            </a:r>
            <a:r>
              <a:rPr kumimoji="0" lang="en-US" sz="2300" b="0" i="0" u="sng" strike="noStrike" kern="0" cap="none" spc="0" normalizeH="0" baseline="0" noProof="0">
                <a:ln>
                  <a:noFill/>
                </a:ln>
                <a:solidFill>
                  <a:srgbClr val="0F2044"/>
                </a:solidFill>
                <a:effectLst/>
                <a:uLnTx/>
                <a:uFillTx/>
                <a:latin typeface="Arial"/>
                <a:cs typeface="Arial"/>
                <a:sym typeface="Arial"/>
              </a:rPr>
              <a:t>flip the indicator</a:t>
            </a:r>
            <a:r>
              <a:rPr kumimoji="0" lang="en-US" sz="2300" b="0" i="0" u="none" strike="noStrike" kern="0" cap="none" spc="0" normalizeH="0" baseline="0" noProof="0">
                <a:ln>
                  <a:noFill/>
                </a:ln>
                <a:solidFill>
                  <a:srgbClr val="0F2044"/>
                </a:solidFill>
                <a:effectLst/>
                <a:uLnTx/>
                <a:uFillTx/>
                <a:latin typeface="Arial"/>
                <a:cs typeface="Arial"/>
                <a:sym typeface="Arial"/>
              </a:rPr>
              <a:t> the other way, and let it be the other program’s turn.</a:t>
            </a:r>
            <a:endParaRPr kumimoji="0" sz="2300" b="0" i="0" u="none" strike="noStrike" kern="0" cap="none" spc="0" normalizeH="0" baseline="0" noProof="0">
              <a:ln>
                <a:noFill/>
              </a:ln>
              <a:solidFill>
                <a:srgbClr val="0F2044"/>
              </a:solidFill>
              <a:effectLst/>
              <a:uLnTx/>
              <a:uFillTx/>
              <a:latin typeface="Arial"/>
              <a:cs typeface="Arial"/>
              <a:sym typeface="Arial"/>
            </a:endParaRPr>
          </a:p>
        </p:txBody>
      </p:sp>
      <p:grpSp>
        <p:nvGrpSpPr>
          <p:cNvPr id="2" name="Group 1" descr="Now it is the blue robots turn (robot 2).">
            <a:extLst>
              <a:ext uri="{FF2B5EF4-FFF2-40B4-BE49-F238E27FC236}">
                <a16:creationId xmlns:a16="http://schemas.microsoft.com/office/drawing/2014/main" id="{01F28754-D251-D337-14E1-6AE3A9BBAA6C}"/>
              </a:ext>
            </a:extLst>
          </p:cNvPr>
          <p:cNvGrpSpPr/>
          <p:nvPr/>
        </p:nvGrpSpPr>
        <p:grpSpPr>
          <a:xfrm>
            <a:off x="1559925" y="3099743"/>
            <a:ext cx="8724449" cy="3242707"/>
            <a:chOff x="1559925" y="3099743"/>
            <a:chExt cx="8724449" cy="3242707"/>
          </a:xfrm>
        </p:grpSpPr>
        <p:sp>
          <p:nvSpPr>
            <p:cNvPr id="254" name="Google Shape;254;p32"/>
            <p:cNvSpPr/>
            <p:nvPr/>
          </p:nvSpPr>
          <p:spPr>
            <a:xfrm>
              <a:off x="4114800" y="3240950"/>
              <a:ext cx="3604800" cy="2495100"/>
            </a:xfrm>
            <a:prstGeom prst="rect">
              <a:avLst/>
            </a:prstGeom>
            <a:noFill/>
            <a:ln w="3810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7" name="Google Shape;257;p32"/>
            <p:cNvSpPr/>
            <p:nvPr/>
          </p:nvSpPr>
          <p:spPr>
            <a:xfrm>
              <a:off x="4578150" y="3549450"/>
              <a:ext cx="2688000" cy="1747800"/>
            </a:xfrm>
            <a:prstGeom prst="rect">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a:ln>
                    <a:noFill/>
                  </a:ln>
                  <a:solidFill>
                    <a:srgbClr val="A00C30"/>
                  </a:solidFill>
                  <a:effectLst/>
                  <a:uLnTx/>
                  <a:uFillTx/>
                  <a:latin typeface="Arial"/>
                  <a:cs typeface="Arial"/>
                  <a:sym typeface="Arial"/>
                </a:rPr>
                <a:t>4</a:t>
              </a:r>
              <a:endParaRPr kumimoji="0" sz="2800" b="1" i="0" u="none" strike="noStrike" kern="0" cap="none" spc="0" normalizeH="0" baseline="0" noProof="0">
                <a:ln>
                  <a:noFill/>
                </a:ln>
                <a:solidFill>
                  <a:srgbClr val="A00C30"/>
                </a:solidFill>
                <a:effectLst/>
                <a:uLnTx/>
                <a:uFillTx/>
                <a:latin typeface="Arial"/>
                <a:cs typeface="Arial"/>
                <a:sym typeface="Arial"/>
              </a:endParaRPr>
            </a:p>
          </p:txBody>
        </p:sp>
        <p:pic>
          <p:nvPicPr>
            <p:cNvPr id="258" name="Google Shape;258;p32"/>
            <p:cNvPicPr preferRelativeResize="0"/>
            <p:nvPr/>
          </p:nvPicPr>
          <p:blipFill>
            <a:blip r:embed="rId3">
              <a:alphaModFix/>
            </a:blip>
            <a:stretch>
              <a:fillRect/>
            </a:stretch>
          </p:blipFill>
          <p:spPr>
            <a:xfrm>
              <a:off x="7895324" y="3099743"/>
              <a:ext cx="2389050" cy="2495207"/>
            </a:xfrm>
            <a:prstGeom prst="rect">
              <a:avLst/>
            </a:prstGeom>
            <a:noFill/>
            <a:ln>
              <a:noFill/>
            </a:ln>
          </p:spPr>
        </p:pic>
        <p:sp>
          <p:nvSpPr>
            <p:cNvPr id="259" name="Google Shape;259;p32"/>
            <p:cNvSpPr txBox="1"/>
            <p:nvPr/>
          </p:nvSpPr>
          <p:spPr>
            <a:xfrm>
              <a:off x="4700400" y="5788350"/>
              <a:ext cx="2433600" cy="5541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a:ln>
                    <a:noFill/>
                  </a:ln>
                  <a:solidFill>
                    <a:srgbClr val="0F2044"/>
                  </a:solidFill>
                  <a:effectLst/>
                  <a:uLnTx/>
                  <a:uFillTx/>
                  <a:latin typeface="Arial"/>
                  <a:cs typeface="Arial"/>
                  <a:sym typeface="Arial"/>
                </a:rPr>
                <a:t>critical section</a:t>
              </a:r>
              <a:endParaRPr kumimoji="0" sz="2400" b="1" i="0" u="none" strike="noStrike" kern="0" cap="none" spc="0" normalizeH="0" baseline="0" noProof="0">
                <a:ln>
                  <a:noFill/>
                </a:ln>
                <a:solidFill>
                  <a:srgbClr val="0F2044"/>
                </a:solidFill>
                <a:effectLst/>
                <a:uLnTx/>
                <a:uFillTx/>
                <a:latin typeface="Arial"/>
                <a:cs typeface="Arial"/>
                <a:sym typeface="Arial"/>
              </a:endParaRPr>
            </a:p>
          </p:txBody>
        </p:sp>
        <p:pic>
          <p:nvPicPr>
            <p:cNvPr id="260" name="Google Shape;260;p32"/>
            <p:cNvPicPr preferRelativeResize="0"/>
            <p:nvPr/>
          </p:nvPicPr>
          <p:blipFill rotWithShape="1">
            <a:blip r:embed="rId4">
              <a:alphaModFix/>
            </a:blip>
            <a:srcRect b="3091"/>
            <a:stretch/>
          </p:blipFill>
          <p:spPr>
            <a:xfrm>
              <a:off x="1559925" y="3225500"/>
              <a:ext cx="2389050" cy="2432975"/>
            </a:xfrm>
            <a:prstGeom prst="rect">
              <a:avLst/>
            </a:prstGeom>
            <a:noFill/>
            <a:ln>
              <a:noFill/>
            </a:ln>
          </p:spPr>
        </p:pic>
        <p:sp>
          <p:nvSpPr>
            <p:cNvPr id="261" name="Google Shape;261;p32"/>
            <p:cNvSpPr/>
            <p:nvPr/>
          </p:nvSpPr>
          <p:spPr>
            <a:xfrm>
              <a:off x="8896200" y="5736050"/>
              <a:ext cx="387300" cy="554100"/>
            </a:xfrm>
            <a:prstGeom prst="upArrow">
              <a:avLst>
                <a:gd name="adj1" fmla="val 50000"/>
                <a:gd name="adj2" fmla="val 50000"/>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7" name="Google Shape;267;p33"/>
          <p:cNvSpPr txBox="1">
            <a:spLocks noGrp="1"/>
          </p:cNvSpPr>
          <p:nvPr>
            <p:ph type="ctrTitle"/>
          </p:nvPr>
        </p:nvSpPr>
        <p:spPr>
          <a:xfrm>
            <a:off x="337350" y="1176316"/>
            <a:ext cx="9144000" cy="6960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2"/>
              </a:buClr>
              <a:buSzPts val="6000"/>
              <a:buFont typeface="Georgia"/>
              <a:buNone/>
            </a:pPr>
            <a:r>
              <a:rPr lang="en-US" sz="2500"/>
              <a:t>Understanding Race Condition</a:t>
            </a:r>
            <a:endParaRPr sz="1800"/>
          </a:p>
        </p:txBody>
      </p:sp>
      <p:sp>
        <p:nvSpPr>
          <p:cNvPr id="268" name="Google Shape;268;p33"/>
          <p:cNvSpPr txBox="1"/>
          <p:nvPr/>
        </p:nvSpPr>
        <p:spPr>
          <a:xfrm>
            <a:off x="337350" y="2013150"/>
            <a:ext cx="11122200" cy="8928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300" b="0" i="0" u="none" strike="noStrike" kern="0" cap="none" spc="0" normalizeH="0" baseline="0" noProof="0">
                <a:ln>
                  <a:noFill/>
                </a:ln>
                <a:solidFill>
                  <a:srgbClr val="0F2044"/>
                </a:solidFill>
                <a:effectLst/>
                <a:uLnTx/>
                <a:uFillTx/>
                <a:latin typeface="Arial"/>
                <a:cs typeface="Arial"/>
                <a:sym typeface="Arial"/>
              </a:rPr>
              <a:t>This setup does ensure that only one program is inside the critical section at any given time. </a:t>
            </a:r>
            <a:endParaRPr kumimoji="0" sz="2300" b="0" i="0" u="none" strike="noStrike" kern="0" cap="none" spc="0" normalizeH="0" baseline="0" noProof="0">
              <a:ln>
                <a:noFill/>
              </a:ln>
              <a:solidFill>
                <a:srgbClr val="0F2044"/>
              </a:solidFill>
              <a:effectLst/>
              <a:uLnTx/>
              <a:uFillTx/>
              <a:latin typeface="Arial"/>
              <a:cs typeface="Arial"/>
              <a:sym typeface="Arial"/>
            </a:endParaRPr>
          </a:p>
        </p:txBody>
      </p:sp>
      <p:grpSp>
        <p:nvGrpSpPr>
          <p:cNvPr id="2" name="Group 1" descr="Robot 2 reads the value of 4 and calculates 4+1=5.">
            <a:extLst>
              <a:ext uri="{FF2B5EF4-FFF2-40B4-BE49-F238E27FC236}">
                <a16:creationId xmlns:a16="http://schemas.microsoft.com/office/drawing/2014/main" id="{96624BDC-65C6-5261-2D5D-FD69BBBE8A2B}"/>
              </a:ext>
            </a:extLst>
          </p:cNvPr>
          <p:cNvGrpSpPr/>
          <p:nvPr/>
        </p:nvGrpSpPr>
        <p:grpSpPr>
          <a:xfrm>
            <a:off x="1559925" y="2861700"/>
            <a:ext cx="10632075" cy="3480750"/>
            <a:chOff x="1559925" y="2861700"/>
            <a:chExt cx="10632075" cy="3480750"/>
          </a:xfrm>
        </p:grpSpPr>
        <p:sp>
          <p:nvSpPr>
            <p:cNvPr id="266" name="Google Shape;266;p33"/>
            <p:cNvSpPr/>
            <p:nvPr/>
          </p:nvSpPr>
          <p:spPr>
            <a:xfrm>
              <a:off x="4114800" y="3240950"/>
              <a:ext cx="3604800" cy="2495100"/>
            </a:xfrm>
            <a:prstGeom prst="rect">
              <a:avLst/>
            </a:prstGeom>
            <a:noFill/>
            <a:ln w="3810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9" name="Google Shape;269;p33"/>
            <p:cNvSpPr/>
            <p:nvPr/>
          </p:nvSpPr>
          <p:spPr>
            <a:xfrm>
              <a:off x="4578150" y="3549450"/>
              <a:ext cx="2688000" cy="1747800"/>
            </a:xfrm>
            <a:prstGeom prst="rect">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a:ln>
                    <a:noFill/>
                  </a:ln>
                  <a:solidFill>
                    <a:srgbClr val="A00C30"/>
                  </a:solidFill>
                  <a:effectLst/>
                  <a:uLnTx/>
                  <a:uFillTx/>
                  <a:latin typeface="Arial"/>
                  <a:cs typeface="Arial"/>
                  <a:sym typeface="Arial"/>
                </a:rPr>
                <a:t>4</a:t>
              </a:r>
              <a:endParaRPr kumimoji="0" sz="2800" b="1" i="0" u="none" strike="noStrike" kern="0" cap="none" spc="0" normalizeH="0" baseline="0" noProof="0">
                <a:ln>
                  <a:noFill/>
                </a:ln>
                <a:solidFill>
                  <a:srgbClr val="A00C30"/>
                </a:solidFill>
                <a:effectLst/>
                <a:uLnTx/>
                <a:uFillTx/>
                <a:latin typeface="Arial"/>
                <a:cs typeface="Arial"/>
                <a:sym typeface="Arial"/>
              </a:endParaRPr>
            </a:p>
          </p:txBody>
        </p:sp>
        <p:pic>
          <p:nvPicPr>
            <p:cNvPr id="270" name="Google Shape;270;p33"/>
            <p:cNvPicPr preferRelativeResize="0"/>
            <p:nvPr/>
          </p:nvPicPr>
          <p:blipFill>
            <a:blip r:embed="rId3">
              <a:alphaModFix/>
            </a:blip>
            <a:stretch>
              <a:fillRect/>
            </a:stretch>
          </p:blipFill>
          <p:spPr>
            <a:xfrm>
              <a:off x="7895324" y="3099743"/>
              <a:ext cx="2389050" cy="2495207"/>
            </a:xfrm>
            <a:prstGeom prst="rect">
              <a:avLst/>
            </a:prstGeom>
            <a:noFill/>
            <a:ln>
              <a:noFill/>
            </a:ln>
          </p:spPr>
        </p:pic>
        <p:sp>
          <p:nvSpPr>
            <p:cNvPr id="271" name="Google Shape;271;p33"/>
            <p:cNvSpPr txBox="1"/>
            <p:nvPr/>
          </p:nvSpPr>
          <p:spPr>
            <a:xfrm>
              <a:off x="4700400" y="5788350"/>
              <a:ext cx="2433600" cy="5541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a:ln>
                    <a:noFill/>
                  </a:ln>
                  <a:solidFill>
                    <a:srgbClr val="0F2044"/>
                  </a:solidFill>
                  <a:effectLst/>
                  <a:uLnTx/>
                  <a:uFillTx/>
                  <a:latin typeface="Arial"/>
                  <a:cs typeface="Arial"/>
                  <a:sym typeface="Arial"/>
                </a:rPr>
                <a:t>critical section</a:t>
              </a:r>
              <a:endParaRPr kumimoji="0" sz="2400" b="1" i="0" u="none" strike="noStrike" kern="0" cap="none" spc="0" normalizeH="0" baseline="0" noProof="0">
                <a:ln>
                  <a:noFill/>
                </a:ln>
                <a:solidFill>
                  <a:srgbClr val="0F2044"/>
                </a:solidFill>
                <a:effectLst/>
                <a:uLnTx/>
                <a:uFillTx/>
                <a:latin typeface="Arial"/>
                <a:cs typeface="Arial"/>
                <a:sym typeface="Arial"/>
              </a:endParaRPr>
            </a:p>
          </p:txBody>
        </p:sp>
        <p:pic>
          <p:nvPicPr>
            <p:cNvPr id="272" name="Google Shape;272;p33"/>
            <p:cNvPicPr preferRelativeResize="0"/>
            <p:nvPr/>
          </p:nvPicPr>
          <p:blipFill rotWithShape="1">
            <a:blip r:embed="rId4">
              <a:alphaModFix/>
            </a:blip>
            <a:srcRect b="3091"/>
            <a:stretch/>
          </p:blipFill>
          <p:spPr>
            <a:xfrm>
              <a:off x="1559925" y="3225500"/>
              <a:ext cx="2389050" cy="2432975"/>
            </a:xfrm>
            <a:prstGeom prst="rect">
              <a:avLst/>
            </a:prstGeom>
            <a:noFill/>
            <a:ln>
              <a:noFill/>
            </a:ln>
          </p:spPr>
        </p:pic>
        <p:sp>
          <p:nvSpPr>
            <p:cNvPr id="273" name="Google Shape;273;p33"/>
            <p:cNvSpPr/>
            <p:nvPr/>
          </p:nvSpPr>
          <p:spPr>
            <a:xfrm>
              <a:off x="8896200" y="5736050"/>
              <a:ext cx="387300" cy="554100"/>
            </a:xfrm>
            <a:prstGeom prst="upArrow">
              <a:avLst>
                <a:gd name="adj1" fmla="val 50000"/>
                <a:gd name="adj2" fmla="val 50000"/>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4" name="Google Shape;274;p33"/>
            <p:cNvSpPr txBox="1"/>
            <p:nvPr/>
          </p:nvSpPr>
          <p:spPr>
            <a:xfrm>
              <a:off x="9192000" y="2861700"/>
              <a:ext cx="3000000" cy="615600"/>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dirty="0">
                  <a:ln>
                    <a:noFill/>
                  </a:ln>
                  <a:solidFill>
                    <a:srgbClr val="A00C30"/>
                  </a:solidFill>
                  <a:effectLst/>
                  <a:uLnTx/>
                  <a:uFillTx/>
                  <a:latin typeface="Arial"/>
                  <a:cs typeface="Arial"/>
                  <a:sym typeface="Arial"/>
                </a:rPr>
                <a:t>4+1=5</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80" name="Google Shape;280;p34"/>
          <p:cNvSpPr txBox="1">
            <a:spLocks noGrp="1"/>
          </p:cNvSpPr>
          <p:nvPr>
            <p:ph type="ctrTitle"/>
          </p:nvPr>
        </p:nvSpPr>
        <p:spPr>
          <a:xfrm>
            <a:off x="337350" y="1176316"/>
            <a:ext cx="9144000" cy="6960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2"/>
              </a:buClr>
              <a:buSzPts val="6000"/>
              <a:buFont typeface="Georgia"/>
              <a:buNone/>
            </a:pPr>
            <a:r>
              <a:rPr lang="en-US" sz="2500"/>
              <a:t>Understanding Race Condition</a:t>
            </a:r>
            <a:endParaRPr sz="1800"/>
          </a:p>
        </p:txBody>
      </p:sp>
      <p:sp>
        <p:nvSpPr>
          <p:cNvPr id="281" name="Google Shape;281;p34"/>
          <p:cNvSpPr txBox="1"/>
          <p:nvPr/>
        </p:nvSpPr>
        <p:spPr>
          <a:xfrm>
            <a:off x="337350" y="2013150"/>
            <a:ext cx="11122200" cy="12468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2300" b="0" i="0" u="none" strike="noStrike" kern="0" cap="none" spc="0" normalizeH="0" baseline="0" noProof="0" dirty="0">
                <a:ln>
                  <a:noFill/>
                </a:ln>
                <a:solidFill>
                  <a:srgbClr val="0F2044"/>
                </a:solidFill>
                <a:effectLst/>
                <a:uLnTx/>
                <a:uFillTx/>
                <a:latin typeface="Arial"/>
                <a:cs typeface="Arial"/>
                <a:sym typeface="Arial"/>
              </a:rPr>
              <a:t>This setup does ensure that only one program is inside the critical section at any given time. </a:t>
            </a:r>
            <a:endParaRPr kumimoji="0" sz="2300" b="0" i="0" u="none" strike="noStrike" kern="0" cap="none" spc="0" normalizeH="0" baseline="0" noProof="0" dirty="0">
              <a:ln>
                <a:noFill/>
              </a:ln>
              <a:solidFill>
                <a:srgbClr val="0F2044"/>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300" b="0" i="0" u="none" strike="noStrike" kern="0" cap="none" spc="0" normalizeH="0" baseline="0" noProof="0" dirty="0">
              <a:ln>
                <a:noFill/>
              </a:ln>
              <a:solidFill>
                <a:srgbClr val="0F2044"/>
              </a:solidFill>
              <a:effectLst/>
              <a:uLnTx/>
              <a:uFillTx/>
              <a:latin typeface="Arial"/>
              <a:cs typeface="Arial"/>
              <a:sym typeface="Arial"/>
            </a:endParaRPr>
          </a:p>
        </p:txBody>
      </p:sp>
      <p:grpSp>
        <p:nvGrpSpPr>
          <p:cNvPr id="3" name="Group 2" descr="Robot 2 updates the value to 5.">
            <a:extLst>
              <a:ext uri="{FF2B5EF4-FFF2-40B4-BE49-F238E27FC236}">
                <a16:creationId xmlns:a16="http://schemas.microsoft.com/office/drawing/2014/main" id="{84E1C5DF-72BE-72A2-8BFF-AA1C36D751CF}"/>
              </a:ext>
            </a:extLst>
          </p:cNvPr>
          <p:cNvGrpSpPr/>
          <p:nvPr/>
        </p:nvGrpSpPr>
        <p:grpSpPr>
          <a:xfrm>
            <a:off x="1559925" y="2861700"/>
            <a:ext cx="10632075" cy="3480750"/>
            <a:chOff x="1559925" y="2861700"/>
            <a:chExt cx="10632075" cy="3480750"/>
          </a:xfrm>
        </p:grpSpPr>
        <p:sp>
          <p:nvSpPr>
            <p:cNvPr id="279" name="Google Shape;279;p34"/>
            <p:cNvSpPr/>
            <p:nvPr/>
          </p:nvSpPr>
          <p:spPr>
            <a:xfrm>
              <a:off x="4114800" y="3240950"/>
              <a:ext cx="3604800" cy="2495100"/>
            </a:xfrm>
            <a:prstGeom prst="rect">
              <a:avLst/>
            </a:prstGeom>
            <a:noFill/>
            <a:ln w="3810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2" name="Google Shape;282;p34"/>
            <p:cNvSpPr/>
            <p:nvPr/>
          </p:nvSpPr>
          <p:spPr>
            <a:xfrm>
              <a:off x="4578150" y="3549450"/>
              <a:ext cx="2688000" cy="1747800"/>
            </a:xfrm>
            <a:prstGeom prst="rect">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a:ln>
                    <a:noFill/>
                  </a:ln>
                  <a:solidFill>
                    <a:srgbClr val="A00C30"/>
                  </a:solidFill>
                  <a:effectLst/>
                  <a:uLnTx/>
                  <a:uFillTx/>
                  <a:latin typeface="Arial"/>
                  <a:cs typeface="Arial"/>
                  <a:sym typeface="Arial"/>
                </a:rPr>
                <a:t>5</a:t>
              </a:r>
              <a:endParaRPr kumimoji="0" sz="2800" b="1" i="0" u="none" strike="noStrike" kern="0" cap="none" spc="0" normalizeH="0" baseline="0" noProof="0">
                <a:ln>
                  <a:noFill/>
                </a:ln>
                <a:solidFill>
                  <a:srgbClr val="A00C30"/>
                </a:solidFill>
                <a:effectLst/>
                <a:uLnTx/>
                <a:uFillTx/>
                <a:latin typeface="Arial"/>
                <a:cs typeface="Arial"/>
                <a:sym typeface="Arial"/>
              </a:endParaRPr>
            </a:p>
          </p:txBody>
        </p:sp>
        <p:pic>
          <p:nvPicPr>
            <p:cNvPr id="283" name="Google Shape;283;p34"/>
            <p:cNvPicPr preferRelativeResize="0"/>
            <p:nvPr/>
          </p:nvPicPr>
          <p:blipFill>
            <a:blip r:embed="rId3">
              <a:alphaModFix/>
            </a:blip>
            <a:stretch>
              <a:fillRect/>
            </a:stretch>
          </p:blipFill>
          <p:spPr>
            <a:xfrm>
              <a:off x="7895324" y="3099743"/>
              <a:ext cx="2389050" cy="2495207"/>
            </a:xfrm>
            <a:prstGeom prst="rect">
              <a:avLst/>
            </a:prstGeom>
            <a:noFill/>
            <a:ln>
              <a:noFill/>
            </a:ln>
          </p:spPr>
        </p:pic>
        <p:sp>
          <p:nvSpPr>
            <p:cNvPr id="284" name="Google Shape;284;p34"/>
            <p:cNvSpPr txBox="1"/>
            <p:nvPr/>
          </p:nvSpPr>
          <p:spPr>
            <a:xfrm>
              <a:off x="4700400" y="5788350"/>
              <a:ext cx="2433600" cy="5541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a:ln>
                    <a:noFill/>
                  </a:ln>
                  <a:solidFill>
                    <a:srgbClr val="0F2044"/>
                  </a:solidFill>
                  <a:effectLst/>
                  <a:uLnTx/>
                  <a:uFillTx/>
                  <a:latin typeface="Arial"/>
                  <a:cs typeface="Arial"/>
                  <a:sym typeface="Arial"/>
                </a:rPr>
                <a:t>critical section</a:t>
              </a:r>
              <a:endParaRPr kumimoji="0" sz="2400" b="1" i="0" u="none" strike="noStrike" kern="0" cap="none" spc="0" normalizeH="0" baseline="0" noProof="0">
                <a:ln>
                  <a:noFill/>
                </a:ln>
                <a:solidFill>
                  <a:srgbClr val="0F2044"/>
                </a:solidFill>
                <a:effectLst/>
                <a:uLnTx/>
                <a:uFillTx/>
                <a:latin typeface="Arial"/>
                <a:cs typeface="Arial"/>
                <a:sym typeface="Arial"/>
              </a:endParaRPr>
            </a:p>
          </p:txBody>
        </p:sp>
        <p:pic>
          <p:nvPicPr>
            <p:cNvPr id="285" name="Google Shape;285;p34"/>
            <p:cNvPicPr preferRelativeResize="0"/>
            <p:nvPr/>
          </p:nvPicPr>
          <p:blipFill rotWithShape="1">
            <a:blip r:embed="rId4">
              <a:alphaModFix/>
            </a:blip>
            <a:srcRect b="3091"/>
            <a:stretch/>
          </p:blipFill>
          <p:spPr>
            <a:xfrm>
              <a:off x="1559925" y="3225500"/>
              <a:ext cx="2389050" cy="2432975"/>
            </a:xfrm>
            <a:prstGeom prst="rect">
              <a:avLst/>
            </a:prstGeom>
            <a:noFill/>
            <a:ln>
              <a:noFill/>
            </a:ln>
          </p:spPr>
        </p:pic>
        <p:sp>
          <p:nvSpPr>
            <p:cNvPr id="286" name="Google Shape;286;p34"/>
            <p:cNvSpPr/>
            <p:nvPr/>
          </p:nvSpPr>
          <p:spPr>
            <a:xfrm>
              <a:off x="8896200" y="5736050"/>
              <a:ext cx="387300" cy="554100"/>
            </a:xfrm>
            <a:prstGeom prst="upArrow">
              <a:avLst>
                <a:gd name="adj1" fmla="val 50000"/>
                <a:gd name="adj2" fmla="val 50000"/>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7" name="Google Shape;287;p34"/>
            <p:cNvSpPr txBox="1"/>
            <p:nvPr/>
          </p:nvSpPr>
          <p:spPr>
            <a:xfrm>
              <a:off x="9192000" y="2861700"/>
              <a:ext cx="3000000" cy="615600"/>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a:ln>
                    <a:noFill/>
                  </a:ln>
                  <a:solidFill>
                    <a:srgbClr val="A00C30"/>
                  </a:solidFill>
                  <a:effectLst/>
                  <a:uLnTx/>
                  <a:uFillTx/>
                  <a:latin typeface="Arial"/>
                  <a:cs typeface="Arial"/>
                  <a:sym typeface="Arial"/>
                </a:rPr>
                <a:t>4+1=5</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288" name="Google Shape;288;p34"/>
            <p:cNvCxnSpPr/>
            <p:nvPr/>
          </p:nvCxnSpPr>
          <p:spPr>
            <a:xfrm rot="10800000">
              <a:off x="6339450" y="4406850"/>
              <a:ext cx="1612500" cy="16500"/>
            </a:xfrm>
            <a:prstGeom prst="straightConnector1">
              <a:avLst/>
            </a:prstGeom>
            <a:noFill/>
            <a:ln w="38100" cap="flat" cmpd="sng">
              <a:solidFill>
                <a:schemeClr val="dk2"/>
              </a:solidFill>
              <a:prstDash val="solid"/>
              <a:round/>
              <a:headEnd type="none" w="med" len="med"/>
              <a:tailEnd type="triangle" w="med" len="med"/>
            </a:ln>
          </p:spPr>
        </p:cxn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4" name="Google Shape;294;p35"/>
          <p:cNvSpPr txBox="1">
            <a:spLocks noGrp="1"/>
          </p:cNvSpPr>
          <p:nvPr>
            <p:ph type="ctrTitle"/>
          </p:nvPr>
        </p:nvSpPr>
        <p:spPr>
          <a:xfrm>
            <a:off x="337350" y="1176316"/>
            <a:ext cx="9144000" cy="6960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2"/>
              </a:buClr>
              <a:buSzPts val="6000"/>
              <a:buFont typeface="Georgia"/>
              <a:buNone/>
            </a:pPr>
            <a:r>
              <a:rPr lang="en-US" sz="2500"/>
              <a:t>Understanding Race Condition</a:t>
            </a:r>
            <a:endParaRPr sz="1800"/>
          </a:p>
        </p:txBody>
      </p:sp>
      <p:sp>
        <p:nvSpPr>
          <p:cNvPr id="295" name="Google Shape;295;p35"/>
          <p:cNvSpPr txBox="1"/>
          <p:nvPr/>
        </p:nvSpPr>
        <p:spPr>
          <a:xfrm>
            <a:off x="337350" y="2013150"/>
            <a:ext cx="11122200" cy="12468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300" b="0" i="0" u="none" strike="noStrike" kern="0" cap="none" spc="0" normalizeH="0" baseline="0" noProof="0">
                <a:ln>
                  <a:noFill/>
                </a:ln>
                <a:solidFill>
                  <a:srgbClr val="0F2044"/>
                </a:solidFill>
                <a:effectLst/>
                <a:uLnTx/>
                <a:uFillTx/>
                <a:latin typeface="Arial"/>
                <a:cs typeface="Arial"/>
                <a:sym typeface="Arial"/>
              </a:rPr>
              <a:t>However, this is not a great solution if one program needs to access the critical section much more often than the other program.</a:t>
            </a:r>
            <a:endParaRPr kumimoji="0" sz="2300" b="0" i="0" u="none" strike="noStrike" kern="0" cap="none" spc="0" normalizeH="0" baseline="0" noProof="0">
              <a:ln>
                <a:noFill/>
              </a:ln>
              <a:solidFill>
                <a:srgbClr val="0F2044"/>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300" b="0" i="0" u="none" strike="noStrike" kern="0" cap="none" spc="0" normalizeH="0" baseline="0" noProof="0">
              <a:ln>
                <a:noFill/>
              </a:ln>
              <a:solidFill>
                <a:srgbClr val="0F2044"/>
              </a:solidFill>
              <a:effectLst/>
              <a:uLnTx/>
              <a:uFillTx/>
              <a:latin typeface="Arial"/>
              <a:cs typeface="Arial"/>
              <a:sym typeface="Arial"/>
            </a:endParaRPr>
          </a:p>
        </p:txBody>
      </p:sp>
      <p:grpSp>
        <p:nvGrpSpPr>
          <p:cNvPr id="3" name="Group 2">
            <a:extLst>
              <a:ext uri="{FF2B5EF4-FFF2-40B4-BE49-F238E27FC236}">
                <a16:creationId xmlns:a16="http://schemas.microsoft.com/office/drawing/2014/main" id="{FE725904-9B10-E107-E92D-FB67A06B8D6E}"/>
              </a:ext>
              <a:ext uri="{C183D7F6-B498-43B3-948B-1728B52AA6E4}">
                <adec:decorative xmlns:adec="http://schemas.microsoft.com/office/drawing/2017/decorative" val="1"/>
              </a:ext>
            </a:extLst>
          </p:cNvPr>
          <p:cNvGrpSpPr/>
          <p:nvPr/>
        </p:nvGrpSpPr>
        <p:grpSpPr>
          <a:xfrm>
            <a:off x="1559925" y="3099743"/>
            <a:ext cx="8724449" cy="3242707"/>
            <a:chOff x="1559925" y="3099743"/>
            <a:chExt cx="8724449" cy="3242707"/>
          </a:xfrm>
        </p:grpSpPr>
        <p:sp>
          <p:nvSpPr>
            <p:cNvPr id="293" name="Google Shape;293;p35"/>
            <p:cNvSpPr/>
            <p:nvPr/>
          </p:nvSpPr>
          <p:spPr>
            <a:xfrm>
              <a:off x="4114800" y="3240950"/>
              <a:ext cx="3604800" cy="2495100"/>
            </a:xfrm>
            <a:prstGeom prst="rect">
              <a:avLst/>
            </a:prstGeom>
            <a:noFill/>
            <a:ln w="3810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6" name="Google Shape;296;p35"/>
            <p:cNvSpPr/>
            <p:nvPr/>
          </p:nvSpPr>
          <p:spPr>
            <a:xfrm>
              <a:off x="4578150" y="3549450"/>
              <a:ext cx="2688000" cy="1747800"/>
            </a:xfrm>
            <a:prstGeom prst="rect">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a:ln>
                    <a:noFill/>
                  </a:ln>
                  <a:solidFill>
                    <a:srgbClr val="A00C30"/>
                  </a:solidFill>
                  <a:effectLst/>
                  <a:uLnTx/>
                  <a:uFillTx/>
                  <a:latin typeface="Arial"/>
                  <a:cs typeface="Arial"/>
                  <a:sym typeface="Arial"/>
                </a:rPr>
                <a:t>5</a:t>
              </a:r>
              <a:endParaRPr kumimoji="0" sz="2800" b="1" i="0" u="none" strike="noStrike" kern="0" cap="none" spc="0" normalizeH="0" baseline="0" noProof="0">
                <a:ln>
                  <a:noFill/>
                </a:ln>
                <a:solidFill>
                  <a:srgbClr val="A00C30"/>
                </a:solidFill>
                <a:effectLst/>
                <a:uLnTx/>
                <a:uFillTx/>
                <a:latin typeface="Arial"/>
                <a:cs typeface="Arial"/>
                <a:sym typeface="Arial"/>
              </a:endParaRPr>
            </a:p>
          </p:txBody>
        </p:sp>
        <p:pic>
          <p:nvPicPr>
            <p:cNvPr id="297" name="Google Shape;297;p35"/>
            <p:cNvPicPr preferRelativeResize="0"/>
            <p:nvPr/>
          </p:nvPicPr>
          <p:blipFill>
            <a:blip r:embed="rId3">
              <a:alphaModFix/>
            </a:blip>
            <a:stretch>
              <a:fillRect/>
            </a:stretch>
          </p:blipFill>
          <p:spPr>
            <a:xfrm>
              <a:off x="7895324" y="3099743"/>
              <a:ext cx="2389050" cy="2495207"/>
            </a:xfrm>
            <a:prstGeom prst="rect">
              <a:avLst/>
            </a:prstGeom>
            <a:noFill/>
            <a:ln>
              <a:noFill/>
            </a:ln>
          </p:spPr>
        </p:pic>
        <p:sp>
          <p:nvSpPr>
            <p:cNvPr id="298" name="Google Shape;298;p35"/>
            <p:cNvSpPr txBox="1"/>
            <p:nvPr/>
          </p:nvSpPr>
          <p:spPr>
            <a:xfrm>
              <a:off x="4700400" y="5788350"/>
              <a:ext cx="2433600" cy="5541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a:ln>
                    <a:noFill/>
                  </a:ln>
                  <a:solidFill>
                    <a:srgbClr val="0F2044"/>
                  </a:solidFill>
                  <a:effectLst/>
                  <a:uLnTx/>
                  <a:uFillTx/>
                  <a:latin typeface="Arial"/>
                  <a:cs typeface="Arial"/>
                  <a:sym typeface="Arial"/>
                </a:rPr>
                <a:t>critical section</a:t>
              </a:r>
              <a:endParaRPr kumimoji="0" sz="2400" b="1" i="0" u="none" strike="noStrike" kern="0" cap="none" spc="0" normalizeH="0" baseline="0" noProof="0">
                <a:ln>
                  <a:noFill/>
                </a:ln>
                <a:solidFill>
                  <a:srgbClr val="0F2044"/>
                </a:solidFill>
                <a:effectLst/>
                <a:uLnTx/>
                <a:uFillTx/>
                <a:latin typeface="Arial"/>
                <a:cs typeface="Arial"/>
                <a:sym typeface="Arial"/>
              </a:endParaRPr>
            </a:p>
          </p:txBody>
        </p:sp>
        <p:pic>
          <p:nvPicPr>
            <p:cNvPr id="299" name="Google Shape;299;p35"/>
            <p:cNvPicPr preferRelativeResize="0"/>
            <p:nvPr/>
          </p:nvPicPr>
          <p:blipFill rotWithShape="1">
            <a:blip r:embed="rId4">
              <a:alphaModFix/>
            </a:blip>
            <a:srcRect b="3091"/>
            <a:stretch/>
          </p:blipFill>
          <p:spPr>
            <a:xfrm>
              <a:off x="1559925" y="3225500"/>
              <a:ext cx="2389050" cy="2432975"/>
            </a:xfrm>
            <a:prstGeom prst="rect">
              <a:avLst/>
            </a:prstGeom>
            <a:noFill/>
            <a:ln>
              <a:noFill/>
            </a:ln>
          </p:spPr>
        </p:pic>
        <p:sp>
          <p:nvSpPr>
            <p:cNvPr id="300" name="Google Shape;300;p35"/>
            <p:cNvSpPr/>
            <p:nvPr/>
          </p:nvSpPr>
          <p:spPr>
            <a:xfrm>
              <a:off x="8896200" y="5736050"/>
              <a:ext cx="387300" cy="554100"/>
            </a:xfrm>
            <a:prstGeom prst="upArrow">
              <a:avLst>
                <a:gd name="adj1" fmla="val 50000"/>
                <a:gd name="adj2" fmla="val 50000"/>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6" name="Google Shape;306;p36"/>
          <p:cNvSpPr txBox="1">
            <a:spLocks noGrp="1"/>
          </p:cNvSpPr>
          <p:nvPr>
            <p:ph type="ctrTitle"/>
          </p:nvPr>
        </p:nvSpPr>
        <p:spPr>
          <a:xfrm>
            <a:off x="337350" y="1176316"/>
            <a:ext cx="9144000" cy="6960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2"/>
              </a:buClr>
              <a:buSzPts val="6000"/>
              <a:buFont typeface="Georgia"/>
              <a:buNone/>
            </a:pPr>
            <a:r>
              <a:rPr lang="en-US" sz="2500"/>
              <a:t>Understanding Race Condition</a:t>
            </a:r>
            <a:endParaRPr sz="1800"/>
          </a:p>
        </p:txBody>
      </p:sp>
      <p:sp>
        <p:nvSpPr>
          <p:cNvPr id="307" name="Google Shape;307;p36"/>
          <p:cNvSpPr txBox="1"/>
          <p:nvPr/>
        </p:nvSpPr>
        <p:spPr>
          <a:xfrm>
            <a:off x="337350" y="2013150"/>
            <a:ext cx="11122200" cy="16008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300" b="0" i="0" u="none" strike="noStrike" kern="0" cap="none" spc="0" normalizeH="0" baseline="0" noProof="0">
                <a:ln>
                  <a:noFill/>
                </a:ln>
                <a:solidFill>
                  <a:srgbClr val="0F2044"/>
                </a:solidFill>
                <a:effectLst/>
                <a:uLnTx/>
                <a:uFillTx/>
                <a:latin typeface="Arial"/>
                <a:cs typeface="Arial"/>
                <a:sym typeface="Arial"/>
              </a:rPr>
              <a:t>If one program needs to access the critical section, but it’s the other program’s turn, then we are forced to wait, even if the other program doesn’t need the critical section until later. </a:t>
            </a:r>
            <a:endParaRPr kumimoji="0" sz="2300" b="0" i="0" u="none" strike="noStrike" kern="0" cap="none" spc="0" normalizeH="0" baseline="0" noProof="0">
              <a:ln>
                <a:noFill/>
              </a:ln>
              <a:solidFill>
                <a:srgbClr val="0F2044"/>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300" b="0" i="0" u="none" strike="noStrike" kern="0" cap="none" spc="0" normalizeH="0" baseline="0" noProof="0">
              <a:ln>
                <a:noFill/>
              </a:ln>
              <a:solidFill>
                <a:srgbClr val="0F2044"/>
              </a:solidFill>
              <a:effectLst/>
              <a:uLnTx/>
              <a:uFillTx/>
              <a:latin typeface="Arial"/>
              <a:cs typeface="Arial"/>
              <a:sym typeface="Arial"/>
            </a:endParaRPr>
          </a:p>
        </p:txBody>
      </p:sp>
      <p:grpSp>
        <p:nvGrpSpPr>
          <p:cNvPr id="2" name="Group 1" descr="Robot 1: It's not my turn so have to wait!">
            <a:extLst>
              <a:ext uri="{FF2B5EF4-FFF2-40B4-BE49-F238E27FC236}">
                <a16:creationId xmlns:a16="http://schemas.microsoft.com/office/drawing/2014/main" id="{72FD8097-0729-E97A-FED2-2F0903C745E3}"/>
              </a:ext>
            </a:extLst>
          </p:cNvPr>
          <p:cNvGrpSpPr/>
          <p:nvPr/>
        </p:nvGrpSpPr>
        <p:grpSpPr>
          <a:xfrm>
            <a:off x="82951" y="3225500"/>
            <a:ext cx="9200549" cy="3433368"/>
            <a:chOff x="82951" y="3225500"/>
            <a:chExt cx="9200549" cy="3433368"/>
          </a:xfrm>
        </p:grpSpPr>
        <p:sp>
          <p:nvSpPr>
            <p:cNvPr id="305" name="Google Shape;305;p36"/>
            <p:cNvSpPr/>
            <p:nvPr/>
          </p:nvSpPr>
          <p:spPr>
            <a:xfrm>
              <a:off x="4114800" y="3240950"/>
              <a:ext cx="3604800" cy="2495100"/>
            </a:xfrm>
            <a:prstGeom prst="rect">
              <a:avLst/>
            </a:prstGeom>
            <a:noFill/>
            <a:ln w="3810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8" name="Google Shape;308;p36"/>
            <p:cNvSpPr/>
            <p:nvPr/>
          </p:nvSpPr>
          <p:spPr>
            <a:xfrm>
              <a:off x="4578150" y="3549450"/>
              <a:ext cx="2688000" cy="1747800"/>
            </a:xfrm>
            <a:prstGeom prst="rect">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a:ln>
                    <a:noFill/>
                  </a:ln>
                  <a:solidFill>
                    <a:srgbClr val="A00C30"/>
                  </a:solidFill>
                  <a:effectLst/>
                  <a:uLnTx/>
                  <a:uFillTx/>
                  <a:latin typeface="Arial"/>
                  <a:cs typeface="Arial"/>
                  <a:sym typeface="Arial"/>
                </a:rPr>
                <a:t>5</a:t>
              </a:r>
              <a:endParaRPr kumimoji="0" sz="2800" b="1" i="0" u="none" strike="noStrike" kern="0" cap="none" spc="0" normalizeH="0" baseline="0" noProof="0">
                <a:ln>
                  <a:noFill/>
                </a:ln>
                <a:solidFill>
                  <a:srgbClr val="A00C30"/>
                </a:solidFill>
                <a:effectLst/>
                <a:uLnTx/>
                <a:uFillTx/>
                <a:latin typeface="Arial"/>
                <a:cs typeface="Arial"/>
                <a:sym typeface="Arial"/>
              </a:endParaRPr>
            </a:p>
          </p:txBody>
        </p:sp>
        <p:sp>
          <p:nvSpPr>
            <p:cNvPr id="309" name="Google Shape;309;p36"/>
            <p:cNvSpPr txBox="1"/>
            <p:nvPr/>
          </p:nvSpPr>
          <p:spPr>
            <a:xfrm>
              <a:off x="4700400" y="5788350"/>
              <a:ext cx="2433600" cy="5541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a:ln>
                    <a:noFill/>
                  </a:ln>
                  <a:solidFill>
                    <a:srgbClr val="0F2044"/>
                  </a:solidFill>
                  <a:effectLst/>
                  <a:uLnTx/>
                  <a:uFillTx/>
                  <a:latin typeface="Arial"/>
                  <a:cs typeface="Arial"/>
                  <a:sym typeface="Arial"/>
                </a:rPr>
                <a:t>critical section</a:t>
              </a:r>
              <a:endParaRPr kumimoji="0" sz="2400" b="1" i="0" u="none" strike="noStrike" kern="0" cap="none" spc="0" normalizeH="0" baseline="0" noProof="0">
                <a:ln>
                  <a:noFill/>
                </a:ln>
                <a:solidFill>
                  <a:srgbClr val="0F2044"/>
                </a:solidFill>
                <a:effectLst/>
                <a:uLnTx/>
                <a:uFillTx/>
                <a:latin typeface="Arial"/>
                <a:cs typeface="Arial"/>
                <a:sym typeface="Arial"/>
              </a:endParaRPr>
            </a:p>
          </p:txBody>
        </p:sp>
        <p:pic>
          <p:nvPicPr>
            <p:cNvPr id="310" name="Google Shape;310;p36"/>
            <p:cNvPicPr preferRelativeResize="0"/>
            <p:nvPr/>
          </p:nvPicPr>
          <p:blipFill rotWithShape="1">
            <a:blip r:embed="rId3">
              <a:alphaModFix/>
            </a:blip>
            <a:srcRect b="3091"/>
            <a:stretch/>
          </p:blipFill>
          <p:spPr>
            <a:xfrm>
              <a:off x="1559925" y="3225500"/>
              <a:ext cx="2389050" cy="2432975"/>
            </a:xfrm>
            <a:prstGeom prst="rect">
              <a:avLst/>
            </a:prstGeom>
            <a:noFill/>
            <a:ln>
              <a:noFill/>
            </a:ln>
          </p:spPr>
        </p:pic>
        <p:sp>
          <p:nvSpPr>
            <p:cNvPr id="311" name="Google Shape;311;p36"/>
            <p:cNvSpPr/>
            <p:nvPr/>
          </p:nvSpPr>
          <p:spPr>
            <a:xfrm>
              <a:off x="8896200" y="5736050"/>
              <a:ext cx="387300" cy="554100"/>
            </a:xfrm>
            <a:prstGeom prst="upArrow">
              <a:avLst>
                <a:gd name="adj1" fmla="val 50000"/>
                <a:gd name="adj2" fmla="val 50000"/>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312" name="Google Shape;312;p36"/>
            <p:cNvPicPr preferRelativeResize="0"/>
            <p:nvPr/>
          </p:nvPicPr>
          <p:blipFill>
            <a:blip r:embed="rId4">
              <a:alphaModFix/>
            </a:blip>
            <a:stretch>
              <a:fillRect/>
            </a:stretch>
          </p:blipFill>
          <p:spPr>
            <a:xfrm>
              <a:off x="465175" y="3323900"/>
              <a:ext cx="1335450" cy="1520925"/>
            </a:xfrm>
            <a:prstGeom prst="rect">
              <a:avLst/>
            </a:prstGeom>
            <a:noFill/>
            <a:ln>
              <a:noFill/>
            </a:ln>
          </p:spPr>
        </p:pic>
        <p:sp>
          <p:nvSpPr>
            <p:cNvPr id="313" name="Google Shape;313;p36"/>
            <p:cNvSpPr/>
            <p:nvPr/>
          </p:nvSpPr>
          <p:spPr>
            <a:xfrm>
              <a:off x="82951" y="4988648"/>
              <a:ext cx="1819584" cy="1670220"/>
            </a:xfrm>
            <a:prstGeom prst="cloud">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Arial"/>
                  <a:cs typeface="Arial"/>
                  <a:sym typeface="Arial"/>
                </a:rPr>
                <a:t>It’s not my turn so have to wait!</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9" name="Google Shape;319;p37"/>
          <p:cNvSpPr txBox="1">
            <a:spLocks noGrp="1"/>
          </p:cNvSpPr>
          <p:nvPr>
            <p:ph type="ctrTitle"/>
          </p:nvPr>
        </p:nvSpPr>
        <p:spPr>
          <a:xfrm>
            <a:off x="337350" y="1176316"/>
            <a:ext cx="9144000" cy="6960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2"/>
              </a:buClr>
              <a:buSzPts val="6000"/>
              <a:buFont typeface="Georgia"/>
              <a:buNone/>
            </a:pPr>
            <a:r>
              <a:rPr lang="en-US" sz="2500"/>
              <a:t>Understanding Race Condition</a:t>
            </a:r>
            <a:endParaRPr sz="1800"/>
          </a:p>
        </p:txBody>
      </p:sp>
      <p:sp>
        <p:nvSpPr>
          <p:cNvPr id="320" name="Google Shape;320;p37"/>
          <p:cNvSpPr txBox="1"/>
          <p:nvPr/>
        </p:nvSpPr>
        <p:spPr>
          <a:xfrm>
            <a:off x="337350" y="2013150"/>
            <a:ext cx="11122200" cy="12468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300" b="0" i="0" u="none" strike="noStrike" kern="0" cap="none" spc="0" normalizeH="0" baseline="0" noProof="0">
                <a:ln>
                  <a:noFill/>
                </a:ln>
                <a:solidFill>
                  <a:srgbClr val="0F2044"/>
                </a:solidFill>
                <a:effectLst/>
                <a:uLnTx/>
                <a:uFillTx/>
                <a:latin typeface="Arial"/>
                <a:cs typeface="Arial"/>
                <a:sym typeface="Arial"/>
              </a:rPr>
              <a:t>We can resolve the problem by first giving our program a way to signal their intent of entering the critical section.</a:t>
            </a:r>
            <a:endParaRPr kumimoji="0" sz="2300" b="0" i="0" u="none" strike="noStrike" kern="0" cap="none" spc="0" normalizeH="0" baseline="0" noProof="0">
              <a:ln>
                <a:noFill/>
              </a:ln>
              <a:solidFill>
                <a:srgbClr val="0F2044"/>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300" b="0" i="0" u="none" strike="noStrike" kern="0" cap="none" spc="0" normalizeH="0" baseline="0" noProof="0">
              <a:ln>
                <a:noFill/>
              </a:ln>
              <a:solidFill>
                <a:srgbClr val="0F2044"/>
              </a:solidFill>
              <a:effectLst/>
              <a:uLnTx/>
              <a:uFillTx/>
              <a:latin typeface="Arial"/>
              <a:cs typeface="Arial"/>
              <a:sym typeface="Arial"/>
            </a:endParaRPr>
          </a:p>
        </p:txBody>
      </p:sp>
      <p:grpSp>
        <p:nvGrpSpPr>
          <p:cNvPr id="2" name="Group 1" descr="Robot 1: Planning to enter.">
            <a:extLst>
              <a:ext uri="{FF2B5EF4-FFF2-40B4-BE49-F238E27FC236}">
                <a16:creationId xmlns:a16="http://schemas.microsoft.com/office/drawing/2014/main" id="{A7A952A3-A3AA-648A-99A7-D0CCA29C382B}"/>
              </a:ext>
            </a:extLst>
          </p:cNvPr>
          <p:cNvGrpSpPr/>
          <p:nvPr/>
        </p:nvGrpSpPr>
        <p:grpSpPr>
          <a:xfrm>
            <a:off x="337351" y="2997598"/>
            <a:ext cx="9947023" cy="3344852"/>
            <a:chOff x="337351" y="2997598"/>
            <a:chExt cx="9947023" cy="3344852"/>
          </a:xfrm>
        </p:grpSpPr>
        <p:sp>
          <p:nvSpPr>
            <p:cNvPr id="318" name="Google Shape;318;p37"/>
            <p:cNvSpPr/>
            <p:nvPr/>
          </p:nvSpPr>
          <p:spPr>
            <a:xfrm>
              <a:off x="4114800" y="3240950"/>
              <a:ext cx="3604800" cy="2495100"/>
            </a:xfrm>
            <a:prstGeom prst="rect">
              <a:avLst/>
            </a:prstGeom>
            <a:noFill/>
            <a:ln w="3810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1" name="Google Shape;321;p37"/>
            <p:cNvSpPr/>
            <p:nvPr/>
          </p:nvSpPr>
          <p:spPr>
            <a:xfrm>
              <a:off x="4578150" y="3549450"/>
              <a:ext cx="2688000" cy="1747800"/>
            </a:xfrm>
            <a:prstGeom prst="rect">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a:ln>
                    <a:noFill/>
                  </a:ln>
                  <a:solidFill>
                    <a:srgbClr val="A00C30"/>
                  </a:solidFill>
                  <a:effectLst/>
                  <a:uLnTx/>
                  <a:uFillTx/>
                  <a:latin typeface="Arial"/>
                  <a:cs typeface="Arial"/>
                  <a:sym typeface="Arial"/>
                </a:rPr>
                <a:t>5</a:t>
              </a:r>
              <a:endParaRPr kumimoji="0" sz="2800" b="1" i="0" u="none" strike="noStrike" kern="0" cap="none" spc="0" normalizeH="0" baseline="0" noProof="0">
                <a:ln>
                  <a:noFill/>
                </a:ln>
                <a:solidFill>
                  <a:srgbClr val="A00C30"/>
                </a:solidFill>
                <a:effectLst/>
                <a:uLnTx/>
                <a:uFillTx/>
                <a:latin typeface="Arial"/>
                <a:cs typeface="Arial"/>
                <a:sym typeface="Arial"/>
              </a:endParaRPr>
            </a:p>
          </p:txBody>
        </p:sp>
        <p:sp>
          <p:nvSpPr>
            <p:cNvPr id="322" name="Google Shape;322;p37"/>
            <p:cNvSpPr txBox="1"/>
            <p:nvPr/>
          </p:nvSpPr>
          <p:spPr>
            <a:xfrm>
              <a:off x="4700400" y="5788350"/>
              <a:ext cx="2433600" cy="5541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a:ln>
                    <a:noFill/>
                  </a:ln>
                  <a:solidFill>
                    <a:srgbClr val="0F2044"/>
                  </a:solidFill>
                  <a:effectLst/>
                  <a:uLnTx/>
                  <a:uFillTx/>
                  <a:latin typeface="Arial"/>
                  <a:cs typeface="Arial"/>
                  <a:sym typeface="Arial"/>
                </a:rPr>
                <a:t>critical section</a:t>
              </a:r>
              <a:endParaRPr kumimoji="0" sz="2400" b="1" i="0" u="none" strike="noStrike" kern="0" cap="none" spc="0" normalizeH="0" baseline="0" noProof="0">
                <a:ln>
                  <a:noFill/>
                </a:ln>
                <a:solidFill>
                  <a:srgbClr val="0F2044"/>
                </a:solidFill>
                <a:effectLst/>
                <a:uLnTx/>
                <a:uFillTx/>
                <a:latin typeface="Arial"/>
                <a:cs typeface="Arial"/>
                <a:sym typeface="Arial"/>
              </a:endParaRPr>
            </a:p>
          </p:txBody>
        </p:sp>
        <p:pic>
          <p:nvPicPr>
            <p:cNvPr id="323" name="Google Shape;323;p37"/>
            <p:cNvPicPr preferRelativeResize="0"/>
            <p:nvPr/>
          </p:nvPicPr>
          <p:blipFill rotWithShape="1">
            <a:blip r:embed="rId3">
              <a:alphaModFix/>
            </a:blip>
            <a:srcRect b="3091"/>
            <a:stretch/>
          </p:blipFill>
          <p:spPr>
            <a:xfrm>
              <a:off x="1559925" y="3225500"/>
              <a:ext cx="2389050" cy="2432975"/>
            </a:xfrm>
            <a:prstGeom prst="rect">
              <a:avLst/>
            </a:prstGeom>
            <a:noFill/>
            <a:ln>
              <a:noFill/>
            </a:ln>
          </p:spPr>
        </p:pic>
        <p:sp>
          <p:nvSpPr>
            <p:cNvPr id="324" name="Google Shape;324;p37"/>
            <p:cNvSpPr/>
            <p:nvPr/>
          </p:nvSpPr>
          <p:spPr>
            <a:xfrm>
              <a:off x="8896200" y="5736050"/>
              <a:ext cx="387300" cy="554100"/>
            </a:xfrm>
            <a:prstGeom prst="upArrow">
              <a:avLst>
                <a:gd name="adj1" fmla="val 50000"/>
                <a:gd name="adj2" fmla="val 50000"/>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325" name="Google Shape;325;p37"/>
            <p:cNvPicPr preferRelativeResize="0"/>
            <p:nvPr/>
          </p:nvPicPr>
          <p:blipFill>
            <a:blip r:embed="rId4">
              <a:alphaModFix/>
            </a:blip>
            <a:stretch>
              <a:fillRect/>
            </a:stretch>
          </p:blipFill>
          <p:spPr>
            <a:xfrm>
              <a:off x="7895324" y="3099743"/>
              <a:ext cx="2389050" cy="2495207"/>
            </a:xfrm>
            <a:prstGeom prst="rect">
              <a:avLst/>
            </a:prstGeom>
            <a:noFill/>
            <a:ln>
              <a:noFill/>
            </a:ln>
          </p:spPr>
        </p:pic>
        <p:sp>
          <p:nvSpPr>
            <p:cNvPr id="326" name="Google Shape;326;p37"/>
            <p:cNvSpPr/>
            <p:nvPr/>
          </p:nvSpPr>
          <p:spPr>
            <a:xfrm>
              <a:off x="337351" y="2997598"/>
              <a:ext cx="1819584" cy="1670220"/>
            </a:xfrm>
            <a:prstGeom prst="cloud">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Arial"/>
                  <a:cs typeface="Arial"/>
                  <a:sym typeface="Arial"/>
                </a:rPr>
                <a:t>Planning to enter</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2" name="Google Shape;332;p38"/>
          <p:cNvSpPr txBox="1">
            <a:spLocks noGrp="1"/>
          </p:cNvSpPr>
          <p:nvPr>
            <p:ph type="ctrTitle"/>
          </p:nvPr>
        </p:nvSpPr>
        <p:spPr>
          <a:xfrm>
            <a:off x="337350" y="1176316"/>
            <a:ext cx="9144000" cy="6960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2"/>
              </a:buClr>
              <a:buSzPts val="6000"/>
              <a:buFont typeface="Georgia"/>
              <a:buNone/>
            </a:pPr>
            <a:r>
              <a:rPr lang="en-US" sz="2500"/>
              <a:t>Understanding Race Condition</a:t>
            </a:r>
            <a:endParaRPr sz="1800"/>
          </a:p>
        </p:txBody>
      </p:sp>
      <p:sp>
        <p:nvSpPr>
          <p:cNvPr id="333" name="Google Shape;333;p38"/>
          <p:cNvSpPr txBox="1"/>
          <p:nvPr/>
        </p:nvSpPr>
        <p:spPr>
          <a:xfrm>
            <a:off x="337350" y="2013150"/>
            <a:ext cx="11365500" cy="12468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300" b="0" i="0" u="none" strike="noStrike" kern="0" cap="none" spc="0" normalizeH="0" baseline="0" noProof="0">
                <a:ln>
                  <a:noFill/>
                </a:ln>
                <a:solidFill>
                  <a:srgbClr val="0F2044"/>
                </a:solidFill>
                <a:effectLst/>
                <a:uLnTx/>
                <a:uFillTx/>
                <a:latin typeface="Arial"/>
                <a:cs typeface="Arial"/>
                <a:sym typeface="Arial"/>
              </a:rPr>
              <a:t>Each program will be given a </a:t>
            </a:r>
            <a:r>
              <a:rPr kumimoji="0" lang="en-US" sz="2300" b="0" i="0" u="sng" strike="noStrike" kern="0" cap="none" spc="0" normalizeH="0" baseline="0" noProof="0">
                <a:ln>
                  <a:noFill/>
                </a:ln>
                <a:solidFill>
                  <a:srgbClr val="0F2044"/>
                </a:solidFill>
                <a:effectLst/>
                <a:uLnTx/>
                <a:uFillTx/>
                <a:latin typeface="Arial"/>
                <a:cs typeface="Arial"/>
                <a:sym typeface="Arial"/>
              </a:rPr>
              <a:t>signal light</a:t>
            </a:r>
            <a:r>
              <a:rPr kumimoji="0" lang="en-US" sz="2300" b="0" i="0" u="none" strike="noStrike" kern="0" cap="none" spc="0" normalizeH="0" baseline="0" noProof="0">
                <a:ln>
                  <a:noFill/>
                </a:ln>
                <a:solidFill>
                  <a:srgbClr val="0F2044"/>
                </a:solidFill>
                <a:effectLst/>
                <a:uLnTx/>
                <a:uFillTx/>
                <a:latin typeface="Arial"/>
                <a:cs typeface="Arial"/>
                <a:sym typeface="Arial"/>
              </a:rPr>
              <a:t>, that can be toggled on or of. Any time a program wants to enter the critical section, they will toggle it on to indicate their intent. </a:t>
            </a:r>
            <a:endParaRPr kumimoji="0" sz="2300" b="0" i="0" u="none" strike="noStrike" kern="0" cap="none" spc="0" normalizeH="0" baseline="0" noProof="0">
              <a:ln>
                <a:noFill/>
              </a:ln>
              <a:solidFill>
                <a:srgbClr val="0F2044"/>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300" b="0" i="0" u="none" strike="noStrike" kern="0" cap="none" spc="0" normalizeH="0" baseline="0" noProof="0">
              <a:ln>
                <a:noFill/>
              </a:ln>
              <a:solidFill>
                <a:srgbClr val="0F2044"/>
              </a:solidFill>
              <a:effectLst/>
              <a:uLnTx/>
              <a:uFillTx/>
              <a:latin typeface="Arial"/>
              <a:cs typeface="Arial"/>
              <a:sym typeface="Arial"/>
            </a:endParaRPr>
          </a:p>
        </p:txBody>
      </p:sp>
      <p:grpSp>
        <p:nvGrpSpPr>
          <p:cNvPr id="2" name="Group 1" descr="Robot 1 toggles it's signal light on.">
            <a:extLst>
              <a:ext uri="{FF2B5EF4-FFF2-40B4-BE49-F238E27FC236}">
                <a16:creationId xmlns:a16="http://schemas.microsoft.com/office/drawing/2014/main" id="{44615DDE-B449-BED5-A00E-18D648FEAEA5}"/>
              </a:ext>
            </a:extLst>
          </p:cNvPr>
          <p:cNvGrpSpPr/>
          <p:nvPr/>
        </p:nvGrpSpPr>
        <p:grpSpPr>
          <a:xfrm>
            <a:off x="559050" y="3099743"/>
            <a:ext cx="10802075" cy="3242707"/>
            <a:chOff x="559050" y="3099743"/>
            <a:chExt cx="10802075" cy="3242707"/>
          </a:xfrm>
        </p:grpSpPr>
        <p:sp>
          <p:nvSpPr>
            <p:cNvPr id="331" name="Google Shape;331;p38"/>
            <p:cNvSpPr/>
            <p:nvPr/>
          </p:nvSpPr>
          <p:spPr>
            <a:xfrm>
              <a:off x="4114800" y="3240950"/>
              <a:ext cx="3604800" cy="2495100"/>
            </a:xfrm>
            <a:prstGeom prst="rect">
              <a:avLst/>
            </a:prstGeom>
            <a:noFill/>
            <a:ln w="3810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4" name="Google Shape;334;p38"/>
            <p:cNvSpPr/>
            <p:nvPr/>
          </p:nvSpPr>
          <p:spPr>
            <a:xfrm>
              <a:off x="4578150" y="3549450"/>
              <a:ext cx="2688000" cy="1747800"/>
            </a:xfrm>
            <a:prstGeom prst="rect">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a:ln>
                    <a:noFill/>
                  </a:ln>
                  <a:solidFill>
                    <a:srgbClr val="A00C30"/>
                  </a:solidFill>
                  <a:effectLst/>
                  <a:uLnTx/>
                  <a:uFillTx/>
                  <a:latin typeface="Arial"/>
                  <a:cs typeface="Arial"/>
                  <a:sym typeface="Arial"/>
                </a:rPr>
                <a:t>5</a:t>
              </a:r>
              <a:endParaRPr kumimoji="0" sz="2800" b="1" i="0" u="none" strike="noStrike" kern="0" cap="none" spc="0" normalizeH="0" baseline="0" noProof="0">
                <a:ln>
                  <a:noFill/>
                </a:ln>
                <a:solidFill>
                  <a:srgbClr val="A00C30"/>
                </a:solidFill>
                <a:effectLst/>
                <a:uLnTx/>
                <a:uFillTx/>
                <a:latin typeface="Arial"/>
                <a:cs typeface="Arial"/>
                <a:sym typeface="Arial"/>
              </a:endParaRPr>
            </a:p>
          </p:txBody>
        </p:sp>
        <p:sp>
          <p:nvSpPr>
            <p:cNvPr id="335" name="Google Shape;335;p38"/>
            <p:cNvSpPr txBox="1"/>
            <p:nvPr/>
          </p:nvSpPr>
          <p:spPr>
            <a:xfrm>
              <a:off x="4700400" y="5788350"/>
              <a:ext cx="2433600" cy="5541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a:ln>
                    <a:noFill/>
                  </a:ln>
                  <a:solidFill>
                    <a:srgbClr val="0F2044"/>
                  </a:solidFill>
                  <a:effectLst/>
                  <a:uLnTx/>
                  <a:uFillTx/>
                  <a:latin typeface="Arial"/>
                  <a:cs typeface="Arial"/>
                  <a:sym typeface="Arial"/>
                </a:rPr>
                <a:t>critical section</a:t>
              </a:r>
              <a:endParaRPr kumimoji="0" sz="2400" b="1" i="0" u="none" strike="noStrike" kern="0" cap="none" spc="0" normalizeH="0" baseline="0" noProof="0">
                <a:ln>
                  <a:noFill/>
                </a:ln>
                <a:solidFill>
                  <a:srgbClr val="0F2044"/>
                </a:solidFill>
                <a:effectLst/>
                <a:uLnTx/>
                <a:uFillTx/>
                <a:latin typeface="Arial"/>
                <a:cs typeface="Arial"/>
                <a:sym typeface="Arial"/>
              </a:endParaRPr>
            </a:p>
          </p:txBody>
        </p:sp>
        <p:pic>
          <p:nvPicPr>
            <p:cNvPr id="336" name="Google Shape;336;p38"/>
            <p:cNvPicPr preferRelativeResize="0"/>
            <p:nvPr/>
          </p:nvPicPr>
          <p:blipFill rotWithShape="1">
            <a:blip r:embed="rId3">
              <a:alphaModFix/>
            </a:blip>
            <a:srcRect b="3091"/>
            <a:stretch/>
          </p:blipFill>
          <p:spPr>
            <a:xfrm>
              <a:off x="1559925" y="3225500"/>
              <a:ext cx="2389050" cy="2432975"/>
            </a:xfrm>
            <a:prstGeom prst="rect">
              <a:avLst/>
            </a:prstGeom>
            <a:noFill/>
            <a:ln>
              <a:noFill/>
            </a:ln>
          </p:spPr>
        </p:pic>
        <p:sp>
          <p:nvSpPr>
            <p:cNvPr id="337" name="Google Shape;337;p38"/>
            <p:cNvSpPr/>
            <p:nvPr/>
          </p:nvSpPr>
          <p:spPr>
            <a:xfrm>
              <a:off x="8896200" y="5736050"/>
              <a:ext cx="387300" cy="554100"/>
            </a:xfrm>
            <a:prstGeom prst="upArrow">
              <a:avLst>
                <a:gd name="adj1" fmla="val 50000"/>
                <a:gd name="adj2" fmla="val 50000"/>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338" name="Google Shape;338;p38"/>
            <p:cNvPicPr preferRelativeResize="0"/>
            <p:nvPr/>
          </p:nvPicPr>
          <p:blipFill>
            <a:blip r:embed="rId4">
              <a:alphaModFix/>
            </a:blip>
            <a:stretch>
              <a:fillRect/>
            </a:stretch>
          </p:blipFill>
          <p:spPr>
            <a:xfrm>
              <a:off x="7895324" y="3099743"/>
              <a:ext cx="2389050" cy="2495207"/>
            </a:xfrm>
            <a:prstGeom prst="rect">
              <a:avLst/>
            </a:prstGeom>
            <a:noFill/>
            <a:ln>
              <a:noFill/>
            </a:ln>
          </p:spPr>
        </p:pic>
        <p:pic>
          <p:nvPicPr>
            <p:cNvPr id="339" name="Google Shape;339;p38"/>
            <p:cNvPicPr preferRelativeResize="0"/>
            <p:nvPr/>
          </p:nvPicPr>
          <p:blipFill>
            <a:blip r:embed="rId5">
              <a:alphaModFix/>
            </a:blip>
            <a:stretch>
              <a:fillRect/>
            </a:stretch>
          </p:blipFill>
          <p:spPr>
            <a:xfrm>
              <a:off x="559050" y="3307325"/>
              <a:ext cx="901025" cy="966825"/>
            </a:xfrm>
            <a:prstGeom prst="rect">
              <a:avLst/>
            </a:prstGeom>
            <a:noFill/>
            <a:ln>
              <a:noFill/>
            </a:ln>
          </p:spPr>
        </p:pic>
        <p:pic>
          <p:nvPicPr>
            <p:cNvPr id="340" name="Google Shape;340;p38"/>
            <p:cNvPicPr preferRelativeResize="0"/>
            <p:nvPr/>
          </p:nvPicPr>
          <p:blipFill>
            <a:blip r:embed="rId6">
              <a:alphaModFix/>
            </a:blip>
            <a:stretch>
              <a:fillRect/>
            </a:stretch>
          </p:blipFill>
          <p:spPr>
            <a:xfrm>
              <a:off x="10460100" y="3378225"/>
              <a:ext cx="901025" cy="895918"/>
            </a:xfrm>
            <a:prstGeom prst="rect">
              <a:avLst/>
            </a:prstGeom>
            <a:noFill/>
            <a:ln>
              <a:noFill/>
            </a:ln>
          </p:spPr>
        </p:pic>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6" name="Google Shape;346;p39"/>
          <p:cNvSpPr txBox="1">
            <a:spLocks noGrp="1"/>
          </p:cNvSpPr>
          <p:nvPr>
            <p:ph type="ctrTitle"/>
          </p:nvPr>
        </p:nvSpPr>
        <p:spPr>
          <a:xfrm>
            <a:off x="337350" y="1176316"/>
            <a:ext cx="9144000" cy="6960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2"/>
              </a:buClr>
              <a:buSzPts val="6000"/>
              <a:buFont typeface="Georgia"/>
              <a:buNone/>
            </a:pPr>
            <a:r>
              <a:rPr lang="en-US" sz="2500"/>
              <a:t>Understanding Race Condition</a:t>
            </a:r>
            <a:endParaRPr sz="1800"/>
          </a:p>
        </p:txBody>
      </p:sp>
      <p:sp>
        <p:nvSpPr>
          <p:cNvPr id="347" name="Google Shape;347;p39"/>
          <p:cNvSpPr txBox="1"/>
          <p:nvPr/>
        </p:nvSpPr>
        <p:spPr>
          <a:xfrm>
            <a:off x="337350" y="2013150"/>
            <a:ext cx="11365500" cy="12468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300" b="1" i="0" u="none" strike="noStrike" kern="0" cap="none" spc="0" normalizeH="0" baseline="0" noProof="0">
                <a:ln>
                  <a:noFill/>
                </a:ln>
                <a:solidFill>
                  <a:srgbClr val="A00C30"/>
                </a:solidFill>
                <a:effectLst/>
                <a:uLnTx/>
                <a:uFillTx/>
                <a:latin typeface="Arial"/>
                <a:cs typeface="Arial"/>
                <a:sym typeface="Arial"/>
              </a:rPr>
              <a:t>Must obey the rule:</a:t>
            </a:r>
            <a:r>
              <a:rPr kumimoji="0" lang="en-US" sz="2300" b="0" i="0" u="none" strike="noStrike" kern="0" cap="none" spc="0" normalizeH="0" baseline="0" noProof="0">
                <a:ln>
                  <a:noFill/>
                </a:ln>
                <a:solidFill>
                  <a:srgbClr val="A00C30"/>
                </a:solidFill>
                <a:effectLst/>
                <a:uLnTx/>
                <a:uFillTx/>
                <a:latin typeface="Arial"/>
                <a:cs typeface="Arial"/>
                <a:sym typeface="Arial"/>
              </a:rPr>
              <a:t> A program can never enter the critical section, if the other program’s signal light is turned on!</a:t>
            </a:r>
            <a:endParaRPr kumimoji="0" sz="2300" b="0" i="0" u="none" strike="noStrike" kern="0" cap="none" spc="0" normalizeH="0" baseline="0" noProof="0">
              <a:ln>
                <a:noFill/>
              </a:ln>
              <a:solidFill>
                <a:srgbClr val="A00C3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300" b="0" i="0" u="none" strike="noStrike" kern="0" cap="none" spc="0" normalizeH="0" baseline="0" noProof="0">
              <a:ln>
                <a:noFill/>
              </a:ln>
              <a:solidFill>
                <a:srgbClr val="0F2044"/>
              </a:solidFill>
              <a:effectLst/>
              <a:uLnTx/>
              <a:uFillTx/>
              <a:latin typeface="Arial"/>
              <a:cs typeface="Arial"/>
              <a:sym typeface="Arial"/>
            </a:endParaRPr>
          </a:p>
        </p:txBody>
      </p:sp>
      <p:grpSp>
        <p:nvGrpSpPr>
          <p:cNvPr id="2" name="Group 1" descr="Both robots signal lights are on. Both say: Can't enter, the other signal light is on.&#10;">
            <a:extLst>
              <a:ext uri="{FF2B5EF4-FFF2-40B4-BE49-F238E27FC236}">
                <a16:creationId xmlns:a16="http://schemas.microsoft.com/office/drawing/2014/main" id="{57FAF479-CBAA-68D7-CACA-5E9FEE320241}"/>
              </a:ext>
            </a:extLst>
          </p:cNvPr>
          <p:cNvGrpSpPr/>
          <p:nvPr/>
        </p:nvGrpSpPr>
        <p:grpSpPr>
          <a:xfrm>
            <a:off x="82951" y="3099743"/>
            <a:ext cx="11727884" cy="3559125"/>
            <a:chOff x="82951" y="3099743"/>
            <a:chExt cx="11727884" cy="3559125"/>
          </a:xfrm>
        </p:grpSpPr>
        <p:sp>
          <p:nvSpPr>
            <p:cNvPr id="345" name="Google Shape;345;p39"/>
            <p:cNvSpPr/>
            <p:nvPr/>
          </p:nvSpPr>
          <p:spPr>
            <a:xfrm>
              <a:off x="4114800" y="3240950"/>
              <a:ext cx="3604800" cy="2495100"/>
            </a:xfrm>
            <a:prstGeom prst="rect">
              <a:avLst/>
            </a:prstGeom>
            <a:noFill/>
            <a:ln w="3810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8" name="Google Shape;348;p39"/>
            <p:cNvSpPr/>
            <p:nvPr/>
          </p:nvSpPr>
          <p:spPr>
            <a:xfrm>
              <a:off x="4578150" y="3549450"/>
              <a:ext cx="2688000" cy="1747800"/>
            </a:xfrm>
            <a:prstGeom prst="rect">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a:ln>
                    <a:noFill/>
                  </a:ln>
                  <a:solidFill>
                    <a:srgbClr val="A00C30"/>
                  </a:solidFill>
                  <a:effectLst/>
                  <a:uLnTx/>
                  <a:uFillTx/>
                  <a:latin typeface="Arial"/>
                  <a:cs typeface="Arial"/>
                  <a:sym typeface="Arial"/>
                </a:rPr>
                <a:t>5</a:t>
              </a:r>
              <a:endParaRPr kumimoji="0" sz="2800" b="1" i="0" u="none" strike="noStrike" kern="0" cap="none" spc="0" normalizeH="0" baseline="0" noProof="0">
                <a:ln>
                  <a:noFill/>
                </a:ln>
                <a:solidFill>
                  <a:srgbClr val="A00C30"/>
                </a:solidFill>
                <a:effectLst/>
                <a:uLnTx/>
                <a:uFillTx/>
                <a:latin typeface="Arial"/>
                <a:cs typeface="Arial"/>
                <a:sym typeface="Arial"/>
              </a:endParaRPr>
            </a:p>
          </p:txBody>
        </p:sp>
        <p:sp>
          <p:nvSpPr>
            <p:cNvPr id="349" name="Google Shape;349;p39"/>
            <p:cNvSpPr txBox="1"/>
            <p:nvPr/>
          </p:nvSpPr>
          <p:spPr>
            <a:xfrm>
              <a:off x="4700400" y="5788350"/>
              <a:ext cx="2433600" cy="5541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a:ln>
                    <a:noFill/>
                  </a:ln>
                  <a:solidFill>
                    <a:srgbClr val="0F2044"/>
                  </a:solidFill>
                  <a:effectLst/>
                  <a:uLnTx/>
                  <a:uFillTx/>
                  <a:latin typeface="Arial"/>
                  <a:cs typeface="Arial"/>
                  <a:sym typeface="Arial"/>
                </a:rPr>
                <a:t>critical section</a:t>
              </a:r>
              <a:endParaRPr kumimoji="0" sz="2400" b="1" i="0" u="none" strike="noStrike" kern="0" cap="none" spc="0" normalizeH="0" baseline="0" noProof="0">
                <a:ln>
                  <a:noFill/>
                </a:ln>
                <a:solidFill>
                  <a:srgbClr val="0F2044"/>
                </a:solidFill>
                <a:effectLst/>
                <a:uLnTx/>
                <a:uFillTx/>
                <a:latin typeface="Arial"/>
                <a:cs typeface="Arial"/>
                <a:sym typeface="Arial"/>
              </a:endParaRPr>
            </a:p>
          </p:txBody>
        </p:sp>
        <p:pic>
          <p:nvPicPr>
            <p:cNvPr id="350" name="Google Shape;350;p39"/>
            <p:cNvPicPr preferRelativeResize="0"/>
            <p:nvPr/>
          </p:nvPicPr>
          <p:blipFill rotWithShape="1">
            <a:blip r:embed="rId3">
              <a:alphaModFix/>
            </a:blip>
            <a:srcRect b="3091"/>
            <a:stretch/>
          </p:blipFill>
          <p:spPr>
            <a:xfrm>
              <a:off x="1559925" y="3225500"/>
              <a:ext cx="2389050" cy="2432975"/>
            </a:xfrm>
            <a:prstGeom prst="rect">
              <a:avLst/>
            </a:prstGeom>
            <a:noFill/>
            <a:ln>
              <a:noFill/>
            </a:ln>
          </p:spPr>
        </p:pic>
        <p:sp>
          <p:nvSpPr>
            <p:cNvPr id="351" name="Google Shape;351;p39"/>
            <p:cNvSpPr/>
            <p:nvPr/>
          </p:nvSpPr>
          <p:spPr>
            <a:xfrm>
              <a:off x="8896200" y="5736050"/>
              <a:ext cx="387300" cy="554100"/>
            </a:xfrm>
            <a:prstGeom prst="upArrow">
              <a:avLst>
                <a:gd name="adj1" fmla="val 50000"/>
                <a:gd name="adj2" fmla="val 50000"/>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352" name="Google Shape;352;p39"/>
            <p:cNvPicPr preferRelativeResize="0"/>
            <p:nvPr/>
          </p:nvPicPr>
          <p:blipFill>
            <a:blip r:embed="rId4">
              <a:alphaModFix/>
            </a:blip>
            <a:stretch>
              <a:fillRect/>
            </a:stretch>
          </p:blipFill>
          <p:spPr>
            <a:xfrm>
              <a:off x="7895324" y="3099743"/>
              <a:ext cx="2389050" cy="2495207"/>
            </a:xfrm>
            <a:prstGeom prst="rect">
              <a:avLst/>
            </a:prstGeom>
            <a:noFill/>
            <a:ln>
              <a:noFill/>
            </a:ln>
          </p:spPr>
        </p:pic>
        <p:pic>
          <p:nvPicPr>
            <p:cNvPr id="353" name="Google Shape;353;p39"/>
            <p:cNvPicPr preferRelativeResize="0"/>
            <p:nvPr/>
          </p:nvPicPr>
          <p:blipFill>
            <a:blip r:embed="rId5">
              <a:alphaModFix/>
            </a:blip>
            <a:stretch>
              <a:fillRect/>
            </a:stretch>
          </p:blipFill>
          <p:spPr>
            <a:xfrm>
              <a:off x="559050" y="3307325"/>
              <a:ext cx="901025" cy="966825"/>
            </a:xfrm>
            <a:prstGeom prst="rect">
              <a:avLst/>
            </a:prstGeom>
            <a:noFill/>
            <a:ln>
              <a:noFill/>
            </a:ln>
          </p:spPr>
        </p:pic>
        <p:pic>
          <p:nvPicPr>
            <p:cNvPr id="354" name="Google Shape;354;p39"/>
            <p:cNvPicPr preferRelativeResize="0"/>
            <p:nvPr/>
          </p:nvPicPr>
          <p:blipFill>
            <a:blip r:embed="rId5">
              <a:alphaModFix/>
            </a:blip>
            <a:stretch>
              <a:fillRect/>
            </a:stretch>
          </p:blipFill>
          <p:spPr>
            <a:xfrm>
              <a:off x="10450525" y="3317150"/>
              <a:ext cx="901025" cy="966825"/>
            </a:xfrm>
            <a:prstGeom prst="rect">
              <a:avLst/>
            </a:prstGeom>
            <a:noFill/>
            <a:ln>
              <a:noFill/>
            </a:ln>
          </p:spPr>
        </p:pic>
        <p:sp>
          <p:nvSpPr>
            <p:cNvPr id="355" name="Google Shape;355;p39"/>
            <p:cNvSpPr/>
            <p:nvPr/>
          </p:nvSpPr>
          <p:spPr>
            <a:xfrm>
              <a:off x="82951" y="4988648"/>
              <a:ext cx="1819584" cy="1670220"/>
            </a:xfrm>
            <a:prstGeom prst="cloud">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Arial"/>
                  <a:cs typeface="Arial"/>
                  <a:sym typeface="Arial"/>
                </a:rPr>
                <a:t>Can’t enter, the other signal light is on.</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6" name="Google Shape;356;p39"/>
            <p:cNvSpPr/>
            <p:nvPr/>
          </p:nvSpPr>
          <p:spPr>
            <a:xfrm>
              <a:off x="9991251" y="4988648"/>
              <a:ext cx="1819584" cy="1670220"/>
            </a:xfrm>
            <a:prstGeom prst="cloud">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Arial"/>
                  <a:cs typeface="Arial"/>
                  <a:sym typeface="Arial"/>
                </a:rPr>
                <a:t>Can’t enter, the other signal light is on.</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2" name="Google Shape;362;p40"/>
          <p:cNvSpPr txBox="1">
            <a:spLocks noGrp="1"/>
          </p:cNvSpPr>
          <p:nvPr>
            <p:ph type="ctrTitle"/>
          </p:nvPr>
        </p:nvSpPr>
        <p:spPr>
          <a:xfrm>
            <a:off x="337350" y="1176316"/>
            <a:ext cx="9144000" cy="6960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2"/>
              </a:buClr>
              <a:buSzPts val="6000"/>
              <a:buFont typeface="Georgia"/>
              <a:buNone/>
            </a:pPr>
            <a:r>
              <a:rPr lang="en-US" sz="2500"/>
              <a:t>Understanding Race Condition</a:t>
            </a:r>
            <a:endParaRPr sz="1800"/>
          </a:p>
        </p:txBody>
      </p:sp>
      <p:sp>
        <p:nvSpPr>
          <p:cNvPr id="363" name="Google Shape;363;p40"/>
          <p:cNvSpPr txBox="1"/>
          <p:nvPr/>
        </p:nvSpPr>
        <p:spPr>
          <a:xfrm>
            <a:off x="337350" y="2013150"/>
            <a:ext cx="11365500" cy="16008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300" b="0" i="0" u="none" strike="noStrike" kern="0" cap="none" spc="0" normalizeH="0" baseline="0" noProof="0" dirty="0">
                <a:ln>
                  <a:noFill/>
                </a:ln>
                <a:solidFill>
                  <a:srgbClr val="0F2044"/>
                </a:solidFill>
                <a:effectLst/>
                <a:uLnTx/>
                <a:uFillTx/>
                <a:latin typeface="Arial"/>
                <a:cs typeface="Arial"/>
                <a:sym typeface="Arial"/>
              </a:rPr>
              <a:t>If the other program’s signal light is turned off, then we know that they don’t want to enter the critical section. So, we are free to access the data regardless of where the turn pointer is indicating.</a:t>
            </a:r>
            <a:endParaRPr kumimoji="0" sz="2300" b="0" i="0" u="none" strike="noStrike" kern="0" cap="none" spc="0" normalizeH="0" baseline="0" noProof="0" dirty="0">
              <a:ln>
                <a:noFill/>
              </a:ln>
              <a:solidFill>
                <a:srgbClr val="0F2044"/>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300" b="0" i="0" u="none" strike="noStrike" kern="0" cap="none" spc="0" normalizeH="0" baseline="0" noProof="0" dirty="0">
              <a:ln>
                <a:noFill/>
              </a:ln>
              <a:solidFill>
                <a:srgbClr val="0F2044"/>
              </a:solidFill>
              <a:effectLst/>
              <a:uLnTx/>
              <a:uFillTx/>
              <a:latin typeface="Arial"/>
              <a:cs typeface="Arial"/>
              <a:sym typeface="Arial"/>
            </a:endParaRPr>
          </a:p>
        </p:txBody>
      </p:sp>
      <p:grpSp>
        <p:nvGrpSpPr>
          <p:cNvPr id="2" name="Group 1" descr="Robot 1 calculates 5+1=6 and updates the value to 6 while it's signal light is on.">
            <a:extLst>
              <a:ext uri="{FF2B5EF4-FFF2-40B4-BE49-F238E27FC236}">
                <a16:creationId xmlns:a16="http://schemas.microsoft.com/office/drawing/2014/main" id="{0E98745D-4FE8-83FA-9847-A5FC921ECC34}"/>
              </a:ext>
            </a:extLst>
          </p:cNvPr>
          <p:cNvGrpSpPr/>
          <p:nvPr/>
        </p:nvGrpSpPr>
        <p:grpSpPr>
          <a:xfrm>
            <a:off x="82375" y="3099743"/>
            <a:ext cx="11278750" cy="3242707"/>
            <a:chOff x="82375" y="3099743"/>
            <a:chExt cx="11278750" cy="3242707"/>
          </a:xfrm>
        </p:grpSpPr>
        <p:sp>
          <p:nvSpPr>
            <p:cNvPr id="361" name="Google Shape;361;p40"/>
            <p:cNvSpPr/>
            <p:nvPr/>
          </p:nvSpPr>
          <p:spPr>
            <a:xfrm>
              <a:off x="4114800" y="3240950"/>
              <a:ext cx="3604800" cy="2495100"/>
            </a:xfrm>
            <a:prstGeom prst="rect">
              <a:avLst/>
            </a:prstGeom>
            <a:noFill/>
            <a:ln w="3810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4" name="Google Shape;364;p40"/>
            <p:cNvSpPr/>
            <p:nvPr/>
          </p:nvSpPr>
          <p:spPr>
            <a:xfrm>
              <a:off x="4578150" y="3549450"/>
              <a:ext cx="2688000" cy="1747800"/>
            </a:xfrm>
            <a:prstGeom prst="rect">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a:ln>
                    <a:noFill/>
                  </a:ln>
                  <a:solidFill>
                    <a:srgbClr val="A00C30"/>
                  </a:solidFill>
                  <a:effectLst/>
                  <a:uLnTx/>
                  <a:uFillTx/>
                  <a:latin typeface="Arial"/>
                  <a:cs typeface="Arial"/>
                  <a:sym typeface="Arial"/>
                </a:rPr>
                <a:t>6</a:t>
              </a:r>
              <a:endParaRPr kumimoji="0" sz="2800" b="1" i="0" u="none" strike="noStrike" kern="0" cap="none" spc="0" normalizeH="0" baseline="0" noProof="0">
                <a:ln>
                  <a:noFill/>
                </a:ln>
                <a:solidFill>
                  <a:srgbClr val="A00C30"/>
                </a:solidFill>
                <a:effectLst/>
                <a:uLnTx/>
                <a:uFillTx/>
                <a:latin typeface="Arial"/>
                <a:cs typeface="Arial"/>
                <a:sym typeface="Arial"/>
              </a:endParaRPr>
            </a:p>
          </p:txBody>
        </p:sp>
        <p:sp>
          <p:nvSpPr>
            <p:cNvPr id="365" name="Google Shape;365;p40"/>
            <p:cNvSpPr txBox="1"/>
            <p:nvPr/>
          </p:nvSpPr>
          <p:spPr>
            <a:xfrm>
              <a:off x="4700400" y="5788350"/>
              <a:ext cx="2433600" cy="5541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a:ln>
                    <a:noFill/>
                  </a:ln>
                  <a:solidFill>
                    <a:srgbClr val="0F2044"/>
                  </a:solidFill>
                  <a:effectLst/>
                  <a:uLnTx/>
                  <a:uFillTx/>
                  <a:latin typeface="Arial"/>
                  <a:cs typeface="Arial"/>
                  <a:sym typeface="Arial"/>
                </a:rPr>
                <a:t>critical section</a:t>
              </a:r>
              <a:endParaRPr kumimoji="0" sz="2400" b="1" i="0" u="none" strike="noStrike" kern="0" cap="none" spc="0" normalizeH="0" baseline="0" noProof="0">
                <a:ln>
                  <a:noFill/>
                </a:ln>
                <a:solidFill>
                  <a:srgbClr val="0F2044"/>
                </a:solidFill>
                <a:effectLst/>
                <a:uLnTx/>
                <a:uFillTx/>
                <a:latin typeface="Arial"/>
                <a:cs typeface="Arial"/>
                <a:sym typeface="Arial"/>
              </a:endParaRPr>
            </a:p>
          </p:txBody>
        </p:sp>
        <p:pic>
          <p:nvPicPr>
            <p:cNvPr id="366" name="Google Shape;366;p40"/>
            <p:cNvPicPr preferRelativeResize="0"/>
            <p:nvPr/>
          </p:nvPicPr>
          <p:blipFill rotWithShape="1">
            <a:blip r:embed="rId3">
              <a:alphaModFix/>
            </a:blip>
            <a:srcRect b="3091"/>
            <a:stretch/>
          </p:blipFill>
          <p:spPr>
            <a:xfrm>
              <a:off x="1559925" y="3225500"/>
              <a:ext cx="2389050" cy="2432975"/>
            </a:xfrm>
            <a:prstGeom prst="rect">
              <a:avLst/>
            </a:prstGeom>
            <a:noFill/>
            <a:ln>
              <a:noFill/>
            </a:ln>
          </p:spPr>
        </p:pic>
        <p:sp>
          <p:nvSpPr>
            <p:cNvPr id="367" name="Google Shape;367;p40"/>
            <p:cNvSpPr/>
            <p:nvPr/>
          </p:nvSpPr>
          <p:spPr>
            <a:xfrm>
              <a:off x="8896200" y="5736050"/>
              <a:ext cx="387300" cy="554100"/>
            </a:xfrm>
            <a:prstGeom prst="upArrow">
              <a:avLst>
                <a:gd name="adj1" fmla="val 50000"/>
                <a:gd name="adj2" fmla="val 50000"/>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368" name="Google Shape;368;p40"/>
            <p:cNvPicPr preferRelativeResize="0"/>
            <p:nvPr/>
          </p:nvPicPr>
          <p:blipFill>
            <a:blip r:embed="rId4">
              <a:alphaModFix/>
            </a:blip>
            <a:stretch>
              <a:fillRect/>
            </a:stretch>
          </p:blipFill>
          <p:spPr>
            <a:xfrm>
              <a:off x="7895324" y="3099743"/>
              <a:ext cx="2389050" cy="2495207"/>
            </a:xfrm>
            <a:prstGeom prst="rect">
              <a:avLst/>
            </a:prstGeom>
            <a:noFill/>
            <a:ln>
              <a:noFill/>
            </a:ln>
          </p:spPr>
        </p:pic>
        <p:pic>
          <p:nvPicPr>
            <p:cNvPr id="369" name="Google Shape;369;p40"/>
            <p:cNvPicPr preferRelativeResize="0"/>
            <p:nvPr/>
          </p:nvPicPr>
          <p:blipFill>
            <a:blip r:embed="rId5">
              <a:alphaModFix/>
            </a:blip>
            <a:stretch>
              <a:fillRect/>
            </a:stretch>
          </p:blipFill>
          <p:spPr>
            <a:xfrm>
              <a:off x="559050" y="3307325"/>
              <a:ext cx="901025" cy="966825"/>
            </a:xfrm>
            <a:prstGeom prst="rect">
              <a:avLst/>
            </a:prstGeom>
            <a:noFill/>
            <a:ln>
              <a:noFill/>
            </a:ln>
          </p:spPr>
        </p:pic>
        <p:pic>
          <p:nvPicPr>
            <p:cNvPr id="370" name="Google Shape;370;p40"/>
            <p:cNvPicPr preferRelativeResize="0"/>
            <p:nvPr/>
          </p:nvPicPr>
          <p:blipFill>
            <a:blip r:embed="rId6">
              <a:alphaModFix/>
            </a:blip>
            <a:stretch>
              <a:fillRect/>
            </a:stretch>
          </p:blipFill>
          <p:spPr>
            <a:xfrm>
              <a:off x="10460100" y="3378225"/>
              <a:ext cx="901025" cy="895918"/>
            </a:xfrm>
            <a:prstGeom prst="rect">
              <a:avLst/>
            </a:prstGeom>
            <a:noFill/>
            <a:ln>
              <a:noFill/>
            </a:ln>
          </p:spPr>
        </p:pic>
        <p:sp>
          <p:nvSpPr>
            <p:cNvPr id="371" name="Google Shape;371;p40"/>
            <p:cNvSpPr txBox="1"/>
            <p:nvPr/>
          </p:nvSpPr>
          <p:spPr>
            <a:xfrm>
              <a:off x="82375" y="5594950"/>
              <a:ext cx="3000000" cy="615600"/>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a:ln>
                    <a:noFill/>
                  </a:ln>
                  <a:solidFill>
                    <a:srgbClr val="A00C30"/>
                  </a:solidFill>
                  <a:effectLst/>
                  <a:uLnTx/>
                  <a:uFillTx/>
                  <a:latin typeface="Arial"/>
                  <a:cs typeface="Arial"/>
                  <a:sym typeface="Arial"/>
                </a:rPr>
                <a:t>5+1=6</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372" name="Google Shape;372;p40"/>
            <p:cNvCxnSpPr/>
            <p:nvPr/>
          </p:nvCxnSpPr>
          <p:spPr>
            <a:xfrm rot="10800000" flipH="1">
              <a:off x="3872775" y="4406888"/>
              <a:ext cx="1780800" cy="35100"/>
            </a:xfrm>
            <a:prstGeom prst="straightConnector1">
              <a:avLst/>
            </a:prstGeom>
            <a:noFill/>
            <a:ln w="38100" cap="flat" cmpd="sng">
              <a:solidFill>
                <a:schemeClr val="dk2"/>
              </a:solidFill>
              <a:prstDash val="solid"/>
              <a:round/>
              <a:headEnd type="none" w="med" len="med"/>
              <a:tailEnd type="triangle" w="med" len="med"/>
            </a:ln>
          </p:spPr>
        </p:cxn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8" name="Google Shape;378;p41"/>
          <p:cNvSpPr txBox="1">
            <a:spLocks noGrp="1"/>
          </p:cNvSpPr>
          <p:nvPr>
            <p:ph type="ctrTitle"/>
          </p:nvPr>
        </p:nvSpPr>
        <p:spPr>
          <a:xfrm>
            <a:off x="337350" y="1176316"/>
            <a:ext cx="9144000" cy="6960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2"/>
              </a:buClr>
              <a:buSzPts val="6000"/>
              <a:buFont typeface="Georgia"/>
              <a:buNone/>
            </a:pPr>
            <a:r>
              <a:rPr lang="en-US" sz="2500"/>
              <a:t>Understanding Race Condition</a:t>
            </a:r>
            <a:endParaRPr sz="1800"/>
          </a:p>
        </p:txBody>
      </p:sp>
      <p:sp>
        <p:nvSpPr>
          <p:cNvPr id="379" name="Google Shape;379;p41"/>
          <p:cNvSpPr txBox="1"/>
          <p:nvPr/>
        </p:nvSpPr>
        <p:spPr>
          <a:xfrm>
            <a:off x="337350" y="2013150"/>
            <a:ext cx="11365500" cy="16008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300" b="0" i="0" u="none" strike="noStrike" kern="0" cap="none" spc="0" normalizeH="0" baseline="0" noProof="0" dirty="0">
                <a:ln>
                  <a:noFill/>
                </a:ln>
                <a:solidFill>
                  <a:srgbClr val="0F2044"/>
                </a:solidFill>
                <a:effectLst/>
                <a:uLnTx/>
                <a:uFillTx/>
                <a:latin typeface="Arial"/>
                <a:cs typeface="Arial"/>
                <a:sym typeface="Arial"/>
              </a:rPr>
              <a:t>If the other program doesn’t indicate intent to enter, we know we can </a:t>
            </a:r>
            <a:r>
              <a:rPr kumimoji="0" lang="en-US" sz="2300" b="0" i="0" u="sng" strike="noStrike" kern="0" cap="none" spc="0" normalizeH="0" baseline="0" noProof="0" dirty="0">
                <a:ln>
                  <a:noFill/>
                </a:ln>
                <a:solidFill>
                  <a:srgbClr val="0F2044"/>
                </a:solidFill>
                <a:effectLst/>
                <a:uLnTx/>
                <a:uFillTx/>
                <a:latin typeface="Arial"/>
                <a:cs typeface="Arial"/>
                <a:sym typeface="Arial"/>
              </a:rPr>
              <a:t>enter the critical section without conflict</a:t>
            </a:r>
            <a:r>
              <a:rPr kumimoji="0" lang="en-US" sz="2300" b="0" i="0" u="none" strike="noStrike" kern="0" cap="none" spc="0" normalizeH="0" baseline="0" noProof="0" dirty="0">
                <a:ln>
                  <a:noFill/>
                </a:ln>
                <a:solidFill>
                  <a:srgbClr val="0F2044"/>
                </a:solidFill>
                <a:effectLst/>
                <a:uLnTx/>
                <a:uFillTx/>
                <a:latin typeface="Arial"/>
                <a:cs typeface="Arial"/>
                <a:sym typeface="Arial"/>
              </a:rPr>
              <a:t>. After the program is done, it can exit the critical section, and turn off its signal light. </a:t>
            </a:r>
            <a:endParaRPr kumimoji="0" sz="2300" b="0" i="0" u="none" strike="noStrike" kern="0" cap="none" spc="0" normalizeH="0" baseline="0" noProof="0" dirty="0">
              <a:ln>
                <a:noFill/>
              </a:ln>
              <a:solidFill>
                <a:srgbClr val="0F2044"/>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300" b="0" i="0" u="none" strike="noStrike" kern="0" cap="none" spc="0" normalizeH="0" baseline="0" noProof="0" dirty="0">
              <a:ln>
                <a:noFill/>
              </a:ln>
              <a:solidFill>
                <a:srgbClr val="0F2044"/>
              </a:solidFill>
              <a:effectLst/>
              <a:uLnTx/>
              <a:uFillTx/>
              <a:latin typeface="Arial"/>
              <a:cs typeface="Arial"/>
              <a:sym typeface="Arial"/>
            </a:endParaRPr>
          </a:p>
        </p:txBody>
      </p:sp>
      <p:grpSp>
        <p:nvGrpSpPr>
          <p:cNvPr id="2" name="Group 1" descr="Robot 1 turns off it's signal light.">
            <a:extLst>
              <a:ext uri="{FF2B5EF4-FFF2-40B4-BE49-F238E27FC236}">
                <a16:creationId xmlns:a16="http://schemas.microsoft.com/office/drawing/2014/main" id="{50D39D06-CA1B-824F-F753-0EF1A52A9453}"/>
              </a:ext>
            </a:extLst>
          </p:cNvPr>
          <p:cNvGrpSpPr/>
          <p:nvPr/>
        </p:nvGrpSpPr>
        <p:grpSpPr>
          <a:xfrm>
            <a:off x="378075" y="3099743"/>
            <a:ext cx="10983050" cy="3242707"/>
            <a:chOff x="378075" y="3099743"/>
            <a:chExt cx="10983050" cy="3242707"/>
          </a:xfrm>
        </p:grpSpPr>
        <p:sp>
          <p:nvSpPr>
            <p:cNvPr id="377" name="Google Shape;377;p41"/>
            <p:cNvSpPr/>
            <p:nvPr/>
          </p:nvSpPr>
          <p:spPr>
            <a:xfrm>
              <a:off x="4114800" y="3240950"/>
              <a:ext cx="3604800" cy="2495100"/>
            </a:xfrm>
            <a:prstGeom prst="rect">
              <a:avLst/>
            </a:prstGeom>
            <a:noFill/>
            <a:ln w="3810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0" name="Google Shape;380;p41"/>
            <p:cNvSpPr/>
            <p:nvPr/>
          </p:nvSpPr>
          <p:spPr>
            <a:xfrm>
              <a:off x="4578150" y="3549450"/>
              <a:ext cx="2688000" cy="1747800"/>
            </a:xfrm>
            <a:prstGeom prst="rect">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a:ln>
                    <a:noFill/>
                  </a:ln>
                  <a:solidFill>
                    <a:srgbClr val="A00C30"/>
                  </a:solidFill>
                  <a:effectLst/>
                  <a:uLnTx/>
                  <a:uFillTx/>
                  <a:latin typeface="Arial"/>
                  <a:cs typeface="Arial"/>
                  <a:sym typeface="Arial"/>
                </a:rPr>
                <a:t>6</a:t>
              </a:r>
              <a:endParaRPr kumimoji="0" sz="2800" b="1" i="0" u="none" strike="noStrike" kern="0" cap="none" spc="0" normalizeH="0" baseline="0" noProof="0">
                <a:ln>
                  <a:noFill/>
                </a:ln>
                <a:solidFill>
                  <a:srgbClr val="A00C30"/>
                </a:solidFill>
                <a:effectLst/>
                <a:uLnTx/>
                <a:uFillTx/>
                <a:latin typeface="Arial"/>
                <a:cs typeface="Arial"/>
                <a:sym typeface="Arial"/>
              </a:endParaRPr>
            </a:p>
          </p:txBody>
        </p:sp>
        <p:sp>
          <p:nvSpPr>
            <p:cNvPr id="381" name="Google Shape;381;p41"/>
            <p:cNvSpPr txBox="1"/>
            <p:nvPr/>
          </p:nvSpPr>
          <p:spPr>
            <a:xfrm>
              <a:off x="4700400" y="5788350"/>
              <a:ext cx="2433600" cy="5541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a:ln>
                    <a:noFill/>
                  </a:ln>
                  <a:solidFill>
                    <a:srgbClr val="0F2044"/>
                  </a:solidFill>
                  <a:effectLst/>
                  <a:uLnTx/>
                  <a:uFillTx/>
                  <a:latin typeface="Arial"/>
                  <a:cs typeface="Arial"/>
                  <a:sym typeface="Arial"/>
                </a:rPr>
                <a:t>critical section</a:t>
              </a:r>
              <a:endParaRPr kumimoji="0" sz="2400" b="1" i="0" u="none" strike="noStrike" kern="0" cap="none" spc="0" normalizeH="0" baseline="0" noProof="0">
                <a:ln>
                  <a:noFill/>
                </a:ln>
                <a:solidFill>
                  <a:srgbClr val="0F2044"/>
                </a:solidFill>
                <a:effectLst/>
                <a:uLnTx/>
                <a:uFillTx/>
                <a:latin typeface="Arial"/>
                <a:cs typeface="Arial"/>
                <a:sym typeface="Arial"/>
              </a:endParaRPr>
            </a:p>
          </p:txBody>
        </p:sp>
        <p:pic>
          <p:nvPicPr>
            <p:cNvPr id="382" name="Google Shape;382;p41"/>
            <p:cNvPicPr preferRelativeResize="0"/>
            <p:nvPr/>
          </p:nvPicPr>
          <p:blipFill rotWithShape="1">
            <a:blip r:embed="rId3">
              <a:alphaModFix/>
            </a:blip>
            <a:srcRect b="3091"/>
            <a:stretch/>
          </p:blipFill>
          <p:spPr>
            <a:xfrm>
              <a:off x="1559925" y="3225500"/>
              <a:ext cx="2389050" cy="2432975"/>
            </a:xfrm>
            <a:prstGeom prst="rect">
              <a:avLst/>
            </a:prstGeom>
            <a:noFill/>
            <a:ln>
              <a:noFill/>
            </a:ln>
          </p:spPr>
        </p:pic>
        <p:sp>
          <p:nvSpPr>
            <p:cNvPr id="383" name="Google Shape;383;p41"/>
            <p:cNvSpPr/>
            <p:nvPr/>
          </p:nvSpPr>
          <p:spPr>
            <a:xfrm>
              <a:off x="8896200" y="5736050"/>
              <a:ext cx="387300" cy="554100"/>
            </a:xfrm>
            <a:prstGeom prst="upArrow">
              <a:avLst>
                <a:gd name="adj1" fmla="val 50000"/>
                <a:gd name="adj2" fmla="val 50000"/>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384" name="Google Shape;384;p41"/>
            <p:cNvPicPr preferRelativeResize="0"/>
            <p:nvPr/>
          </p:nvPicPr>
          <p:blipFill>
            <a:blip r:embed="rId4">
              <a:alphaModFix/>
            </a:blip>
            <a:stretch>
              <a:fillRect/>
            </a:stretch>
          </p:blipFill>
          <p:spPr>
            <a:xfrm>
              <a:off x="7895324" y="3099743"/>
              <a:ext cx="2389050" cy="2495207"/>
            </a:xfrm>
            <a:prstGeom prst="rect">
              <a:avLst/>
            </a:prstGeom>
            <a:noFill/>
            <a:ln>
              <a:noFill/>
            </a:ln>
          </p:spPr>
        </p:pic>
        <p:pic>
          <p:nvPicPr>
            <p:cNvPr id="385" name="Google Shape;385;p41"/>
            <p:cNvPicPr preferRelativeResize="0"/>
            <p:nvPr/>
          </p:nvPicPr>
          <p:blipFill>
            <a:blip r:embed="rId5">
              <a:alphaModFix/>
            </a:blip>
            <a:stretch>
              <a:fillRect/>
            </a:stretch>
          </p:blipFill>
          <p:spPr>
            <a:xfrm>
              <a:off x="10460100" y="3378225"/>
              <a:ext cx="901025" cy="895918"/>
            </a:xfrm>
            <a:prstGeom prst="rect">
              <a:avLst/>
            </a:prstGeom>
            <a:noFill/>
            <a:ln>
              <a:noFill/>
            </a:ln>
          </p:spPr>
        </p:pic>
        <p:pic>
          <p:nvPicPr>
            <p:cNvPr id="386" name="Google Shape;386;p41"/>
            <p:cNvPicPr preferRelativeResize="0"/>
            <p:nvPr/>
          </p:nvPicPr>
          <p:blipFill>
            <a:blip r:embed="rId5">
              <a:alphaModFix/>
            </a:blip>
            <a:stretch>
              <a:fillRect/>
            </a:stretch>
          </p:blipFill>
          <p:spPr>
            <a:xfrm>
              <a:off x="592525" y="3378225"/>
              <a:ext cx="901025" cy="895918"/>
            </a:xfrm>
            <a:prstGeom prst="rect">
              <a:avLst/>
            </a:prstGeom>
            <a:noFill/>
            <a:ln>
              <a:noFill/>
            </a:ln>
          </p:spPr>
        </p:pic>
        <p:sp>
          <p:nvSpPr>
            <p:cNvPr id="387" name="Google Shape;387;p41"/>
            <p:cNvSpPr txBox="1"/>
            <p:nvPr/>
          </p:nvSpPr>
          <p:spPr>
            <a:xfrm>
              <a:off x="378075" y="4283975"/>
              <a:ext cx="1482300" cy="4926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a:ln>
                    <a:noFill/>
                  </a:ln>
                  <a:solidFill>
                    <a:srgbClr val="A00C30"/>
                  </a:solidFill>
                  <a:effectLst/>
                  <a:uLnTx/>
                  <a:uFillTx/>
                  <a:latin typeface="Arial"/>
                  <a:cs typeface="Arial"/>
                  <a:sym typeface="Arial"/>
                </a:rPr>
                <a:t>turn it off</a:t>
              </a:r>
              <a:endParaRPr kumimoji="0" sz="2000" b="1" i="0" u="none" strike="noStrike" kern="0" cap="none" spc="0" normalizeH="0" baseline="0" noProof="0">
                <a:ln>
                  <a:noFill/>
                </a:ln>
                <a:solidFill>
                  <a:srgbClr val="A00C30"/>
                </a:solidFill>
                <a:effectLst/>
                <a:uLnTx/>
                <a:uFillTx/>
                <a:latin typeface="Arial"/>
                <a:cs typeface="Arial"/>
                <a:sym typeface="Arial"/>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3" name="Google Shape;393;p42"/>
          <p:cNvSpPr txBox="1">
            <a:spLocks noGrp="1"/>
          </p:cNvSpPr>
          <p:nvPr>
            <p:ph type="ctrTitle"/>
          </p:nvPr>
        </p:nvSpPr>
        <p:spPr>
          <a:xfrm>
            <a:off x="337350" y="1176316"/>
            <a:ext cx="9144000" cy="6960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2"/>
              </a:buClr>
              <a:buSzPts val="6000"/>
              <a:buFont typeface="Georgia"/>
              <a:buNone/>
            </a:pPr>
            <a:r>
              <a:rPr lang="en-US" sz="2500"/>
              <a:t>Understanding Race Condition</a:t>
            </a:r>
            <a:endParaRPr sz="1800"/>
          </a:p>
        </p:txBody>
      </p:sp>
      <p:sp>
        <p:nvSpPr>
          <p:cNvPr id="394" name="Google Shape;394;p42"/>
          <p:cNvSpPr txBox="1"/>
          <p:nvPr/>
        </p:nvSpPr>
        <p:spPr>
          <a:xfrm>
            <a:off x="337350" y="2013150"/>
            <a:ext cx="11365500" cy="12468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300" b="0" i="0" u="none" strike="noStrike" kern="0" cap="none" spc="0" normalizeH="0" baseline="0" noProof="0">
                <a:ln>
                  <a:noFill/>
                </a:ln>
                <a:solidFill>
                  <a:srgbClr val="0F2044"/>
                </a:solidFill>
                <a:effectLst/>
                <a:uLnTx/>
                <a:uFillTx/>
                <a:latin typeface="Arial"/>
                <a:cs typeface="Arial"/>
                <a:sym typeface="Arial"/>
              </a:rPr>
              <a:t>If both program wants to enter the critical section, both program will turn on their signal lights, but no program is allowed to enter when the other program’s signal light is on.</a:t>
            </a:r>
            <a:endParaRPr kumimoji="0" sz="2300" b="0" i="0" u="none" strike="noStrike" kern="0" cap="none" spc="0" normalizeH="0" baseline="0" noProof="0">
              <a:ln>
                <a:noFill/>
              </a:ln>
              <a:solidFill>
                <a:srgbClr val="0F2044"/>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300" b="0" i="0" u="none" strike="noStrike" kern="0" cap="none" spc="0" normalizeH="0" baseline="0" noProof="0">
              <a:ln>
                <a:noFill/>
              </a:ln>
              <a:solidFill>
                <a:srgbClr val="0F2044"/>
              </a:solidFill>
              <a:effectLst/>
              <a:uLnTx/>
              <a:uFillTx/>
              <a:latin typeface="Arial"/>
              <a:cs typeface="Arial"/>
              <a:sym typeface="Arial"/>
            </a:endParaRPr>
          </a:p>
        </p:txBody>
      </p:sp>
      <p:grpSp>
        <p:nvGrpSpPr>
          <p:cNvPr id="2" name="Group 1" descr="Both robots signal lights are on. Both say: Can't enter, the other signal light is on.&#10;">
            <a:extLst>
              <a:ext uri="{FF2B5EF4-FFF2-40B4-BE49-F238E27FC236}">
                <a16:creationId xmlns:a16="http://schemas.microsoft.com/office/drawing/2014/main" id="{21CAC2FB-1181-5018-ECB4-EC6A8A178D99}"/>
              </a:ext>
            </a:extLst>
          </p:cNvPr>
          <p:cNvGrpSpPr/>
          <p:nvPr/>
        </p:nvGrpSpPr>
        <p:grpSpPr>
          <a:xfrm>
            <a:off x="82951" y="3099743"/>
            <a:ext cx="11727884" cy="3559125"/>
            <a:chOff x="82951" y="3099743"/>
            <a:chExt cx="11727884" cy="3559125"/>
          </a:xfrm>
        </p:grpSpPr>
        <p:sp>
          <p:nvSpPr>
            <p:cNvPr id="392" name="Google Shape;392;p42"/>
            <p:cNvSpPr/>
            <p:nvPr/>
          </p:nvSpPr>
          <p:spPr>
            <a:xfrm>
              <a:off x="4114800" y="3240950"/>
              <a:ext cx="3604800" cy="2495100"/>
            </a:xfrm>
            <a:prstGeom prst="rect">
              <a:avLst/>
            </a:prstGeom>
            <a:noFill/>
            <a:ln w="3810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5" name="Google Shape;395;p42"/>
            <p:cNvSpPr/>
            <p:nvPr/>
          </p:nvSpPr>
          <p:spPr>
            <a:xfrm>
              <a:off x="4578150" y="3549450"/>
              <a:ext cx="2688000" cy="1747800"/>
            </a:xfrm>
            <a:prstGeom prst="rect">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a:ln>
                    <a:noFill/>
                  </a:ln>
                  <a:solidFill>
                    <a:srgbClr val="A00C30"/>
                  </a:solidFill>
                  <a:effectLst/>
                  <a:uLnTx/>
                  <a:uFillTx/>
                  <a:latin typeface="Arial"/>
                  <a:cs typeface="Arial"/>
                  <a:sym typeface="Arial"/>
                </a:rPr>
                <a:t>6</a:t>
              </a:r>
              <a:endParaRPr kumimoji="0" sz="2800" b="1" i="0" u="none" strike="noStrike" kern="0" cap="none" spc="0" normalizeH="0" baseline="0" noProof="0">
                <a:ln>
                  <a:noFill/>
                </a:ln>
                <a:solidFill>
                  <a:srgbClr val="A00C30"/>
                </a:solidFill>
                <a:effectLst/>
                <a:uLnTx/>
                <a:uFillTx/>
                <a:latin typeface="Arial"/>
                <a:cs typeface="Arial"/>
                <a:sym typeface="Arial"/>
              </a:endParaRPr>
            </a:p>
          </p:txBody>
        </p:sp>
        <p:sp>
          <p:nvSpPr>
            <p:cNvPr id="396" name="Google Shape;396;p42"/>
            <p:cNvSpPr txBox="1"/>
            <p:nvPr/>
          </p:nvSpPr>
          <p:spPr>
            <a:xfrm>
              <a:off x="4700400" y="5788350"/>
              <a:ext cx="2433600" cy="5541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a:ln>
                    <a:noFill/>
                  </a:ln>
                  <a:solidFill>
                    <a:srgbClr val="0F2044"/>
                  </a:solidFill>
                  <a:effectLst/>
                  <a:uLnTx/>
                  <a:uFillTx/>
                  <a:latin typeface="Arial"/>
                  <a:cs typeface="Arial"/>
                  <a:sym typeface="Arial"/>
                </a:rPr>
                <a:t>critical section</a:t>
              </a:r>
              <a:endParaRPr kumimoji="0" sz="2400" b="1" i="0" u="none" strike="noStrike" kern="0" cap="none" spc="0" normalizeH="0" baseline="0" noProof="0">
                <a:ln>
                  <a:noFill/>
                </a:ln>
                <a:solidFill>
                  <a:srgbClr val="0F2044"/>
                </a:solidFill>
                <a:effectLst/>
                <a:uLnTx/>
                <a:uFillTx/>
                <a:latin typeface="Arial"/>
                <a:cs typeface="Arial"/>
                <a:sym typeface="Arial"/>
              </a:endParaRPr>
            </a:p>
          </p:txBody>
        </p:sp>
        <p:pic>
          <p:nvPicPr>
            <p:cNvPr id="397" name="Google Shape;397;p42"/>
            <p:cNvPicPr preferRelativeResize="0"/>
            <p:nvPr/>
          </p:nvPicPr>
          <p:blipFill rotWithShape="1">
            <a:blip r:embed="rId3">
              <a:alphaModFix/>
            </a:blip>
            <a:srcRect b="3091"/>
            <a:stretch/>
          </p:blipFill>
          <p:spPr>
            <a:xfrm>
              <a:off x="1559925" y="3225500"/>
              <a:ext cx="2389050" cy="2432975"/>
            </a:xfrm>
            <a:prstGeom prst="rect">
              <a:avLst/>
            </a:prstGeom>
            <a:noFill/>
            <a:ln>
              <a:noFill/>
            </a:ln>
          </p:spPr>
        </p:pic>
        <p:sp>
          <p:nvSpPr>
            <p:cNvPr id="398" name="Google Shape;398;p42"/>
            <p:cNvSpPr/>
            <p:nvPr/>
          </p:nvSpPr>
          <p:spPr>
            <a:xfrm>
              <a:off x="8896200" y="5736050"/>
              <a:ext cx="387300" cy="554100"/>
            </a:xfrm>
            <a:prstGeom prst="upArrow">
              <a:avLst>
                <a:gd name="adj1" fmla="val 50000"/>
                <a:gd name="adj2" fmla="val 50000"/>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399" name="Google Shape;399;p42"/>
            <p:cNvPicPr preferRelativeResize="0"/>
            <p:nvPr/>
          </p:nvPicPr>
          <p:blipFill>
            <a:blip r:embed="rId4">
              <a:alphaModFix/>
            </a:blip>
            <a:stretch>
              <a:fillRect/>
            </a:stretch>
          </p:blipFill>
          <p:spPr>
            <a:xfrm>
              <a:off x="7895324" y="3099743"/>
              <a:ext cx="2389050" cy="2495207"/>
            </a:xfrm>
            <a:prstGeom prst="rect">
              <a:avLst/>
            </a:prstGeom>
            <a:noFill/>
            <a:ln>
              <a:noFill/>
            </a:ln>
          </p:spPr>
        </p:pic>
        <p:pic>
          <p:nvPicPr>
            <p:cNvPr id="400" name="Google Shape;400;p42"/>
            <p:cNvPicPr preferRelativeResize="0"/>
            <p:nvPr/>
          </p:nvPicPr>
          <p:blipFill>
            <a:blip r:embed="rId5">
              <a:alphaModFix/>
            </a:blip>
            <a:stretch>
              <a:fillRect/>
            </a:stretch>
          </p:blipFill>
          <p:spPr>
            <a:xfrm>
              <a:off x="559050" y="3307325"/>
              <a:ext cx="901025" cy="966825"/>
            </a:xfrm>
            <a:prstGeom prst="rect">
              <a:avLst/>
            </a:prstGeom>
            <a:noFill/>
            <a:ln>
              <a:noFill/>
            </a:ln>
          </p:spPr>
        </p:pic>
        <p:pic>
          <p:nvPicPr>
            <p:cNvPr id="401" name="Google Shape;401;p42"/>
            <p:cNvPicPr preferRelativeResize="0"/>
            <p:nvPr/>
          </p:nvPicPr>
          <p:blipFill>
            <a:blip r:embed="rId5">
              <a:alphaModFix/>
            </a:blip>
            <a:stretch>
              <a:fillRect/>
            </a:stretch>
          </p:blipFill>
          <p:spPr>
            <a:xfrm>
              <a:off x="10450525" y="3317150"/>
              <a:ext cx="901025" cy="966825"/>
            </a:xfrm>
            <a:prstGeom prst="rect">
              <a:avLst/>
            </a:prstGeom>
            <a:noFill/>
            <a:ln>
              <a:noFill/>
            </a:ln>
          </p:spPr>
        </p:pic>
        <p:sp>
          <p:nvSpPr>
            <p:cNvPr id="402" name="Google Shape;402;p42"/>
            <p:cNvSpPr/>
            <p:nvPr/>
          </p:nvSpPr>
          <p:spPr>
            <a:xfrm>
              <a:off x="82951" y="4988648"/>
              <a:ext cx="1819584" cy="1670220"/>
            </a:xfrm>
            <a:prstGeom prst="cloud">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Arial"/>
                  <a:cs typeface="Arial"/>
                  <a:sym typeface="Arial"/>
                </a:rPr>
                <a:t>Can’t enter, the other signal light is on.</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3" name="Google Shape;403;p42"/>
            <p:cNvSpPr/>
            <p:nvPr/>
          </p:nvSpPr>
          <p:spPr>
            <a:xfrm>
              <a:off x="9991251" y="4988648"/>
              <a:ext cx="1819584" cy="1670220"/>
            </a:xfrm>
            <a:prstGeom prst="cloud">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Arial"/>
                  <a:cs typeface="Arial"/>
                  <a:sym typeface="Arial"/>
                </a:rPr>
                <a:t>Can’t enter, the other signal light is on.</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9" name="Google Shape;409;p43"/>
          <p:cNvSpPr txBox="1">
            <a:spLocks noGrp="1"/>
          </p:cNvSpPr>
          <p:nvPr>
            <p:ph type="ctrTitle"/>
          </p:nvPr>
        </p:nvSpPr>
        <p:spPr>
          <a:xfrm>
            <a:off x="337350" y="1176316"/>
            <a:ext cx="9144000" cy="696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2"/>
              </a:buClr>
              <a:buSzPts val="6000"/>
              <a:buFont typeface="Georgia"/>
              <a:buNone/>
            </a:pPr>
            <a:r>
              <a:rPr lang="en-US" sz="2500">
                <a:solidFill>
                  <a:srgbClr val="000000"/>
                </a:solidFill>
              </a:rPr>
              <a:t>Understanding Race Condition</a:t>
            </a:r>
            <a:endParaRPr sz="2500">
              <a:solidFill>
                <a:srgbClr val="000000"/>
              </a:solidFill>
            </a:endParaRPr>
          </a:p>
          <a:p>
            <a:pPr marL="0" lvl="0" indent="0" algn="l" rtl="0">
              <a:lnSpc>
                <a:spcPct val="100000"/>
              </a:lnSpc>
              <a:spcBef>
                <a:spcPts val="0"/>
              </a:spcBef>
              <a:spcAft>
                <a:spcPts val="0"/>
              </a:spcAft>
              <a:buClr>
                <a:schemeClr val="dk2"/>
              </a:buClr>
              <a:buSzPts val="6000"/>
              <a:buFont typeface="Georgia"/>
              <a:buNone/>
            </a:pPr>
            <a:r>
              <a:rPr lang="en-US" sz="1800">
                <a:solidFill>
                  <a:srgbClr val="000000"/>
                </a:solidFill>
                <a:latin typeface="Arial"/>
                <a:ea typeface="Arial"/>
                <a:cs typeface="Arial"/>
                <a:sym typeface="Arial"/>
              </a:rPr>
              <a:t>Deadlocks</a:t>
            </a:r>
            <a:endParaRPr sz="2500"/>
          </a:p>
        </p:txBody>
      </p:sp>
      <p:sp>
        <p:nvSpPr>
          <p:cNvPr id="410" name="Google Shape;410;p43"/>
          <p:cNvSpPr txBox="1"/>
          <p:nvPr/>
        </p:nvSpPr>
        <p:spPr>
          <a:xfrm>
            <a:off x="337350" y="2013150"/>
            <a:ext cx="11365500" cy="12468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300" b="0" i="0" u="none" strike="noStrike" kern="0" cap="none" spc="0" normalizeH="0" baseline="0" noProof="0" dirty="0">
                <a:ln>
                  <a:noFill/>
                </a:ln>
                <a:solidFill>
                  <a:srgbClr val="0F2044"/>
                </a:solidFill>
                <a:effectLst/>
                <a:uLnTx/>
                <a:uFillTx/>
                <a:latin typeface="Arial"/>
                <a:cs typeface="Arial"/>
                <a:sym typeface="Arial"/>
              </a:rPr>
              <a:t>Both programs are now stuck in a </a:t>
            </a:r>
            <a:r>
              <a:rPr kumimoji="0" lang="en-US" sz="2300" b="1" i="0" u="none" strike="noStrike" kern="0" cap="none" spc="0" normalizeH="0" baseline="0" noProof="0" dirty="0">
                <a:ln>
                  <a:noFill/>
                </a:ln>
                <a:solidFill>
                  <a:srgbClr val="A00C30"/>
                </a:solidFill>
                <a:effectLst/>
                <a:uLnTx/>
                <a:uFillTx/>
                <a:latin typeface="Arial"/>
                <a:cs typeface="Arial"/>
                <a:sym typeface="Arial"/>
              </a:rPr>
              <a:t>deadlock</a:t>
            </a:r>
            <a:r>
              <a:rPr kumimoji="0" lang="en-US" sz="2300" b="0" i="0" u="none" strike="noStrike" kern="0" cap="none" spc="0" normalizeH="0" baseline="0" noProof="0" dirty="0">
                <a:ln>
                  <a:noFill/>
                </a:ln>
                <a:solidFill>
                  <a:srgbClr val="0F2044"/>
                </a:solidFill>
                <a:effectLst/>
                <a:uLnTx/>
                <a:uFillTx/>
                <a:latin typeface="Arial"/>
                <a:cs typeface="Arial"/>
                <a:sym typeface="Arial"/>
              </a:rPr>
              <a:t>. Both programs are left waiting forever for the other program’s light to turn off, but neither light ever turns off. </a:t>
            </a:r>
            <a:endParaRPr kumimoji="0" sz="2300" b="0" i="0" u="none" strike="noStrike" kern="0" cap="none" spc="0" normalizeH="0" baseline="0" noProof="0" dirty="0">
              <a:ln>
                <a:noFill/>
              </a:ln>
              <a:solidFill>
                <a:srgbClr val="0F2044"/>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300" b="0" i="0" u="none" strike="noStrike" kern="0" cap="none" spc="0" normalizeH="0" baseline="0" noProof="0" dirty="0">
              <a:ln>
                <a:noFill/>
              </a:ln>
              <a:solidFill>
                <a:srgbClr val="0F2044"/>
              </a:solidFill>
              <a:effectLst/>
              <a:uLnTx/>
              <a:uFillTx/>
              <a:latin typeface="Arial"/>
              <a:cs typeface="Arial"/>
              <a:sym typeface="Arial"/>
            </a:endParaRPr>
          </a:p>
        </p:txBody>
      </p:sp>
      <p:grpSp>
        <p:nvGrpSpPr>
          <p:cNvPr id="2" name="Group 1" descr="The central text &quot;DEADLOCK!&quot; appears. Both programs remain stuck outside the critical section because they are waiting for the other's signal light to turn off, which will never happen.">
            <a:extLst>
              <a:ext uri="{FF2B5EF4-FFF2-40B4-BE49-F238E27FC236}">
                <a16:creationId xmlns:a16="http://schemas.microsoft.com/office/drawing/2014/main" id="{37648616-BC99-7685-86F8-47149FFF7A97}"/>
              </a:ext>
            </a:extLst>
          </p:cNvPr>
          <p:cNvGrpSpPr/>
          <p:nvPr/>
        </p:nvGrpSpPr>
        <p:grpSpPr>
          <a:xfrm>
            <a:off x="82951" y="3099743"/>
            <a:ext cx="11727884" cy="3559125"/>
            <a:chOff x="82951" y="3099743"/>
            <a:chExt cx="11727884" cy="3559125"/>
          </a:xfrm>
        </p:grpSpPr>
        <p:sp>
          <p:nvSpPr>
            <p:cNvPr id="408" name="Google Shape;408;p43"/>
            <p:cNvSpPr/>
            <p:nvPr/>
          </p:nvSpPr>
          <p:spPr>
            <a:xfrm>
              <a:off x="4114800" y="3240950"/>
              <a:ext cx="3604800" cy="2495100"/>
            </a:xfrm>
            <a:prstGeom prst="rect">
              <a:avLst/>
            </a:prstGeom>
            <a:noFill/>
            <a:ln w="3810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1" name="Google Shape;411;p43"/>
            <p:cNvSpPr/>
            <p:nvPr/>
          </p:nvSpPr>
          <p:spPr>
            <a:xfrm>
              <a:off x="4578150" y="3549450"/>
              <a:ext cx="2688000" cy="1747800"/>
            </a:xfrm>
            <a:prstGeom prst="rect">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a:ln>
                    <a:noFill/>
                  </a:ln>
                  <a:solidFill>
                    <a:srgbClr val="A00C30"/>
                  </a:solidFill>
                  <a:effectLst/>
                  <a:uLnTx/>
                  <a:uFillTx/>
                  <a:latin typeface="Arial"/>
                  <a:cs typeface="Arial"/>
                  <a:sym typeface="Arial"/>
                </a:rPr>
                <a:t>6</a:t>
              </a:r>
              <a:endParaRPr kumimoji="0" sz="2800" b="1" i="0" u="none" strike="noStrike" kern="0" cap="none" spc="0" normalizeH="0" baseline="0" noProof="0">
                <a:ln>
                  <a:noFill/>
                </a:ln>
                <a:solidFill>
                  <a:srgbClr val="A00C30"/>
                </a:solidFill>
                <a:effectLst/>
                <a:uLnTx/>
                <a:uFillTx/>
                <a:latin typeface="Arial"/>
                <a:cs typeface="Arial"/>
                <a:sym typeface="Arial"/>
              </a:endParaRPr>
            </a:p>
          </p:txBody>
        </p:sp>
        <p:sp>
          <p:nvSpPr>
            <p:cNvPr id="412" name="Google Shape;412;p43"/>
            <p:cNvSpPr txBox="1"/>
            <p:nvPr/>
          </p:nvSpPr>
          <p:spPr>
            <a:xfrm>
              <a:off x="4700400" y="5788350"/>
              <a:ext cx="2433600" cy="5541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a:ln>
                    <a:noFill/>
                  </a:ln>
                  <a:solidFill>
                    <a:srgbClr val="0F2044"/>
                  </a:solidFill>
                  <a:effectLst/>
                  <a:uLnTx/>
                  <a:uFillTx/>
                  <a:latin typeface="Arial"/>
                  <a:cs typeface="Arial"/>
                  <a:sym typeface="Arial"/>
                </a:rPr>
                <a:t>critical section</a:t>
              </a:r>
              <a:endParaRPr kumimoji="0" sz="2400" b="1" i="0" u="none" strike="noStrike" kern="0" cap="none" spc="0" normalizeH="0" baseline="0" noProof="0">
                <a:ln>
                  <a:noFill/>
                </a:ln>
                <a:solidFill>
                  <a:srgbClr val="0F2044"/>
                </a:solidFill>
                <a:effectLst/>
                <a:uLnTx/>
                <a:uFillTx/>
                <a:latin typeface="Arial"/>
                <a:cs typeface="Arial"/>
                <a:sym typeface="Arial"/>
              </a:endParaRPr>
            </a:p>
          </p:txBody>
        </p:sp>
        <p:pic>
          <p:nvPicPr>
            <p:cNvPr id="413" name="Google Shape;413;p43"/>
            <p:cNvPicPr preferRelativeResize="0"/>
            <p:nvPr/>
          </p:nvPicPr>
          <p:blipFill rotWithShape="1">
            <a:blip r:embed="rId3">
              <a:alphaModFix/>
            </a:blip>
            <a:srcRect b="3091"/>
            <a:stretch/>
          </p:blipFill>
          <p:spPr>
            <a:xfrm>
              <a:off x="1559925" y="3225500"/>
              <a:ext cx="2389050" cy="2432975"/>
            </a:xfrm>
            <a:prstGeom prst="rect">
              <a:avLst/>
            </a:prstGeom>
            <a:noFill/>
            <a:ln>
              <a:noFill/>
            </a:ln>
          </p:spPr>
        </p:pic>
        <p:sp>
          <p:nvSpPr>
            <p:cNvPr id="414" name="Google Shape;414;p43"/>
            <p:cNvSpPr/>
            <p:nvPr/>
          </p:nvSpPr>
          <p:spPr>
            <a:xfrm>
              <a:off x="8896200" y="5736050"/>
              <a:ext cx="387300" cy="554100"/>
            </a:xfrm>
            <a:prstGeom prst="upArrow">
              <a:avLst>
                <a:gd name="adj1" fmla="val 50000"/>
                <a:gd name="adj2" fmla="val 50000"/>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415" name="Google Shape;415;p43"/>
            <p:cNvPicPr preferRelativeResize="0"/>
            <p:nvPr/>
          </p:nvPicPr>
          <p:blipFill>
            <a:blip r:embed="rId4">
              <a:alphaModFix/>
            </a:blip>
            <a:stretch>
              <a:fillRect/>
            </a:stretch>
          </p:blipFill>
          <p:spPr>
            <a:xfrm>
              <a:off x="7895324" y="3099743"/>
              <a:ext cx="2389050" cy="2495207"/>
            </a:xfrm>
            <a:prstGeom prst="rect">
              <a:avLst/>
            </a:prstGeom>
            <a:noFill/>
            <a:ln>
              <a:noFill/>
            </a:ln>
          </p:spPr>
        </p:pic>
        <p:pic>
          <p:nvPicPr>
            <p:cNvPr id="416" name="Google Shape;416;p43"/>
            <p:cNvPicPr preferRelativeResize="0"/>
            <p:nvPr/>
          </p:nvPicPr>
          <p:blipFill>
            <a:blip r:embed="rId5">
              <a:alphaModFix/>
            </a:blip>
            <a:stretch>
              <a:fillRect/>
            </a:stretch>
          </p:blipFill>
          <p:spPr>
            <a:xfrm>
              <a:off x="559050" y="3307325"/>
              <a:ext cx="901025" cy="966825"/>
            </a:xfrm>
            <a:prstGeom prst="rect">
              <a:avLst/>
            </a:prstGeom>
            <a:noFill/>
            <a:ln>
              <a:noFill/>
            </a:ln>
          </p:spPr>
        </p:pic>
        <p:pic>
          <p:nvPicPr>
            <p:cNvPr id="417" name="Google Shape;417;p43"/>
            <p:cNvPicPr preferRelativeResize="0"/>
            <p:nvPr/>
          </p:nvPicPr>
          <p:blipFill>
            <a:blip r:embed="rId5">
              <a:alphaModFix/>
            </a:blip>
            <a:stretch>
              <a:fillRect/>
            </a:stretch>
          </p:blipFill>
          <p:spPr>
            <a:xfrm>
              <a:off x="10450525" y="3317150"/>
              <a:ext cx="901025" cy="966825"/>
            </a:xfrm>
            <a:prstGeom prst="rect">
              <a:avLst/>
            </a:prstGeom>
            <a:noFill/>
            <a:ln>
              <a:noFill/>
            </a:ln>
          </p:spPr>
        </p:pic>
        <p:sp>
          <p:nvSpPr>
            <p:cNvPr id="418" name="Google Shape;418;p43"/>
            <p:cNvSpPr txBox="1"/>
            <p:nvPr/>
          </p:nvSpPr>
          <p:spPr>
            <a:xfrm>
              <a:off x="2227650" y="3516200"/>
              <a:ext cx="7455300" cy="1662300"/>
            </a:xfrm>
            <a:prstGeom prst="rect">
              <a:avLst/>
            </a:prstGeom>
            <a:solidFill>
              <a:schemeClr val="lt1"/>
            </a:solidFill>
            <a:ln w="38100" cap="flat" cmpd="sng">
              <a:solidFill>
                <a:schemeClr val="accent4"/>
              </a:solidFill>
              <a:prstDash val="solid"/>
              <a:round/>
              <a:headEnd type="none" w="sm" len="sm"/>
              <a:tailEnd type="none" w="sm" len="sm"/>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600" b="0" i="0" u="none" strike="noStrike" kern="0" cap="none" spc="0" normalizeH="0" baseline="0" noProof="0" dirty="0">
                  <a:ln>
                    <a:noFill/>
                  </a:ln>
                  <a:solidFill>
                    <a:srgbClr val="A00C30"/>
                  </a:solidFill>
                  <a:effectLst/>
                  <a:uLnTx/>
                  <a:uFillTx/>
                  <a:latin typeface="Arial"/>
                  <a:cs typeface="Arial"/>
                  <a:sym typeface="Arial"/>
                </a:rPr>
                <a:t>DEADLOCK!</a:t>
              </a:r>
              <a:endParaRPr kumimoji="0" sz="9600" b="0" i="0" u="none" strike="noStrike" kern="0" cap="none" spc="0" normalizeH="0" baseline="0" noProof="0" dirty="0">
                <a:ln>
                  <a:noFill/>
                </a:ln>
                <a:solidFill>
                  <a:srgbClr val="A00C30"/>
                </a:solidFill>
                <a:effectLst/>
                <a:uLnTx/>
                <a:uFillTx/>
                <a:latin typeface="Arial"/>
                <a:cs typeface="Arial"/>
                <a:sym typeface="Arial"/>
              </a:endParaRPr>
            </a:p>
          </p:txBody>
        </p:sp>
        <p:sp>
          <p:nvSpPr>
            <p:cNvPr id="419" name="Google Shape;419;p43"/>
            <p:cNvSpPr/>
            <p:nvPr/>
          </p:nvSpPr>
          <p:spPr>
            <a:xfrm>
              <a:off x="82951" y="4988648"/>
              <a:ext cx="1819584" cy="1670220"/>
            </a:xfrm>
            <a:prstGeom prst="cloud">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Arial"/>
                  <a:cs typeface="Arial"/>
                  <a:sym typeface="Arial"/>
                </a:rPr>
                <a:t>Can’t enter, the other signal light is on.</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20" name="Google Shape;420;p43"/>
            <p:cNvSpPr/>
            <p:nvPr/>
          </p:nvSpPr>
          <p:spPr>
            <a:xfrm>
              <a:off x="9991251" y="4988648"/>
              <a:ext cx="1819584" cy="1670220"/>
            </a:xfrm>
            <a:prstGeom prst="cloud">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Arial"/>
                  <a:cs typeface="Arial"/>
                  <a:sym typeface="Arial"/>
                </a:rPr>
                <a:t>Can’t enter, the other signal light is on.</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44"/>
          <p:cNvSpPr txBox="1">
            <a:spLocks noGrp="1"/>
          </p:cNvSpPr>
          <p:nvPr>
            <p:ph type="ctrTitle"/>
          </p:nvPr>
        </p:nvSpPr>
        <p:spPr>
          <a:xfrm>
            <a:off x="337350" y="1176316"/>
            <a:ext cx="9144000" cy="6960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2"/>
              </a:buClr>
              <a:buSzPts val="6000"/>
              <a:buFont typeface="Georgia"/>
              <a:buNone/>
            </a:pPr>
            <a:r>
              <a:rPr lang="en-US" sz="2500"/>
              <a:t>Understanding Race Condition</a:t>
            </a:r>
            <a:endParaRPr sz="2500"/>
          </a:p>
          <a:p>
            <a:pPr marL="0" lvl="0" indent="0" algn="l" rtl="0">
              <a:spcBef>
                <a:spcPts val="0"/>
              </a:spcBef>
              <a:spcAft>
                <a:spcPts val="0"/>
              </a:spcAft>
              <a:buClr>
                <a:schemeClr val="dk2"/>
              </a:buClr>
              <a:buSzPts val="6000"/>
              <a:buFont typeface="Georgia"/>
              <a:buNone/>
            </a:pPr>
            <a:r>
              <a:rPr lang="en-US" sz="1800"/>
              <a:t>Deadlocks</a:t>
            </a:r>
            <a:endParaRPr sz="1800"/>
          </a:p>
        </p:txBody>
      </p:sp>
      <p:pic>
        <p:nvPicPr>
          <p:cNvPr id="426" name="Google Shape;426;p44" descr="A technical diagram of a deadlock condition. Thread 1 holds a lock for Resource R1 and waits for R2, while Thread 2 holds a lock for Resource R2 and waits for R1, creating a circular dependency where neither can proceed."/>
          <p:cNvPicPr preferRelativeResize="0"/>
          <p:nvPr/>
        </p:nvPicPr>
        <p:blipFill>
          <a:blip r:embed="rId3">
            <a:alphaModFix/>
          </a:blip>
          <a:stretch>
            <a:fillRect/>
          </a:stretch>
        </p:blipFill>
        <p:spPr>
          <a:xfrm>
            <a:off x="417850" y="2076250"/>
            <a:ext cx="5837606" cy="3891738"/>
          </a:xfrm>
          <a:prstGeom prst="rect">
            <a:avLst/>
          </a:prstGeom>
          <a:noFill/>
          <a:ln>
            <a:noFill/>
          </a:ln>
        </p:spPr>
      </p:pic>
      <p:sp>
        <p:nvSpPr>
          <p:cNvPr id="427" name="Google Shape;427;p44">
            <a:extLst>
              <a:ext uri="{C183D7F6-B498-43B3-948B-1728B52AA6E4}">
                <adec:decorative xmlns:adec="http://schemas.microsoft.com/office/drawing/2017/decorative" val="1"/>
              </a:ext>
            </a:extLst>
          </p:cNvPr>
          <p:cNvSpPr txBox="1"/>
          <p:nvPr/>
        </p:nvSpPr>
        <p:spPr>
          <a:xfrm>
            <a:off x="2352650" y="5968000"/>
            <a:ext cx="2823900" cy="3078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800" b="0" i="0" u="none" strike="noStrike" kern="0" cap="none" spc="0" normalizeH="0" baseline="0" noProof="0">
                <a:ln>
                  <a:noFill/>
                </a:ln>
                <a:solidFill>
                  <a:srgbClr val="000000"/>
                </a:solidFill>
                <a:effectLst/>
                <a:uLnTx/>
                <a:uFillTx/>
                <a:latin typeface="Arial"/>
                <a:ea typeface="Arial"/>
                <a:cs typeface="Arial"/>
                <a:sym typeface="Arial"/>
              </a:rPr>
              <a:t>Image credit - </a:t>
            </a:r>
            <a:r>
              <a:rPr kumimoji="0" lang="en-US" sz="800" b="0" i="0" u="none" strike="noStrike" kern="0" cap="none" spc="0" normalizeH="0" baseline="0" noProof="0">
                <a:ln>
                  <a:noFill/>
                </a:ln>
                <a:solidFill>
                  <a:srgbClr val="000000"/>
                </a:solidFill>
                <a:effectLst/>
                <a:uLnTx/>
                <a:uFillTx/>
                <a:latin typeface="Arial"/>
                <a:cs typeface="Arial"/>
                <a:sym typeface="Arial"/>
              </a:rPr>
              <a:t>https://dip-mazumder.medium.com/</a:t>
            </a:r>
            <a:endParaRPr kumimoji="0" sz="800" b="1" i="0" u="none" strike="noStrike" kern="0" cap="none" spc="0" normalizeH="0" baseline="0" noProof="0">
              <a:ln>
                <a:noFill/>
              </a:ln>
              <a:solidFill>
                <a:srgbClr val="000000"/>
              </a:solidFill>
              <a:effectLst/>
              <a:uLnTx/>
              <a:uFillTx/>
              <a:latin typeface="Arial"/>
              <a:ea typeface="Arial"/>
              <a:cs typeface="Arial"/>
              <a:sym typeface="Arial"/>
            </a:endParaRPr>
          </a:p>
        </p:txBody>
      </p:sp>
      <p:pic>
        <p:nvPicPr>
          <p:cNvPr id="428" name="Google Shape;428;p44" descr="A humorous stick-figure illustration of deadlock. A cop holds a criminal's friend hostage, and a criminal holds a hostage, both refusing to release theirs until the other acts first. Text below maps the scenario to threads, resources, and locks."/>
          <p:cNvPicPr preferRelativeResize="0"/>
          <p:nvPr/>
        </p:nvPicPr>
        <p:blipFill>
          <a:blip r:embed="rId4">
            <a:alphaModFix/>
          </a:blip>
          <a:stretch>
            <a:fillRect/>
          </a:stretch>
        </p:blipFill>
        <p:spPr>
          <a:xfrm>
            <a:off x="6479450" y="1504841"/>
            <a:ext cx="5391454" cy="468088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4" name="Google Shape;434;p45"/>
          <p:cNvSpPr txBox="1">
            <a:spLocks noGrp="1"/>
          </p:cNvSpPr>
          <p:nvPr>
            <p:ph type="ctrTitle"/>
          </p:nvPr>
        </p:nvSpPr>
        <p:spPr>
          <a:xfrm>
            <a:off x="337350" y="1176316"/>
            <a:ext cx="9144000" cy="6960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2"/>
              </a:buClr>
              <a:buSzPts val="6000"/>
              <a:buFont typeface="Georgia"/>
              <a:buNone/>
            </a:pPr>
            <a:r>
              <a:rPr lang="en-US" sz="2500"/>
              <a:t>Understanding Race Condition</a:t>
            </a:r>
            <a:endParaRPr sz="1800"/>
          </a:p>
        </p:txBody>
      </p:sp>
      <p:sp>
        <p:nvSpPr>
          <p:cNvPr id="435" name="Google Shape;435;p45"/>
          <p:cNvSpPr txBox="1"/>
          <p:nvPr/>
        </p:nvSpPr>
        <p:spPr>
          <a:xfrm>
            <a:off x="337350" y="2013150"/>
            <a:ext cx="11365500" cy="8928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300" b="0" i="0" u="none" strike="noStrike" kern="0" cap="none" spc="0" normalizeH="0" baseline="0" noProof="0">
                <a:ln>
                  <a:noFill/>
                </a:ln>
                <a:solidFill>
                  <a:srgbClr val="0F2044"/>
                </a:solidFill>
                <a:effectLst/>
                <a:uLnTx/>
                <a:uFillTx/>
                <a:latin typeface="Arial"/>
                <a:cs typeface="Arial"/>
                <a:sym typeface="Arial"/>
              </a:rPr>
              <a:t>We can resolve the </a:t>
            </a:r>
            <a:r>
              <a:rPr kumimoji="0" lang="en-US" sz="2300" b="0" i="0" u="sng" strike="noStrike" kern="0" cap="none" spc="0" normalizeH="0" baseline="0" noProof="0">
                <a:ln>
                  <a:noFill/>
                </a:ln>
                <a:solidFill>
                  <a:srgbClr val="0F2044"/>
                </a:solidFill>
                <a:effectLst/>
                <a:uLnTx/>
                <a:uFillTx/>
                <a:latin typeface="Arial"/>
                <a:cs typeface="Arial"/>
                <a:sym typeface="Arial"/>
              </a:rPr>
              <a:t>deadlock</a:t>
            </a:r>
            <a:r>
              <a:rPr kumimoji="0" lang="en-US" sz="2300" b="0" i="0" u="none" strike="noStrike" kern="0" cap="none" spc="0" normalizeH="0" baseline="0" noProof="0">
                <a:ln>
                  <a:noFill/>
                </a:ln>
                <a:solidFill>
                  <a:srgbClr val="0F2044"/>
                </a:solidFill>
                <a:effectLst/>
                <a:uLnTx/>
                <a:uFillTx/>
                <a:latin typeface="Arial"/>
                <a:cs typeface="Arial"/>
                <a:sym typeface="Arial"/>
              </a:rPr>
              <a:t> by checking the turn indicator to decide who gets to enter the critical section.</a:t>
            </a:r>
            <a:endParaRPr kumimoji="0" sz="2300" b="0" i="0" u="none" strike="noStrike" kern="0" cap="none" spc="0" normalizeH="0" baseline="0" noProof="0">
              <a:ln>
                <a:noFill/>
              </a:ln>
              <a:solidFill>
                <a:srgbClr val="0F2044"/>
              </a:solidFill>
              <a:effectLst/>
              <a:uLnTx/>
              <a:uFillTx/>
              <a:latin typeface="Arial"/>
              <a:cs typeface="Arial"/>
              <a:sym typeface="Arial"/>
            </a:endParaRPr>
          </a:p>
        </p:txBody>
      </p:sp>
      <p:grpSp>
        <p:nvGrpSpPr>
          <p:cNvPr id="2" name="Group 1" descr="Both robots signal lights are on and it is robot 2's turn.&#10;">
            <a:extLst>
              <a:ext uri="{FF2B5EF4-FFF2-40B4-BE49-F238E27FC236}">
                <a16:creationId xmlns:a16="http://schemas.microsoft.com/office/drawing/2014/main" id="{F714C860-6091-F38B-D013-9B65C671FDD3}"/>
              </a:ext>
            </a:extLst>
          </p:cNvPr>
          <p:cNvGrpSpPr/>
          <p:nvPr/>
        </p:nvGrpSpPr>
        <p:grpSpPr>
          <a:xfrm>
            <a:off x="559050" y="3099743"/>
            <a:ext cx="10792500" cy="3242707"/>
            <a:chOff x="559050" y="3099743"/>
            <a:chExt cx="10792500" cy="3242707"/>
          </a:xfrm>
        </p:grpSpPr>
        <p:sp>
          <p:nvSpPr>
            <p:cNvPr id="433" name="Google Shape;433;p45"/>
            <p:cNvSpPr/>
            <p:nvPr/>
          </p:nvSpPr>
          <p:spPr>
            <a:xfrm>
              <a:off x="4114800" y="3240950"/>
              <a:ext cx="3604800" cy="2495100"/>
            </a:xfrm>
            <a:prstGeom prst="rect">
              <a:avLst/>
            </a:prstGeom>
            <a:noFill/>
            <a:ln w="3810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36" name="Google Shape;436;p45"/>
            <p:cNvSpPr/>
            <p:nvPr/>
          </p:nvSpPr>
          <p:spPr>
            <a:xfrm>
              <a:off x="4578150" y="3549450"/>
              <a:ext cx="2688000" cy="1747800"/>
            </a:xfrm>
            <a:prstGeom prst="rect">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a:ln>
                    <a:noFill/>
                  </a:ln>
                  <a:solidFill>
                    <a:srgbClr val="A00C30"/>
                  </a:solidFill>
                  <a:effectLst/>
                  <a:uLnTx/>
                  <a:uFillTx/>
                  <a:latin typeface="Arial"/>
                  <a:cs typeface="Arial"/>
                  <a:sym typeface="Arial"/>
                </a:rPr>
                <a:t>6</a:t>
              </a:r>
              <a:endParaRPr kumimoji="0" sz="2800" b="1" i="0" u="none" strike="noStrike" kern="0" cap="none" spc="0" normalizeH="0" baseline="0" noProof="0">
                <a:ln>
                  <a:noFill/>
                </a:ln>
                <a:solidFill>
                  <a:srgbClr val="A00C30"/>
                </a:solidFill>
                <a:effectLst/>
                <a:uLnTx/>
                <a:uFillTx/>
                <a:latin typeface="Arial"/>
                <a:cs typeface="Arial"/>
                <a:sym typeface="Arial"/>
              </a:endParaRPr>
            </a:p>
          </p:txBody>
        </p:sp>
        <p:sp>
          <p:nvSpPr>
            <p:cNvPr id="437" name="Google Shape;437;p45"/>
            <p:cNvSpPr txBox="1"/>
            <p:nvPr/>
          </p:nvSpPr>
          <p:spPr>
            <a:xfrm>
              <a:off x="4700400" y="5788350"/>
              <a:ext cx="2433600" cy="5541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a:ln>
                    <a:noFill/>
                  </a:ln>
                  <a:solidFill>
                    <a:srgbClr val="0F2044"/>
                  </a:solidFill>
                  <a:effectLst/>
                  <a:uLnTx/>
                  <a:uFillTx/>
                  <a:latin typeface="Arial"/>
                  <a:cs typeface="Arial"/>
                  <a:sym typeface="Arial"/>
                </a:rPr>
                <a:t>critical section</a:t>
              </a:r>
              <a:endParaRPr kumimoji="0" sz="2400" b="1" i="0" u="none" strike="noStrike" kern="0" cap="none" spc="0" normalizeH="0" baseline="0" noProof="0">
                <a:ln>
                  <a:noFill/>
                </a:ln>
                <a:solidFill>
                  <a:srgbClr val="0F2044"/>
                </a:solidFill>
                <a:effectLst/>
                <a:uLnTx/>
                <a:uFillTx/>
                <a:latin typeface="Arial"/>
                <a:cs typeface="Arial"/>
                <a:sym typeface="Arial"/>
              </a:endParaRPr>
            </a:p>
          </p:txBody>
        </p:sp>
        <p:pic>
          <p:nvPicPr>
            <p:cNvPr id="438" name="Google Shape;438;p45"/>
            <p:cNvPicPr preferRelativeResize="0"/>
            <p:nvPr/>
          </p:nvPicPr>
          <p:blipFill rotWithShape="1">
            <a:blip r:embed="rId3">
              <a:alphaModFix/>
            </a:blip>
            <a:srcRect b="3091"/>
            <a:stretch/>
          </p:blipFill>
          <p:spPr>
            <a:xfrm>
              <a:off x="1559925" y="3225500"/>
              <a:ext cx="2389050" cy="2432975"/>
            </a:xfrm>
            <a:prstGeom prst="rect">
              <a:avLst/>
            </a:prstGeom>
            <a:noFill/>
            <a:ln>
              <a:noFill/>
            </a:ln>
          </p:spPr>
        </p:pic>
        <p:sp>
          <p:nvSpPr>
            <p:cNvPr id="439" name="Google Shape;439;p45"/>
            <p:cNvSpPr/>
            <p:nvPr/>
          </p:nvSpPr>
          <p:spPr>
            <a:xfrm>
              <a:off x="8896200" y="5736050"/>
              <a:ext cx="387300" cy="554100"/>
            </a:xfrm>
            <a:prstGeom prst="upArrow">
              <a:avLst>
                <a:gd name="adj1" fmla="val 50000"/>
                <a:gd name="adj2" fmla="val 50000"/>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440" name="Google Shape;440;p45"/>
            <p:cNvPicPr preferRelativeResize="0"/>
            <p:nvPr/>
          </p:nvPicPr>
          <p:blipFill>
            <a:blip r:embed="rId4">
              <a:alphaModFix/>
            </a:blip>
            <a:stretch>
              <a:fillRect/>
            </a:stretch>
          </p:blipFill>
          <p:spPr>
            <a:xfrm>
              <a:off x="7895324" y="3099743"/>
              <a:ext cx="2389050" cy="2495207"/>
            </a:xfrm>
            <a:prstGeom prst="rect">
              <a:avLst/>
            </a:prstGeom>
            <a:noFill/>
            <a:ln>
              <a:noFill/>
            </a:ln>
          </p:spPr>
        </p:pic>
        <p:pic>
          <p:nvPicPr>
            <p:cNvPr id="441" name="Google Shape;441;p45"/>
            <p:cNvPicPr preferRelativeResize="0"/>
            <p:nvPr/>
          </p:nvPicPr>
          <p:blipFill>
            <a:blip r:embed="rId5">
              <a:alphaModFix/>
            </a:blip>
            <a:stretch>
              <a:fillRect/>
            </a:stretch>
          </p:blipFill>
          <p:spPr>
            <a:xfrm>
              <a:off x="559050" y="3307325"/>
              <a:ext cx="901025" cy="966825"/>
            </a:xfrm>
            <a:prstGeom prst="rect">
              <a:avLst/>
            </a:prstGeom>
            <a:noFill/>
            <a:ln>
              <a:noFill/>
            </a:ln>
          </p:spPr>
        </p:pic>
        <p:pic>
          <p:nvPicPr>
            <p:cNvPr id="442" name="Google Shape;442;p45"/>
            <p:cNvPicPr preferRelativeResize="0"/>
            <p:nvPr/>
          </p:nvPicPr>
          <p:blipFill>
            <a:blip r:embed="rId5">
              <a:alphaModFix/>
            </a:blip>
            <a:stretch>
              <a:fillRect/>
            </a:stretch>
          </p:blipFill>
          <p:spPr>
            <a:xfrm>
              <a:off x="10450525" y="3317150"/>
              <a:ext cx="901025" cy="966825"/>
            </a:xfrm>
            <a:prstGeom prst="rect">
              <a:avLst/>
            </a:prstGeom>
            <a:noFill/>
            <a:ln>
              <a:noFill/>
            </a:ln>
          </p:spPr>
        </p:pic>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8" name="Google Shape;448;p46"/>
          <p:cNvSpPr txBox="1">
            <a:spLocks noGrp="1"/>
          </p:cNvSpPr>
          <p:nvPr>
            <p:ph type="ctrTitle"/>
          </p:nvPr>
        </p:nvSpPr>
        <p:spPr>
          <a:xfrm>
            <a:off x="337350" y="1176316"/>
            <a:ext cx="9144000" cy="6960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2"/>
              </a:buClr>
              <a:buSzPts val="6000"/>
              <a:buFont typeface="Georgia"/>
              <a:buNone/>
            </a:pPr>
            <a:r>
              <a:rPr lang="en-US" sz="2500"/>
              <a:t>Understanding Race Condition</a:t>
            </a:r>
            <a:endParaRPr sz="1800"/>
          </a:p>
        </p:txBody>
      </p:sp>
      <p:sp>
        <p:nvSpPr>
          <p:cNvPr id="449" name="Google Shape;449;p46"/>
          <p:cNvSpPr txBox="1"/>
          <p:nvPr/>
        </p:nvSpPr>
        <p:spPr>
          <a:xfrm>
            <a:off x="337350" y="2013150"/>
            <a:ext cx="11365500" cy="12468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300" b="0" i="0" u="none" strike="noStrike" kern="0" cap="none" spc="0" normalizeH="0" baseline="0" noProof="0">
                <a:ln>
                  <a:noFill/>
                </a:ln>
                <a:solidFill>
                  <a:srgbClr val="0F2044"/>
                </a:solidFill>
                <a:effectLst/>
                <a:uLnTx/>
                <a:uFillTx/>
                <a:latin typeface="Arial"/>
                <a:cs typeface="Arial"/>
                <a:sym typeface="Arial"/>
              </a:rPr>
              <a:t>If we ever want to enter, and the other program’s signal light is on, we can check to see who’s turn it is. </a:t>
            </a:r>
            <a:endParaRPr kumimoji="0" sz="2300" b="0" i="0" u="none" strike="noStrike" kern="0" cap="none" spc="0" normalizeH="0" baseline="0" noProof="0">
              <a:ln>
                <a:noFill/>
              </a:ln>
              <a:solidFill>
                <a:srgbClr val="0F2044"/>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300" b="0" i="0" u="none" strike="noStrike" kern="0" cap="none" spc="0" normalizeH="0" baseline="0" noProof="0">
              <a:ln>
                <a:noFill/>
              </a:ln>
              <a:solidFill>
                <a:srgbClr val="0F2044"/>
              </a:solidFill>
              <a:effectLst/>
              <a:uLnTx/>
              <a:uFillTx/>
              <a:latin typeface="Arial"/>
              <a:cs typeface="Arial"/>
              <a:sym typeface="Arial"/>
            </a:endParaRPr>
          </a:p>
        </p:txBody>
      </p:sp>
      <p:grpSp>
        <p:nvGrpSpPr>
          <p:cNvPr id="2" name="Group 1" descr="Robot 1: Not my turn!">
            <a:extLst>
              <a:ext uri="{FF2B5EF4-FFF2-40B4-BE49-F238E27FC236}">
                <a16:creationId xmlns:a16="http://schemas.microsoft.com/office/drawing/2014/main" id="{12569785-374C-3B99-D8B1-83A0F019ECB8}"/>
              </a:ext>
            </a:extLst>
          </p:cNvPr>
          <p:cNvGrpSpPr/>
          <p:nvPr/>
        </p:nvGrpSpPr>
        <p:grpSpPr>
          <a:xfrm>
            <a:off x="1" y="3099743"/>
            <a:ext cx="11351549" cy="3600700"/>
            <a:chOff x="1" y="3099743"/>
            <a:chExt cx="11351549" cy="3600700"/>
          </a:xfrm>
        </p:grpSpPr>
        <p:sp>
          <p:nvSpPr>
            <p:cNvPr id="447" name="Google Shape;447;p46"/>
            <p:cNvSpPr/>
            <p:nvPr/>
          </p:nvSpPr>
          <p:spPr>
            <a:xfrm>
              <a:off x="4114800" y="3240950"/>
              <a:ext cx="3604800" cy="2495100"/>
            </a:xfrm>
            <a:prstGeom prst="rect">
              <a:avLst/>
            </a:prstGeom>
            <a:noFill/>
            <a:ln w="3810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50" name="Google Shape;450;p46"/>
            <p:cNvSpPr/>
            <p:nvPr/>
          </p:nvSpPr>
          <p:spPr>
            <a:xfrm>
              <a:off x="4578150" y="3549450"/>
              <a:ext cx="2688000" cy="1747800"/>
            </a:xfrm>
            <a:prstGeom prst="rect">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a:ln>
                    <a:noFill/>
                  </a:ln>
                  <a:solidFill>
                    <a:srgbClr val="A00C30"/>
                  </a:solidFill>
                  <a:effectLst/>
                  <a:uLnTx/>
                  <a:uFillTx/>
                  <a:latin typeface="Arial"/>
                  <a:cs typeface="Arial"/>
                  <a:sym typeface="Arial"/>
                </a:rPr>
                <a:t>6</a:t>
              </a:r>
              <a:endParaRPr kumimoji="0" sz="2800" b="1" i="0" u="none" strike="noStrike" kern="0" cap="none" spc="0" normalizeH="0" baseline="0" noProof="0">
                <a:ln>
                  <a:noFill/>
                </a:ln>
                <a:solidFill>
                  <a:srgbClr val="A00C30"/>
                </a:solidFill>
                <a:effectLst/>
                <a:uLnTx/>
                <a:uFillTx/>
                <a:latin typeface="Arial"/>
                <a:cs typeface="Arial"/>
                <a:sym typeface="Arial"/>
              </a:endParaRPr>
            </a:p>
          </p:txBody>
        </p:sp>
        <p:sp>
          <p:nvSpPr>
            <p:cNvPr id="451" name="Google Shape;451;p46"/>
            <p:cNvSpPr txBox="1"/>
            <p:nvPr/>
          </p:nvSpPr>
          <p:spPr>
            <a:xfrm>
              <a:off x="4700400" y="5788350"/>
              <a:ext cx="2433600" cy="5541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a:ln>
                    <a:noFill/>
                  </a:ln>
                  <a:solidFill>
                    <a:srgbClr val="0F2044"/>
                  </a:solidFill>
                  <a:effectLst/>
                  <a:uLnTx/>
                  <a:uFillTx/>
                  <a:latin typeface="Arial"/>
                  <a:cs typeface="Arial"/>
                  <a:sym typeface="Arial"/>
                </a:rPr>
                <a:t>critical section</a:t>
              </a:r>
              <a:endParaRPr kumimoji="0" sz="2400" b="1" i="0" u="none" strike="noStrike" kern="0" cap="none" spc="0" normalizeH="0" baseline="0" noProof="0">
                <a:ln>
                  <a:noFill/>
                </a:ln>
                <a:solidFill>
                  <a:srgbClr val="0F2044"/>
                </a:solidFill>
                <a:effectLst/>
                <a:uLnTx/>
                <a:uFillTx/>
                <a:latin typeface="Arial"/>
                <a:cs typeface="Arial"/>
                <a:sym typeface="Arial"/>
              </a:endParaRPr>
            </a:p>
          </p:txBody>
        </p:sp>
        <p:pic>
          <p:nvPicPr>
            <p:cNvPr id="452" name="Google Shape;452;p46"/>
            <p:cNvPicPr preferRelativeResize="0"/>
            <p:nvPr/>
          </p:nvPicPr>
          <p:blipFill rotWithShape="1">
            <a:blip r:embed="rId3">
              <a:alphaModFix/>
            </a:blip>
            <a:srcRect b="3091"/>
            <a:stretch/>
          </p:blipFill>
          <p:spPr>
            <a:xfrm>
              <a:off x="1559925" y="3225500"/>
              <a:ext cx="2389050" cy="2432975"/>
            </a:xfrm>
            <a:prstGeom prst="rect">
              <a:avLst/>
            </a:prstGeom>
            <a:noFill/>
            <a:ln>
              <a:noFill/>
            </a:ln>
          </p:spPr>
        </p:pic>
        <p:sp>
          <p:nvSpPr>
            <p:cNvPr id="453" name="Google Shape;453;p46"/>
            <p:cNvSpPr/>
            <p:nvPr/>
          </p:nvSpPr>
          <p:spPr>
            <a:xfrm>
              <a:off x="8896200" y="5736050"/>
              <a:ext cx="387300" cy="554100"/>
            </a:xfrm>
            <a:prstGeom prst="upArrow">
              <a:avLst>
                <a:gd name="adj1" fmla="val 50000"/>
                <a:gd name="adj2" fmla="val 50000"/>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454" name="Google Shape;454;p46"/>
            <p:cNvPicPr preferRelativeResize="0"/>
            <p:nvPr/>
          </p:nvPicPr>
          <p:blipFill>
            <a:blip r:embed="rId4">
              <a:alphaModFix/>
            </a:blip>
            <a:stretch>
              <a:fillRect/>
            </a:stretch>
          </p:blipFill>
          <p:spPr>
            <a:xfrm>
              <a:off x="7895324" y="3099743"/>
              <a:ext cx="2389050" cy="2495207"/>
            </a:xfrm>
            <a:prstGeom prst="rect">
              <a:avLst/>
            </a:prstGeom>
            <a:noFill/>
            <a:ln>
              <a:noFill/>
            </a:ln>
          </p:spPr>
        </p:pic>
        <p:pic>
          <p:nvPicPr>
            <p:cNvPr id="455" name="Google Shape;455;p46"/>
            <p:cNvPicPr preferRelativeResize="0"/>
            <p:nvPr/>
          </p:nvPicPr>
          <p:blipFill>
            <a:blip r:embed="rId5">
              <a:alphaModFix/>
            </a:blip>
            <a:stretch>
              <a:fillRect/>
            </a:stretch>
          </p:blipFill>
          <p:spPr>
            <a:xfrm>
              <a:off x="559050" y="3307325"/>
              <a:ext cx="901025" cy="966825"/>
            </a:xfrm>
            <a:prstGeom prst="rect">
              <a:avLst/>
            </a:prstGeom>
            <a:noFill/>
            <a:ln>
              <a:noFill/>
            </a:ln>
          </p:spPr>
        </p:pic>
        <p:pic>
          <p:nvPicPr>
            <p:cNvPr id="456" name="Google Shape;456;p46"/>
            <p:cNvPicPr preferRelativeResize="0"/>
            <p:nvPr/>
          </p:nvPicPr>
          <p:blipFill>
            <a:blip r:embed="rId5">
              <a:alphaModFix/>
            </a:blip>
            <a:stretch>
              <a:fillRect/>
            </a:stretch>
          </p:blipFill>
          <p:spPr>
            <a:xfrm>
              <a:off x="10450525" y="3317150"/>
              <a:ext cx="901025" cy="966825"/>
            </a:xfrm>
            <a:prstGeom prst="rect">
              <a:avLst/>
            </a:prstGeom>
            <a:noFill/>
            <a:ln>
              <a:noFill/>
            </a:ln>
          </p:spPr>
        </p:pic>
        <p:sp>
          <p:nvSpPr>
            <p:cNvPr id="457" name="Google Shape;457;p46"/>
            <p:cNvSpPr/>
            <p:nvPr/>
          </p:nvSpPr>
          <p:spPr>
            <a:xfrm>
              <a:off x="1" y="5030223"/>
              <a:ext cx="1819584" cy="1670220"/>
            </a:xfrm>
            <a:prstGeom prst="cloud">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Arial"/>
                  <a:cs typeface="Arial"/>
                  <a:sym typeface="Arial"/>
                </a:rPr>
                <a:t>Not my turn!</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3" name="Google Shape;463;p47"/>
          <p:cNvSpPr txBox="1">
            <a:spLocks noGrp="1"/>
          </p:cNvSpPr>
          <p:nvPr>
            <p:ph type="ctrTitle"/>
          </p:nvPr>
        </p:nvSpPr>
        <p:spPr>
          <a:xfrm>
            <a:off x="337350" y="1176316"/>
            <a:ext cx="9144000" cy="6960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2"/>
              </a:buClr>
              <a:buSzPts val="6000"/>
              <a:buFont typeface="Georgia"/>
              <a:buNone/>
            </a:pPr>
            <a:r>
              <a:rPr lang="en-US" sz="2500"/>
              <a:t>Understanding Race Condition</a:t>
            </a:r>
            <a:endParaRPr sz="1800"/>
          </a:p>
        </p:txBody>
      </p:sp>
      <p:sp>
        <p:nvSpPr>
          <p:cNvPr id="464" name="Google Shape;464;p47"/>
          <p:cNvSpPr txBox="1"/>
          <p:nvPr/>
        </p:nvSpPr>
        <p:spPr>
          <a:xfrm>
            <a:off x="337350" y="2013150"/>
            <a:ext cx="11365500" cy="8928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300" b="0" i="0" u="none" strike="noStrike" kern="0" cap="none" spc="0" normalizeH="0" baseline="0" noProof="0">
                <a:ln>
                  <a:noFill/>
                </a:ln>
                <a:solidFill>
                  <a:srgbClr val="0F2044"/>
                </a:solidFill>
                <a:effectLst/>
                <a:uLnTx/>
                <a:uFillTx/>
                <a:latin typeface="Arial"/>
                <a:cs typeface="Arial"/>
                <a:sym typeface="Arial"/>
              </a:rPr>
              <a:t>If it’s the other programs turn, we should turn off our own signal light. And wait for it to be our turn.</a:t>
            </a:r>
            <a:endParaRPr kumimoji="0" sz="2300" b="0" i="0" u="none" strike="noStrike" kern="0" cap="none" spc="0" normalizeH="0" baseline="0" noProof="0">
              <a:ln>
                <a:noFill/>
              </a:ln>
              <a:solidFill>
                <a:srgbClr val="0F2044"/>
              </a:solidFill>
              <a:effectLst/>
              <a:uLnTx/>
              <a:uFillTx/>
              <a:latin typeface="Arial"/>
              <a:cs typeface="Arial"/>
              <a:sym typeface="Arial"/>
            </a:endParaRPr>
          </a:p>
        </p:txBody>
      </p:sp>
      <p:grpSp>
        <p:nvGrpSpPr>
          <p:cNvPr id="2" name="Group 1" descr="Robot 1's signal light is turned off.">
            <a:extLst>
              <a:ext uri="{FF2B5EF4-FFF2-40B4-BE49-F238E27FC236}">
                <a16:creationId xmlns:a16="http://schemas.microsoft.com/office/drawing/2014/main" id="{5305D546-B8CF-01FF-E441-1A8452ECAB17}"/>
              </a:ext>
            </a:extLst>
          </p:cNvPr>
          <p:cNvGrpSpPr/>
          <p:nvPr/>
        </p:nvGrpSpPr>
        <p:grpSpPr>
          <a:xfrm>
            <a:off x="1" y="3099743"/>
            <a:ext cx="11351549" cy="3600700"/>
            <a:chOff x="1" y="3099743"/>
            <a:chExt cx="11351549" cy="3600700"/>
          </a:xfrm>
        </p:grpSpPr>
        <p:sp>
          <p:nvSpPr>
            <p:cNvPr id="462" name="Google Shape;462;p47"/>
            <p:cNvSpPr/>
            <p:nvPr/>
          </p:nvSpPr>
          <p:spPr>
            <a:xfrm>
              <a:off x="4114800" y="3240950"/>
              <a:ext cx="3604800" cy="2495100"/>
            </a:xfrm>
            <a:prstGeom prst="rect">
              <a:avLst/>
            </a:prstGeom>
            <a:noFill/>
            <a:ln w="3810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65" name="Google Shape;465;p47"/>
            <p:cNvSpPr/>
            <p:nvPr/>
          </p:nvSpPr>
          <p:spPr>
            <a:xfrm>
              <a:off x="4578150" y="3549450"/>
              <a:ext cx="2688000" cy="1747800"/>
            </a:xfrm>
            <a:prstGeom prst="rect">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a:ln>
                    <a:noFill/>
                  </a:ln>
                  <a:solidFill>
                    <a:srgbClr val="A00C30"/>
                  </a:solidFill>
                  <a:effectLst/>
                  <a:uLnTx/>
                  <a:uFillTx/>
                  <a:latin typeface="Arial"/>
                  <a:cs typeface="Arial"/>
                  <a:sym typeface="Arial"/>
                </a:rPr>
                <a:t>6</a:t>
              </a:r>
              <a:endParaRPr kumimoji="0" sz="2800" b="1" i="0" u="none" strike="noStrike" kern="0" cap="none" spc="0" normalizeH="0" baseline="0" noProof="0">
                <a:ln>
                  <a:noFill/>
                </a:ln>
                <a:solidFill>
                  <a:srgbClr val="A00C30"/>
                </a:solidFill>
                <a:effectLst/>
                <a:uLnTx/>
                <a:uFillTx/>
                <a:latin typeface="Arial"/>
                <a:cs typeface="Arial"/>
                <a:sym typeface="Arial"/>
              </a:endParaRPr>
            </a:p>
          </p:txBody>
        </p:sp>
        <p:sp>
          <p:nvSpPr>
            <p:cNvPr id="466" name="Google Shape;466;p47"/>
            <p:cNvSpPr txBox="1"/>
            <p:nvPr/>
          </p:nvSpPr>
          <p:spPr>
            <a:xfrm>
              <a:off x="4700400" y="5788350"/>
              <a:ext cx="2433600" cy="5541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a:ln>
                    <a:noFill/>
                  </a:ln>
                  <a:solidFill>
                    <a:srgbClr val="0F2044"/>
                  </a:solidFill>
                  <a:effectLst/>
                  <a:uLnTx/>
                  <a:uFillTx/>
                  <a:latin typeface="Arial"/>
                  <a:cs typeface="Arial"/>
                  <a:sym typeface="Arial"/>
                </a:rPr>
                <a:t>critical section</a:t>
              </a:r>
              <a:endParaRPr kumimoji="0" sz="2400" b="1" i="0" u="none" strike="noStrike" kern="0" cap="none" spc="0" normalizeH="0" baseline="0" noProof="0">
                <a:ln>
                  <a:noFill/>
                </a:ln>
                <a:solidFill>
                  <a:srgbClr val="0F2044"/>
                </a:solidFill>
                <a:effectLst/>
                <a:uLnTx/>
                <a:uFillTx/>
                <a:latin typeface="Arial"/>
                <a:cs typeface="Arial"/>
                <a:sym typeface="Arial"/>
              </a:endParaRPr>
            </a:p>
          </p:txBody>
        </p:sp>
        <p:pic>
          <p:nvPicPr>
            <p:cNvPr id="467" name="Google Shape;467;p47"/>
            <p:cNvPicPr preferRelativeResize="0"/>
            <p:nvPr/>
          </p:nvPicPr>
          <p:blipFill rotWithShape="1">
            <a:blip r:embed="rId3">
              <a:alphaModFix/>
            </a:blip>
            <a:srcRect b="3091"/>
            <a:stretch/>
          </p:blipFill>
          <p:spPr>
            <a:xfrm>
              <a:off x="1559925" y="3225500"/>
              <a:ext cx="2389050" cy="2432975"/>
            </a:xfrm>
            <a:prstGeom prst="rect">
              <a:avLst/>
            </a:prstGeom>
            <a:noFill/>
            <a:ln>
              <a:noFill/>
            </a:ln>
          </p:spPr>
        </p:pic>
        <p:sp>
          <p:nvSpPr>
            <p:cNvPr id="468" name="Google Shape;468;p47"/>
            <p:cNvSpPr/>
            <p:nvPr/>
          </p:nvSpPr>
          <p:spPr>
            <a:xfrm>
              <a:off x="8896200" y="5736050"/>
              <a:ext cx="387300" cy="554100"/>
            </a:xfrm>
            <a:prstGeom prst="upArrow">
              <a:avLst>
                <a:gd name="adj1" fmla="val 50000"/>
                <a:gd name="adj2" fmla="val 50000"/>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469" name="Google Shape;469;p47"/>
            <p:cNvPicPr preferRelativeResize="0"/>
            <p:nvPr/>
          </p:nvPicPr>
          <p:blipFill>
            <a:blip r:embed="rId4">
              <a:alphaModFix/>
            </a:blip>
            <a:stretch>
              <a:fillRect/>
            </a:stretch>
          </p:blipFill>
          <p:spPr>
            <a:xfrm>
              <a:off x="7895324" y="3099743"/>
              <a:ext cx="2389050" cy="2495207"/>
            </a:xfrm>
            <a:prstGeom prst="rect">
              <a:avLst/>
            </a:prstGeom>
            <a:noFill/>
            <a:ln>
              <a:noFill/>
            </a:ln>
          </p:spPr>
        </p:pic>
        <p:pic>
          <p:nvPicPr>
            <p:cNvPr id="470" name="Google Shape;470;p47"/>
            <p:cNvPicPr preferRelativeResize="0"/>
            <p:nvPr/>
          </p:nvPicPr>
          <p:blipFill>
            <a:blip r:embed="rId5">
              <a:alphaModFix/>
            </a:blip>
            <a:stretch>
              <a:fillRect/>
            </a:stretch>
          </p:blipFill>
          <p:spPr>
            <a:xfrm>
              <a:off x="10450525" y="3317150"/>
              <a:ext cx="901025" cy="966825"/>
            </a:xfrm>
            <a:prstGeom prst="rect">
              <a:avLst/>
            </a:prstGeom>
            <a:noFill/>
            <a:ln>
              <a:noFill/>
            </a:ln>
          </p:spPr>
        </p:pic>
        <p:pic>
          <p:nvPicPr>
            <p:cNvPr id="471" name="Google Shape;471;p47"/>
            <p:cNvPicPr preferRelativeResize="0"/>
            <p:nvPr/>
          </p:nvPicPr>
          <p:blipFill>
            <a:blip r:embed="rId6">
              <a:alphaModFix/>
            </a:blip>
            <a:stretch>
              <a:fillRect/>
            </a:stretch>
          </p:blipFill>
          <p:spPr>
            <a:xfrm>
              <a:off x="592525" y="3378225"/>
              <a:ext cx="901025" cy="895918"/>
            </a:xfrm>
            <a:prstGeom prst="rect">
              <a:avLst/>
            </a:prstGeom>
            <a:noFill/>
            <a:ln>
              <a:noFill/>
            </a:ln>
          </p:spPr>
        </p:pic>
        <p:sp>
          <p:nvSpPr>
            <p:cNvPr id="472" name="Google Shape;472;p47"/>
            <p:cNvSpPr txBox="1"/>
            <p:nvPr/>
          </p:nvSpPr>
          <p:spPr>
            <a:xfrm>
              <a:off x="378075" y="4283975"/>
              <a:ext cx="1482300" cy="4926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a:ln>
                    <a:noFill/>
                  </a:ln>
                  <a:solidFill>
                    <a:srgbClr val="A00C30"/>
                  </a:solidFill>
                  <a:effectLst/>
                  <a:uLnTx/>
                  <a:uFillTx/>
                  <a:latin typeface="Arial"/>
                  <a:cs typeface="Arial"/>
                  <a:sym typeface="Arial"/>
                </a:rPr>
                <a:t>turn it off</a:t>
              </a:r>
              <a:endParaRPr kumimoji="0" sz="2000" b="1" i="0" u="none" strike="noStrike" kern="0" cap="none" spc="0" normalizeH="0" baseline="0" noProof="0">
                <a:ln>
                  <a:noFill/>
                </a:ln>
                <a:solidFill>
                  <a:srgbClr val="A00C30"/>
                </a:solidFill>
                <a:effectLst/>
                <a:uLnTx/>
                <a:uFillTx/>
                <a:latin typeface="Arial"/>
                <a:cs typeface="Arial"/>
                <a:sym typeface="Arial"/>
              </a:endParaRPr>
            </a:p>
          </p:txBody>
        </p:sp>
        <p:sp>
          <p:nvSpPr>
            <p:cNvPr id="473" name="Google Shape;473;p47"/>
            <p:cNvSpPr/>
            <p:nvPr/>
          </p:nvSpPr>
          <p:spPr>
            <a:xfrm>
              <a:off x="1" y="5030223"/>
              <a:ext cx="1819584" cy="1670220"/>
            </a:xfrm>
            <a:prstGeom prst="cloud">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Arial"/>
                  <a:cs typeface="Arial"/>
                  <a:sym typeface="Arial"/>
                </a:rPr>
                <a:t>Not my turn!</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9" name="Google Shape;479;p48"/>
          <p:cNvSpPr txBox="1">
            <a:spLocks noGrp="1"/>
          </p:cNvSpPr>
          <p:nvPr>
            <p:ph type="ctrTitle"/>
          </p:nvPr>
        </p:nvSpPr>
        <p:spPr>
          <a:xfrm>
            <a:off x="337350" y="1176316"/>
            <a:ext cx="9144000" cy="6960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2"/>
              </a:buClr>
              <a:buSzPts val="6000"/>
              <a:buFont typeface="Georgia"/>
              <a:buNone/>
            </a:pPr>
            <a:r>
              <a:rPr lang="en-US" sz="2500"/>
              <a:t>Understanding Race Condition</a:t>
            </a:r>
            <a:endParaRPr sz="1800"/>
          </a:p>
        </p:txBody>
      </p:sp>
      <p:sp>
        <p:nvSpPr>
          <p:cNvPr id="480" name="Google Shape;480;p48"/>
          <p:cNvSpPr txBox="1"/>
          <p:nvPr/>
        </p:nvSpPr>
        <p:spPr>
          <a:xfrm>
            <a:off x="337350" y="2013150"/>
            <a:ext cx="11365500" cy="12468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300" b="0" i="0" u="none" strike="noStrike" kern="0" cap="none" spc="0" normalizeH="0" baseline="0" noProof="0">
                <a:ln>
                  <a:noFill/>
                </a:ln>
                <a:solidFill>
                  <a:srgbClr val="0F2044"/>
                </a:solidFill>
                <a:effectLst/>
                <a:uLnTx/>
                <a:uFillTx/>
                <a:latin typeface="Arial"/>
                <a:cs typeface="Arial"/>
                <a:sym typeface="Arial"/>
              </a:rPr>
              <a:t>The other program meanwhile enters the critical section when it sees that the other program’s signal light is off. </a:t>
            </a:r>
            <a:endParaRPr kumimoji="0" sz="2300" b="0" i="0" u="none" strike="noStrike" kern="0" cap="none" spc="0" normalizeH="0" baseline="0" noProof="0">
              <a:ln>
                <a:noFill/>
              </a:ln>
              <a:solidFill>
                <a:srgbClr val="0F2044"/>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300" b="0" i="0" u="none" strike="noStrike" kern="0" cap="none" spc="0" normalizeH="0" baseline="0" noProof="0">
              <a:ln>
                <a:noFill/>
              </a:ln>
              <a:solidFill>
                <a:srgbClr val="0F2044"/>
              </a:solidFill>
              <a:effectLst/>
              <a:uLnTx/>
              <a:uFillTx/>
              <a:latin typeface="Arial"/>
              <a:cs typeface="Arial"/>
              <a:sym typeface="Arial"/>
            </a:endParaRPr>
          </a:p>
        </p:txBody>
      </p:sp>
      <p:grpSp>
        <p:nvGrpSpPr>
          <p:cNvPr id="2" name="Group 1" descr="Robot 2: I can enter since the other signal light is off.&#10;Robot 2 calculates 6+1=7 and updates the value to 7.">
            <a:extLst>
              <a:ext uri="{FF2B5EF4-FFF2-40B4-BE49-F238E27FC236}">
                <a16:creationId xmlns:a16="http://schemas.microsoft.com/office/drawing/2014/main" id="{912D928E-DF28-31F6-3A9F-A34A4F2609B7}"/>
              </a:ext>
            </a:extLst>
          </p:cNvPr>
          <p:cNvGrpSpPr/>
          <p:nvPr/>
        </p:nvGrpSpPr>
        <p:grpSpPr>
          <a:xfrm>
            <a:off x="592525" y="2861700"/>
            <a:ext cx="11599475" cy="3480750"/>
            <a:chOff x="592525" y="2861700"/>
            <a:chExt cx="11599475" cy="3480750"/>
          </a:xfrm>
        </p:grpSpPr>
        <p:sp>
          <p:nvSpPr>
            <p:cNvPr id="478" name="Google Shape;478;p48"/>
            <p:cNvSpPr/>
            <p:nvPr/>
          </p:nvSpPr>
          <p:spPr>
            <a:xfrm>
              <a:off x="4114800" y="3240950"/>
              <a:ext cx="3604800" cy="2495100"/>
            </a:xfrm>
            <a:prstGeom prst="rect">
              <a:avLst/>
            </a:prstGeom>
            <a:noFill/>
            <a:ln w="3810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81" name="Google Shape;481;p48"/>
            <p:cNvSpPr/>
            <p:nvPr/>
          </p:nvSpPr>
          <p:spPr>
            <a:xfrm>
              <a:off x="4578150" y="3549450"/>
              <a:ext cx="2688000" cy="1747800"/>
            </a:xfrm>
            <a:prstGeom prst="rect">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a:ln>
                    <a:noFill/>
                  </a:ln>
                  <a:solidFill>
                    <a:srgbClr val="A00C30"/>
                  </a:solidFill>
                  <a:effectLst/>
                  <a:uLnTx/>
                  <a:uFillTx/>
                  <a:latin typeface="Arial"/>
                  <a:cs typeface="Arial"/>
                  <a:sym typeface="Arial"/>
                </a:rPr>
                <a:t>7</a:t>
              </a:r>
              <a:endParaRPr kumimoji="0" sz="2800" b="1" i="0" u="none" strike="noStrike" kern="0" cap="none" spc="0" normalizeH="0" baseline="0" noProof="0">
                <a:ln>
                  <a:noFill/>
                </a:ln>
                <a:solidFill>
                  <a:srgbClr val="A00C30"/>
                </a:solidFill>
                <a:effectLst/>
                <a:uLnTx/>
                <a:uFillTx/>
                <a:latin typeface="Arial"/>
                <a:cs typeface="Arial"/>
                <a:sym typeface="Arial"/>
              </a:endParaRPr>
            </a:p>
          </p:txBody>
        </p:sp>
        <p:sp>
          <p:nvSpPr>
            <p:cNvPr id="482" name="Google Shape;482;p48"/>
            <p:cNvSpPr txBox="1"/>
            <p:nvPr/>
          </p:nvSpPr>
          <p:spPr>
            <a:xfrm>
              <a:off x="4700400" y="5788350"/>
              <a:ext cx="2433600" cy="5541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a:ln>
                    <a:noFill/>
                  </a:ln>
                  <a:solidFill>
                    <a:srgbClr val="0F2044"/>
                  </a:solidFill>
                  <a:effectLst/>
                  <a:uLnTx/>
                  <a:uFillTx/>
                  <a:latin typeface="Arial"/>
                  <a:cs typeface="Arial"/>
                  <a:sym typeface="Arial"/>
                </a:rPr>
                <a:t>critical section</a:t>
              </a:r>
              <a:endParaRPr kumimoji="0" sz="2400" b="1" i="0" u="none" strike="noStrike" kern="0" cap="none" spc="0" normalizeH="0" baseline="0" noProof="0">
                <a:ln>
                  <a:noFill/>
                </a:ln>
                <a:solidFill>
                  <a:srgbClr val="0F2044"/>
                </a:solidFill>
                <a:effectLst/>
                <a:uLnTx/>
                <a:uFillTx/>
                <a:latin typeface="Arial"/>
                <a:cs typeface="Arial"/>
                <a:sym typeface="Arial"/>
              </a:endParaRPr>
            </a:p>
          </p:txBody>
        </p:sp>
        <p:pic>
          <p:nvPicPr>
            <p:cNvPr id="483" name="Google Shape;483;p48"/>
            <p:cNvPicPr preferRelativeResize="0"/>
            <p:nvPr/>
          </p:nvPicPr>
          <p:blipFill rotWithShape="1">
            <a:blip r:embed="rId3">
              <a:alphaModFix/>
            </a:blip>
            <a:srcRect b="3091"/>
            <a:stretch/>
          </p:blipFill>
          <p:spPr>
            <a:xfrm>
              <a:off x="1559925" y="3225500"/>
              <a:ext cx="2389050" cy="2432975"/>
            </a:xfrm>
            <a:prstGeom prst="rect">
              <a:avLst/>
            </a:prstGeom>
            <a:noFill/>
            <a:ln>
              <a:noFill/>
            </a:ln>
          </p:spPr>
        </p:pic>
        <p:sp>
          <p:nvSpPr>
            <p:cNvPr id="484" name="Google Shape;484;p48"/>
            <p:cNvSpPr/>
            <p:nvPr/>
          </p:nvSpPr>
          <p:spPr>
            <a:xfrm>
              <a:off x="8896200" y="5736050"/>
              <a:ext cx="387300" cy="554100"/>
            </a:xfrm>
            <a:prstGeom prst="upArrow">
              <a:avLst>
                <a:gd name="adj1" fmla="val 50000"/>
                <a:gd name="adj2" fmla="val 50000"/>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485" name="Google Shape;485;p48"/>
            <p:cNvPicPr preferRelativeResize="0"/>
            <p:nvPr/>
          </p:nvPicPr>
          <p:blipFill>
            <a:blip r:embed="rId4">
              <a:alphaModFix/>
            </a:blip>
            <a:stretch>
              <a:fillRect/>
            </a:stretch>
          </p:blipFill>
          <p:spPr>
            <a:xfrm>
              <a:off x="7895324" y="3099743"/>
              <a:ext cx="2389050" cy="2495207"/>
            </a:xfrm>
            <a:prstGeom prst="rect">
              <a:avLst/>
            </a:prstGeom>
            <a:noFill/>
            <a:ln>
              <a:noFill/>
            </a:ln>
          </p:spPr>
        </p:pic>
        <p:pic>
          <p:nvPicPr>
            <p:cNvPr id="486" name="Google Shape;486;p48"/>
            <p:cNvPicPr preferRelativeResize="0"/>
            <p:nvPr/>
          </p:nvPicPr>
          <p:blipFill>
            <a:blip r:embed="rId5">
              <a:alphaModFix/>
            </a:blip>
            <a:stretch>
              <a:fillRect/>
            </a:stretch>
          </p:blipFill>
          <p:spPr>
            <a:xfrm>
              <a:off x="10450525" y="3317150"/>
              <a:ext cx="901025" cy="966825"/>
            </a:xfrm>
            <a:prstGeom prst="rect">
              <a:avLst/>
            </a:prstGeom>
            <a:noFill/>
            <a:ln>
              <a:noFill/>
            </a:ln>
          </p:spPr>
        </p:pic>
        <p:pic>
          <p:nvPicPr>
            <p:cNvPr id="487" name="Google Shape;487;p48"/>
            <p:cNvPicPr preferRelativeResize="0"/>
            <p:nvPr/>
          </p:nvPicPr>
          <p:blipFill>
            <a:blip r:embed="rId6">
              <a:alphaModFix/>
            </a:blip>
            <a:stretch>
              <a:fillRect/>
            </a:stretch>
          </p:blipFill>
          <p:spPr>
            <a:xfrm>
              <a:off x="592525" y="3378225"/>
              <a:ext cx="901025" cy="895918"/>
            </a:xfrm>
            <a:prstGeom prst="rect">
              <a:avLst/>
            </a:prstGeom>
            <a:noFill/>
            <a:ln>
              <a:noFill/>
            </a:ln>
          </p:spPr>
        </p:pic>
        <p:sp>
          <p:nvSpPr>
            <p:cNvPr id="488" name="Google Shape;488;p48"/>
            <p:cNvSpPr txBox="1"/>
            <p:nvPr/>
          </p:nvSpPr>
          <p:spPr>
            <a:xfrm>
              <a:off x="9192000" y="2861700"/>
              <a:ext cx="3000000" cy="615600"/>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a:ln>
                    <a:noFill/>
                  </a:ln>
                  <a:solidFill>
                    <a:srgbClr val="A00C30"/>
                  </a:solidFill>
                  <a:effectLst/>
                  <a:uLnTx/>
                  <a:uFillTx/>
                  <a:latin typeface="Arial"/>
                  <a:cs typeface="Arial"/>
                  <a:sym typeface="Arial"/>
                </a:rPr>
                <a:t>6+1=7</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489" name="Google Shape;489;p48"/>
            <p:cNvCxnSpPr/>
            <p:nvPr/>
          </p:nvCxnSpPr>
          <p:spPr>
            <a:xfrm rot="10800000">
              <a:off x="6339450" y="4406850"/>
              <a:ext cx="1612500" cy="16500"/>
            </a:xfrm>
            <a:prstGeom prst="straightConnector1">
              <a:avLst/>
            </a:prstGeom>
            <a:noFill/>
            <a:ln w="38100" cap="flat" cmpd="sng">
              <a:solidFill>
                <a:schemeClr val="dk2"/>
              </a:solidFill>
              <a:prstDash val="solid"/>
              <a:round/>
              <a:headEnd type="none" w="med" len="med"/>
              <a:tailEnd type="triangle" w="med" len="med"/>
            </a:ln>
          </p:spPr>
        </p:cxnSp>
        <p:sp>
          <p:nvSpPr>
            <p:cNvPr id="490" name="Google Shape;490;p48"/>
            <p:cNvSpPr/>
            <p:nvPr/>
          </p:nvSpPr>
          <p:spPr>
            <a:xfrm>
              <a:off x="9799076" y="4619923"/>
              <a:ext cx="1819584" cy="1670220"/>
            </a:xfrm>
            <a:prstGeom prst="cloud">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Arial"/>
                  <a:cs typeface="Arial"/>
                  <a:sym typeface="Arial"/>
                </a:rPr>
                <a:t>I can enter since the other signal light is off.</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6" name="Google Shape;496;p49"/>
          <p:cNvSpPr txBox="1">
            <a:spLocks noGrp="1"/>
          </p:cNvSpPr>
          <p:nvPr>
            <p:ph type="ctrTitle"/>
          </p:nvPr>
        </p:nvSpPr>
        <p:spPr>
          <a:xfrm>
            <a:off x="337350" y="1176316"/>
            <a:ext cx="9144000" cy="6960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2"/>
              </a:buClr>
              <a:buSzPts val="6000"/>
              <a:buFont typeface="Georgia"/>
              <a:buNone/>
            </a:pPr>
            <a:r>
              <a:rPr lang="en-US" sz="2500"/>
              <a:t>Understanding Race Condition</a:t>
            </a:r>
            <a:endParaRPr sz="1800"/>
          </a:p>
        </p:txBody>
      </p:sp>
      <p:sp>
        <p:nvSpPr>
          <p:cNvPr id="497" name="Google Shape;497;p49"/>
          <p:cNvSpPr txBox="1"/>
          <p:nvPr/>
        </p:nvSpPr>
        <p:spPr>
          <a:xfrm>
            <a:off x="337350" y="2013150"/>
            <a:ext cx="11365500" cy="12468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300" b="0" i="0" u="none" strike="noStrike" kern="0" cap="none" spc="0" normalizeH="0" baseline="0" noProof="0" dirty="0">
                <a:ln>
                  <a:noFill/>
                </a:ln>
                <a:solidFill>
                  <a:srgbClr val="0F2044"/>
                </a:solidFill>
                <a:effectLst/>
                <a:uLnTx/>
                <a:uFillTx/>
                <a:latin typeface="Arial"/>
                <a:cs typeface="Arial"/>
                <a:sym typeface="Arial"/>
              </a:rPr>
              <a:t>When the other program exits, it should toggle the indicator back to us, and turn off it’s own signal light. </a:t>
            </a:r>
            <a:endParaRPr kumimoji="0" sz="2300" b="0" i="0" u="none" strike="noStrike" kern="0" cap="none" spc="0" normalizeH="0" baseline="0" noProof="0" dirty="0">
              <a:ln>
                <a:noFill/>
              </a:ln>
              <a:solidFill>
                <a:srgbClr val="0F2044"/>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300" b="0" i="0" u="none" strike="noStrike" kern="0" cap="none" spc="0" normalizeH="0" baseline="0" noProof="0" dirty="0">
              <a:ln>
                <a:noFill/>
              </a:ln>
              <a:solidFill>
                <a:srgbClr val="0F2044"/>
              </a:solidFill>
              <a:effectLst/>
              <a:uLnTx/>
              <a:uFillTx/>
              <a:latin typeface="Arial"/>
              <a:cs typeface="Arial"/>
              <a:sym typeface="Arial"/>
            </a:endParaRPr>
          </a:p>
        </p:txBody>
      </p:sp>
      <p:grpSp>
        <p:nvGrpSpPr>
          <p:cNvPr id="2" name="Group 1" descr="Robot 2 turns off its signal light.&#10;It is now robot 1's turn.">
            <a:extLst>
              <a:ext uri="{FF2B5EF4-FFF2-40B4-BE49-F238E27FC236}">
                <a16:creationId xmlns:a16="http://schemas.microsoft.com/office/drawing/2014/main" id="{FF9D3CB8-3B24-3467-1C62-3A523EC5702B}"/>
              </a:ext>
            </a:extLst>
          </p:cNvPr>
          <p:cNvGrpSpPr/>
          <p:nvPr/>
        </p:nvGrpSpPr>
        <p:grpSpPr>
          <a:xfrm>
            <a:off x="592525" y="3099743"/>
            <a:ext cx="10768600" cy="3242707"/>
            <a:chOff x="592525" y="3099743"/>
            <a:chExt cx="10768600" cy="3242707"/>
          </a:xfrm>
        </p:grpSpPr>
        <p:sp>
          <p:nvSpPr>
            <p:cNvPr id="495" name="Google Shape;495;p49"/>
            <p:cNvSpPr/>
            <p:nvPr/>
          </p:nvSpPr>
          <p:spPr>
            <a:xfrm>
              <a:off x="4114800" y="3240950"/>
              <a:ext cx="3604800" cy="2495100"/>
            </a:xfrm>
            <a:prstGeom prst="rect">
              <a:avLst/>
            </a:prstGeom>
            <a:noFill/>
            <a:ln w="3810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98" name="Google Shape;498;p49"/>
            <p:cNvSpPr/>
            <p:nvPr/>
          </p:nvSpPr>
          <p:spPr>
            <a:xfrm>
              <a:off x="4578150" y="3549450"/>
              <a:ext cx="2688000" cy="1747800"/>
            </a:xfrm>
            <a:prstGeom prst="rect">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a:ln>
                    <a:noFill/>
                  </a:ln>
                  <a:solidFill>
                    <a:srgbClr val="A00C30"/>
                  </a:solidFill>
                  <a:effectLst/>
                  <a:uLnTx/>
                  <a:uFillTx/>
                  <a:latin typeface="Arial"/>
                  <a:cs typeface="Arial"/>
                  <a:sym typeface="Arial"/>
                </a:rPr>
                <a:t>7</a:t>
              </a:r>
              <a:endParaRPr kumimoji="0" sz="2800" b="1" i="0" u="none" strike="noStrike" kern="0" cap="none" spc="0" normalizeH="0" baseline="0" noProof="0">
                <a:ln>
                  <a:noFill/>
                </a:ln>
                <a:solidFill>
                  <a:srgbClr val="A00C30"/>
                </a:solidFill>
                <a:effectLst/>
                <a:uLnTx/>
                <a:uFillTx/>
                <a:latin typeface="Arial"/>
                <a:cs typeface="Arial"/>
                <a:sym typeface="Arial"/>
              </a:endParaRPr>
            </a:p>
          </p:txBody>
        </p:sp>
        <p:sp>
          <p:nvSpPr>
            <p:cNvPr id="499" name="Google Shape;499;p49"/>
            <p:cNvSpPr txBox="1"/>
            <p:nvPr/>
          </p:nvSpPr>
          <p:spPr>
            <a:xfrm>
              <a:off x="4700400" y="5788350"/>
              <a:ext cx="2433600" cy="5541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a:ln>
                    <a:noFill/>
                  </a:ln>
                  <a:solidFill>
                    <a:srgbClr val="0F2044"/>
                  </a:solidFill>
                  <a:effectLst/>
                  <a:uLnTx/>
                  <a:uFillTx/>
                  <a:latin typeface="Arial"/>
                  <a:cs typeface="Arial"/>
                  <a:sym typeface="Arial"/>
                </a:rPr>
                <a:t>critical section</a:t>
              </a:r>
              <a:endParaRPr kumimoji="0" sz="2400" b="1" i="0" u="none" strike="noStrike" kern="0" cap="none" spc="0" normalizeH="0" baseline="0" noProof="0">
                <a:ln>
                  <a:noFill/>
                </a:ln>
                <a:solidFill>
                  <a:srgbClr val="0F2044"/>
                </a:solidFill>
                <a:effectLst/>
                <a:uLnTx/>
                <a:uFillTx/>
                <a:latin typeface="Arial"/>
                <a:cs typeface="Arial"/>
                <a:sym typeface="Arial"/>
              </a:endParaRPr>
            </a:p>
          </p:txBody>
        </p:sp>
        <p:pic>
          <p:nvPicPr>
            <p:cNvPr id="500" name="Google Shape;500;p49"/>
            <p:cNvPicPr preferRelativeResize="0"/>
            <p:nvPr/>
          </p:nvPicPr>
          <p:blipFill rotWithShape="1">
            <a:blip r:embed="rId3">
              <a:alphaModFix/>
            </a:blip>
            <a:srcRect b="3091"/>
            <a:stretch/>
          </p:blipFill>
          <p:spPr>
            <a:xfrm>
              <a:off x="1559925" y="3225500"/>
              <a:ext cx="2389050" cy="2432975"/>
            </a:xfrm>
            <a:prstGeom prst="rect">
              <a:avLst/>
            </a:prstGeom>
            <a:noFill/>
            <a:ln>
              <a:noFill/>
            </a:ln>
          </p:spPr>
        </p:pic>
        <p:sp>
          <p:nvSpPr>
            <p:cNvPr id="501" name="Google Shape;501;p49"/>
            <p:cNvSpPr/>
            <p:nvPr/>
          </p:nvSpPr>
          <p:spPr>
            <a:xfrm>
              <a:off x="2560800" y="5788350"/>
              <a:ext cx="387300" cy="554100"/>
            </a:xfrm>
            <a:prstGeom prst="upArrow">
              <a:avLst>
                <a:gd name="adj1" fmla="val 50000"/>
                <a:gd name="adj2" fmla="val 50000"/>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502" name="Google Shape;502;p49"/>
            <p:cNvPicPr preferRelativeResize="0"/>
            <p:nvPr/>
          </p:nvPicPr>
          <p:blipFill>
            <a:blip r:embed="rId4">
              <a:alphaModFix/>
            </a:blip>
            <a:stretch>
              <a:fillRect/>
            </a:stretch>
          </p:blipFill>
          <p:spPr>
            <a:xfrm>
              <a:off x="7895324" y="3099743"/>
              <a:ext cx="2389050" cy="2495207"/>
            </a:xfrm>
            <a:prstGeom prst="rect">
              <a:avLst/>
            </a:prstGeom>
            <a:noFill/>
            <a:ln>
              <a:noFill/>
            </a:ln>
          </p:spPr>
        </p:pic>
        <p:pic>
          <p:nvPicPr>
            <p:cNvPr id="503" name="Google Shape;503;p49"/>
            <p:cNvPicPr preferRelativeResize="0"/>
            <p:nvPr/>
          </p:nvPicPr>
          <p:blipFill>
            <a:blip r:embed="rId5">
              <a:alphaModFix/>
            </a:blip>
            <a:stretch>
              <a:fillRect/>
            </a:stretch>
          </p:blipFill>
          <p:spPr>
            <a:xfrm>
              <a:off x="592525" y="3378225"/>
              <a:ext cx="901025" cy="895918"/>
            </a:xfrm>
            <a:prstGeom prst="rect">
              <a:avLst/>
            </a:prstGeom>
            <a:noFill/>
            <a:ln>
              <a:noFill/>
            </a:ln>
          </p:spPr>
        </p:pic>
        <p:pic>
          <p:nvPicPr>
            <p:cNvPr id="504" name="Google Shape;504;p49"/>
            <p:cNvPicPr preferRelativeResize="0"/>
            <p:nvPr/>
          </p:nvPicPr>
          <p:blipFill>
            <a:blip r:embed="rId5">
              <a:alphaModFix/>
            </a:blip>
            <a:stretch>
              <a:fillRect/>
            </a:stretch>
          </p:blipFill>
          <p:spPr>
            <a:xfrm>
              <a:off x="10460100" y="3378225"/>
              <a:ext cx="901025" cy="895918"/>
            </a:xfrm>
            <a:prstGeom prst="rect">
              <a:avLst/>
            </a:prstGeom>
            <a:noFill/>
            <a:ln>
              <a:noFill/>
            </a:ln>
          </p:spPr>
        </p:pic>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10" name="Google Shape;510;p50"/>
          <p:cNvSpPr txBox="1">
            <a:spLocks noGrp="1"/>
          </p:cNvSpPr>
          <p:nvPr>
            <p:ph type="ctrTitle"/>
          </p:nvPr>
        </p:nvSpPr>
        <p:spPr>
          <a:xfrm>
            <a:off x="337350" y="1176316"/>
            <a:ext cx="9144000" cy="6960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2"/>
              </a:buClr>
              <a:buSzPts val="6000"/>
              <a:buFont typeface="Georgia"/>
              <a:buNone/>
            </a:pPr>
            <a:r>
              <a:rPr lang="en-US" sz="2500"/>
              <a:t>Understanding Race Condition</a:t>
            </a:r>
            <a:endParaRPr sz="1800"/>
          </a:p>
        </p:txBody>
      </p:sp>
      <p:sp>
        <p:nvSpPr>
          <p:cNvPr id="511" name="Google Shape;511;p50"/>
          <p:cNvSpPr txBox="1"/>
          <p:nvPr/>
        </p:nvSpPr>
        <p:spPr>
          <a:xfrm>
            <a:off x="337350" y="2013150"/>
            <a:ext cx="11365500" cy="16008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300" b="0" i="0" u="none" strike="noStrike" kern="0" cap="none" spc="0" normalizeH="0" baseline="0" noProof="0">
                <a:ln>
                  <a:noFill/>
                </a:ln>
                <a:solidFill>
                  <a:srgbClr val="0F2044"/>
                </a:solidFill>
                <a:effectLst/>
                <a:uLnTx/>
                <a:uFillTx/>
                <a:latin typeface="Arial"/>
                <a:cs typeface="Arial"/>
                <a:sym typeface="Arial"/>
              </a:rPr>
              <a:t>When we see the turn indicator switch, we will turn our own signal light back on, and since the other program’s signal light is turned off, we are now clear to enter the critical section ourselves.</a:t>
            </a:r>
            <a:endParaRPr kumimoji="0" sz="2300" b="0" i="0" u="none" strike="noStrike" kern="0" cap="none" spc="0" normalizeH="0" baseline="0" noProof="0">
              <a:ln>
                <a:noFill/>
              </a:ln>
              <a:solidFill>
                <a:srgbClr val="0F2044"/>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300" b="0" i="0" u="none" strike="noStrike" kern="0" cap="none" spc="0" normalizeH="0" baseline="0" noProof="0">
              <a:ln>
                <a:noFill/>
              </a:ln>
              <a:solidFill>
                <a:srgbClr val="0F2044"/>
              </a:solidFill>
              <a:effectLst/>
              <a:uLnTx/>
              <a:uFillTx/>
              <a:latin typeface="Arial"/>
              <a:cs typeface="Arial"/>
              <a:sym typeface="Arial"/>
            </a:endParaRPr>
          </a:p>
        </p:txBody>
      </p:sp>
      <p:grpSp>
        <p:nvGrpSpPr>
          <p:cNvPr id="2" name="Group 1" descr="Robot 1 turns on its signal light and says 'Its my turn now!'">
            <a:extLst>
              <a:ext uri="{FF2B5EF4-FFF2-40B4-BE49-F238E27FC236}">
                <a16:creationId xmlns:a16="http://schemas.microsoft.com/office/drawing/2014/main" id="{5A31EFF9-85D4-0C86-78C6-B753C83E1915}"/>
              </a:ext>
            </a:extLst>
          </p:cNvPr>
          <p:cNvGrpSpPr/>
          <p:nvPr/>
        </p:nvGrpSpPr>
        <p:grpSpPr>
          <a:xfrm>
            <a:off x="1" y="3099743"/>
            <a:ext cx="11361124" cy="3600700"/>
            <a:chOff x="1" y="3099743"/>
            <a:chExt cx="11361124" cy="3600700"/>
          </a:xfrm>
        </p:grpSpPr>
        <p:sp>
          <p:nvSpPr>
            <p:cNvPr id="509" name="Google Shape;509;p50"/>
            <p:cNvSpPr/>
            <p:nvPr/>
          </p:nvSpPr>
          <p:spPr>
            <a:xfrm>
              <a:off x="4114800" y="3240950"/>
              <a:ext cx="3604800" cy="2495100"/>
            </a:xfrm>
            <a:prstGeom prst="rect">
              <a:avLst/>
            </a:prstGeom>
            <a:noFill/>
            <a:ln w="3810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2" name="Google Shape;512;p50"/>
            <p:cNvSpPr/>
            <p:nvPr/>
          </p:nvSpPr>
          <p:spPr>
            <a:xfrm>
              <a:off x="4578150" y="3549450"/>
              <a:ext cx="2688000" cy="1747800"/>
            </a:xfrm>
            <a:prstGeom prst="rect">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a:ln>
                    <a:noFill/>
                  </a:ln>
                  <a:solidFill>
                    <a:srgbClr val="A00C30"/>
                  </a:solidFill>
                  <a:effectLst/>
                  <a:uLnTx/>
                  <a:uFillTx/>
                  <a:latin typeface="Arial"/>
                  <a:cs typeface="Arial"/>
                  <a:sym typeface="Arial"/>
                </a:rPr>
                <a:t>7</a:t>
              </a:r>
              <a:endParaRPr kumimoji="0" sz="2800" b="1" i="0" u="none" strike="noStrike" kern="0" cap="none" spc="0" normalizeH="0" baseline="0" noProof="0">
                <a:ln>
                  <a:noFill/>
                </a:ln>
                <a:solidFill>
                  <a:srgbClr val="A00C30"/>
                </a:solidFill>
                <a:effectLst/>
                <a:uLnTx/>
                <a:uFillTx/>
                <a:latin typeface="Arial"/>
                <a:cs typeface="Arial"/>
                <a:sym typeface="Arial"/>
              </a:endParaRPr>
            </a:p>
          </p:txBody>
        </p:sp>
        <p:sp>
          <p:nvSpPr>
            <p:cNvPr id="513" name="Google Shape;513;p50"/>
            <p:cNvSpPr txBox="1"/>
            <p:nvPr/>
          </p:nvSpPr>
          <p:spPr>
            <a:xfrm>
              <a:off x="4700400" y="5788350"/>
              <a:ext cx="2433600" cy="5541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a:ln>
                    <a:noFill/>
                  </a:ln>
                  <a:solidFill>
                    <a:srgbClr val="0F2044"/>
                  </a:solidFill>
                  <a:effectLst/>
                  <a:uLnTx/>
                  <a:uFillTx/>
                  <a:latin typeface="Arial"/>
                  <a:cs typeface="Arial"/>
                  <a:sym typeface="Arial"/>
                </a:rPr>
                <a:t>critical section</a:t>
              </a:r>
              <a:endParaRPr kumimoji="0" sz="2400" b="1" i="0" u="none" strike="noStrike" kern="0" cap="none" spc="0" normalizeH="0" baseline="0" noProof="0">
                <a:ln>
                  <a:noFill/>
                </a:ln>
                <a:solidFill>
                  <a:srgbClr val="0F2044"/>
                </a:solidFill>
                <a:effectLst/>
                <a:uLnTx/>
                <a:uFillTx/>
                <a:latin typeface="Arial"/>
                <a:cs typeface="Arial"/>
                <a:sym typeface="Arial"/>
              </a:endParaRPr>
            </a:p>
          </p:txBody>
        </p:sp>
        <p:pic>
          <p:nvPicPr>
            <p:cNvPr id="514" name="Google Shape;514;p50"/>
            <p:cNvPicPr preferRelativeResize="0"/>
            <p:nvPr/>
          </p:nvPicPr>
          <p:blipFill rotWithShape="1">
            <a:blip r:embed="rId3">
              <a:alphaModFix/>
            </a:blip>
            <a:srcRect b="3091"/>
            <a:stretch/>
          </p:blipFill>
          <p:spPr>
            <a:xfrm>
              <a:off x="1559925" y="3225500"/>
              <a:ext cx="2389050" cy="2432975"/>
            </a:xfrm>
            <a:prstGeom prst="rect">
              <a:avLst/>
            </a:prstGeom>
            <a:noFill/>
            <a:ln>
              <a:noFill/>
            </a:ln>
          </p:spPr>
        </p:pic>
        <p:sp>
          <p:nvSpPr>
            <p:cNvPr id="515" name="Google Shape;515;p50"/>
            <p:cNvSpPr/>
            <p:nvPr/>
          </p:nvSpPr>
          <p:spPr>
            <a:xfrm>
              <a:off x="2560800" y="5788350"/>
              <a:ext cx="387300" cy="554100"/>
            </a:xfrm>
            <a:prstGeom prst="upArrow">
              <a:avLst>
                <a:gd name="adj1" fmla="val 50000"/>
                <a:gd name="adj2" fmla="val 50000"/>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516" name="Google Shape;516;p50"/>
            <p:cNvPicPr preferRelativeResize="0"/>
            <p:nvPr/>
          </p:nvPicPr>
          <p:blipFill>
            <a:blip r:embed="rId4">
              <a:alphaModFix/>
            </a:blip>
            <a:stretch>
              <a:fillRect/>
            </a:stretch>
          </p:blipFill>
          <p:spPr>
            <a:xfrm>
              <a:off x="7895324" y="3099743"/>
              <a:ext cx="2389050" cy="2495207"/>
            </a:xfrm>
            <a:prstGeom prst="rect">
              <a:avLst/>
            </a:prstGeom>
            <a:noFill/>
            <a:ln>
              <a:noFill/>
            </a:ln>
          </p:spPr>
        </p:pic>
        <p:pic>
          <p:nvPicPr>
            <p:cNvPr id="517" name="Google Shape;517;p50"/>
            <p:cNvPicPr preferRelativeResize="0"/>
            <p:nvPr/>
          </p:nvPicPr>
          <p:blipFill>
            <a:blip r:embed="rId5">
              <a:alphaModFix/>
            </a:blip>
            <a:stretch>
              <a:fillRect/>
            </a:stretch>
          </p:blipFill>
          <p:spPr>
            <a:xfrm>
              <a:off x="10460100" y="3378225"/>
              <a:ext cx="901025" cy="895918"/>
            </a:xfrm>
            <a:prstGeom prst="rect">
              <a:avLst/>
            </a:prstGeom>
            <a:noFill/>
            <a:ln>
              <a:noFill/>
            </a:ln>
          </p:spPr>
        </p:pic>
        <p:pic>
          <p:nvPicPr>
            <p:cNvPr id="518" name="Google Shape;518;p50"/>
            <p:cNvPicPr preferRelativeResize="0"/>
            <p:nvPr/>
          </p:nvPicPr>
          <p:blipFill>
            <a:blip r:embed="rId6">
              <a:alphaModFix/>
            </a:blip>
            <a:stretch>
              <a:fillRect/>
            </a:stretch>
          </p:blipFill>
          <p:spPr>
            <a:xfrm>
              <a:off x="559050" y="3307325"/>
              <a:ext cx="901025" cy="966825"/>
            </a:xfrm>
            <a:prstGeom prst="rect">
              <a:avLst/>
            </a:prstGeom>
            <a:noFill/>
            <a:ln>
              <a:noFill/>
            </a:ln>
          </p:spPr>
        </p:pic>
        <p:sp>
          <p:nvSpPr>
            <p:cNvPr id="519" name="Google Shape;519;p50"/>
            <p:cNvSpPr txBox="1"/>
            <p:nvPr/>
          </p:nvSpPr>
          <p:spPr>
            <a:xfrm>
              <a:off x="378075" y="4283975"/>
              <a:ext cx="1482300" cy="4926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a:ln>
                    <a:noFill/>
                  </a:ln>
                  <a:solidFill>
                    <a:srgbClr val="A00C30"/>
                  </a:solidFill>
                  <a:effectLst/>
                  <a:uLnTx/>
                  <a:uFillTx/>
                  <a:latin typeface="Arial"/>
                  <a:cs typeface="Arial"/>
                  <a:sym typeface="Arial"/>
                </a:rPr>
                <a:t>turn it on</a:t>
              </a:r>
              <a:endParaRPr kumimoji="0" sz="2000" b="1" i="0" u="none" strike="noStrike" kern="0" cap="none" spc="0" normalizeH="0" baseline="0" noProof="0">
                <a:ln>
                  <a:noFill/>
                </a:ln>
                <a:solidFill>
                  <a:srgbClr val="A00C30"/>
                </a:solidFill>
                <a:effectLst/>
                <a:uLnTx/>
                <a:uFillTx/>
                <a:latin typeface="Arial"/>
                <a:cs typeface="Arial"/>
                <a:sym typeface="Arial"/>
              </a:endParaRPr>
            </a:p>
          </p:txBody>
        </p:sp>
        <p:sp>
          <p:nvSpPr>
            <p:cNvPr id="520" name="Google Shape;520;p50"/>
            <p:cNvSpPr/>
            <p:nvPr/>
          </p:nvSpPr>
          <p:spPr>
            <a:xfrm>
              <a:off x="1" y="5030223"/>
              <a:ext cx="1819584" cy="1670220"/>
            </a:xfrm>
            <a:prstGeom prst="cloud">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a:ln>
                    <a:noFill/>
                  </a:ln>
                  <a:solidFill>
                    <a:srgbClr val="000000"/>
                  </a:solidFill>
                  <a:effectLst/>
                  <a:uLnTx/>
                  <a:uFillTx/>
                  <a:latin typeface="Arial"/>
                  <a:cs typeface="Arial"/>
                  <a:sym typeface="Arial"/>
                </a:rPr>
                <a:t>It’s my turn now!</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410375" y="1689861"/>
            <a:ext cx="2318385" cy="406400"/>
          </a:xfrm>
          <a:prstGeom prst="rect">
            <a:avLst/>
          </a:prstGeom>
        </p:spPr>
        <p:txBody>
          <a:bodyPr vert="horz" wrap="square" lIns="0" tIns="12700" rIns="0" bIns="0" rtlCol="0">
            <a:spAutoFit/>
          </a:bodyPr>
          <a:lstStyle/>
          <a:p>
            <a:pPr marL="12700">
              <a:lnSpc>
                <a:spcPct val="100000"/>
              </a:lnSpc>
              <a:spcBef>
                <a:spcPts val="100"/>
              </a:spcBef>
            </a:pPr>
            <a:r>
              <a:rPr dirty="0"/>
              <a:t>Race</a:t>
            </a:r>
            <a:r>
              <a:rPr spc="-75" dirty="0"/>
              <a:t> </a:t>
            </a:r>
            <a:r>
              <a:rPr spc="-10" dirty="0"/>
              <a:t>Conditions</a:t>
            </a:r>
          </a:p>
        </p:txBody>
      </p:sp>
      <p:sp>
        <p:nvSpPr>
          <p:cNvPr id="4" name="object 4"/>
          <p:cNvSpPr txBox="1"/>
          <p:nvPr/>
        </p:nvSpPr>
        <p:spPr>
          <a:xfrm>
            <a:off x="484450" y="2306677"/>
            <a:ext cx="5034280" cy="3406775"/>
          </a:xfrm>
          <a:prstGeom prst="rect">
            <a:avLst/>
          </a:prstGeom>
        </p:spPr>
        <p:txBody>
          <a:bodyPr vert="horz" wrap="square" lIns="0" tIns="12700" rIns="0" bIns="0" rtlCol="0">
            <a:spAutoFit/>
          </a:bodyPr>
          <a:lstStyle/>
          <a:p>
            <a:pPr marL="12700" marR="5080">
              <a:lnSpc>
                <a:spcPct val="114999"/>
              </a:lnSpc>
              <a:spcBef>
                <a:spcPts val="100"/>
              </a:spcBef>
            </a:pPr>
            <a:r>
              <a:rPr sz="1700" dirty="0">
                <a:latin typeface="Arial MT"/>
                <a:cs typeface="Arial MT"/>
              </a:rPr>
              <a:t>A</a:t>
            </a:r>
            <a:r>
              <a:rPr sz="1700" spc="-120" dirty="0">
                <a:latin typeface="Arial MT"/>
                <a:cs typeface="Arial MT"/>
              </a:rPr>
              <a:t> </a:t>
            </a:r>
            <a:r>
              <a:rPr sz="1700" b="1" dirty="0">
                <a:latin typeface="Arial"/>
                <a:cs typeface="Arial"/>
              </a:rPr>
              <a:t>race</a:t>
            </a:r>
            <a:r>
              <a:rPr sz="1700" b="1" spc="-70" dirty="0">
                <a:latin typeface="Arial"/>
                <a:cs typeface="Arial"/>
              </a:rPr>
              <a:t> </a:t>
            </a:r>
            <a:r>
              <a:rPr sz="1700" b="1" dirty="0">
                <a:latin typeface="Arial"/>
                <a:cs typeface="Arial"/>
              </a:rPr>
              <a:t>condition</a:t>
            </a:r>
            <a:r>
              <a:rPr sz="1700" b="1" spc="-50" dirty="0">
                <a:latin typeface="Arial"/>
                <a:cs typeface="Arial"/>
              </a:rPr>
              <a:t> </a:t>
            </a:r>
            <a:r>
              <a:rPr sz="1700" dirty="0">
                <a:latin typeface="Arial MT"/>
                <a:cs typeface="Arial MT"/>
              </a:rPr>
              <a:t>occurs</a:t>
            </a:r>
            <a:r>
              <a:rPr sz="1700" spc="-55" dirty="0">
                <a:latin typeface="Arial MT"/>
                <a:cs typeface="Arial MT"/>
              </a:rPr>
              <a:t> </a:t>
            </a:r>
            <a:r>
              <a:rPr sz="1700" dirty="0">
                <a:latin typeface="Arial MT"/>
                <a:cs typeface="Arial MT"/>
              </a:rPr>
              <a:t>when</a:t>
            </a:r>
            <a:r>
              <a:rPr sz="1700" spc="-55" dirty="0">
                <a:latin typeface="Arial MT"/>
                <a:cs typeface="Arial MT"/>
              </a:rPr>
              <a:t> </a:t>
            </a:r>
            <a:r>
              <a:rPr sz="1700" dirty="0">
                <a:latin typeface="Arial MT"/>
                <a:cs typeface="Arial MT"/>
              </a:rPr>
              <a:t>two</a:t>
            </a:r>
            <a:r>
              <a:rPr sz="1700" spc="-50" dirty="0">
                <a:latin typeface="Arial MT"/>
                <a:cs typeface="Arial MT"/>
              </a:rPr>
              <a:t> </a:t>
            </a:r>
            <a:r>
              <a:rPr sz="1700" dirty="0">
                <a:latin typeface="Arial MT"/>
                <a:cs typeface="Arial MT"/>
              </a:rPr>
              <a:t>or</a:t>
            </a:r>
            <a:r>
              <a:rPr sz="1700" spc="-55" dirty="0">
                <a:latin typeface="Arial MT"/>
                <a:cs typeface="Arial MT"/>
              </a:rPr>
              <a:t> </a:t>
            </a:r>
            <a:r>
              <a:rPr sz="1700" dirty="0">
                <a:latin typeface="Arial MT"/>
                <a:cs typeface="Arial MT"/>
              </a:rPr>
              <a:t>more</a:t>
            </a:r>
            <a:r>
              <a:rPr sz="1700" spc="-55" dirty="0">
                <a:latin typeface="Arial MT"/>
                <a:cs typeface="Arial MT"/>
              </a:rPr>
              <a:t> </a:t>
            </a:r>
            <a:r>
              <a:rPr sz="1700" spc="-10" dirty="0">
                <a:latin typeface="Arial MT"/>
                <a:cs typeface="Arial MT"/>
              </a:rPr>
              <a:t>threads </a:t>
            </a:r>
            <a:r>
              <a:rPr sz="1700" dirty="0">
                <a:latin typeface="Arial MT"/>
                <a:cs typeface="Arial MT"/>
              </a:rPr>
              <a:t>or</a:t>
            </a:r>
            <a:r>
              <a:rPr sz="1700" spc="-55" dirty="0">
                <a:latin typeface="Arial MT"/>
                <a:cs typeface="Arial MT"/>
              </a:rPr>
              <a:t> </a:t>
            </a:r>
            <a:r>
              <a:rPr sz="1700" dirty="0">
                <a:latin typeface="Arial MT"/>
                <a:cs typeface="Arial MT"/>
              </a:rPr>
              <a:t>processes</a:t>
            </a:r>
            <a:r>
              <a:rPr sz="1700" spc="-55" dirty="0">
                <a:latin typeface="Arial MT"/>
                <a:cs typeface="Arial MT"/>
              </a:rPr>
              <a:t> </a:t>
            </a:r>
            <a:r>
              <a:rPr sz="1700" dirty="0">
                <a:latin typeface="Arial MT"/>
                <a:cs typeface="Arial MT"/>
              </a:rPr>
              <a:t>access</a:t>
            </a:r>
            <a:r>
              <a:rPr sz="1700" spc="-50" dirty="0">
                <a:latin typeface="Arial MT"/>
                <a:cs typeface="Arial MT"/>
              </a:rPr>
              <a:t> </a:t>
            </a:r>
            <a:r>
              <a:rPr sz="1700" dirty="0">
                <a:latin typeface="Arial MT"/>
                <a:cs typeface="Arial MT"/>
              </a:rPr>
              <a:t>shared</a:t>
            </a:r>
            <a:r>
              <a:rPr sz="1700" spc="-55" dirty="0">
                <a:latin typeface="Arial MT"/>
                <a:cs typeface="Arial MT"/>
              </a:rPr>
              <a:t> </a:t>
            </a:r>
            <a:r>
              <a:rPr sz="1700" dirty="0">
                <a:latin typeface="Arial MT"/>
                <a:cs typeface="Arial MT"/>
              </a:rPr>
              <a:t>data</a:t>
            </a:r>
            <a:r>
              <a:rPr sz="1700" spc="-50" dirty="0">
                <a:latin typeface="Arial MT"/>
                <a:cs typeface="Arial MT"/>
              </a:rPr>
              <a:t> </a:t>
            </a:r>
            <a:r>
              <a:rPr sz="1700" dirty="0">
                <a:latin typeface="Arial MT"/>
                <a:cs typeface="Arial MT"/>
              </a:rPr>
              <a:t>at</a:t>
            </a:r>
            <a:r>
              <a:rPr sz="1700" spc="-55" dirty="0">
                <a:latin typeface="Arial MT"/>
                <a:cs typeface="Arial MT"/>
              </a:rPr>
              <a:t> </a:t>
            </a:r>
            <a:r>
              <a:rPr sz="1700" dirty="0">
                <a:latin typeface="Arial MT"/>
                <a:cs typeface="Arial MT"/>
              </a:rPr>
              <a:t>the</a:t>
            </a:r>
            <a:r>
              <a:rPr sz="1700" spc="-50" dirty="0">
                <a:latin typeface="Arial MT"/>
                <a:cs typeface="Arial MT"/>
              </a:rPr>
              <a:t> </a:t>
            </a:r>
            <a:r>
              <a:rPr sz="1700" dirty="0">
                <a:latin typeface="Arial MT"/>
                <a:cs typeface="Arial MT"/>
              </a:rPr>
              <a:t>same</a:t>
            </a:r>
            <a:r>
              <a:rPr sz="1700" spc="-55" dirty="0">
                <a:latin typeface="Arial MT"/>
                <a:cs typeface="Arial MT"/>
              </a:rPr>
              <a:t> </a:t>
            </a:r>
            <a:r>
              <a:rPr sz="1700" spc="-10" dirty="0">
                <a:latin typeface="Arial MT"/>
                <a:cs typeface="Arial MT"/>
              </a:rPr>
              <a:t>time, </a:t>
            </a:r>
            <a:r>
              <a:rPr sz="1700" dirty="0">
                <a:latin typeface="Arial MT"/>
                <a:cs typeface="Arial MT"/>
              </a:rPr>
              <a:t>and</a:t>
            </a:r>
            <a:r>
              <a:rPr sz="1700" spc="-55" dirty="0">
                <a:latin typeface="Arial MT"/>
                <a:cs typeface="Arial MT"/>
              </a:rPr>
              <a:t> </a:t>
            </a:r>
            <a:r>
              <a:rPr sz="1700" dirty="0">
                <a:latin typeface="Arial MT"/>
                <a:cs typeface="Arial MT"/>
              </a:rPr>
              <a:t>at</a:t>
            </a:r>
            <a:r>
              <a:rPr sz="1700" spc="-50" dirty="0">
                <a:latin typeface="Arial MT"/>
                <a:cs typeface="Arial MT"/>
              </a:rPr>
              <a:t> </a:t>
            </a:r>
            <a:r>
              <a:rPr sz="1700" dirty="0">
                <a:latin typeface="Arial MT"/>
                <a:cs typeface="Arial MT"/>
              </a:rPr>
              <a:t>least</a:t>
            </a:r>
            <a:r>
              <a:rPr sz="1700" spc="-50" dirty="0">
                <a:latin typeface="Arial MT"/>
                <a:cs typeface="Arial MT"/>
              </a:rPr>
              <a:t> </a:t>
            </a:r>
            <a:r>
              <a:rPr sz="1700" dirty="0">
                <a:latin typeface="Arial MT"/>
                <a:cs typeface="Arial MT"/>
              </a:rPr>
              <a:t>one</a:t>
            </a:r>
            <a:r>
              <a:rPr sz="1700" spc="-50" dirty="0">
                <a:latin typeface="Arial MT"/>
                <a:cs typeface="Arial MT"/>
              </a:rPr>
              <a:t> </a:t>
            </a:r>
            <a:r>
              <a:rPr sz="1700" dirty="0">
                <a:latin typeface="Arial MT"/>
                <a:cs typeface="Arial MT"/>
              </a:rPr>
              <a:t>thread</a:t>
            </a:r>
            <a:r>
              <a:rPr sz="1700" spc="-55" dirty="0">
                <a:latin typeface="Arial MT"/>
                <a:cs typeface="Arial MT"/>
              </a:rPr>
              <a:t> </a:t>
            </a:r>
            <a:r>
              <a:rPr sz="1700" dirty="0">
                <a:latin typeface="Arial MT"/>
                <a:cs typeface="Arial MT"/>
              </a:rPr>
              <a:t>modifies</a:t>
            </a:r>
            <a:r>
              <a:rPr sz="1700" spc="-50" dirty="0">
                <a:latin typeface="Arial MT"/>
                <a:cs typeface="Arial MT"/>
              </a:rPr>
              <a:t> </a:t>
            </a:r>
            <a:r>
              <a:rPr sz="1700" dirty="0">
                <a:latin typeface="Arial MT"/>
                <a:cs typeface="Arial MT"/>
              </a:rPr>
              <a:t>the</a:t>
            </a:r>
            <a:r>
              <a:rPr sz="1700" spc="-50" dirty="0">
                <a:latin typeface="Arial MT"/>
                <a:cs typeface="Arial MT"/>
              </a:rPr>
              <a:t> </a:t>
            </a:r>
            <a:r>
              <a:rPr sz="1700" dirty="0">
                <a:latin typeface="Arial MT"/>
                <a:cs typeface="Arial MT"/>
              </a:rPr>
              <a:t>data.</a:t>
            </a:r>
            <a:r>
              <a:rPr sz="1700" spc="-80" dirty="0">
                <a:latin typeface="Arial MT"/>
                <a:cs typeface="Arial MT"/>
              </a:rPr>
              <a:t> </a:t>
            </a:r>
            <a:r>
              <a:rPr sz="1700" dirty="0">
                <a:latin typeface="Arial MT"/>
                <a:cs typeface="Arial MT"/>
              </a:rPr>
              <a:t>This</a:t>
            </a:r>
            <a:r>
              <a:rPr sz="1700" spc="-50" dirty="0">
                <a:latin typeface="Arial MT"/>
                <a:cs typeface="Arial MT"/>
              </a:rPr>
              <a:t> </a:t>
            </a:r>
            <a:r>
              <a:rPr sz="1700" spc="-10" dirty="0">
                <a:latin typeface="Arial MT"/>
                <a:cs typeface="Arial MT"/>
              </a:rPr>
              <a:t>leads </a:t>
            </a:r>
            <a:r>
              <a:rPr sz="1700" dirty="0">
                <a:latin typeface="Arial MT"/>
                <a:cs typeface="Arial MT"/>
              </a:rPr>
              <a:t>to</a:t>
            </a:r>
            <a:r>
              <a:rPr sz="1700" spc="-55" dirty="0">
                <a:latin typeface="Arial MT"/>
                <a:cs typeface="Arial MT"/>
              </a:rPr>
              <a:t> </a:t>
            </a:r>
            <a:r>
              <a:rPr sz="1700" spc="-10" dirty="0">
                <a:latin typeface="Arial MT"/>
                <a:cs typeface="Arial MT"/>
              </a:rPr>
              <a:t>inconsistent</a:t>
            </a:r>
            <a:r>
              <a:rPr sz="1700" spc="-50" dirty="0">
                <a:latin typeface="Arial MT"/>
                <a:cs typeface="Arial MT"/>
              </a:rPr>
              <a:t> </a:t>
            </a:r>
            <a:r>
              <a:rPr sz="1700" dirty="0">
                <a:latin typeface="Arial MT"/>
                <a:cs typeface="Arial MT"/>
              </a:rPr>
              <a:t>or</a:t>
            </a:r>
            <a:r>
              <a:rPr sz="1700" spc="-55" dirty="0">
                <a:latin typeface="Arial MT"/>
                <a:cs typeface="Arial MT"/>
              </a:rPr>
              <a:t> </a:t>
            </a:r>
            <a:r>
              <a:rPr sz="1700" dirty="0">
                <a:latin typeface="Arial MT"/>
                <a:cs typeface="Arial MT"/>
              </a:rPr>
              <a:t>incorrect</a:t>
            </a:r>
            <a:r>
              <a:rPr sz="1700" spc="-50" dirty="0">
                <a:latin typeface="Arial MT"/>
                <a:cs typeface="Arial MT"/>
              </a:rPr>
              <a:t> </a:t>
            </a:r>
            <a:r>
              <a:rPr sz="1700" dirty="0">
                <a:latin typeface="Arial MT"/>
                <a:cs typeface="Arial MT"/>
              </a:rPr>
              <a:t>outcomes</a:t>
            </a:r>
            <a:r>
              <a:rPr sz="1700" spc="-55" dirty="0">
                <a:latin typeface="Arial MT"/>
                <a:cs typeface="Arial MT"/>
              </a:rPr>
              <a:t> </a:t>
            </a:r>
            <a:r>
              <a:rPr sz="1700" dirty="0">
                <a:latin typeface="Arial MT"/>
                <a:cs typeface="Arial MT"/>
              </a:rPr>
              <a:t>since</a:t>
            </a:r>
            <a:r>
              <a:rPr sz="1700" spc="-50" dirty="0">
                <a:latin typeface="Arial MT"/>
                <a:cs typeface="Arial MT"/>
              </a:rPr>
              <a:t> </a:t>
            </a:r>
            <a:r>
              <a:rPr sz="1700" dirty="0">
                <a:latin typeface="Arial MT"/>
                <a:cs typeface="Arial MT"/>
              </a:rPr>
              <a:t>the</a:t>
            </a:r>
            <a:r>
              <a:rPr sz="1700" spc="-55" dirty="0">
                <a:latin typeface="Arial MT"/>
                <a:cs typeface="Arial MT"/>
              </a:rPr>
              <a:t> </a:t>
            </a:r>
            <a:r>
              <a:rPr sz="1700" spc="-10" dirty="0">
                <a:latin typeface="Arial MT"/>
                <a:cs typeface="Arial MT"/>
              </a:rPr>
              <a:t>order </a:t>
            </a:r>
            <a:r>
              <a:rPr sz="1700" dirty="0">
                <a:latin typeface="Arial MT"/>
                <a:cs typeface="Arial MT"/>
              </a:rPr>
              <a:t>of</a:t>
            </a:r>
            <a:r>
              <a:rPr sz="1700" spc="-65" dirty="0">
                <a:latin typeface="Arial MT"/>
                <a:cs typeface="Arial MT"/>
              </a:rPr>
              <a:t> </a:t>
            </a:r>
            <a:r>
              <a:rPr sz="1700" dirty="0">
                <a:latin typeface="Arial MT"/>
                <a:cs typeface="Arial MT"/>
              </a:rPr>
              <a:t>execution</a:t>
            </a:r>
            <a:r>
              <a:rPr sz="1700" spc="-60" dirty="0">
                <a:latin typeface="Arial MT"/>
                <a:cs typeface="Arial MT"/>
              </a:rPr>
              <a:t> </a:t>
            </a:r>
            <a:r>
              <a:rPr sz="1700" dirty="0">
                <a:latin typeface="Arial MT"/>
                <a:cs typeface="Arial MT"/>
              </a:rPr>
              <a:t>impacts</a:t>
            </a:r>
            <a:r>
              <a:rPr sz="1700" spc="-60" dirty="0">
                <a:latin typeface="Arial MT"/>
                <a:cs typeface="Arial MT"/>
              </a:rPr>
              <a:t> </a:t>
            </a:r>
            <a:r>
              <a:rPr sz="1700" dirty="0">
                <a:latin typeface="Arial MT"/>
                <a:cs typeface="Arial MT"/>
              </a:rPr>
              <a:t>the</a:t>
            </a:r>
            <a:r>
              <a:rPr sz="1700" spc="-60" dirty="0">
                <a:latin typeface="Arial MT"/>
                <a:cs typeface="Arial MT"/>
              </a:rPr>
              <a:t> </a:t>
            </a:r>
            <a:r>
              <a:rPr sz="1700" dirty="0">
                <a:latin typeface="Arial MT"/>
                <a:cs typeface="Arial MT"/>
              </a:rPr>
              <a:t>final</a:t>
            </a:r>
            <a:r>
              <a:rPr sz="1700" spc="-60" dirty="0">
                <a:latin typeface="Arial MT"/>
                <a:cs typeface="Arial MT"/>
              </a:rPr>
              <a:t> </a:t>
            </a:r>
            <a:r>
              <a:rPr sz="1700" spc="-10" dirty="0">
                <a:latin typeface="Arial MT"/>
                <a:cs typeface="Arial MT"/>
              </a:rPr>
              <a:t>result.</a:t>
            </a:r>
            <a:endParaRPr sz="1700">
              <a:latin typeface="Arial MT"/>
              <a:cs typeface="Arial MT"/>
            </a:endParaRPr>
          </a:p>
          <a:p>
            <a:pPr>
              <a:lnSpc>
                <a:spcPct val="100000"/>
              </a:lnSpc>
              <a:spcBef>
                <a:spcPts val="695"/>
              </a:spcBef>
            </a:pPr>
            <a:endParaRPr sz="1700">
              <a:latin typeface="Arial MT"/>
              <a:cs typeface="Arial MT"/>
            </a:endParaRPr>
          </a:p>
          <a:p>
            <a:pPr marL="12700" marR="92075">
              <a:lnSpc>
                <a:spcPct val="100000"/>
              </a:lnSpc>
            </a:pPr>
            <a:r>
              <a:rPr sz="1700" dirty="0">
                <a:solidFill>
                  <a:srgbClr val="0F2044"/>
                </a:solidFill>
                <a:latin typeface="Arial MT"/>
                <a:cs typeface="Arial MT"/>
              </a:rPr>
              <a:t>In</a:t>
            </a:r>
            <a:r>
              <a:rPr sz="1700" spc="-45" dirty="0">
                <a:solidFill>
                  <a:srgbClr val="0F2044"/>
                </a:solidFill>
                <a:latin typeface="Arial MT"/>
                <a:cs typeface="Arial MT"/>
              </a:rPr>
              <a:t> </a:t>
            </a:r>
            <a:r>
              <a:rPr sz="1700" dirty="0">
                <a:solidFill>
                  <a:srgbClr val="0F2044"/>
                </a:solidFill>
                <a:latin typeface="Arial MT"/>
                <a:cs typeface="Arial MT"/>
              </a:rPr>
              <a:t>simpler</a:t>
            </a:r>
            <a:r>
              <a:rPr sz="1700" spc="-40" dirty="0">
                <a:solidFill>
                  <a:srgbClr val="0F2044"/>
                </a:solidFill>
                <a:latin typeface="Arial MT"/>
                <a:cs typeface="Arial MT"/>
              </a:rPr>
              <a:t> </a:t>
            </a:r>
            <a:r>
              <a:rPr sz="1700" dirty="0">
                <a:solidFill>
                  <a:srgbClr val="0F2044"/>
                </a:solidFill>
                <a:latin typeface="Arial MT"/>
                <a:cs typeface="Arial MT"/>
              </a:rPr>
              <a:t>terms,</a:t>
            </a:r>
            <a:r>
              <a:rPr sz="1700" spc="-40" dirty="0">
                <a:solidFill>
                  <a:srgbClr val="0F2044"/>
                </a:solidFill>
                <a:latin typeface="Arial MT"/>
                <a:cs typeface="Arial MT"/>
              </a:rPr>
              <a:t> </a:t>
            </a:r>
            <a:r>
              <a:rPr sz="1700" dirty="0">
                <a:solidFill>
                  <a:srgbClr val="0F2044"/>
                </a:solidFill>
                <a:latin typeface="Arial MT"/>
                <a:cs typeface="Arial MT"/>
              </a:rPr>
              <a:t>it's</a:t>
            </a:r>
            <a:r>
              <a:rPr sz="1700" spc="-45" dirty="0">
                <a:solidFill>
                  <a:srgbClr val="0F2044"/>
                </a:solidFill>
                <a:latin typeface="Arial MT"/>
                <a:cs typeface="Arial MT"/>
              </a:rPr>
              <a:t> </a:t>
            </a:r>
            <a:r>
              <a:rPr sz="1700" dirty="0">
                <a:solidFill>
                  <a:srgbClr val="0F2044"/>
                </a:solidFill>
                <a:latin typeface="Arial MT"/>
                <a:cs typeface="Arial MT"/>
              </a:rPr>
              <a:t>a</a:t>
            </a:r>
            <a:r>
              <a:rPr sz="1700" spc="-40" dirty="0">
                <a:solidFill>
                  <a:srgbClr val="0F2044"/>
                </a:solidFill>
                <a:latin typeface="Arial MT"/>
                <a:cs typeface="Arial MT"/>
              </a:rPr>
              <a:t> </a:t>
            </a:r>
            <a:r>
              <a:rPr sz="1700" dirty="0">
                <a:solidFill>
                  <a:srgbClr val="0F2044"/>
                </a:solidFill>
                <a:latin typeface="Arial MT"/>
                <a:cs typeface="Arial MT"/>
              </a:rPr>
              <a:t>problem</a:t>
            </a:r>
            <a:r>
              <a:rPr sz="1700" spc="-40" dirty="0">
                <a:solidFill>
                  <a:srgbClr val="0F2044"/>
                </a:solidFill>
                <a:latin typeface="Arial MT"/>
                <a:cs typeface="Arial MT"/>
              </a:rPr>
              <a:t> </a:t>
            </a:r>
            <a:r>
              <a:rPr sz="1700" dirty="0">
                <a:solidFill>
                  <a:srgbClr val="0F2044"/>
                </a:solidFill>
                <a:latin typeface="Arial MT"/>
                <a:cs typeface="Arial MT"/>
              </a:rPr>
              <a:t>that</a:t>
            </a:r>
            <a:r>
              <a:rPr sz="1700" spc="-40" dirty="0">
                <a:solidFill>
                  <a:srgbClr val="0F2044"/>
                </a:solidFill>
                <a:latin typeface="Arial MT"/>
                <a:cs typeface="Arial MT"/>
              </a:rPr>
              <a:t> </a:t>
            </a:r>
            <a:r>
              <a:rPr sz="1700" dirty="0">
                <a:solidFill>
                  <a:srgbClr val="0F2044"/>
                </a:solidFill>
                <a:latin typeface="Arial MT"/>
                <a:cs typeface="Arial MT"/>
              </a:rPr>
              <a:t>arises</a:t>
            </a:r>
            <a:r>
              <a:rPr sz="1700" spc="-45" dirty="0">
                <a:solidFill>
                  <a:srgbClr val="0F2044"/>
                </a:solidFill>
                <a:latin typeface="Arial MT"/>
                <a:cs typeface="Arial MT"/>
              </a:rPr>
              <a:t> </a:t>
            </a:r>
            <a:r>
              <a:rPr sz="1700" dirty="0">
                <a:solidFill>
                  <a:srgbClr val="0F2044"/>
                </a:solidFill>
                <a:latin typeface="Arial MT"/>
                <a:cs typeface="Arial MT"/>
              </a:rPr>
              <a:t>when</a:t>
            </a:r>
            <a:r>
              <a:rPr sz="1700" spc="-40" dirty="0">
                <a:solidFill>
                  <a:srgbClr val="0F2044"/>
                </a:solidFill>
                <a:latin typeface="Arial MT"/>
                <a:cs typeface="Arial MT"/>
              </a:rPr>
              <a:t> </a:t>
            </a:r>
            <a:r>
              <a:rPr sz="1700" spc="-25" dirty="0">
                <a:solidFill>
                  <a:srgbClr val="0F2044"/>
                </a:solidFill>
                <a:latin typeface="Arial MT"/>
                <a:cs typeface="Arial MT"/>
              </a:rPr>
              <a:t>the </a:t>
            </a:r>
            <a:r>
              <a:rPr sz="1700" dirty="0">
                <a:solidFill>
                  <a:srgbClr val="0F2044"/>
                </a:solidFill>
                <a:latin typeface="Arial MT"/>
                <a:cs typeface="Arial MT"/>
              </a:rPr>
              <a:t>result</a:t>
            </a:r>
            <a:r>
              <a:rPr sz="1700" spc="-45" dirty="0">
                <a:solidFill>
                  <a:srgbClr val="0F2044"/>
                </a:solidFill>
                <a:latin typeface="Arial MT"/>
                <a:cs typeface="Arial MT"/>
              </a:rPr>
              <a:t> </a:t>
            </a:r>
            <a:r>
              <a:rPr sz="1700" dirty="0">
                <a:solidFill>
                  <a:srgbClr val="0F2044"/>
                </a:solidFill>
                <a:latin typeface="Arial MT"/>
                <a:cs typeface="Arial MT"/>
              </a:rPr>
              <a:t>of</a:t>
            </a:r>
            <a:r>
              <a:rPr sz="1700" spc="-45" dirty="0">
                <a:solidFill>
                  <a:srgbClr val="0F2044"/>
                </a:solidFill>
                <a:latin typeface="Arial MT"/>
                <a:cs typeface="Arial MT"/>
              </a:rPr>
              <a:t> </a:t>
            </a:r>
            <a:r>
              <a:rPr sz="1700" dirty="0">
                <a:solidFill>
                  <a:srgbClr val="0F2044"/>
                </a:solidFill>
                <a:latin typeface="Arial MT"/>
                <a:cs typeface="Arial MT"/>
              </a:rPr>
              <a:t>an</a:t>
            </a:r>
            <a:r>
              <a:rPr sz="1700" spc="-45" dirty="0">
                <a:solidFill>
                  <a:srgbClr val="0F2044"/>
                </a:solidFill>
                <a:latin typeface="Arial MT"/>
                <a:cs typeface="Arial MT"/>
              </a:rPr>
              <a:t> </a:t>
            </a:r>
            <a:r>
              <a:rPr sz="1700" dirty="0">
                <a:solidFill>
                  <a:srgbClr val="0F2044"/>
                </a:solidFill>
                <a:latin typeface="Arial MT"/>
                <a:cs typeface="Arial MT"/>
              </a:rPr>
              <a:t>operation</a:t>
            </a:r>
            <a:r>
              <a:rPr sz="1700" spc="-45" dirty="0">
                <a:solidFill>
                  <a:srgbClr val="0F2044"/>
                </a:solidFill>
                <a:latin typeface="Arial MT"/>
                <a:cs typeface="Arial MT"/>
              </a:rPr>
              <a:t> </a:t>
            </a:r>
            <a:r>
              <a:rPr sz="1700" dirty="0">
                <a:solidFill>
                  <a:srgbClr val="0F2044"/>
                </a:solidFill>
                <a:latin typeface="Arial MT"/>
                <a:cs typeface="Arial MT"/>
              </a:rPr>
              <a:t>is</a:t>
            </a:r>
            <a:r>
              <a:rPr sz="1700" spc="-40" dirty="0">
                <a:solidFill>
                  <a:srgbClr val="0F2044"/>
                </a:solidFill>
                <a:latin typeface="Arial MT"/>
                <a:cs typeface="Arial MT"/>
              </a:rPr>
              <a:t> </a:t>
            </a:r>
            <a:r>
              <a:rPr sz="1700" spc="-10" dirty="0">
                <a:solidFill>
                  <a:srgbClr val="0F2044"/>
                </a:solidFill>
                <a:latin typeface="Arial MT"/>
                <a:cs typeface="Arial MT"/>
              </a:rPr>
              <a:t>dependent</a:t>
            </a:r>
            <a:r>
              <a:rPr sz="1700" spc="-45" dirty="0">
                <a:solidFill>
                  <a:srgbClr val="0F2044"/>
                </a:solidFill>
                <a:latin typeface="Arial MT"/>
                <a:cs typeface="Arial MT"/>
              </a:rPr>
              <a:t> </a:t>
            </a:r>
            <a:r>
              <a:rPr sz="1700" dirty="0">
                <a:solidFill>
                  <a:srgbClr val="0F2044"/>
                </a:solidFill>
                <a:latin typeface="Arial MT"/>
                <a:cs typeface="Arial MT"/>
              </a:rPr>
              <a:t>on</a:t>
            </a:r>
            <a:r>
              <a:rPr sz="1700" spc="-45" dirty="0">
                <a:solidFill>
                  <a:srgbClr val="0F2044"/>
                </a:solidFill>
                <a:latin typeface="Arial MT"/>
                <a:cs typeface="Arial MT"/>
              </a:rPr>
              <a:t> </a:t>
            </a:r>
            <a:r>
              <a:rPr sz="1700" dirty="0">
                <a:solidFill>
                  <a:srgbClr val="0F2044"/>
                </a:solidFill>
                <a:latin typeface="Arial MT"/>
                <a:cs typeface="Arial MT"/>
              </a:rPr>
              <a:t>the</a:t>
            </a:r>
            <a:r>
              <a:rPr sz="1700" spc="-45" dirty="0">
                <a:solidFill>
                  <a:srgbClr val="0F2044"/>
                </a:solidFill>
                <a:latin typeface="Arial MT"/>
                <a:cs typeface="Arial MT"/>
              </a:rPr>
              <a:t> </a:t>
            </a:r>
            <a:r>
              <a:rPr sz="1700" dirty="0">
                <a:solidFill>
                  <a:srgbClr val="0F2044"/>
                </a:solidFill>
                <a:latin typeface="Arial MT"/>
                <a:cs typeface="Arial MT"/>
              </a:rPr>
              <a:t>order</a:t>
            </a:r>
            <a:r>
              <a:rPr sz="1700" spc="-40" dirty="0">
                <a:solidFill>
                  <a:srgbClr val="0F2044"/>
                </a:solidFill>
                <a:latin typeface="Arial MT"/>
                <a:cs typeface="Arial MT"/>
              </a:rPr>
              <a:t> </a:t>
            </a:r>
            <a:r>
              <a:rPr sz="1700" spc="-25" dirty="0">
                <a:solidFill>
                  <a:srgbClr val="0F2044"/>
                </a:solidFill>
                <a:latin typeface="Arial MT"/>
                <a:cs typeface="Arial MT"/>
              </a:rPr>
              <a:t>in </a:t>
            </a:r>
            <a:r>
              <a:rPr sz="1700" dirty="0">
                <a:solidFill>
                  <a:srgbClr val="0F2044"/>
                </a:solidFill>
                <a:latin typeface="Arial MT"/>
                <a:cs typeface="Arial MT"/>
              </a:rPr>
              <a:t>which</a:t>
            </a:r>
            <a:r>
              <a:rPr sz="1700" spc="-55" dirty="0">
                <a:solidFill>
                  <a:srgbClr val="0F2044"/>
                </a:solidFill>
                <a:latin typeface="Arial MT"/>
                <a:cs typeface="Arial MT"/>
              </a:rPr>
              <a:t> </a:t>
            </a:r>
            <a:r>
              <a:rPr sz="1700" spc="-10" dirty="0">
                <a:solidFill>
                  <a:srgbClr val="0F2044"/>
                </a:solidFill>
                <a:latin typeface="Arial MT"/>
                <a:cs typeface="Arial MT"/>
              </a:rPr>
              <a:t>concurrent</a:t>
            </a:r>
            <a:r>
              <a:rPr sz="1700" spc="-55" dirty="0">
                <a:solidFill>
                  <a:srgbClr val="0F2044"/>
                </a:solidFill>
                <a:latin typeface="Arial MT"/>
                <a:cs typeface="Arial MT"/>
              </a:rPr>
              <a:t> </a:t>
            </a:r>
            <a:r>
              <a:rPr sz="1700" dirty="0">
                <a:solidFill>
                  <a:srgbClr val="0F2044"/>
                </a:solidFill>
                <a:latin typeface="Arial MT"/>
                <a:cs typeface="Arial MT"/>
              </a:rPr>
              <a:t>threads</a:t>
            </a:r>
            <a:r>
              <a:rPr sz="1700" spc="-55" dirty="0">
                <a:solidFill>
                  <a:srgbClr val="0F2044"/>
                </a:solidFill>
                <a:latin typeface="Arial MT"/>
                <a:cs typeface="Arial MT"/>
              </a:rPr>
              <a:t> </a:t>
            </a:r>
            <a:r>
              <a:rPr sz="1700" spc="-10" dirty="0">
                <a:solidFill>
                  <a:srgbClr val="0F2044"/>
                </a:solidFill>
                <a:latin typeface="Arial MT"/>
                <a:cs typeface="Arial MT"/>
              </a:rPr>
              <a:t>execute.</a:t>
            </a:r>
            <a:endParaRPr sz="1700">
              <a:latin typeface="Arial MT"/>
              <a:cs typeface="Arial MT"/>
            </a:endParaRPr>
          </a:p>
          <a:p>
            <a:pPr>
              <a:lnSpc>
                <a:spcPct val="100000"/>
              </a:lnSpc>
              <a:spcBef>
                <a:spcPts val="85"/>
              </a:spcBef>
            </a:pPr>
            <a:endParaRPr sz="1700">
              <a:latin typeface="Arial MT"/>
              <a:cs typeface="Arial MT"/>
            </a:endParaRPr>
          </a:p>
          <a:p>
            <a:pPr marL="12700" marR="387350">
              <a:lnSpc>
                <a:spcPct val="100000"/>
              </a:lnSpc>
            </a:pPr>
            <a:r>
              <a:rPr sz="1700" dirty="0">
                <a:solidFill>
                  <a:srgbClr val="0F2044"/>
                </a:solidFill>
                <a:latin typeface="Arial MT"/>
                <a:cs typeface="Arial MT"/>
              </a:rPr>
              <a:t>Let’s</a:t>
            </a:r>
            <a:r>
              <a:rPr sz="1700" spc="-50" dirty="0">
                <a:solidFill>
                  <a:srgbClr val="0F2044"/>
                </a:solidFill>
                <a:latin typeface="Arial MT"/>
                <a:cs typeface="Arial MT"/>
              </a:rPr>
              <a:t> </a:t>
            </a:r>
            <a:r>
              <a:rPr sz="1700" dirty="0">
                <a:solidFill>
                  <a:srgbClr val="0F2044"/>
                </a:solidFill>
                <a:latin typeface="Arial MT"/>
                <a:cs typeface="Arial MT"/>
              </a:rPr>
              <a:t>say</a:t>
            </a:r>
            <a:r>
              <a:rPr sz="1700" spc="-45" dirty="0">
                <a:solidFill>
                  <a:srgbClr val="0F2044"/>
                </a:solidFill>
                <a:latin typeface="Arial MT"/>
                <a:cs typeface="Arial MT"/>
              </a:rPr>
              <a:t> </a:t>
            </a:r>
            <a:r>
              <a:rPr sz="1700" dirty="0">
                <a:solidFill>
                  <a:srgbClr val="0F2044"/>
                </a:solidFill>
                <a:latin typeface="Arial MT"/>
                <a:cs typeface="Arial MT"/>
              </a:rPr>
              <a:t>we</a:t>
            </a:r>
            <a:r>
              <a:rPr sz="1700" spc="-45" dirty="0">
                <a:solidFill>
                  <a:srgbClr val="0F2044"/>
                </a:solidFill>
                <a:latin typeface="Arial MT"/>
                <a:cs typeface="Arial MT"/>
              </a:rPr>
              <a:t> </a:t>
            </a:r>
            <a:r>
              <a:rPr sz="1700" dirty="0">
                <a:solidFill>
                  <a:srgbClr val="0F2044"/>
                </a:solidFill>
                <a:latin typeface="Arial MT"/>
                <a:cs typeface="Arial MT"/>
              </a:rPr>
              <a:t>are</a:t>
            </a:r>
            <a:r>
              <a:rPr sz="1700" spc="-45" dirty="0">
                <a:solidFill>
                  <a:srgbClr val="0F2044"/>
                </a:solidFill>
                <a:latin typeface="Arial MT"/>
                <a:cs typeface="Arial MT"/>
              </a:rPr>
              <a:t> </a:t>
            </a:r>
            <a:r>
              <a:rPr sz="1700" dirty="0">
                <a:solidFill>
                  <a:srgbClr val="0F2044"/>
                </a:solidFill>
                <a:latin typeface="Arial MT"/>
                <a:cs typeface="Arial MT"/>
              </a:rPr>
              <a:t>trying</a:t>
            </a:r>
            <a:r>
              <a:rPr sz="1700" spc="-45" dirty="0">
                <a:solidFill>
                  <a:srgbClr val="0F2044"/>
                </a:solidFill>
                <a:latin typeface="Arial MT"/>
                <a:cs typeface="Arial MT"/>
              </a:rPr>
              <a:t> </a:t>
            </a:r>
            <a:r>
              <a:rPr sz="1700" dirty="0">
                <a:solidFill>
                  <a:srgbClr val="0F2044"/>
                </a:solidFill>
                <a:latin typeface="Arial MT"/>
                <a:cs typeface="Arial MT"/>
              </a:rPr>
              <a:t>to</a:t>
            </a:r>
            <a:r>
              <a:rPr sz="1700" spc="-45" dirty="0">
                <a:solidFill>
                  <a:srgbClr val="0F2044"/>
                </a:solidFill>
                <a:latin typeface="Arial MT"/>
                <a:cs typeface="Arial MT"/>
              </a:rPr>
              <a:t> </a:t>
            </a:r>
            <a:r>
              <a:rPr sz="1700" dirty="0">
                <a:solidFill>
                  <a:srgbClr val="0F2044"/>
                </a:solidFill>
                <a:latin typeface="Arial MT"/>
                <a:cs typeface="Arial MT"/>
              </a:rPr>
              <a:t>transfer</a:t>
            </a:r>
            <a:r>
              <a:rPr sz="1700" spc="-45" dirty="0">
                <a:solidFill>
                  <a:srgbClr val="0F2044"/>
                </a:solidFill>
                <a:latin typeface="Arial MT"/>
                <a:cs typeface="Arial MT"/>
              </a:rPr>
              <a:t> </a:t>
            </a:r>
            <a:r>
              <a:rPr sz="1700" dirty="0">
                <a:solidFill>
                  <a:srgbClr val="0F2044"/>
                </a:solidFill>
                <a:latin typeface="Arial MT"/>
                <a:cs typeface="Arial MT"/>
              </a:rPr>
              <a:t>$300</a:t>
            </a:r>
            <a:r>
              <a:rPr sz="1700" spc="-45" dirty="0">
                <a:solidFill>
                  <a:srgbClr val="0F2044"/>
                </a:solidFill>
                <a:latin typeface="Arial MT"/>
                <a:cs typeface="Arial MT"/>
              </a:rPr>
              <a:t> </a:t>
            </a:r>
            <a:r>
              <a:rPr sz="1700" dirty="0">
                <a:solidFill>
                  <a:srgbClr val="0F2044"/>
                </a:solidFill>
                <a:latin typeface="Arial MT"/>
                <a:cs typeface="Arial MT"/>
              </a:rPr>
              <a:t>from</a:t>
            </a:r>
            <a:r>
              <a:rPr sz="1700" spc="-45" dirty="0">
                <a:solidFill>
                  <a:srgbClr val="0F2044"/>
                </a:solidFill>
                <a:latin typeface="Arial MT"/>
                <a:cs typeface="Arial MT"/>
              </a:rPr>
              <a:t> </a:t>
            </a:r>
            <a:r>
              <a:rPr sz="1700" spc="-25" dirty="0">
                <a:solidFill>
                  <a:srgbClr val="0F2044"/>
                </a:solidFill>
                <a:latin typeface="Arial MT"/>
                <a:cs typeface="Arial MT"/>
              </a:rPr>
              <a:t>one </a:t>
            </a:r>
            <a:r>
              <a:rPr sz="1700" dirty="0">
                <a:solidFill>
                  <a:srgbClr val="0F2044"/>
                </a:solidFill>
                <a:latin typeface="Arial MT"/>
                <a:cs typeface="Arial MT"/>
              </a:rPr>
              <a:t>account</a:t>
            </a:r>
            <a:r>
              <a:rPr sz="1700" spc="-60" dirty="0">
                <a:solidFill>
                  <a:srgbClr val="0F2044"/>
                </a:solidFill>
                <a:latin typeface="Arial MT"/>
                <a:cs typeface="Arial MT"/>
              </a:rPr>
              <a:t> </a:t>
            </a:r>
            <a:r>
              <a:rPr sz="1700" dirty="0">
                <a:solidFill>
                  <a:srgbClr val="0F2044"/>
                </a:solidFill>
                <a:latin typeface="Arial MT"/>
                <a:cs typeface="Arial MT"/>
              </a:rPr>
              <a:t>to</a:t>
            </a:r>
            <a:r>
              <a:rPr sz="1700" spc="-60" dirty="0">
                <a:solidFill>
                  <a:srgbClr val="0F2044"/>
                </a:solidFill>
                <a:latin typeface="Arial MT"/>
                <a:cs typeface="Arial MT"/>
              </a:rPr>
              <a:t> </a:t>
            </a:r>
            <a:r>
              <a:rPr sz="1700" spc="-10" dirty="0">
                <a:solidFill>
                  <a:srgbClr val="0F2044"/>
                </a:solidFill>
                <a:latin typeface="Arial MT"/>
                <a:cs typeface="Arial MT"/>
              </a:rPr>
              <a:t>another.</a:t>
            </a:r>
            <a:endParaRPr sz="1700">
              <a:latin typeface="Arial MT"/>
              <a:cs typeface="Arial MT"/>
            </a:endParaRPr>
          </a:p>
        </p:txBody>
      </p:sp>
      <p:pic>
        <p:nvPicPr>
          <p:cNvPr id="2" name="object 2" descr="A flowchart of a bank transfer from Account A to Account B. It shows a successful path where A has sufficient funds, increments B, and decrements A, followed by a failed path where a second transfer is denied due to insufficient balance."/>
          <p:cNvPicPr/>
          <p:nvPr/>
        </p:nvPicPr>
        <p:blipFill>
          <a:blip r:embed="rId2" cstate="print"/>
          <a:stretch>
            <a:fillRect/>
          </a:stretch>
        </p:blipFill>
        <p:spPr>
          <a:xfrm>
            <a:off x="6083475" y="1046127"/>
            <a:ext cx="5553225" cy="5437525"/>
          </a:xfrm>
          <a:prstGeom prst="rect">
            <a:avLst/>
          </a:prstGeom>
        </p:spPr>
      </p:pic>
      <p:sp>
        <p:nvSpPr>
          <p:cNvPr id="5" name="object 5">
            <a:extLst>
              <a:ext uri="{C183D7F6-B498-43B3-948B-1728B52AA6E4}">
                <adec:decorative xmlns:adec="http://schemas.microsoft.com/office/drawing/2017/decorative" val="1"/>
              </a:ext>
            </a:extLst>
          </p:cNvPr>
          <p:cNvSpPr txBox="1"/>
          <p:nvPr/>
        </p:nvSpPr>
        <p:spPr>
          <a:xfrm>
            <a:off x="7957636" y="6605098"/>
            <a:ext cx="1887220" cy="139065"/>
          </a:xfrm>
          <a:prstGeom prst="rect">
            <a:avLst/>
          </a:prstGeom>
        </p:spPr>
        <p:txBody>
          <a:bodyPr vert="horz" wrap="square" lIns="0" tIns="3175" rIns="0" bIns="0" rtlCol="0">
            <a:spAutoFit/>
          </a:bodyPr>
          <a:lstStyle/>
          <a:p>
            <a:pPr marL="12700">
              <a:lnSpc>
                <a:spcPct val="100000"/>
              </a:lnSpc>
              <a:spcBef>
                <a:spcPts val="25"/>
              </a:spcBef>
            </a:pPr>
            <a:r>
              <a:rPr sz="800" dirty="0">
                <a:latin typeface="Arial MT"/>
                <a:cs typeface="Arial MT"/>
              </a:rPr>
              <a:t>Image</a:t>
            </a:r>
            <a:r>
              <a:rPr sz="800" spc="-35" dirty="0">
                <a:latin typeface="Arial MT"/>
                <a:cs typeface="Arial MT"/>
              </a:rPr>
              <a:t> </a:t>
            </a:r>
            <a:r>
              <a:rPr sz="800" dirty="0">
                <a:latin typeface="Arial MT"/>
                <a:cs typeface="Arial MT"/>
              </a:rPr>
              <a:t>credit</a:t>
            </a:r>
            <a:r>
              <a:rPr sz="800" spc="-35" dirty="0">
                <a:latin typeface="Arial MT"/>
                <a:cs typeface="Arial MT"/>
              </a:rPr>
              <a:t> </a:t>
            </a:r>
            <a:r>
              <a:rPr sz="800" dirty="0">
                <a:latin typeface="Arial MT"/>
                <a:cs typeface="Arial MT"/>
              </a:rPr>
              <a:t>-</a:t>
            </a:r>
            <a:r>
              <a:rPr sz="800" spc="-30" dirty="0">
                <a:latin typeface="Arial MT"/>
                <a:cs typeface="Arial MT"/>
              </a:rPr>
              <a:t> </a:t>
            </a:r>
            <a:r>
              <a:rPr sz="800" spc="-10" dirty="0">
                <a:latin typeface="Arial MT"/>
                <a:cs typeface="Arial MT"/>
                <a:hlinkClick r:id="rId3"/>
              </a:rPr>
              <a:t>https://www.baeldung.com/</a:t>
            </a:r>
            <a:endParaRPr sz="800" dirty="0">
              <a:latin typeface="Arial MT"/>
              <a:cs typeface="Arial MT"/>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410375" y="1689861"/>
            <a:ext cx="2318385" cy="406400"/>
          </a:xfrm>
          <a:prstGeom prst="rect">
            <a:avLst/>
          </a:prstGeom>
        </p:spPr>
        <p:txBody>
          <a:bodyPr vert="horz" wrap="square" lIns="0" tIns="12700" rIns="0" bIns="0" rtlCol="0">
            <a:spAutoFit/>
          </a:bodyPr>
          <a:lstStyle/>
          <a:p>
            <a:pPr marL="12700">
              <a:lnSpc>
                <a:spcPct val="100000"/>
              </a:lnSpc>
              <a:spcBef>
                <a:spcPts val="100"/>
              </a:spcBef>
            </a:pPr>
            <a:r>
              <a:rPr dirty="0"/>
              <a:t>Race</a:t>
            </a:r>
            <a:r>
              <a:rPr spc="-75" dirty="0"/>
              <a:t> </a:t>
            </a:r>
            <a:r>
              <a:rPr spc="-10" dirty="0"/>
              <a:t>Conditions</a:t>
            </a:r>
          </a:p>
        </p:txBody>
      </p:sp>
      <p:sp>
        <p:nvSpPr>
          <p:cNvPr id="4" name="object 4"/>
          <p:cNvSpPr txBox="1"/>
          <p:nvPr/>
        </p:nvSpPr>
        <p:spPr>
          <a:xfrm>
            <a:off x="636850" y="2726539"/>
            <a:ext cx="5029200" cy="1838960"/>
          </a:xfrm>
          <a:prstGeom prst="rect">
            <a:avLst/>
          </a:prstGeom>
        </p:spPr>
        <p:txBody>
          <a:bodyPr vert="horz" wrap="square" lIns="0" tIns="12700" rIns="0" bIns="0" rtlCol="0">
            <a:spAutoFit/>
          </a:bodyPr>
          <a:lstStyle/>
          <a:p>
            <a:pPr marL="12700" marR="5080">
              <a:lnSpc>
                <a:spcPct val="100000"/>
              </a:lnSpc>
              <a:spcBef>
                <a:spcPts val="100"/>
              </a:spcBef>
            </a:pPr>
            <a:r>
              <a:rPr sz="1700" spc="-10" dirty="0">
                <a:latin typeface="Arial MT"/>
                <a:cs typeface="Arial MT"/>
              </a:rPr>
              <a:t>However,</a:t>
            </a:r>
            <a:r>
              <a:rPr sz="1700" spc="-60" dirty="0">
                <a:latin typeface="Arial MT"/>
                <a:cs typeface="Arial MT"/>
              </a:rPr>
              <a:t> </a:t>
            </a:r>
            <a:r>
              <a:rPr sz="1700" dirty="0">
                <a:latin typeface="Arial MT"/>
                <a:cs typeface="Arial MT"/>
              </a:rPr>
              <a:t>if</a:t>
            </a:r>
            <a:r>
              <a:rPr sz="1700" spc="-55" dirty="0">
                <a:latin typeface="Arial MT"/>
                <a:cs typeface="Arial MT"/>
              </a:rPr>
              <a:t> </a:t>
            </a:r>
            <a:r>
              <a:rPr sz="1700" dirty="0">
                <a:latin typeface="Arial MT"/>
                <a:cs typeface="Arial MT"/>
              </a:rPr>
              <a:t>these</a:t>
            </a:r>
            <a:r>
              <a:rPr sz="1700" spc="-60" dirty="0">
                <a:latin typeface="Arial MT"/>
                <a:cs typeface="Arial MT"/>
              </a:rPr>
              <a:t> </a:t>
            </a:r>
            <a:r>
              <a:rPr sz="1700" dirty="0">
                <a:latin typeface="Arial MT"/>
                <a:cs typeface="Arial MT"/>
              </a:rPr>
              <a:t>two</a:t>
            </a:r>
            <a:r>
              <a:rPr sz="1700" spc="-55" dirty="0">
                <a:latin typeface="Arial MT"/>
                <a:cs typeface="Arial MT"/>
              </a:rPr>
              <a:t> </a:t>
            </a:r>
            <a:r>
              <a:rPr sz="1700" dirty="0">
                <a:latin typeface="Arial MT"/>
                <a:cs typeface="Arial MT"/>
              </a:rPr>
              <a:t>attempts</a:t>
            </a:r>
            <a:r>
              <a:rPr sz="1700" spc="-55" dirty="0">
                <a:latin typeface="Arial MT"/>
                <a:cs typeface="Arial MT"/>
              </a:rPr>
              <a:t> </a:t>
            </a:r>
            <a:r>
              <a:rPr sz="1700" dirty="0">
                <a:latin typeface="Arial MT"/>
                <a:cs typeface="Arial MT"/>
              </a:rPr>
              <a:t>are</a:t>
            </a:r>
            <a:r>
              <a:rPr sz="1700" spc="-60" dirty="0">
                <a:latin typeface="Arial MT"/>
                <a:cs typeface="Arial MT"/>
              </a:rPr>
              <a:t> </a:t>
            </a:r>
            <a:r>
              <a:rPr sz="1700" dirty="0">
                <a:latin typeface="Arial MT"/>
                <a:cs typeface="Arial MT"/>
              </a:rPr>
              <a:t>kicked</a:t>
            </a:r>
            <a:r>
              <a:rPr sz="1700" spc="-55" dirty="0">
                <a:latin typeface="Arial MT"/>
                <a:cs typeface="Arial MT"/>
              </a:rPr>
              <a:t> </a:t>
            </a:r>
            <a:r>
              <a:rPr sz="1700" spc="-25" dirty="0">
                <a:latin typeface="Arial MT"/>
                <a:cs typeface="Arial MT"/>
              </a:rPr>
              <a:t>off </a:t>
            </a:r>
            <a:r>
              <a:rPr sz="1700" spc="-10" dirty="0">
                <a:latin typeface="Arial MT"/>
                <a:cs typeface="Arial MT"/>
              </a:rPr>
              <a:t>simultaneously,</a:t>
            </a:r>
            <a:r>
              <a:rPr sz="1700" spc="-65" dirty="0">
                <a:latin typeface="Arial MT"/>
                <a:cs typeface="Arial MT"/>
              </a:rPr>
              <a:t> </a:t>
            </a:r>
            <a:r>
              <a:rPr sz="1700" dirty="0">
                <a:latin typeface="Arial MT"/>
                <a:cs typeface="Arial MT"/>
              </a:rPr>
              <a:t>in</a:t>
            </a:r>
            <a:r>
              <a:rPr sz="1700" spc="-60" dirty="0">
                <a:latin typeface="Arial MT"/>
                <a:cs typeface="Arial MT"/>
              </a:rPr>
              <a:t> </a:t>
            </a:r>
            <a:r>
              <a:rPr sz="1700" spc="-10" dirty="0">
                <a:latin typeface="Arial MT"/>
                <a:cs typeface="Arial MT"/>
              </a:rPr>
              <a:t>different</a:t>
            </a:r>
            <a:r>
              <a:rPr sz="1700" spc="-60" dirty="0">
                <a:latin typeface="Arial MT"/>
                <a:cs typeface="Arial MT"/>
              </a:rPr>
              <a:t> </a:t>
            </a:r>
            <a:r>
              <a:rPr sz="1700" dirty="0">
                <a:latin typeface="Arial MT"/>
                <a:cs typeface="Arial MT"/>
              </a:rPr>
              <a:t>processes</a:t>
            </a:r>
            <a:r>
              <a:rPr sz="1700" spc="-65" dirty="0">
                <a:latin typeface="Arial MT"/>
                <a:cs typeface="Arial MT"/>
              </a:rPr>
              <a:t> </a:t>
            </a:r>
            <a:r>
              <a:rPr sz="1700" dirty="0">
                <a:latin typeface="Arial MT"/>
                <a:cs typeface="Arial MT"/>
              </a:rPr>
              <a:t>or</a:t>
            </a:r>
            <a:r>
              <a:rPr sz="1700" spc="-60" dirty="0">
                <a:latin typeface="Arial MT"/>
                <a:cs typeface="Arial MT"/>
              </a:rPr>
              <a:t> </a:t>
            </a:r>
            <a:r>
              <a:rPr sz="1700" dirty="0">
                <a:latin typeface="Arial MT"/>
                <a:cs typeface="Arial MT"/>
              </a:rPr>
              <a:t>threads,</a:t>
            </a:r>
            <a:r>
              <a:rPr sz="1700" spc="-60" dirty="0">
                <a:latin typeface="Arial MT"/>
                <a:cs typeface="Arial MT"/>
              </a:rPr>
              <a:t> </a:t>
            </a:r>
            <a:r>
              <a:rPr sz="1700" spc="-25" dirty="0">
                <a:latin typeface="Arial MT"/>
                <a:cs typeface="Arial MT"/>
              </a:rPr>
              <a:t>we </a:t>
            </a:r>
            <a:r>
              <a:rPr sz="1700" dirty="0">
                <a:latin typeface="Arial MT"/>
                <a:cs typeface="Arial MT"/>
              </a:rPr>
              <a:t>may</a:t>
            </a:r>
            <a:r>
              <a:rPr sz="1700" spc="-60" dirty="0">
                <a:latin typeface="Arial MT"/>
                <a:cs typeface="Arial MT"/>
              </a:rPr>
              <a:t> </a:t>
            </a:r>
            <a:r>
              <a:rPr sz="1700" dirty="0">
                <a:latin typeface="Arial MT"/>
                <a:cs typeface="Arial MT"/>
              </a:rPr>
              <a:t>observe</a:t>
            </a:r>
            <a:r>
              <a:rPr sz="1700" spc="-55" dirty="0">
                <a:latin typeface="Arial MT"/>
                <a:cs typeface="Arial MT"/>
              </a:rPr>
              <a:t> </a:t>
            </a:r>
            <a:r>
              <a:rPr sz="1700" dirty="0">
                <a:latin typeface="Arial MT"/>
                <a:cs typeface="Arial MT"/>
              </a:rPr>
              <a:t>some</a:t>
            </a:r>
            <a:r>
              <a:rPr sz="1700" spc="-55" dirty="0">
                <a:latin typeface="Arial MT"/>
                <a:cs typeface="Arial MT"/>
              </a:rPr>
              <a:t> </a:t>
            </a:r>
            <a:r>
              <a:rPr sz="1700" spc="-10" dirty="0">
                <a:latin typeface="Arial MT"/>
                <a:cs typeface="Arial MT"/>
              </a:rPr>
              <a:t>undesired</a:t>
            </a:r>
            <a:r>
              <a:rPr sz="1700" spc="-55" dirty="0">
                <a:latin typeface="Arial MT"/>
                <a:cs typeface="Arial MT"/>
              </a:rPr>
              <a:t> </a:t>
            </a:r>
            <a:r>
              <a:rPr sz="1700" spc="-10" dirty="0">
                <a:latin typeface="Arial MT"/>
                <a:cs typeface="Arial MT"/>
              </a:rPr>
              <a:t>behavior.</a:t>
            </a:r>
            <a:endParaRPr sz="1700">
              <a:latin typeface="Arial MT"/>
              <a:cs typeface="Arial MT"/>
            </a:endParaRPr>
          </a:p>
          <a:p>
            <a:pPr>
              <a:lnSpc>
                <a:spcPct val="100000"/>
              </a:lnSpc>
            </a:pPr>
            <a:endParaRPr sz="1700">
              <a:latin typeface="Arial MT"/>
              <a:cs typeface="Arial MT"/>
            </a:endParaRPr>
          </a:p>
          <a:p>
            <a:pPr>
              <a:lnSpc>
                <a:spcPct val="100000"/>
              </a:lnSpc>
              <a:spcBef>
                <a:spcPts val="170"/>
              </a:spcBef>
            </a:pPr>
            <a:endParaRPr sz="1700">
              <a:latin typeface="Arial MT"/>
              <a:cs typeface="Arial MT"/>
            </a:endParaRPr>
          </a:p>
          <a:p>
            <a:pPr marL="12700" marR="231775">
              <a:lnSpc>
                <a:spcPct val="100000"/>
              </a:lnSpc>
            </a:pPr>
            <a:r>
              <a:rPr sz="1700" b="1" dirty="0">
                <a:solidFill>
                  <a:srgbClr val="A00C30"/>
                </a:solidFill>
                <a:latin typeface="Arial"/>
                <a:cs typeface="Arial"/>
              </a:rPr>
              <a:t>We’ve</a:t>
            </a:r>
            <a:r>
              <a:rPr sz="1700" b="1" spc="-45" dirty="0">
                <a:solidFill>
                  <a:srgbClr val="A00C30"/>
                </a:solidFill>
                <a:latin typeface="Arial"/>
                <a:cs typeface="Arial"/>
              </a:rPr>
              <a:t> </a:t>
            </a:r>
            <a:r>
              <a:rPr sz="1700" b="1" spc="-10" dirty="0">
                <a:solidFill>
                  <a:srgbClr val="A00C30"/>
                </a:solidFill>
                <a:latin typeface="Arial"/>
                <a:cs typeface="Arial"/>
              </a:rPr>
              <a:t>encountered</a:t>
            </a:r>
            <a:r>
              <a:rPr sz="1700" b="1" spc="-40" dirty="0">
                <a:solidFill>
                  <a:srgbClr val="A00C30"/>
                </a:solidFill>
                <a:latin typeface="Arial"/>
                <a:cs typeface="Arial"/>
              </a:rPr>
              <a:t> </a:t>
            </a:r>
            <a:r>
              <a:rPr sz="1700" b="1" dirty="0">
                <a:solidFill>
                  <a:srgbClr val="A00C30"/>
                </a:solidFill>
                <a:latin typeface="Arial"/>
                <a:cs typeface="Arial"/>
              </a:rPr>
              <a:t>a</a:t>
            </a:r>
            <a:r>
              <a:rPr sz="1700" b="1" spc="-40" dirty="0">
                <a:solidFill>
                  <a:srgbClr val="A00C30"/>
                </a:solidFill>
                <a:latin typeface="Arial"/>
                <a:cs typeface="Arial"/>
              </a:rPr>
              <a:t> </a:t>
            </a:r>
            <a:r>
              <a:rPr sz="1700" b="1" dirty="0">
                <a:solidFill>
                  <a:srgbClr val="A00C30"/>
                </a:solidFill>
                <a:latin typeface="Arial"/>
                <a:cs typeface="Arial"/>
              </a:rPr>
              <a:t>race</a:t>
            </a:r>
            <a:r>
              <a:rPr sz="1700" b="1" spc="-45" dirty="0">
                <a:solidFill>
                  <a:srgbClr val="A00C30"/>
                </a:solidFill>
                <a:latin typeface="Arial"/>
                <a:cs typeface="Arial"/>
              </a:rPr>
              <a:t> </a:t>
            </a:r>
            <a:r>
              <a:rPr sz="1700" b="1" spc="-10" dirty="0">
                <a:solidFill>
                  <a:srgbClr val="A00C30"/>
                </a:solidFill>
                <a:latin typeface="Arial"/>
                <a:cs typeface="Arial"/>
              </a:rPr>
              <a:t>condition</a:t>
            </a:r>
            <a:r>
              <a:rPr sz="1700" b="1" spc="-40" dirty="0">
                <a:solidFill>
                  <a:srgbClr val="A00C30"/>
                </a:solidFill>
                <a:latin typeface="Arial"/>
                <a:cs typeface="Arial"/>
              </a:rPr>
              <a:t> </a:t>
            </a:r>
            <a:r>
              <a:rPr sz="1700" b="1" dirty="0">
                <a:solidFill>
                  <a:srgbClr val="A00C30"/>
                </a:solidFill>
                <a:latin typeface="Arial"/>
                <a:cs typeface="Arial"/>
              </a:rPr>
              <a:t>due</a:t>
            </a:r>
            <a:r>
              <a:rPr sz="1700" b="1" spc="-45" dirty="0">
                <a:solidFill>
                  <a:srgbClr val="A00C30"/>
                </a:solidFill>
                <a:latin typeface="Arial"/>
                <a:cs typeface="Arial"/>
              </a:rPr>
              <a:t> </a:t>
            </a:r>
            <a:r>
              <a:rPr sz="1700" b="1" dirty="0">
                <a:solidFill>
                  <a:srgbClr val="A00C30"/>
                </a:solidFill>
                <a:latin typeface="Arial"/>
                <a:cs typeface="Arial"/>
              </a:rPr>
              <a:t>to</a:t>
            </a:r>
            <a:r>
              <a:rPr sz="1700" b="1" spc="-40" dirty="0">
                <a:solidFill>
                  <a:srgbClr val="A00C30"/>
                </a:solidFill>
                <a:latin typeface="Arial"/>
                <a:cs typeface="Arial"/>
              </a:rPr>
              <a:t> </a:t>
            </a:r>
            <a:r>
              <a:rPr sz="1700" b="1" spc="-25" dirty="0">
                <a:solidFill>
                  <a:srgbClr val="A00C30"/>
                </a:solidFill>
                <a:latin typeface="Arial"/>
                <a:cs typeface="Arial"/>
              </a:rPr>
              <a:t>the </a:t>
            </a:r>
            <a:r>
              <a:rPr sz="1700" b="1" spc="-10" dirty="0">
                <a:solidFill>
                  <a:srgbClr val="A00C30"/>
                </a:solidFill>
                <a:latin typeface="Arial"/>
                <a:cs typeface="Arial"/>
              </a:rPr>
              <a:t>interleaving</a:t>
            </a:r>
            <a:r>
              <a:rPr sz="1700" b="1" spc="-25" dirty="0">
                <a:solidFill>
                  <a:srgbClr val="A00C30"/>
                </a:solidFill>
                <a:latin typeface="Arial"/>
                <a:cs typeface="Arial"/>
              </a:rPr>
              <a:t> </a:t>
            </a:r>
            <a:r>
              <a:rPr sz="1700" b="1" dirty="0">
                <a:solidFill>
                  <a:srgbClr val="A00C30"/>
                </a:solidFill>
                <a:latin typeface="Arial"/>
                <a:cs typeface="Arial"/>
              </a:rPr>
              <a:t>of</a:t>
            </a:r>
            <a:r>
              <a:rPr sz="1700" b="1" spc="-25" dirty="0">
                <a:solidFill>
                  <a:srgbClr val="A00C30"/>
                </a:solidFill>
                <a:latin typeface="Arial"/>
                <a:cs typeface="Arial"/>
              </a:rPr>
              <a:t> </a:t>
            </a:r>
            <a:r>
              <a:rPr sz="1700" b="1" dirty="0">
                <a:solidFill>
                  <a:srgbClr val="A00C30"/>
                </a:solidFill>
                <a:latin typeface="Arial"/>
                <a:cs typeface="Arial"/>
              </a:rPr>
              <a:t>our</a:t>
            </a:r>
            <a:r>
              <a:rPr sz="1700" b="1" spc="-20" dirty="0">
                <a:solidFill>
                  <a:srgbClr val="A00C30"/>
                </a:solidFill>
                <a:latin typeface="Arial"/>
                <a:cs typeface="Arial"/>
              </a:rPr>
              <a:t> </a:t>
            </a:r>
            <a:r>
              <a:rPr sz="1700" b="1" spc="-10" dirty="0">
                <a:solidFill>
                  <a:srgbClr val="A00C30"/>
                </a:solidFill>
                <a:latin typeface="Arial"/>
                <a:cs typeface="Arial"/>
              </a:rPr>
              <a:t>execution</a:t>
            </a:r>
            <a:r>
              <a:rPr sz="1700" b="1" spc="-25" dirty="0">
                <a:solidFill>
                  <a:srgbClr val="A00C30"/>
                </a:solidFill>
                <a:latin typeface="Arial"/>
                <a:cs typeface="Arial"/>
              </a:rPr>
              <a:t> </a:t>
            </a:r>
            <a:r>
              <a:rPr sz="1700" b="1" spc="-10" dirty="0">
                <a:solidFill>
                  <a:srgbClr val="A00C30"/>
                </a:solidFill>
                <a:latin typeface="Arial"/>
                <a:cs typeface="Arial"/>
              </a:rPr>
              <a:t>flows.</a:t>
            </a:r>
            <a:endParaRPr sz="1700">
              <a:latin typeface="Arial"/>
              <a:cs typeface="Arial"/>
            </a:endParaRPr>
          </a:p>
        </p:txBody>
      </p:sp>
      <p:pic>
        <p:nvPicPr>
          <p:cNvPr id="2" name="object 2" descr="Two parallel flowcharts showing a concurrency error in a bank transfer. In the second flow, a check for Account A’s balance fails to account for a simultaneous transaction, resulting in a final balance of -100."/>
          <p:cNvPicPr/>
          <p:nvPr/>
        </p:nvPicPr>
        <p:blipFill>
          <a:blip r:embed="rId3" cstate="print"/>
          <a:stretch>
            <a:fillRect/>
          </a:stretch>
        </p:blipFill>
        <p:spPr>
          <a:xfrm>
            <a:off x="6316850" y="996026"/>
            <a:ext cx="4490224" cy="5388249"/>
          </a:xfrm>
          <a:prstGeom prst="rect">
            <a:avLst/>
          </a:prstGeom>
        </p:spPr>
      </p:pic>
      <p:sp>
        <p:nvSpPr>
          <p:cNvPr id="5" name="object 5">
            <a:extLst>
              <a:ext uri="{C183D7F6-B498-43B3-948B-1728B52AA6E4}">
                <adec:decorative xmlns:adec="http://schemas.microsoft.com/office/drawing/2017/decorative" val="1"/>
              </a:ext>
            </a:extLst>
          </p:cNvPr>
          <p:cNvSpPr txBox="1"/>
          <p:nvPr/>
        </p:nvSpPr>
        <p:spPr>
          <a:xfrm>
            <a:off x="7652836" y="6376498"/>
            <a:ext cx="1887220" cy="139065"/>
          </a:xfrm>
          <a:prstGeom prst="rect">
            <a:avLst/>
          </a:prstGeom>
        </p:spPr>
        <p:txBody>
          <a:bodyPr vert="horz" wrap="square" lIns="0" tIns="3175" rIns="0" bIns="0" rtlCol="0">
            <a:spAutoFit/>
          </a:bodyPr>
          <a:lstStyle/>
          <a:p>
            <a:pPr marL="12700">
              <a:lnSpc>
                <a:spcPct val="100000"/>
              </a:lnSpc>
              <a:spcBef>
                <a:spcPts val="25"/>
              </a:spcBef>
            </a:pPr>
            <a:r>
              <a:rPr sz="800" dirty="0">
                <a:latin typeface="Arial MT"/>
                <a:cs typeface="Arial MT"/>
              </a:rPr>
              <a:t>Image</a:t>
            </a:r>
            <a:r>
              <a:rPr sz="800" spc="-35" dirty="0">
                <a:latin typeface="Arial MT"/>
                <a:cs typeface="Arial MT"/>
              </a:rPr>
              <a:t> </a:t>
            </a:r>
            <a:r>
              <a:rPr sz="800" dirty="0">
                <a:latin typeface="Arial MT"/>
                <a:cs typeface="Arial MT"/>
              </a:rPr>
              <a:t>credit</a:t>
            </a:r>
            <a:r>
              <a:rPr sz="800" spc="-35" dirty="0">
                <a:latin typeface="Arial MT"/>
                <a:cs typeface="Arial MT"/>
              </a:rPr>
              <a:t> </a:t>
            </a:r>
            <a:r>
              <a:rPr sz="800" dirty="0">
                <a:latin typeface="Arial MT"/>
                <a:cs typeface="Arial MT"/>
              </a:rPr>
              <a:t>-</a:t>
            </a:r>
            <a:r>
              <a:rPr sz="800" spc="-30" dirty="0">
                <a:latin typeface="Arial MT"/>
                <a:cs typeface="Arial MT"/>
              </a:rPr>
              <a:t> </a:t>
            </a:r>
            <a:r>
              <a:rPr sz="800" spc="-10" dirty="0">
                <a:latin typeface="Arial MT"/>
                <a:cs typeface="Arial MT"/>
                <a:hlinkClick r:id="rId4"/>
              </a:rPr>
              <a:t>https://www.baeldung.com/</a:t>
            </a:r>
            <a:endParaRPr sz="800" dirty="0">
              <a:latin typeface="Arial MT"/>
              <a:cs typeface="Arial MT"/>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0375" y="1066800"/>
            <a:ext cx="2318385" cy="406400"/>
          </a:xfrm>
          <a:prstGeom prst="rect">
            <a:avLst/>
          </a:prstGeom>
        </p:spPr>
        <p:txBody>
          <a:bodyPr vert="horz" wrap="square" lIns="0" tIns="12700" rIns="0" bIns="0" rtlCol="0">
            <a:spAutoFit/>
          </a:bodyPr>
          <a:lstStyle/>
          <a:p>
            <a:pPr marL="12700">
              <a:lnSpc>
                <a:spcPct val="100000"/>
              </a:lnSpc>
              <a:spcBef>
                <a:spcPts val="100"/>
              </a:spcBef>
            </a:pPr>
            <a:r>
              <a:rPr dirty="0"/>
              <a:t>Race</a:t>
            </a:r>
            <a:r>
              <a:rPr spc="-75" dirty="0"/>
              <a:t> </a:t>
            </a:r>
            <a:r>
              <a:rPr spc="-10" dirty="0"/>
              <a:t>Conditions</a:t>
            </a:r>
          </a:p>
        </p:txBody>
      </p:sp>
      <p:sp>
        <p:nvSpPr>
          <p:cNvPr id="3" name="object 3"/>
          <p:cNvSpPr txBox="1"/>
          <p:nvPr/>
        </p:nvSpPr>
        <p:spPr>
          <a:xfrm>
            <a:off x="228600" y="1725018"/>
            <a:ext cx="5181600" cy="4937121"/>
          </a:xfrm>
          <a:prstGeom prst="rect">
            <a:avLst/>
          </a:prstGeom>
        </p:spPr>
        <p:txBody>
          <a:bodyPr vert="horz" wrap="square" lIns="0" tIns="12700" rIns="0" bIns="0" rtlCol="0">
            <a:spAutoFit/>
          </a:bodyPr>
          <a:lstStyle/>
          <a:p>
            <a:pPr marL="12700">
              <a:lnSpc>
                <a:spcPct val="100000"/>
              </a:lnSpc>
              <a:spcBef>
                <a:spcPts val="100"/>
              </a:spcBef>
            </a:pPr>
            <a:r>
              <a:rPr sz="1400" b="1" dirty="0">
                <a:latin typeface="Arial"/>
                <a:cs typeface="Arial"/>
              </a:rPr>
              <a:t>Global</a:t>
            </a:r>
            <a:r>
              <a:rPr sz="1400" b="1" spc="-55" dirty="0">
                <a:latin typeface="Arial"/>
                <a:cs typeface="Arial"/>
              </a:rPr>
              <a:t> </a:t>
            </a:r>
            <a:r>
              <a:rPr sz="1400" b="1" dirty="0">
                <a:latin typeface="Arial"/>
                <a:cs typeface="Arial"/>
              </a:rPr>
              <a:t>Counter</a:t>
            </a:r>
            <a:r>
              <a:rPr sz="1400" b="1" spc="-50" dirty="0">
                <a:latin typeface="Arial"/>
                <a:cs typeface="Arial"/>
              </a:rPr>
              <a:t> </a:t>
            </a:r>
            <a:r>
              <a:rPr sz="1400" b="1" spc="-10" dirty="0">
                <a:latin typeface="Arial"/>
                <a:cs typeface="Arial"/>
              </a:rPr>
              <a:t>Variable</a:t>
            </a:r>
            <a:r>
              <a:rPr sz="1400" spc="-10" dirty="0">
                <a:latin typeface="Arial MT"/>
                <a:cs typeface="Arial MT"/>
              </a:rPr>
              <a:t>:</a:t>
            </a:r>
            <a:endParaRPr sz="1400" dirty="0">
              <a:latin typeface="Arial MT"/>
              <a:cs typeface="Arial MT"/>
            </a:endParaRPr>
          </a:p>
          <a:p>
            <a:pPr>
              <a:lnSpc>
                <a:spcPct val="100000"/>
              </a:lnSpc>
              <a:spcBef>
                <a:spcPts val="60"/>
              </a:spcBef>
            </a:pPr>
            <a:endParaRPr sz="1400" dirty="0">
              <a:latin typeface="Arial MT"/>
              <a:cs typeface="Arial MT"/>
            </a:endParaRPr>
          </a:p>
          <a:p>
            <a:pPr marL="469900" marR="454659" indent="-320675">
              <a:lnSpc>
                <a:spcPct val="100000"/>
              </a:lnSpc>
              <a:buChar char="●"/>
              <a:tabLst>
                <a:tab pos="469900" algn="l"/>
              </a:tabLst>
            </a:pPr>
            <a:r>
              <a:rPr sz="1400" dirty="0">
                <a:latin typeface="Arial MT"/>
                <a:cs typeface="Arial MT"/>
              </a:rPr>
              <a:t>The</a:t>
            </a:r>
            <a:r>
              <a:rPr sz="1400" spc="-15" dirty="0">
                <a:latin typeface="Arial MT"/>
                <a:cs typeface="Arial MT"/>
              </a:rPr>
              <a:t> </a:t>
            </a:r>
            <a:r>
              <a:rPr sz="1400" b="1" spc="-20" dirty="0">
                <a:solidFill>
                  <a:srgbClr val="188037"/>
                </a:solidFill>
                <a:latin typeface="Courier New"/>
                <a:cs typeface="Courier New"/>
              </a:rPr>
              <a:t>counter</a:t>
            </a:r>
            <a:r>
              <a:rPr sz="1400" spc="-390" dirty="0">
                <a:solidFill>
                  <a:srgbClr val="188037"/>
                </a:solidFill>
                <a:latin typeface="Courier New"/>
                <a:cs typeface="Courier New"/>
              </a:rPr>
              <a:t> </a:t>
            </a:r>
            <a:r>
              <a:rPr sz="1400" dirty="0">
                <a:latin typeface="Arial MT"/>
                <a:cs typeface="Arial MT"/>
              </a:rPr>
              <a:t>variable</a:t>
            </a:r>
            <a:r>
              <a:rPr sz="1400" spc="-10" dirty="0">
                <a:latin typeface="Arial MT"/>
                <a:cs typeface="Arial MT"/>
              </a:rPr>
              <a:t> </a:t>
            </a:r>
            <a:r>
              <a:rPr sz="1400" dirty="0">
                <a:latin typeface="Arial MT"/>
                <a:cs typeface="Arial MT"/>
              </a:rPr>
              <a:t>is</a:t>
            </a:r>
            <a:r>
              <a:rPr sz="1400" spc="-10" dirty="0">
                <a:latin typeface="Arial MT"/>
                <a:cs typeface="Arial MT"/>
              </a:rPr>
              <a:t> </a:t>
            </a:r>
            <a:r>
              <a:rPr sz="1400" dirty="0">
                <a:latin typeface="Arial MT"/>
                <a:cs typeface="Arial MT"/>
              </a:rPr>
              <a:t>declared</a:t>
            </a:r>
            <a:r>
              <a:rPr sz="1400" spc="-10" dirty="0">
                <a:latin typeface="Arial MT"/>
                <a:cs typeface="Arial MT"/>
              </a:rPr>
              <a:t> </a:t>
            </a:r>
            <a:r>
              <a:rPr sz="1400" dirty="0">
                <a:latin typeface="Arial MT"/>
                <a:cs typeface="Arial MT"/>
              </a:rPr>
              <a:t>as</a:t>
            </a:r>
            <a:r>
              <a:rPr sz="1400" spc="-10" dirty="0">
                <a:latin typeface="Arial MT"/>
                <a:cs typeface="Arial MT"/>
              </a:rPr>
              <a:t> </a:t>
            </a:r>
            <a:r>
              <a:rPr sz="1400" dirty="0">
                <a:latin typeface="Arial MT"/>
                <a:cs typeface="Arial MT"/>
              </a:rPr>
              <a:t>a</a:t>
            </a:r>
            <a:r>
              <a:rPr sz="1400" spc="-10" dirty="0">
                <a:latin typeface="Arial MT"/>
                <a:cs typeface="Arial MT"/>
              </a:rPr>
              <a:t> </a:t>
            </a:r>
            <a:r>
              <a:rPr sz="1400" dirty="0">
                <a:latin typeface="Arial MT"/>
                <a:cs typeface="Arial MT"/>
              </a:rPr>
              <a:t>global</a:t>
            </a:r>
            <a:r>
              <a:rPr sz="1400" spc="-15" dirty="0">
                <a:latin typeface="Arial MT"/>
                <a:cs typeface="Arial MT"/>
              </a:rPr>
              <a:t> </a:t>
            </a:r>
            <a:r>
              <a:rPr sz="1400" spc="-10" dirty="0">
                <a:latin typeface="Arial MT"/>
                <a:cs typeface="Arial MT"/>
              </a:rPr>
              <a:t>integer, </a:t>
            </a:r>
            <a:r>
              <a:rPr sz="1400" dirty="0">
                <a:latin typeface="Arial MT"/>
                <a:cs typeface="Arial MT"/>
              </a:rPr>
              <a:t>accessible</a:t>
            </a:r>
            <a:r>
              <a:rPr sz="1400" spc="-15" dirty="0">
                <a:latin typeface="Arial MT"/>
                <a:cs typeface="Arial MT"/>
              </a:rPr>
              <a:t> </a:t>
            </a:r>
            <a:r>
              <a:rPr sz="1400" dirty="0">
                <a:latin typeface="Arial MT"/>
                <a:cs typeface="Arial MT"/>
              </a:rPr>
              <a:t>by</a:t>
            </a:r>
            <a:r>
              <a:rPr sz="1400" spc="-15" dirty="0">
                <a:latin typeface="Arial MT"/>
                <a:cs typeface="Arial MT"/>
              </a:rPr>
              <a:t> </a:t>
            </a:r>
            <a:r>
              <a:rPr sz="1400" dirty="0">
                <a:latin typeface="Arial MT"/>
                <a:cs typeface="Arial MT"/>
              </a:rPr>
              <a:t>all</a:t>
            </a:r>
            <a:r>
              <a:rPr sz="1400" spc="-15" dirty="0">
                <a:latin typeface="Arial MT"/>
                <a:cs typeface="Arial MT"/>
              </a:rPr>
              <a:t> </a:t>
            </a:r>
            <a:r>
              <a:rPr sz="1400" dirty="0">
                <a:latin typeface="Arial MT"/>
                <a:cs typeface="Arial MT"/>
              </a:rPr>
              <a:t>threads</a:t>
            </a:r>
            <a:r>
              <a:rPr sz="1400" spc="-15" dirty="0">
                <a:latin typeface="Arial MT"/>
                <a:cs typeface="Arial MT"/>
              </a:rPr>
              <a:t> </a:t>
            </a:r>
            <a:r>
              <a:rPr sz="1400" dirty="0">
                <a:latin typeface="Arial MT"/>
                <a:cs typeface="Arial MT"/>
              </a:rPr>
              <a:t>in</a:t>
            </a:r>
            <a:r>
              <a:rPr sz="1400" spc="-15" dirty="0">
                <a:latin typeface="Arial MT"/>
                <a:cs typeface="Arial MT"/>
              </a:rPr>
              <a:t> </a:t>
            </a:r>
            <a:r>
              <a:rPr sz="1400" dirty="0">
                <a:latin typeface="Arial MT"/>
                <a:cs typeface="Arial MT"/>
              </a:rPr>
              <a:t>the</a:t>
            </a:r>
            <a:r>
              <a:rPr sz="1400" spc="-15" dirty="0">
                <a:latin typeface="Arial MT"/>
                <a:cs typeface="Arial MT"/>
              </a:rPr>
              <a:t> </a:t>
            </a:r>
            <a:r>
              <a:rPr sz="1400" spc="-10" dirty="0">
                <a:latin typeface="Arial MT"/>
                <a:cs typeface="Arial MT"/>
              </a:rPr>
              <a:t>program.</a:t>
            </a:r>
            <a:endParaRPr sz="1400" dirty="0">
              <a:latin typeface="Arial MT"/>
              <a:cs typeface="Arial MT"/>
            </a:endParaRPr>
          </a:p>
          <a:p>
            <a:pPr>
              <a:lnSpc>
                <a:spcPct val="100000"/>
              </a:lnSpc>
              <a:spcBef>
                <a:spcPts val="60"/>
              </a:spcBef>
              <a:buFont typeface="Arial MT"/>
              <a:buChar char="●"/>
            </a:pPr>
            <a:endParaRPr sz="1400" dirty="0">
              <a:latin typeface="Arial MT"/>
              <a:cs typeface="Arial MT"/>
            </a:endParaRPr>
          </a:p>
          <a:p>
            <a:pPr marL="12700">
              <a:lnSpc>
                <a:spcPct val="100000"/>
              </a:lnSpc>
            </a:pPr>
            <a:r>
              <a:rPr sz="1400" b="1" dirty="0">
                <a:latin typeface="Arial"/>
                <a:cs typeface="Arial"/>
              </a:rPr>
              <a:t>Increment</a:t>
            </a:r>
            <a:r>
              <a:rPr sz="1400" b="1" spc="-10" dirty="0">
                <a:latin typeface="Arial"/>
                <a:cs typeface="Arial"/>
              </a:rPr>
              <a:t> Function (</a:t>
            </a:r>
            <a:r>
              <a:rPr sz="1400" b="1" spc="-10" dirty="0">
                <a:solidFill>
                  <a:srgbClr val="188037"/>
                </a:solidFill>
                <a:latin typeface="Courier New"/>
                <a:cs typeface="Courier New"/>
              </a:rPr>
              <a:t>increment_counter</a:t>
            </a:r>
            <a:r>
              <a:rPr sz="1400" b="1" spc="-10" dirty="0">
                <a:latin typeface="Arial"/>
                <a:cs typeface="Arial"/>
              </a:rPr>
              <a:t>)</a:t>
            </a:r>
            <a:r>
              <a:rPr sz="1400" spc="-10" dirty="0">
                <a:latin typeface="Arial MT"/>
                <a:cs typeface="Arial MT"/>
              </a:rPr>
              <a:t>:</a:t>
            </a:r>
            <a:endParaRPr sz="1400" dirty="0">
              <a:latin typeface="Arial MT"/>
              <a:cs typeface="Arial MT"/>
            </a:endParaRPr>
          </a:p>
          <a:p>
            <a:pPr marL="469900" marR="241935" indent="-320675">
              <a:lnSpc>
                <a:spcPct val="114999"/>
              </a:lnSpc>
              <a:spcBef>
                <a:spcPts val="985"/>
              </a:spcBef>
              <a:spcAft>
                <a:spcPts val="600"/>
              </a:spcAft>
              <a:buChar char="●"/>
              <a:tabLst>
                <a:tab pos="469900" algn="l"/>
              </a:tabLst>
            </a:pPr>
            <a:r>
              <a:rPr sz="1400" dirty="0">
                <a:latin typeface="Arial MT"/>
                <a:cs typeface="Arial MT"/>
              </a:rPr>
              <a:t>This</a:t>
            </a:r>
            <a:r>
              <a:rPr sz="1400" spc="-25" dirty="0">
                <a:latin typeface="Arial MT"/>
                <a:cs typeface="Arial MT"/>
              </a:rPr>
              <a:t> </a:t>
            </a:r>
            <a:r>
              <a:rPr sz="1400" dirty="0">
                <a:latin typeface="Arial MT"/>
                <a:cs typeface="Arial MT"/>
              </a:rPr>
              <a:t>function</a:t>
            </a:r>
            <a:r>
              <a:rPr sz="1400" spc="-10" dirty="0">
                <a:latin typeface="Arial MT"/>
                <a:cs typeface="Arial MT"/>
              </a:rPr>
              <a:t> </a:t>
            </a:r>
            <a:r>
              <a:rPr sz="1400" dirty="0">
                <a:latin typeface="Arial MT"/>
                <a:cs typeface="Arial MT"/>
              </a:rPr>
              <a:t>is</a:t>
            </a:r>
            <a:r>
              <a:rPr sz="1400" spc="-15" dirty="0">
                <a:latin typeface="Arial MT"/>
                <a:cs typeface="Arial MT"/>
              </a:rPr>
              <a:t> </a:t>
            </a:r>
            <a:r>
              <a:rPr sz="1400" dirty="0">
                <a:latin typeface="Arial MT"/>
                <a:cs typeface="Arial MT"/>
              </a:rPr>
              <a:t>designed</a:t>
            </a:r>
            <a:r>
              <a:rPr sz="1400" spc="-10" dirty="0">
                <a:latin typeface="Arial MT"/>
                <a:cs typeface="Arial MT"/>
              </a:rPr>
              <a:t> </a:t>
            </a:r>
            <a:r>
              <a:rPr sz="1400" dirty="0">
                <a:latin typeface="Arial MT"/>
                <a:cs typeface="Arial MT"/>
              </a:rPr>
              <a:t>to</a:t>
            </a:r>
            <a:r>
              <a:rPr sz="1400" spc="-15" dirty="0">
                <a:latin typeface="Arial MT"/>
                <a:cs typeface="Arial MT"/>
              </a:rPr>
              <a:t> </a:t>
            </a:r>
            <a:r>
              <a:rPr sz="1400" dirty="0">
                <a:latin typeface="Arial MT"/>
                <a:cs typeface="Arial MT"/>
              </a:rPr>
              <a:t>increment</a:t>
            </a:r>
            <a:r>
              <a:rPr sz="1400" spc="5" dirty="0">
                <a:latin typeface="Arial MT"/>
                <a:cs typeface="Arial MT"/>
              </a:rPr>
              <a:t> </a:t>
            </a:r>
            <a:r>
              <a:rPr sz="1400" b="1" spc="-20" dirty="0">
                <a:solidFill>
                  <a:srgbClr val="188037"/>
                </a:solidFill>
                <a:latin typeface="Courier New"/>
                <a:cs typeface="Courier New"/>
              </a:rPr>
              <a:t>counter</a:t>
            </a:r>
            <a:r>
              <a:rPr sz="1400" spc="-390" dirty="0">
                <a:solidFill>
                  <a:srgbClr val="188037"/>
                </a:solidFill>
                <a:latin typeface="Courier New"/>
                <a:cs typeface="Courier New"/>
              </a:rPr>
              <a:t> </a:t>
            </a:r>
            <a:r>
              <a:rPr sz="1400" spc="-10" dirty="0">
                <a:latin typeface="Arial MT"/>
                <a:cs typeface="Arial MT"/>
              </a:rPr>
              <a:t>100,000 times.</a:t>
            </a:r>
            <a:endParaRPr sz="1400" dirty="0">
              <a:latin typeface="Arial MT"/>
              <a:cs typeface="Arial MT"/>
            </a:endParaRPr>
          </a:p>
          <a:p>
            <a:pPr marL="469900" marR="5080" indent="-320675">
              <a:lnSpc>
                <a:spcPct val="114999"/>
              </a:lnSpc>
              <a:buChar char="●"/>
              <a:tabLst>
                <a:tab pos="469900" algn="l"/>
              </a:tabLst>
            </a:pPr>
            <a:r>
              <a:rPr sz="1400" dirty="0">
                <a:latin typeface="Arial MT"/>
                <a:cs typeface="Arial MT"/>
              </a:rPr>
              <a:t>However,</a:t>
            </a:r>
            <a:r>
              <a:rPr sz="1400" spc="-5" dirty="0">
                <a:latin typeface="Arial MT"/>
                <a:cs typeface="Arial MT"/>
              </a:rPr>
              <a:t> </a:t>
            </a:r>
            <a:r>
              <a:rPr sz="1400" b="1" spc="-20" dirty="0">
                <a:solidFill>
                  <a:srgbClr val="188037"/>
                </a:solidFill>
                <a:latin typeface="Courier New"/>
                <a:cs typeface="Courier New"/>
              </a:rPr>
              <a:t>counter++</a:t>
            </a:r>
            <a:r>
              <a:rPr sz="1400" b="1" spc="-390" dirty="0">
                <a:solidFill>
                  <a:srgbClr val="188037"/>
                </a:solidFill>
                <a:latin typeface="Courier New"/>
                <a:cs typeface="Courier New"/>
              </a:rPr>
              <a:t> </a:t>
            </a:r>
            <a:r>
              <a:rPr sz="1400" dirty="0">
                <a:latin typeface="Arial MT"/>
                <a:cs typeface="Arial MT"/>
              </a:rPr>
              <a:t>is</a:t>
            </a:r>
            <a:r>
              <a:rPr sz="1400" spc="-5" dirty="0">
                <a:latin typeface="Arial MT"/>
                <a:cs typeface="Arial MT"/>
              </a:rPr>
              <a:t> </a:t>
            </a:r>
            <a:r>
              <a:rPr sz="1400" dirty="0">
                <a:latin typeface="Arial MT"/>
                <a:cs typeface="Arial MT"/>
              </a:rPr>
              <a:t>not</a:t>
            </a:r>
            <a:r>
              <a:rPr sz="1400" spc="-5" dirty="0">
                <a:latin typeface="Arial MT"/>
                <a:cs typeface="Arial MT"/>
              </a:rPr>
              <a:t> </a:t>
            </a:r>
            <a:r>
              <a:rPr sz="1400" spc="-10" dirty="0">
                <a:latin typeface="Arial MT"/>
                <a:cs typeface="Arial MT"/>
              </a:rPr>
              <a:t>thread-</a:t>
            </a:r>
            <a:r>
              <a:rPr sz="1400" dirty="0">
                <a:latin typeface="Arial MT"/>
                <a:cs typeface="Arial MT"/>
              </a:rPr>
              <a:t>safe.</a:t>
            </a:r>
            <a:r>
              <a:rPr sz="1400" spc="-25" dirty="0">
                <a:latin typeface="Arial MT"/>
                <a:cs typeface="Arial MT"/>
              </a:rPr>
              <a:t> </a:t>
            </a:r>
            <a:r>
              <a:rPr sz="1400" dirty="0">
                <a:latin typeface="Arial MT"/>
                <a:cs typeface="Arial MT"/>
              </a:rPr>
              <a:t>This</a:t>
            </a:r>
            <a:r>
              <a:rPr sz="1400" spc="-5" dirty="0">
                <a:latin typeface="Arial MT"/>
                <a:cs typeface="Arial MT"/>
              </a:rPr>
              <a:t> </a:t>
            </a:r>
            <a:r>
              <a:rPr sz="1400" spc="-10" dirty="0">
                <a:latin typeface="Arial MT"/>
                <a:cs typeface="Arial MT"/>
              </a:rPr>
              <a:t>operation </a:t>
            </a:r>
            <a:r>
              <a:rPr sz="1400" dirty="0">
                <a:latin typeface="Arial MT"/>
                <a:cs typeface="Arial MT"/>
              </a:rPr>
              <a:t>involves</a:t>
            </a:r>
            <a:r>
              <a:rPr sz="1400" spc="-25" dirty="0">
                <a:latin typeface="Arial MT"/>
                <a:cs typeface="Arial MT"/>
              </a:rPr>
              <a:t> </a:t>
            </a:r>
            <a:r>
              <a:rPr sz="1400" dirty="0">
                <a:latin typeface="Arial MT"/>
                <a:cs typeface="Arial MT"/>
              </a:rPr>
              <a:t>three</a:t>
            </a:r>
            <a:r>
              <a:rPr sz="1400" spc="-25" dirty="0">
                <a:latin typeface="Arial MT"/>
                <a:cs typeface="Arial MT"/>
              </a:rPr>
              <a:t> </a:t>
            </a:r>
            <a:r>
              <a:rPr sz="1400" dirty="0">
                <a:latin typeface="Arial MT"/>
                <a:cs typeface="Arial MT"/>
              </a:rPr>
              <a:t>steps:</a:t>
            </a:r>
            <a:r>
              <a:rPr sz="1400" spc="-25" dirty="0">
                <a:latin typeface="Arial MT"/>
                <a:cs typeface="Arial MT"/>
              </a:rPr>
              <a:t> </a:t>
            </a:r>
            <a:r>
              <a:rPr sz="1400" dirty="0">
                <a:latin typeface="Arial MT"/>
                <a:cs typeface="Arial MT"/>
              </a:rPr>
              <a:t>reading</a:t>
            </a:r>
            <a:r>
              <a:rPr sz="1400" spc="-25" dirty="0">
                <a:latin typeface="Arial MT"/>
                <a:cs typeface="Arial MT"/>
              </a:rPr>
              <a:t> </a:t>
            </a:r>
            <a:r>
              <a:rPr sz="1400" dirty="0">
                <a:latin typeface="Arial MT"/>
                <a:cs typeface="Arial MT"/>
              </a:rPr>
              <a:t>the</a:t>
            </a:r>
            <a:r>
              <a:rPr sz="1400" spc="-25" dirty="0">
                <a:latin typeface="Arial MT"/>
                <a:cs typeface="Arial MT"/>
              </a:rPr>
              <a:t> </a:t>
            </a:r>
            <a:r>
              <a:rPr sz="1400" dirty="0">
                <a:latin typeface="Arial MT"/>
                <a:cs typeface="Arial MT"/>
              </a:rPr>
              <a:t>current</a:t>
            </a:r>
            <a:r>
              <a:rPr sz="1400" spc="-25" dirty="0">
                <a:latin typeface="Arial MT"/>
                <a:cs typeface="Arial MT"/>
              </a:rPr>
              <a:t> </a:t>
            </a:r>
            <a:r>
              <a:rPr sz="1400" dirty="0">
                <a:latin typeface="Arial MT"/>
                <a:cs typeface="Arial MT"/>
              </a:rPr>
              <a:t>value,</a:t>
            </a:r>
            <a:r>
              <a:rPr sz="1400" spc="-25" dirty="0">
                <a:latin typeface="Arial MT"/>
                <a:cs typeface="Arial MT"/>
              </a:rPr>
              <a:t> </a:t>
            </a:r>
            <a:r>
              <a:rPr sz="1400" spc="-10" dirty="0">
                <a:latin typeface="Arial MT"/>
                <a:cs typeface="Arial MT"/>
              </a:rPr>
              <a:t>incrementing </a:t>
            </a:r>
            <a:r>
              <a:rPr sz="1400" dirty="0">
                <a:latin typeface="Arial MT"/>
                <a:cs typeface="Arial MT"/>
              </a:rPr>
              <a:t>it,</a:t>
            </a:r>
            <a:r>
              <a:rPr sz="1400" spc="-25" dirty="0">
                <a:latin typeface="Arial MT"/>
                <a:cs typeface="Arial MT"/>
              </a:rPr>
              <a:t> </a:t>
            </a:r>
            <a:r>
              <a:rPr sz="1400" dirty="0">
                <a:latin typeface="Arial MT"/>
                <a:cs typeface="Arial MT"/>
              </a:rPr>
              <a:t>and</a:t>
            </a:r>
            <a:r>
              <a:rPr sz="1400" spc="-20" dirty="0">
                <a:latin typeface="Arial MT"/>
                <a:cs typeface="Arial MT"/>
              </a:rPr>
              <a:t> </a:t>
            </a:r>
            <a:r>
              <a:rPr sz="1400" dirty="0">
                <a:latin typeface="Arial MT"/>
                <a:cs typeface="Arial MT"/>
              </a:rPr>
              <a:t>then</a:t>
            </a:r>
            <a:r>
              <a:rPr sz="1400" spc="-20" dirty="0">
                <a:latin typeface="Arial MT"/>
                <a:cs typeface="Arial MT"/>
              </a:rPr>
              <a:t> </a:t>
            </a:r>
            <a:r>
              <a:rPr sz="1400" dirty="0">
                <a:latin typeface="Arial MT"/>
                <a:cs typeface="Arial MT"/>
              </a:rPr>
              <a:t>storing</a:t>
            </a:r>
            <a:r>
              <a:rPr sz="1400" spc="-20" dirty="0">
                <a:latin typeface="Arial MT"/>
                <a:cs typeface="Arial MT"/>
              </a:rPr>
              <a:t> </a:t>
            </a:r>
            <a:r>
              <a:rPr sz="1400" dirty="0">
                <a:latin typeface="Arial MT"/>
                <a:cs typeface="Arial MT"/>
              </a:rPr>
              <a:t>the</a:t>
            </a:r>
            <a:r>
              <a:rPr sz="1400" spc="-20" dirty="0">
                <a:latin typeface="Arial MT"/>
                <a:cs typeface="Arial MT"/>
              </a:rPr>
              <a:t> </a:t>
            </a:r>
            <a:r>
              <a:rPr sz="1400" dirty="0">
                <a:latin typeface="Arial MT"/>
                <a:cs typeface="Arial MT"/>
              </a:rPr>
              <a:t>new</a:t>
            </a:r>
            <a:r>
              <a:rPr sz="1400" spc="-20" dirty="0">
                <a:latin typeface="Arial MT"/>
                <a:cs typeface="Arial MT"/>
              </a:rPr>
              <a:t> </a:t>
            </a:r>
            <a:r>
              <a:rPr sz="1400" dirty="0">
                <a:latin typeface="Arial MT"/>
                <a:cs typeface="Arial MT"/>
              </a:rPr>
              <a:t>value.</a:t>
            </a:r>
            <a:r>
              <a:rPr sz="1400" spc="-20" dirty="0">
                <a:latin typeface="Arial MT"/>
                <a:cs typeface="Arial MT"/>
              </a:rPr>
              <a:t> </a:t>
            </a:r>
            <a:r>
              <a:rPr sz="1400" dirty="0">
                <a:latin typeface="Arial MT"/>
                <a:cs typeface="Arial MT"/>
              </a:rPr>
              <a:t>Since</a:t>
            </a:r>
            <a:r>
              <a:rPr sz="1400" spc="-20" dirty="0">
                <a:latin typeface="Arial MT"/>
                <a:cs typeface="Arial MT"/>
              </a:rPr>
              <a:t> </a:t>
            </a:r>
            <a:r>
              <a:rPr sz="1400" dirty="0">
                <a:latin typeface="Arial MT"/>
                <a:cs typeface="Arial MT"/>
              </a:rPr>
              <a:t>threads</a:t>
            </a:r>
            <a:r>
              <a:rPr sz="1400" spc="-20" dirty="0">
                <a:latin typeface="Arial MT"/>
                <a:cs typeface="Arial MT"/>
              </a:rPr>
              <a:t> </a:t>
            </a:r>
            <a:r>
              <a:rPr sz="1400" spc="-25" dirty="0">
                <a:latin typeface="Arial MT"/>
                <a:cs typeface="Arial MT"/>
              </a:rPr>
              <a:t>can</a:t>
            </a:r>
            <a:r>
              <a:rPr sz="1400" dirty="0">
                <a:latin typeface="Arial MT"/>
                <a:cs typeface="Arial MT"/>
              </a:rPr>
              <a:t> interrupt</a:t>
            </a:r>
            <a:r>
              <a:rPr sz="1400" spc="-30" dirty="0">
                <a:latin typeface="Arial MT"/>
                <a:cs typeface="Arial MT"/>
              </a:rPr>
              <a:t> </a:t>
            </a:r>
            <a:r>
              <a:rPr sz="1400" dirty="0">
                <a:latin typeface="Arial MT"/>
                <a:cs typeface="Arial MT"/>
              </a:rPr>
              <a:t>each</a:t>
            </a:r>
            <a:r>
              <a:rPr sz="1400" spc="-10" dirty="0">
                <a:latin typeface="Arial MT"/>
                <a:cs typeface="Arial MT"/>
              </a:rPr>
              <a:t> </a:t>
            </a:r>
            <a:r>
              <a:rPr sz="1400" dirty="0">
                <a:latin typeface="Arial MT"/>
                <a:cs typeface="Arial MT"/>
              </a:rPr>
              <a:t>other</a:t>
            </a:r>
            <a:r>
              <a:rPr sz="1400" spc="-15" dirty="0">
                <a:latin typeface="Arial MT"/>
                <a:cs typeface="Arial MT"/>
              </a:rPr>
              <a:t> </a:t>
            </a:r>
            <a:r>
              <a:rPr sz="1400" dirty="0">
                <a:latin typeface="Arial MT"/>
                <a:cs typeface="Arial MT"/>
              </a:rPr>
              <a:t>between</a:t>
            </a:r>
            <a:r>
              <a:rPr sz="1400" spc="-15" dirty="0">
                <a:latin typeface="Arial MT"/>
                <a:cs typeface="Arial MT"/>
              </a:rPr>
              <a:t> </a:t>
            </a:r>
            <a:r>
              <a:rPr sz="1400" dirty="0">
                <a:latin typeface="Arial MT"/>
                <a:cs typeface="Arial MT"/>
              </a:rPr>
              <a:t>these</a:t>
            </a:r>
            <a:r>
              <a:rPr sz="1400" spc="-15" dirty="0">
                <a:latin typeface="Arial MT"/>
                <a:cs typeface="Arial MT"/>
              </a:rPr>
              <a:t> </a:t>
            </a:r>
            <a:r>
              <a:rPr sz="1400" dirty="0">
                <a:latin typeface="Arial MT"/>
                <a:cs typeface="Arial MT"/>
              </a:rPr>
              <a:t>steps,</a:t>
            </a:r>
            <a:r>
              <a:rPr sz="1400" spc="5" dirty="0">
                <a:latin typeface="Arial MT"/>
                <a:cs typeface="Arial MT"/>
              </a:rPr>
              <a:t> </a:t>
            </a:r>
            <a:r>
              <a:rPr sz="1400" b="1" spc="-20" dirty="0">
                <a:solidFill>
                  <a:srgbClr val="188037"/>
                </a:solidFill>
                <a:latin typeface="Courier New"/>
                <a:cs typeface="Courier New"/>
              </a:rPr>
              <a:t>counter</a:t>
            </a:r>
            <a:r>
              <a:rPr sz="1400" spc="-390" dirty="0">
                <a:solidFill>
                  <a:srgbClr val="188037"/>
                </a:solidFill>
                <a:latin typeface="Courier New"/>
                <a:cs typeface="Courier New"/>
              </a:rPr>
              <a:t> </a:t>
            </a:r>
            <a:r>
              <a:rPr sz="1400" dirty="0">
                <a:latin typeface="Arial MT"/>
                <a:cs typeface="Arial MT"/>
              </a:rPr>
              <a:t>can</a:t>
            </a:r>
            <a:r>
              <a:rPr sz="1400" spc="-15" dirty="0">
                <a:latin typeface="Arial MT"/>
                <a:cs typeface="Arial MT"/>
              </a:rPr>
              <a:t> </a:t>
            </a:r>
            <a:r>
              <a:rPr sz="1400" spc="-25" dirty="0">
                <a:latin typeface="Arial MT"/>
                <a:cs typeface="Arial MT"/>
              </a:rPr>
              <a:t>end </a:t>
            </a:r>
            <a:r>
              <a:rPr sz="1400" dirty="0">
                <a:latin typeface="Arial MT"/>
                <a:cs typeface="Arial MT"/>
              </a:rPr>
              <a:t>up</a:t>
            </a:r>
            <a:r>
              <a:rPr sz="1400" spc="-25" dirty="0">
                <a:latin typeface="Arial MT"/>
                <a:cs typeface="Arial MT"/>
              </a:rPr>
              <a:t> </a:t>
            </a:r>
            <a:r>
              <a:rPr sz="1400" dirty="0">
                <a:latin typeface="Arial MT"/>
                <a:cs typeface="Arial MT"/>
              </a:rPr>
              <a:t>with</a:t>
            </a:r>
            <a:r>
              <a:rPr sz="1400" spc="-20" dirty="0">
                <a:latin typeface="Arial MT"/>
                <a:cs typeface="Arial MT"/>
              </a:rPr>
              <a:t> </a:t>
            </a:r>
            <a:r>
              <a:rPr sz="1400" dirty="0">
                <a:latin typeface="Arial MT"/>
                <a:cs typeface="Arial MT"/>
              </a:rPr>
              <a:t>an</a:t>
            </a:r>
            <a:r>
              <a:rPr sz="1400" spc="-20" dirty="0">
                <a:latin typeface="Arial MT"/>
                <a:cs typeface="Arial MT"/>
              </a:rPr>
              <a:t> </a:t>
            </a:r>
            <a:r>
              <a:rPr sz="1400" dirty="0">
                <a:latin typeface="Arial MT"/>
                <a:cs typeface="Arial MT"/>
              </a:rPr>
              <a:t>incorrect</a:t>
            </a:r>
            <a:r>
              <a:rPr sz="1400" spc="-20" dirty="0">
                <a:latin typeface="Arial MT"/>
                <a:cs typeface="Arial MT"/>
              </a:rPr>
              <a:t> </a:t>
            </a:r>
            <a:r>
              <a:rPr sz="1400" spc="-10" dirty="0">
                <a:latin typeface="Arial MT"/>
                <a:cs typeface="Arial MT"/>
              </a:rPr>
              <a:t>value.</a:t>
            </a:r>
            <a:endParaRPr sz="1400" dirty="0">
              <a:latin typeface="Arial MT"/>
              <a:cs typeface="Arial MT"/>
            </a:endParaRPr>
          </a:p>
          <a:p>
            <a:pPr>
              <a:lnSpc>
                <a:spcPct val="100000"/>
              </a:lnSpc>
              <a:spcBef>
                <a:spcPts val="35"/>
              </a:spcBef>
              <a:buFont typeface="Arial MT"/>
              <a:buChar char="●"/>
            </a:pPr>
            <a:endParaRPr sz="1400" dirty="0">
              <a:latin typeface="Arial MT"/>
              <a:cs typeface="Arial MT"/>
            </a:endParaRPr>
          </a:p>
          <a:p>
            <a:pPr marL="12700">
              <a:lnSpc>
                <a:spcPct val="100000"/>
              </a:lnSpc>
            </a:pPr>
            <a:r>
              <a:rPr sz="1400" b="1" dirty="0">
                <a:latin typeface="Arial"/>
                <a:cs typeface="Arial"/>
              </a:rPr>
              <a:t>Thread</a:t>
            </a:r>
            <a:r>
              <a:rPr sz="1400" b="1" spc="-30" dirty="0">
                <a:latin typeface="Arial"/>
                <a:cs typeface="Arial"/>
              </a:rPr>
              <a:t> </a:t>
            </a:r>
            <a:r>
              <a:rPr sz="1400" b="1" spc="-10" dirty="0">
                <a:latin typeface="Arial"/>
                <a:cs typeface="Arial"/>
              </a:rPr>
              <a:t>Creation</a:t>
            </a:r>
            <a:r>
              <a:rPr sz="1400" spc="-10" dirty="0">
                <a:latin typeface="Arial MT"/>
                <a:cs typeface="Arial MT"/>
              </a:rPr>
              <a:t>:</a:t>
            </a:r>
            <a:endParaRPr sz="1400" dirty="0">
              <a:latin typeface="Arial MT"/>
              <a:cs typeface="Arial MT"/>
            </a:endParaRPr>
          </a:p>
          <a:p>
            <a:pPr>
              <a:lnSpc>
                <a:spcPct val="100000"/>
              </a:lnSpc>
              <a:spcBef>
                <a:spcPts val="35"/>
              </a:spcBef>
            </a:pPr>
            <a:endParaRPr sz="1400" dirty="0">
              <a:latin typeface="Arial MT"/>
              <a:cs typeface="Arial MT"/>
            </a:endParaRPr>
          </a:p>
          <a:p>
            <a:pPr marL="469265" indent="-320040">
              <a:lnSpc>
                <a:spcPct val="100000"/>
              </a:lnSpc>
              <a:buChar char="●"/>
              <a:tabLst>
                <a:tab pos="469265" algn="l"/>
              </a:tabLst>
            </a:pPr>
            <a:r>
              <a:rPr sz="1400" dirty="0">
                <a:latin typeface="Arial MT"/>
                <a:cs typeface="Arial MT"/>
              </a:rPr>
              <a:t>In</a:t>
            </a:r>
            <a:r>
              <a:rPr sz="1400" spc="-40" dirty="0">
                <a:latin typeface="Arial MT"/>
                <a:cs typeface="Arial MT"/>
              </a:rPr>
              <a:t> </a:t>
            </a:r>
            <a:r>
              <a:rPr sz="1400" b="1" dirty="0">
                <a:solidFill>
                  <a:srgbClr val="188037"/>
                </a:solidFill>
                <a:latin typeface="Courier New"/>
                <a:cs typeface="Courier New"/>
              </a:rPr>
              <a:t>main()</a:t>
            </a:r>
            <a:r>
              <a:rPr sz="1400" dirty="0">
                <a:latin typeface="Arial MT"/>
                <a:cs typeface="Arial MT"/>
              </a:rPr>
              <a:t>,</a:t>
            </a:r>
            <a:r>
              <a:rPr sz="1400" spc="-20" dirty="0">
                <a:latin typeface="Arial MT"/>
                <a:cs typeface="Arial MT"/>
              </a:rPr>
              <a:t> </a:t>
            </a:r>
            <a:r>
              <a:rPr sz="1400" dirty="0">
                <a:latin typeface="Arial MT"/>
                <a:cs typeface="Arial MT"/>
              </a:rPr>
              <a:t>two</a:t>
            </a:r>
            <a:r>
              <a:rPr sz="1400" spc="-20" dirty="0">
                <a:latin typeface="Arial MT"/>
                <a:cs typeface="Arial MT"/>
              </a:rPr>
              <a:t> </a:t>
            </a:r>
            <a:r>
              <a:rPr sz="1400" dirty="0">
                <a:latin typeface="Arial MT"/>
                <a:cs typeface="Arial MT"/>
              </a:rPr>
              <a:t>threads</a:t>
            </a:r>
            <a:r>
              <a:rPr sz="1400" spc="-25" dirty="0">
                <a:latin typeface="Arial MT"/>
                <a:cs typeface="Arial MT"/>
              </a:rPr>
              <a:t> </a:t>
            </a:r>
            <a:r>
              <a:rPr sz="1400" spc="-10" dirty="0">
                <a:latin typeface="Arial MT"/>
                <a:cs typeface="Arial MT"/>
              </a:rPr>
              <a:t>(</a:t>
            </a:r>
            <a:r>
              <a:rPr sz="1400" b="1" spc="-10" dirty="0">
                <a:solidFill>
                  <a:srgbClr val="188037"/>
                </a:solidFill>
                <a:latin typeface="Courier New"/>
                <a:cs typeface="Courier New"/>
              </a:rPr>
              <a:t>t1</a:t>
            </a:r>
            <a:r>
              <a:rPr sz="1400" spc="-390" dirty="0">
                <a:solidFill>
                  <a:srgbClr val="188037"/>
                </a:solidFill>
                <a:latin typeface="Courier New"/>
                <a:cs typeface="Courier New"/>
              </a:rPr>
              <a:t> </a:t>
            </a:r>
            <a:r>
              <a:rPr sz="1400" dirty="0">
                <a:latin typeface="Arial MT"/>
                <a:cs typeface="Arial MT"/>
              </a:rPr>
              <a:t>and</a:t>
            </a:r>
            <a:r>
              <a:rPr sz="1400" spc="-20" dirty="0">
                <a:latin typeface="Arial MT"/>
                <a:cs typeface="Arial MT"/>
              </a:rPr>
              <a:t> </a:t>
            </a:r>
            <a:r>
              <a:rPr sz="1400" b="1" dirty="0">
                <a:solidFill>
                  <a:srgbClr val="188037"/>
                </a:solidFill>
                <a:latin typeface="Courier New"/>
                <a:cs typeface="Courier New"/>
              </a:rPr>
              <a:t>t2</a:t>
            </a:r>
            <a:r>
              <a:rPr sz="1400" dirty="0">
                <a:latin typeface="Arial MT"/>
                <a:cs typeface="Arial MT"/>
              </a:rPr>
              <a:t>)</a:t>
            </a:r>
            <a:r>
              <a:rPr sz="1400" spc="-20" dirty="0">
                <a:latin typeface="Arial MT"/>
                <a:cs typeface="Arial MT"/>
              </a:rPr>
              <a:t> </a:t>
            </a:r>
            <a:r>
              <a:rPr sz="1400" dirty="0">
                <a:latin typeface="Arial MT"/>
                <a:cs typeface="Arial MT"/>
              </a:rPr>
              <a:t>are</a:t>
            </a:r>
            <a:r>
              <a:rPr sz="1400" spc="-20" dirty="0">
                <a:latin typeface="Arial MT"/>
                <a:cs typeface="Arial MT"/>
              </a:rPr>
              <a:t> </a:t>
            </a:r>
            <a:r>
              <a:rPr sz="1400" dirty="0">
                <a:latin typeface="Arial MT"/>
                <a:cs typeface="Arial MT"/>
              </a:rPr>
              <a:t>created</a:t>
            </a:r>
            <a:r>
              <a:rPr sz="1400" spc="-25" dirty="0">
                <a:latin typeface="Arial MT"/>
                <a:cs typeface="Arial MT"/>
              </a:rPr>
              <a:t> </a:t>
            </a:r>
            <a:r>
              <a:rPr sz="1400" spc="-10" dirty="0">
                <a:latin typeface="Arial MT"/>
                <a:cs typeface="Arial MT"/>
              </a:rPr>
              <a:t>using</a:t>
            </a:r>
            <a:endParaRPr sz="1400" dirty="0">
              <a:latin typeface="Arial MT"/>
              <a:cs typeface="Arial MT"/>
            </a:endParaRPr>
          </a:p>
          <a:p>
            <a:pPr marL="469900">
              <a:lnSpc>
                <a:spcPct val="100000"/>
              </a:lnSpc>
              <a:spcBef>
                <a:spcPts val="215"/>
              </a:spcBef>
              <a:spcAft>
                <a:spcPts val="600"/>
              </a:spcAft>
            </a:pPr>
            <a:r>
              <a:rPr sz="1400" b="1" spc="-10" dirty="0">
                <a:solidFill>
                  <a:srgbClr val="188037"/>
                </a:solidFill>
                <a:latin typeface="Courier New"/>
                <a:cs typeface="Courier New"/>
              </a:rPr>
              <a:t>pthread_create()</a:t>
            </a:r>
            <a:r>
              <a:rPr sz="1400" spc="-10" dirty="0">
                <a:latin typeface="Arial MT"/>
                <a:cs typeface="Arial MT"/>
              </a:rPr>
              <a:t>,</a:t>
            </a:r>
            <a:r>
              <a:rPr sz="1400" spc="-30" dirty="0">
                <a:latin typeface="Arial MT"/>
                <a:cs typeface="Arial MT"/>
              </a:rPr>
              <a:t> </a:t>
            </a:r>
            <a:r>
              <a:rPr sz="1400" dirty="0">
                <a:latin typeface="Arial MT"/>
                <a:cs typeface="Arial MT"/>
              </a:rPr>
              <a:t>both</a:t>
            </a:r>
            <a:r>
              <a:rPr sz="1400" spc="-30" dirty="0">
                <a:latin typeface="Arial MT"/>
                <a:cs typeface="Arial MT"/>
              </a:rPr>
              <a:t> </a:t>
            </a:r>
            <a:r>
              <a:rPr sz="1400" dirty="0">
                <a:latin typeface="Arial MT"/>
                <a:cs typeface="Arial MT"/>
              </a:rPr>
              <a:t>running</a:t>
            </a:r>
            <a:r>
              <a:rPr sz="1400" spc="-25" dirty="0">
                <a:latin typeface="Arial MT"/>
                <a:cs typeface="Arial MT"/>
              </a:rPr>
              <a:t> </a:t>
            </a:r>
            <a:r>
              <a:rPr sz="1400" b="1" spc="-10" dirty="0">
                <a:solidFill>
                  <a:srgbClr val="188037"/>
                </a:solidFill>
                <a:latin typeface="Courier New"/>
                <a:cs typeface="Courier New"/>
              </a:rPr>
              <a:t>increment_counter</a:t>
            </a:r>
            <a:r>
              <a:rPr sz="1400" spc="-10" dirty="0">
                <a:latin typeface="Arial MT"/>
                <a:cs typeface="Arial MT"/>
              </a:rPr>
              <a:t>.</a:t>
            </a:r>
            <a:endParaRPr sz="1400" dirty="0">
              <a:latin typeface="Arial MT"/>
              <a:cs typeface="Arial MT"/>
            </a:endParaRPr>
          </a:p>
          <a:p>
            <a:pPr marL="469900" marR="295910" indent="-320675">
              <a:lnSpc>
                <a:spcPct val="114999"/>
              </a:lnSpc>
              <a:buChar char="●"/>
              <a:tabLst>
                <a:tab pos="469900" algn="l"/>
              </a:tabLst>
            </a:pPr>
            <a:r>
              <a:rPr sz="1400" dirty="0">
                <a:latin typeface="Arial MT"/>
                <a:cs typeface="Arial MT"/>
              </a:rPr>
              <a:t>Each</a:t>
            </a:r>
            <a:r>
              <a:rPr sz="1400" spc="15" dirty="0">
                <a:latin typeface="Arial MT"/>
                <a:cs typeface="Arial MT"/>
              </a:rPr>
              <a:t> </a:t>
            </a:r>
            <a:r>
              <a:rPr sz="1400" dirty="0">
                <a:latin typeface="Arial MT"/>
                <a:cs typeface="Arial MT"/>
              </a:rPr>
              <a:t>thread</a:t>
            </a:r>
            <a:r>
              <a:rPr sz="1400" spc="20" dirty="0">
                <a:latin typeface="Arial MT"/>
                <a:cs typeface="Arial MT"/>
              </a:rPr>
              <a:t> </a:t>
            </a:r>
            <a:r>
              <a:rPr sz="1400" dirty="0">
                <a:latin typeface="Arial MT"/>
                <a:cs typeface="Arial MT"/>
              </a:rPr>
              <a:t>runs</a:t>
            </a:r>
            <a:r>
              <a:rPr sz="1400" spc="25" dirty="0">
                <a:latin typeface="Arial MT"/>
                <a:cs typeface="Arial MT"/>
              </a:rPr>
              <a:t> </a:t>
            </a:r>
            <a:r>
              <a:rPr sz="1400" b="1" spc="-20" dirty="0" err="1">
                <a:solidFill>
                  <a:srgbClr val="188037"/>
                </a:solidFill>
                <a:latin typeface="Courier New"/>
                <a:cs typeface="Courier New"/>
              </a:rPr>
              <a:t>increment_counter</a:t>
            </a:r>
            <a:r>
              <a:rPr lang="en-US" sz="1400" b="1" spc="-365" dirty="0">
                <a:solidFill>
                  <a:srgbClr val="188037"/>
                </a:solidFill>
                <a:latin typeface="Courier New"/>
                <a:cs typeface="Courier New"/>
              </a:rPr>
              <a:t> </a:t>
            </a:r>
            <a:r>
              <a:rPr sz="1400" spc="-10" dirty="0">
                <a:latin typeface="Arial MT"/>
                <a:cs typeface="Arial MT"/>
              </a:rPr>
              <a:t>independently, </a:t>
            </a:r>
            <a:r>
              <a:rPr sz="1400" dirty="0">
                <a:latin typeface="Arial MT"/>
                <a:cs typeface="Arial MT"/>
              </a:rPr>
              <a:t>attempting</a:t>
            </a:r>
            <a:r>
              <a:rPr sz="1400" spc="-30" dirty="0">
                <a:latin typeface="Arial MT"/>
                <a:cs typeface="Arial MT"/>
              </a:rPr>
              <a:t> </a:t>
            </a:r>
            <a:r>
              <a:rPr sz="1400" dirty="0">
                <a:latin typeface="Arial MT"/>
                <a:cs typeface="Arial MT"/>
              </a:rPr>
              <a:t>to</a:t>
            </a:r>
            <a:r>
              <a:rPr sz="1400" spc="-20" dirty="0">
                <a:latin typeface="Arial MT"/>
                <a:cs typeface="Arial MT"/>
              </a:rPr>
              <a:t> </a:t>
            </a:r>
            <a:r>
              <a:rPr sz="1400" dirty="0">
                <a:latin typeface="Arial MT"/>
                <a:cs typeface="Arial MT"/>
              </a:rPr>
              <a:t>increment </a:t>
            </a:r>
            <a:r>
              <a:rPr sz="1400" b="1" spc="-20" dirty="0">
                <a:solidFill>
                  <a:srgbClr val="188037"/>
                </a:solidFill>
                <a:latin typeface="Courier New"/>
                <a:cs typeface="Courier New"/>
              </a:rPr>
              <a:t>counter</a:t>
            </a:r>
            <a:r>
              <a:rPr sz="1400" spc="-390" dirty="0">
                <a:solidFill>
                  <a:srgbClr val="188037"/>
                </a:solidFill>
                <a:latin typeface="Courier New"/>
                <a:cs typeface="Courier New"/>
              </a:rPr>
              <a:t> </a:t>
            </a:r>
            <a:r>
              <a:rPr sz="1400" dirty="0">
                <a:latin typeface="Arial MT"/>
                <a:cs typeface="Arial MT"/>
              </a:rPr>
              <a:t>100,000</a:t>
            </a:r>
            <a:r>
              <a:rPr sz="1400" spc="-20" dirty="0">
                <a:latin typeface="Arial MT"/>
                <a:cs typeface="Arial MT"/>
              </a:rPr>
              <a:t> </a:t>
            </a:r>
            <a:r>
              <a:rPr sz="1400" spc="-10" dirty="0">
                <a:latin typeface="Arial MT"/>
                <a:cs typeface="Arial MT"/>
              </a:rPr>
              <a:t>times.</a:t>
            </a:r>
            <a:endParaRPr sz="1400" dirty="0">
              <a:latin typeface="Arial MT"/>
              <a:cs typeface="Arial MT"/>
            </a:endParaRPr>
          </a:p>
        </p:txBody>
      </p:sp>
      <p:pic>
        <p:nvPicPr>
          <p:cNvPr id="4" name="object 4" descr="A snippet of C code using pthreads that demonstrates a non-thread-safe operation. Two threads increment a global counter 100,000 times without synchronization, leading to an unpredictable final result."/>
          <p:cNvPicPr/>
          <p:nvPr/>
        </p:nvPicPr>
        <p:blipFill>
          <a:blip r:embed="rId3" cstate="print"/>
          <a:stretch>
            <a:fillRect/>
          </a:stretch>
        </p:blipFill>
        <p:spPr>
          <a:xfrm>
            <a:off x="5573950" y="1535100"/>
            <a:ext cx="6568575" cy="4916774"/>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0375" y="1065807"/>
            <a:ext cx="2318385" cy="406400"/>
          </a:xfrm>
          <a:prstGeom prst="rect">
            <a:avLst/>
          </a:prstGeom>
        </p:spPr>
        <p:txBody>
          <a:bodyPr vert="horz" wrap="square" lIns="0" tIns="12700" rIns="0" bIns="0" rtlCol="0">
            <a:spAutoFit/>
          </a:bodyPr>
          <a:lstStyle/>
          <a:p>
            <a:pPr marL="12700">
              <a:lnSpc>
                <a:spcPct val="100000"/>
              </a:lnSpc>
              <a:spcBef>
                <a:spcPts val="100"/>
              </a:spcBef>
            </a:pPr>
            <a:r>
              <a:rPr dirty="0"/>
              <a:t>Race</a:t>
            </a:r>
            <a:r>
              <a:rPr spc="-75" dirty="0"/>
              <a:t> </a:t>
            </a:r>
            <a:r>
              <a:rPr spc="-10" dirty="0"/>
              <a:t>Conditions</a:t>
            </a:r>
          </a:p>
        </p:txBody>
      </p:sp>
      <p:sp>
        <p:nvSpPr>
          <p:cNvPr id="3" name="object 3"/>
          <p:cNvSpPr txBox="1"/>
          <p:nvPr/>
        </p:nvSpPr>
        <p:spPr>
          <a:xfrm>
            <a:off x="228600" y="1724025"/>
            <a:ext cx="5181600" cy="4751494"/>
          </a:xfrm>
          <a:prstGeom prst="rect">
            <a:avLst/>
          </a:prstGeom>
        </p:spPr>
        <p:txBody>
          <a:bodyPr vert="horz" wrap="square" lIns="0" tIns="12700" rIns="0" bIns="0" rtlCol="0">
            <a:spAutoFit/>
          </a:bodyPr>
          <a:lstStyle/>
          <a:p>
            <a:pPr marL="12700">
              <a:lnSpc>
                <a:spcPct val="100000"/>
              </a:lnSpc>
              <a:spcBef>
                <a:spcPts val="100"/>
              </a:spcBef>
            </a:pPr>
            <a:r>
              <a:rPr sz="1400" b="1" dirty="0">
                <a:latin typeface="Arial"/>
                <a:cs typeface="Arial"/>
              </a:rPr>
              <a:t>Joining</a:t>
            </a:r>
            <a:r>
              <a:rPr sz="1400" b="1" spc="-80" dirty="0">
                <a:latin typeface="Arial"/>
                <a:cs typeface="Arial"/>
              </a:rPr>
              <a:t> </a:t>
            </a:r>
            <a:r>
              <a:rPr sz="1400" b="1" spc="-10" dirty="0">
                <a:latin typeface="Arial"/>
                <a:cs typeface="Arial"/>
              </a:rPr>
              <a:t>Threads</a:t>
            </a:r>
            <a:r>
              <a:rPr sz="1400" spc="-10" dirty="0">
                <a:latin typeface="Arial MT"/>
                <a:cs typeface="Arial MT"/>
              </a:rPr>
              <a:t>:</a:t>
            </a:r>
            <a:endParaRPr sz="1400" dirty="0">
              <a:latin typeface="Arial MT"/>
              <a:cs typeface="Arial MT"/>
            </a:endParaRPr>
          </a:p>
          <a:p>
            <a:pPr marL="469900" marR="19685" indent="-320675">
              <a:lnSpc>
                <a:spcPct val="114999"/>
              </a:lnSpc>
              <a:spcBef>
                <a:spcPts val="1200"/>
              </a:spcBef>
              <a:buClr>
                <a:srgbClr val="000000"/>
              </a:buClr>
              <a:buFont typeface="Arial MT"/>
              <a:buChar char="●"/>
              <a:tabLst>
                <a:tab pos="469900" algn="l"/>
              </a:tabLst>
            </a:pPr>
            <a:r>
              <a:rPr sz="1400" b="1" spc="-20" dirty="0">
                <a:solidFill>
                  <a:srgbClr val="188037"/>
                </a:solidFill>
                <a:latin typeface="Courier New"/>
                <a:cs typeface="Courier New"/>
              </a:rPr>
              <a:t>pthread_join()</a:t>
            </a:r>
            <a:r>
              <a:rPr sz="1400" b="1" spc="-395" dirty="0">
                <a:solidFill>
                  <a:srgbClr val="188037"/>
                </a:solidFill>
                <a:latin typeface="Courier New"/>
                <a:cs typeface="Courier New"/>
              </a:rPr>
              <a:t> </a:t>
            </a:r>
            <a:r>
              <a:rPr sz="1400" dirty="0">
                <a:latin typeface="Arial MT"/>
                <a:cs typeface="Arial MT"/>
              </a:rPr>
              <a:t>is used</a:t>
            </a:r>
            <a:r>
              <a:rPr sz="1400" spc="5" dirty="0">
                <a:latin typeface="Arial MT"/>
                <a:cs typeface="Arial MT"/>
              </a:rPr>
              <a:t> </a:t>
            </a:r>
            <a:r>
              <a:rPr sz="1400" dirty="0">
                <a:latin typeface="Arial MT"/>
                <a:cs typeface="Arial MT"/>
              </a:rPr>
              <a:t>to wait for</a:t>
            </a:r>
            <a:r>
              <a:rPr sz="1400" spc="5" dirty="0">
                <a:latin typeface="Arial MT"/>
                <a:cs typeface="Arial MT"/>
              </a:rPr>
              <a:t> </a:t>
            </a:r>
            <a:r>
              <a:rPr sz="1400" dirty="0">
                <a:latin typeface="Arial MT"/>
                <a:cs typeface="Arial MT"/>
              </a:rPr>
              <a:t>both threads</a:t>
            </a:r>
            <a:r>
              <a:rPr sz="1400" spc="5" dirty="0">
                <a:latin typeface="Arial MT"/>
                <a:cs typeface="Arial MT"/>
              </a:rPr>
              <a:t> </a:t>
            </a:r>
            <a:r>
              <a:rPr sz="1400" spc="-10" dirty="0">
                <a:latin typeface="Arial MT"/>
                <a:cs typeface="Arial MT"/>
              </a:rPr>
              <a:t>(</a:t>
            </a:r>
            <a:r>
              <a:rPr sz="1400" b="1" spc="-10" dirty="0">
                <a:solidFill>
                  <a:srgbClr val="188037"/>
                </a:solidFill>
                <a:latin typeface="Courier New"/>
                <a:cs typeface="Courier New"/>
              </a:rPr>
              <a:t>t1</a:t>
            </a:r>
            <a:r>
              <a:rPr sz="1400" spc="-385" dirty="0">
                <a:solidFill>
                  <a:srgbClr val="188037"/>
                </a:solidFill>
                <a:latin typeface="Courier New"/>
                <a:cs typeface="Courier New"/>
              </a:rPr>
              <a:t> </a:t>
            </a:r>
            <a:r>
              <a:rPr sz="1400" dirty="0">
                <a:latin typeface="Arial MT"/>
                <a:cs typeface="Arial MT"/>
              </a:rPr>
              <a:t>and</a:t>
            </a:r>
            <a:r>
              <a:rPr sz="1400" spc="10" dirty="0">
                <a:latin typeface="Arial MT"/>
                <a:cs typeface="Arial MT"/>
              </a:rPr>
              <a:t> </a:t>
            </a:r>
            <a:r>
              <a:rPr sz="1400" b="1" spc="-25" dirty="0">
                <a:solidFill>
                  <a:srgbClr val="188037"/>
                </a:solidFill>
                <a:latin typeface="Courier New"/>
                <a:cs typeface="Courier New"/>
              </a:rPr>
              <a:t>t2</a:t>
            </a:r>
            <a:r>
              <a:rPr sz="1400" spc="-25" dirty="0">
                <a:latin typeface="Arial MT"/>
                <a:cs typeface="Arial MT"/>
              </a:rPr>
              <a:t>) </a:t>
            </a:r>
            <a:r>
              <a:rPr sz="1400" dirty="0">
                <a:latin typeface="Arial MT"/>
                <a:cs typeface="Arial MT"/>
              </a:rPr>
              <a:t>to</a:t>
            </a:r>
            <a:r>
              <a:rPr sz="1400" spc="-35" dirty="0">
                <a:latin typeface="Arial MT"/>
                <a:cs typeface="Arial MT"/>
              </a:rPr>
              <a:t> </a:t>
            </a:r>
            <a:r>
              <a:rPr sz="1400" dirty="0">
                <a:latin typeface="Arial MT"/>
                <a:cs typeface="Arial MT"/>
              </a:rPr>
              <a:t>complete</a:t>
            </a:r>
            <a:r>
              <a:rPr sz="1400" spc="-25" dirty="0">
                <a:latin typeface="Arial MT"/>
                <a:cs typeface="Arial MT"/>
              </a:rPr>
              <a:t> </a:t>
            </a:r>
            <a:r>
              <a:rPr sz="1400" dirty="0">
                <a:latin typeface="Arial MT"/>
                <a:cs typeface="Arial MT"/>
              </a:rPr>
              <a:t>before</a:t>
            </a:r>
            <a:r>
              <a:rPr sz="1400" spc="-25" dirty="0">
                <a:latin typeface="Arial MT"/>
                <a:cs typeface="Arial MT"/>
              </a:rPr>
              <a:t> </a:t>
            </a:r>
            <a:r>
              <a:rPr sz="1400" dirty="0">
                <a:latin typeface="Arial MT"/>
                <a:cs typeface="Arial MT"/>
              </a:rPr>
              <a:t>printing</a:t>
            </a:r>
            <a:r>
              <a:rPr sz="1400" spc="-25" dirty="0">
                <a:latin typeface="Arial MT"/>
                <a:cs typeface="Arial MT"/>
              </a:rPr>
              <a:t> </a:t>
            </a:r>
            <a:r>
              <a:rPr sz="1400" dirty="0">
                <a:latin typeface="Arial MT"/>
                <a:cs typeface="Arial MT"/>
              </a:rPr>
              <a:t>the</a:t>
            </a:r>
            <a:r>
              <a:rPr sz="1400" spc="-25" dirty="0">
                <a:latin typeface="Arial MT"/>
                <a:cs typeface="Arial MT"/>
              </a:rPr>
              <a:t> </a:t>
            </a:r>
            <a:r>
              <a:rPr sz="1400" dirty="0">
                <a:latin typeface="Arial MT"/>
                <a:cs typeface="Arial MT"/>
              </a:rPr>
              <a:t>final</a:t>
            </a:r>
            <a:r>
              <a:rPr sz="1400" spc="-25" dirty="0">
                <a:latin typeface="Arial MT"/>
                <a:cs typeface="Arial MT"/>
              </a:rPr>
              <a:t> </a:t>
            </a:r>
            <a:r>
              <a:rPr sz="1400" dirty="0">
                <a:latin typeface="Arial MT"/>
                <a:cs typeface="Arial MT"/>
              </a:rPr>
              <a:t>value</a:t>
            </a:r>
            <a:r>
              <a:rPr sz="1400" spc="-20" dirty="0">
                <a:latin typeface="Arial MT"/>
                <a:cs typeface="Arial MT"/>
              </a:rPr>
              <a:t> </a:t>
            </a:r>
            <a:r>
              <a:rPr sz="1400" dirty="0">
                <a:latin typeface="Arial MT"/>
                <a:cs typeface="Arial MT"/>
              </a:rPr>
              <a:t>of</a:t>
            </a:r>
            <a:r>
              <a:rPr sz="1400" spc="-10" dirty="0">
                <a:latin typeface="Arial MT"/>
                <a:cs typeface="Arial MT"/>
              </a:rPr>
              <a:t> </a:t>
            </a:r>
            <a:r>
              <a:rPr sz="1400" b="1" spc="-10" dirty="0">
                <a:solidFill>
                  <a:srgbClr val="188037"/>
                </a:solidFill>
                <a:latin typeface="Courier New"/>
                <a:cs typeface="Courier New"/>
              </a:rPr>
              <a:t>counter</a:t>
            </a:r>
            <a:r>
              <a:rPr sz="1400" spc="-10" dirty="0">
                <a:latin typeface="Arial MT"/>
                <a:cs typeface="Arial MT"/>
              </a:rPr>
              <a:t>.</a:t>
            </a:r>
            <a:endParaRPr sz="1400" dirty="0">
              <a:latin typeface="Arial MT"/>
              <a:cs typeface="Arial MT"/>
            </a:endParaRPr>
          </a:p>
          <a:p>
            <a:pPr>
              <a:lnSpc>
                <a:spcPct val="100000"/>
              </a:lnSpc>
              <a:spcBef>
                <a:spcPts val="35"/>
              </a:spcBef>
              <a:buFont typeface="Arial MT"/>
              <a:buChar char="●"/>
            </a:pPr>
            <a:endParaRPr sz="1400" dirty="0">
              <a:latin typeface="Arial MT"/>
              <a:cs typeface="Arial MT"/>
            </a:endParaRPr>
          </a:p>
          <a:p>
            <a:pPr marL="12700">
              <a:lnSpc>
                <a:spcPct val="100000"/>
              </a:lnSpc>
            </a:pPr>
            <a:r>
              <a:rPr sz="1400" b="1" dirty="0">
                <a:latin typeface="Arial"/>
                <a:cs typeface="Arial"/>
              </a:rPr>
              <a:t>Race</a:t>
            </a:r>
            <a:r>
              <a:rPr sz="1400" b="1" spc="-20" dirty="0">
                <a:latin typeface="Arial"/>
                <a:cs typeface="Arial"/>
              </a:rPr>
              <a:t> </a:t>
            </a:r>
            <a:r>
              <a:rPr sz="1400" b="1" spc="-10" dirty="0">
                <a:latin typeface="Arial"/>
                <a:cs typeface="Arial"/>
              </a:rPr>
              <a:t>Condition</a:t>
            </a:r>
            <a:r>
              <a:rPr sz="1400" spc="-10" dirty="0">
                <a:latin typeface="Arial MT"/>
                <a:cs typeface="Arial MT"/>
              </a:rPr>
              <a:t>:</a:t>
            </a:r>
            <a:endParaRPr sz="1400" dirty="0">
              <a:latin typeface="Arial MT"/>
              <a:cs typeface="Arial MT"/>
            </a:endParaRPr>
          </a:p>
          <a:p>
            <a:pPr marL="469900" marR="10160" indent="-320675">
              <a:lnSpc>
                <a:spcPct val="114999"/>
              </a:lnSpc>
              <a:spcBef>
                <a:spcPts val="1200"/>
              </a:spcBef>
              <a:buChar char="●"/>
              <a:tabLst>
                <a:tab pos="469900" algn="l"/>
              </a:tabLst>
            </a:pPr>
            <a:r>
              <a:rPr sz="1400" dirty="0">
                <a:latin typeface="Arial MT"/>
                <a:cs typeface="Arial MT"/>
              </a:rPr>
              <a:t>Because</a:t>
            </a:r>
            <a:r>
              <a:rPr sz="1400" spc="-5" dirty="0">
                <a:latin typeface="Arial MT"/>
                <a:cs typeface="Arial MT"/>
              </a:rPr>
              <a:t> </a:t>
            </a:r>
            <a:r>
              <a:rPr sz="1400" dirty="0">
                <a:latin typeface="Arial MT"/>
                <a:cs typeface="Arial MT"/>
              </a:rPr>
              <a:t>both</a:t>
            </a:r>
            <a:r>
              <a:rPr sz="1400" spc="-5" dirty="0">
                <a:latin typeface="Arial MT"/>
                <a:cs typeface="Arial MT"/>
              </a:rPr>
              <a:t> </a:t>
            </a:r>
            <a:r>
              <a:rPr sz="1400" dirty="0">
                <a:latin typeface="Arial MT"/>
                <a:cs typeface="Arial MT"/>
              </a:rPr>
              <a:t>threads access</a:t>
            </a:r>
            <a:r>
              <a:rPr sz="1400" spc="5" dirty="0">
                <a:latin typeface="Arial MT"/>
                <a:cs typeface="Arial MT"/>
              </a:rPr>
              <a:t> </a:t>
            </a:r>
            <a:r>
              <a:rPr sz="1400" b="1" spc="-20" dirty="0">
                <a:solidFill>
                  <a:srgbClr val="188037"/>
                </a:solidFill>
                <a:latin typeface="Courier New"/>
                <a:cs typeface="Courier New"/>
              </a:rPr>
              <a:t>counter</a:t>
            </a:r>
            <a:r>
              <a:rPr sz="1400" spc="-385" dirty="0">
                <a:solidFill>
                  <a:srgbClr val="188037"/>
                </a:solidFill>
                <a:latin typeface="Courier New"/>
                <a:cs typeface="Courier New"/>
              </a:rPr>
              <a:t> </a:t>
            </a:r>
            <a:r>
              <a:rPr sz="1400" dirty="0">
                <a:latin typeface="Arial MT"/>
                <a:cs typeface="Arial MT"/>
              </a:rPr>
              <a:t>simultaneously</a:t>
            </a:r>
            <a:r>
              <a:rPr sz="1400" spc="-5" dirty="0">
                <a:latin typeface="Arial MT"/>
                <a:cs typeface="Arial MT"/>
              </a:rPr>
              <a:t> </a:t>
            </a:r>
            <a:r>
              <a:rPr sz="1400" spc="-10" dirty="0">
                <a:latin typeface="Arial MT"/>
                <a:cs typeface="Arial MT"/>
              </a:rPr>
              <a:t>without </a:t>
            </a:r>
            <a:r>
              <a:rPr sz="1400" dirty="0">
                <a:latin typeface="Arial MT"/>
                <a:cs typeface="Arial MT"/>
              </a:rPr>
              <a:t>any</a:t>
            </a:r>
            <a:r>
              <a:rPr sz="1400" spc="-35" dirty="0">
                <a:latin typeface="Arial MT"/>
                <a:cs typeface="Arial MT"/>
              </a:rPr>
              <a:t> </a:t>
            </a:r>
            <a:r>
              <a:rPr sz="1400" dirty="0">
                <a:latin typeface="Arial MT"/>
                <a:cs typeface="Arial MT"/>
              </a:rPr>
              <a:t>synchronization</a:t>
            </a:r>
            <a:r>
              <a:rPr sz="1400" spc="-20" dirty="0">
                <a:latin typeface="Arial MT"/>
                <a:cs typeface="Arial MT"/>
              </a:rPr>
              <a:t> </a:t>
            </a:r>
            <a:r>
              <a:rPr sz="1400" dirty="0">
                <a:latin typeface="Arial MT"/>
                <a:cs typeface="Arial MT"/>
              </a:rPr>
              <a:t>mechanism</a:t>
            </a:r>
            <a:r>
              <a:rPr sz="1400" spc="-20" dirty="0">
                <a:latin typeface="Arial MT"/>
                <a:cs typeface="Arial MT"/>
              </a:rPr>
              <a:t> </a:t>
            </a:r>
            <a:r>
              <a:rPr sz="1400" dirty="0">
                <a:latin typeface="Arial MT"/>
                <a:cs typeface="Arial MT"/>
              </a:rPr>
              <a:t>(like</a:t>
            </a:r>
            <a:r>
              <a:rPr sz="1400" spc="-20" dirty="0">
                <a:latin typeface="Arial MT"/>
                <a:cs typeface="Arial MT"/>
              </a:rPr>
              <a:t> </a:t>
            </a:r>
            <a:r>
              <a:rPr sz="1400" dirty="0">
                <a:latin typeface="Arial MT"/>
                <a:cs typeface="Arial MT"/>
              </a:rPr>
              <a:t>a</a:t>
            </a:r>
            <a:r>
              <a:rPr sz="1400" spc="-25" dirty="0">
                <a:latin typeface="Arial MT"/>
                <a:cs typeface="Arial MT"/>
              </a:rPr>
              <a:t> </a:t>
            </a:r>
            <a:r>
              <a:rPr sz="1400" dirty="0">
                <a:latin typeface="Arial MT"/>
                <a:cs typeface="Arial MT"/>
              </a:rPr>
              <a:t>mutex),</a:t>
            </a:r>
            <a:r>
              <a:rPr sz="1400" spc="-20" dirty="0">
                <a:latin typeface="Arial MT"/>
                <a:cs typeface="Arial MT"/>
              </a:rPr>
              <a:t> </a:t>
            </a:r>
            <a:r>
              <a:rPr sz="1400" dirty="0">
                <a:latin typeface="Arial MT"/>
                <a:cs typeface="Arial MT"/>
              </a:rPr>
              <a:t>they</a:t>
            </a:r>
            <a:r>
              <a:rPr sz="1400" spc="-20" dirty="0">
                <a:latin typeface="Arial MT"/>
                <a:cs typeface="Arial MT"/>
              </a:rPr>
              <a:t> </a:t>
            </a:r>
            <a:r>
              <a:rPr sz="1400" dirty="0">
                <a:latin typeface="Arial MT"/>
                <a:cs typeface="Arial MT"/>
              </a:rPr>
              <a:t>end</a:t>
            </a:r>
            <a:r>
              <a:rPr sz="1400" spc="-20" dirty="0">
                <a:latin typeface="Arial MT"/>
                <a:cs typeface="Arial MT"/>
              </a:rPr>
              <a:t> </a:t>
            </a:r>
            <a:r>
              <a:rPr sz="1400" spc="-25" dirty="0">
                <a:latin typeface="Arial MT"/>
                <a:cs typeface="Arial MT"/>
              </a:rPr>
              <a:t>up </a:t>
            </a:r>
            <a:r>
              <a:rPr sz="1400" dirty="0">
                <a:latin typeface="Arial MT"/>
                <a:cs typeface="Arial MT"/>
              </a:rPr>
              <a:t>reading</a:t>
            </a:r>
            <a:r>
              <a:rPr sz="1400" spc="-40" dirty="0">
                <a:latin typeface="Arial MT"/>
                <a:cs typeface="Arial MT"/>
              </a:rPr>
              <a:t> </a:t>
            </a:r>
            <a:r>
              <a:rPr sz="1400" dirty="0">
                <a:latin typeface="Arial MT"/>
                <a:cs typeface="Arial MT"/>
              </a:rPr>
              <a:t>and</a:t>
            </a:r>
            <a:r>
              <a:rPr sz="1400" spc="-20" dirty="0">
                <a:latin typeface="Arial MT"/>
                <a:cs typeface="Arial MT"/>
              </a:rPr>
              <a:t> </a:t>
            </a:r>
            <a:r>
              <a:rPr sz="1400" dirty="0">
                <a:latin typeface="Arial MT"/>
                <a:cs typeface="Arial MT"/>
              </a:rPr>
              <a:t>modifying</a:t>
            </a:r>
            <a:r>
              <a:rPr sz="1400" spc="-10" dirty="0">
                <a:latin typeface="Arial MT"/>
                <a:cs typeface="Arial MT"/>
              </a:rPr>
              <a:t> </a:t>
            </a:r>
            <a:r>
              <a:rPr sz="1400" b="1" spc="-20" dirty="0">
                <a:solidFill>
                  <a:srgbClr val="188037"/>
                </a:solidFill>
                <a:latin typeface="Courier New"/>
                <a:cs typeface="Courier New"/>
              </a:rPr>
              <a:t>counter</a:t>
            </a:r>
            <a:r>
              <a:rPr sz="1400" spc="-390" dirty="0">
                <a:solidFill>
                  <a:srgbClr val="188037"/>
                </a:solidFill>
                <a:latin typeface="Courier New"/>
                <a:cs typeface="Courier New"/>
              </a:rPr>
              <a:t> </a:t>
            </a:r>
            <a:r>
              <a:rPr sz="1400" dirty="0">
                <a:latin typeface="Arial MT"/>
                <a:cs typeface="Arial MT"/>
              </a:rPr>
              <a:t>at</a:t>
            </a:r>
            <a:r>
              <a:rPr sz="1400" spc="-20" dirty="0">
                <a:latin typeface="Arial MT"/>
                <a:cs typeface="Arial MT"/>
              </a:rPr>
              <a:t> </a:t>
            </a:r>
            <a:r>
              <a:rPr sz="1400" dirty="0">
                <a:latin typeface="Arial MT"/>
                <a:cs typeface="Arial MT"/>
              </a:rPr>
              <a:t>unpredictable</a:t>
            </a:r>
            <a:r>
              <a:rPr sz="1400" spc="-25" dirty="0">
                <a:latin typeface="Arial MT"/>
                <a:cs typeface="Arial MT"/>
              </a:rPr>
              <a:t> </a:t>
            </a:r>
            <a:r>
              <a:rPr sz="1400" dirty="0">
                <a:latin typeface="Arial MT"/>
                <a:cs typeface="Arial MT"/>
              </a:rPr>
              <a:t>times.</a:t>
            </a:r>
            <a:r>
              <a:rPr sz="1400" spc="-40" dirty="0">
                <a:latin typeface="Arial MT"/>
                <a:cs typeface="Arial MT"/>
              </a:rPr>
              <a:t> </a:t>
            </a:r>
            <a:r>
              <a:rPr sz="1400" spc="-20" dirty="0">
                <a:latin typeface="Arial MT"/>
                <a:cs typeface="Arial MT"/>
              </a:rPr>
              <a:t>This </a:t>
            </a:r>
            <a:r>
              <a:rPr sz="1400" dirty="0">
                <a:latin typeface="Arial MT"/>
                <a:cs typeface="Arial MT"/>
              </a:rPr>
              <a:t>leads</a:t>
            </a:r>
            <a:r>
              <a:rPr sz="1400" spc="-20" dirty="0">
                <a:latin typeface="Arial MT"/>
                <a:cs typeface="Arial MT"/>
              </a:rPr>
              <a:t> </a:t>
            </a:r>
            <a:r>
              <a:rPr sz="1400" dirty="0">
                <a:latin typeface="Arial MT"/>
                <a:cs typeface="Arial MT"/>
              </a:rPr>
              <a:t>to</a:t>
            </a:r>
            <a:r>
              <a:rPr sz="1400" spc="-10" dirty="0">
                <a:latin typeface="Arial MT"/>
                <a:cs typeface="Arial MT"/>
              </a:rPr>
              <a:t> </a:t>
            </a:r>
            <a:r>
              <a:rPr sz="1400" b="1" dirty="0">
                <a:latin typeface="Arial"/>
                <a:cs typeface="Arial"/>
              </a:rPr>
              <a:t>race</a:t>
            </a:r>
            <a:r>
              <a:rPr sz="1400" b="1" spc="-15" dirty="0">
                <a:latin typeface="Arial"/>
                <a:cs typeface="Arial"/>
              </a:rPr>
              <a:t> </a:t>
            </a:r>
            <a:r>
              <a:rPr sz="1400" b="1" spc="-10" dirty="0">
                <a:latin typeface="Arial"/>
                <a:cs typeface="Arial"/>
              </a:rPr>
              <a:t>conditions</a:t>
            </a:r>
            <a:r>
              <a:rPr sz="1400" spc="-10" dirty="0">
                <a:latin typeface="Arial MT"/>
                <a:cs typeface="Arial MT"/>
              </a:rPr>
              <a:t>,</a:t>
            </a:r>
            <a:r>
              <a:rPr sz="1400" spc="-20" dirty="0">
                <a:latin typeface="Arial MT"/>
                <a:cs typeface="Arial MT"/>
              </a:rPr>
              <a:t> </a:t>
            </a:r>
            <a:r>
              <a:rPr sz="1400" dirty="0">
                <a:latin typeface="Arial MT"/>
                <a:cs typeface="Arial MT"/>
              </a:rPr>
              <a:t>making</a:t>
            </a:r>
            <a:r>
              <a:rPr sz="1400" spc="-15" dirty="0">
                <a:latin typeface="Arial MT"/>
                <a:cs typeface="Arial MT"/>
              </a:rPr>
              <a:t> </a:t>
            </a:r>
            <a:r>
              <a:rPr sz="1400" dirty="0">
                <a:latin typeface="Arial MT"/>
                <a:cs typeface="Arial MT"/>
              </a:rPr>
              <a:t>the</a:t>
            </a:r>
            <a:r>
              <a:rPr sz="1400" spc="-15" dirty="0">
                <a:latin typeface="Arial MT"/>
                <a:cs typeface="Arial MT"/>
              </a:rPr>
              <a:t> </a:t>
            </a:r>
            <a:r>
              <a:rPr sz="1400" dirty="0">
                <a:latin typeface="Arial MT"/>
                <a:cs typeface="Arial MT"/>
              </a:rPr>
              <a:t>final</a:t>
            </a:r>
            <a:r>
              <a:rPr sz="1400" spc="-15" dirty="0">
                <a:latin typeface="Arial MT"/>
                <a:cs typeface="Arial MT"/>
              </a:rPr>
              <a:t> </a:t>
            </a:r>
            <a:r>
              <a:rPr sz="1400" dirty="0">
                <a:latin typeface="Arial MT"/>
                <a:cs typeface="Arial MT"/>
              </a:rPr>
              <a:t>value</a:t>
            </a:r>
            <a:r>
              <a:rPr sz="1400" spc="-20" dirty="0">
                <a:latin typeface="Arial MT"/>
                <a:cs typeface="Arial MT"/>
              </a:rPr>
              <a:t> </a:t>
            </a:r>
            <a:r>
              <a:rPr sz="1400" dirty="0">
                <a:latin typeface="Arial MT"/>
                <a:cs typeface="Arial MT"/>
              </a:rPr>
              <a:t>of </a:t>
            </a:r>
            <a:r>
              <a:rPr sz="1400" b="1" spc="-10" dirty="0">
                <a:solidFill>
                  <a:srgbClr val="188037"/>
                </a:solidFill>
                <a:latin typeface="Courier New"/>
                <a:cs typeface="Courier New"/>
              </a:rPr>
              <a:t>counter</a:t>
            </a:r>
            <a:r>
              <a:rPr sz="1400" spc="-10" dirty="0">
                <a:solidFill>
                  <a:srgbClr val="188037"/>
                </a:solidFill>
                <a:latin typeface="Courier New"/>
                <a:cs typeface="Courier New"/>
              </a:rPr>
              <a:t> </a:t>
            </a:r>
            <a:r>
              <a:rPr sz="1400" spc="-10" dirty="0">
                <a:latin typeface="Arial MT"/>
                <a:cs typeface="Arial MT"/>
              </a:rPr>
              <a:t>unpredictable.</a:t>
            </a:r>
            <a:endParaRPr sz="1400" dirty="0">
              <a:latin typeface="Arial MT"/>
              <a:cs typeface="Arial MT"/>
            </a:endParaRPr>
          </a:p>
          <a:p>
            <a:pPr>
              <a:lnSpc>
                <a:spcPct val="100000"/>
              </a:lnSpc>
              <a:spcBef>
                <a:spcPts val="35"/>
              </a:spcBef>
              <a:buFont typeface="Arial MT"/>
              <a:buChar char="●"/>
            </a:pPr>
            <a:endParaRPr sz="1400" dirty="0">
              <a:latin typeface="Arial MT"/>
              <a:cs typeface="Arial MT"/>
            </a:endParaRPr>
          </a:p>
          <a:p>
            <a:pPr marL="12700">
              <a:lnSpc>
                <a:spcPct val="100000"/>
              </a:lnSpc>
            </a:pPr>
            <a:r>
              <a:rPr sz="1400" b="1" dirty="0">
                <a:latin typeface="Arial"/>
                <a:cs typeface="Arial"/>
              </a:rPr>
              <a:t>Final</a:t>
            </a:r>
            <a:r>
              <a:rPr sz="1400" b="1" spc="-55" dirty="0">
                <a:latin typeface="Arial"/>
                <a:cs typeface="Arial"/>
              </a:rPr>
              <a:t> </a:t>
            </a:r>
            <a:r>
              <a:rPr sz="1400" b="1" spc="-10" dirty="0">
                <a:latin typeface="Arial"/>
                <a:cs typeface="Arial"/>
              </a:rPr>
              <a:t>Output</a:t>
            </a:r>
            <a:r>
              <a:rPr sz="1400" spc="-10" dirty="0">
                <a:latin typeface="Arial MT"/>
                <a:cs typeface="Arial MT"/>
              </a:rPr>
              <a:t>:</a:t>
            </a:r>
            <a:endParaRPr sz="1400" dirty="0">
              <a:latin typeface="Arial MT"/>
              <a:cs typeface="Arial MT"/>
            </a:endParaRPr>
          </a:p>
          <a:p>
            <a:pPr marL="469900" marR="5080" indent="-320675">
              <a:lnSpc>
                <a:spcPct val="114999"/>
              </a:lnSpc>
              <a:spcBef>
                <a:spcPts val="1200"/>
              </a:spcBef>
              <a:buChar char="●"/>
              <a:tabLst>
                <a:tab pos="469900" algn="l"/>
              </a:tabLst>
            </a:pPr>
            <a:r>
              <a:rPr sz="1400" dirty="0">
                <a:latin typeface="Arial MT"/>
                <a:cs typeface="Arial MT"/>
              </a:rPr>
              <a:t>The</a:t>
            </a:r>
            <a:r>
              <a:rPr sz="1400" spc="-10" dirty="0">
                <a:latin typeface="Arial MT"/>
                <a:cs typeface="Arial MT"/>
              </a:rPr>
              <a:t> </a:t>
            </a:r>
            <a:r>
              <a:rPr sz="1400" b="1" spc="-20" dirty="0">
                <a:solidFill>
                  <a:srgbClr val="188037"/>
                </a:solidFill>
                <a:latin typeface="Courier New"/>
                <a:cs typeface="Courier New"/>
              </a:rPr>
              <a:t>printf()</a:t>
            </a:r>
            <a:r>
              <a:rPr sz="1400" b="1" spc="-390" dirty="0">
                <a:solidFill>
                  <a:srgbClr val="188037"/>
                </a:solidFill>
                <a:latin typeface="Courier New"/>
                <a:cs typeface="Courier New"/>
              </a:rPr>
              <a:t> </a:t>
            </a:r>
            <a:r>
              <a:rPr sz="1400" dirty="0">
                <a:latin typeface="Arial MT"/>
                <a:cs typeface="Arial MT"/>
              </a:rPr>
              <a:t>statement</a:t>
            </a:r>
            <a:r>
              <a:rPr sz="1400" spc="-10" dirty="0">
                <a:latin typeface="Arial MT"/>
                <a:cs typeface="Arial MT"/>
              </a:rPr>
              <a:t> </a:t>
            </a:r>
            <a:r>
              <a:rPr sz="1400" dirty="0">
                <a:latin typeface="Arial MT"/>
                <a:cs typeface="Arial MT"/>
              </a:rPr>
              <a:t>outputs</a:t>
            </a:r>
            <a:r>
              <a:rPr sz="1400" spc="-10" dirty="0">
                <a:latin typeface="Arial MT"/>
                <a:cs typeface="Arial MT"/>
              </a:rPr>
              <a:t> </a:t>
            </a:r>
            <a:r>
              <a:rPr sz="1400" dirty="0">
                <a:latin typeface="Arial MT"/>
                <a:cs typeface="Arial MT"/>
              </a:rPr>
              <a:t>the</a:t>
            </a:r>
            <a:r>
              <a:rPr sz="1400" spc="-10" dirty="0">
                <a:latin typeface="Arial MT"/>
                <a:cs typeface="Arial MT"/>
              </a:rPr>
              <a:t> </a:t>
            </a:r>
            <a:r>
              <a:rPr sz="1400" dirty="0">
                <a:latin typeface="Arial MT"/>
                <a:cs typeface="Arial MT"/>
              </a:rPr>
              <a:t>final</a:t>
            </a:r>
            <a:r>
              <a:rPr sz="1400" spc="-10" dirty="0">
                <a:latin typeface="Arial MT"/>
                <a:cs typeface="Arial MT"/>
              </a:rPr>
              <a:t> </a:t>
            </a:r>
            <a:r>
              <a:rPr sz="1400" dirty="0">
                <a:latin typeface="Arial MT"/>
                <a:cs typeface="Arial MT"/>
              </a:rPr>
              <a:t>value</a:t>
            </a:r>
            <a:r>
              <a:rPr sz="1400" spc="-10" dirty="0">
                <a:latin typeface="Arial MT"/>
                <a:cs typeface="Arial MT"/>
              </a:rPr>
              <a:t> </a:t>
            </a:r>
            <a:r>
              <a:rPr sz="1400" dirty="0">
                <a:latin typeface="Arial MT"/>
                <a:cs typeface="Arial MT"/>
              </a:rPr>
              <a:t>of</a:t>
            </a:r>
            <a:r>
              <a:rPr sz="1400" spc="10" dirty="0">
                <a:latin typeface="Arial MT"/>
                <a:cs typeface="Arial MT"/>
              </a:rPr>
              <a:t> </a:t>
            </a:r>
            <a:r>
              <a:rPr sz="1400" b="1" spc="-10" dirty="0">
                <a:solidFill>
                  <a:srgbClr val="188037"/>
                </a:solidFill>
                <a:latin typeface="Courier New"/>
                <a:cs typeface="Courier New"/>
              </a:rPr>
              <a:t>counter</a:t>
            </a:r>
            <a:r>
              <a:rPr sz="1400" spc="-10" dirty="0">
                <a:latin typeface="Arial MT"/>
                <a:cs typeface="Arial MT"/>
              </a:rPr>
              <a:t>, </a:t>
            </a:r>
            <a:r>
              <a:rPr sz="1400" dirty="0">
                <a:latin typeface="Arial MT"/>
                <a:cs typeface="Arial MT"/>
              </a:rPr>
              <a:t>which</a:t>
            </a:r>
            <a:r>
              <a:rPr sz="1400" spc="-20" dirty="0">
                <a:latin typeface="Arial MT"/>
                <a:cs typeface="Arial MT"/>
              </a:rPr>
              <a:t> </a:t>
            </a:r>
            <a:r>
              <a:rPr sz="1400" dirty="0">
                <a:latin typeface="Arial MT"/>
                <a:cs typeface="Arial MT"/>
              </a:rPr>
              <a:t>could</a:t>
            </a:r>
            <a:r>
              <a:rPr sz="1400" spc="-20" dirty="0">
                <a:latin typeface="Arial MT"/>
                <a:cs typeface="Arial MT"/>
              </a:rPr>
              <a:t> </a:t>
            </a:r>
            <a:r>
              <a:rPr sz="1400" dirty="0">
                <a:latin typeface="Arial MT"/>
                <a:cs typeface="Arial MT"/>
              </a:rPr>
              <a:t>vary</a:t>
            </a:r>
            <a:r>
              <a:rPr sz="1400" spc="-20" dirty="0">
                <a:latin typeface="Arial MT"/>
                <a:cs typeface="Arial MT"/>
              </a:rPr>
              <a:t> </a:t>
            </a:r>
            <a:r>
              <a:rPr sz="1400" dirty="0">
                <a:latin typeface="Arial MT"/>
                <a:cs typeface="Arial MT"/>
              </a:rPr>
              <a:t>with</a:t>
            </a:r>
            <a:r>
              <a:rPr sz="1400" spc="-20" dirty="0">
                <a:latin typeface="Arial MT"/>
                <a:cs typeface="Arial MT"/>
              </a:rPr>
              <a:t> </a:t>
            </a:r>
            <a:r>
              <a:rPr sz="1400" dirty="0">
                <a:latin typeface="Arial MT"/>
                <a:cs typeface="Arial MT"/>
              </a:rPr>
              <a:t>each</a:t>
            </a:r>
            <a:r>
              <a:rPr sz="1400" spc="-15" dirty="0">
                <a:latin typeface="Arial MT"/>
                <a:cs typeface="Arial MT"/>
              </a:rPr>
              <a:t> </a:t>
            </a:r>
            <a:r>
              <a:rPr sz="1400" dirty="0">
                <a:latin typeface="Arial MT"/>
                <a:cs typeface="Arial MT"/>
              </a:rPr>
              <a:t>run</a:t>
            </a:r>
            <a:r>
              <a:rPr sz="1400" spc="-20" dirty="0">
                <a:latin typeface="Arial MT"/>
                <a:cs typeface="Arial MT"/>
              </a:rPr>
              <a:t> </a:t>
            </a:r>
            <a:r>
              <a:rPr sz="1400" dirty="0">
                <a:latin typeface="Arial MT"/>
                <a:cs typeface="Arial MT"/>
              </a:rPr>
              <a:t>of</a:t>
            </a:r>
            <a:r>
              <a:rPr sz="1400" spc="-20" dirty="0">
                <a:latin typeface="Arial MT"/>
                <a:cs typeface="Arial MT"/>
              </a:rPr>
              <a:t> </a:t>
            </a:r>
            <a:r>
              <a:rPr sz="1400" dirty="0">
                <a:latin typeface="Arial MT"/>
                <a:cs typeface="Arial MT"/>
              </a:rPr>
              <a:t>the</a:t>
            </a:r>
            <a:r>
              <a:rPr sz="1400" spc="-20" dirty="0">
                <a:latin typeface="Arial MT"/>
                <a:cs typeface="Arial MT"/>
              </a:rPr>
              <a:t> </a:t>
            </a:r>
            <a:r>
              <a:rPr sz="1400" dirty="0">
                <a:latin typeface="Arial MT"/>
                <a:cs typeface="Arial MT"/>
              </a:rPr>
              <a:t>program.</a:t>
            </a:r>
            <a:r>
              <a:rPr sz="1400" spc="-15" dirty="0">
                <a:latin typeface="Arial MT"/>
                <a:cs typeface="Arial MT"/>
              </a:rPr>
              <a:t> </a:t>
            </a:r>
            <a:r>
              <a:rPr sz="1400" spc="-10" dirty="0">
                <a:latin typeface="Arial MT"/>
                <a:cs typeface="Arial MT"/>
              </a:rPr>
              <a:t>Ideally,</a:t>
            </a:r>
            <a:r>
              <a:rPr sz="1400" spc="-20" dirty="0">
                <a:latin typeface="Arial MT"/>
                <a:cs typeface="Arial MT"/>
              </a:rPr>
              <a:t> </a:t>
            </a:r>
            <a:r>
              <a:rPr sz="1400" dirty="0">
                <a:latin typeface="Arial MT"/>
                <a:cs typeface="Arial MT"/>
              </a:rPr>
              <a:t>if</a:t>
            </a:r>
            <a:r>
              <a:rPr sz="1400" spc="-20" dirty="0">
                <a:latin typeface="Arial MT"/>
                <a:cs typeface="Arial MT"/>
              </a:rPr>
              <a:t> each </a:t>
            </a:r>
            <a:r>
              <a:rPr sz="1400" dirty="0">
                <a:latin typeface="Arial MT"/>
                <a:cs typeface="Arial MT"/>
              </a:rPr>
              <a:t>thread</a:t>
            </a:r>
            <a:r>
              <a:rPr sz="1400" spc="-25" dirty="0">
                <a:latin typeface="Arial MT"/>
                <a:cs typeface="Arial MT"/>
              </a:rPr>
              <a:t> </a:t>
            </a:r>
            <a:r>
              <a:rPr sz="1400" dirty="0">
                <a:latin typeface="Arial MT"/>
                <a:cs typeface="Arial MT"/>
              </a:rPr>
              <a:t>incremented</a:t>
            </a:r>
            <a:r>
              <a:rPr sz="1400" spc="-10" dirty="0">
                <a:latin typeface="Arial MT"/>
                <a:cs typeface="Arial MT"/>
              </a:rPr>
              <a:t> </a:t>
            </a:r>
            <a:r>
              <a:rPr sz="1400" b="1" spc="-20" dirty="0">
                <a:solidFill>
                  <a:srgbClr val="188037"/>
                </a:solidFill>
                <a:latin typeface="Courier New"/>
                <a:cs typeface="Courier New"/>
              </a:rPr>
              <a:t>counter</a:t>
            </a:r>
            <a:r>
              <a:rPr sz="1400" spc="-390" dirty="0">
                <a:solidFill>
                  <a:srgbClr val="188037"/>
                </a:solidFill>
                <a:latin typeface="Courier New"/>
                <a:cs typeface="Courier New"/>
              </a:rPr>
              <a:t> </a:t>
            </a:r>
            <a:r>
              <a:rPr sz="1400" dirty="0">
                <a:latin typeface="Arial MT"/>
                <a:cs typeface="Arial MT"/>
              </a:rPr>
              <a:t>100,000</a:t>
            </a:r>
            <a:r>
              <a:rPr sz="1400" spc="-15" dirty="0">
                <a:latin typeface="Arial MT"/>
                <a:cs typeface="Arial MT"/>
              </a:rPr>
              <a:t> </a:t>
            </a:r>
            <a:r>
              <a:rPr sz="1400" dirty="0">
                <a:latin typeface="Arial MT"/>
                <a:cs typeface="Arial MT"/>
              </a:rPr>
              <a:t>times</a:t>
            </a:r>
            <a:r>
              <a:rPr sz="1400" spc="-15" dirty="0">
                <a:latin typeface="Arial MT"/>
                <a:cs typeface="Arial MT"/>
              </a:rPr>
              <a:t> </a:t>
            </a:r>
            <a:r>
              <a:rPr sz="1400" spc="-10" dirty="0">
                <a:latin typeface="Arial MT"/>
                <a:cs typeface="Arial MT"/>
              </a:rPr>
              <a:t>without </a:t>
            </a:r>
            <a:r>
              <a:rPr sz="1400" dirty="0">
                <a:latin typeface="Arial MT"/>
                <a:cs typeface="Arial MT"/>
              </a:rPr>
              <a:t>interference,</a:t>
            </a:r>
            <a:r>
              <a:rPr sz="1400" spc="-35" dirty="0">
                <a:latin typeface="Arial MT"/>
                <a:cs typeface="Arial MT"/>
              </a:rPr>
              <a:t> </a:t>
            </a:r>
            <a:r>
              <a:rPr sz="1400" dirty="0">
                <a:latin typeface="Arial MT"/>
                <a:cs typeface="Arial MT"/>
              </a:rPr>
              <a:t>the</a:t>
            </a:r>
            <a:r>
              <a:rPr sz="1400" spc="-35" dirty="0">
                <a:latin typeface="Arial MT"/>
                <a:cs typeface="Arial MT"/>
              </a:rPr>
              <a:t> </a:t>
            </a:r>
            <a:r>
              <a:rPr sz="1400" dirty="0">
                <a:latin typeface="Arial MT"/>
                <a:cs typeface="Arial MT"/>
              </a:rPr>
              <a:t>final</a:t>
            </a:r>
            <a:r>
              <a:rPr sz="1400" spc="-30" dirty="0">
                <a:latin typeface="Arial MT"/>
                <a:cs typeface="Arial MT"/>
              </a:rPr>
              <a:t> </a:t>
            </a:r>
            <a:r>
              <a:rPr sz="1400" dirty="0">
                <a:latin typeface="Arial MT"/>
                <a:cs typeface="Arial MT"/>
              </a:rPr>
              <a:t>value</a:t>
            </a:r>
            <a:r>
              <a:rPr sz="1400" spc="-35" dirty="0">
                <a:latin typeface="Arial MT"/>
                <a:cs typeface="Arial MT"/>
              </a:rPr>
              <a:t> </a:t>
            </a:r>
            <a:r>
              <a:rPr sz="1400" dirty="0">
                <a:latin typeface="Arial MT"/>
                <a:cs typeface="Arial MT"/>
              </a:rPr>
              <a:t>would</a:t>
            </a:r>
            <a:r>
              <a:rPr sz="1400" spc="-35" dirty="0">
                <a:latin typeface="Arial MT"/>
                <a:cs typeface="Arial MT"/>
              </a:rPr>
              <a:t> </a:t>
            </a:r>
            <a:r>
              <a:rPr sz="1400" dirty="0">
                <a:latin typeface="Arial MT"/>
                <a:cs typeface="Arial MT"/>
              </a:rPr>
              <a:t>be</a:t>
            </a:r>
            <a:r>
              <a:rPr sz="1400" spc="-30" dirty="0">
                <a:latin typeface="Arial MT"/>
                <a:cs typeface="Arial MT"/>
              </a:rPr>
              <a:t> </a:t>
            </a:r>
            <a:r>
              <a:rPr sz="1400" dirty="0">
                <a:latin typeface="Arial MT"/>
                <a:cs typeface="Arial MT"/>
              </a:rPr>
              <a:t>200,000.</a:t>
            </a:r>
            <a:r>
              <a:rPr sz="1400" spc="-35" dirty="0">
                <a:latin typeface="Arial MT"/>
                <a:cs typeface="Arial MT"/>
              </a:rPr>
              <a:t> </a:t>
            </a:r>
            <a:r>
              <a:rPr sz="1400" dirty="0">
                <a:latin typeface="Arial MT"/>
                <a:cs typeface="Arial MT"/>
              </a:rPr>
              <a:t>However,</a:t>
            </a:r>
            <a:r>
              <a:rPr sz="1400" spc="-35" dirty="0">
                <a:latin typeface="Arial MT"/>
                <a:cs typeface="Arial MT"/>
              </a:rPr>
              <a:t> </a:t>
            </a:r>
            <a:r>
              <a:rPr sz="1400" dirty="0">
                <a:latin typeface="Arial MT"/>
                <a:cs typeface="Arial MT"/>
              </a:rPr>
              <a:t>due </a:t>
            </a:r>
            <a:r>
              <a:rPr sz="1400" spc="-25" dirty="0">
                <a:latin typeface="Arial MT"/>
                <a:cs typeface="Arial MT"/>
              </a:rPr>
              <a:t>to </a:t>
            </a:r>
            <a:r>
              <a:rPr sz="1400" dirty="0">
                <a:latin typeface="Arial MT"/>
                <a:cs typeface="Arial MT"/>
              </a:rPr>
              <a:t>the</a:t>
            </a:r>
            <a:r>
              <a:rPr sz="1400" spc="-30" dirty="0">
                <a:latin typeface="Arial MT"/>
                <a:cs typeface="Arial MT"/>
              </a:rPr>
              <a:t> </a:t>
            </a:r>
            <a:r>
              <a:rPr sz="1400" dirty="0">
                <a:latin typeface="Arial MT"/>
                <a:cs typeface="Arial MT"/>
              </a:rPr>
              <a:t>race</a:t>
            </a:r>
            <a:r>
              <a:rPr sz="1400" spc="-20" dirty="0">
                <a:latin typeface="Arial MT"/>
                <a:cs typeface="Arial MT"/>
              </a:rPr>
              <a:t> </a:t>
            </a:r>
            <a:r>
              <a:rPr sz="1400" dirty="0">
                <a:latin typeface="Arial MT"/>
                <a:cs typeface="Arial MT"/>
              </a:rPr>
              <a:t>condition,</a:t>
            </a:r>
            <a:r>
              <a:rPr sz="1400" spc="-20" dirty="0">
                <a:latin typeface="Arial MT"/>
                <a:cs typeface="Arial MT"/>
              </a:rPr>
              <a:t> </a:t>
            </a:r>
            <a:r>
              <a:rPr sz="1400" dirty="0">
                <a:latin typeface="Arial MT"/>
                <a:cs typeface="Arial MT"/>
              </a:rPr>
              <a:t>the</a:t>
            </a:r>
            <a:r>
              <a:rPr sz="1400" spc="-20" dirty="0">
                <a:latin typeface="Arial MT"/>
                <a:cs typeface="Arial MT"/>
              </a:rPr>
              <a:t> </a:t>
            </a:r>
            <a:r>
              <a:rPr sz="1400" dirty="0">
                <a:latin typeface="Arial MT"/>
                <a:cs typeface="Arial MT"/>
              </a:rPr>
              <a:t>output</a:t>
            </a:r>
            <a:r>
              <a:rPr sz="1400" spc="-15" dirty="0">
                <a:latin typeface="Arial MT"/>
                <a:cs typeface="Arial MT"/>
              </a:rPr>
              <a:t> </a:t>
            </a:r>
            <a:r>
              <a:rPr sz="1400" dirty="0">
                <a:latin typeface="Arial MT"/>
                <a:cs typeface="Arial MT"/>
              </a:rPr>
              <a:t>will</a:t>
            </a:r>
            <a:r>
              <a:rPr sz="1400" spc="-20" dirty="0">
                <a:latin typeface="Arial MT"/>
                <a:cs typeface="Arial MT"/>
              </a:rPr>
              <a:t> </a:t>
            </a:r>
            <a:r>
              <a:rPr sz="1400" dirty="0">
                <a:latin typeface="Arial MT"/>
                <a:cs typeface="Arial MT"/>
              </a:rPr>
              <a:t>likely</a:t>
            </a:r>
            <a:r>
              <a:rPr sz="1400" spc="-20" dirty="0">
                <a:latin typeface="Arial MT"/>
                <a:cs typeface="Arial MT"/>
              </a:rPr>
              <a:t> </a:t>
            </a:r>
            <a:r>
              <a:rPr sz="1400" dirty="0">
                <a:latin typeface="Arial MT"/>
                <a:cs typeface="Arial MT"/>
              </a:rPr>
              <a:t>be</a:t>
            </a:r>
            <a:r>
              <a:rPr sz="1400" spc="-20" dirty="0">
                <a:latin typeface="Arial MT"/>
                <a:cs typeface="Arial MT"/>
              </a:rPr>
              <a:t> </a:t>
            </a:r>
            <a:r>
              <a:rPr sz="1400" dirty="0">
                <a:latin typeface="Arial MT"/>
                <a:cs typeface="Arial MT"/>
              </a:rPr>
              <a:t>less</a:t>
            </a:r>
            <a:r>
              <a:rPr sz="1400" spc="-20" dirty="0">
                <a:latin typeface="Arial MT"/>
                <a:cs typeface="Arial MT"/>
              </a:rPr>
              <a:t> </a:t>
            </a:r>
            <a:r>
              <a:rPr sz="1400" dirty="0">
                <a:latin typeface="Arial MT"/>
                <a:cs typeface="Arial MT"/>
              </a:rPr>
              <a:t>than</a:t>
            </a:r>
            <a:r>
              <a:rPr sz="1400" spc="-15" dirty="0">
                <a:latin typeface="Arial MT"/>
                <a:cs typeface="Arial MT"/>
              </a:rPr>
              <a:t> </a:t>
            </a:r>
            <a:r>
              <a:rPr sz="1400" spc="-10" dirty="0">
                <a:latin typeface="Arial MT"/>
                <a:cs typeface="Arial MT"/>
              </a:rPr>
              <a:t>200,000.</a:t>
            </a:r>
            <a:endParaRPr sz="1400" dirty="0">
              <a:latin typeface="Arial MT"/>
              <a:cs typeface="Arial MT"/>
            </a:endParaRPr>
          </a:p>
        </p:txBody>
      </p:sp>
      <p:pic>
        <p:nvPicPr>
          <p:cNvPr id="4" name="object 4">
            <a:extLst>
              <a:ext uri="{C183D7F6-B498-43B3-948B-1728B52AA6E4}">
                <adec:decorative xmlns:adec="http://schemas.microsoft.com/office/drawing/2017/decorative" val="1"/>
              </a:ext>
            </a:extLst>
          </p:cNvPr>
          <p:cNvPicPr/>
          <p:nvPr/>
        </p:nvPicPr>
        <p:blipFill>
          <a:blip r:embed="rId2" cstate="print"/>
          <a:stretch>
            <a:fillRect/>
          </a:stretch>
        </p:blipFill>
        <p:spPr>
          <a:xfrm>
            <a:off x="5573950" y="1535100"/>
            <a:ext cx="6568575" cy="4916774"/>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0375" y="1689861"/>
            <a:ext cx="2672080" cy="406400"/>
          </a:xfrm>
          <a:prstGeom prst="rect">
            <a:avLst/>
          </a:prstGeom>
        </p:spPr>
        <p:txBody>
          <a:bodyPr vert="horz" wrap="square" lIns="0" tIns="12700" rIns="0" bIns="0" rtlCol="0">
            <a:spAutoFit/>
          </a:bodyPr>
          <a:lstStyle/>
          <a:p>
            <a:pPr marL="12700">
              <a:lnSpc>
                <a:spcPct val="100000"/>
              </a:lnSpc>
              <a:spcBef>
                <a:spcPts val="100"/>
              </a:spcBef>
            </a:pPr>
            <a:r>
              <a:rPr dirty="0"/>
              <a:t>Atomic</a:t>
            </a:r>
            <a:r>
              <a:rPr spc="-110" dirty="0"/>
              <a:t> </a:t>
            </a:r>
            <a:r>
              <a:rPr spc="-10" dirty="0"/>
              <a:t>Operations</a:t>
            </a:r>
          </a:p>
        </p:txBody>
      </p:sp>
      <p:sp>
        <p:nvSpPr>
          <p:cNvPr id="3" name="object 3"/>
          <p:cNvSpPr txBox="1"/>
          <p:nvPr/>
        </p:nvSpPr>
        <p:spPr>
          <a:xfrm>
            <a:off x="484450" y="2346047"/>
            <a:ext cx="4514215" cy="4225925"/>
          </a:xfrm>
          <a:prstGeom prst="rect">
            <a:avLst/>
          </a:prstGeom>
        </p:spPr>
        <p:txBody>
          <a:bodyPr vert="horz" wrap="square" lIns="0" tIns="12700" rIns="0" bIns="0" rtlCol="0">
            <a:spAutoFit/>
          </a:bodyPr>
          <a:lstStyle/>
          <a:p>
            <a:pPr marL="12700" marR="40005">
              <a:lnSpc>
                <a:spcPct val="100000"/>
              </a:lnSpc>
              <a:spcBef>
                <a:spcPts val="100"/>
              </a:spcBef>
            </a:pPr>
            <a:r>
              <a:rPr sz="1600" b="1" dirty="0">
                <a:solidFill>
                  <a:srgbClr val="0000FF"/>
                </a:solidFill>
                <a:latin typeface="Arial"/>
                <a:cs typeface="Arial"/>
              </a:rPr>
              <a:t>Solution:</a:t>
            </a:r>
            <a:r>
              <a:rPr sz="1600" b="1" spc="-65" dirty="0">
                <a:solidFill>
                  <a:srgbClr val="0000FF"/>
                </a:solidFill>
                <a:latin typeface="Arial"/>
                <a:cs typeface="Arial"/>
              </a:rPr>
              <a:t> </a:t>
            </a:r>
            <a:r>
              <a:rPr sz="1600" spc="-80" dirty="0">
                <a:solidFill>
                  <a:srgbClr val="0000FF"/>
                </a:solidFill>
                <a:latin typeface="Arial MT"/>
                <a:cs typeface="Arial MT"/>
              </a:rPr>
              <a:t>To</a:t>
            </a:r>
            <a:r>
              <a:rPr sz="1600" spc="-35" dirty="0">
                <a:solidFill>
                  <a:srgbClr val="0000FF"/>
                </a:solidFill>
                <a:latin typeface="Arial MT"/>
                <a:cs typeface="Arial MT"/>
              </a:rPr>
              <a:t> </a:t>
            </a:r>
            <a:r>
              <a:rPr sz="1600" dirty="0">
                <a:solidFill>
                  <a:srgbClr val="0000FF"/>
                </a:solidFill>
                <a:latin typeface="Arial MT"/>
                <a:cs typeface="Arial MT"/>
              </a:rPr>
              <a:t>avoid</a:t>
            </a:r>
            <a:r>
              <a:rPr sz="1600" spc="-35" dirty="0">
                <a:solidFill>
                  <a:srgbClr val="0000FF"/>
                </a:solidFill>
                <a:latin typeface="Arial MT"/>
                <a:cs typeface="Arial MT"/>
              </a:rPr>
              <a:t> </a:t>
            </a:r>
            <a:r>
              <a:rPr sz="1600" dirty="0">
                <a:solidFill>
                  <a:srgbClr val="0000FF"/>
                </a:solidFill>
                <a:latin typeface="Arial MT"/>
                <a:cs typeface="Arial MT"/>
              </a:rPr>
              <a:t>race</a:t>
            </a:r>
            <a:r>
              <a:rPr sz="1600" spc="-35" dirty="0">
                <a:solidFill>
                  <a:srgbClr val="0000FF"/>
                </a:solidFill>
                <a:latin typeface="Arial MT"/>
                <a:cs typeface="Arial MT"/>
              </a:rPr>
              <a:t> </a:t>
            </a:r>
            <a:r>
              <a:rPr sz="1600" dirty="0">
                <a:solidFill>
                  <a:srgbClr val="0000FF"/>
                </a:solidFill>
                <a:latin typeface="Arial MT"/>
                <a:cs typeface="Arial MT"/>
              </a:rPr>
              <a:t>conditions,</a:t>
            </a:r>
            <a:r>
              <a:rPr sz="1600" spc="-30" dirty="0">
                <a:solidFill>
                  <a:srgbClr val="0000FF"/>
                </a:solidFill>
                <a:latin typeface="Arial MT"/>
                <a:cs typeface="Arial MT"/>
              </a:rPr>
              <a:t> </a:t>
            </a:r>
            <a:r>
              <a:rPr sz="1600" dirty="0">
                <a:solidFill>
                  <a:srgbClr val="0000FF"/>
                </a:solidFill>
                <a:latin typeface="Arial MT"/>
                <a:cs typeface="Arial MT"/>
              </a:rPr>
              <a:t>any</a:t>
            </a:r>
            <a:r>
              <a:rPr sz="1600" spc="-35" dirty="0">
                <a:solidFill>
                  <a:srgbClr val="0000FF"/>
                </a:solidFill>
                <a:latin typeface="Arial MT"/>
                <a:cs typeface="Arial MT"/>
              </a:rPr>
              <a:t> </a:t>
            </a:r>
            <a:r>
              <a:rPr sz="1600" spc="-10" dirty="0">
                <a:solidFill>
                  <a:srgbClr val="0000FF"/>
                </a:solidFill>
                <a:latin typeface="Arial MT"/>
                <a:cs typeface="Arial MT"/>
              </a:rPr>
              <a:t>operation </a:t>
            </a:r>
            <a:r>
              <a:rPr sz="1600" dirty="0">
                <a:solidFill>
                  <a:srgbClr val="0000FF"/>
                </a:solidFill>
                <a:latin typeface="Arial MT"/>
                <a:cs typeface="Arial MT"/>
              </a:rPr>
              <a:t>on</a:t>
            </a:r>
            <a:r>
              <a:rPr sz="1600" spc="-25" dirty="0">
                <a:solidFill>
                  <a:srgbClr val="0000FF"/>
                </a:solidFill>
                <a:latin typeface="Arial MT"/>
                <a:cs typeface="Arial MT"/>
              </a:rPr>
              <a:t> </a:t>
            </a:r>
            <a:r>
              <a:rPr sz="1600" dirty="0">
                <a:solidFill>
                  <a:srgbClr val="0000FF"/>
                </a:solidFill>
                <a:latin typeface="Arial MT"/>
                <a:cs typeface="Arial MT"/>
              </a:rPr>
              <a:t>a</a:t>
            </a:r>
            <a:r>
              <a:rPr sz="1600" spc="-20" dirty="0">
                <a:solidFill>
                  <a:srgbClr val="0000FF"/>
                </a:solidFill>
                <a:latin typeface="Arial MT"/>
                <a:cs typeface="Arial MT"/>
              </a:rPr>
              <a:t> </a:t>
            </a:r>
            <a:r>
              <a:rPr sz="1600" dirty="0">
                <a:solidFill>
                  <a:srgbClr val="0000FF"/>
                </a:solidFill>
                <a:latin typeface="Arial MT"/>
                <a:cs typeface="Arial MT"/>
              </a:rPr>
              <a:t>shared</a:t>
            </a:r>
            <a:r>
              <a:rPr sz="1600" spc="-20" dirty="0">
                <a:solidFill>
                  <a:srgbClr val="0000FF"/>
                </a:solidFill>
                <a:latin typeface="Arial MT"/>
                <a:cs typeface="Arial MT"/>
              </a:rPr>
              <a:t> </a:t>
            </a:r>
            <a:r>
              <a:rPr sz="1600" dirty="0">
                <a:solidFill>
                  <a:srgbClr val="0000FF"/>
                </a:solidFill>
                <a:latin typeface="Arial MT"/>
                <a:cs typeface="Arial MT"/>
              </a:rPr>
              <a:t>resource</a:t>
            </a:r>
            <a:r>
              <a:rPr sz="1600" spc="-20" dirty="0">
                <a:solidFill>
                  <a:srgbClr val="0000FF"/>
                </a:solidFill>
                <a:latin typeface="Arial MT"/>
                <a:cs typeface="Arial MT"/>
              </a:rPr>
              <a:t> </a:t>
            </a:r>
            <a:r>
              <a:rPr sz="1600" dirty="0">
                <a:solidFill>
                  <a:srgbClr val="0000FF"/>
                </a:solidFill>
                <a:latin typeface="Arial MT"/>
                <a:cs typeface="Arial MT"/>
              </a:rPr>
              <a:t>–</a:t>
            </a:r>
            <a:r>
              <a:rPr sz="1600" spc="-20" dirty="0">
                <a:solidFill>
                  <a:srgbClr val="0000FF"/>
                </a:solidFill>
                <a:latin typeface="Arial MT"/>
                <a:cs typeface="Arial MT"/>
              </a:rPr>
              <a:t> </a:t>
            </a:r>
            <a:r>
              <a:rPr sz="1600" dirty="0">
                <a:solidFill>
                  <a:srgbClr val="0000FF"/>
                </a:solidFill>
                <a:latin typeface="Arial MT"/>
                <a:cs typeface="Arial MT"/>
              </a:rPr>
              <a:t>that</a:t>
            </a:r>
            <a:r>
              <a:rPr sz="1600" spc="-20" dirty="0">
                <a:solidFill>
                  <a:srgbClr val="0000FF"/>
                </a:solidFill>
                <a:latin typeface="Arial MT"/>
                <a:cs typeface="Arial MT"/>
              </a:rPr>
              <a:t> </a:t>
            </a:r>
            <a:r>
              <a:rPr sz="1600" dirty="0">
                <a:solidFill>
                  <a:srgbClr val="0000FF"/>
                </a:solidFill>
                <a:latin typeface="Arial MT"/>
                <a:cs typeface="Arial MT"/>
              </a:rPr>
              <a:t>is,</a:t>
            </a:r>
            <a:r>
              <a:rPr sz="1600" spc="-20" dirty="0">
                <a:solidFill>
                  <a:srgbClr val="0000FF"/>
                </a:solidFill>
                <a:latin typeface="Arial MT"/>
                <a:cs typeface="Arial MT"/>
              </a:rPr>
              <a:t> </a:t>
            </a:r>
            <a:r>
              <a:rPr sz="1600" dirty="0">
                <a:solidFill>
                  <a:srgbClr val="0000FF"/>
                </a:solidFill>
                <a:latin typeface="Arial MT"/>
                <a:cs typeface="Arial MT"/>
              </a:rPr>
              <a:t>on</a:t>
            </a:r>
            <a:r>
              <a:rPr sz="1600" spc="-25" dirty="0">
                <a:solidFill>
                  <a:srgbClr val="0000FF"/>
                </a:solidFill>
                <a:latin typeface="Arial MT"/>
                <a:cs typeface="Arial MT"/>
              </a:rPr>
              <a:t> </a:t>
            </a:r>
            <a:r>
              <a:rPr sz="1600" dirty="0">
                <a:solidFill>
                  <a:srgbClr val="0000FF"/>
                </a:solidFill>
                <a:latin typeface="Arial MT"/>
                <a:cs typeface="Arial MT"/>
              </a:rPr>
              <a:t>a</a:t>
            </a:r>
            <a:r>
              <a:rPr sz="1600" spc="-20" dirty="0">
                <a:solidFill>
                  <a:srgbClr val="0000FF"/>
                </a:solidFill>
                <a:latin typeface="Arial MT"/>
                <a:cs typeface="Arial MT"/>
              </a:rPr>
              <a:t> </a:t>
            </a:r>
            <a:r>
              <a:rPr sz="1600" dirty="0">
                <a:solidFill>
                  <a:srgbClr val="0000FF"/>
                </a:solidFill>
                <a:latin typeface="Arial MT"/>
                <a:cs typeface="Arial MT"/>
              </a:rPr>
              <a:t>resource</a:t>
            </a:r>
            <a:r>
              <a:rPr sz="1600" spc="-20" dirty="0">
                <a:solidFill>
                  <a:srgbClr val="0000FF"/>
                </a:solidFill>
                <a:latin typeface="Arial MT"/>
                <a:cs typeface="Arial MT"/>
              </a:rPr>
              <a:t> that </a:t>
            </a:r>
            <a:r>
              <a:rPr sz="1600" dirty="0">
                <a:solidFill>
                  <a:srgbClr val="0000FF"/>
                </a:solidFill>
                <a:latin typeface="Arial MT"/>
                <a:cs typeface="Arial MT"/>
              </a:rPr>
              <a:t>can</a:t>
            </a:r>
            <a:r>
              <a:rPr sz="1600" spc="-30" dirty="0">
                <a:solidFill>
                  <a:srgbClr val="0000FF"/>
                </a:solidFill>
                <a:latin typeface="Arial MT"/>
                <a:cs typeface="Arial MT"/>
              </a:rPr>
              <a:t> </a:t>
            </a:r>
            <a:r>
              <a:rPr sz="1600" dirty="0">
                <a:solidFill>
                  <a:srgbClr val="0000FF"/>
                </a:solidFill>
                <a:latin typeface="Arial MT"/>
                <a:cs typeface="Arial MT"/>
              </a:rPr>
              <a:t>be</a:t>
            </a:r>
            <a:r>
              <a:rPr sz="1600" spc="-30" dirty="0">
                <a:solidFill>
                  <a:srgbClr val="0000FF"/>
                </a:solidFill>
                <a:latin typeface="Arial MT"/>
                <a:cs typeface="Arial MT"/>
              </a:rPr>
              <a:t> </a:t>
            </a:r>
            <a:r>
              <a:rPr sz="1600" dirty="0">
                <a:solidFill>
                  <a:srgbClr val="0000FF"/>
                </a:solidFill>
                <a:latin typeface="Arial MT"/>
                <a:cs typeface="Arial MT"/>
              </a:rPr>
              <a:t>shared</a:t>
            </a:r>
            <a:r>
              <a:rPr sz="1600" spc="-30" dirty="0">
                <a:solidFill>
                  <a:srgbClr val="0000FF"/>
                </a:solidFill>
                <a:latin typeface="Arial MT"/>
                <a:cs typeface="Arial MT"/>
              </a:rPr>
              <a:t> </a:t>
            </a:r>
            <a:r>
              <a:rPr sz="1600" dirty="0">
                <a:solidFill>
                  <a:srgbClr val="0000FF"/>
                </a:solidFill>
                <a:latin typeface="Arial MT"/>
                <a:cs typeface="Arial MT"/>
              </a:rPr>
              <a:t>between</a:t>
            </a:r>
            <a:r>
              <a:rPr sz="1600" spc="-30" dirty="0">
                <a:solidFill>
                  <a:srgbClr val="0000FF"/>
                </a:solidFill>
                <a:latin typeface="Arial MT"/>
                <a:cs typeface="Arial MT"/>
              </a:rPr>
              <a:t> </a:t>
            </a:r>
            <a:r>
              <a:rPr sz="1600" dirty="0">
                <a:solidFill>
                  <a:srgbClr val="0000FF"/>
                </a:solidFill>
                <a:latin typeface="Arial MT"/>
                <a:cs typeface="Arial MT"/>
              </a:rPr>
              <a:t>threads</a:t>
            </a:r>
            <a:r>
              <a:rPr sz="1600" spc="-30" dirty="0">
                <a:solidFill>
                  <a:srgbClr val="0000FF"/>
                </a:solidFill>
                <a:latin typeface="Arial MT"/>
                <a:cs typeface="Arial MT"/>
              </a:rPr>
              <a:t> </a:t>
            </a:r>
            <a:r>
              <a:rPr sz="1600" dirty="0">
                <a:solidFill>
                  <a:srgbClr val="0000FF"/>
                </a:solidFill>
                <a:latin typeface="Arial MT"/>
                <a:cs typeface="Arial MT"/>
              </a:rPr>
              <a:t>–</a:t>
            </a:r>
            <a:r>
              <a:rPr sz="1600" spc="-30" dirty="0">
                <a:solidFill>
                  <a:srgbClr val="0000FF"/>
                </a:solidFill>
                <a:latin typeface="Arial MT"/>
                <a:cs typeface="Arial MT"/>
              </a:rPr>
              <a:t> </a:t>
            </a:r>
            <a:r>
              <a:rPr sz="1600" dirty="0">
                <a:solidFill>
                  <a:srgbClr val="0000FF"/>
                </a:solidFill>
                <a:latin typeface="Arial MT"/>
                <a:cs typeface="Arial MT"/>
              </a:rPr>
              <a:t>must</a:t>
            </a:r>
            <a:r>
              <a:rPr sz="1600" spc="-30" dirty="0">
                <a:solidFill>
                  <a:srgbClr val="0000FF"/>
                </a:solidFill>
                <a:latin typeface="Arial MT"/>
                <a:cs typeface="Arial MT"/>
              </a:rPr>
              <a:t> </a:t>
            </a:r>
            <a:r>
              <a:rPr sz="1600" spc="-25" dirty="0">
                <a:solidFill>
                  <a:srgbClr val="0000FF"/>
                </a:solidFill>
                <a:latin typeface="Arial MT"/>
                <a:cs typeface="Arial MT"/>
              </a:rPr>
              <a:t>be </a:t>
            </a:r>
            <a:r>
              <a:rPr sz="1600" dirty="0">
                <a:solidFill>
                  <a:srgbClr val="0000FF"/>
                </a:solidFill>
                <a:latin typeface="Arial MT"/>
                <a:cs typeface="Arial MT"/>
              </a:rPr>
              <a:t>executed</a:t>
            </a:r>
            <a:r>
              <a:rPr sz="1600" spc="-35" dirty="0">
                <a:solidFill>
                  <a:srgbClr val="0000FF"/>
                </a:solidFill>
                <a:latin typeface="Arial MT"/>
                <a:cs typeface="Arial MT"/>
              </a:rPr>
              <a:t> </a:t>
            </a:r>
            <a:r>
              <a:rPr sz="1600" u="heavy" spc="-10" dirty="0">
                <a:solidFill>
                  <a:srgbClr val="0000FF"/>
                </a:solidFill>
                <a:uFill>
                  <a:solidFill>
                    <a:srgbClr val="0000FF"/>
                  </a:solidFill>
                </a:uFill>
                <a:latin typeface="Arial MT"/>
                <a:cs typeface="Arial MT"/>
              </a:rPr>
              <a:t>atomically</a:t>
            </a:r>
            <a:r>
              <a:rPr sz="1600" spc="-10" dirty="0">
                <a:solidFill>
                  <a:srgbClr val="0000FF"/>
                </a:solidFill>
                <a:latin typeface="Arial MT"/>
                <a:cs typeface="Arial MT"/>
              </a:rPr>
              <a:t>.</a:t>
            </a:r>
            <a:endParaRPr sz="1600" dirty="0">
              <a:latin typeface="Arial MT"/>
              <a:cs typeface="Arial MT"/>
            </a:endParaRPr>
          </a:p>
          <a:p>
            <a:pPr>
              <a:lnSpc>
                <a:spcPct val="100000"/>
              </a:lnSpc>
              <a:spcBef>
                <a:spcPts val="80"/>
              </a:spcBef>
            </a:pPr>
            <a:endParaRPr sz="1600" dirty="0">
              <a:latin typeface="Arial MT"/>
              <a:cs typeface="Arial MT"/>
            </a:endParaRPr>
          </a:p>
          <a:p>
            <a:pPr marL="12700" marR="5080">
              <a:lnSpc>
                <a:spcPct val="100000"/>
              </a:lnSpc>
            </a:pPr>
            <a:r>
              <a:rPr sz="1600" dirty="0">
                <a:solidFill>
                  <a:srgbClr val="0000FF"/>
                </a:solidFill>
                <a:latin typeface="Arial MT"/>
                <a:cs typeface="Arial MT"/>
              </a:rPr>
              <a:t>When</a:t>
            </a:r>
            <a:r>
              <a:rPr sz="1600" spc="-35" dirty="0">
                <a:solidFill>
                  <a:srgbClr val="0000FF"/>
                </a:solidFill>
                <a:latin typeface="Arial MT"/>
                <a:cs typeface="Arial MT"/>
              </a:rPr>
              <a:t> </a:t>
            </a:r>
            <a:r>
              <a:rPr sz="1600" dirty="0">
                <a:solidFill>
                  <a:srgbClr val="0000FF"/>
                </a:solidFill>
                <a:latin typeface="Arial MT"/>
                <a:cs typeface="Arial MT"/>
              </a:rPr>
              <a:t>an</a:t>
            </a:r>
            <a:r>
              <a:rPr sz="1600" spc="-25" dirty="0">
                <a:solidFill>
                  <a:srgbClr val="0000FF"/>
                </a:solidFill>
                <a:latin typeface="Arial MT"/>
                <a:cs typeface="Arial MT"/>
              </a:rPr>
              <a:t> </a:t>
            </a:r>
            <a:r>
              <a:rPr sz="1600" dirty="0">
                <a:solidFill>
                  <a:srgbClr val="0000FF"/>
                </a:solidFill>
                <a:latin typeface="Arial MT"/>
                <a:cs typeface="Arial MT"/>
              </a:rPr>
              <a:t>operation</a:t>
            </a:r>
            <a:r>
              <a:rPr sz="1600" spc="-20" dirty="0">
                <a:solidFill>
                  <a:srgbClr val="0000FF"/>
                </a:solidFill>
                <a:latin typeface="Arial MT"/>
                <a:cs typeface="Arial MT"/>
              </a:rPr>
              <a:t> </a:t>
            </a:r>
            <a:r>
              <a:rPr sz="1600" dirty="0">
                <a:solidFill>
                  <a:srgbClr val="0000FF"/>
                </a:solidFill>
                <a:latin typeface="Arial MT"/>
                <a:cs typeface="Arial MT"/>
              </a:rPr>
              <a:t>on</a:t>
            </a:r>
            <a:r>
              <a:rPr sz="1600" spc="-25" dirty="0">
                <a:solidFill>
                  <a:srgbClr val="0000FF"/>
                </a:solidFill>
                <a:latin typeface="Arial MT"/>
                <a:cs typeface="Arial MT"/>
              </a:rPr>
              <a:t> </a:t>
            </a:r>
            <a:r>
              <a:rPr sz="1600" dirty="0">
                <a:solidFill>
                  <a:srgbClr val="0000FF"/>
                </a:solidFill>
                <a:latin typeface="Arial MT"/>
                <a:cs typeface="Arial MT"/>
              </a:rPr>
              <a:t>a</a:t>
            </a:r>
            <a:r>
              <a:rPr sz="1600" spc="-20" dirty="0">
                <a:solidFill>
                  <a:srgbClr val="0000FF"/>
                </a:solidFill>
                <a:latin typeface="Arial MT"/>
                <a:cs typeface="Arial MT"/>
              </a:rPr>
              <a:t> </a:t>
            </a:r>
            <a:r>
              <a:rPr sz="1600" dirty="0">
                <a:solidFill>
                  <a:srgbClr val="0000FF"/>
                </a:solidFill>
                <a:latin typeface="Arial MT"/>
                <a:cs typeface="Arial MT"/>
              </a:rPr>
              <a:t>shared</a:t>
            </a:r>
            <a:r>
              <a:rPr sz="1600" spc="-25" dirty="0">
                <a:solidFill>
                  <a:srgbClr val="0000FF"/>
                </a:solidFill>
                <a:latin typeface="Arial MT"/>
                <a:cs typeface="Arial MT"/>
              </a:rPr>
              <a:t> </a:t>
            </a:r>
            <a:r>
              <a:rPr sz="1600" dirty="0">
                <a:solidFill>
                  <a:srgbClr val="0000FF"/>
                </a:solidFill>
                <a:latin typeface="Arial MT"/>
                <a:cs typeface="Arial MT"/>
              </a:rPr>
              <a:t>resource</a:t>
            </a:r>
            <a:r>
              <a:rPr sz="1600" spc="-20" dirty="0">
                <a:solidFill>
                  <a:srgbClr val="0000FF"/>
                </a:solidFill>
                <a:latin typeface="Arial MT"/>
                <a:cs typeface="Arial MT"/>
              </a:rPr>
              <a:t> </a:t>
            </a:r>
            <a:r>
              <a:rPr sz="1600" spc="-25" dirty="0">
                <a:solidFill>
                  <a:srgbClr val="0000FF"/>
                </a:solidFill>
                <a:latin typeface="Arial MT"/>
                <a:cs typeface="Arial MT"/>
              </a:rPr>
              <a:t>is </a:t>
            </a:r>
            <a:r>
              <a:rPr sz="1600" dirty="0">
                <a:solidFill>
                  <a:srgbClr val="0000FF"/>
                </a:solidFill>
                <a:latin typeface="Arial MT"/>
                <a:cs typeface="Arial MT"/>
              </a:rPr>
              <a:t>executed</a:t>
            </a:r>
            <a:r>
              <a:rPr sz="1600" spc="-30" dirty="0">
                <a:solidFill>
                  <a:srgbClr val="0000FF"/>
                </a:solidFill>
                <a:latin typeface="Arial MT"/>
                <a:cs typeface="Arial MT"/>
              </a:rPr>
              <a:t> </a:t>
            </a:r>
            <a:r>
              <a:rPr sz="1600" spc="-10" dirty="0">
                <a:solidFill>
                  <a:srgbClr val="0000FF"/>
                </a:solidFill>
                <a:latin typeface="Arial MT"/>
                <a:cs typeface="Arial MT"/>
              </a:rPr>
              <a:t>atomically,</a:t>
            </a:r>
            <a:r>
              <a:rPr sz="1600" spc="-30" dirty="0">
                <a:solidFill>
                  <a:srgbClr val="0000FF"/>
                </a:solidFill>
                <a:latin typeface="Arial MT"/>
                <a:cs typeface="Arial MT"/>
              </a:rPr>
              <a:t> </a:t>
            </a:r>
            <a:r>
              <a:rPr sz="1600" dirty="0">
                <a:solidFill>
                  <a:srgbClr val="0000FF"/>
                </a:solidFill>
                <a:latin typeface="Arial MT"/>
                <a:cs typeface="Arial MT"/>
              </a:rPr>
              <a:t>it</a:t>
            </a:r>
            <a:r>
              <a:rPr sz="1600" spc="-30" dirty="0">
                <a:solidFill>
                  <a:srgbClr val="0000FF"/>
                </a:solidFill>
                <a:latin typeface="Arial MT"/>
                <a:cs typeface="Arial MT"/>
              </a:rPr>
              <a:t> </a:t>
            </a:r>
            <a:r>
              <a:rPr sz="1600" dirty="0">
                <a:solidFill>
                  <a:srgbClr val="0000FF"/>
                </a:solidFill>
                <a:latin typeface="Arial MT"/>
                <a:cs typeface="Arial MT"/>
              </a:rPr>
              <a:t>means</a:t>
            </a:r>
            <a:r>
              <a:rPr sz="1600" spc="-30" dirty="0">
                <a:solidFill>
                  <a:srgbClr val="0000FF"/>
                </a:solidFill>
                <a:latin typeface="Arial MT"/>
                <a:cs typeface="Arial MT"/>
              </a:rPr>
              <a:t> </a:t>
            </a:r>
            <a:r>
              <a:rPr sz="1600" dirty="0">
                <a:solidFill>
                  <a:srgbClr val="0000FF"/>
                </a:solidFill>
                <a:latin typeface="Arial MT"/>
                <a:cs typeface="Arial MT"/>
              </a:rPr>
              <a:t>that</a:t>
            </a:r>
            <a:r>
              <a:rPr sz="1600" spc="-30" dirty="0">
                <a:solidFill>
                  <a:srgbClr val="0000FF"/>
                </a:solidFill>
                <a:latin typeface="Arial MT"/>
                <a:cs typeface="Arial MT"/>
              </a:rPr>
              <a:t> </a:t>
            </a:r>
            <a:r>
              <a:rPr sz="1600" dirty="0">
                <a:solidFill>
                  <a:srgbClr val="0000FF"/>
                </a:solidFill>
                <a:latin typeface="Arial MT"/>
                <a:cs typeface="Arial MT"/>
              </a:rPr>
              <a:t>the</a:t>
            </a:r>
            <a:r>
              <a:rPr sz="1600" spc="-30" dirty="0">
                <a:solidFill>
                  <a:srgbClr val="0000FF"/>
                </a:solidFill>
                <a:latin typeface="Arial MT"/>
                <a:cs typeface="Arial MT"/>
              </a:rPr>
              <a:t> </a:t>
            </a:r>
            <a:r>
              <a:rPr sz="1600" dirty="0">
                <a:solidFill>
                  <a:srgbClr val="0000FF"/>
                </a:solidFill>
                <a:latin typeface="Arial MT"/>
                <a:cs typeface="Arial MT"/>
              </a:rPr>
              <a:t>operation</a:t>
            </a:r>
            <a:r>
              <a:rPr sz="1600" spc="-30" dirty="0">
                <a:solidFill>
                  <a:srgbClr val="0000FF"/>
                </a:solidFill>
                <a:latin typeface="Arial MT"/>
                <a:cs typeface="Arial MT"/>
              </a:rPr>
              <a:t> </a:t>
            </a:r>
            <a:r>
              <a:rPr sz="1600" spc="-25" dirty="0">
                <a:solidFill>
                  <a:srgbClr val="0000FF"/>
                </a:solidFill>
                <a:latin typeface="Arial MT"/>
                <a:cs typeface="Arial MT"/>
              </a:rPr>
              <a:t>is </a:t>
            </a:r>
            <a:r>
              <a:rPr sz="1600" u="heavy" dirty="0">
                <a:solidFill>
                  <a:srgbClr val="0000FF"/>
                </a:solidFill>
                <a:uFill>
                  <a:solidFill>
                    <a:srgbClr val="0000FF"/>
                  </a:solidFill>
                </a:uFill>
                <a:latin typeface="Arial MT"/>
                <a:cs typeface="Arial MT"/>
              </a:rPr>
              <a:t>treated</a:t>
            </a:r>
            <a:r>
              <a:rPr sz="1600" u="heavy" spc="-30" dirty="0">
                <a:solidFill>
                  <a:srgbClr val="0000FF"/>
                </a:solidFill>
                <a:uFill>
                  <a:solidFill>
                    <a:srgbClr val="0000FF"/>
                  </a:solidFill>
                </a:uFill>
                <a:latin typeface="Arial MT"/>
                <a:cs typeface="Arial MT"/>
              </a:rPr>
              <a:t> </a:t>
            </a:r>
            <a:r>
              <a:rPr sz="1600" u="heavy" dirty="0">
                <a:solidFill>
                  <a:srgbClr val="0000FF"/>
                </a:solidFill>
                <a:uFill>
                  <a:solidFill>
                    <a:srgbClr val="0000FF"/>
                  </a:solidFill>
                </a:uFill>
                <a:latin typeface="Arial MT"/>
                <a:cs typeface="Arial MT"/>
              </a:rPr>
              <a:t>as</a:t>
            </a:r>
            <a:r>
              <a:rPr sz="1600" u="heavy" spc="-30" dirty="0">
                <a:solidFill>
                  <a:srgbClr val="0000FF"/>
                </a:solidFill>
                <a:uFill>
                  <a:solidFill>
                    <a:srgbClr val="0000FF"/>
                  </a:solidFill>
                </a:uFill>
                <a:latin typeface="Arial MT"/>
                <a:cs typeface="Arial MT"/>
              </a:rPr>
              <a:t> </a:t>
            </a:r>
            <a:r>
              <a:rPr sz="1600" u="heavy" dirty="0">
                <a:solidFill>
                  <a:srgbClr val="0000FF"/>
                </a:solidFill>
                <a:uFill>
                  <a:solidFill>
                    <a:srgbClr val="0000FF"/>
                  </a:solidFill>
                </a:uFill>
                <a:latin typeface="Arial MT"/>
                <a:cs typeface="Arial MT"/>
              </a:rPr>
              <a:t>a</a:t>
            </a:r>
            <a:r>
              <a:rPr sz="1600" u="heavy" spc="-30" dirty="0">
                <a:solidFill>
                  <a:srgbClr val="0000FF"/>
                </a:solidFill>
                <a:uFill>
                  <a:solidFill>
                    <a:srgbClr val="0000FF"/>
                  </a:solidFill>
                </a:uFill>
                <a:latin typeface="Arial MT"/>
                <a:cs typeface="Arial MT"/>
              </a:rPr>
              <a:t> </a:t>
            </a:r>
            <a:r>
              <a:rPr sz="1600" u="heavy" dirty="0">
                <a:solidFill>
                  <a:srgbClr val="0000FF"/>
                </a:solidFill>
                <a:uFill>
                  <a:solidFill>
                    <a:srgbClr val="0000FF"/>
                  </a:solidFill>
                </a:uFill>
                <a:latin typeface="Arial MT"/>
                <a:cs typeface="Arial MT"/>
              </a:rPr>
              <a:t>single,</a:t>
            </a:r>
            <a:r>
              <a:rPr sz="1600" u="heavy" spc="-25" dirty="0">
                <a:solidFill>
                  <a:srgbClr val="0000FF"/>
                </a:solidFill>
                <a:uFill>
                  <a:solidFill>
                    <a:srgbClr val="0000FF"/>
                  </a:solidFill>
                </a:uFill>
                <a:latin typeface="Arial MT"/>
                <a:cs typeface="Arial MT"/>
              </a:rPr>
              <a:t> </a:t>
            </a:r>
            <a:r>
              <a:rPr sz="1600" u="heavy" dirty="0">
                <a:solidFill>
                  <a:srgbClr val="0000FF"/>
                </a:solidFill>
                <a:uFill>
                  <a:solidFill>
                    <a:srgbClr val="0000FF"/>
                  </a:solidFill>
                </a:uFill>
                <a:latin typeface="Arial MT"/>
                <a:cs typeface="Arial MT"/>
              </a:rPr>
              <a:t>indivisible</a:t>
            </a:r>
            <a:r>
              <a:rPr sz="1600" u="heavy" spc="-30" dirty="0">
                <a:solidFill>
                  <a:srgbClr val="0000FF"/>
                </a:solidFill>
                <a:uFill>
                  <a:solidFill>
                    <a:srgbClr val="0000FF"/>
                  </a:solidFill>
                </a:uFill>
                <a:latin typeface="Arial MT"/>
                <a:cs typeface="Arial MT"/>
              </a:rPr>
              <a:t> </a:t>
            </a:r>
            <a:r>
              <a:rPr sz="1600" u="heavy" dirty="0">
                <a:solidFill>
                  <a:srgbClr val="0000FF"/>
                </a:solidFill>
                <a:uFill>
                  <a:solidFill>
                    <a:srgbClr val="0000FF"/>
                  </a:solidFill>
                </a:uFill>
                <a:latin typeface="Arial MT"/>
                <a:cs typeface="Arial MT"/>
              </a:rPr>
              <a:t>unit</a:t>
            </a:r>
            <a:r>
              <a:rPr sz="1600" u="heavy" spc="-30" dirty="0">
                <a:solidFill>
                  <a:srgbClr val="0000FF"/>
                </a:solidFill>
                <a:uFill>
                  <a:solidFill>
                    <a:srgbClr val="0000FF"/>
                  </a:solidFill>
                </a:uFill>
                <a:latin typeface="Arial MT"/>
                <a:cs typeface="Arial MT"/>
              </a:rPr>
              <a:t> </a:t>
            </a:r>
            <a:r>
              <a:rPr sz="1600" u="heavy" dirty="0">
                <a:solidFill>
                  <a:srgbClr val="0000FF"/>
                </a:solidFill>
                <a:uFill>
                  <a:solidFill>
                    <a:srgbClr val="0000FF"/>
                  </a:solidFill>
                </a:uFill>
                <a:latin typeface="Arial MT"/>
                <a:cs typeface="Arial MT"/>
              </a:rPr>
              <a:t>of</a:t>
            </a:r>
            <a:r>
              <a:rPr sz="1600" u="heavy" spc="-25" dirty="0">
                <a:solidFill>
                  <a:srgbClr val="0000FF"/>
                </a:solidFill>
                <a:uFill>
                  <a:solidFill>
                    <a:srgbClr val="0000FF"/>
                  </a:solidFill>
                </a:uFill>
                <a:latin typeface="Arial MT"/>
                <a:cs typeface="Arial MT"/>
              </a:rPr>
              <a:t> </a:t>
            </a:r>
            <a:r>
              <a:rPr sz="1600" u="heavy" dirty="0">
                <a:solidFill>
                  <a:srgbClr val="0000FF"/>
                </a:solidFill>
                <a:uFill>
                  <a:solidFill>
                    <a:srgbClr val="0000FF"/>
                  </a:solidFill>
                </a:uFill>
                <a:latin typeface="Arial MT"/>
                <a:cs typeface="Arial MT"/>
              </a:rPr>
              <a:t>work</a:t>
            </a:r>
            <a:r>
              <a:rPr sz="1600" dirty="0">
                <a:solidFill>
                  <a:srgbClr val="0000FF"/>
                </a:solidFill>
                <a:latin typeface="Arial MT"/>
                <a:cs typeface="Arial MT"/>
              </a:rPr>
              <a:t>.</a:t>
            </a:r>
            <a:r>
              <a:rPr sz="1600" spc="-60" dirty="0">
                <a:solidFill>
                  <a:srgbClr val="0000FF"/>
                </a:solidFill>
                <a:latin typeface="Arial MT"/>
                <a:cs typeface="Arial MT"/>
              </a:rPr>
              <a:t> </a:t>
            </a:r>
            <a:r>
              <a:rPr sz="1600" spc="-20" dirty="0">
                <a:solidFill>
                  <a:srgbClr val="0000FF"/>
                </a:solidFill>
                <a:latin typeface="Arial MT"/>
                <a:cs typeface="Arial MT"/>
              </a:rPr>
              <a:t>This </a:t>
            </a:r>
            <a:r>
              <a:rPr sz="1600" dirty="0">
                <a:solidFill>
                  <a:srgbClr val="0000FF"/>
                </a:solidFill>
                <a:latin typeface="Arial MT"/>
                <a:cs typeface="Arial MT"/>
              </a:rPr>
              <a:t>ensures</a:t>
            </a:r>
            <a:r>
              <a:rPr sz="1600" spc="-30" dirty="0">
                <a:solidFill>
                  <a:srgbClr val="0000FF"/>
                </a:solidFill>
                <a:latin typeface="Arial MT"/>
                <a:cs typeface="Arial MT"/>
              </a:rPr>
              <a:t> </a:t>
            </a:r>
            <a:r>
              <a:rPr sz="1600" dirty="0">
                <a:solidFill>
                  <a:srgbClr val="0000FF"/>
                </a:solidFill>
                <a:latin typeface="Arial MT"/>
                <a:cs typeface="Arial MT"/>
              </a:rPr>
              <a:t>that</a:t>
            </a:r>
            <a:r>
              <a:rPr sz="1600" spc="-30" dirty="0">
                <a:solidFill>
                  <a:srgbClr val="0000FF"/>
                </a:solidFill>
                <a:latin typeface="Arial MT"/>
                <a:cs typeface="Arial MT"/>
              </a:rPr>
              <a:t> </a:t>
            </a:r>
            <a:r>
              <a:rPr sz="1600" dirty="0">
                <a:solidFill>
                  <a:srgbClr val="0000FF"/>
                </a:solidFill>
                <a:latin typeface="Arial MT"/>
                <a:cs typeface="Arial MT"/>
              </a:rPr>
              <a:t>the</a:t>
            </a:r>
            <a:r>
              <a:rPr sz="1600" spc="-25" dirty="0">
                <a:solidFill>
                  <a:srgbClr val="0000FF"/>
                </a:solidFill>
                <a:latin typeface="Arial MT"/>
                <a:cs typeface="Arial MT"/>
              </a:rPr>
              <a:t> </a:t>
            </a:r>
            <a:r>
              <a:rPr sz="1600" dirty="0">
                <a:solidFill>
                  <a:srgbClr val="0000FF"/>
                </a:solidFill>
                <a:latin typeface="Arial MT"/>
                <a:cs typeface="Arial MT"/>
              </a:rPr>
              <a:t>operation</a:t>
            </a:r>
            <a:r>
              <a:rPr sz="1600" spc="-30" dirty="0">
                <a:solidFill>
                  <a:srgbClr val="0000FF"/>
                </a:solidFill>
                <a:latin typeface="Arial MT"/>
                <a:cs typeface="Arial MT"/>
              </a:rPr>
              <a:t> </a:t>
            </a:r>
            <a:r>
              <a:rPr sz="1600" dirty="0">
                <a:solidFill>
                  <a:srgbClr val="0000FF"/>
                </a:solidFill>
                <a:latin typeface="Arial MT"/>
                <a:cs typeface="Arial MT"/>
              </a:rPr>
              <a:t>is</a:t>
            </a:r>
            <a:r>
              <a:rPr sz="1600" spc="-30" dirty="0">
                <a:solidFill>
                  <a:srgbClr val="0000FF"/>
                </a:solidFill>
                <a:latin typeface="Arial MT"/>
                <a:cs typeface="Arial MT"/>
              </a:rPr>
              <a:t> </a:t>
            </a:r>
            <a:r>
              <a:rPr sz="1600" dirty="0">
                <a:solidFill>
                  <a:srgbClr val="0000FF"/>
                </a:solidFill>
                <a:latin typeface="Arial MT"/>
                <a:cs typeface="Arial MT"/>
              </a:rPr>
              <a:t>not</a:t>
            </a:r>
            <a:r>
              <a:rPr sz="1600" spc="-25" dirty="0">
                <a:solidFill>
                  <a:srgbClr val="0000FF"/>
                </a:solidFill>
                <a:latin typeface="Arial MT"/>
                <a:cs typeface="Arial MT"/>
              </a:rPr>
              <a:t> </a:t>
            </a:r>
            <a:r>
              <a:rPr sz="1600" spc="-10" dirty="0">
                <a:solidFill>
                  <a:srgbClr val="0000FF"/>
                </a:solidFill>
                <a:latin typeface="Arial MT"/>
                <a:cs typeface="Arial MT"/>
              </a:rPr>
              <a:t>interrupted</a:t>
            </a:r>
            <a:r>
              <a:rPr sz="1600" spc="-30" dirty="0">
                <a:solidFill>
                  <a:srgbClr val="0000FF"/>
                </a:solidFill>
                <a:latin typeface="Arial MT"/>
                <a:cs typeface="Arial MT"/>
              </a:rPr>
              <a:t> </a:t>
            </a:r>
            <a:r>
              <a:rPr sz="1600" spc="-25" dirty="0">
                <a:solidFill>
                  <a:srgbClr val="0000FF"/>
                </a:solidFill>
                <a:latin typeface="Arial MT"/>
                <a:cs typeface="Arial MT"/>
              </a:rPr>
              <a:t>or </a:t>
            </a:r>
            <a:r>
              <a:rPr sz="1600" dirty="0">
                <a:solidFill>
                  <a:srgbClr val="0000FF"/>
                </a:solidFill>
                <a:latin typeface="Arial MT"/>
                <a:cs typeface="Arial MT"/>
              </a:rPr>
              <a:t>interleaved</a:t>
            </a:r>
            <a:r>
              <a:rPr sz="1600" spc="-35" dirty="0">
                <a:solidFill>
                  <a:srgbClr val="0000FF"/>
                </a:solidFill>
                <a:latin typeface="Arial MT"/>
                <a:cs typeface="Arial MT"/>
              </a:rPr>
              <a:t> </a:t>
            </a:r>
            <a:r>
              <a:rPr sz="1600" dirty="0">
                <a:solidFill>
                  <a:srgbClr val="0000FF"/>
                </a:solidFill>
                <a:latin typeface="Arial MT"/>
                <a:cs typeface="Arial MT"/>
              </a:rPr>
              <a:t>with</a:t>
            </a:r>
            <a:r>
              <a:rPr sz="1600" spc="-30" dirty="0">
                <a:solidFill>
                  <a:srgbClr val="0000FF"/>
                </a:solidFill>
                <a:latin typeface="Arial MT"/>
                <a:cs typeface="Arial MT"/>
              </a:rPr>
              <a:t> </a:t>
            </a:r>
            <a:r>
              <a:rPr sz="1600" dirty="0">
                <a:solidFill>
                  <a:srgbClr val="0000FF"/>
                </a:solidFill>
                <a:latin typeface="Arial MT"/>
                <a:cs typeface="Arial MT"/>
              </a:rPr>
              <a:t>operations</a:t>
            </a:r>
            <a:r>
              <a:rPr sz="1600" spc="-35" dirty="0">
                <a:solidFill>
                  <a:srgbClr val="0000FF"/>
                </a:solidFill>
                <a:latin typeface="Arial MT"/>
                <a:cs typeface="Arial MT"/>
              </a:rPr>
              <a:t> </a:t>
            </a:r>
            <a:r>
              <a:rPr sz="1600" dirty="0">
                <a:solidFill>
                  <a:srgbClr val="0000FF"/>
                </a:solidFill>
                <a:latin typeface="Arial MT"/>
                <a:cs typeface="Arial MT"/>
              </a:rPr>
              <a:t>from</a:t>
            </a:r>
            <a:r>
              <a:rPr sz="1600" spc="-30" dirty="0">
                <a:solidFill>
                  <a:srgbClr val="0000FF"/>
                </a:solidFill>
                <a:latin typeface="Arial MT"/>
                <a:cs typeface="Arial MT"/>
              </a:rPr>
              <a:t> </a:t>
            </a:r>
            <a:r>
              <a:rPr sz="1600" dirty="0">
                <a:solidFill>
                  <a:srgbClr val="0000FF"/>
                </a:solidFill>
                <a:latin typeface="Arial MT"/>
                <a:cs typeface="Arial MT"/>
              </a:rPr>
              <a:t>other</a:t>
            </a:r>
            <a:r>
              <a:rPr sz="1600" spc="-30" dirty="0">
                <a:solidFill>
                  <a:srgbClr val="0000FF"/>
                </a:solidFill>
                <a:latin typeface="Arial MT"/>
                <a:cs typeface="Arial MT"/>
              </a:rPr>
              <a:t> </a:t>
            </a:r>
            <a:r>
              <a:rPr sz="1600" spc="-10" dirty="0">
                <a:solidFill>
                  <a:srgbClr val="0000FF"/>
                </a:solidFill>
                <a:latin typeface="Arial MT"/>
                <a:cs typeface="Arial MT"/>
              </a:rPr>
              <a:t>threads, </a:t>
            </a:r>
            <a:r>
              <a:rPr sz="1600" dirty="0">
                <a:solidFill>
                  <a:srgbClr val="0000FF"/>
                </a:solidFill>
                <a:latin typeface="Arial MT"/>
                <a:cs typeface="Arial MT"/>
              </a:rPr>
              <a:t>eliminating</a:t>
            </a:r>
            <a:r>
              <a:rPr sz="1600" spc="-30" dirty="0">
                <a:solidFill>
                  <a:srgbClr val="0000FF"/>
                </a:solidFill>
                <a:latin typeface="Arial MT"/>
                <a:cs typeface="Arial MT"/>
              </a:rPr>
              <a:t> </a:t>
            </a:r>
            <a:r>
              <a:rPr sz="1600" dirty="0">
                <a:solidFill>
                  <a:srgbClr val="0000FF"/>
                </a:solidFill>
                <a:latin typeface="Arial MT"/>
                <a:cs typeface="Arial MT"/>
              </a:rPr>
              <a:t>the</a:t>
            </a:r>
            <a:r>
              <a:rPr sz="1600" spc="-30" dirty="0">
                <a:solidFill>
                  <a:srgbClr val="0000FF"/>
                </a:solidFill>
                <a:latin typeface="Arial MT"/>
                <a:cs typeface="Arial MT"/>
              </a:rPr>
              <a:t> </a:t>
            </a:r>
            <a:r>
              <a:rPr sz="1600" dirty="0">
                <a:solidFill>
                  <a:srgbClr val="0000FF"/>
                </a:solidFill>
                <a:latin typeface="Arial MT"/>
                <a:cs typeface="Arial MT"/>
              </a:rPr>
              <a:t>possibility</a:t>
            </a:r>
            <a:r>
              <a:rPr sz="1600" spc="-25" dirty="0">
                <a:solidFill>
                  <a:srgbClr val="0000FF"/>
                </a:solidFill>
                <a:latin typeface="Arial MT"/>
                <a:cs typeface="Arial MT"/>
              </a:rPr>
              <a:t> </a:t>
            </a:r>
            <a:r>
              <a:rPr sz="1600" dirty="0">
                <a:solidFill>
                  <a:srgbClr val="0000FF"/>
                </a:solidFill>
                <a:latin typeface="Arial MT"/>
                <a:cs typeface="Arial MT"/>
              </a:rPr>
              <a:t>of</a:t>
            </a:r>
            <a:r>
              <a:rPr sz="1600" spc="-30" dirty="0">
                <a:solidFill>
                  <a:srgbClr val="0000FF"/>
                </a:solidFill>
                <a:latin typeface="Arial MT"/>
                <a:cs typeface="Arial MT"/>
              </a:rPr>
              <a:t> </a:t>
            </a:r>
            <a:r>
              <a:rPr sz="1600" dirty="0">
                <a:solidFill>
                  <a:srgbClr val="0000FF"/>
                </a:solidFill>
                <a:latin typeface="Arial MT"/>
                <a:cs typeface="Arial MT"/>
              </a:rPr>
              <a:t>race</a:t>
            </a:r>
            <a:r>
              <a:rPr sz="1600" spc="-30" dirty="0">
                <a:solidFill>
                  <a:srgbClr val="0000FF"/>
                </a:solidFill>
                <a:latin typeface="Arial MT"/>
                <a:cs typeface="Arial MT"/>
              </a:rPr>
              <a:t> </a:t>
            </a:r>
            <a:r>
              <a:rPr sz="1600" spc="-10" dirty="0">
                <a:solidFill>
                  <a:srgbClr val="0000FF"/>
                </a:solidFill>
                <a:latin typeface="Arial MT"/>
                <a:cs typeface="Arial MT"/>
              </a:rPr>
              <a:t>conditions.</a:t>
            </a:r>
            <a:endParaRPr sz="1600" dirty="0">
              <a:latin typeface="Arial MT"/>
              <a:cs typeface="Arial MT"/>
            </a:endParaRPr>
          </a:p>
          <a:p>
            <a:pPr marL="12700" marR="33655">
              <a:lnSpc>
                <a:spcPct val="114999"/>
              </a:lnSpc>
              <a:spcBef>
                <a:spcPts val="910"/>
              </a:spcBef>
            </a:pPr>
            <a:r>
              <a:rPr sz="1600" dirty="0">
                <a:latin typeface="Arial MT"/>
                <a:cs typeface="Arial MT"/>
              </a:rPr>
              <a:t>An</a:t>
            </a:r>
            <a:r>
              <a:rPr sz="1600" spc="-40" dirty="0">
                <a:latin typeface="Arial MT"/>
                <a:cs typeface="Arial MT"/>
              </a:rPr>
              <a:t> </a:t>
            </a:r>
            <a:r>
              <a:rPr sz="1600" b="1" dirty="0">
                <a:latin typeface="Arial"/>
                <a:cs typeface="Arial"/>
              </a:rPr>
              <a:t>atomic</a:t>
            </a:r>
            <a:r>
              <a:rPr sz="1600" b="1" spc="-35" dirty="0">
                <a:latin typeface="Arial"/>
                <a:cs typeface="Arial"/>
              </a:rPr>
              <a:t> </a:t>
            </a:r>
            <a:r>
              <a:rPr sz="1600" b="1" dirty="0">
                <a:latin typeface="Arial"/>
                <a:cs typeface="Arial"/>
              </a:rPr>
              <a:t>operation</a:t>
            </a:r>
            <a:r>
              <a:rPr sz="1600" b="1" spc="-25" dirty="0">
                <a:latin typeface="Arial"/>
                <a:cs typeface="Arial"/>
              </a:rPr>
              <a:t> </a:t>
            </a:r>
            <a:r>
              <a:rPr sz="1600" dirty="0">
                <a:latin typeface="Arial MT"/>
                <a:cs typeface="Arial MT"/>
              </a:rPr>
              <a:t>is</a:t>
            </a:r>
            <a:r>
              <a:rPr sz="1600" spc="-40" dirty="0">
                <a:latin typeface="Arial MT"/>
                <a:cs typeface="Arial MT"/>
              </a:rPr>
              <a:t> </a:t>
            </a:r>
            <a:r>
              <a:rPr sz="1600" dirty="0">
                <a:latin typeface="Arial MT"/>
                <a:cs typeface="Arial MT"/>
              </a:rPr>
              <a:t>executed</a:t>
            </a:r>
            <a:r>
              <a:rPr sz="1600" spc="-35" dirty="0">
                <a:latin typeface="Arial MT"/>
                <a:cs typeface="Arial MT"/>
              </a:rPr>
              <a:t> </a:t>
            </a:r>
            <a:r>
              <a:rPr sz="1600" spc="-10" dirty="0">
                <a:latin typeface="Arial MT"/>
                <a:cs typeface="Arial MT"/>
              </a:rPr>
              <a:t>completely </a:t>
            </a:r>
            <a:r>
              <a:rPr sz="1600" dirty="0">
                <a:latin typeface="Arial MT"/>
                <a:cs typeface="Arial MT"/>
              </a:rPr>
              <a:t>independently</a:t>
            </a:r>
            <a:r>
              <a:rPr sz="1600" spc="-20" dirty="0">
                <a:latin typeface="Arial MT"/>
                <a:cs typeface="Arial MT"/>
              </a:rPr>
              <a:t> </a:t>
            </a:r>
            <a:r>
              <a:rPr sz="1600" dirty="0">
                <a:latin typeface="Arial MT"/>
                <a:cs typeface="Arial MT"/>
              </a:rPr>
              <a:t>of</a:t>
            </a:r>
            <a:r>
              <a:rPr sz="1600" spc="-15" dirty="0">
                <a:latin typeface="Arial MT"/>
                <a:cs typeface="Arial MT"/>
              </a:rPr>
              <a:t> </a:t>
            </a:r>
            <a:r>
              <a:rPr sz="1600" dirty="0">
                <a:latin typeface="Arial MT"/>
                <a:cs typeface="Arial MT"/>
              </a:rPr>
              <a:t>any</a:t>
            </a:r>
            <a:r>
              <a:rPr sz="1600" spc="-15" dirty="0">
                <a:latin typeface="Arial MT"/>
                <a:cs typeface="Arial MT"/>
              </a:rPr>
              <a:t> </a:t>
            </a:r>
            <a:r>
              <a:rPr sz="1600" dirty="0">
                <a:latin typeface="Arial MT"/>
                <a:cs typeface="Arial MT"/>
              </a:rPr>
              <a:t>other</a:t>
            </a:r>
            <a:r>
              <a:rPr sz="1600" spc="-15" dirty="0">
                <a:latin typeface="Arial MT"/>
                <a:cs typeface="Arial MT"/>
              </a:rPr>
              <a:t> </a:t>
            </a:r>
            <a:r>
              <a:rPr sz="1600" dirty="0">
                <a:latin typeface="Arial MT"/>
                <a:cs typeface="Arial MT"/>
              </a:rPr>
              <a:t>operations</a:t>
            </a:r>
            <a:r>
              <a:rPr sz="1600" spc="-15" dirty="0">
                <a:latin typeface="Arial MT"/>
                <a:cs typeface="Arial MT"/>
              </a:rPr>
              <a:t> </a:t>
            </a:r>
            <a:r>
              <a:rPr sz="1600" dirty="0">
                <a:latin typeface="Arial MT"/>
                <a:cs typeface="Arial MT"/>
              </a:rPr>
              <a:t>and</a:t>
            </a:r>
            <a:r>
              <a:rPr sz="1600" spc="-15" dirty="0">
                <a:latin typeface="Arial MT"/>
                <a:cs typeface="Arial MT"/>
              </a:rPr>
              <a:t> </a:t>
            </a:r>
            <a:r>
              <a:rPr sz="1600" spc="-10" dirty="0">
                <a:latin typeface="Arial MT"/>
                <a:cs typeface="Arial MT"/>
              </a:rPr>
              <a:t>cannot </a:t>
            </a:r>
            <a:r>
              <a:rPr sz="1600" dirty="0">
                <a:latin typeface="Arial MT"/>
                <a:cs typeface="Arial MT"/>
              </a:rPr>
              <a:t>be</a:t>
            </a:r>
            <a:r>
              <a:rPr sz="1600" spc="5" dirty="0">
                <a:latin typeface="Arial MT"/>
                <a:cs typeface="Arial MT"/>
              </a:rPr>
              <a:t> </a:t>
            </a:r>
            <a:r>
              <a:rPr sz="1600" spc="-20" dirty="0">
                <a:latin typeface="Arial MT"/>
                <a:cs typeface="Arial MT"/>
              </a:rPr>
              <a:t>interrupted.</a:t>
            </a:r>
            <a:r>
              <a:rPr sz="1600" spc="-90" dirty="0">
                <a:latin typeface="Arial MT"/>
                <a:cs typeface="Arial MT"/>
              </a:rPr>
              <a:t> </a:t>
            </a:r>
            <a:r>
              <a:rPr sz="1600" dirty="0">
                <a:latin typeface="Arial MT"/>
                <a:cs typeface="Arial MT"/>
              </a:rPr>
              <a:t>Atomic</a:t>
            </a:r>
            <a:r>
              <a:rPr sz="1600" spc="10" dirty="0">
                <a:latin typeface="Arial MT"/>
                <a:cs typeface="Arial MT"/>
              </a:rPr>
              <a:t> </a:t>
            </a:r>
            <a:r>
              <a:rPr sz="1600" dirty="0">
                <a:latin typeface="Arial MT"/>
                <a:cs typeface="Arial MT"/>
              </a:rPr>
              <a:t>operations</a:t>
            </a:r>
            <a:r>
              <a:rPr sz="1600" spc="5" dirty="0">
                <a:latin typeface="Arial MT"/>
                <a:cs typeface="Arial MT"/>
              </a:rPr>
              <a:t> </a:t>
            </a:r>
            <a:r>
              <a:rPr sz="1600" dirty="0">
                <a:latin typeface="Arial MT"/>
                <a:cs typeface="Arial MT"/>
              </a:rPr>
              <a:t>are</a:t>
            </a:r>
            <a:r>
              <a:rPr sz="1600" spc="5" dirty="0">
                <a:latin typeface="Arial MT"/>
                <a:cs typeface="Arial MT"/>
              </a:rPr>
              <a:t> </a:t>
            </a:r>
            <a:r>
              <a:rPr sz="1600" dirty="0">
                <a:latin typeface="Arial MT"/>
                <a:cs typeface="Arial MT"/>
              </a:rPr>
              <a:t>useful</a:t>
            </a:r>
            <a:r>
              <a:rPr sz="1600" spc="5" dirty="0">
                <a:latin typeface="Arial MT"/>
                <a:cs typeface="Arial MT"/>
              </a:rPr>
              <a:t> </a:t>
            </a:r>
            <a:r>
              <a:rPr sz="1600" spc="-25" dirty="0">
                <a:latin typeface="Arial MT"/>
                <a:cs typeface="Arial MT"/>
              </a:rPr>
              <a:t>in </a:t>
            </a:r>
            <a:r>
              <a:rPr sz="1600" dirty="0">
                <a:latin typeface="Arial MT"/>
                <a:cs typeface="Arial MT"/>
              </a:rPr>
              <a:t>preventing</a:t>
            </a:r>
            <a:r>
              <a:rPr sz="1600" spc="-30" dirty="0">
                <a:latin typeface="Arial MT"/>
                <a:cs typeface="Arial MT"/>
              </a:rPr>
              <a:t> </a:t>
            </a:r>
            <a:r>
              <a:rPr sz="1600" dirty="0">
                <a:latin typeface="Arial MT"/>
                <a:cs typeface="Arial MT"/>
              </a:rPr>
              <a:t>race</a:t>
            </a:r>
            <a:r>
              <a:rPr sz="1600" spc="-25" dirty="0">
                <a:latin typeface="Arial MT"/>
                <a:cs typeface="Arial MT"/>
              </a:rPr>
              <a:t> </a:t>
            </a:r>
            <a:r>
              <a:rPr sz="1600" dirty="0">
                <a:latin typeface="Arial MT"/>
                <a:cs typeface="Arial MT"/>
              </a:rPr>
              <a:t>conditions</a:t>
            </a:r>
            <a:r>
              <a:rPr sz="1600" spc="-30" dirty="0">
                <a:latin typeface="Arial MT"/>
                <a:cs typeface="Arial MT"/>
              </a:rPr>
              <a:t> </a:t>
            </a:r>
            <a:r>
              <a:rPr sz="1600" dirty="0">
                <a:latin typeface="Arial MT"/>
                <a:cs typeface="Arial MT"/>
              </a:rPr>
              <a:t>without</a:t>
            </a:r>
            <a:r>
              <a:rPr sz="1600" spc="-25" dirty="0">
                <a:latin typeface="Arial MT"/>
                <a:cs typeface="Arial MT"/>
              </a:rPr>
              <a:t> </a:t>
            </a:r>
            <a:r>
              <a:rPr sz="1600" spc="-10" dirty="0">
                <a:latin typeface="Arial MT"/>
                <a:cs typeface="Arial MT"/>
              </a:rPr>
              <a:t>requiring </a:t>
            </a:r>
            <a:r>
              <a:rPr sz="1600" dirty="0">
                <a:latin typeface="Arial MT"/>
                <a:cs typeface="Arial MT"/>
              </a:rPr>
              <a:t>complex</a:t>
            </a:r>
            <a:r>
              <a:rPr sz="1600" spc="-5" dirty="0">
                <a:latin typeface="Arial MT"/>
                <a:cs typeface="Arial MT"/>
              </a:rPr>
              <a:t> </a:t>
            </a:r>
            <a:r>
              <a:rPr sz="1600" spc="-10" dirty="0">
                <a:latin typeface="Arial MT"/>
                <a:cs typeface="Arial MT"/>
              </a:rPr>
              <a:t>locks.</a:t>
            </a:r>
            <a:endParaRPr sz="1600" dirty="0">
              <a:latin typeface="Arial MT"/>
              <a:cs typeface="Arial MT"/>
            </a:endParaRPr>
          </a:p>
        </p:txBody>
      </p:sp>
      <p:pic>
        <p:nvPicPr>
          <p:cNvPr id="4" name="object 4" descr="A snippet of C code using stdatomic.h to resolve a race condition. It uses atomic_int and atomic_fetch_add to ensure the counter increments are thread-safe and produce a predictable final result."/>
          <p:cNvPicPr/>
          <p:nvPr/>
        </p:nvPicPr>
        <p:blipFill>
          <a:blip r:embed="rId3" cstate="print"/>
          <a:stretch>
            <a:fillRect/>
          </a:stretch>
        </p:blipFill>
        <p:spPr>
          <a:xfrm>
            <a:off x="5368813" y="1430750"/>
            <a:ext cx="6635259" cy="5152099"/>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0375" y="1689861"/>
            <a:ext cx="2672080" cy="406400"/>
          </a:xfrm>
          <a:prstGeom prst="rect">
            <a:avLst/>
          </a:prstGeom>
        </p:spPr>
        <p:txBody>
          <a:bodyPr vert="horz" wrap="square" lIns="0" tIns="12700" rIns="0" bIns="0" rtlCol="0">
            <a:spAutoFit/>
          </a:bodyPr>
          <a:lstStyle/>
          <a:p>
            <a:pPr marL="12700">
              <a:lnSpc>
                <a:spcPct val="100000"/>
              </a:lnSpc>
              <a:spcBef>
                <a:spcPts val="100"/>
              </a:spcBef>
            </a:pPr>
            <a:r>
              <a:rPr dirty="0"/>
              <a:t>Atomic</a:t>
            </a:r>
            <a:r>
              <a:rPr spc="-110" dirty="0"/>
              <a:t> </a:t>
            </a:r>
            <a:r>
              <a:rPr spc="-10" dirty="0"/>
              <a:t>Operations</a:t>
            </a:r>
          </a:p>
        </p:txBody>
      </p:sp>
      <p:sp>
        <p:nvSpPr>
          <p:cNvPr id="3" name="object 3"/>
          <p:cNvSpPr txBox="1"/>
          <p:nvPr/>
        </p:nvSpPr>
        <p:spPr>
          <a:xfrm>
            <a:off x="408249" y="2270862"/>
            <a:ext cx="4672965" cy="4322081"/>
          </a:xfrm>
          <a:prstGeom prst="rect">
            <a:avLst/>
          </a:prstGeom>
        </p:spPr>
        <p:txBody>
          <a:bodyPr vert="horz" wrap="square" lIns="0" tIns="12700" rIns="0" bIns="0" rtlCol="0">
            <a:spAutoFit/>
          </a:bodyPr>
          <a:lstStyle/>
          <a:p>
            <a:pPr marL="12700">
              <a:lnSpc>
                <a:spcPct val="100000"/>
              </a:lnSpc>
              <a:spcBef>
                <a:spcPts val="100"/>
              </a:spcBef>
            </a:pPr>
            <a:r>
              <a:rPr sz="1400" b="1" dirty="0">
                <a:latin typeface="Arial"/>
                <a:cs typeface="Arial"/>
              </a:rPr>
              <a:t>Atomic</a:t>
            </a:r>
            <a:r>
              <a:rPr sz="1400" b="1" spc="-35" dirty="0">
                <a:latin typeface="Arial"/>
                <a:cs typeface="Arial"/>
              </a:rPr>
              <a:t> </a:t>
            </a:r>
            <a:r>
              <a:rPr sz="1400" b="1" dirty="0">
                <a:latin typeface="Arial"/>
                <a:cs typeface="Arial"/>
              </a:rPr>
              <a:t>Counter</a:t>
            </a:r>
            <a:r>
              <a:rPr sz="1400" b="1" spc="-30" dirty="0">
                <a:latin typeface="Arial"/>
                <a:cs typeface="Arial"/>
              </a:rPr>
              <a:t> </a:t>
            </a:r>
            <a:r>
              <a:rPr sz="1400" b="1" spc="-10" dirty="0">
                <a:latin typeface="Arial"/>
                <a:cs typeface="Arial"/>
              </a:rPr>
              <a:t>Variable</a:t>
            </a:r>
            <a:r>
              <a:rPr sz="1400" spc="-10" dirty="0">
                <a:latin typeface="Arial MT"/>
                <a:cs typeface="Arial MT"/>
              </a:rPr>
              <a:t>:</a:t>
            </a:r>
            <a:endParaRPr sz="1400" dirty="0">
              <a:latin typeface="Arial MT"/>
              <a:cs typeface="Arial MT"/>
            </a:endParaRPr>
          </a:p>
          <a:p>
            <a:pPr marL="469900" marR="165100" indent="-336550">
              <a:lnSpc>
                <a:spcPct val="114999"/>
              </a:lnSpc>
              <a:spcBef>
                <a:spcPts val="1200"/>
              </a:spcBef>
              <a:spcAft>
                <a:spcPts val="600"/>
              </a:spcAft>
              <a:buChar char="●"/>
              <a:tabLst>
                <a:tab pos="469900" algn="l"/>
              </a:tabLst>
            </a:pPr>
            <a:r>
              <a:rPr sz="1400" dirty="0">
                <a:latin typeface="Arial MT"/>
                <a:cs typeface="Arial MT"/>
              </a:rPr>
              <a:t>Instead</a:t>
            </a:r>
            <a:r>
              <a:rPr sz="1400" spc="-30" dirty="0">
                <a:latin typeface="Arial MT"/>
                <a:cs typeface="Arial MT"/>
              </a:rPr>
              <a:t> </a:t>
            </a:r>
            <a:r>
              <a:rPr sz="1400" dirty="0">
                <a:latin typeface="Arial MT"/>
                <a:cs typeface="Arial MT"/>
              </a:rPr>
              <a:t>of</a:t>
            </a:r>
            <a:r>
              <a:rPr sz="1400" spc="-15" dirty="0">
                <a:latin typeface="Arial MT"/>
                <a:cs typeface="Arial MT"/>
              </a:rPr>
              <a:t> </a:t>
            </a:r>
            <a:r>
              <a:rPr sz="1400" dirty="0">
                <a:latin typeface="Arial MT"/>
                <a:cs typeface="Arial MT"/>
              </a:rPr>
              <a:t>a</a:t>
            </a:r>
            <a:r>
              <a:rPr sz="1400" spc="-15" dirty="0">
                <a:latin typeface="Arial MT"/>
                <a:cs typeface="Arial MT"/>
              </a:rPr>
              <a:t> </a:t>
            </a:r>
            <a:r>
              <a:rPr sz="1400" dirty="0">
                <a:latin typeface="Arial MT"/>
                <a:cs typeface="Arial MT"/>
              </a:rPr>
              <a:t>standard</a:t>
            </a:r>
            <a:r>
              <a:rPr sz="1400" spc="-15" dirty="0">
                <a:latin typeface="Arial MT"/>
                <a:cs typeface="Arial MT"/>
              </a:rPr>
              <a:t> </a:t>
            </a:r>
            <a:r>
              <a:rPr sz="1400" b="1" dirty="0">
                <a:solidFill>
                  <a:srgbClr val="188037"/>
                </a:solidFill>
                <a:latin typeface="Courier New"/>
                <a:cs typeface="Courier New"/>
              </a:rPr>
              <a:t>int</a:t>
            </a:r>
            <a:r>
              <a:rPr sz="1400" b="1" dirty="0">
                <a:latin typeface="Arial MT"/>
                <a:cs typeface="Arial MT"/>
              </a:rPr>
              <a:t>,</a:t>
            </a:r>
            <a:r>
              <a:rPr sz="1400" b="1" spc="-15" dirty="0">
                <a:latin typeface="Arial MT"/>
                <a:cs typeface="Arial MT"/>
              </a:rPr>
              <a:t> </a:t>
            </a:r>
            <a:r>
              <a:rPr sz="1400" b="1" spc="-10" dirty="0">
                <a:solidFill>
                  <a:srgbClr val="188037"/>
                </a:solidFill>
                <a:latin typeface="Courier New"/>
                <a:cs typeface="Courier New"/>
              </a:rPr>
              <a:t>counter</a:t>
            </a:r>
            <a:r>
              <a:rPr sz="1400" b="1" spc="-455" dirty="0">
                <a:solidFill>
                  <a:srgbClr val="188037"/>
                </a:solidFill>
                <a:latin typeface="Courier New"/>
                <a:cs typeface="Courier New"/>
              </a:rPr>
              <a:t> </a:t>
            </a:r>
            <a:r>
              <a:rPr sz="1400" dirty="0">
                <a:latin typeface="Arial MT"/>
                <a:cs typeface="Arial MT"/>
              </a:rPr>
              <a:t>is</a:t>
            </a:r>
            <a:r>
              <a:rPr sz="1400" spc="-15" dirty="0">
                <a:latin typeface="Arial MT"/>
                <a:cs typeface="Arial MT"/>
              </a:rPr>
              <a:t> </a:t>
            </a:r>
            <a:r>
              <a:rPr sz="1400" dirty="0">
                <a:latin typeface="Arial MT"/>
                <a:cs typeface="Arial MT"/>
              </a:rPr>
              <a:t>declared</a:t>
            </a:r>
            <a:r>
              <a:rPr sz="1400" spc="-20" dirty="0">
                <a:latin typeface="Arial MT"/>
                <a:cs typeface="Arial MT"/>
              </a:rPr>
              <a:t> </a:t>
            </a:r>
            <a:r>
              <a:rPr sz="1400" spc="-25" dirty="0">
                <a:latin typeface="Arial MT"/>
                <a:cs typeface="Arial MT"/>
              </a:rPr>
              <a:t>as </a:t>
            </a:r>
            <a:r>
              <a:rPr sz="1400" b="1" dirty="0">
                <a:solidFill>
                  <a:srgbClr val="188037"/>
                </a:solidFill>
                <a:latin typeface="Courier New"/>
                <a:cs typeface="Courier New"/>
              </a:rPr>
              <a:t>atomic_int</a:t>
            </a:r>
            <a:r>
              <a:rPr sz="1400" dirty="0">
                <a:latin typeface="Arial MT"/>
                <a:cs typeface="Arial MT"/>
              </a:rPr>
              <a:t>,</a:t>
            </a:r>
            <a:r>
              <a:rPr sz="1400" spc="-25" dirty="0">
                <a:latin typeface="Arial MT"/>
                <a:cs typeface="Arial MT"/>
              </a:rPr>
              <a:t> </a:t>
            </a:r>
            <a:r>
              <a:rPr sz="1400" dirty="0">
                <a:latin typeface="Arial MT"/>
                <a:cs typeface="Arial MT"/>
              </a:rPr>
              <a:t>which</a:t>
            </a:r>
            <a:r>
              <a:rPr sz="1400" spc="-20" dirty="0">
                <a:latin typeface="Arial MT"/>
                <a:cs typeface="Arial MT"/>
              </a:rPr>
              <a:t> </a:t>
            </a:r>
            <a:r>
              <a:rPr sz="1400" dirty="0">
                <a:latin typeface="Arial MT"/>
                <a:cs typeface="Arial MT"/>
              </a:rPr>
              <a:t>ensures</a:t>
            </a:r>
            <a:r>
              <a:rPr sz="1400" spc="-25" dirty="0">
                <a:latin typeface="Arial MT"/>
                <a:cs typeface="Arial MT"/>
              </a:rPr>
              <a:t> </a:t>
            </a:r>
            <a:r>
              <a:rPr sz="1400" dirty="0">
                <a:latin typeface="Arial MT"/>
                <a:cs typeface="Arial MT"/>
              </a:rPr>
              <a:t>atomic</a:t>
            </a:r>
            <a:r>
              <a:rPr sz="1400" spc="-20" dirty="0">
                <a:latin typeface="Arial MT"/>
                <a:cs typeface="Arial MT"/>
              </a:rPr>
              <a:t> </a:t>
            </a:r>
            <a:r>
              <a:rPr sz="1400" spc="-10" dirty="0">
                <a:latin typeface="Arial MT"/>
                <a:cs typeface="Arial MT"/>
              </a:rPr>
              <a:t>(indivisible) </a:t>
            </a:r>
            <a:r>
              <a:rPr sz="1400" dirty="0">
                <a:latin typeface="Arial MT"/>
                <a:cs typeface="Arial MT"/>
              </a:rPr>
              <a:t>operations</a:t>
            </a:r>
            <a:r>
              <a:rPr sz="1400" spc="-10" dirty="0">
                <a:latin typeface="Arial MT"/>
                <a:cs typeface="Arial MT"/>
              </a:rPr>
              <a:t> </a:t>
            </a:r>
            <a:r>
              <a:rPr sz="1400" dirty="0">
                <a:latin typeface="Arial MT"/>
                <a:cs typeface="Arial MT"/>
              </a:rPr>
              <a:t>on</a:t>
            </a:r>
            <a:r>
              <a:rPr sz="1400" spc="-10" dirty="0">
                <a:latin typeface="Arial MT"/>
                <a:cs typeface="Arial MT"/>
              </a:rPr>
              <a:t> </a:t>
            </a:r>
            <a:r>
              <a:rPr sz="1400" dirty="0">
                <a:latin typeface="Arial MT"/>
                <a:cs typeface="Arial MT"/>
              </a:rPr>
              <a:t>the</a:t>
            </a:r>
            <a:r>
              <a:rPr sz="1400" spc="-10" dirty="0">
                <a:latin typeface="Arial MT"/>
                <a:cs typeface="Arial MT"/>
              </a:rPr>
              <a:t> variable.</a:t>
            </a:r>
            <a:endParaRPr sz="1400" dirty="0">
              <a:latin typeface="Arial MT"/>
              <a:cs typeface="Arial MT"/>
            </a:endParaRPr>
          </a:p>
          <a:p>
            <a:pPr marL="467359" marR="411480" indent="-334010" algn="just">
              <a:lnSpc>
                <a:spcPct val="114999"/>
              </a:lnSpc>
              <a:buChar char="●"/>
              <a:tabLst>
                <a:tab pos="469900" algn="l"/>
              </a:tabLst>
            </a:pPr>
            <a:r>
              <a:rPr sz="1400" dirty="0">
                <a:latin typeface="Arial MT"/>
                <a:cs typeface="Arial MT"/>
              </a:rPr>
              <a:t>This</a:t>
            </a:r>
            <a:r>
              <a:rPr sz="1400" spc="-100" dirty="0">
                <a:latin typeface="Arial MT"/>
                <a:cs typeface="Arial MT"/>
              </a:rPr>
              <a:t> </a:t>
            </a:r>
            <a:r>
              <a:rPr sz="1400" dirty="0">
                <a:latin typeface="Arial MT"/>
                <a:cs typeface="Arial MT"/>
              </a:rPr>
              <a:t>is</a:t>
            </a:r>
            <a:r>
              <a:rPr sz="1400" spc="-55" dirty="0">
                <a:latin typeface="Arial MT"/>
                <a:cs typeface="Arial MT"/>
              </a:rPr>
              <a:t> </a:t>
            </a:r>
            <a:r>
              <a:rPr sz="1400" dirty="0">
                <a:latin typeface="Arial MT"/>
                <a:cs typeface="Arial MT"/>
              </a:rPr>
              <a:t>provided</a:t>
            </a:r>
            <a:r>
              <a:rPr sz="1400" spc="40" dirty="0">
                <a:latin typeface="Arial MT"/>
                <a:cs typeface="Arial MT"/>
              </a:rPr>
              <a:t> </a:t>
            </a:r>
            <a:r>
              <a:rPr sz="1400" dirty="0">
                <a:latin typeface="Arial MT"/>
                <a:cs typeface="Arial MT"/>
              </a:rPr>
              <a:t>by</a:t>
            </a:r>
            <a:r>
              <a:rPr sz="1400" spc="40" dirty="0">
                <a:latin typeface="Arial MT"/>
                <a:cs typeface="Arial MT"/>
              </a:rPr>
              <a:t> </a:t>
            </a:r>
            <a:r>
              <a:rPr sz="1400" dirty="0">
                <a:latin typeface="Arial MT"/>
                <a:cs typeface="Arial MT"/>
              </a:rPr>
              <a:t>the</a:t>
            </a:r>
            <a:r>
              <a:rPr sz="1400" spc="40" dirty="0">
                <a:latin typeface="Arial MT"/>
                <a:cs typeface="Arial MT"/>
              </a:rPr>
              <a:t> </a:t>
            </a:r>
            <a:r>
              <a:rPr sz="1400" b="1" spc="-30" dirty="0">
                <a:solidFill>
                  <a:srgbClr val="188037"/>
                </a:solidFill>
                <a:latin typeface="Courier New"/>
                <a:cs typeface="Courier New"/>
              </a:rPr>
              <a:t>&lt;stdatomic.h&gt;</a:t>
            </a:r>
            <a:r>
              <a:rPr sz="1400" b="1" spc="-180" dirty="0">
                <a:solidFill>
                  <a:srgbClr val="188037"/>
                </a:solidFill>
                <a:latin typeface="Courier New"/>
                <a:cs typeface="Courier New"/>
              </a:rPr>
              <a:t> </a:t>
            </a:r>
            <a:r>
              <a:rPr sz="1400" spc="-10" dirty="0">
                <a:latin typeface="Arial MT"/>
                <a:cs typeface="Arial MT"/>
              </a:rPr>
              <a:t>library, 	</a:t>
            </a:r>
            <a:r>
              <a:rPr sz="1400" dirty="0">
                <a:latin typeface="Arial MT"/>
                <a:cs typeface="Arial MT"/>
              </a:rPr>
              <a:t>allowing</a:t>
            </a:r>
            <a:r>
              <a:rPr sz="1400" spc="-100" dirty="0">
                <a:latin typeface="Arial MT"/>
                <a:cs typeface="Arial MT"/>
              </a:rPr>
              <a:t> </a:t>
            </a:r>
            <a:r>
              <a:rPr sz="1400" dirty="0">
                <a:latin typeface="Arial MT"/>
                <a:cs typeface="Arial MT"/>
              </a:rPr>
              <a:t>operations</a:t>
            </a:r>
            <a:r>
              <a:rPr sz="1400" spc="-75" dirty="0">
                <a:latin typeface="Arial MT"/>
                <a:cs typeface="Arial MT"/>
              </a:rPr>
              <a:t> </a:t>
            </a:r>
            <a:r>
              <a:rPr sz="1400" dirty="0">
                <a:latin typeface="Arial MT"/>
                <a:cs typeface="Arial MT"/>
              </a:rPr>
              <a:t>on</a:t>
            </a:r>
            <a:r>
              <a:rPr sz="1400" spc="40" dirty="0">
                <a:latin typeface="Arial MT"/>
                <a:cs typeface="Arial MT"/>
              </a:rPr>
              <a:t> </a:t>
            </a:r>
            <a:r>
              <a:rPr sz="1400" b="1" spc="-55" dirty="0">
                <a:solidFill>
                  <a:srgbClr val="188037"/>
                </a:solidFill>
                <a:latin typeface="Courier New"/>
                <a:cs typeface="Courier New"/>
              </a:rPr>
              <a:t>counter</a:t>
            </a:r>
            <a:r>
              <a:rPr sz="1400" spc="-155" dirty="0">
                <a:solidFill>
                  <a:srgbClr val="188037"/>
                </a:solidFill>
                <a:latin typeface="Courier New"/>
                <a:cs typeface="Courier New"/>
              </a:rPr>
              <a:t> </a:t>
            </a:r>
            <a:r>
              <a:rPr sz="1400" dirty="0">
                <a:latin typeface="Arial MT"/>
                <a:cs typeface="Arial MT"/>
              </a:rPr>
              <a:t>that</a:t>
            </a:r>
            <a:r>
              <a:rPr sz="1400" spc="40" dirty="0">
                <a:latin typeface="Arial MT"/>
                <a:cs typeface="Arial MT"/>
              </a:rPr>
              <a:t> </a:t>
            </a:r>
            <a:r>
              <a:rPr sz="1400" dirty="0">
                <a:latin typeface="Arial MT"/>
                <a:cs typeface="Arial MT"/>
              </a:rPr>
              <a:t>cannot</a:t>
            </a:r>
            <a:r>
              <a:rPr sz="1400" spc="45" dirty="0">
                <a:latin typeface="Arial MT"/>
                <a:cs typeface="Arial MT"/>
              </a:rPr>
              <a:t> </a:t>
            </a:r>
            <a:r>
              <a:rPr sz="1400" spc="-25" dirty="0">
                <a:latin typeface="Arial MT"/>
                <a:cs typeface="Arial MT"/>
              </a:rPr>
              <a:t>be 	</a:t>
            </a:r>
            <a:r>
              <a:rPr sz="1400" dirty="0">
                <a:latin typeface="Arial MT"/>
                <a:cs typeface="Arial MT"/>
              </a:rPr>
              <a:t>interrupted</a:t>
            </a:r>
            <a:r>
              <a:rPr sz="1400" spc="-25" dirty="0">
                <a:latin typeface="Arial MT"/>
                <a:cs typeface="Arial MT"/>
              </a:rPr>
              <a:t> </a:t>
            </a:r>
            <a:r>
              <a:rPr sz="1400" dirty="0">
                <a:latin typeface="Arial MT"/>
                <a:cs typeface="Arial MT"/>
              </a:rPr>
              <a:t>by</a:t>
            </a:r>
            <a:r>
              <a:rPr sz="1400" spc="-20" dirty="0">
                <a:latin typeface="Arial MT"/>
                <a:cs typeface="Arial MT"/>
              </a:rPr>
              <a:t> </a:t>
            </a:r>
            <a:r>
              <a:rPr sz="1400" dirty="0">
                <a:latin typeface="Arial MT"/>
                <a:cs typeface="Arial MT"/>
              </a:rPr>
              <a:t>other</a:t>
            </a:r>
            <a:r>
              <a:rPr sz="1400" spc="-20" dirty="0">
                <a:latin typeface="Arial MT"/>
                <a:cs typeface="Arial MT"/>
              </a:rPr>
              <a:t> </a:t>
            </a:r>
            <a:r>
              <a:rPr sz="1400" spc="-10" dirty="0">
                <a:latin typeface="Arial MT"/>
                <a:cs typeface="Arial MT"/>
              </a:rPr>
              <a:t>threads.</a:t>
            </a:r>
            <a:endParaRPr sz="1400" dirty="0">
              <a:latin typeface="Arial MT"/>
              <a:cs typeface="Arial MT"/>
            </a:endParaRPr>
          </a:p>
          <a:p>
            <a:pPr marL="12700">
              <a:lnSpc>
                <a:spcPct val="100000"/>
              </a:lnSpc>
              <a:spcBef>
                <a:spcPts val="1450"/>
              </a:spcBef>
            </a:pPr>
            <a:r>
              <a:rPr sz="1400" b="1" dirty="0">
                <a:latin typeface="Arial"/>
                <a:cs typeface="Arial"/>
              </a:rPr>
              <a:t>Atomic</a:t>
            </a:r>
            <a:r>
              <a:rPr sz="1400" b="1" spc="-30" dirty="0">
                <a:latin typeface="Arial"/>
                <a:cs typeface="Arial"/>
              </a:rPr>
              <a:t> </a:t>
            </a:r>
            <a:r>
              <a:rPr sz="1400" b="1" spc="-10" dirty="0">
                <a:latin typeface="Arial"/>
                <a:cs typeface="Arial"/>
              </a:rPr>
              <a:t>Increment</a:t>
            </a:r>
            <a:r>
              <a:rPr sz="1400" spc="-10" dirty="0">
                <a:latin typeface="Arial MT"/>
                <a:cs typeface="Arial MT"/>
              </a:rPr>
              <a:t>:</a:t>
            </a:r>
            <a:endParaRPr sz="1400" dirty="0">
              <a:latin typeface="Arial MT"/>
              <a:cs typeface="Arial MT"/>
            </a:endParaRPr>
          </a:p>
          <a:p>
            <a:pPr marL="469265" indent="-335915">
              <a:lnSpc>
                <a:spcPct val="100000"/>
              </a:lnSpc>
              <a:spcBef>
                <a:spcPts val="1450"/>
              </a:spcBef>
              <a:buChar char="●"/>
              <a:tabLst>
                <a:tab pos="469265" algn="l"/>
              </a:tabLst>
            </a:pPr>
            <a:r>
              <a:rPr sz="1400" dirty="0">
                <a:latin typeface="Arial MT"/>
                <a:cs typeface="Arial MT"/>
              </a:rPr>
              <a:t>The</a:t>
            </a:r>
            <a:r>
              <a:rPr sz="1400" spc="-30" dirty="0">
                <a:latin typeface="Arial MT"/>
                <a:cs typeface="Arial MT"/>
              </a:rPr>
              <a:t> </a:t>
            </a:r>
            <a:r>
              <a:rPr sz="1400" dirty="0">
                <a:latin typeface="Arial MT"/>
                <a:cs typeface="Arial MT"/>
              </a:rPr>
              <a:t>increment</a:t>
            </a:r>
            <a:r>
              <a:rPr sz="1400" spc="-30" dirty="0">
                <a:latin typeface="Arial MT"/>
                <a:cs typeface="Arial MT"/>
              </a:rPr>
              <a:t> </a:t>
            </a:r>
            <a:r>
              <a:rPr sz="1400" dirty="0">
                <a:latin typeface="Arial MT"/>
                <a:cs typeface="Arial MT"/>
              </a:rPr>
              <a:t>operation</a:t>
            </a:r>
            <a:r>
              <a:rPr sz="1400" spc="-30" dirty="0">
                <a:latin typeface="Arial MT"/>
                <a:cs typeface="Arial MT"/>
              </a:rPr>
              <a:t> </a:t>
            </a:r>
            <a:r>
              <a:rPr sz="1400" dirty="0">
                <a:latin typeface="Arial MT"/>
                <a:cs typeface="Arial MT"/>
              </a:rPr>
              <a:t>in</a:t>
            </a:r>
            <a:r>
              <a:rPr sz="1400" spc="-15" dirty="0">
                <a:latin typeface="Arial MT"/>
                <a:cs typeface="Arial MT"/>
              </a:rPr>
              <a:t> </a:t>
            </a:r>
            <a:r>
              <a:rPr sz="1400" b="1" spc="-10" dirty="0">
                <a:solidFill>
                  <a:srgbClr val="188037"/>
                </a:solidFill>
                <a:latin typeface="Courier New"/>
                <a:cs typeface="Courier New"/>
              </a:rPr>
              <a:t>increment_counter()</a:t>
            </a:r>
            <a:endParaRPr sz="1400" b="1" dirty="0">
              <a:latin typeface="Courier New"/>
              <a:cs typeface="Courier New"/>
            </a:endParaRPr>
          </a:p>
          <a:p>
            <a:pPr marL="469900">
              <a:lnSpc>
                <a:spcPct val="100000"/>
              </a:lnSpc>
              <a:spcBef>
                <a:spcPts val="254"/>
              </a:spcBef>
              <a:spcAft>
                <a:spcPts val="600"/>
              </a:spcAft>
            </a:pPr>
            <a:r>
              <a:rPr sz="1400" dirty="0">
                <a:latin typeface="Arial MT"/>
                <a:cs typeface="Arial MT"/>
              </a:rPr>
              <a:t>now</a:t>
            </a:r>
            <a:r>
              <a:rPr sz="1400" spc="-50" dirty="0">
                <a:latin typeface="Arial MT"/>
                <a:cs typeface="Arial MT"/>
              </a:rPr>
              <a:t> </a:t>
            </a:r>
            <a:r>
              <a:rPr sz="1400" dirty="0">
                <a:latin typeface="Arial MT"/>
                <a:cs typeface="Arial MT"/>
              </a:rPr>
              <a:t>uses</a:t>
            </a:r>
            <a:r>
              <a:rPr sz="1400" spc="-35" dirty="0">
                <a:latin typeface="Arial MT"/>
                <a:cs typeface="Arial MT"/>
              </a:rPr>
              <a:t> </a:t>
            </a:r>
            <a:r>
              <a:rPr sz="1400" b="1" dirty="0">
                <a:solidFill>
                  <a:srgbClr val="188037"/>
                </a:solidFill>
                <a:latin typeface="Courier New"/>
                <a:cs typeface="Courier New"/>
              </a:rPr>
              <a:t>atomic_fetch_add(&amp;counter,</a:t>
            </a:r>
            <a:r>
              <a:rPr sz="1400" b="1" spc="-75" dirty="0">
                <a:solidFill>
                  <a:srgbClr val="188037"/>
                </a:solidFill>
                <a:latin typeface="Courier New"/>
                <a:cs typeface="Courier New"/>
              </a:rPr>
              <a:t> </a:t>
            </a:r>
            <a:r>
              <a:rPr sz="1400" b="1" spc="-25" dirty="0">
                <a:solidFill>
                  <a:srgbClr val="188037"/>
                </a:solidFill>
                <a:latin typeface="Courier New"/>
                <a:cs typeface="Courier New"/>
              </a:rPr>
              <a:t>1)</a:t>
            </a:r>
            <a:r>
              <a:rPr sz="1400" b="1" spc="-25" dirty="0">
                <a:latin typeface="Arial MT"/>
                <a:cs typeface="Arial MT"/>
              </a:rPr>
              <a:t>.</a:t>
            </a:r>
            <a:endParaRPr sz="1400" b="1" dirty="0">
              <a:latin typeface="Arial MT"/>
              <a:cs typeface="Arial MT"/>
            </a:endParaRPr>
          </a:p>
          <a:p>
            <a:pPr marL="469900" marR="20955" indent="-336550">
              <a:lnSpc>
                <a:spcPct val="114999"/>
              </a:lnSpc>
              <a:buChar char="●"/>
              <a:tabLst>
                <a:tab pos="469900" algn="l"/>
              </a:tabLst>
            </a:pPr>
            <a:r>
              <a:rPr sz="1400" dirty="0">
                <a:latin typeface="Arial MT"/>
                <a:cs typeface="Arial MT"/>
              </a:rPr>
              <a:t>This</a:t>
            </a:r>
            <a:r>
              <a:rPr sz="1400" spc="-5" dirty="0">
                <a:latin typeface="Arial MT"/>
                <a:cs typeface="Arial MT"/>
              </a:rPr>
              <a:t> </a:t>
            </a:r>
            <a:r>
              <a:rPr sz="1400" dirty="0">
                <a:latin typeface="Arial MT"/>
                <a:cs typeface="Arial MT"/>
              </a:rPr>
              <a:t>atomic</a:t>
            </a:r>
            <a:r>
              <a:rPr sz="1400" spc="-5" dirty="0">
                <a:latin typeface="Arial MT"/>
                <a:cs typeface="Arial MT"/>
              </a:rPr>
              <a:t> </a:t>
            </a:r>
            <a:r>
              <a:rPr sz="1400" dirty="0">
                <a:latin typeface="Arial MT"/>
                <a:cs typeface="Arial MT"/>
              </a:rPr>
              <a:t>function</a:t>
            </a:r>
            <a:r>
              <a:rPr sz="1400" spc="-5" dirty="0">
                <a:latin typeface="Arial MT"/>
                <a:cs typeface="Arial MT"/>
              </a:rPr>
              <a:t> </a:t>
            </a:r>
            <a:r>
              <a:rPr sz="1400" dirty="0">
                <a:latin typeface="Arial MT"/>
                <a:cs typeface="Arial MT"/>
              </a:rPr>
              <a:t>increments</a:t>
            </a:r>
            <a:r>
              <a:rPr sz="1400" spc="-10" dirty="0">
                <a:latin typeface="Arial MT"/>
                <a:cs typeface="Arial MT"/>
              </a:rPr>
              <a:t> </a:t>
            </a:r>
            <a:r>
              <a:rPr sz="1400" b="1" spc="-10" dirty="0">
                <a:solidFill>
                  <a:srgbClr val="188037"/>
                </a:solidFill>
                <a:latin typeface="Courier New"/>
                <a:cs typeface="Courier New"/>
              </a:rPr>
              <a:t>counter</a:t>
            </a:r>
            <a:r>
              <a:rPr sz="1400" spc="-455" dirty="0">
                <a:solidFill>
                  <a:srgbClr val="188037"/>
                </a:solidFill>
                <a:latin typeface="Courier New"/>
                <a:cs typeface="Courier New"/>
              </a:rPr>
              <a:t> </a:t>
            </a:r>
            <a:r>
              <a:rPr sz="1400" dirty="0">
                <a:latin typeface="Arial MT"/>
                <a:cs typeface="Arial MT"/>
              </a:rPr>
              <a:t>by</a:t>
            </a:r>
            <a:r>
              <a:rPr sz="1400" spc="-5" dirty="0">
                <a:latin typeface="Arial MT"/>
                <a:cs typeface="Arial MT"/>
              </a:rPr>
              <a:t> </a:t>
            </a:r>
            <a:r>
              <a:rPr sz="1400" dirty="0">
                <a:latin typeface="Arial MT"/>
                <a:cs typeface="Arial MT"/>
              </a:rPr>
              <a:t>1</a:t>
            </a:r>
            <a:r>
              <a:rPr sz="1400" spc="-5" dirty="0">
                <a:latin typeface="Arial MT"/>
                <a:cs typeface="Arial MT"/>
              </a:rPr>
              <a:t> </a:t>
            </a:r>
            <a:r>
              <a:rPr sz="1400" dirty="0">
                <a:latin typeface="Arial MT"/>
                <a:cs typeface="Arial MT"/>
              </a:rPr>
              <a:t>in</a:t>
            </a:r>
            <a:r>
              <a:rPr sz="1400" spc="-5" dirty="0">
                <a:latin typeface="Arial MT"/>
                <a:cs typeface="Arial MT"/>
              </a:rPr>
              <a:t> </a:t>
            </a:r>
            <a:r>
              <a:rPr sz="1400" spc="-50" dirty="0">
                <a:latin typeface="Arial MT"/>
                <a:cs typeface="Arial MT"/>
              </a:rPr>
              <a:t>a </a:t>
            </a:r>
            <a:r>
              <a:rPr sz="1400" spc="-10" dirty="0">
                <a:latin typeface="Arial MT"/>
                <a:cs typeface="Arial MT"/>
              </a:rPr>
              <a:t>thread-</a:t>
            </a:r>
            <a:r>
              <a:rPr sz="1400" dirty="0">
                <a:latin typeface="Arial MT"/>
                <a:cs typeface="Arial MT"/>
              </a:rPr>
              <a:t>safe</a:t>
            </a:r>
            <a:r>
              <a:rPr sz="1400" spc="-45" dirty="0">
                <a:latin typeface="Arial MT"/>
                <a:cs typeface="Arial MT"/>
              </a:rPr>
              <a:t> </a:t>
            </a:r>
            <a:r>
              <a:rPr sz="1400" spc="-10" dirty="0">
                <a:latin typeface="Arial MT"/>
                <a:cs typeface="Arial MT"/>
              </a:rPr>
              <a:t>way,</a:t>
            </a:r>
            <a:r>
              <a:rPr sz="1400" spc="-35" dirty="0">
                <a:latin typeface="Arial MT"/>
                <a:cs typeface="Arial MT"/>
              </a:rPr>
              <a:t> </a:t>
            </a:r>
            <a:r>
              <a:rPr sz="1400" dirty="0">
                <a:latin typeface="Arial MT"/>
                <a:cs typeface="Arial MT"/>
              </a:rPr>
              <a:t>guaranteeing</a:t>
            </a:r>
            <a:r>
              <a:rPr sz="1400" spc="-30" dirty="0">
                <a:latin typeface="Arial MT"/>
                <a:cs typeface="Arial MT"/>
              </a:rPr>
              <a:t> </a:t>
            </a:r>
            <a:r>
              <a:rPr sz="1400" dirty="0">
                <a:latin typeface="Arial MT"/>
                <a:cs typeface="Arial MT"/>
              </a:rPr>
              <a:t>that</a:t>
            </a:r>
            <a:r>
              <a:rPr sz="1400" spc="-35" dirty="0">
                <a:latin typeface="Arial MT"/>
                <a:cs typeface="Arial MT"/>
              </a:rPr>
              <a:t> </a:t>
            </a:r>
            <a:r>
              <a:rPr sz="1400" dirty="0">
                <a:latin typeface="Arial MT"/>
                <a:cs typeface="Arial MT"/>
              </a:rPr>
              <a:t>each</a:t>
            </a:r>
            <a:r>
              <a:rPr sz="1400" spc="-35" dirty="0">
                <a:latin typeface="Arial MT"/>
                <a:cs typeface="Arial MT"/>
              </a:rPr>
              <a:t> </a:t>
            </a:r>
            <a:r>
              <a:rPr sz="1400" dirty="0">
                <a:latin typeface="Arial MT"/>
                <a:cs typeface="Arial MT"/>
              </a:rPr>
              <a:t>increment</a:t>
            </a:r>
            <a:r>
              <a:rPr sz="1400" spc="-30" dirty="0">
                <a:latin typeface="Arial MT"/>
                <a:cs typeface="Arial MT"/>
              </a:rPr>
              <a:t> </a:t>
            </a:r>
            <a:r>
              <a:rPr sz="1400" spc="-25" dirty="0">
                <a:latin typeface="Arial MT"/>
                <a:cs typeface="Arial MT"/>
              </a:rPr>
              <a:t>is </a:t>
            </a:r>
            <a:r>
              <a:rPr sz="1400" dirty="0">
                <a:latin typeface="Arial MT"/>
                <a:cs typeface="Arial MT"/>
              </a:rPr>
              <a:t>completed</a:t>
            </a:r>
            <a:r>
              <a:rPr sz="1400" spc="-30" dirty="0">
                <a:latin typeface="Arial MT"/>
                <a:cs typeface="Arial MT"/>
              </a:rPr>
              <a:t> </a:t>
            </a:r>
            <a:r>
              <a:rPr sz="1400" dirty="0">
                <a:latin typeface="Arial MT"/>
                <a:cs typeface="Arial MT"/>
              </a:rPr>
              <a:t>without</a:t>
            </a:r>
            <a:r>
              <a:rPr sz="1400" spc="-30" dirty="0">
                <a:latin typeface="Arial MT"/>
                <a:cs typeface="Arial MT"/>
              </a:rPr>
              <a:t> </a:t>
            </a:r>
            <a:r>
              <a:rPr sz="1400" dirty="0">
                <a:latin typeface="Arial MT"/>
                <a:cs typeface="Arial MT"/>
              </a:rPr>
              <a:t>interference</a:t>
            </a:r>
            <a:r>
              <a:rPr sz="1400" spc="-30" dirty="0">
                <a:latin typeface="Arial MT"/>
                <a:cs typeface="Arial MT"/>
              </a:rPr>
              <a:t> </a:t>
            </a:r>
            <a:r>
              <a:rPr sz="1400" dirty="0">
                <a:latin typeface="Arial MT"/>
                <a:cs typeface="Arial MT"/>
              </a:rPr>
              <a:t>from</a:t>
            </a:r>
            <a:r>
              <a:rPr sz="1400" spc="-30" dirty="0">
                <a:latin typeface="Arial MT"/>
                <a:cs typeface="Arial MT"/>
              </a:rPr>
              <a:t> </a:t>
            </a:r>
            <a:r>
              <a:rPr sz="1400" dirty="0">
                <a:latin typeface="Arial MT"/>
                <a:cs typeface="Arial MT"/>
              </a:rPr>
              <a:t>other</a:t>
            </a:r>
            <a:r>
              <a:rPr sz="1400" spc="-30" dirty="0">
                <a:latin typeface="Arial MT"/>
                <a:cs typeface="Arial MT"/>
              </a:rPr>
              <a:t> </a:t>
            </a:r>
            <a:r>
              <a:rPr sz="1400" spc="-10" dirty="0">
                <a:latin typeface="Arial MT"/>
                <a:cs typeface="Arial MT"/>
              </a:rPr>
              <a:t>threads. </a:t>
            </a:r>
            <a:r>
              <a:rPr sz="1400" dirty="0">
                <a:latin typeface="Arial MT"/>
                <a:cs typeface="Arial MT"/>
              </a:rPr>
              <a:t>This</a:t>
            </a:r>
            <a:r>
              <a:rPr sz="1400" spc="-25" dirty="0">
                <a:latin typeface="Arial MT"/>
                <a:cs typeface="Arial MT"/>
              </a:rPr>
              <a:t> </a:t>
            </a:r>
            <a:r>
              <a:rPr sz="1400" dirty="0">
                <a:latin typeface="Arial MT"/>
                <a:cs typeface="Arial MT"/>
              </a:rPr>
              <a:t>eliminates</a:t>
            </a:r>
            <a:r>
              <a:rPr sz="1400" spc="-10" dirty="0">
                <a:latin typeface="Arial MT"/>
                <a:cs typeface="Arial MT"/>
              </a:rPr>
              <a:t> </a:t>
            </a:r>
            <a:r>
              <a:rPr sz="1400" dirty="0">
                <a:latin typeface="Arial MT"/>
                <a:cs typeface="Arial MT"/>
              </a:rPr>
              <a:t>the</a:t>
            </a:r>
            <a:r>
              <a:rPr sz="1400" spc="-10" dirty="0">
                <a:latin typeface="Arial MT"/>
                <a:cs typeface="Arial MT"/>
              </a:rPr>
              <a:t> </a:t>
            </a:r>
            <a:r>
              <a:rPr sz="1400" dirty="0">
                <a:latin typeface="Arial MT"/>
                <a:cs typeface="Arial MT"/>
              </a:rPr>
              <a:t>need</a:t>
            </a:r>
            <a:r>
              <a:rPr sz="1400" spc="-15" dirty="0">
                <a:latin typeface="Arial MT"/>
                <a:cs typeface="Arial MT"/>
              </a:rPr>
              <a:t> </a:t>
            </a:r>
            <a:r>
              <a:rPr sz="1400" dirty="0">
                <a:latin typeface="Arial MT"/>
                <a:cs typeface="Arial MT"/>
              </a:rPr>
              <a:t>for</a:t>
            </a:r>
            <a:r>
              <a:rPr sz="1400" spc="-10" dirty="0">
                <a:latin typeface="Arial MT"/>
                <a:cs typeface="Arial MT"/>
              </a:rPr>
              <a:t> </a:t>
            </a:r>
            <a:r>
              <a:rPr sz="1400" dirty="0">
                <a:latin typeface="Arial MT"/>
                <a:cs typeface="Arial MT"/>
              </a:rPr>
              <a:t>a</a:t>
            </a:r>
            <a:r>
              <a:rPr sz="1400" spc="-10" dirty="0">
                <a:latin typeface="Arial MT"/>
                <a:cs typeface="Arial MT"/>
              </a:rPr>
              <a:t> </a:t>
            </a:r>
            <a:r>
              <a:rPr sz="1400" dirty="0">
                <a:latin typeface="Arial MT"/>
                <a:cs typeface="Arial MT"/>
              </a:rPr>
              <a:t>mutex</a:t>
            </a:r>
            <a:r>
              <a:rPr sz="1400" spc="-15" dirty="0">
                <a:latin typeface="Arial MT"/>
                <a:cs typeface="Arial MT"/>
              </a:rPr>
              <a:t> </a:t>
            </a:r>
            <a:r>
              <a:rPr sz="1400" dirty="0">
                <a:latin typeface="Arial MT"/>
                <a:cs typeface="Arial MT"/>
              </a:rPr>
              <a:t>to</a:t>
            </a:r>
            <a:r>
              <a:rPr sz="1400" spc="-10" dirty="0">
                <a:latin typeface="Arial MT"/>
                <a:cs typeface="Arial MT"/>
              </a:rPr>
              <a:t> </a:t>
            </a:r>
            <a:r>
              <a:rPr sz="1400" dirty="0">
                <a:latin typeface="Arial MT"/>
                <a:cs typeface="Arial MT"/>
              </a:rPr>
              <a:t>protect</a:t>
            </a:r>
            <a:r>
              <a:rPr sz="1400" spc="-10" dirty="0">
                <a:latin typeface="Arial MT"/>
                <a:cs typeface="Arial MT"/>
              </a:rPr>
              <a:t> </a:t>
            </a:r>
            <a:r>
              <a:rPr sz="1400" spc="-25" dirty="0">
                <a:latin typeface="Arial MT"/>
                <a:cs typeface="Arial MT"/>
              </a:rPr>
              <a:t>the </a:t>
            </a:r>
            <a:r>
              <a:rPr sz="1400" b="1" spc="-10" dirty="0">
                <a:solidFill>
                  <a:srgbClr val="188037"/>
                </a:solidFill>
                <a:latin typeface="Courier New"/>
                <a:cs typeface="Courier New"/>
              </a:rPr>
              <a:t>counter</a:t>
            </a:r>
            <a:r>
              <a:rPr sz="1400" spc="-10" dirty="0">
                <a:latin typeface="Arial MT"/>
                <a:cs typeface="Arial MT"/>
              </a:rPr>
              <a:t>.</a:t>
            </a:r>
            <a:endParaRPr sz="1400" dirty="0">
              <a:latin typeface="Arial MT"/>
              <a:cs typeface="Arial MT"/>
            </a:endParaRPr>
          </a:p>
        </p:txBody>
      </p:sp>
      <p:pic>
        <p:nvPicPr>
          <p:cNvPr id="4" name="object 4">
            <a:extLst>
              <a:ext uri="{C183D7F6-B498-43B3-948B-1728B52AA6E4}">
                <adec:decorative xmlns:adec="http://schemas.microsoft.com/office/drawing/2017/decorative" val="1"/>
              </a:ext>
            </a:extLst>
          </p:cNvPr>
          <p:cNvPicPr/>
          <p:nvPr/>
        </p:nvPicPr>
        <p:blipFill>
          <a:blip r:embed="rId2" cstate="print"/>
          <a:stretch>
            <a:fillRect/>
          </a:stretch>
        </p:blipFill>
        <p:spPr>
          <a:xfrm>
            <a:off x="5368813" y="1430750"/>
            <a:ext cx="6635259" cy="5152099"/>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0375" y="1442973"/>
            <a:ext cx="3399790" cy="674544"/>
          </a:xfrm>
          <a:prstGeom prst="rect">
            <a:avLst/>
          </a:prstGeom>
        </p:spPr>
        <p:txBody>
          <a:bodyPr vert="horz" wrap="square" lIns="0" tIns="12700" rIns="0" bIns="0" rtlCol="0">
            <a:spAutoFit/>
          </a:bodyPr>
          <a:lstStyle/>
          <a:p>
            <a:pPr marL="12700">
              <a:spcBef>
                <a:spcPts val="100"/>
              </a:spcBef>
            </a:pPr>
            <a:r>
              <a:rPr dirty="0"/>
              <a:t>Thread</a:t>
            </a:r>
            <a:r>
              <a:rPr spc="-110" dirty="0"/>
              <a:t> </a:t>
            </a:r>
            <a:r>
              <a:rPr spc="-10" dirty="0"/>
              <a:t>Synchronization</a:t>
            </a:r>
            <a:br>
              <a:rPr lang="en-US" spc="-10" dirty="0"/>
            </a:br>
            <a:r>
              <a:rPr lang="en-US" sz="1800" dirty="0"/>
              <a:t>Mutual</a:t>
            </a:r>
            <a:r>
              <a:rPr lang="en-US" sz="1800" spc="-70" dirty="0"/>
              <a:t> </a:t>
            </a:r>
            <a:r>
              <a:rPr lang="en-US" sz="1800" dirty="0"/>
              <a:t>Exclusion:</a:t>
            </a:r>
            <a:r>
              <a:rPr lang="en-US" sz="1800" spc="-70" dirty="0"/>
              <a:t> </a:t>
            </a:r>
            <a:r>
              <a:rPr lang="en-US" sz="1800" spc="-10" dirty="0"/>
              <a:t>Mutexes</a:t>
            </a:r>
            <a:endParaRPr sz="1800" spc="-10" dirty="0"/>
          </a:p>
        </p:txBody>
      </p:sp>
      <p:sp>
        <p:nvSpPr>
          <p:cNvPr id="3" name="object 3"/>
          <p:cNvSpPr txBox="1"/>
          <p:nvPr/>
        </p:nvSpPr>
        <p:spPr>
          <a:xfrm>
            <a:off x="408249" y="2335188"/>
            <a:ext cx="4598035" cy="941412"/>
          </a:xfrm>
          <a:prstGeom prst="rect">
            <a:avLst/>
          </a:prstGeom>
        </p:spPr>
        <p:txBody>
          <a:bodyPr vert="horz" wrap="square" lIns="0" tIns="12700" rIns="0" bIns="0" rtlCol="0">
            <a:spAutoFit/>
          </a:bodyPr>
          <a:lstStyle/>
          <a:p>
            <a:pPr marL="12700" marR="5080">
              <a:lnSpc>
                <a:spcPct val="114999"/>
              </a:lnSpc>
              <a:spcBef>
                <a:spcPts val="1820"/>
              </a:spcBef>
            </a:pPr>
            <a:r>
              <a:rPr sz="1800" b="1" dirty="0">
                <a:latin typeface="Arial"/>
                <a:cs typeface="Arial"/>
              </a:rPr>
              <a:t>Mutexes</a:t>
            </a:r>
            <a:r>
              <a:rPr sz="1800" b="1" spc="-20" dirty="0">
                <a:latin typeface="Arial"/>
                <a:cs typeface="Arial"/>
              </a:rPr>
              <a:t> </a:t>
            </a:r>
            <a:r>
              <a:rPr sz="1800" dirty="0">
                <a:latin typeface="Arial MT"/>
                <a:cs typeface="Arial MT"/>
              </a:rPr>
              <a:t>(short</a:t>
            </a:r>
            <a:r>
              <a:rPr sz="1800" spc="-20" dirty="0">
                <a:latin typeface="Arial MT"/>
                <a:cs typeface="Arial MT"/>
              </a:rPr>
              <a:t> </a:t>
            </a:r>
            <a:r>
              <a:rPr sz="1800" dirty="0">
                <a:latin typeface="Arial MT"/>
                <a:cs typeface="Arial MT"/>
              </a:rPr>
              <a:t>for</a:t>
            </a:r>
            <a:r>
              <a:rPr sz="1800" spc="-25" dirty="0">
                <a:latin typeface="Arial MT"/>
                <a:cs typeface="Arial MT"/>
              </a:rPr>
              <a:t> </a:t>
            </a:r>
            <a:r>
              <a:rPr sz="1800" dirty="0">
                <a:latin typeface="Arial MT"/>
                <a:cs typeface="Arial MT"/>
              </a:rPr>
              <a:t>"mutual</a:t>
            </a:r>
            <a:r>
              <a:rPr sz="1800" spc="-20" dirty="0">
                <a:latin typeface="Arial MT"/>
                <a:cs typeface="Arial MT"/>
              </a:rPr>
              <a:t> </a:t>
            </a:r>
            <a:r>
              <a:rPr sz="1800" dirty="0">
                <a:latin typeface="Arial MT"/>
                <a:cs typeface="Arial MT"/>
              </a:rPr>
              <a:t>exclusion")</a:t>
            </a:r>
            <a:r>
              <a:rPr sz="1800" spc="-20" dirty="0">
                <a:latin typeface="Arial MT"/>
                <a:cs typeface="Arial MT"/>
              </a:rPr>
              <a:t> </a:t>
            </a:r>
            <a:r>
              <a:rPr sz="1800" spc="-25" dirty="0">
                <a:latin typeface="Arial MT"/>
                <a:cs typeface="Arial MT"/>
              </a:rPr>
              <a:t>are </a:t>
            </a:r>
            <a:r>
              <a:rPr sz="1800" dirty="0">
                <a:latin typeface="Arial MT"/>
                <a:cs typeface="Arial MT"/>
              </a:rPr>
              <a:t>locks</a:t>
            </a:r>
            <a:r>
              <a:rPr sz="1800" spc="-20" dirty="0">
                <a:latin typeface="Arial MT"/>
                <a:cs typeface="Arial MT"/>
              </a:rPr>
              <a:t> </a:t>
            </a:r>
            <a:r>
              <a:rPr sz="1800" dirty="0">
                <a:latin typeface="Arial MT"/>
                <a:cs typeface="Arial MT"/>
              </a:rPr>
              <a:t>that</a:t>
            </a:r>
            <a:r>
              <a:rPr sz="1800" spc="-15" dirty="0">
                <a:latin typeface="Arial MT"/>
                <a:cs typeface="Arial MT"/>
              </a:rPr>
              <a:t> </a:t>
            </a:r>
            <a:r>
              <a:rPr sz="1800" dirty="0">
                <a:latin typeface="Arial MT"/>
                <a:cs typeface="Arial MT"/>
              </a:rPr>
              <a:t>ensure</a:t>
            </a:r>
            <a:r>
              <a:rPr sz="1800" spc="-15" dirty="0">
                <a:latin typeface="Arial MT"/>
                <a:cs typeface="Arial MT"/>
              </a:rPr>
              <a:t> </a:t>
            </a:r>
            <a:r>
              <a:rPr sz="1800" dirty="0">
                <a:latin typeface="Arial MT"/>
                <a:cs typeface="Arial MT"/>
              </a:rPr>
              <a:t>only</a:t>
            </a:r>
            <a:r>
              <a:rPr sz="1800" spc="-15" dirty="0">
                <a:latin typeface="Arial MT"/>
                <a:cs typeface="Arial MT"/>
              </a:rPr>
              <a:t> </a:t>
            </a:r>
            <a:r>
              <a:rPr sz="1800" dirty="0">
                <a:latin typeface="Arial MT"/>
                <a:cs typeface="Arial MT"/>
              </a:rPr>
              <a:t>one</a:t>
            </a:r>
            <a:r>
              <a:rPr sz="1800" spc="-15" dirty="0">
                <a:latin typeface="Arial MT"/>
                <a:cs typeface="Arial MT"/>
              </a:rPr>
              <a:t> </a:t>
            </a:r>
            <a:r>
              <a:rPr sz="1800" dirty="0">
                <a:latin typeface="Arial MT"/>
                <a:cs typeface="Arial MT"/>
              </a:rPr>
              <a:t>thread</a:t>
            </a:r>
            <a:r>
              <a:rPr sz="1800" spc="-15" dirty="0">
                <a:latin typeface="Arial MT"/>
                <a:cs typeface="Arial MT"/>
              </a:rPr>
              <a:t> </a:t>
            </a:r>
            <a:r>
              <a:rPr sz="1800" dirty="0">
                <a:latin typeface="Arial MT"/>
                <a:cs typeface="Arial MT"/>
              </a:rPr>
              <a:t>accesses</a:t>
            </a:r>
            <a:r>
              <a:rPr sz="1800" spc="-15" dirty="0">
                <a:latin typeface="Arial MT"/>
                <a:cs typeface="Arial MT"/>
              </a:rPr>
              <a:t> </a:t>
            </a:r>
            <a:r>
              <a:rPr sz="1800" spc="-50" dirty="0">
                <a:latin typeface="Arial MT"/>
                <a:cs typeface="Arial MT"/>
              </a:rPr>
              <a:t>a </a:t>
            </a:r>
            <a:r>
              <a:rPr sz="1800" dirty="0">
                <a:latin typeface="Arial MT"/>
                <a:cs typeface="Arial MT"/>
              </a:rPr>
              <a:t>critical</a:t>
            </a:r>
            <a:r>
              <a:rPr sz="1800" spc="-35" dirty="0">
                <a:latin typeface="Arial MT"/>
                <a:cs typeface="Arial MT"/>
              </a:rPr>
              <a:t> </a:t>
            </a:r>
            <a:r>
              <a:rPr sz="1800" dirty="0">
                <a:latin typeface="Arial MT"/>
                <a:cs typeface="Arial MT"/>
              </a:rPr>
              <a:t>section</a:t>
            </a:r>
            <a:r>
              <a:rPr sz="1800" spc="-20" dirty="0">
                <a:latin typeface="Arial MT"/>
                <a:cs typeface="Arial MT"/>
              </a:rPr>
              <a:t> </a:t>
            </a:r>
            <a:r>
              <a:rPr sz="1800" dirty="0">
                <a:latin typeface="Arial MT"/>
                <a:cs typeface="Arial MT"/>
              </a:rPr>
              <a:t>at</a:t>
            </a:r>
            <a:r>
              <a:rPr sz="1800" spc="-25" dirty="0">
                <a:latin typeface="Arial MT"/>
                <a:cs typeface="Arial MT"/>
              </a:rPr>
              <a:t> </a:t>
            </a:r>
            <a:r>
              <a:rPr sz="1800" dirty="0">
                <a:latin typeface="Arial MT"/>
                <a:cs typeface="Arial MT"/>
              </a:rPr>
              <a:t>any</a:t>
            </a:r>
            <a:r>
              <a:rPr sz="1800" spc="-20" dirty="0">
                <a:latin typeface="Arial MT"/>
                <a:cs typeface="Arial MT"/>
              </a:rPr>
              <a:t> </a:t>
            </a:r>
            <a:r>
              <a:rPr sz="1800" spc="-10" dirty="0">
                <a:latin typeface="Arial MT"/>
                <a:cs typeface="Arial MT"/>
              </a:rPr>
              <a:t>time.</a:t>
            </a:r>
            <a:endParaRPr sz="1800" dirty="0">
              <a:latin typeface="Arial MT"/>
              <a:cs typeface="Arial MT"/>
            </a:endParaRPr>
          </a:p>
        </p:txBody>
      </p:sp>
      <p:pic>
        <p:nvPicPr>
          <p:cNvPr id="4" name="object 4" descr="A simplified diagram of mutual exclusion. Two circular thread nodes point to a central &quot;Mutex&quot; box guarding a &quot;Shared Resource,&quot; labeled with &quot;Acquire&quot; and &quot;Release&quot; actions."/>
          <p:cNvPicPr/>
          <p:nvPr/>
        </p:nvPicPr>
        <p:blipFill>
          <a:blip r:embed="rId2" cstate="print"/>
          <a:stretch>
            <a:fillRect/>
          </a:stretch>
        </p:blipFill>
        <p:spPr>
          <a:xfrm>
            <a:off x="5776024" y="2098093"/>
            <a:ext cx="5751326" cy="1281330"/>
          </a:xfrm>
          <a:prstGeom prst="rect">
            <a:avLst/>
          </a:prstGeom>
        </p:spPr>
      </p:pic>
      <p:sp>
        <p:nvSpPr>
          <p:cNvPr id="7" name="object 7">
            <a:extLst>
              <a:ext uri="{C183D7F6-B498-43B3-948B-1728B52AA6E4}">
                <adec:decorative xmlns:adec="http://schemas.microsoft.com/office/drawing/2017/decorative" val="1"/>
              </a:ext>
            </a:extLst>
          </p:cNvPr>
          <p:cNvSpPr txBox="1"/>
          <p:nvPr/>
        </p:nvSpPr>
        <p:spPr>
          <a:xfrm>
            <a:off x="7415900" y="3500370"/>
            <a:ext cx="2190750" cy="177800"/>
          </a:xfrm>
          <a:prstGeom prst="rect">
            <a:avLst/>
          </a:prstGeom>
        </p:spPr>
        <p:txBody>
          <a:bodyPr vert="horz" wrap="square" lIns="0" tIns="12700" rIns="0" bIns="0" rtlCol="0">
            <a:spAutoFit/>
          </a:bodyPr>
          <a:lstStyle/>
          <a:p>
            <a:pPr marL="12700">
              <a:lnSpc>
                <a:spcPct val="100000"/>
              </a:lnSpc>
              <a:spcBef>
                <a:spcPts val="100"/>
              </a:spcBef>
            </a:pPr>
            <a:r>
              <a:rPr sz="1000" dirty="0">
                <a:solidFill>
                  <a:srgbClr val="0F2044"/>
                </a:solidFill>
                <a:latin typeface="Arial MT"/>
                <a:cs typeface="Arial MT"/>
              </a:rPr>
              <a:t>Image</a:t>
            </a:r>
            <a:r>
              <a:rPr sz="1000" spc="-25" dirty="0">
                <a:solidFill>
                  <a:srgbClr val="0F2044"/>
                </a:solidFill>
                <a:latin typeface="Arial MT"/>
                <a:cs typeface="Arial MT"/>
              </a:rPr>
              <a:t> </a:t>
            </a:r>
            <a:r>
              <a:rPr sz="1000" dirty="0">
                <a:solidFill>
                  <a:srgbClr val="0F2044"/>
                </a:solidFill>
                <a:latin typeface="Arial MT"/>
                <a:cs typeface="Arial MT"/>
              </a:rPr>
              <a:t>Credit</a:t>
            </a:r>
            <a:r>
              <a:rPr sz="1000" spc="-20" dirty="0">
                <a:solidFill>
                  <a:srgbClr val="0F2044"/>
                </a:solidFill>
                <a:latin typeface="Arial MT"/>
                <a:cs typeface="Arial MT"/>
              </a:rPr>
              <a:t> </a:t>
            </a:r>
            <a:r>
              <a:rPr sz="1000" dirty="0">
                <a:solidFill>
                  <a:srgbClr val="0F2044"/>
                </a:solidFill>
                <a:latin typeface="Arial MT"/>
                <a:cs typeface="Arial MT"/>
              </a:rPr>
              <a:t>-</a:t>
            </a:r>
            <a:r>
              <a:rPr sz="1000" spc="-25" dirty="0">
                <a:solidFill>
                  <a:srgbClr val="0F2044"/>
                </a:solidFill>
                <a:latin typeface="Arial MT"/>
                <a:cs typeface="Arial MT"/>
              </a:rPr>
              <a:t> </a:t>
            </a:r>
            <a:r>
              <a:rPr sz="1000" spc="-10" dirty="0">
                <a:solidFill>
                  <a:srgbClr val="0F2044"/>
                </a:solidFill>
                <a:latin typeface="Arial MT"/>
                <a:cs typeface="Arial MT"/>
                <a:hlinkClick r:id="rId3"/>
              </a:rPr>
              <a:t>https://www.scaler.com/</a:t>
            </a:r>
            <a:endParaRPr sz="1000" dirty="0">
              <a:latin typeface="Arial MT"/>
              <a:cs typeface="Arial MT"/>
            </a:endParaRPr>
          </a:p>
        </p:txBody>
      </p:sp>
      <p:sp>
        <p:nvSpPr>
          <p:cNvPr id="5" name="object 5"/>
          <p:cNvSpPr txBox="1"/>
          <p:nvPr/>
        </p:nvSpPr>
        <p:spPr>
          <a:xfrm>
            <a:off x="392850" y="3509955"/>
            <a:ext cx="2332990" cy="254000"/>
          </a:xfrm>
          <a:prstGeom prst="rect">
            <a:avLst/>
          </a:prstGeom>
        </p:spPr>
        <p:txBody>
          <a:bodyPr vert="horz" wrap="square" lIns="0" tIns="12700" rIns="0" bIns="0" rtlCol="0">
            <a:spAutoFit/>
          </a:bodyPr>
          <a:lstStyle/>
          <a:p>
            <a:pPr marL="12700">
              <a:lnSpc>
                <a:spcPct val="100000"/>
              </a:lnSpc>
              <a:spcBef>
                <a:spcPts val="100"/>
              </a:spcBef>
            </a:pPr>
            <a:r>
              <a:rPr sz="1500" b="1" dirty="0">
                <a:latin typeface="Arial"/>
                <a:cs typeface="Arial"/>
              </a:rPr>
              <a:t>Key</a:t>
            </a:r>
            <a:r>
              <a:rPr sz="1500" b="1" spc="-55" dirty="0">
                <a:latin typeface="Arial"/>
                <a:cs typeface="Arial"/>
              </a:rPr>
              <a:t> </a:t>
            </a:r>
            <a:r>
              <a:rPr sz="1500" b="1" dirty="0">
                <a:latin typeface="Arial"/>
                <a:cs typeface="Arial"/>
              </a:rPr>
              <a:t>Features</a:t>
            </a:r>
            <a:r>
              <a:rPr sz="1500" b="1" spc="-50" dirty="0">
                <a:latin typeface="Arial"/>
                <a:cs typeface="Arial"/>
              </a:rPr>
              <a:t> </a:t>
            </a:r>
            <a:r>
              <a:rPr sz="1500" b="1" dirty="0">
                <a:latin typeface="Arial"/>
                <a:cs typeface="Arial"/>
              </a:rPr>
              <a:t>of</a:t>
            </a:r>
            <a:r>
              <a:rPr sz="1500" b="1" spc="-50" dirty="0">
                <a:latin typeface="Arial"/>
                <a:cs typeface="Arial"/>
              </a:rPr>
              <a:t> </a:t>
            </a:r>
            <a:r>
              <a:rPr sz="1500" b="1" spc="-10" dirty="0">
                <a:latin typeface="Arial"/>
                <a:cs typeface="Arial"/>
              </a:rPr>
              <a:t>Mutexes:</a:t>
            </a:r>
            <a:endParaRPr sz="1500">
              <a:latin typeface="Arial"/>
              <a:cs typeface="Arial"/>
            </a:endParaRPr>
          </a:p>
        </p:txBody>
      </p:sp>
      <p:sp>
        <p:nvSpPr>
          <p:cNvPr id="6" name="object 6"/>
          <p:cNvSpPr txBox="1"/>
          <p:nvPr/>
        </p:nvSpPr>
        <p:spPr>
          <a:xfrm>
            <a:off x="462575" y="3890955"/>
            <a:ext cx="10234295" cy="2654300"/>
          </a:xfrm>
          <a:prstGeom prst="rect">
            <a:avLst/>
          </a:prstGeom>
        </p:spPr>
        <p:txBody>
          <a:bodyPr vert="horz" wrap="square" lIns="0" tIns="46990" rIns="0" bIns="0" rtlCol="0">
            <a:spAutoFit/>
          </a:bodyPr>
          <a:lstStyle/>
          <a:p>
            <a:pPr marL="400050" indent="-387350">
              <a:lnSpc>
                <a:spcPct val="100000"/>
              </a:lnSpc>
              <a:spcBef>
                <a:spcPts val="370"/>
              </a:spcBef>
              <a:buFont typeface="Arial MT"/>
              <a:buAutoNum type="arabicPeriod"/>
              <a:tabLst>
                <a:tab pos="400050" algn="l"/>
              </a:tabLst>
            </a:pPr>
            <a:r>
              <a:rPr sz="1500" b="1" spc="-10" dirty="0">
                <a:latin typeface="Arial"/>
                <a:cs typeface="Arial"/>
              </a:rPr>
              <a:t>Exclusive</a:t>
            </a:r>
            <a:r>
              <a:rPr sz="1500" b="1" spc="-80" dirty="0">
                <a:latin typeface="Arial"/>
                <a:cs typeface="Arial"/>
              </a:rPr>
              <a:t> </a:t>
            </a:r>
            <a:r>
              <a:rPr sz="1500" b="1" spc="-10" dirty="0">
                <a:latin typeface="Arial"/>
                <a:cs typeface="Arial"/>
              </a:rPr>
              <a:t>Access</a:t>
            </a:r>
            <a:r>
              <a:rPr sz="1500" spc="-10" dirty="0">
                <a:latin typeface="Arial MT"/>
                <a:cs typeface="Arial MT"/>
              </a:rPr>
              <a:t>:</a:t>
            </a:r>
            <a:endParaRPr sz="1500">
              <a:latin typeface="Arial MT"/>
              <a:cs typeface="Arial MT"/>
            </a:endParaRPr>
          </a:p>
          <a:p>
            <a:pPr marL="857250" marR="226695" lvl="1" indent="-344170">
              <a:lnSpc>
                <a:spcPct val="114999"/>
              </a:lnSpc>
              <a:buChar char="○"/>
              <a:tabLst>
                <a:tab pos="857250" algn="l"/>
              </a:tabLst>
            </a:pPr>
            <a:r>
              <a:rPr sz="1500" dirty="0">
                <a:latin typeface="Arial MT"/>
                <a:cs typeface="Arial MT"/>
              </a:rPr>
              <a:t>A</a:t>
            </a:r>
            <a:r>
              <a:rPr sz="1500" spc="-105" dirty="0">
                <a:latin typeface="Arial MT"/>
                <a:cs typeface="Arial MT"/>
              </a:rPr>
              <a:t> </a:t>
            </a:r>
            <a:r>
              <a:rPr sz="1500" dirty="0">
                <a:latin typeface="Arial MT"/>
                <a:cs typeface="Arial MT"/>
              </a:rPr>
              <a:t>mutex</a:t>
            </a:r>
            <a:r>
              <a:rPr sz="1500" spc="-45" dirty="0">
                <a:latin typeface="Arial MT"/>
                <a:cs typeface="Arial MT"/>
              </a:rPr>
              <a:t> </a:t>
            </a:r>
            <a:r>
              <a:rPr sz="1500" dirty="0">
                <a:latin typeface="Arial MT"/>
                <a:cs typeface="Arial MT"/>
              </a:rPr>
              <a:t>allows</a:t>
            </a:r>
            <a:r>
              <a:rPr sz="1500" spc="-35" dirty="0">
                <a:latin typeface="Arial MT"/>
                <a:cs typeface="Arial MT"/>
              </a:rPr>
              <a:t> </a:t>
            </a:r>
            <a:r>
              <a:rPr sz="1500" dirty="0">
                <a:latin typeface="Arial MT"/>
                <a:cs typeface="Arial MT"/>
              </a:rPr>
              <a:t>only</a:t>
            </a:r>
            <a:r>
              <a:rPr sz="1500" spc="-35" dirty="0">
                <a:latin typeface="Arial MT"/>
                <a:cs typeface="Arial MT"/>
              </a:rPr>
              <a:t> </a:t>
            </a:r>
            <a:r>
              <a:rPr sz="1500" dirty="0">
                <a:latin typeface="Arial MT"/>
                <a:cs typeface="Arial MT"/>
              </a:rPr>
              <a:t>one</a:t>
            </a:r>
            <a:r>
              <a:rPr sz="1500" spc="-35" dirty="0">
                <a:latin typeface="Arial MT"/>
                <a:cs typeface="Arial MT"/>
              </a:rPr>
              <a:t> </a:t>
            </a:r>
            <a:r>
              <a:rPr sz="1500" dirty="0">
                <a:latin typeface="Arial MT"/>
                <a:cs typeface="Arial MT"/>
              </a:rPr>
              <a:t>thread</a:t>
            </a:r>
            <a:r>
              <a:rPr sz="1500" spc="-30" dirty="0">
                <a:latin typeface="Arial MT"/>
                <a:cs typeface="Arial MT"/>
              </a:rPr>
              <a:t> </a:t>
            </a:r>
            <a:r>
              <a:rPr sz="1500" dirty="0">
                <a:latin typeface="Arial MT"/>
                <a:cs typeface="Arial MT"/>
              </a:rPr>
              <a:t>to</a:t>
            </a:r>
            <a:r>
              <a:rPr sz="1500" spc="-35" dirty="0">
                <a:latin typeface="Arial MT"/>
                <a:cs typeface="Arial MT"/>
              </a:rPr>
              <a:t> </a:t>
            </a:r>
            <a:r>
              <a:rPr sz="1500" dirty="0">
                <a:latin typeface="Arial MT"/>
                <a:cs typeface="Arial MT"/>
              </a:rPr>
              <a:t>lock</a:t>
            </a:r>
            <a:r>
              <a:rPr sz="1500" spc="-35" dirty="0">
                <a:latin typeface="Arial MT"/>
                <a:cs typeface="Arial MT"/>
              </a:rPr>
              <a:t> </a:t>
            </a:r>
            <a:r>
              <a:rPr sz="1500" dirty="0">
                <a:latin typeface="Arial MT"/>
                <a:cs typeface="Arial MT"/>
              </a:rPr>
              <a:t>it</a:t>
            </a:r>
            <a:r>
              <a:rPr sz="1500" spc="-35" dirty="0">
                <a:latin typeface="Arial MT"/>
                <a:cs typeface="Arial MT"/>
              </a:rPr>
              <a:t> </a:t>
            </a:r>
            <a:r>
              <a:rPr sz="1500" dirty="0">
                <a:latin typeface="Arial MT"/>
                <a:cs typeface="Arial MT"/>
              </a:rPr>
              <a:t>at</a:t>
            </a:r>
            <a:r>
              <a:rPr sz="1500" spc="-35" dirty="0">
                <a:latin typeface="Arial MT"/>
                <a:cs typeface="Arial MT"/>
              </a:rPr>
              <a:t> </a:t>
            </a:r>
            <a:r>
              <a:rPr sz="1500" dirty="0">
                <a:latin typeface="Arial MT"/>
                <a:cs typeface="Arial MT"/>
              </a:rPr>
              <a:t>a</a:t>
            </a:r>
            <a:r>
              <a:rPr sz="1500" spc="-35" dirty="0">
                <a:latin typeface="Arial MT"/>
                <a:cs typeface="Arial MT"/>
              </a:rPr>
              <a:t> </a:t>
            </a:r>
            <a:r>
              <a:rPr sz="1500" dirty="0">
                <a:latin typeface="Arial MT"/>
                <a:cs typeface="Arial MT"/>
              </a:rPr>
              <a:t>time.</a:t>
            </a:r>
            <a:r>
              <a:rPr sz="1500" spc="-35" dirty="0">
                <a:latin typeface="Arial MT"/>
                <a:cs typeface="Arial MT"/>
              </a:rPr>
              <a:t> </a:t>
            </a:r>
            <a:r>
              <a:rPr sz="1500" dirty="0">
                <a:latin typeface="Arial MT"/>
                <a:cs typeface="Arial MT"/>
              </a:rPr>
              <a:t>Other</a:t>
            </a:r>
            <a:r>
              <a:rPr sz="1500" spc="-30" dirty="0">
                <a:latin typeface="Arial MT"/>
                <a:cs typeface="Arial MT"/>
              </a:rPr>
              <a:t> </a:t>
            </a:r>
            <a:r>
              <a:rPr sz="1500" dirty="0">
                <a:latin typeface="Arial MT"/>
                <a:cs typeface="Arial MT"/>
              </a:rPr>
              <a:t>threads</a:t>
            </a:r>
            <a:r>
              <a:rPr sz="1500" spc="-35" dirty="0">
                <a:latin typeface="Arial MT"/>
                <a:cs typeface="Arial MT"/>
              </a:rPr>
              <a:t> </a:t>
            </a:r>
            <a:r>
              <a:rPr sz="1500" dirty="0">
                <a:latin typeface="Arial MT"/>
                <a:cs typeface="Arial MT"/>
              </a:rPr>
              <a:t>trying</a:t>
            </a:r>
            <a:r>
              <a:rPr sz="1500" spc="-35" dirty="0">
                <a:latin typeface="Arial MT"/>
                <a:cs typeface="Arial MT"/>
              </a:rPr>
              <a:t> </a:t>
            </a:r>
            <a:r>
              <a:rPr sz="1500" dirty="0">
                <a:latin typeface="Arial MT"/>
                <a:cs typeface="Arial MT"/>
              </a:rPr>
              <a:t>to</a:t>
            </a:r>
            <a:r>
              <a:rPr sz="1500" spc="-35" dirty="0">
                <a:latin typeface="Arial MT"/>
                <a:cs typeface="Arial MT"/>
              </a:rPr>
              <a:t> </a:t>
            </a:r>
            <a:r>
              <a:rPr sz="1500" dirty="0">
                <a:latin typeface="Arial MT"/>
                <a:cs typeface="Arial MT"/>
              </a:rPr>
              <a:t>lock</a:t>
            </a:r>
            <a:r>
              <a:rPr sz="1500" spc="-35" dirty="0">
                <a:latin typeface="Arial MT"/>
                <a:cs typeface="Arial MT"/>
              </a:rPr>
              <a:t> </a:t>
            </a:r>
            <a:r>
              <a:rPr sz="1500" dirty="0">
                <a:latin typeface="Arial MT"/>
                <a:cs typeface="Arial MT"/>
              </a:rPr>
              <a:t>the</a:t>
            </a:r>
            <a:r>
              <a:rPr sz="1500" spc="-35" dirty="0">
                <a:latin typeface="Arial MT"/>
                <a:cs typeface="Arial MT"/>
              </a:rPr>
              <a:t> </a:t>
            </a:r>
            <a:r>
              <a:rPr sz="1500" dirty="0">
                <a:latin typeface="Arial MT"/>
                <a:cs typeface="Arial MT"/>
              </a:rPr>
              <a:t>mutex</a:t>
            </a:r>
            <a:r>
              <a:rPr sz="1500" spc="-35" dirty="0">
                <a:latin typeface="Arial MT"/>
                <a:cs typeface="Arial MT"/>
              </a:rPr>
              <a:t> </a:t>
            </a:r>
            <a:r>
              <a:rPr sz="1500" dirty="0">
                <a:latin typeface="Arial MT"/>
                <a:cs typeface="Arial MT"/>
              </a:rPr>
              <a:t>will</a:t>
            </a:r>
            <a:r>
              <a:rPr sz="1500" spc="-30" dirty="0">
                <a:latin typeface="Arial MT"/>
                <a:cs typeface="Arial MT"/>
              </a:rPr>
              <a:t> </a:t>
            </a:r>
            <a:r>
              <a:rPr sz="1500" dirty="0">
                <a:latin typeface="Arial MT"/>
                <a:cs typeface="Arial MT"/>
              </a:rPr>
              <a:t>be</a:t>
            </a:r>
            <a:r>
              <a:rPr sz="1500" spc="-35" dirty="0">
                <a:latin typeface="Arial MT"/>
                <a:cs typeface="Arial MT"/>
              </a:rPr>
              <a:t> </a:t>
            </a:r>
            <a:r>
              <a:rPr sz="1500" dirty="0">
                <a:latin typeface="Arial MT"/>
                <a:cs typeface="Arial MT"/>
              </a:rPr>
              <a:t>blocked</a:t>
            </a:r>
            <a:r>
              <a:rPr sz="1500" spc="-35" dirty="0">
                <a:latin typeface="Arial MT"/>
                <a:cs typeface="Arial MT"/>
              </a:rPr>
              <a:t> </a:t>
            </a:r>
            <a:r>
              <a:rPr sz="1500" spc="-10" dirty="0">
                <a:latin typeface="Arial MT"/>
                <a:cs typeface="Arial MT"/>
              </a:rPr>
              <a:t>until </a:t>
            </a:r>
            <a:r>
              <a:rPr sz="1500" dirty="0">
                <a:latin typeface="Arial MT"/>
                <a:cs typeface="Arial MT"/>
              </a:rPr>
              <a:t>the</a:t>
            </a:r>
            <a:r>
              <a:rPr sz="1500" spc="-50" dirty="0">
                <a:latin typeface="Arial MT"/>
                <a:cs typeface="Arial MT"/>
              </a:rPr>
              <a:t> </a:t>
            </a:r>
            <a:r>
              <a:rPr sz="1500" dirty="0">
                <a:latin typeface="Arial MT"/>
                <a:cs typeface="Arial MT"/>
              </a:rPr>
              <a:t>mutex</a:t>
            </a:r>
            <a:r>
              <a:rPr sz="1500" spc="-45" dirty="0">
                <a:latin typeface="Arial MT"/>
                <a:cs typeface="Arial MT"/>
              </a:rPr>
              <a:t> </a:t>
            </a:r>
            <a:r>
              <a:rPr sz="1500" dirty="0">
                <a:latin typeface="Arial MT"/>
                <a:cs typeface="Arial MT"/>
              </a:rPr>
              <a:t>is</a:t>
            </a:r>
            <a:r>
              <a:rPr sz="1500" spc="-50" dirty="0">
                <a:latin typeface="Arial MT"/>
                <a:cs typeface="Arial MT"/>
              </a:rPr>
              <a:t> </a:t>
            </a:r>
            <a:r>
              <a:rPr sz="1500" dirty="0">
                <a:latin typeface="Arial MT"/>
                <a:cs typeface="Arial MT"/>
              </a:rPr>
              <a:t>unlocked</a:t>
            </a:r>
            <a:r>
              <a:rPr sz="1500" spc="-45" dirty="0">
                <a:latin typeface="Arial MT"/>
                <a:cs typeface="Arial MT"/>
              </a:rPr>
              <a:t> </a:t>
            </a:r>
            <a:r>
              <a:rPr sz="1500" dirty="0">
                <a:latin typeface="Arial MT"/>
                <a:cs typeface="Arial MT"/>
              </a:rPr>
              <a:t>by</a:t>
            </a:r>
            <a:r>
              <a:rPr sz="1500" spc="-50" dirty="0">
                <a:latin typeface="Arial MT"/>
                <a:cs typeface="Arial MT"/>
              </a:rPr>
              <a:t> </a:t>
            </a:r>
            <a:r>
              <a:rPr sz="1500" dirty="0">
                <a:latin typeface="Arial MT"/>
                <a:cs typeface="Arial MT"/>
              </a:rPr>
              <a:t>the</a:t>
            </a:r>
            <a:r>
              <a:rPr sz="1500" spc="-45" dirty="0">
                <a:latin typeface="Arial MT"/>
                <a:cs typeface="Arial MT"/>
              </a:rPr>
              <a:t> </a:t>
            </a:r>
            <a:r>
              <a:rPr sz="1500" dirty="0">
                <a:latin typeface="Arial MT"/>
                <a:cs typeface="Arial MT"/>
              </a:rPr>
              <a:t>owning</a:t>
            </a:r>
            <a:r>
              <a:rPr sz="1500" spc="-50" dirty="0">
                <a:latin typeface="Arial MT"/>
                <a:cs typeface="Arial MT"/>
              </a:rPr>
              <a:t> </a:t>
            </a:r>
            <a:r>
              <a:rPr sz="1500" spc="-10" dirty="0">
                <a:latin typeface="Arial MT"/>
                <a:cs typeface="Arial MT"/>
              </a:rPr>
              <a:t>thread.</a:t>
            </a:r>
            <a:endParaRPr sz="1500">
              <a:latin typeface="Arial MT"/>
              <a:cs typeface="Arial MT"/>
            </a:endParaRPr>
          </a:p>
          <a:p>
            <a:pPr marL="400050" indent="-387350">
              <a:lnSpc>
                <a:spcPct val="100000"/>
              </a:lnSpc>
              <a:spcBef>
                <a:spcPts val="270"/>
              </a:spcBef>
              <a:buFont typeface="Arial MT"/>
              <a:buAutoNum type="arabicPeriod"/>
              <a:tabLst>
                <a:tab pos="400050" algn="l"/>
              </a:tabLst>
            </a:pPr>
            <a:r>
              <a:rPr sz="1500" b="1" dirty="0">
                <a:latin typeface="Arial"/>
                <a:cs typeface="Arial"/>
              </a:rPr>
              <a:t>Critical</a:t>
            </a:r>
            <a:r>
              <a:rPr sz="1500" b="1" spc="-65" dirty="0">
                <a:latin typeface="Arial"/>
                <a:cs typeface="Arial"/>
              </a:rPr>
              <a:t> </a:t>
            </a:r>
            <a:r>
              <a:rPr sz="1500" b="1" dirty="0">
                <a:latin typeface="Arial"/>
                <a:cs typeface="Arial"/>
              </a:rPr>
              <a:t>Section</a:t>
            </a:r>
            <a:r>
              <a:rPr sz="1500" b="1" spc="-65" dirty="0">
                <a:latin typeface="Arial"/>
                <a:cs typeface="Arial"/>
              </a:rPr>
              <a:t> </a:t>
            </a:r>
            <a:r>
              <a:rPr sz="1500" b="1" spc="-10" dirty="0">
                <a:latin typeface="Arial"/>
                <a:cs typeface="Arial"/>
              </a:rPr>
              <a:t>Protection</a:t>
            </a:r>
            <a:r>
              <a:rPr sz="1500" spc="-10" dirty="0">
                <a:latin typeface="Arial MT"/>
                <a:cs typeface="Arial MT"/>
              </a:rPr>
              <a:t>:</a:t>
            </a:r>
            <a:endParaRPr sz="1500">
              <a:latin typeface="Arial MT"/>
              <a:cs typeface="Arial MT"/>
            </a:endParaRPr>
          </a:p>
          <a:p>
            <a:pPr marL="857250" marR="5080" lvl="1" indent="-344170">
              <a:lnSpc>
                <a:spcPct val="114999"/>
              </a:lnSpc>
              <a:buChar char="○"/>
              <a:tabLst>
                <a:tab pos="857250" algn="l"/>
              </a:tabLst>
            </a:pPr>
            <a:r>
              <a:rPr sz="1500" dirty="0">
                <a:latin typeface="Arial MT"/>
                <a:cs typeface="Arial MT"/>
              </a:rPr>
              <a:t>By</a:t>
            </a:r>
            <a:r>
              <a:rPr sz="1500" spc="-50" dirty="0">
                <a:latin typeface="Arial MT"/>
                <a:cs typeface="Arial MT"/>
              </a:rPr>
              <a:t> </a:t>
            </a:r>
            <a:r>
              <a:rPr sz="1500" dirty="0">
                <a:latin typeface="Arial MT"/>
                <a:cs typeface="Arial MT"/>
              </a:rPr>
              <a:t>locking</a:t>
            </a:r>
            <a:r>
              <a:rPr sz="1500" spc="-50" dirty="0">
                <a:latin typeface="Arial MT"/>
                <a:cs typeface="Arial MT"/>
              </a:rPr>
              <a:t> </a:t>
            </a:r>
            <a:r>
              <a:rPr sz="1500" dirty="0">
                <a:latin typeface="Arial MT"/>
                <a:cs typeface="Arial MT"/>
              </a:rPr>
              <a:t>a</a:t>
            </a:r>
            <a:r>
              <a:rPr sz="1500" spc="-50" dirty="0">
                <a:latin typeface="Arial MT"/>
                <a:cs typeface="Arial MT"/>
              </a:rPr>
              <a:t> </a:t>
            </a:r>
            <a:r>
              <a:rPr sz="1500" dirty="0">
                <a:latin typeface="Arial MT"/>
                <a:cs typeface="Arial MT"/>
              </a:rPr>
              <a:t>mutex</a:t>
            </a:r>
            <a:r>
              <a:rPr sz="1500" spc="-45" dirty="0">
                <a:latin typeface="Arial MT"/>
                <a:cs typeface="Arial MT"/>
              </a:rPr>
              <a:t> </a:t>
            </a:r>
            <a:r>
              <a:rPr sz="1500" dirty="0">
                <a:latin typeface="Arial MT"/>
                <a:cs typeface="Arial MT"/>
              </a:rPr>
              <a:t>before</a:t>
            </a:r>
            <a:r>
              <a:rPr sz="1500" spc="-50" dirty="0">
                <a:latin typeface="Arial MT"/>
                <a:cs typeface="Arial MT"/>
              </a:rPr>
              <a:t> </a:t>
            </a:r>
            <a:r>
              <a:rPr sz="1500" dirty="0">
                <a:latin typeface="Arial MT"/>
                <a:cs typeface="Arial MT"/>
              </a:rPr>
              <a:t>entering</a:t>
            </a:r>
            <a:r>
              <a:rPr sz="1500" spc="-50" dirty="0">
                <a:latin typeface="Arial MT"/>
                <a:cs typeface="Arial MT"/>
              </a:rPr>
              <a:t> </a:t>
            </a:r>
            <a:r>
              <a:rPr sz="1500" dirty="0">
                <a:latin typeface="Arial MT"/>
                <a:cs typeface="Arial MT"/>
              </a:rPr>
              <a:t>a</a:t>
            </a:r>
            <a:r>
              <a:rPr sz="1500" spc="-45" dirty="0">
                <a:latin typeface="Arial MT"/>
                <a:cs typeface="Arial MT"/>
              </a:rPr>
              <a:t> </a:t>
            </a:r>
            <a:r>
              <a:rPr sz="1500" dirty="0">
                <a:latin typeface="Arial MT"/>
                <a:cs typeface="Arial MT"/>
              </a:rPr>
              <a:t>critical</a:t>
            </a:r>
            <a:r>
              <a:rPr sz="1500" spc="-50" dirty="0">
                <a:latin typeface="Arial MT"/>
                <a:cs typeface="Arial MT"/>
              </a:rPr>
              <a:t> </a:t>
            </a:r>
            <a:r>
              <a:rPr sz="1500" dirty="0">
                <a:latin typeface="Arial MT"/>
                <a:cs typeface="Arial MT"/>
              </a:rPr>
              <a:t>section</a:t>
            </a:r>
            <a:r>
              <a:rPr sz="1500" spc="-50" dirty="0">
                <a:latin typeface="Arial MT"/>
                <a:cs typeface="Arial MT"/>
              </a:rPr>
              <a:t> </a:t>
            </a:r>
            <a:r>
              <a:rPr sz="1500" dirty="0">
                <a:latin typeface="Arial MT"/>
                <a:cs typeface="Arial MT"/>
              </a:rPr>
              <a:t>and</a:t>
            </a:r>
            <a:r>
              <a:rPr sz="1500" spc="-45" dirty="0">
                <a:latin typeface="Arial MT"/>
                <a:cs typeface="Arial MT"/>
              </a:rPr>
              <a:t> </a:t>
            </a:r>
            <a:r>
              <a:rPr sz="1500" spc="-10" dirty="0">
                <a:latin typeface="Arial MT"/>
                <a:cs typeface="Arial MT"/>
              </a:rPr>
              <a:t>unlocking</a:t>
            </a:r>
            <a:r>
              <a:rPr sz="1500" spc="-50" dirty="0">
                <a:latin typeface="Arial MT"/>
                <a:cs typeface="Arial MT"/>
              </a:rPr>
              <a:t> </a:t>
            </a:r>
            <a:r>
              <a:rPr sz="1500" dirty="0">
                <a:latin typeface="Arial MT"/>
                <a:cs typeface="Arial MT"/>
              </a:rPr>
              <a:t>it</a:t>
            </a:r>
            <a:r>
              <a:rPr sz="1500" spc="-50" dirty="0">
                <a:latin typeface="Arial MT"/>
                <a:cs typeface="Arial MT"/>
              </a:rPr>
              <a:t> </a:t>
            </a:r>
            <a:r>
              <a:rPr sz="1500" spc="-10" dirty="0">
                <a:latin typeface="Arial MT"/>
                <a:cs typeface="Arial MT"/>
              </a:rPr>
              <a:t>afterward,</a:t>
            </a:r>
            <a:r>
              <a:rPr sz="1500" spc="-45" dirty="0">
                <a:latin typeface="Arial MT"/>
                <a:cs typeface="Arial MT"/>
              </a:rPr>
              <a:t> </a:t>
            </a:r>
            <a:r>
              <a:rPr sz="1500" dirty="0">
                <a:latin typeface="Arial MT"/>
                <a:cs typeface="Arial MT"/>
              </a:rPr>
              <a:t>you</a:t>
            </a:r>
            <a:r>
              <a:rPr sz="1500" spc="-50" dirty="0">
                <a:latin typeface="Arial MT"/>
                <a:cs typeface="Arial MT"/>
              </a:rPr>
              <a:t> </a:t>
            </a:r>
            <a:r>
              <a:rPr sz="1500" dirty="0">
                <a:latin typeface="Arial MT"/>
                <a:cs typeface="Arial MT"/>
              </a:rPr>
              <a:t>prevent</a:t>
            </a:r>
            <a:r>
              <a:rPr sz="1500" spc="-50" dirty="0">
                <a:latin typeface="Arial MT"/>
                <a:cs typeface="Arial MT"/>
              </a:rPr>
              <a:t> </a:t>
            </a:r>
            <a:r>
              <a:rPr sz="1500" dirty="0">
                <a:latin typeface="Arial MT"/>
                <a:cs typeface="Arial MT"/>
              </a:rPr>
              <a:t>race</a:t>
            </a:r>
            <a:r>
              <a:rPr sz="1500" spc="-50" dirty="0">
                <a:latin typeface="Arial MT"/>
                <a:cs typeface="Arial MT"/>
              </a:rPr>
              <a:t> </a:t>
            </a:r>
            <a:r>
              <a:rPr sz="1500" dirty="0">
                <a:latin typeface="Arial MT"/>
                <a:cs typeface="Arial MT"/>
              </a:rPr>
              <a:t>conditions</a:t>
            </a:r>
            <a:r>
              <a:rPr sz="1500" spc="-45" dirty="0">
                <a:latin typeface="Arial MT"/>
                <a:cs typeface="Arial MT"/>
              </a:rPr>
              <a:t> </a:t>
            </a:r>
            <a:r>
              <a:rPr sz="1500" spc="-25" dirty="0">
                <a:latin typeface="Arial MT"/>
                <a:cs typeface="Arial MT"/>
              </a:rPr>
              <a:t>and </a:t>
            </a:r>
            <a:r>
              <a:rPr sz="1500" dirty="0">
                <a:latin typeface="Arial MT"/>
                <a:cs typeface="Arial MT"/>
              </a:rPr>
              <a:t>ensure</a:t>
            </a:r>
            <a:r>
              <a:rPr sz="1500" spc="-65" dirty="0">
                <a:latin typeface="Arial MT"/>
                <a:cs typeface="Arial MT"/>
              </a:rPr>
              <a:t> </a:t>
            </a:r>
            <a:r>
              <a:rPr sz="1500" dirty="0">
                <a:latin typeface="Arial MT"/>
                <a:cs typeface="Arial MT"/>
              </a:rPr>
              <a:t>data</a:t>
            </a:r>
            <a:r>
              <a:rPr sz="1500" spc="-65" dirty="0">
                <a:latin typeface="Arial MT"/>
                <a:cs typeface="Arial MT"/>
              </a:rPr>
              <a:t> </a:t>
            </a:r>
            <a:r>
              <a:rPr sz="1500" spc="-10" dirty="0">
                <a:latin typeface="Arial MT"/>
                <a:cs typeface="Arial MT"/>
              </a:rPr>
              <a:t>consistency.</a:t>
            </a:r>
            <a:endParaRPr sz="1500">
              <a:latin typeface="Arial MT"/>
              <a:cs typeface="Arial MT"/>
            </a:endParaRPr>
          </a:p>
          <a:p>
            <a:pPr marL="400050" indent="-387350">
              <a:lnSpc>
                <a:spcPct val="100000"/>
              </a:lnSpc>
              <a:spcBef>
                <a:spcPts val="270"/>
              </a:spcBef>
              <a:buFont typeface="Arial MT"/>
              <a:buAutoNum type="arabicPeriod"/>
              <a:tabLst>
                <a:tab pos="400050" algn="l"/>
              </a:tabLst>
            </a:pPr>
            <a:r>
              <a:rPr sz="1500" b="1" dirty="0">
                <a:latin typeface="Arial"/>
                <a:cs typeface="Arial"/>
              </a:rPr>
              <a:t>Thread</a:t>
            </a:r>
            <a:r>
              <a:rPr sz="1500" b="1" spc="-30" dirty="0">
                <a:latin typeface="Arial"/>
                <a:cs typeface="Arial"/>
              </a:rPr>
              <a:t> </a:t>
            </a:r>
            <a:r>
              <a:rPr sz="1500" b="1" spc="-10" dirty="0">
                <a:latin typeface="Arial"/>
                <a:cs typeface="Arial"/>
              </a:rPr>
              <a:t>Safety</a:t>
            </a:r>
            <a:r>
              <a:rPr sz="1500" spc="-10" dirty="0">
                <a:latin typeface="Arial MT"/>
                <a:cs typeface="Arial MT"/>
              </a:rPr>
              <a:t>:</a:t>
            </a:r>
            <a:endParaRPr sz="1500">
              <a:latin typeface="Arial MT"/>
              <a:cs typeface="Arial MT"/>
            </a:endParaRPr>
          </a:p>
          <a:p>
            <a:pPr marL="857250" lvl="1" indent="-344170">
              <a:lnSpc>
                <a:spcPct val="100000"/>
              </a:lnSpc>
              <a:spcBef>
                <a:spcPts val="270"/>
              </a:spcBef>
              <a:buChar char="○"/>
              <a:tabLst>
                <a:tab pos="857250" algn="l"/>
              </a:tabLst>
            </a:pPr>
            <a:r>
              <a:rPr sz="1500" dirty="0">
                <a:latin typeface="Arial MT"/>
                <a:cs typeface="Arial MT"/>
              </a:rPr>
              <a:t>Mutexes</a:t>
            </a:r>
            <a:r>
              <a:rPr sz="1500" spc="-50" dirty="0">
                <a:latin typeface="Arial MT"/>
                <a:cs typeface="Arial MT"/>
              </a:rPr>
              <a:t> </a:t>
            </a:r>
            <a:r>
              <a:rPr sz="1500" dirty="0">
                <a:latin typeface="Arial MT"/>
                <a:cs typeface="Arial MT"/>
              </a:rPr>
              <a:t>enable</a:t>
            </a:r>
            <a:r>
              <a:rPr sz="1500" spc="-45" dirty="0">
                <a:latin typeface="Arial MT"/>
                <a:cs typeface="Arial MT"/>
              </a:rPr>
              <a:t> </a:t>
            </a:r>
            <a:r>
              <a:rPr sz="1500" dirty="0">
                <a:latin typeface="Arial MT"/>
                <a:cs typeface="Arial MT"/>
              </a:rPr>
              <a:t>safe</a:t>
            </a:r>
            <a:r>
              <a:rPr sz="1500" spc="-45" dirty="0">
                <a:latin typeface="Arial MT"/>
                <a:cs typeface="Arial MT"/>
              </a:rPr>
              <a:t> </a:t>
            </a:r>
            <a:r>
              <a:rPr sz="1500" dirty="0">
                <a:latin typeface="Arial MT"/>
                <a:cs typeface="Arial MT"/>
              </a:rPr>
              <a:t>access</a:t>
            </a:r>
            <a:r>
              <a:rPr sz="1500" spc="-50" dirty="0">
                <a:latin typeface="Arial MT"/>
                <a:cs typeface="Arial MT"/>
              </a:rPr>
              <a:t> </a:t>
            </a:r>
            <a:r>
              <a:rPr sz="1500" dirty="0">
                <a:latin typeface="Arial MT"/>
                <a:cs typeface="Arial MT"/>
              </a:rPr>
              <a:t>to</a:t>
            </a:r>
            <a:r>
              <a:rPr sz="1500" spc="-45" dirty="0">
                <a:latin typeface="Arial MT"/>
                <a:cs typeface="Arial MT"/>
              </a:rPr>
              <a:t> </a:t>
            </a:r>
            <a:r>
              <a:rPr sz="1500" dirty="0">
                <a:latin typeface="Arial MT"/>
                <a:cs typeface="Arial MT"/>
              </a:rPr>
              <a:t>shared</a:t>
            </a:r>
            <a:r>
              <a:rPr sz="1500" spc="-45" dirty="0">
                <a:latin typeface="Arial MT"/>
                <a:cs typeface="Arial MT"/>
              </a:rPr>
              <a:t> </a:t>
            </a:r>
            <a:r>
              <a:rPr sz="1500" dirty="0">
                <a:latin typeface="Arial MT"/>
                <a:cs typeface="Arial MT"/>
              </a:rPr>
              <a:t>resources</a:t>
            </a:r>
            <a:r>
              <a:rPr sz="1500" spc="-50" dirty="0">
                <a:latin typeface="Arial MT"/>
                <a:cs typeface="Arial MT"/>
              </a:rPr>
              <a:t> </a:t>
            </a:r>
            <a:r>
              <a:rPr sz="1500" dirty="0">
                <a:latin typeface="Arial MT"/>
                <a:cs typeface="Arial MT"/>
              </a:rPr>
              <a:t>(e.g.,</a:t>
            </a:r>
            <a:r>
              <a:rPr sz="1500" spc="-45" dirty="0">
                <a:latin typeface="Arial MT"/>
                <a:cs typeface="Arial MT"/>
              </a:rPr>
              <a:t> </a:t>
            </a:r>
            <a:r>
              <a:rPr sz="1500" spc="-10" dirty="0">
                <a:latin typeface="Arial MT"/>
                <a:cs typeface="Arial MT"/>
              </a:rPr>
              <a:t>variables,</a:t>
            </a:r>
            <a:r>
              <a:rPr sz="1500" spc="-45" dirty="0">
                <a:latin typeface="Arial MT"/>
                <a:cs typeface="Arial MT"/>
              </a:rPr>
              <a:t> </a:t>
            </a:r>
            <a:r>
              <a:rPr sz="1500" dirty="0">
                <a:latin typeface="Arial MT"/>
                <a:cs typeface="Arial MT"/>
              </a:rPr>
              <a:t>file</a:t>
            </a:r>
            <a:r>
              <a:rPr sz="1500" spc="-45" dirty="0">
                <a:latin typeface="Arial MT"/>
                <a:cs typeface="Arial MT"/>
              </a:rPr>
              <a:t> </a:t>
            </a:r>
            <a:r>
              <a:rPr sz="1500" dirty="0">
                <a:latin typeface="Arial MT"/>
                <a:cs typeface="Arial MT"/>
              </a:rPr>
              <a:t>descriptors)</a:t>
            </a:r>
            <a:r>
              <a:rPr sz="1500" spc="-50" dirty="0">
                <a:latin typeface="Arial MT"/>
                <a:cs typeface="Arial MT"/>
              </a:rPr>
              <a:t> </a:t>
            </a:r>
            <a:r>
              <a:rPr sz="1500" dirty="0">
                <a:latin typeface="Arial MT"/>
                <a:cs typeface="Arial MT"/>
              </a:rPr>
              <a:t>in</a:t>
            </a:r>
            <a:r>
              <a:rPr sz="1500" spc="-45" dirty="0">
                <a:latin typeface="Arial MT"/>
                <a:cs typeface="Arial MT"/>
              </a:rPr>
              <a:t> </a:t>
            </a:r>
            <a:r>
              <a:rPr sz="1500" spc="-10" dirty="0">
                <a:latin typeface="Arial MT"/>
                <a:cs typeface="Arial MT"/>
              </a:rPr>
              <a:t>concurrent</a:t>
            </a:r>
            <a:r>
              <a:rPr sz="1500" spc="-45" dirty="0">
                <a:latin typeface="Arial MT"/>
                <a:cs typeface="Arial MT"/>
              </a:rPr>
              <a:t> </a:t>
            </a:r>
            <a:r>
              <a:rPr sz="1500" spc="-10" dirty="0">
                <a:latin typeface="Arial MT"/>
                <a:cs typeface="Arial MT"/>
              </a:rPr>
              <a:t>environments.</a:t>
            </a:r>
            <a:endParaRPr sz="1500">
              <a:latin typeface="Arial MT"/>
              <a:cs typeface="Arial MT"/>
            </a:endParaRPr>
          </a:p>
          <a:p>
            <a:pPr marL="400050" indent="-387350">
              <a:lnSpc>
                <a:spcPct val="100000"/>
              </a:lnSpc>
              <a:spcBef>
                <a:spcPts val="270"/>
              </a:spcBef>
              <a:buFont typeface="Arial MT"/>
              <a:buAutoNum type="arabicPeriod"/>
              <a:tabLst>
                <a:tab pos="400050" algn="l"/>
              </a:tabLst>
            </a:pPr>
            <a:r>
              <a:rPr sz="1500" b="1" dirty="0">
                <a:latin typeface="Arial"/>
                <a:cs typeface="Arial"/>
              </a:rPr>
              <a:t>Blocking</a:t>
            </a:r>
            <a:r>
              <a:rPr sz="1500" b="1" spc="-40" dirty="0">
                <a:latin typeface="Arial"/>
                <a:cs typeface="Arial"/>
              </a:rPr>
              <a:t> </a:t>
            </a:r>
            <a:r>
              <a:rPr sz="1500" b="1" spc="-10" dirty="0">
                <a:latin typeface="Arial"/>
                <a:cs typeface="Arial"/>
              </a:rPr>
              <a:t>Behavior</a:t>
            </a:r>
            <a:r>
              <a:rPr sz="1500" spc="-10" dirty="0">
                <a:latin typeface="Arial MT"/>
                <a:cs typeface="Arial MT"/>
              </a:rPr>
              <a:t>:</a:t>
            </a:r>
            <a:endParaRPr sz="1500">
              <a:latin typeface="Arial MT"/>
              <a:cs typeface="Arial MT"/>
            </a:endParaRPr>
          </a:p>
          <a:p>
            <a:pPr marL="857250" lvl="1" indent="-344170">
              <a:lnSpc>
                <a:spcPct val="100000"/>
              </a:lnSpc>
              <a:spcBef>
                <a:spcPts val="270"/>
              </a:spcBef>
              <a:buChar char="○"/>
              <a:tabLst>
                <a:tab pos="857250" algn="l"/>
              </a:tabLst>
            </a:pPr>
            <a:r>
              <a:rPr sz="1500" dirty="0">
                <a:latin typeface="Arial MT"/>
                <a:cs typeface="Arial MT"/>
              </a:rPr>
              <a:t>Threads</a:t>
            </a:r>
            <a:r>
              <a:rPr sz="1500" spc="-45" dirty="0">
                <a:latin typeface="Arial MT"/>
                <a:cs typeface="Arial MT"/>
              </a:rPr>
              <a:t> </a:t>
            </a:r>
            <a:r>
              <a:rPr sz="1500" spc="-10" dirty="0">
                <a:latin typeface="Arial MT"/>
                <a:cs typeface="Arial MT"/>
              </a:rPr>
              <a:t>attempting</a:t>
            </a:r>
            <a:r>
              <a:rPr sz="1500" spc="-40" dirty="0">
                <a:latin typeface="Arial MT"/>
                <a:cs typeface="Arial MT"/>
              </a:rPr>
              <a:t> </a:t>
            </a:r>
            <a:r>
              <a:rPr sz="1500" dirty="0">
                <a:latin typeface="Arial MT"/>
                <a:cs typeface="Arial MT"/>
              </a:rPr>
              <a:t>to</a:t>
            </a:r>
            <a:r>
              <a:rPr sz="1500" spc="-40" dirty="0">
                <a:latin typeface="Arial MT"/>
                <a:cs typeface="Arial MT"/>
              </a:rPr>
              <a:t> </a:t>
            </a:r>
            <a:r>
              <a:rPr sz="1500" dirty="0">
                <a:latin typeface="Arial MT"/>
                <a:cs typeface="Arial MT"/>
              </a:rPr>
              <a:t>acquire</a:t>
            </a:r>
            <a:r>
              <a:rPr sz="1500" spc="-40" dirty="0">
                <a:latin typeface="Arial MT"/>
                <a:cs typeface="Arial MT"/>
              </a:rPr>
              <a:t> </a:t>
            </a:r>
            <a:r>
              <a:rPr sz="1500" dirty="0">
                <a:latin typeface="Arial MT"/>
                <a:cs typeface="Arial MT"/>
              </a:rPr>
              <a:t>a</a:t>
            </a:r>
            <a:r>
              <a:rPr sz="1500" spc="-40" dirty="0">
                <a:latin typeface="Arial MT"/>
                <a:cs typeface="Arial MT"/>
              </a:rPr>
              <a:t> </a:t>
            </a:r>
            <a:r>
              <a:rPr sz="1500" dirty="0">
                <a:latin typeface="Arial MT"/>
                <a:cs typeface="Arial MT"/>
              </a:rPr>
              <a:t>locked</a:t>
            </a:r>
            <a:r>
              <a:rPr sz="1500" spc="-40" dirty="0">
                <a:latin typeface="Arial MT"/>
                <a:cs typeface="Arial MT"/>
              </a:rPr>
              <a:t> </a:t>
            </a:r>
            <a:r>
              <a:rPr sz="1500" dirty="0">
                <a:latin typeface="Arial MT"/>
                <a:cs typeface="Arial MT"/>
              </a:rPr>
              <a:t>mutex</a:t>
            </a:r>
            <a:r>
              <a:rPr sz="1500" spc="-40" dirty="0">
                <a:latin typeface="Arial MT"/>
                <a:cs typeface="Arial MT"/>
              </a:rPr>
              <a:t> </a:t>
            </a:r>
            <a:r>
              <a:rPr sz="1500" dirty="0">
                <a:latin typeface="Arial MT"/>
                <a:cs typeface="Arial MT"/>
              </a:rPr>
              <a:t>will</a:t>
            </a:r>
            <a:r>
              <a:rPr sz="1500" spc="-40" dirty="0">
                <a:latin typeface="Arial MT"/>
                <a:cs typeface="Arial MT"/>
              </a:rPr>
              <a:t> </a:t>
            </a:r>
            <a:r>
              <a:rPr sz="1500" dirty="0">
                <a:latin typeface="Arial MT"/>
                <a:cs typeface="Arial MT"/>
              </a:rPr>
              <a:t>wait</a:t>
            </a:r>
            <a:r>
              <a:rPr sz="1500" spc="-40" dirty="0">
                <a:latin typeface="Arial MT"/>
                <a:cs typeface="Arial MT"/>
              </a:rPr>
              <a:t> </a:t>
            </a:r>
            <a:r>
              <a:rPr sz="1500" dirty="0">
                <a:latin typeface="Arial MT"/>
                <a:cs typeface="Arial MT"/>
              </a:rPr>
              <a:t>(block)</a:t>
            </a:r>
            <a:r>
              <a:rPr sz="1500" spc="-40" dirty="0">
                <a:latin typeface="Arial MT"/>
                <a:cs typeface="Arial MT"/>
              </a:rPr>
              <a:t> </a:t>
            </a:r>
            <a:r>
              <a:rPr sz="1500" dirty="0">
                <a:latin typeface="Arial MT"/>
                <a:cs typeface="Arial MT"/>
              </a:rPr>
              <a:t>until</a:t>
            </a:r>
            <a:r>
              <a:rPr sz="1500" spc="-40" dirty="0">
                <a:latin typeface="Arial MT"/>
                <a:cs typeface="Arial MT"/>
              </a:rPr>
              <a:t> </a:t>
            </a:r>
            <a:r>
              <a:rPr sz="1500" dirty="0">
                <a:latin typeface="Arial MT"/>
                <a:cs typeface="Arial MT"/>
              </a:rPr>
              <a:t>it</a:t>
            </a:r>
            <a:r>
              <a:rPr sz="1500" spc="-40" dirty="0">
                <a:latin typeface="Arial MT"/>
                <a:cs typeface="Arial MT"/>
              </a:rPr>
              <a:t> </a:t>
            </a:r>
            <a:r>
              <a:rPr sz="1500" dirty="0">
                <a:latin typeface="Arial MT"/>
                <a:cs typeface="Arial MT"/>
              </a:rPr>
              <a:t>is</a:t>
            </a:r>
            <a:r>
              <a:rPr sz="1500" spc="-40" dirty="0">
                <a:latin typeface="Arial MT"/>
                <a:cs typeface="Arial MT"/>
              </a:rPr>
              <a:t> </a:t>
            </a:r>
            <a:r>
              <a:rPr sz="1500" spc="-10" dirty="0">
                <a:latin typeface="Arial MT"/>
                <a:cs typeface="Arial MT"/>
              </a:rPr>
              <a:t>unlocked.</a:t>
            </a:r>
            <a:endParaRPr sz="1500">
              <a:latin typeface="Arial MT"/>
              <a:cs typeface="Arial MT"/>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0375" y="1442973"/>
            <a:ext cx="3399790" cy="406400"/>
          </a:xfrm>
          <a:prstGeom prst="rect">
            <a:avLst/>
          </a:prstGeom>
        </p:spPr>
        <p:txBody>
          <a:bodyPr vert="horz" wrap="square" lIns="0" tIns="12700" rIns="0" bIns="0" rtlCol="0">
            <a:spAutoFit/>
          </a:bodyPr>
          <a:lstStyle/>
          <a:p>
            <a:pPr marL="12700">
              <a:lnSpc>
                <a:spcPct val="100000"/>
              </a:lnSpc>
              <a:spcBef>
                <a:spcPts val="100"/>
              </a:spcBef>
            </a:pPr>
            <a:r>
              <a:rPr dirty="0"/>
              <a:t>Thread</a:t>
            </a:r>
            <a:r>
              <a:rPr spc="-110" dirty="0"/>
              <a:t> </a:t>
            </a:r>
            <a:r>
              <a:rPr spc="-10" dirty="0"/>
              <a:t>Synchronization</a:t>
            </a:r>
          </a:p>
        </p:txBody>
      </p:sp>
      <p:sp>
        <p:nvSpPr>
          <p:cNvPr id="3" name="object 3"/>
          <p:cNvSpPr txBox="1"/>
          <p:nvPr/>
        </p:nvSpPr>
        <p:spPr>
          <a:xfrm>
            <a:off x="410375" y="1797963"/>
            <a:ext cx="468630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0F2044"/>
                </a:solidFill>
                <a:latin typeface="Georgia"/>
                <a:cs typeface="Georgia"/>
              </a:rPr>
              <a:t>Mutual</a:t>
            </a:r>
            <a:r>
              <a:rPr sz="1800" spc="-60" dirty="0">
                <a:solidFill>
                  <a:srgbClr val="0F2044"/>
                </a:solidFill>
                <a:latin typeface="Georgia"/>
                <a:cs typeface="Georgia"/>
              </a:rPr>
              <a:t> </a:t>
            </a:r>
            <a:r>
              <a:rPr sz="1800" dirty="0">
                <a:solidFill>
                  <a:srgbClr val="0F2044"/>
                </a:solidFill>
                <a:latin typeface="Georgia"/>
                <a:cs typeface="Georgia"/>
              </a:rPr>
              <a:t>Exclusion:</a:t>
            </a:r>
            <a:r>
              <a:rPr sz="1800" spc="-55" dirty="0">
                <a:solidFill>
                  <a:srgbClr val="0F2044"/>
                </a:solidFill>
                <a:latin typeface="Georgia"/>
                <a:cs typeface="Georgia"/>
              </a:rPr>
              <a:t> </a:t>
            </a:r>
            <a:r>
              <a:rPr sz="1800" dirty="0">
                <a:solidFill>
                  <a:srgbClr val="0F2044"/>
                </a:solidFill>
                <a:latin typeface="Georgia"/>
                <a:cs typeface="Georgia"/>
              </a:rPr>
              <a:t>Mutexes</a:t>
            </a:r>
            <a:r>
              <a:rPr sz="1800" spc="-60" dirty="0">
                <a:solidFill>
                  <a:srgbClr val="0F2044"/>
                </a:solidFill>
                <a:latin typeface="Georgia"/>
                <a:cs typeface="Georgia"/>
              </a:rPr>
              <a:t> </a:t>
            </a:r>
            <a:r>
              <a:rPr sz="1800" dirty="0">
                <a:solidFill>
                  <a:srgbClr val="0F2044"/>
                </a:solidFill>
                <a:latin typeface="Georgia"/>
                <a:cs typeface="Georgia"/>
              </a:rPr>
              <a:t>-</a:t>
            </a:r>
            <a:r>
              <a:rPr sz="1800" spc="-55" dirty="0">
                <a:solidFill>
                  <a:srgbClr val="0F2044"/>
                </a:solidFill>
                <a:latin typeface="Georgia"/>
                <a:cs typeface="Georgia"/>
              </a:rPr>
              <a:t> </a:t>
            </a:r>
            <a:r>
              <a:rPr sz="1800" spc="-10" dirty="0">
                <a:solidFill>
                  <a:srgbClr val="0F2044"/>
                </a:solidFill>
                <a:latin typeface="Georgia"/>
                <a:cs typeface="Georgia"/>
              </a:rPr>
              <a:t>Pthreads</a:t>
            </a:r>
            <a:r>
              <a:rPr sz="1800" spc="-55" dirty="0">
                <a:solidFill>
                  <a:srgbClr val="0F2044"/>
                </a:solidFill>
                <a:latin typeface="Georgia"/>
                <a:cs typeface="Georgia"/>
              </a:rPr>
              <a:t> </a:t>
            </a:r>
            <a:r>
              <a:rPr sz="1800" spc="-10" dirty="0">
                <a:solidFill>
                  <a:srgbClr val="0F2044"/>
                </a:solidFill>
                <a:latin typeface="Georgia"/>
                <a:cs typeface="Georgia"/>
              </a:rPr>
              <a:t>Library</a:t>
            </a:r>
            <a:endParaRPr sz="1800">
              <a:latin typeface="Georgia"/>
              <a:cs typeface="Georgia"/>
            </a:endParaRPr>
          </a:p>
        </p:txBody>
      </p:sp>
      <p:sp>
        <p:nvSpPr>
          <p:cNvPr id="4" name="object 4"/>
          <p:cNvSpPr txBox="1"/>
          <p:nvPr/>
        </p:nvSpPr>
        <p:spPr>
          <a:xfrm>
            <a:off x="498774" y="2303882"/>
            <a:ext cx="4491990" cy="2865120"/>
          </a:xfrm>
          <a:prstGeom prst="rect">
            <a:avLst/>
          </a:prstGeom>
        </p:spPr>
        <p:txBody>
          <a:bodyPr vert="horz" wrap="square" lIns="0" tIns="12700" rIns="0" bIns="0" rtlCol="0">
            <a:spAutoFit/>
          </a:bodyPr>
          <a:lstStyle/>
          <a:p>
            <a:pPr marL="379095" marR="377825" indent="-367030">
              <a:lnSpc>
                <a:spcPct val="114999"/>
              </a:lnSpc>
              <a:spcBef>
                <a:spcPts val="100"/>
              </a:spcBef>
              <a:buClr>
                <a:srgbClr val="000000"/>
              </a:buClr>
              <a:buFont typeface="Arial MT"/>
              <a:buChar char="●"/>
              <a:tabLst>
                <a:tab pos="379095" algn="l"/>
              </a:tabLst>
            </a:pPr>
            <a:r>
              <a:rPr sz="1800" b="1" dirty="0">
                <a:solidFill>
                  <a:srgbClr val="188037"/>
                </a:solidFill>
                <a:latin typeface="Courier New"/>
                <a:cs typeface="Courier New"/>
              </a:rPr>
              <a:t>pthread_mutex_init</a:t>
            </a:r>
            <a:r>
              <a:rPr sz="1800" dirty="0">
                <a:latin typeface="Arial MT"/>
                <a:cs typeface="Arial MT"/>
              </a:rPr>
              <a:t>:</a:t>
            </a:r>
            <a:r>
              <a:rPr sz="1800" spc="-60" dirty="0">
                <a:latin typeface="Arial MT"/>
                <a:cs typeface="Arial MT"/>
              </a:rPr>
              <a:t> </a:t>
            </a:r>
            <a:r>
              <a:rPr sz="1800" dirty="0">
                <a:latin typeface="Arial MT"/>
                <a:cs typeface="Arial MT"/>
              </a:rPr>
              <a:t>Initializes</a:t>
            </a:r>
            <a:r>
              <a:rPr sz="1800" spc="-45" dirty="0">
                <a:latin typeface="Arial MT"/>
                <a:cs typeface="Arial MT"/>
              </a:rPr>
              <a:t> </a:t>
            </a:r>
            <a:r>
              <a:rPr sz="1800" spc="-50" dirty="0">
                <a:latin typeface="Arial MT"/>
                <a:cs typeface="Arial MT"/>
              </a:rPr>
              <a:t>a </a:t>
            </a:r>
            <a:r>
              <a:rPr sz="1800" spc="-10" dirty="0">
                <a:latin typeface="Arial MT"/>
                <a:cs typeface="Arial MT"/>
              </a:rPr>
              <a:t>mutex.</a:t>
            </a:r>
            <a:endParaRPr sz="1800">
              <a:latin typeface="Arial MT"/>
              <a:cs typeface="Arial MT"/>
            </a:endParaRPr>
          </a:p>
          <a:p>
            <a:pPr marL="379095" marR="181610" indent="-367030">
              <a:lnSpc>
                <a:spcPct val="114999"/>
              </a:lnSpc>
              <a:buClr>
                <a:srgbClr val="000000"/>
              </a:buClr>
              <a:buFont typeface="Arial MT"/>
              <a:buChar char="●"/>
              <a:tabLst>
                <a:tab pos="379095" algn="l"/>
              </a:tabLst>
            </a:pPr>
            <a:r>
              <a:rPr sz="1800" b="1" spc="-10" dirty="0">
                <a:solidFill>
                  <a:srgbClr val="188037"/>
                </a:solidFill>
                <a:latin typeface="Courier New"/>
                <a:cs typeface="Courier New"/>
              </a:rPr>
              <a:t>pthread_mutex_lock</a:t>
            </a:r>
            <a:r>
              <a:rPr sz="1800" spc="-10" dirty="0">
                <a:latin typeface="Arial MT"/>
                <a:cs typeface="Arial MT"/>
              </a:rPr>
              <a:t>:</a:t>
            </a:r>
            <a:r>
              <a:rPr sz="1800" spc="-70" dirty="0">
                <a:latin typeface="Arial MT"/>
                <a:cs typeface="Arial MT"/>
              </a:rPr>
              <a:t> </a:t>
            </a:r>
            <a:r>
              <a:rPr sz="1800" dirty="0">
                <a:latin typeface="Arial MT"/>
                <a:cs typeface="Arial MT"/>
              </a:rPr>
              <a:t>Acquires</a:t>
            </a:r>
            <a:r>
              <a:rPr sz="1800" spc="55" dirty="0">
                <a:latin typeface="Arial MT"/>
                <a:cs typeface="Arial MT"/>
              </a:rPr>
              <a:t> </a:t>
            </a:r>
            <a:r>
              <a:rPr sz="1800" spc="-50" dirty="0">
                <a:latin typeface="Arial MT"/>
                <a:cs typeface="Arial MT"/>
              </a:rPr>
              <a:t>a </a:t>
            </a:r>
            <a:r>
              <a:rPr sz="1800" dirty="0">
                <a:latin typeface="Arial MT"/>
                <a:cs typeface="Arial MT"/>
              </a:rPr>
              <a:t>mutex</a:t>
            </a:r>
            <a:r>
              <a:rPr sz="1800" spc="-25" dirty="0">
                <a:latin typeface="Arial MT"/>
                <a:cs typeface="Arial MT"/>
              </a:rPr>
              <a:t> </a:t>
            </a:r>
            <a:r>
              <a:rPr sz="1800" dirty="0">
                <a:latin typeface="Arial MT"/>
                <a:cs typeface="Arial MT"/>
              </a:rPr>
              <a:t>lock</a:t>
            </a:r>
            <a:r>
              <a:rPr sz="1800" spc="-15" dirty="0">
                <a:latin typeface="Arial MT"/>
                <a:cs typeface="Arial MT"/>
              </a:rPr>
              <a:t> </a:t>
            </a:r>
            <a:r>
              <a:rPr sz="1800" dirty="0">
                <a:latin typeface="Arial MT"/>
                <a:cs typeface="Arial MT"/>
              </a:rPr>
              <a:t>(blocking</a:t>
            </a:r>
            <a:r>
              <a:rPr sz="1800" spc="-15" dirty="0">
                <a:latin typeface="Arial MT"/>
                <a:cs typeface="Arial MT"/>
              </a:rPr>
              <a:t> </a:t>
            </a:r>
            <a:r>
              <a:rPr sz="1800" dirty="0">
                <a:latin typeface="Arial MT"/>
                <a:cs typeface="Arial MT"/>
              </a:rPr>
              <a:t>if</a:t>
            </a:r>
            <a:r>
              <a:rPr sz="1800" spc="-15" dirty="0">
                <a:latin typeface="Arial MT"/>
                <a:cs typeface="Arial MT"/>
              </a:rPr>
              <a:t> </a:t>
            </a:r>
            <a:r>
              <a:rPr sz="1800" dirty="0">
                <a:latin typeface="Arial MT"/>
                <a:cs typeface="Arial MT"/>
              </a:rPr>
              <a:t>already</a:t>
            </a:r>
            <a:r>
              <a:rPr sz="1800" spc="-10" dirty="0">
                <a:latin typeface="Arial MT"/>
                <a:cs typeface="Arial MT"/>
              </a:rPr>
              <a:t> locked).</a:t>
            </a:r>
            <a:endParaRPr sz="1800">
              <a:latin typeface="Arial MT"/>
              <a:cs typeface="Arial MT"/>
            </a:endParaRPr>
          </a:p>
          <a:p>
            <a:pPr marL="379095" marR="90805" indent="-367030">
              <a:lnSpc>
                <a:spcPct val="114999"/>
              </a:lnSpc>
              <a:buClr>
                <a:srgbClr val="000000"/>
              </a:buClr>
              <a:buFont typeface="Arial MT"/>
              <a:buChar char="●"/>
              <a:tabLst>
                <a:tab pos="379095" algn="l"/>
              </a:tabLst>
            </a:pPr>
            <a:r>
              <a:rPr sz="1800" b="1" dirty="0">
                <a:solidFill>
                  <a:srgbClr val="188037"/>
                </a:solidFill>
                <a:latin typeface="Courier New"/>
                <a:cs typeface="Courier New"/>
              </a:rPr>
              <a:t>pthread_mutex_unlock</a:t>
            </a:r>
            <a:r>
              <a:rPr sz="1800" dirty="0">
                <a:latin typeface="Arial MT"/>
                <a:cs typeface="Arial MT"/>
              </a:rPr>
              <a:t>:</a:t>
            </a:r>
            <a:r>
              <a:rPr sz="1800" spc="-65" dirty="0">
                <a:latin typeface="Arial MT"/>
                <a:cs typeface="Arial MT"/>
              </a:rPr>
              <a:t> </a:t>
            </a:r>
            <a:r>
              <a:rPr sz="1800" dirty="0">
                <a:latin typeface="Arial MT"/>
                <a:cs typeface="Arial MT"/>
              </a:rPr>
              <a:t>Releases</a:t>
            </a:r>
            <a:r>
              <a:rPr sz="1800" spc="-50" dirty="0">
                <a:latin typeface="Arial MT"/>
                <a:cs typeface="Arial MT"/>
              </a:rPr>
              <a:t> a </a:t>
            </a:r>
            <a:r>
              <a:rPr sz="1800" dirty="0">
                <a:latin typeface="Arial MT"/>
                <a:cs typeface="Arial MT"/>
              </a:rPr>
              <a:t>mutex</a:t>
            </a:r>
            <a:r>
              <a:rPr sz="1800" spc="-20" dirty="0">
                <a:latin typeface="Arial MT"/>
                <a:cs typeface="Arial MT"/>
              </a:rPr>
              <a:t> </a:t>
            </a:r>
            <a:r>
              <a:rPr sz="1800" dirty="0">
                <a:latin typeface="Arial MT"/>
                <a:cs typeface="Arial MT"/>
              </a:rPr>
              <a:t>lock,</a:t>
            </a:r>
            <a:r>
              <a:rPr sz="1800" spc="-15" dirty="0">
                <a:latin typeface="Arial MT"/>
                <a:cs typeface="Arial MT"/>
              </a:rPr>
              <a:t> </a:t>
            </a:r>
            <a:r>
              <a:rPr sz="1800" dirty="0">
                <a:latin typeface="Arial MT"/>
                <a:cs typeface="Arial MT"/>
              </a:rPr>
              <a:t>allowing</a:t>
            </a:r>
            <a:r>
              <a:rPr sz="1800" spc="-15" dirty="0">
                <a:latin typeface="Arial MT"/>
                <a:cs typeface="Arial MT"/>
              </a:rPr>
              <a:t> </a:t>
            </a:r>
            <a:r>
              <a:rPr sz="1800" dirty="0">
                <a:latin typeface="Arial MT"/>
                <a:cs typeface="Arial MT"/>
              </a:rPr>
              <a:t>other</a:t>
            </a:r>
            <a:r>
              <a:rPr sz="1800" spc="-15" dirty="0">
                <a:latin typeface="Arial MT"/>
                <a:cs typeface="Arial MT"/>
              </a:rPr>
              <a:t> </a:t>
            </a:r>
            <a:r>
              <a:rPr sz="1800" dirty="0">
                <a:latin typeface="Arial MT"/>
                <a:cs typeface="Arial MT"/>
              </a:rPr>
              <a:t>threads</a:t>
            </a:r>
            <a:r>
              <a:rPr sz="1800" spc="-15" dirty="0">
                <a:latin typeface="Arial MT"/>
                <a:cs typeface="Arial MT"/>
              </a:rPr>
              <a:t> </a:t>
            </a:r>
            <a:r>
              <a:rPr sz="1800" spc="-25" dirty="0">
                <a:latin typeface="Arial MT"/>
                <a:cs typeface="Arial MT"/>
              </a:rPr>
              <a:t>to </a:t>
            </a:r>
            <a:r>
              <a:rPr sz="1800" dirty="0">
                <a:latin typeface="Arial MT"/>
                <a:cs typeface="Arial MT"/>
              </a:rPr>
              <a:t>acquire</a:t>
            </a:r>
            <a:r>
              <a:rPr sz="1800" spc="-35" dirty="0">
                <a:latin typeface="Arial MT"/>
                <a:cs typeface="Arial MT"/>
              </a:rPr>
              <a:t> </a:t>
            </a:r>
            <a:r>
              <a:rPr sz="1800" spc="-25" dirty="0">
                <a:latin typeface="Arial MT"/>
                <a:cs typeface="Arial MT"/>
              </a:rPr>
              <a:t>it.</a:t>
            </a:r>
            <a:endParaRPr sz="1800">
              <a:latin typeface="Arial MT"/>
              <a:cs typeface="Arial MT"/>
            </a:endParaRPr>
          </a:p>
          <a:p>
            <a:pPr marL="379095" marR="5080" indent="-367030">
              <a:lnSpc>
                <a:spcPct val="114999"/>
              </a:lnSpc>
              <a:buClr>
                <a:srgbClr val="000000"/>
              </a:buClr>
              <a:buFont typeface="Arial MT"/>
              <a:buChar char="●"/>
              <a:tabLst>
                <a:tab pos="379095" algn="l"/>
              </a:tabLst>
            </a:pPr>
            <a:r>
              <a:rPr sz="1800" b="1" dirty="0">
                <a:solidFill>
                  <a:srgbClr val="188037"/>
                </a:solidFill>
                <a:latin typeface="Courier New"/>
                <a:cs typeface="Courier New"/>
              </a:rPr>
              <a:t>pthread_mutex_destroy</a:t>
            </a:r>
            <a:r>
              <a:rPr sz="1800" dirty="0">
                <a:latin typeface="Arial MT"/>
                <a:cs typeface="Arial MT"/>
              </a:rPr>
              <a:t>:</a:t>
            </a:r>
            <a:r>
              <a:rPr sz="1800" spc="-65" dirty="0">
                <a:latin typeface="Arial MT"/>
                <a:cs typeface="Arial MT"/>
              </a:rPr>
              <a:t> </a:t>
            </a:r>
            <a:r>
              <a:rPr sz="1800" dirty="0">
                <a:latin typeface="Arial MT"/>
                <a:cs typeface="Arial MT"/>
              </a:rPr>
              <a:t>Destroys</a:t>
            </a:r>
            <a:r>
              <a:rPr sz="1800" spc="-55" dirty="0">
                <a:latin typeface="Arial MT"/>
                <a:cs typeface="Arial MT"/>
              </a:rPr>
              <a:t> </a:t>
            </a:r>
            <a:r>
              <a:rPr sz="1800" spc="-50" dirty="0">
                <a:latin typeface="Arial MT"/>
                <a:cs typeface="Arial MT"/>
              </a:rPr>
              <a:t>a </a:t>
            </a:r>
            <a:r>
              <a:rPr sz="1800" dirty="0">
                <a:latin typeface="Arial MT"/>
                <a:cs typeface="Arial MT"/>
              </a:rPr>
              <a:t>mutex</a:t>
            </a:r>
            <a:r>
              <a:rPr sz="1800" spc="-20" dirty="0">
                <a:latin typeface="Arial MT"/>
                <a:cs typeface="Arial MT"/>
              </a:rPr>
              <a:t> </a:t>
            </a:r>
            <a:r>
              <a:rPr sz="1800" dirty="0">
                <a:latin typeface="Arial MT"/>
                <a:cs typeface="Arial MT"/>
              </a:rPr>
              <a:t>and</a:t>
            </a:r>
            <a:r>
              <a:rPr sz="1800" spc="-5" dirty="0">
                <a:latin typeface="Arial MT"/>
                <a:cs typeface="Arial MT"/>
              </a:rPr>
              <a:t> </a:t>
            </a:r>
            <a:r>
              <a:rPr sz="1800" dirty="0">
                <a:latin typeface="Arial MT"/>
                <a:cs typeface="Arial MT"/>
              </a:rPr>
              <a:t>frees</a:t>
            </a:r>
            <a:r>
              <a:rPr sz="1800" spc="-10" dirty="0">
                <a:latin typeface="Arial MT"/>
                <a:cs typeface="Arial MT"/>
              </a:rPr>
              <a:t> </a:t>
            </a:r>
            <a:r>
              <a:rPr sz="1800" dirty="0">
                <a:latin typeface="Arial MT"/>
                <a:cs typeface="Arial MT"/>
              </a:rPr>
              <a:t>its</a:t>
            </a:r>
            <a:r>
              <a:rPr sz="1800" spc="-5" dirty="0">
                <a:latin typeface="Arial MT"/>
                <a:cs typeface="Arial MT"/>
              </a:rPr>
              <a:t> </a:t>
            </a:r>
            <a:r>
              <a:rPr sz="1800" spc="-10" dirty="0">
                <a:latin typeface="Arial MT"/>
                <a:cs typeface="Arial MT"/>
              </a:rPr>
              <a:t>resources.</a:t>
            </a:r>
            <a:endParaRPr sz="1800">
              <a:latin typeface="Arial MT"/>
              <a:cs typeface="Arial MT"/>
            </a:endParaRPr>
          </a:p>
        </p:txBody>
      </p:sp>
      <p:grpSp>
        <p:nvGrpSpPr>
          <p:cNvPr id="8" name="Group 7" descr="A sequence diagram showing interaction between Thread A, Thread B, and a Shared Resource. It illustrates Thread A acquiring a Mutex Lock, causing Thread B's subsequent lock request to result in a Mutex Block. Once Thread A sends a Mutex Unlock, Thread B successfully acquires the lock.">
            <a:extLst>
              <a:ext uri="{FF2B5EF4-FFF2-40B4-BE49-F238E27FC236}">
                <a16:creationId xmlns:a16="http://schemas.microsoft.com/office/drawing/2014/main" id="{8BFC1E46-984F-4F84-F7F9-6D3EDC2ECB4A}"/>
              </a:ext>
            </a:extLst>
          </p:cNvPr>
          <p:cNvGrpSpPr/>
          <p:nvPr/>
        </p:nvGrpSpPr>
        <p:grpSpPr>
          <a:xfrm>
            <a:off x="5112567" y="2203899"/>
            <a:ext cx="6753110" cy="3795718"/>
            <a:chOff x="5112567" y="2203899"/>
            <a:chExt cx="6753110" cy="3795718"/>
          </a:xfrm>
        </p:grpSpPr>
        <p:pic>
          <p:nvPicPr>
            <p:cNvPr id="5" name="object 5"/>
            <p:cNvPicPr/>
            <p:nvPr/>
          </p:nvPicPr>
          <p:blipFill>
            <a:blip r:embed="rId3" cstate="print"/>
            <a:stretch>
              <a:fillRect/>
            </a:stretch>
          </p:blipFill>
          <p:spPr>
            <a:xfrm>
              <a:off x="5112567" y="2203899"/>
              <a:ext cx="6753110" cy="3795718"/>
            </a:xfrm>
            <a:prstGeom prst="rect">
              <a:avLst/>
            </a:prstGeom>
          </p:spPr>
        </p:pic>
        <p:sp>
          <p:nvSpPr>
            <p:cNvPr id="7" name="object 7"/>
            <p:cNvSpPr txBox="1"/>
            <p:nvPr/>
          </p:nvSpPr>
          <p:spPr>
            <a:xfrm>
              <a:off x="10381825" y="3664775"/>
              <a:ext cx="1376680" cy="769620"/>
            </a:xfrm>
            <a:prstGeom prst="rect">
              <a:avLst/>
            </a:prstGeom>
            <a:solidFill>
              <a:srgbClr val="194783"/>
            </a:solidFill>
          </p:spPr>
          <p:txBody>
            <a:bodyPr vert="horz" wrap="square" lIns="0" tIns="76200" rIns="0" bIns="0" rtlCol="0">
              <a:spAutoFit/>
            </a:bodyPr>
            <a:lstStyle/>
            <a:p>
              <a:pPr marL="171450" marR="163830" indent="127000">
                <a:lnSpc>
                  <a:spcPct val="100000"/>
                </a:lnSpc>
                <a:spcBef>
                  <a:spcPts val="600"/>
                </a:spcBef>
              </a:pPr>
              <a:r>
                <a:rPr sz="1900" spc="-10" dirty="0">
                  <a:solidFill>
                    <a:srgbClr val="FFFFFF"/>
                  </a:solidFill>
                  <a:latin typeface="Arial MT"/>
                  <a:cs typeface="Arial MT"/>
                </a:rPr>
                <a:t>Shared Resource</a:t>
              </a:r>
              <a:endParaRPr sz="1900">
                <a:latin typeface="Arial MT"/>
                <a:cs typeface="Arial MT"/>
              </a:endParaRPr>
            </a:p>
          </p:txBody>
        </p:sp>
      </p:grpSp>
      <p:sp>
        <p:nvSpPr>
          <p:cNvPr id="6" name="object 6">
            <a:extLst>
              <a:ext uri="{C183D7F6-B498-43B3-948B-1728B52AA6E4}">
                <adec:decorative xmlns:adec="http://schemas.microsoft.com/office/drawing/2017/decorative" val="1"/>
              </a:ext>
            </a:extLst>
          </p:cNvPr>
          <p:cNvSpPr txBox="1"/>
          <p:nvPr/>
        </p:nvSpPr>
        <p:spPr>
          <a:xfrm>
            <a:off x="7415900" y="6167370"/>
            <a:ext cx="2310130" cy="177800"/>
          </a:xfrm>
          <a:prstGeom prst="rect">
            <a:avLst/>
          </a:prstGeom>
        </p:spPr>
        <p:txBody>
          <a:bodyPr vert="horz" wrap="square" lIns="0" tIns="12700" rIns="0" bIns="0" rtlCol="0">
            <a:spAutoFit/>
          </a:bodyPr>
          <a:lstStyle/>
          <a:p>
            <a:pPr marL="12700">
              <a:lnSpc>
                <a:spcPct val="100000"/>
              </a:lnSpc>
              <a:spcBef>
                <a:spcPts val="100"/>
              </a:spcBef>
            </a:pPr>
            <a:r>
              <a:rPr sz="1000" dirty="0">
                <a:solidFill>
                  <a:srgbClr val="0F2044"/>
                </a:solidFill>
                <a:latin typeface="Arial MT"/>
                <a:cs typeface="Arial MT"/>
              </a:rPr>
              <a:t>Image</a:t>
            </a:r>
            <a:r>
              <a:rPr sz="1000" spc="-25" dirty="0">
                <a:solidFill>
                  <a:srgbClr val="0F2044"/>
                </a:solidFill>
                <a:latin typeface="Arial MT"/>
                <a:cs typeface="Arial MT"/>
              </a:rPr>
              <a:t> </a:t>
            </a:r>
            <a:r>
              <a:rPr sz="1000" dirty="0">
                <a:solidFill>
                  <a:srgbClr val="0F2044"/>
                </a:solidFill>
                <a:latin typeface="Arial MT"/>
                <a:cs typeface="Arial MT"/>
              </a:rPr>
              <a:t>Credit</a:t>
            </a:r>
            <a:r>
              <a:rPr sz="1000" spc="-20" dirty="0">
                <a:solidFill>
                  <a:srgbClr val="0F2044"/>
                </a:solidFill>
                <a:latin typeface="Arial MT"/>
                <a:cs typeface="Arial MT"/>
              </a:rPr>
              <a:t> </a:t>
            </a:r>
            <a:r>
              <a:rPr sz="1000" dirty="0">
                <a:solidFill>
                  <a:srgbClr val="0F2044"/>
                </a:solidFill>
                <a:latin typeface="Arial MT"/>
                <a:cs typeface="Arial MT"/>
              </a:rPr>
              <a:t>-</a:t>
            </a:r>
            <a:r>
              <a:rPr sz="1000" spc="-25" dirty="0">
                <a:solidFill>
                  <a:srgbClr val="0F2044"/>
                </a:solidFill>
                <a:latin typeface="Arial MT"/>
                <a:cs typeface="Arial MT"/>
              </a:rPr>
              <a:t> </a:t>
            </a:r>
            <a:r>
              <a:rPr sz="1000" spc="-10" dirty="0">
                <a:solidFill>
                  <a:srgbClr val="0F2044"/>
                </a:solidFill>
                <a:latin typeface="Arial MT"/>
                <a:cs typeface="Arial MT"/>
                <a:hlinkClick r:id="rId4"/>
              </a:rPr>
              <a:t>https://www.beningo.com/</a:t>
            </a:r>
            <a:endParaRPr sz="1000" dirty="0">
              <a:latin typeface="Arial MT"/>
              <a:cs typeface="Arial MT"/>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0375" y="1295400"/>
            <a:ext cx="3399790" cy="406400"/>
          </a:xfrm>
          <a:prstGeom prst="rect">
            <a:avLst/>
          </a:prstGeom>
        </p:spPr>
        <p:txBody>
          <a:bodyPr vert="horz" wrap="square" lIns="0" tIns="12700" rIns="0" bIns="0" rtlCol="0">
            <a:spAutoFit/>
          </a:bodyPr>
          <a:lstStyle/>
          <a:p>
            <a:pPr marL="12700">
              <a:lnSpc>
                <a:spcPct val="100000"/>
              </a:lnSpc>
              <a:spcBef>
                <a:spcPts val="100"/>
              </a:spcBef>
            </a:pPr>
            <a:r>
              <a:rPr dirty="0"/>
              <a:t>Thread</a:t>
            </a:r>
            <a:r>
              <a:rPr spc="-110" dirty="0"/>
              <a:t> </a:t>
            </a:r>
            <a:r>
              <a:rPr spc="-10" dirty="0"/>
              <a:t>Synchronization</a:t>
            </a:r>
          </a:p>
        </p:txBody>
      </p:sp>
      <p:sp>
        <p:nvSpPr>
          <p:cNvPr id="3" name="object 3"/>
          <p:cNvSpPr txBox="1"/>
          <p:nvPr/>
        </p:nvSpPr>
        <p:spPr>
          <a:xfrm>
            <a:off x="410375" y="1650390"/>
            <a:ext cx="4594225" cy="505927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0F2044"/>
                </a:solidFill>
                <a:latin typeface="Georgia"/>
                <a:cs typeface="Georgia"/>
              </a:rPr>
              <a:t>Mutual</a:t>
            </a:r>
            <a:r>
              <a:rPr sz="1800" spc="-70" dirty="0">
                <a:solidFill>
                  <a:srgbClr val="0F2044"/>
                </a:solidFill>
                <a:latin typeface="Georgia"/>
                <a:cs typeface="Georgia"/>
              </a:rPr>
              <a:t> </a:t>
            </a:r>
            <a:r>
              <a:rPr sz="1800" dirty="0">
                <a:solidFill>
                  <a:srgbClr val="0F2044"/>
                </a:solidFill>
                <a:latin typeface="Georgia"/>
                <a:cs typeface="Georgia"/>
              </a:rPr>
              <a:t>Exclusion:</a:t>
            </a:r>
            <a:r>
              <a:rPr sz="1800" spc="-70" dirty="0">
                <a:solidFill>
                  <a:srgbClr val="0F2044"/>
                </a:solidFill>
                <a:latin typeface="Georgia"/>
                <a:cs typeface="Georgia"/>
              </a:rPr>
              <a:t> </a:t>
            </a:r>
            <a:r>
              <a:rPr sz="1800" spc="-10" dirty="0">
                <a:solidFill>
                  <a:srgbClr val="0F2044"/>
                </a:solidFill>
                <a:latin typeface="Georgia"/>
                <a:cs typeface="Georgia"/>
              </a:rPr>
              <a:t>Mutexes</a:t>
            </a:r>
            <a:endParaRPr sz="1800" dirty="0">
              <a:latin typeface="Georgia"/>
              <a:cs typeface="Georgia"/>
            </a:endParaRPr>
          </a:p>
          <a:p>
            <a:pPr marL="12700">
              <a:lnSpc>
                <a:spcPct val="100000"/>
              </a:lnSpc>
              <a:spcBef>
                <a:spcPts val="1805"/>
              </a:spcBef>
            </a:pPr>
            <a:r>
              <a:rPr sz="1400" b="1" dirty="0">
                <a:latin typeface="Arial"/>
                <a:cs typeface="Arial"/>
              </a:rPr>
              <a:t>Global</a:t>
            </a:r>
            <a:r>
              <a:rPr sz="1400" b="1" spc="-45" dirty="0">
                <a:latin typeface="Arial"/>
                <a:cs typeface="Arial"/>
              </a:rPr>
              <a:t> </a:t>
            </a:r>
            <a:r>
              <a:rPr sz="1400" b="1" dirty="0">
                <a:latin typeface="Arial"/>
                <a:cs typeface="Arial"/>
              </a:rPr>
              <a:t>Mutex</a:t>
            </a:r>
            <a:r>
              <a:rPr sz="1400" b="1" spc="-30" dirty="0">
                <a:latin typeface="Arial"/>
                <a:cs typeface="Arial"/>
              </a:rPr>
              <a:t> </a:t>
            </a:r>
            <a:r>
              <a:rPr sz="1400" b="1" dirty="0">
                <a:latin typeface="Arial"/>
                <a:cs typeface="Arial"/>
              </a:rPr>
              <a:t>(</a:t>
            </a:r>
            <a:r>
              <a:rPr sz="1400" b="1" dirty="0">
                <a:solidFill>
                  <a:srgbClr val="188037"/>
                </a:solidFill>
                <a:latin typeface="Courier New"/>
                <a:cs typeface="Courier New"/>
              </a:rPr>
              <a:t>pthread_mutex_t</a:t>
            </a:r>
            <a:r>
              <a:rPr sz="1400" b="1" spc="-60" dirty="0">
                <a:solidFill>
                  <a:srgbClr val="188037"/>
                </a:solidFill>
                <a:latin typeface="Courier New"/>
                <a:cs typeface="Courier New"/>
              </a:rPr>
              <a:t> </a:t>
            </a:r>
            <a:r>
              <a:rPr sz="1400" b="1" spc="-10" dirty="0">
                <a:solidFill>
                  <a:srgbClr val="188037"/>
                </a:solidFill>
                <a:latin typeface="Courier New"/>
                <a:cs typeface="Courier New"/>
              </a:rPr>
              <a:t>lock</a:t>
            </a:r>
            <a:r>
              <a:rPr sz="1400" b="1" spc="-10" dirty="0">
                <a:latin typeface="Arial"/>
                <a:cs typeface="Arial"/>
              </a:rPr>
              <a:t>)</a:t>
            </a:r>
            <a:r>
              <a:rPr sz="1400" spc="-10" dirty="0">
                <a:latin typeface="Arial MT"/>
                <a:cs typeface="Arial MT"/>
              </a:rPr>
              <a:t>:</a:t>
            </a:r>
            <a:endParaRPr sz="1400" dirty="0">
              <a:latin typeface="Arial MT"/>
              <a:cs typeface="Arial MT"/>
            </a:endParaRPr>
          </a:p>
          <a:p>
            <a:pPr marL="469900" marR="31115" indent="-336550">
              <a:lnSpc>
                <a:spcPct val="114999"/>
              </a:lnSpc>
              <a:spcBef>
                <a:spcPts val="1200"/>
              </a:spcBef>
              <a:buChar char="●"/>
              <a:tabLst>
                <a:tab pos="469900" algn="l"/>
              </a:tabLst>
            </a:pPr>
            <a:r>
              <a:rPr sz="1400" dirty="0">
                <a:latin typeface="Arial MT"/>
                <a:cs typeface="Arial MT"/>
              </a:rPr>
              <a:t>The</a:t>
            </a:r>
            <a:r>
              <a:rPr sz="1400" spc="-25" dirty="0">
                <a:latin typeface="Arial MT"/>
                <a:cs typeface="Arial MT"/>
              </a:rPr>
              <a:t> </a:t>
            </a:r>
            <a:r>
              <a:rPr sz="1400" b="1" spc="-10" dirty="0">
                <a:solidFill>
                  <a:srgbClr val="188037"/>
                </a:solidFill>
                <a:latin typeface="Courier New"/>
                <a:cs typeface="Courier New"/>
              </a:rPr>
              <a:t>lock</a:t>
            </a:r>
            <a:r>
              <a:rPr sz="1400" spc="-455" dirty="0">
                <a:solidFill>
                  <a:srgbClr val="188037"/>
                </a:solidFill>
                <a:latin typeface="Courier New"/>
                <a:cs typeface="Courier New"/>
              </a:rPr>
              <a:t> </a:t>
            </a:r>
            <a:r>
              <a:rPr sz="1400" dirty="0">
                <a:latin typeface="Arial MT"/>
                <a:cs typeface="Arial MT"/>
              </a:rPr>
              <a:t>variable</a:t>
            </a:r>
            <a:r>
              <a:rPr sz="1400" spc="-10" dirty="0">
                <a:latin typeface="Arial MT"/>
                <a:cs typeface="Arial MT"/>
              </a:rPr>
              <a:t> </a:t>
            </a:r>
            <a:r>
              <a:rPr sz="1400" dirty="0">
                <a:latin typeface="Arial MT"/>
                <a:cs typeface="Arial MT"/>
              </a:rPr>
              <a:t>is</a:t>
            </a:r>
            <a:r>
              <a:rPr sz="1400" spc="-15" dirty="0">
                <a:latin typeface="Arial MT"/>
                <a:cs typeface="Arial MT"/>
              </a:rPr>
              <a:t> </a:t>
            </a:r>
            <a:r>
              <a:rPr sz="1400" dirty="0">
                <a:latin typeface="Arial MT"/>
                <a:cs typeface="Arial MT"/>
              </a:rPr>
              <a:t>a</a:t>
            </a:r>
            <a:r>
              <a:rPr sz="1400" spc="-15" dirty="0">
                <a:latin typeface="Arial MT"/>
                <a:cs typeface="Arial MT"/>
              </a:rPr>
              <a:t> </a:t>
            </a:r>
            <a:r>
              <a:rPr sz="1400" dirty="0">
                <a:latin typeface="Arial MT"/>
                <a:cs typeface="Arial MT"/>
              </a:rPr>
              <a:t>mutex</a:t>
            </a:r>
            <a:r>
              <a:rPr sz="1400" spc="-15" dirty="0">
                <a:latin typeface="Arial MT"/>
                <a:cs typeface="Arial MT"/>
              </a:rPr>
              <a:t> </a:t>
            </a:r>
            <a:r>
              <a:rPr sz="1400" dirty="0">
                <a:latin typeface="Arial MT"/>
                <a:cs typeface="Arial MT"/>
              </a:rPr>
              <a:t>used</a:t>
            </a:r>
            <a:r>
              <a:rPr sz="1400" spc="-10" dirty="0">
                <a:latin typeface="Arial MT"/>
                <a:cs typeface="Arial MT"/>
              </a:rPr>
              <a:t> </a:t>
            </a:r>
            <a:r>
              <a:rPr sz="1400" dirty="0">
                <a:latin typeface="Arial MT"/>
                <a:cs typeface="Arial MT"/>
              </a:rPr>
              <a:t>to</a:t>
            </a:r>
            <a:r>
              <a:rPr sz="1400" spc="-15" dirty="0">
                <a:latin typeface="Arial MT"/>
                <a:cs typeface="Arial MT"/>
              </a:rPr>
              <a:t> </a:t>
            </a:r>
            <a:r>
              <a:rPr sz="1400" dirty="0">
                <a:latin typeface="Arial MT"/>
                <a:cs typeface="Arial MT"/>
              </a:rPr>
              <a:t>ensure</a:t>
            </a:r>
            <a:r>
              <a:rPr sz="1400" spc="-15" dirty="0">
                <a:latin typeface="Arial MT"/>
                <a:cs typeface="Arial MT"/>
              </a:rPr>
              <a:t> </a:t>
            </a:r>
            <a:r>
              <a:rPr sz="1400" spc="-20" dirty="0">
                <a:latin typeface="Arial MT"/>
                <a:cs typeface="Arial MT"/>
              </a:rPr>
              <a:t>only </a:t>
            </a:r>
            <a:r>
              <a:rPr sz="1400" dirty="0">
                <a:latin typeface="Arial MT"/>
                <a:cs typeface="Arial MT"/>
              </a:rPr>
              <a:t>one</a:t>
            </a:r>
            <a:r>
              <a:rPr sz="1400" spc="-20" dirty="0">
                <a:latin typeface="Arial MT"/>
                <a:cs typeface="Arial MT"/>
              </a:rPr>
              <a:t> </a:t>
            </a:r>
            <a:r>
              <a:rPr sz="1400" dirty="0">
                <a:latin typeface="Arial MT"/>
                <a:cs typeface="Arial MT"/>
              </a:rPr>
              <a:t>thread</a:t>
            </a:r>
            <a:r>
              <a:rPr sz="1400" spc="-15" dirty="0">
                <a:latin typeface="Arial MT"/>
                <a:cs typeface="Arial MT"/>
              </a:rPr>
              <a:t> </a:t>
            </a:r>
            <a:r>
              <a:rPr sz="1400" dirty="0">
                <a:latin typeface="Arial MT"/>
                <a:cs typeface="Arial MT"/>
              </a:rPr>
              <a:t>can</a:t>
            </a:r>
            <a:r>
              <a:rPr sz="1400" spc="-10" dirty="0">
                <a:latin typeface="Arial MT"/>
                <a:cs typeface="Arial MT"/>
              </a:rPr>
              <a:t> </a:t>
            </a:r>
            <a:r>
              <a:rPr sz="1400" dirty="0">
                <a:latin typeface="Arial MT"/>
                <a:cs typeface="Arial MT"/>
              </a:rPr>
              <a:t>access</a:t>
            </a:r>
            <a:r>
              <a:rPr sz="1400" spc="-10" dirty="0">
                <a:latin typeface="Arial MT"/>
                <a:cs typeface="Arial MT"/>
              </a:rPr>
              <a:t> </a:t>
            </a:r>
            <a:r>
              <a:rPr sz="1400" dirty="0">
                <a:latin typeface="Arial MT"/>
                <a:cs typeface="Arial MT"/>
              </a:rPr>
              <a:t>the</a:t>
            </a:r>
            <a:r>
              <a:rPr sz="1400" spc="-15" dirty="0">
                <a:latin typeface="Arial MT"/>
                <a:cs typeface="Arial MT"/>
              </a:rPr>
              <a:t> </a:t>
            </a:r>
            <a:r>
              <a:rPr sz="1400" b="1" spc="-10" dirty="0">
                <a:solidFill>
                  <a:srgbClr val="188037"/>
                </a:solidFill>
                <a:latin typeface="Courier New"/>
                <a:cs typeface="Courier New"/>
              </a:rPr>
              <a:t>counter</a:t>
            </a:r>
            <a:r>
              <a:rPr sz="1400" spc="-455" dirty="0">
                <a:solidFill>
                  <a:srgbClr val="188037"/>
                </a:solidFill>
                <a:latin typeface="Courier New"/>
                <a:cs typeface="Courier New"/>
              </a:rPr>
              <a:t> </a:t>
            </a:r>
            <a:r>
              <a:rPr sz="1400" dirty="0">
                <a:latin typeface="Arial MT"/>
                <a:cs typeface="Arial MT"/>
              </a:rPr>
              <a:t>variable</a:t>
            </a:r>
            <a:r>
              <a:rPr sz="1400" spc="-10" dirty="0">
                <a:latin typeface="Arial MT"/>
                <a:cs typeface="Arial MT"/>
              </a:rPr>
              <a:t> </a:t>
            </a:r>
            <a:r>
              <a:rPr sz="1400" dirty="0">
                <a:latin typeface="Arial MT"/>
                <a:cs typeface="Arial MT"/>
              </a:rPr>
              <a:t>at</a:t>
            </a:r>
            <a:r>
              <a:rPr sz="1400" spc="-10" dirty="0">
                <a:latin typeface="Arial MT"/>
                <a:cs typeface="Arial MT"/>
              </a:rPr>
              <a:t> </a:t>
            </a:r>
            <a:r>
              <a:rPr sz="1400" spc="-25" dirty="0">
                <a:latin typeface="Arial MT"/>
                <a:cs typeface="Arial MT"/>
              </a:rPr>
              <a:t>any </a:t>
            </a:r>
            <a:r>
              <a:rPr sz="1400" dirty="0">
                <a:latin typeface="Arial MT"/>
                <a:cs typeface="Arial MT"/>
              </a:rPr>
              <a:t>given</a:t>
            </a:r>
            <a:r>
              <a:rPr sz="1400" spc="-35" dirty="0">
                <a:latin typeface="Arial MT"/>
                <a:cs typeface="Arial MT"/>
              </a:rPr>
              <a:t> </a:t>
            </a:r>
            <a:r>
              <a:rPr sz="1400" dirty="0">
                <a:latin typeface="Arial MT"/>
                <a:cs typeface="Arial MT"/>
              </a:rPr>
              <a:t>time,</a:t>
            </a:r>
            <a:r>
              <a:rPr sz="1400" spc="-30" dirty="0">
                <a:latin typeface="Arial MT"/>
                <a:cs typeface="Arial MT"/>
              </a:rPr>
              <a:t> </a:t>
            </a:r>
            <a:r>
              <a:rPr sz="1400" dirty="0">
                <a:latin typeface="Arial MT"/>
                <a:cs typeface="Arial MT"/>
              </a:rPr>
              <a:t>providing</a:t>
            </a:r>
            <a:r>
              <a:rPr sz="1400" spc="-25" dirty="0">
                <a:latin typeface="Arial MT"/>
                <a:cs typeface="Arial MT"/>
              </a:rPr>
              <a:t> </a:t>
            </a:r>
            <a:r>
              <a:rPr sz="1400" b="1" dirty="0">
                <a:latin typeface="Arial"/>
                <a:cs typeface="Arial"/>
              </a:rPr>
              <a:t>mutual</a:t>
            </a:r>
            <a:r>
              <a:rPr sz="1400" b="1" spc="-30" dirty="0">
                <a:latin typeface="Arial"/>
                <a:cs typeface="Arial"/>
              </a:rPr>
              <a:t> </a:t>
            </a:r>
            <a:r>
              <a:rPr sz="1400" b="1" spc="-10" dirty="0">
                <a:latin typeface="Arial"/>
                <a:cs typeface="Arial"/>
              </a:rPr>
              <a:t>exclusion</a:t>
            </a:r>
            <a:r>
              <a:rPr sz="1400" spc="-10" dirty="0">
                <a:latin typeface="Arial MT"/>
                <a:cs typeface="Arial MT"/>
              </a:rPr>
              <a:t>.</a:t>
            </a:r>
            <a:endParaRPr sz="1400" dirty="0">
              <a:latin typeface="Arial MT"/>
              <a:cs typeface="Arial MT"/>
            </a:endParaRPr>
          </a:p>
          <a:p>
            <a:pPr marL="12700">
              <a:lnSpc>
                <a:spcPct val="100000"/>
              </a:lnSpc>
              <a:spcBef>
                <a:spcPts val="1455"/>
              </a:spcBef>
            </a:pPr>
            <a:r>
              <a:rPr sz="1400" b="1" dirty="0">
                <a:latin typeface="Arial"/>
                <a:cs typeface="Arial"/>
              </a:rPr>
              <a:t>Mutex</a:t>
            </a:r>
            <a:r>
              <a:rPr sz="1400" b="1" spc="-25" dirty="0">
                <a:latin typeface="Arial"/>
                <a:cs typeface="Arial"/>
              </a:rPr>
              <a:t> </a:t>
            </a:r>
            <a:r>
              <a:rPr sz="1400" b="1" dirty="0">
                <a:latin typeface="Arial"/>
                <a:cs typeface="Arial"/>
              </a:rPr>
              <a:t>Locking</a:t>
            </a:r>
            <a:r>
              <a:rPr sz="1400" b="1" spc="-25" dirty="0">
                <a:latin typeface="Arial"/>
                <a:cs typeface="Arial"/>
              </a:rPr>
              <a:t> </a:t>
            </a:r>
            <a:r>
              <a:rPr sz="1400" b="1" dirty="0">
                <a:latin typeface="Arial"/>
                <a:cs typeface="Arial"/>
              </a:rPr>
              <a:t>and</a:t>
            </a:r>
            <a:r>
              <a:rPr sz="1400" b="1" spc="-25" dirty="0">
                <a:latin typeface="Arial"/>
                <a:cs typeface="Arial"/>
              </a:rPr>
              <a:t> </a:t>
            </a:r>
            <a:r>
              <a:rPr sz="1400" b="1" spc="-10" dirty="0">
                <a:latin typeface="Arial"/>
                <a:cs typeface="Arial"/>
              </a:rPr>
              <a:t>Unlocking</a:t>
            </a:r>
            <a:r>
              <a:rPr sz="1400" spc="-10" dirty="0">
                <a:latin typeface="Arial MT"/>
                <a:cs typeface="Arial MT"/>
              </a:rPr>
              <a:t>:</a:t>
            </a:r>
            <a:endParaRPr sz="1400" dirty="0">
              <a:latin typeface="Arial MT"/>
              <a:cs typeface="Arial MT"/>
            </a:endParaRPr>
          </a:p>
          <a:p>
            <a:pPr marL="469265" indent="-335915">
              <a:lnSpc>
                <a:spcPct val="100000"/>
              </a:lnSpc>
              <a:spcBef>
                <a:spcPts val="1450"/>
              </a:spcBef>
              <a:buChar char="●"/>
              <a:tabLst>
                <a:tab pos="469265" algn="l"/>
              </a:tabLst>
            </a:pPr>
            <a:r>
              <a:rPr sz="1400" dirty="0">
                <a:latin typeface="Arial MT"/>
                <a:cs typeface="Arial MT"/>
              </a:rPr>
              <a:t>In</a:t>
            </a:r>
            <a:r>
              <a:rPr sz="1400" spc="10" dirty="0">
                <a:latin typeface="Arial MT"/>
                <a:cs typeface="Arial MT"/>
              </a:rPr>
              <a:t> </a:t>
            </a:r>
            <a:r>
              <a:rPr sz="1400" dirty="0">
                <a:latin typeface="Arial MT"/>
                <a:cs typeface="Arial MT"/>
              </a:rPr>
              <a:t>the</a:t>
            </a:r>
            <a:r>
              <a:rPr sz="1400" spc="20" dirty="0">
                <a:latin typeface="Arial MT"/>
                <a:cs typeface="Arial MT"/>
              </a:rPr>
              <a:t> </a:t>
            </a:r>
            <a:r>
              <a:rPr sz="1400" b="1" spc="-10" dirty="0">
                <a:solidFill>
                  <a:srgbClr val="188037"/>
                </a:solidFill>
                <a:latin typeface="Courier New"/>
                <a:cs typeface="Courier New"/>
              </a:rPr>
              <a:t>increment_counter</a:t>
            </a:r>
            <a:r>
              <a:rPr sz="1400" b="1" spc="-434" dirty="0">
                <a:solidFill>
                  <a:srgbClr val="188037"/>
                </a:solidFill>
                <a:latin typeface="Courier New"/>
                <a:cs typeface="Courier New"/>
              </a:rPr>
              <a:t> </a:t>
            </a:r>
            <a:r>
              <a:rPr sz="1400" spc="-10" dirty="0">
                <a:latin typeface="Arial MT"/>
                <a:cs typeface="Arial MT"/>
              </a:rPr>
              <a:t>function:</a:t>
            </a:r>
            <a:endParaRPr sz="1400" dirty="0">
              <a:latin typeface="Arial MT"/>
              <a:cs typeface="Arial MT"/>
            </a:endParaRPr>
          </a:p>
          <a:p>
            <a:pPr marL="927100" marR="5080" lvl="1" indent="-336550">
              <a:lnSpc>
                <a:spcPct val="114999"/>
              </a:lnSpc>
              <a:spcAft>
                <a:spcPts val="600"/>
              </a:spcAft>
              <a:buClr>
                <a:srgbClr val="000000"/>
              </a:buClr>
              <a:buFont typeface="Arial MT"/>
              <a:buChar char="○"/>
              <a:tabLst>
                <a:tab pos="927100" algn="l"/>
              </a:tabLst>
            </a:pPr>
            <a:r>
              <a:rPr sz="1400" b="1" spc="-10" dirty="0">
                <a:solidFill>
                  <a:srgbClr val="188037"/>
                </a:solidFill>
                <a:latin typeface="Courier New"/>
                <a:cs typeface="Courier New"/>
              </a:rPr>
              <a:t>pthread_mutex_lock(&amp;lock);</a:t>
            </a:r>
            <a:r>
              <a:rPr sz="1400" b="1" spc="-409" dirty="0">
                <a:solidFill>
                  <a:srgbClr val="188037"/>
                </a:solidFill>
                <a:latin typeface="Courier New"/>
                <a:cs typeface="Courier New"/>
              </a:rPr>
              <a:t> </a:t>
            </a:r>
            <a:r>
              <a:rPr sz="1400" dirty="0">
                <a:latin typeface="Arial MT"/>
                <a:cs typeface="Arial MT"/>
              </a:rPr>
              <a:t>locks</a:t>
            </a:r>
            <a:r>
              <a:rPr sz="1400" spc="65" dirty="0">
                <a:latin typeface="Arial MT"/>
                <a:cs typeface="Arial MT"/>
              </a:rPr>
              <a:t> </a:t>
            </a:r>
            <a:r>
              <a:rPr sz="1400" spc="-25" dirty="0">
                <a:latin typeface="Arial MT"/>
                <a:cs typeface="Arial MT"/>
              </a:rPr>
              <a:t>the </a:t>
            </a:r>
            <a:r>
              <a:rPr sz="1400" dirty="0">
                <a:latin typeface="Arial MT"/>
                <a:cs typeface="Arial MT"/>
              </a:rPr>
              <a:t>mutex,</a:t>
            </a:r>
            <a:r>
              <a:rPr sz="1400" spc="-30" dirty="0">
                <a:latin typeface="Arial MT"/>
                <a:cs typeface="Arial MT"/>
              </a:rPr>
              <a:t> </a:t>
            </a:r>
            <a:r>
              <a:rPr sz="1400" dirty="0">
                <a:latin typeface="Arial MT"/>
                <a:cs typeface="Arial MT"/>
              </a:rPr>
              <a:t>allowing</a:t>
            </a:r>
            <a:r>
              <a:rPr sz="1400" spc="-25" dirty="0">
                <a:latin typeface="Arial MT"/>
                <a:cs typeface="Arial MT"/>
              </a:rPr>
              <a:t> </a:t>
            </a:r>
            <a:r>
              <a:rPr sz="1400" dirty="0">
                <a:latin typeface="Arial MT"/>
                <a:cs typeface="Arial MT"/>
              </a:rPr>
              <a:t>the</a:t>
            </a:r>
            <a:r>
              <a:rPr sz="1400" spc="-30" dirty="0">
                <a:latin typeface="Arial MT"/>
                <a:cs typeface="Arial MT"/>
              </a:rPr>
              <a:t> </a:t>
            </a:r>
            <a:r>
              <a:rPr sz="1400" dirty="0">
                <a:latin typeface="Arial MT"/>
                <a:cs typeface="Arial MT"/>
              </a:rPr>
              <a:t>thread</a:t>
            </a:r>
            <a:r>
              <a:rPr sz="1400" spc="-25" dirty="0">
                <a:latin typeface="Arial MT"/>
                <a:cs typeface="Arial MT"/>
              </a:rPr>
              <a:t> </a:t>
            </a:r>
            <a:r>
              <a:rPr sz="1400" dirty="0">
                <a:latin typeface="Arial MT"/>
                <a:cs typeface="Arial MT"/>
              </a:rPr>
              <a:t>exclusive</a:t>
            </a:r>
            <a:r>
              <a:rPr sz="1400" spc="-30" dirty="0">
                <a:latin typeface="Arial MT"/>
                <a:cs typeface="Arial MT"/>
              </a:rPr>
              <a:t> </a:t>
            </a:r>
            <a:r>
              <a:rPr sz="1400" dirty="0">
                <a:latin typeface="Arial MT"/>
                <a:cs typeface="Arial MT"/>
              </a:rPr>
              <a:t>access</a:t>
            </a:r>
            <a:r>
              <a:rPr sz="1400" spc="-25" dirty="0">
                <a:latin typeface="Arial MT"/>
                <a:cs typeface="Arial MT"/>
              </a:rPr>
              <a:t> to </a:t>
            </a:r>
            <a:r>
              <a:rPr sz="1400" dirty="0">
                <a:latin typeface="Arial MT"/>
                <a:cs typeface="Arial MT"/>
              </a:rPr>
              <a:t>the </a:t>
            </a:r>
            <a:r>
              <a:rPr sz="1400" b="1" spc="-10" dirty="0">
                <a:solidFill>
                  <a:srgbClr val="188037"/>
                </a:solidFill>
                <a:latin typeface="Courier New"/>
                <a:cs typeface="Courier New"/>
              </a:rPr>
              <a:t>counter</a:t>
            </a:r>
            <a:r>
              <a:rPr sz="1400" spc="-440" dirty="0">
                <a:solidFill>
                  <a:srgbClr val="188037"/>
                </a:solidFill>
                <a:latin typeface="Courier New"/>
                <a:cs typeface="Courier New"/>
              </a:rPr>
              <a:t> </a:t>
            </a:r>
            <a:r>
              <a:rPr sz="1400" spc="-10" dirty="0">
                <a:latin typeface="Arial MT"/>
                <a:cs typeface="Arial MT"/>
              </a:rPr>
              <a:t>variable.</a:t>
            </a:r>
            <a:endParaRPr sz="1400" dirty="0">
              <a:latin typeface="Arial MT"/>
              <a:cs typeface="Arial MT"/>
            </a:endParaRPr>
          </a:p>
          <a:p>
            <a:pPr marL="927100" marR="20955" lvl="1" indent="-336550">
              <a:lnSpc>
                <a:spcPct val="114999"/>
              </a:lnSpc>
              <a:spcAft>
                <a:spcPts val="600"/>
              </a:spcAft>
              <a:buClr>
                <a:srgbClr val="000000"/>
              </a:buClr>
              <a:buFont typeface="Arial MT"/>
              <a:buChar char="○"/>
              <a:tabLst>
                <a:tab pos="927100" algn="l"/>
              </a:tabLst>
            </a:pPr>
            <a:r>
              <a:rPr sz="1400" b="1" spc="-10" dirty="0">
                <a:solidFill>
                  <a:srgbClr val="188037"/>
                </a:solidFill>
                <a:latin typeface="Courier New"/>
                <a:cs typeface="Courier New"/>
              </a:rPr>
              <a:t>pthread_mutex_unlock(&amp;lock);</a:t>
            </a:r>
            <a:r>
              <a:rPr sz="1400" b="1" spc="-330" dirty="0">
                <a:solidFill>
                  <a:srgbClr val="188037"/>
                </a:solidFill>
                <a:latin typeface="Courier New"/>
                <a:cs typeface="Courier New"/>
              </a:rPr>
              <a:t> </a:t>
            </a:r>
            <a:r>
              <a:rPr sz="1400" spc="-10" dirty="0">
                <a:latin typeface="Arial MT"/>
                <a:cs typeface="Arial MT"/>
              </a:rPr>
              <a:t>unlocks </a:t>
            </a:r>
            <a:r>
              <a:rPr sz="1400" dirty="0">
                <a:latin typeface="Arial MT"/>
                <a:cs typeface="Arial MT"/>
              </a:rPr>
              <a:t>the</a:t>
            </a:r>
            <a:r>
              <a:rPr sz="1400" spc="-20" dirty="0">
                <a:latin typeface="Arial MT"/>
                <a:cs typeface="Arial MT"/>
              </a:rPr>
              <a:t> </a:t>
            </a:r>
            <a:r>
              <a:rPr sz="1400" dirty="0">
                <a:latin typeface="Arial MT"/>
                <a:cs typeface="Arial MT"/>
              </a:rPr>
              <a:t>mutex</a:t>
            </a:r>
            <a:r>
              <a:rPr sz="1400" spc="-20" dirty="0">
                <a:latin typeface="Arial MT"/>
                <a:cs typeface="Arial MT"/>
              </a:rPr>
              <a:t> </a:t>
            </a:r>
            <a:r>
              <a:rPr sz="1400" dirty="0">
                <a:latin typeface="Arial MT"/>
                <a:cs typeface="Arial MT"/>
              </a:rPr>
              <a:t>after</a:t>
            </a:r>
            <a:r>
              <a:rPr sz="1400" spc="-20" dirty="0">
                <a:latin typeface="Arial MT"/>
                <a:cs typeface="Arial MT"/>
              </a:rPr>
              <a:t> </a:t>
            </a:r>
            <a:r>
              <a:rPr sz="1400" dirty="0">
                <a:latin typeface="Arial MT"/>
                <a:cs typeface="Arial MT"/>
              </a:rPr>
              <a:t>the</a:t>
            </a:r>
            <a:r>
              <a:rPr sz="1400" spc="-20" dirty="0">
                <a:latin typeface="Arial MT"/>
                <a:cs typeface="Arial MT"/>
              </a:rPr>
              <a:t> </a:t>
            </a:r>
            <a:r>
              <a:rPr sz="1400" dirty="0">
                <a:latin typeface="Arial MT"/>
                <a:cs typeface="Arial MT"/>
              </a:rPr>
              <a:t>critical</a:t>
            </a:r>
            <a:r>
              <a:rPr sz="1400" spc="-20" dirty="0">
                <a:latin typeface="Arial MT"/>
                <a:cs typeface="Arial MT"/>
              </a:rPr>
              <a:t> </a:t>
            </a:r>
            <a:r>
              <a:rPr sz="1400" dirty="0">
                <a:latin typeface="Arial MT"/>
                <a:cs typeface="Arial MT"/>
              </a:rPr>
              <a:t>section,</a:t>
            </a:r>
            <a:r>
              <a:rPr sz="1400" spc="-20" dirty="0">
                <a:latin typeface="Arial MT"/>
                <a:cs typeface="Arial MT"/>
              </a:rPr>
              <a:t> </a:t>
            </a:r>
            <a:r>
              <a:rPr sz="1400" spc="-10" dirty="0">
                <a:latin typeface="Arial MT"/>
                <a:cs typeface="Arial MT"/>
              </a:rPr>
              <a:t>allowing </a:t>
            </a:r>
            <a:r>
              <a:rPr sz="1400" dirty="0">
                <a:latin typeface="Arial MT"/>
                <a:cs typeface="Arial MT"/>
              </a:rPr>
              <a:t>other</a:t>
            </a:r>
            <a:r>
              <a:rPr sz="1400" spc="-10" dirty="0">
                <a:latin typeface="Arial MT"/>
                <a:cs typeface="Arial MT"/>
              </a:rPr>
              <a:t> </a:t>
            </a:r>
            <a:r>
              <a:rPr sz="1400" dirty="0">
                <a:latin typeface="Arial MT"/>
                <a:cs typeface="Arial MT"/>
              </a:rPr>
              <a:t>threads</a:t>
            </a:r>
            <a:r>
              <a:rPr sz="1400" spc="-5" dirty="0">
                <a:latin typeface="Arial MT"/>
                <a:cs typeface="Arial MT"/>
              </a:rPr>
              <a:t> </a:t>
            </a:r>
            <a:r>
              <a:rPr sz="1400" dirty="0">
                <a:latin typeface="Arial MT"/>
                <a:cs typeface="Arial MT"/>
              </a:rPr>
              <a:t>to</a:t>
            </a:r>
            <a:r>
              <a:rPr sz="1400" spc="-5" dirty="0">
                <a:latin typeface="Arial MT"/>
                <a:cs typeface="Arial MT"/>
              </a:rPr>
              <a:t> </a:t>
            </a:r>
            <a:r>
              <a:rPr sz="1400" dirty="0">
                <a:latin typeface="Arial MT"/>
                <a:cs typeface="Arial MT"/>
              </a:rPr>
              <a:t>access</a:t>
            </a:r>
            <a:r>
              <a:rPr sz="1400" spc="-5" dirty="0">
                <a:latin typeface="Arial MT"/>
                <a:cs typeface="Arial MT"/>
              </a:rPr>
              <a:t> </a:t>
            </a:r>
            <a:r>
              <a:rPr sz="1400" b="1" spc="-10" dirty="0">
                <a:solidFill>
                  <a:srgbClr val="188037"/>
                </a:solidFill>
                <a:latin typeface="Courier New"/>
                <a:cs typeface="Courier New"/>
              </a:rPr>
              <a:t>counter</a:t>
            </a:r>
            <a:r>
              <a:rPr sz="1400" spc="-10" dirty="0">
                <a:latin typeface="Arial MT"/>
                <a:cs typeface="Arial MT"/>
              </a:rPr>
              <a:t>.</a:t>
            </a:r>
            <a:endParaRPr sz="1400" dirty="0">
              <a:latin typeface="Arial MT"/>
              <a:cs typeface="Arial MT"/>
            </a:endParaRPr>
          </a:p>
          <a:p>
            <a:pPr marL="469900" marR="150495" indent="-336550">
              <a:lnSpc>
                <a:spcPct val="114999"/>
              </a:lnSpc>
              <a:buChar char="●"/>
              <a:tabLst>
                <a:tab pos="469900" algn="l"/>
              </a:tabLst>
            </a:pPr>
            <a:r>
              <a:rPr sz="1400" dirty="0">
                <a:latin typeface="Arial MT"/>
                <a:cs typeface="Arial MT"/>
              </a:rPr>
              <a:t>These</a:t>
            </a:r>
            <a:r>
              <a:rPr sz="1400" spc="-25" dirty="0">
                <a:latin typeface="Arial MT"/>
                <a:cs typeface="Arial MT"/>
              </a:rPr>
              <a:t> </a:t>
            </a:r>
            <a:r>
              <a:rPr sz="1400" dirty="0">
                <a:latin typeface="Arial MT"/>
                <a:cs typeface="Arial MT"/>
              </a:rPr>
              <a:t>calls</a:t>
            </a:r>
            <a:r>
              <a:rPr sz="1400" spc="-20" dirty="0">
                <a:latin typeface="Arial MT"/>
                <a:cs typeface="Arial MT"/>
              </a:rPr>
              <a:t> </a:t>
            </a:r>
            <a:r>
              <a:rPr sz="1400" b="1" dirty="0">
                <a:latin typeface="Arial"/>
                <a:cs typeface="Arial"/>
              </a:rPr>
              <a:t>protect</a:t>
            </a:r>
            <a:r>
              <a:rPr sz="1400" b="1" spc="-20" dirty="0">
                <a:latin typeface="Arial"/>
                <a:cs typeface="Arial"/>
              </a:rPr>
              <a:t> </a:t>
            </a:r>
            <a:r>
              <a:rPr sz="1400" b="1" dirty="0">
                <a:latin typeface="Arial"/>
                <a:cs typeface="Arial"/>
              </a:rPr>
              <a:t>the</a:t>
            </a:r>
            <a:r>
              <a:rPr sz="1400" b="1" spc="-20" dirty="0">
                <a:latin typeface="Arial"/>
                <a:cs typeface="Arial"/>
              </a:rPr>
              <a:t> </a:t>
            </a:r>
            <a:r>
              <a:rPr sz="1400" b="1" dirty="0">
                <a:latin typeface="Arial"/>
                <a:cs typeface="Arial"/>
              </a:rPr>
              <a:t>critical</a:t>
            </a:r>
            <a:r>
              <a:rPr sz="1400" b="1" spc="-20" dirty="0">
                <a:latin typeface="Arial"/>
                <a:cs typeface="Arial"/>
              </a:rPr>
              <a:t> </a:t>
            </a:r>
            <a:r>
              <a:rPr sz="1400" b="1" dirty="0">
                <a:latin typeface="Arial"/>
                <a:cs typeface="Arial"/>
              </a:rPr>
              <a:t>section</a:t>
            </a:r>
            <a:r>
              <a:rPr sz="1400" b="1" spc="-10" dirty="0">
                <a:latin typeface="Arial"/>
                <a:cs typeface="Arial"/>
              </a:rPr>
              <a:t> </a:t>
            </a:r>
            <a:r>
              <a:rPr sz="1400" spc="-20" dirty="0">
                <a:latin typeface="Arial MT"/>
                <a:cs typeface="Arial MT"/>
              </a:rPr>
              <a:t>(the </a:t>
            </a:r>
            <a:r>
              <a:rPr sz="1400" dirty="0">
                <a:latin typeface="Arial MT"/>
                <a:cs typeface="Arial MT"/>
              </a:rPr>
              <a:t>increment</a:t>
            </a:r>
            <a:r>
              <a:rPr sz="1400" spc="-30" dirty="0">
                <a:latin typeface="Arial MT"/>
                <a:cs typeface="Arial MT"/>
              </a:rPr>
              <a:t> </a:t>
            </a:r>
            <a:r>
              <a:rPr sz="1400" dirty="0">
                <a:latin typeface="Arial MT"/>
                <a:cs typeface="Arial MT"/>
              </a:rPr>
              <a:t>operation</a:t>
            </a:r>
            <a:r>
              <a:rPr sz="1400" spc="-30" dirty="0">
                <a:latin typeface="Arial MT"/>
                <a:cs typeface="Arial MT"/>
              </a:rPr>
              <a:t> </a:t>
            </a:r>
            <a:r>
              <a:rPr sz="1400" dirty="0">
                <a:latin typeface="Arial MT"/>
                <a:cs typeface="Arial MT"/>
              </a:rPr>
              <a:t>on</a:t>
            </a:r>
            <a:r>
              <a:rPr sz="1400" spc="-20" dirty="0">
                <a:latin typeface="Arial MT"/>
                <a:cs typeface="Arial MT"/>
              </a:rPr>
              <a:t> </a:t>
            </a:r>
            <a:r>
              <a:rPr sz="1400" b="1" dirty="0">
                <a:solidFill>
                  <a:srgbClr val="188037"/>
                </a:solidFill>
                <a:latin typeface="Courier New"/>
                <a:cs typeface="Courier New"/>
              </a:rPr>
              <a:t>counter</a:t>
            </a:r>
            <a:r>
              <a:rPr sz="1400" dirty="0">
                <a:latin typeface="Arial MT"/>
                <a:cs typeface="Arial MT"/>
              </a:rPr>
              <a:t>)</a:t>
            </a:r>
            <a:r>
              <a:rPr sz="1400" spc="-30" dirty="0">
                <a:latin typeface="Arial MT"/>
                <a:cs typeface="Arial MT"/>
              </a:rPr>
              <a:t> </a:t>
            </a:r>
            <a:r>
              <a:rPr sz="1400" dirty="0">
                <a:latin typeface="Arial MT"/>
                <a:cs typeface="Arial MT"/>
              </a:rPr>
              <a:t>from</a:t>
            </a:r>
            <a:r>
              <a:rPr sz="1400" spc="-25" dirty="0">
                <a:latin typeface="Arial MT"/>
                <a:cs typeface="Arial MT"/>
              </a:rPr>
              <a:t> </a:t>
            </a:r>
            <a:r>
              <a:rPr sz="1400" spc="-10" dirty="0">
                <a:latin typeface="Arial MT"/>
                <a:cs typeface="Arial MT"/>
              </a:rPr>
              <a:t>concurrent </a:t>
            </a:r>
            <a:r>
              <a:rPr sz="1400" dirty="0">
                <a:latin typeface="Arial MT"/>
                <a:cs typeface="Arial MT"/>
              </a:rPr>
              <a:t>access</a:t>
            </a:r>
            <a:r>
              <a:rPr sz="1400" spc="-30" dirty="0">
                <a:latin typeface="Arial MT"/>
                <a:cs typeface="Arial MT"/>
              </a:rPr>
              <a:t> </a:t>
            </a:r>
            <a:r>
              <a:rPr sz="1400" dirty="0">
                <a:latin typeface="Arial MT"/>
                <a:cs typeface="Arial MT"/>
              </a:rPr>
              <a:t>by</a:t>
            </a:r>
            <a:r>
              <a:rPr sz="1400" spc="-20" dirty="0">
                <a:latin typeface="Arial MT"/>
                <a:cs typeface="Arial MT"/>
              </a:rPr>
              <a:t> </a:t>
            </a:r>
            <a:r>
              <a:rPr sz="1400" dirty="0">
                <a:latin typeface="Arial MT"/>
                <a:cs typeface="Arial MT"/>
              </a:rPr>
              <a:t>other</a:t>
            </a:r>
            <a:r>
              <a:rPr sz="1400" spc="-15" dirty="0">
                <a:latin typeface="Arial MT"/>
                <a:cs typeface="Arial MT"/>
              </a:rPr>
              <a:t> </a:t>
            </a:r>
            <a:r>
              <a:rPr sz="1400" dirty="0">
                <a:latin typeface="Arial MT"/>
                <a:cs typeface="Arial MT"/>
              </a:rPr>
              <a:t>threads,</a:t>
            </a:r>
            <a:r>
              <a:rPr sz="1400" spc="-20" dirty="0">
                <a:latin typeface="Arial MT"/>
                <a:cs typeface="Arial MT"/>
              </a:rPr>
              <a:t> </a:t>
            </a:r>
            <a:r>
              <a:rPr sz="1400" dirty="0">
                <a:latin typeface="Arial MT"/>
                <a:cs typeface="Arial MT"/>
              </a:rPr>
              <a:t>thus</a:t>
            </a:r>
            <a:r>
              <a:rPr sz="1400" spc="-20" dirty="0">
                <a:latin typeface="Arial MT"/>
                <a:cs typeface="Arial MT"/>
              </a:rPr>
              <a:t> </a:t>
            </a:r>
            <a:r>
              <a:rPr sz="1400" dirty="0">
                <a:latin typeface="Arial MT"/>
                <a:cs typeface="Arial MT"/>
              </a:rPr>
              <a:t>preventing</a:t>
            </a:r>
            <a:r>
              <a:rPr sz="1400" spc="-15" dirty="0">
                <a:latin typeface="Arial MT"/>
                <a:cs typeface="Arial MT"/>
              </a:rPr>
              <a:t> </a:t>
            </a:r>
            <a:r>
              <a:rPr sz="1400" spc="-20" dirty="0">
                <a:latin typeface="Arial MT"/>
                <a:cs typeface="Arial MT"/>
              </a:rPr>
              <a:t>race </a:t>
            </a:r>
            <a:r>
              <a:rPr sz="1400" spc="-10" dirty="0">
                <a:latin typeface="Arial MT"/>
                <a:cs typeface="Arial MT"/>
              </a:rPr>
              <a:t>conditions.</a:t>
            </a:r>
            <a:endParaRPr sz="1400" dirty="0">
              <a:latin typeface="Arial MT"/>
              <a:cs typeface="Arial MT"/>
            </a:endParaRPr>
          </a:p>
        </p:txBody>
      </p:sp>
      <p:pic>
        <p:nvPicPr>
          <p:cNvPr id="4" name="object 4" descr="A C code snippet demonstrating the use of pthread_mutex_t. It shows a counter being incremented within a critical section protected by pthread_mutex_lock and pthread_mutex_unlock, ensuring thread safety between two concurrent threads."/>
          <p:cNvPicPr/>
          <p:nvPr/>
        </p:nvPicPr>
        <p:blipFill>
          <a:blip r:embed="rId3" cstate="print"/>
          <a:stretch>
            <a:fillRect/>
          </a:stretch>
        </p:blipFill>
        <p:spPr>
          <a:xfrm>
            <a:off x="5344625" y="1488975"/>
            <a:ext cx="6485023" cy="5216624"/>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0375" y="1295400"/>
            <a:ext cx="3399790" cy="406400"/>
          </a:xfrm>
          <a:prstGeom prst="rect">
            <a:avLst/>
          </a:prstGeom>
        </p:spPr>
        <p:txBody>
          <a:bodyPr vert="horz" wrap="square" lIns="0" tIns="12700" rIns="0" bIns="0" rtlCol="0">
            <a:spAutoFit/>
          </a:bodyPr>
          <a:lstStyle/>
          <a:p>
            <a:pPr marL="12700">
              <a:lnSpc>
                <a:spcPct val="100000"/>
              </a:lnSpc>
              <a:spcBef>
                <a:spcPts val="100"/>
              </a:spcBef>
            </a:pPr>
            <a:r>
              <a:rPr dirty="0"/>
              <a:t>Thread</a:t>
            </a:r>
            <a:r>
              <a:rPr spc="-110" dirty="0"/>
              <a:t> </a:t>
            </a:r>
            <a:r>
              <a:rPr spc="-10" dirty="0"/>
              <a:t>Synchronization</a:t>
            </a:r>
          </a:p>
        </p:txBody>
      </p:sp>
      <p:sp>
        <p:nvSpPr>
          <p:cNvPr id="3" name="object 3"/>
          <p:cNvSpPr txBox="1"/>
          <p:nvPr/>
        </p:nvSpPr>
        <p:spPr>
          <a:xfrm>
            <a:off x="410375" y="1650390"/>
            <a:ext cx="4643120" cy="4757713"/>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0F2044"/>
                </a:solidFill>
                <a:latin typeface="Georgia"/>
                <a:cs typeface="Georgia"/>
              </a:rPr>
              <a:t>Mutual</a:t>
            </a:r>
            <a:r>
              <a:rPr sz="1800" spc="-70" dirty="0">
                <a:solidFill>
                  <a:srgbClr val="0F2044"/>
                </a:solidFill>
                <a:latin typeface="Georgia"/>
                <a:cs typeface="Georgia"/>
              </a:rPr>
              <a:t> </a:t>
            </a:r>
            <a:r>
              <a:rPr sz="1800" dirty="0">
                <a:solidFill>
                  <a:srgbClr val="0F2044"/>
                </a:solidFill>
                <a:latin typeface="Georgia"/>
                <a:cs typeface="Georgia"/>
              </a:rPr>
              <a:t>Exclusion:</a:t>
            </a:r>
            <a:r>
              <a:rPr sz="1800" spc="-70" dirty="0">
                <a:solidFill>
                  <a:srgbClr val="0F2044"/>
                </a:solidFill>
                <a:latin typeface="Georgia"/>
                <a:cs typeface="Georgia"/>
              </a:rPr>
              <a:t> </a:t>
            </a:r>
            <a:r>
              <a:rPr sz="1800" spc="-10" dirty="0">
                <a:solidFill>
                  <a:srgbClr val="0F2044"/>
                </a:solidFill>
                <a:latin typeface="Georgia"/>
                <a:cs typeface="Georgia"/>
              </a:rPr>
              <a:t>Mutexes</a:t>
            </a:r>
            <a:endParaRPr sz="1800" dirty="0">
              <a:latin typeface="Georgia"/>
              <a:cs typeface="Georgia"/>
            </a:endParaRPr>
          </a:p>
          <a:p>
            <a:pPr marL="12700">
              <a:lnSpc>
                <a:spcPct val="100000"/>
              </a:lnSpc>
              <a:spcBef>
                <a:spcPts val="1800"/>
              </a:spcBef>
            </a:pPr>
            <a:r>
              <a:rPr sz="1600" b="1" dirty="0">
                <a:latin typeface="Arial"/>
                <a:cs typeface="Arial"/>
              </a:rPr>
              <a:t>Thread</a:t>
            </a:r>
            <a:r>
              <a:rPr sz="1600" b="1" spc="-35" dirty="0">
                <a:latin typeface="Arial"/>
                <a:cs typeface="Arial"/>
              </a:rPr>
              <a:t> </a:t>
            </a:r>
            <a:r>
              <a:rPr sz="1600" b="1" dirty="0">
                <a:latin typeface="Arial"/>
                <a:cs typeface="Arial"/>
              </a:rPr>
              <a:t>Creation</a:t>
            </a:r>
            <a:r>
              <a:rPr sz="1600" b="1" spc="-35" dirty="0">
                <a:latin typeface="Arial"/>
                <a:cs typeface="Arial"/>
              </a:rPr>
              <a:t> </a:t>
            </a:r>
            <a:r>
              <a:rPr sz="1600" b="1" spc="-10" dirty="0">
                <a:latin typeface="Arial"/>
                <a:cs typeface="Arial"/>
              </a:rPr>
              <a:t>(</a:t>
            </a:r>
            <a:r>
              <a:rPr sz="1600" b="1" spc="-10" dirty="0">
                <a:solidFill>
                  <a:srgbClr val="188037"/>
                </a:solidFill>
                <a:latin typeface="Courier New"/>
                <a:cs typeface="Courier New"/>
              </a:rPr>
              <a:t>pthread_create</a:t>
            </a:r>
            <a:r>
              <a:rPr sz="1600" b="1" spc="-10" dirty="0">
                <a:latin typeface="Arial"/>
                <a:cs typeface="Arial"/>
              </a:rPr>
              <a:t>)</a:t>
            </a:r>
            <a:r>
              <a:rPr sz="1600" spc="-10" dirty="0">
                <a:latin typeface="Arial MT"/>
                <a:cs typeface="Arial MT"/>
              </a:rPr>
              <a:t>:</a:t>
            </a:r>
            <a:endParaRPr sz="1600" dirty="0">
              <a:latin typeface="Arial MT"/>
              <a:cs typeface="Arial MT"/>
            </a:endParaRPr>
          </a:p>
          <a:p>
            <a:pPr marL="469900" marR="5080" indent="-351790">
              <a:lnSpc>
                <a:spcPct val="114999"/>
              </a:lnSpc>
              <a:spcBef>
                <a:spcPts val="1200"/>
              </a:spcBef>
              <a:spcAft>
                <a:spcPts val="1200"/>
              </a:spcAft>
              <a:buChar char="●"/>
              <a:tabLst>
                <a:tab pos="469900" algn="l"/>
              </a:tabLst>
            </a:pPr>
            <a:r>
              <a:rPr sz="1600" dirty="0">
                <a:latin typeface="Arial MT"/>
                <a:cs typeface="Arial MT"/>
              </a:rPr>
              <a:t>Two</a:t>
            </a:r>
            <a:r>
              <a:rPr sz="1600" spc="-90" dirty="0">
                <a:latin typeface="Arial MT"/>
                <a:cs typeface="Arial MT"/>
              </a:rPr>
              <a:t> </a:t>
            </a:r>
            <a:r>
              <a:rPr sz="1600" dirty="0">
                <a:latin typeface="Arial MT"/>
                <a:cs typeface="Arial MT"/>
              </a:rPr>
              <a:t>threads</a:t>
            </a:r>
            <a:r>
              <a:rPr sz="1600" spc="-50" dirty="0">
                <a:latin typeface="Arial MT"/>
                <a:cs typeface="Arial MT"/>
              </a:rPr>
              <a:t> </a:t>
            </a:r>
            <a:r>
              <a:rPr sz="1600" spc="-10" dirty="0">
                <a:latin typeface="Arial MT"/>
                <a:cs typeface="Arial MT"/>
              </a:rPr>
              <a:t>(</a:t>
            </a:r>
            <a:r>
              <a:rPr sz="1600" b="1" spc="-10" dirty="0">
                <a:solidFill>
                  <a:srgbClr val="188037"/>
                </a:solidFill>
                <a:latin typeface="Courier New"/>
                <a:cs typeface="Courier New"/>
              </a:rPr>
              <a:t>t1</a:t>
            </a:r>
            <a:r>
              <a:rPr sz="1600" spc="-520" dirty="0">
                <a:solidFill>
                  <a:srgbClr val="188037"/>
                </a:solidFill>
                <a:latin typeface="Courier New"/>
                <a:cs typeface="Courier New"/>
              </a:rPr>
              <a:t> </a:t>
            </a:r>
            <a:r>
              <a:rPr sz="1600" dirty="0">
                <a:latin typeface="Arial MT"/>
                <a:cs typeface="Arial MT"/>
              </a:rPr>
              <a:t>and</a:t>
            </a:r>
            <a:r>
              <a:rPr sz="1600" spc="-40" dirty="0">
                <a:latin typeface="Arial MT"/>
                <a:cs typeface="Arial MT"/>
              </a:rPr>
              <a:t> </a:t>
            </a:r>
            <a:r>
              <a:rPr sz="1600" b="1" dirty="0">
                <a:solidFill>
                  <a:srgbClr val="188037"/>
                </a:solidFill>
                <a:latin typeface="Courier New"/>
                <a:cs typeface="Courier New"/>
              </a:rPr>
              <a:t>t2</a:t>
            </a:r>
            <a:r>
              <a:rPr sz="1600" dirty="0">
                <a:latin typeface="Arial MT"/>
                <a:cs typeface="Arial MT"/>
              </a:rPr>
              <a:t>)</a:t>
            </a:r>
            <a:r>
              <a:rPr sz="1600" spc="-50" dirty="0">
                <a:latin typeface="Arial MT"/>
                <a:cs typeface="Arial MT"/>
              </a:rPr>
              <a:t> </a:t>
            </a:r>
            <a:r>
              <a:rPr sz="1600" dirty="0">
                <a:latin typeface="Arial MT"/>
                <a:cs typeface="Arial MT"/>
              </a:rPr>
              <a:t>are</a:t>
            </a:r>
            <a:r>
              <a:rPr sz="1600" spc="-45" dirty="0">
                <a:latin typeface="Arial MT"/>
                <a:cs typeface="Arial MT"/>
              </a:rPr>
              <a:t> </a:t>
            </a:r>
            <a:r>
              <a:rPr sz="1600" dirty="0">
                <a:latin typeface="Arial MT"/>
                <a:cs typeface="Arial MT"/>
              </a:rPr>
              <a:t>created,</a:t>
            </a:r>
            <a:r>
              <a:rPr sz="1600" spc="-50" dirty="0">
                <a:latin typeface="Arial MT"/>
                <a:cs typeface="Arial MT"/>
              </a:rPr>
              <a:t> </a:t>
            </a:r>
            <a:r>
              <a:rPr sz="1600" spc="-20" dirty="0">
                <a:latin typeface="Arial MT"/>
                <a:cs typeface="Arial MT"/>
              </a:rPr>
              <a:t>each </a:t>
            </a:r>
            <a:r>
              <a:rPr sz="1600" dirty="0">
                <a:latin typeface="Arial MT"/>
                <a:cs typeface="Arial MT"/>
              </a:rPr>
              <a:t>executing the</a:t>
            </a:r>
            <a:r>
              <a:rPr sz="1600" spc="10" dirty="0">
                <a:latin typeface="Arial MT"/>
                <a:cs typeface="Arial MT"/>
              </a:rPr>
              <a:t> </a:t>
            </a:r>
            <a:r>
              <a:rPr sz="1600" b="1" spc="-20" dirty="0">
                <a:solidFill>
                  <a:srgbClr val="188037"/>
                </a:solidFill>
                <a:latin typeface="Courier New"/>
                <a:cs typeface="Courier New"/>
              </a:rPr>
              <a:t>increment_counter</a:t>
            </a:r>
            <a:r>
              <a:rPr sz="1600" b="1" spc="-515" dirty="0">
                <a:solidFill>
                  <a:srgbClr val="188037"/>
                </a:solidFill>
                <a:latin typeface="Courier New"/>
                <a:cs typeface="Courier New"/>
              </a:rPr>
              <a:t> </a:t>
            </a:r>
            <a:r>
              <a:rPr sz="1600" spc="-10" dirty="0">
                <a:latin typeface="Arial MT"/>
                <a:cs typeface="Arial MT"/>
              </a:rPr>
              <a:t>function.</a:t>
            </a:r>
            <a:endParaRPr sz="1600" dirty="0">
              <a:latin typeface="Arial MT"/>
              <a:cs typeface="Arial MT"/>
            </a:endParaRPr>
          </a:p>
          <a:p>
            <a:pPr marL="469900" marR="420370" indent="-351790">
              <a:lnSpc>
                <a:spcPct val="114999"/>
              </a:lnSpc>
              <a:buChar char="●"/>
              <a:tabLst>
                <a:tab pos="469900" algn="l"/>
              </a:tabLst>
            </a:pPr>
            <a:r>
              <a:rPr sz="1600" dirty="0">
                <a:latin typeface="Arial MT"/>
                <a:cs typeface="Arial MT"/>
              </a:rPr>
              <a:t>Without</a:t>
            </a:r>
            <a:r>
              <a:rPr sz="1600" spc="-60" dirty="0">
                <a:latin typeface="Arial MT"/>
                <a:cs typeface="Arial MT"/>
              </a:rPr>
              <a:t> </a:t>
            </a:r>
            <a:r>
              <a:rPr sz="1600" dirty="0">
                <a:latin typeface="Arial MT"/>
                <a:cs typeface="Arial MT"/>
              </a:rPr>
              <a:t>the</a:t>
            </a:r>
            <a:r>
              <a:rPr sz="1600" spc="-60" dirty="0">
                <a:latin typeface="Arial MT"/>
                <a:cs typeface="Arial MT"/>
              </a:rPr>
              <a:t> </a:t>
            </a:r>
            <a:r>
              <a:rPr sz="1600" dirty="0">
                <a:latin typeface="Arial MT"/>
                <a:cs typeface="Arial MT"/>
              </a:rPr>
              <a:t>mutex,</a:t>
            </a:r>
            <a:r>
              <a:rPr sz="1600" spc="-55" dirty="0">
                <a:latin typeface="Arial MT"/>
                <a:cs typeface="Arial MT"/>
              </a:rPr>
              <a:t> </a:t>
            </a:r>
            <a:r>
              <a:rPr sz="1600" dirty="0">
                <a:latin typeface="Arial MT"/>
                <a:cs typeface="Arial MT"/>
              </a:rPr>
              <a:t>these</a:t>
            </a:r>
            <a:r>
              <a:rPr sz="1600" spc="-60" dirty="0">
                <a:latin typeface="Arial MT"/>
                <a:cs typeface="Arial MT"/>
              </a:rPr>
              <a:t> </a:t>
            </a:r>
            <a:r>
              <a:rPr sz="1600" dirty="0">
                <a:latin typeface="Arial MT"/>
                <a:cs typeface="Arial MT"/>
              </a:rPr>
              <a:t>threads</a:t>
            </a:r>
            <a:r>
              <a:rPr sz="1600" spc="-55" dirty="0">
                <a:latin typeface="Arial MT"/>
                <a:cs typeface="Arial MT"/>
              </a:rPr>
              <a:t> </a:t>
            </a:r>
            <a:r>
              <a:rPr sz="1600" spc="-10" dirty="0">
                <a:latin typeface="Arial MT"/>
                <a:cs typeface="Arial MT"/>
              </a:rPr>
              <a:t>would </a:t>
            </a:r>
            <a:r>
              <a:rPr sz="1600" dirty="0">
                <a:latin typeface="Arial MT"/>
                <a:cs typeface="Arial MT"/>
              </a:rPr>
              <a:t>access</a:t>
            </a:r>
            <a:r>
              <a:rPr sz="1600" spc="5" dirty="0">
                <a:latin typeface="Arial MT"/>
                <a:cs typeface="Arial MT"/>
              </a:rPr>
              <a:t> </a:t>
            </a:r>
            <a:r>
              <a:rPr sz="1600" b="1" spc="-20" dirty="0">
                <a:solidFill>
                  <a:srgbClr val="188037"/>
                </a:solidFill>
                <a:latin typeface="Courier New"/>
                <a:cs typeface="Courier New"/>
              </a:rPr>
              <a:t>counter</a:t>
            </a:r>
            <a:r>
              <a:rPr sz="1600" spc="-505" dirty="0">
                <a:solidFill>
                  <a:srgbClr val="188037"/>
                </a:solidFill>
                <a:latin typeface="Courier New"/>
                <a:cs typeface="Courier New"/>
              </a:rPr>
              <a:t> </a:t>
            </a:r>
            <a:r>
              <a:rPr sz="1600" spc="-10" dirty="0">
                <a:latin typeface="Arial MT"/>
                <a:cs typeface="Arial MT"/>
              </a:rPr>
              <a:t>concurrently,</a:t>
            </a:r>
            <a:r>
              <a:rPr sz="1600" spc="10" dirty="0">
                <a:latin typeface="Arial MT"/>
                <a:cs typeface="Arial MT"/>
              </a:rPr>
              <a:t> </a:t>
            </a:r>
            <a:r>
              <a:rPr sz="1600" spc="-10" dirty="0">
                <a:latin typeface="Arial MT"/>
                <a:cs typeface="Arial MT"/>
              </a:rPr>
              <a:t>potentially </a:t>
            </a:r>
            <a:r>
              <a:rPr sz="1600" dirty="0">
                <a:latin typeface="Arial MT"/>
                <a:cs typeface="Arial MT"/>
              </a:rPr>
              <a:t>causing</a:t>
            </a:r>
            <a:r>
              <a:rPr sz="1600" spc="-60" dirty="0">
                <a:latin typeface="Arial MT"/>
                <a:cs typeface="Arial MT"/>
              </a:rPr>
              <a:t> </a:t>
            </a:r>
            <a:r>
              <a:rPr sz="1600" dirty="0">
                <a:latin typeface="Arial MT"/>
                <a:cs typeface="Arial MT"/>
              </a:rPr>
              <a:t>incorrect</a:t>
            </a:r>
            <a:r>
              <a:rPr sz="1600" spc="-60" dirty="0">
                <a:latin typeface="Arial MT"/>
                <a:cs typeface="Arial MT"/>
              </a:rPr>
              <a:t> </a:t>
            </a:r>
            <a:r>
              <a:rPr sz="1600" dirty="0">
                <a:latin typeface="Arial MT"/>
                <a:cs typeface="Arial MT"/>
              </a:rPr>
              <a:t>results.</a:t>
            </a:r>
            <a:r>
              <a:rPr sz="1600" spc="-60" dirty="0">
                <a:latin typeface="Arial MT"/>
                <a:cs typeface="Arial MT"/>
              </a:rPr>
              <a:t> </a:t>
            </a:r>
            <a:r>
              <a:rPr sz="1600" dirty="0">
                <a:latin typeface="Arial MT"/>
                <a:cs typeface="Arial MT"/>
              </a:rPr>
              <a:t>Here,</a:t>
            </a:r>
            <a:r>
              <a:rPr sz="1600" spc="-60" dirty="0">
                <a:latin typeface="Arial MT"/>
                <a:cs typeface="Arial MT"/>
              </a:rPr>
              <a:t> </a:t>
            </a:r>
            <a:r>
              <a:rPr sz="1600" dirty="0">
                <a:latin typeface="Arial MT"/>
                <a:cs typeface="Arial MT"/>
              </a:rPr>
              <a:t>the</a:t>
            </a:r>
            <a:r>
              <a:rPr sz="1600" spc="-60" dirty="0">
                <a:latin typeface="Arial MT"/>
                <a:cs typeface="Arial MT"/>
              </a:rPr>
              <a:t> </a:t>
            </a:r>
            <a:r>
              <a:rPr sz="1600" spc="-10" dirty="0">
                <a:latin typeface="Arial MT"/>
                <a:cs typeface="Arial MT"/>
              </a:rPr>
              <a:t>mutex </a:t>
            </a:r>
            <a:r>
              <a:rPr sz="1600" dirty="0">
                <a:latin typeface="Arial MT"/>
                <a:cs typeface="Arial MT"/>
              </a:rPr>
              <a:t>enforces</a:t>
            </a:r>
            <a:r>
              <a:rPr sz="1600" spc="-35" dirty="0">
                <a:latin typeface="Arial MT"/>
                <a:cs typeface="Arial MT"/>
              </a:rPr>
              <a:t> </a:t>
            </a:r>
            <a:r>
              <a:rPr sz="1600" spc="-20" dirty="0">
                <a:latin typeface="Arial MT"/>
                <a:cs typeface="Arial MT"/>
              </a:rPr>
              <a:t>thread-</a:t>
            </a:r>
            <a:r>
              <a:rPr sz="1600" dirty="0">
                <a:latin typeface="Arial MT"/>
                <a:cs typeface="Arial MT"/>
              </a:rPr>
              <a:t>safe</a:t>
            </a:r>
            <a:r>
              <a:rPr sz="1600" spc="-30" dirty="0">
                <a:latin typeface="Arial MT"/>
                <a:cs typeface="Arial MT"/>
              </a:rPr>
              <a:t> </a:t>
            </a:r>
            <a:r>
              <a:rPr sz="1600" spc="-10" dirty="0">
                <a:latin typeface="Arial MT"/>
                <a:cs typeface="Arial MT"/>
              </a:rPr>
              <a:t>access.</a:t>
            </a:r>
            <a:endParaRPr sz="1600" dirty="0">
              <a:latin typeface="Arial MT"/>
              <a:cs typeface="Arial MT"/>
            </a:endParaRPr>
          </a:p>
          <a:p>
            <a:pPr marL="12700">
              <a:lnSpc>
                <a:spcPct val="100000"/>
              </a:lnSpc>
              <a:spcBef>
                <a:spcPts val="1485"/>
              </a:spcBef>
            </a:pPr>
            <a:r>
              <a:rPr sz="1600" b="1" dirty="0">
                <a:latin typeface="Arial"/>
                <a:cs typeface="Arial"/>
              </a:rPr>
              <a:t>Thread</a:t>
            </a:r>
            <a:r>
              <a:rPr sz="1600" b="1" spc="-35" dirty="0">
                <a:latin typeface="Arial"/>
                <a:cs typeface="Arial"/>
              </a:rPr>
              <a:t> </a:t>
            </a:r>
            <a:r>
              <a:rPr sz="1600" b="1" dirty="0">
                <a:latin typeface="Arial"/>
                <a:cs typeface="Arial"/>
              </a:rPr>
              <a:t>Joining</a:t>
            </a:r>
            <a:r>
              <a:rPr sz="1600" b="1" spc="-30" dirty="0">
                <a:latin typeface="Arial"/>
                <a:cs typeface="Arial"/>
              </a:rPr>
              <a:t> </a:t>
            </a:r>
            <a:r>
              <a:rPr sz="1600" b="1" spc="-10" dirty="0">
                <a:latin typeface="Arial"/>
                <a:cs typeface="Arial"/>
              </a:rPr>
              <a:t>(</a:t>
            </a:r>
            <a:r>
              <a:rPr sz="1600" b="1" spc="-10" dirty="0">
                <a:solidFill>
                  <a:srgbClr val="188037"/>
                </a:solidFill>
                <a:latin typeface="Courier New"/>
                <a:cs typeface="Courier New"/>
              </a:rPr>
              <a:t>pthread_join</a:t>
            </a:r>
            <a:r>
              <a:rPr sz="1600" b="1" spc="-10" dirty="0">
                <a:latin typeface="Arial"/>
                <a:cs typeface="Arial"/>
              </a:rPr>
              <a:t>)</a:t>
            </a:r>
            <a:r>
              <a:rPr sz="1600" spc="-10" dirty="0">
                <a:latin typeface="Arial MT"/>
                <a:cs typeface="Arial MT"/>
              </a:rPr>
              <a:t>:</a:t>
            </a:r>
            <a:endParaRPr sz="1600" dirty="0">
              <a:latin typeface="Arial MT"/>
              <a:cs typeface="Arial MT"/>
            </a:endParaRPr>
          </a:p>
          <a:p>
            <a:pPr marL="469900" marR="41910" indent="-351790">
              <a:lnSpc>
                <a:spcPct val="114999"/>
              </a:lnSpc>
              <a:spcBef>
                <a:spcPts val="1200"/>
              </a:spcBef>
              <a:buClr>
                <a:srgbClr val="000000"/>
              </a:buClr>
              <a:buFont typeface="Arial MT"/>
              <a:buChar char="●"/>
              <a:tabLst>
                <a:tab pos="469900" algn="l"/>
              </a:tabLst>
            </a:pPr>
            <a:r>
              <a:rPr sz="1600" b="1" spc="-20" dirty="0">
                <a:solidFill>
                  <a:srgbClr val="188037"/>
                </a:solidFill>
                <a:latin typeface="Courier New"/>
                <a:cs typeface="Courier New"/>
              </a:rPr>
              <a:t>pthread_join</a:t>
            </a:r>
            <a:r>
              <a:rPr sz="1600" b="1" spc="-520" dirty="0">
                <a:solidFill>
                  <a:srgbClr val="188037"/>
                </a:solidFill>
                <a:latin typeface="Courier New"/>
                <a:cs typeface="Courier New"/>
              </a:rPr>
              <a:t> </a:t>
            </a:r>
            <a:r>
              <a:rPr sz="1600" dirty="0">
                <a:latin typeface="Arial MT"/>
                <a:cs typeface="Arial MT"/>
              </a:rPr>
              <a:t>is</a:t>
            </a:r>
            <a:r>
              <a:rPr sz="1600" spc="-5" dirty="0">
                <a:latin typeface="Arial MT"/>
                <a:cs typeface="Arial MT"/>
              </a:rPr>
              <a:t> </a:t>
            </a:r>
            <a:r>
              <a:rPr sz="1600" dirty="0">
                <a:latin typeface="Arial MT"/>
                <a:cs typeface="Arial MT"/>
              </a:rPr>
              <a:t>used</a:t>
            </a:r>
            <a:r>
              <a:rPr sz="1600" spc="-5" dirty="0">
                <a:latin typeface="Arial MT"/>
                <a:cs typeface="Arial MT"/>
              </a:rPr>
              <a:t> </a:t>
            </a:r>
            <a:r>
              <a:rPr sz="1600" dirty="0">
                <a:latin typeface="Arial MT"/>
                <a:cs typeface="Arial MT"/>
              </a:rPr>
              <a:t>to</a:t>
            </a:r>
            <a:r>
              <a:rPr sz="1600" spc="-5" dirty="0">
                <a:latin typeface="Arial MT"/>
                <a:cs typeface="Arial MT"/>
              </a:rPr>
              <a:t> </a:t>
            </a:r>
            <a:r>
              <a:rPr sz="1600" dirty="0">
                <a:latin typeface="Arial MT"/>
                <a:cs typeface="Arial MT"/>
              </a:rPr>
              <a:t>wait</a:t>
            </a:r>
            <a:r>
              <a:rPr sz="1600" spc="-5" dirty="0">
                <a:latin typeface="Arial MT"/>
                <a:cs typeface="Arial MT"/>
              </a:rPr>
              <a:t> </a:t>
            </a:r>
            <a:r>
              <a:rPr sz="1600" dirty="0">
                <a:latin typeface="Arial MT"/>
                <a:cs typeface="Arial MT"/>
              </a:rPr>
              <a:t>for</a:t>
            </a:r>
            <a:r>
              <a:rPr sz="1600" spc="-5" dirty="0">
                <a:latin typeface="Arial MT"/>
                <a:cs typeface="Arial MT"/>
              </a:rPr>
              <a:t> </a:t>
            </a:r>
            <a:r>
              <a:rPr sz="1600" spc="-20" dirty="0">
                <a:latin typeface="Arial MT"/>
                <a:cs typeface="Arial MT"/>
              </a:rPr>
              <a:t>both </a:t>
            </a:r>
            <a:r>
              <a:rPr sz="1600" dirty="0">
                <a:latin typeface="Arial MT"/>
                <a:cs typeface="Arial MT"/>
              </a:rPr>
              <a:t>threads</a:t>
            </a:r>
            <a:r>
              <a:rPr sz="1600" spc="-50" dirty="0">
                <a:latin typeface="Arial MT"/>
                <a:cs typeface="Arial MT"/>
              </a:rPr>
              <a:t> </a:t>
            </a:r>
            <a:r>
              <a:rPr sz="1600" spc="-20" dirty="0">
                <a:latin typeface="Arial MT"/>
                <a:cs typeface="Arial MT"/>
              </a:rPr>
              <a:t>(</a:t>
            </a:r>
            <a:r>
              <a:rPr sz="1600" b="1" spc="-20" dirty="0">
                <a:solidFill>
                  <a:srgbClr val="188037"/>
                </a:solidFill>
                <a:latin typeface="Courier New"/>
                <a:cs typeface="Courier New"/>
              </a:rPr>
              <a:t>t1</a:t>
            </a:r>
            <a:r>
              <a:rPr sz="1600" spc="-520" dirty="0">
                <a:solidFill>
                  <a:srgbClr val="188037"/>
                </a:solidFill>
                <a:latin typeface="Courier New"/>
                <a:cs typeface="Courier New"/>
              </a:rPr>
              <a:t> </a:t>
            </a:r>
            <a:r>
              <a:rPr sz="1600" dirty="0">
                <a:latin typeface="Arial MT"/>
                <a:cs typeface="Arial MT"/>
              </a:rPr>
              <a:t>and</a:t>
            </a:r>
            <a:r>
              <a:rPr sz="1600" spc="-25" dirty="0">
                <a:latin typeface="Arial MT"/>
                <a:cs typeface="Arial MT"/>
              </a:rPr>
              <a:t> </a:t>
            </a:r>
            <a:r>
              <a:rPr sz="1600" b="1" dirty="0">
                <a:solidFill>
                  <a:srgbClr val="188037"/>
                </a:solidFill>
                <a:latin typeface="Courier New"/>
                <a:cs typeface="Courier New"/>
              </a:rPr>
              <a:t>t2</a:t>
            </a:r>
            <a:r>
              <a:rPr sz="1600" dirty="0">
                <a:latin typeface="Arial MT"/>
                <a:cs typeface="Arial MT"/>
              </a:rPr>
              <a:t>)</a:t>
            </a:r>
            <a:r>
              <a:rPr sz="1600" spc="-25" dirty="0">
                <a:latin typeface="Arial MT"/>
                <a:cs typeface="Arial MT"/>
              </a:rPr>
              <a:t> </a:t>
            </a:r>
            <a:r>
              <a:rPr sz="1600" dirty="0">
                <a:latin typeface="Arial MT"/>
                <a:cs typeface="Arial MT"/>
              </a:rPr>
              <a:t>to</a:t>
            </a:r>
            <a:r>
              <a:rPr sz="1600" spc="-30" dirty="0">
                <a:latin typeface="Arial MT"/>
                <a:cs typeface="Arial MT"/>
              </a:rPr>
              <a:t> </a:t>
            </a:r>
            <a:r>
              <a:rPr sz="1600" dirty="0">
                <a:latin typeface="Arial MT"/>
                <a:cs typeface="Arial MT"/>
              </a:rPr>
              <a:t>finish</a:t>
            </a:r>
            <a:r>
              <a:rPr sz="1600" spc="-25" dirty="0">
                <a:latin typeface="Arial MT"/>
                <a:cs typeface="Arial MT"/>
              </a:rPr>
              <a:t> </a:t>
            </a:r>
            <a:r>
              <a:rPr sz="1600" dirty="0">
                <a:latin typeface="Arial MT"/>
                <a:cs typeface="Arial MT"/>
              </a:rPr>
              <a:t>execution</a:t>
            </a:r>
            <a:r>
              <a:rPr sz="1600" spc="-30" dirty="0">
                <a:latin typeface="Arial MT"/>
                <a:cs typeface="Arial MT"/>
              </a:rPr>
              <a:t> </a:t>
            </a:r>
            <a:r>
              <a:rPr sz="1600" spc="-10" dirty="0">
                <a:latin typeface="Arial MT"/>
                <a:cs typeface="Arial MT"/>
              </a:rPr>
              <a:t>before </a:t>
            </a:r>
            <a:r>
              <a:rPr sz="1600" dirty="0">
                <a:latin typeface="Arial MT"/>
                <a:cs typeface="Arial MT"/>
              </a:rPr>
              <a:t>proceeding,</a:t>
            </a:r>
            <a:r>
              <a:rPr sz="1600" spc="-40" dirty="0">
                <a:latin typeface="Arial MT"/>
                <a:cs typeface="Arial MT"/>
              </a:rPr>
              <a:t> </a:t>
            </a:r>
            <a:r>
              <a:rPr sz="1600" dirty="0">
                <a:latin typeface="Arial MT"/>
                <a:cs typeface="Arial MT"/>
              </a:rPr>
              <a:t>ensuring</a:t>
            </a:r>
            <a:r>
              <a:rPr sz="1600" spc="-40" dirty="0">
                <a:latin typeface="Arial MT"/>
                <a:cs typeface="Arial MT"/>
              </a:rPr>
              <a:t> </a:t>
            </a:r>
            <a:r>
              <a:rPr sz="1600" dirty="0">
                <a:latin typeface="Arial MT"/>
                <a:cs typeface="Arial MT"/>
              </a:rPr>
              <a:t>that</a:t>
            </a:r>
            <a:r>
              <a:rPr sz="1600" spc="-40" dirty="0">
                <a:latin typeface="Arial MT"/>
                <a:cs typeface="Arial MT"/>
              </a:rPr>
              <a:t> </a:t>
            </a:r>
            <a:r>
              <a:rPr sz="1600" dirty="0">
                <a:latin typeface="Arial MT"/>
                <a:cs typeface="Arial MT"/>
              </a:rPr>
              <a:t>the</a:t>
            </a:r>
            <a:r>
              <a:rPr sz="1600" spc="-40" dirty="0">
                <a:latin typeface="Arial MT"/>
                <a:cs typeface="Arial MT"/>
              </a:rPr>
              <a:t> </a:t>
            </a:r>
            <a:r>
              <a:rPr sz="1600" dirty="0">
                <a:latin typeface="Arial MT"/>
                <a:cs typeface="Arial MT"/>
              </a:rPr>
              <a:t>main</a:t>
            </a:r>
            <a:r>
              <a:rPr sz="1600" spc="-40" dirty="0">
                <a:latin typeface="Arial MT"/>
                <a:cs typeface="Arial MT"/>
              </a:rPr>
              <a:t> </a:t>
            </a:r>
            <a:r>
              <a:rPr sz="1600" spc="-10" dirty="0">
                <a:latin typeface="Arial MT"/>
                <a:cs typeface="Arial MT"/>
              </a:rPr>
              <a:t>function </a:t>
            </a:r>
            <a:r>
              <a:rPr sz="1600" dirty="0">
                <a:latin typeface="Arial MT"/>
                <a:cs typeface="Arial MT"/>
              </a:rPr>
              <a:t>only</a:t>
            </a:r>
            <a:r>
              <a:rPr sz="1600" spc="-10" dirty="0">
                <a:latin typeface="Arial MT"/>
                <a:cs typeface="Arial MT"/>
              </a:rPr>
              <a:t> </a:t>
            </a:r>
            <a:r>
              <a:rPr sz="1600" dirty="0">
                <a:latin typeface="Arial MT"/>
                <a:cs typeface="Arial MT"/>
              </a:rPr>
              <a:t>prints</a:t>
            </a:r>
            <a:r>
              <a:rPr sz="1600" spc="-5" dirty="0">
                <a:latin typeface="Arial MT"/>
                <a:cs typeface="Arial MT"/>
              </a:rPr>
              <a:t> </a:t>
            </a:r>
            <a:r>
              <a:rPr sz="1600" b="1" spc="-20" dirty="0">
                <a:solidFill>
                  <a:srgbClr val="188037"/>
                </a:solidFill>
                <a:latin typeface="Courier New"/>
                <a:cs typeface="Courier New"/>
              </a:rPr>
              <a:t>counter</a:t>
            </a:r>
            <a:r>
              <a:rPr sz="1600" spc="-520" dirty="0">
                <a:solidFill>
                  <a:srgbClr val="188037"/>
                </a:solidFill>
                <a:latin typeface="Courier New"/>
                <a:cs typeface="Courier New"/>
              </a:rPr>
              <a:t> </a:t>
            </a:r>
            <a:r>
              <a:rPr sz="1600" dirty="0">
                <a:latin typeface="Arial MT"/>
                <a:cs typeface="Arial MT"/>
              </a:rPr>
              <a:t>after</a:t>
            </a:r>
            <a:r>
              <a:rPr sz="1600" spc="-5" dirty="0">
                <a:latin typeface="Arial MT"/>
                <a:cs typeface="Arial MT"/>
              </a:rPr>
              <a:t> </a:t>
            </a:r>
            <a:r>
              <a:rPr sz="1600" dirty="0">
                <a:latin typeface="Arial MT"/>
                <a:cs typeface="Arial MT"/>
              </a:rPr>
              <a:t>both</a:t>
            </a:r>
            <a:r>
              <a:rPr sz="1600" spc="-5" dirty="0">
                <a:latin typeface="Arial MT"/>
                <a:cs typeface="Arial MT"/>
              </a:rPr>
              <a:t> </a:t>
            </a:r>
            <a:r>
              <a:rPr sz="1600" spc="-10" dirty="0">
                <a:latin typeface="Arial MT"/>
                <a:cs typeface="Arial MT"/>
              </a:rPr>
              <a:t>threads complete.</a:t>
            </a:r>
            <a:endParaRPr sz="1600" dirty="0">
              <a:latin typeface="Arial MT"/>
              <a:cs typeface="Arial MT"/>
            </a:endParaRPr>
          </a:p>
        </p:txBody>
      </p:sp>
      <p:pic>
        <p:nvPicPr>
          <p:cNvPr id="4" name="object 4">
            <a:extLst>
              <a:ext uri="{C183D7F6-B498-43B3-948B-1728B52AA6E4}">
                <adec:decorative xmlns:adec="http://schemas.microsoft.com/office/drawing/2017/decorative" val="1"/>
              </a:ext>
            </a:extLst>
          </p:cNvPr>
          <p:cNvPicPr/>
          <p:nvPr/>
        </p:nvPicPr>
        <p:blipFill>
          <a:blip r:embed="rId2" cstate="print"/>
          <a:stretch>
            <a:fillRect/>
          </a:stretch>
        </p:blipFill>
        <p:spPr>
          <a:xfrm>
            <a:off x="5344625" y="1488975"/>
            <a:ext cx="6485023" cy="5216624"/>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0375" y="1295400"/>
            <a:ext cx="3399790" cy="655320"/>
          </a:xfrm>
          <a:prstGeom prst="rect">
            <a:avLst/>
          </a:prstGeom>
        </p:spPr>
        <p:txBody>
          <a:bodyPr vert="horz" wrap="square" lIns="0" tIns="12700" rIns="0" bIns="0" rtlCol="0">
            <a:spAutoFit/>
          </a:bodyPr>
          <a:lstStyle/>
          <a:p>
            <a:pPr marL="12700">
              <a:lnSpc>
                <a:spcPts val="2900"/>
              </a:lnSpc>
              <a:spcBef>
                <a:spcPts val="100"/>
              </a:spcBef>
            </a:pPr>
            <a:r>
              <a:rPr dirty="0"/>
              <a:t>Thread</a:t>
            </a:r>
            <a:r>
              <a:rPr spc="-110" dirty="0"/>
              <a:t> </a:t>
            </a:r>
            <a:r>
              <a:rPr spc="-10" dirty="0"/>
              <a:t>Synchronization</a:t>
            </a:r>
          </a:p>
          <a:p>
            <a:pPr marL="12700">
              <a:lnSpc>
                <a:spcPts val="2060"/>
              </a:lnSpc>
            </a:pPr>
            <a:r>
              <a:rPr sz="1800" dirty="0"/>
              <a:t>Mutual</a:t>
            </a:r>
            <a:r>
              <a:rPr sz="1800" spc="-70" dirty="0"/>
              <a:t> </a:t>
            </a:r>
            <a:r>
              <a:rPr sz="1800" dirty="0"/>
              <a:t>Exclusion:</a:t>
            </a:r>
            <a:r>
              <a:rPr sz="1800" spc="-70" dirty="0"/>
              <a:t> </a:t>
            </a:r>
            <a:r>
              <a:rPr sz="1800" spc="-10" dirty="0"/>
              <a:t>Mutexes</a:t>
            </a:r>
            <a:endParaRPr sz="1800" dirty="0"/>
          </a:p>
        </p:txBody>
      </p:sp>
      <p:sp>
        <p:nvSpPr>
          <p:cNvPr id="3" name="object 3"/>
          <p:cNvSpPr txBox="1"/>
          <p:nvPr/>
        </p:nvSpPr>
        <p:spPr>
          <a:xfrm>
            <a:off x="410375" y="2986571"/>
            <a:ext cx="4591050" cy="2104390"/>
          </a:xfrm>
          <a:prstGeom prst="rect">
            <a:avLst/>
          </a:prstGeom>
        </p:spPr>
        <p:txBody>
          <a:bodyPr vert="horz" wrap="square" lIns="0" tIns="12700" rIns="0" bIns="0" rtlCol="0">
            <a:spAutoFit/>
          </a:bodyPr>
          <a:lstStyle/>
          <a:p>
            <a:pPr marL="12700">
              <a:lnSpc>
                <a:spcPct val="100000"/>
              </a:lnSpc>
              <a:spcBef>
                <a:spcPts val="100"/>
              </a:spcBef>
            </a:pPr>
            <a:r>
              <a:rPr sz="1600" b="1" dirty="0">
                <a:latin typeface="Arial"/>
                <a:cs typeface="Arial"/>
              </a:rPr>
              <a:t>Mutex</a:t>
            </a:r>
            <a:r>
              <a:rPr sz="1600" b="1" spc="-40" dirty="0">
                <a:latin typeface="Arial"/>
                <a:cs typeface="Arial"/>
              </a:rPr>
              <a:t> </a:t>
            </a:r>
            <a:r>
              <a:rPr sz="1600" b="1" spc="-10" dirty="0">
                <a:latin typeface="Arial"/>
                <a:cs typeface="Arial"/>
              </a:rPr>
              <a:t>Initialization</a:t>
            </a:r>
            <a:r>
              <a:rPr sz="1600" b="1" spc="-35" dirty="0">
                <a:latin typeface="Arial"/>
                <a:cs typeface="Arial"/>
              </a:rPr>
              <a:t> </a:t>
            </a:r>
            <a:r>
              <a:rPr sz="1600" b="1" dirty="0">
                <a:latin typeface="Arial"/>
                <a:cs typeface="Arial"/>
              </a:rPr>
              <a:t>and</a:t>
            </a:r>
            <a:r>
              <a:rPr sz="1600" b="1" spc="-35" dirty="0">
                <a:latin typeface="Arial"/>
                <a:cs typeface="Arial"/>
              </a:rPr>
              <a:t> </a:t>
            </a:r>
            <a:r>
              <a:rPr sz="1600" b="1" spc="-10" dirty="0">
                <a:latin typeface="Arial"/>
                <a:cs typeface="Arial"/>
              </a:rPr>
              <a:t>Destruction</a:t>
            </a:r>
            <a:r>
              <a:rPr sz="1600" spc="-10" dirty="0">
                <a:latin typeface="Arial MT"/>
                <a:cs typeface="Arial MT"/>
              </a:rPr>
              <a:t>:</a:t>
            </a:r>
            <a:endParaRPr sz="1600" dirty="0">
              <a:latin typeface="Arial MT"/>
              <a:cs typeface="Arial MT"/>
            </a:endParaRPr>
          </a:p>
          <a:p>
            <a:pPr marL="469900" marR="5080" indent="-351790">
              <a:lnSpc>
                <a:spcPct val="114999"/>
              </a:lnSpc>
              <a:spcBef>
                <a:spcPts val="1200"/>
              </a:spcBef>
              <a:buClr>
                <a:srgbClr val="000000"/>
              </a:buClr>
              <a:buFont typeface="Arial MT"/>
              <a:buChar char="●"/>
              <a:tabLst>
                <a:tab pos="469900" algn="l"/>
              </a:tabLst>
            </a:pPr>
            <a:r>
              <a:rPr sz="1600" b="1" spc="-10" dirty="0">
                <a:solidFill>
                  <a:srgbClr val="188037"/>
                </a:solidFill>
                <a:latin typeface="Courier New"/>
                <a:cs typeface="Courier New"/>
              </a:rPr>
              <a:t>pthread_mutex_init(&amp;lock,</a:t>
            </a:r>
            <a:r>
              <a:rPr sz="1600" b="1" spc="-120" dirty="0">
                <a:solidFill>
                  <a:srgbClr val="188037"/>
                </a:solidFill>
                <a:latin typeface="Courier New"/>
                <a:cs typeface="Courier New"/>
              </a:rPr>
              <a:t> </a:t>
            </a:r>
            <a:r>
              <a:rPr sz="1600" b="1" spc="-10" dirty="0">
                <a:solidFill>
                  <a:srgbClr val="188037"/>
                </a:solidFill>
                <a:latin typeface="Courier New"/>
                <a:cs typeface="Courier New"/>
              </a:rPr>
              <a:t>NULL); </a:t>
            </a:r>
            <a:r>
              <a:rPr sz="1600" dirty="0">
                <a:latin typeface="Arial MT"/>
                <a:cs typeface="Arial MT"/>
              </a:rPr>
              <a:t>initializes</a:t>
            </a:r>
            <a:r>
              <a:rPr sz="1600" spc="-40" dirty="0">
                <a:latin typeface="Arial MT"/>
                <a:cs typeface="Arial MT"/>
              </a:rPr>
              <a:t> </a:t>
            </a:r>
            <a:r>
              <a:rPr sz="1600" dirty="0">
                <a:latin typeface="Arial MT"/>
                <a:cs typeface="Arial MT"/>
              </a:rPr>
              <a:t>the</a:t>
            </a:r>
            <a:r>
              <a:rPr sz="1600" spc="-35" dirty="0">
                <a:latin typeface="Arial MT"/>
                <a:cs typeface="Arial MT"/>
              </a:rPr>
              <a:t> </a:t>
            </a:r>
            <a:r>
              <a:rPr sz="1600" dirty="0">
                <a:latin typeface="Arial MT"/>
                <a:cs typeface="Arial MT"/>
              </a:rPr>
              <a:t>mutex</a:t>
            </a:r>
            <a:r>
              <a:rPr sz="1600" spc="-35" dirty="0">
                <a:latin typeface="Arial MT"/>
                <a:cs typeface="Arial MT"/>
              </a:rPr>
              <a:t> </a:t>
            </a:r>
            <a:r>
              <a:rPr sz="1600" dirty="0">
                <a:latin typeface="Arial MT"/>
                <a:cs typeface="Arial MT"/>
              </a:rPr>
              <a:t>at</a:t>
            </a:r>
            <a:r>
              <a:rPr sz="1600" spc="-35" dirty="0">
                <a:latin typeface="Arial MT"/>
                <a:cs typeface="Arial MT"/>
              </a:rPr>
              <a:t> </a:t>
            </a:r>
            <a:r>
              <a:rPr sz="1600" dirty="0">
                <a:latin typeface="Arial MT"/>
                <a:cs typeface="Arial MT"/>
              </a:rPr>
              <a:t>the</a:t>
            </a:r>
            <a:r>
              <a:rPr sz="1600" spc="-40" dirty="0">
                <a:latin typeface="Arial MT"/>
                <a:cs typeface="Arial MT"/>
              </a:rPr>
              <a:t> </a:t>
            </a:r>
            <a:r>
              <a:rPr sz="1600" dirty="0">
                <a:latin typeface="Arial MT"/>
                <a:cs typeface="Arial MT"/>
              </a:rPr>
              <a:t>start,</a:t>
            </a:r>
            <a:r>
              <a:rPr sz="1600" spc="-35" dirty="0">
                <a:latin typeface="Arial MT"/>
                <a:cs typeface="Arial MT"/>
              </a:rPr>
              <a:t> </a:t>
            </a:r>
            <a:r>
              <a:rPr sz="1600" spc="-25" dirty="0">
                <a:latin typeface="Arial MT"/>
                <a:cs typeface="Arial MT"/>
              </a:rPr>
              <a:t>and </a:t>
            </a:r>
            <a:r>
              <a:rPr sz="1600" b="1" spc="-10" dirty="0">
                <a:solidFill>
                  <a:srgbClr val="188037"/>
                </a:solidFill>
                <a:latin typeface="Courier New"/>
                <a:cs typeface="Courier New"/>
              </a:rPr>
              <a:t>pthread_mutex_destroy(&amp;lock);</a:t>
            </a:r>
            <a:r>
              <a:rPr sz="1600" spc="-10" dirty="0">
                <a:solidFill>
                  <a:srgbClr val="188037"/>
                </a:solidFill>
                <a:latin typeface="Courier New"/>
                <a:cs typeface="Courier New"/>
              </a:rPr>
              <a:t> </a:t>
            </a:r>
            <a:r>
              <a:rPr sz="1600" dirty="0">
                <a:latin typeface="Arial MT"/>
                <a:cs typeface="Arial MT"/>
              </a:rPr>
              <a:t>releases</a:t>
            </a:r>
            <a:r>
              <a:rPr sz="1600" spc="-25" dirty="0">
                <a:latin typeface="Arial MT"/>
                <a:cs typeface="Arial MT"/>
              </a:rPr>
              <a:t> </a:t>
            </a:r>
            <a:r>
              <a:rPr sz="1600" dirty="0">
                <a:latin typeface="Arial MT"/>
                <a:cs typeface="Arial MT"/>
              </a:rPr>
              <a:t>resources</a:t>
            </a:r>
            <a:r>
              <a:rPr sz="1600" spc="-20" dirty="0">
                <a:latin typeface="Arial MT"/>
                <a:cs typeface="Arial MT"/>
              </a:rPr>
              <a:t> </a:t>
            </a:r>
            <a:r>
              <a:rPr sz="1600" dirty="0">
                <a:latin typeface="Arial MT"/>
                <a:cs typeface="Arial MT"/>
              </a:rPr>
              <a:t>at</a:t>
            </a:r>
            <a:r>
              <a:rPr sz="1600" spc="-20" dirty="0">
                <a:latin typeface="Arial MT"/>
                <a:cs typeface="Arial MT"/>
              </a:rPr>
              <a:t> </a:t>
            </a:r>
            <a:r>
              <a:rPr sz="1600" dirty="0">
                <a:latin typeface="Arial MT"/>
                <a:cs typeface="Arial MT"/>
              </a:rPr>
              <a:t>the</a:t>
            </a:r>
            <a:r>
              <a:rPr sz="1600" spc="-20" dirty="0">
                <a:latin typeface="Arial MT"/>
                <a:cs typeface="Arial MT"/>
              </a:rPr>
              <a:t> </a:t>
            </a:r>
            <a:r>
              <a:rPr sz="1600" dirty="0">
                <a:latin typeface="Arial MT"/>
                <a:cs typeface="Arial MT"/>
              </a:rPr>
              <a:t>end</a:t>
            </a:r>
            <a:r>
              <a:rPr sz="1600" spc="-20" dirty="0">
                <a:latin typeface="Arial MT"/>
                <a:cs typeface="Arial MT"/>
              </a:rPr>
              <a:t> </a:t>
            </a:r>
            <a:r>
              <a:rPr sz="1600" dirty="0">
                <a:latin typeface="Arial MT"/>
                <a:cs typeface="Arial MT"/>
              </a:rPr>
              <a:t>of</a:t>
            </a:r>
            <a:r>
              <a:rPr sz="1600" spc="-25" dirty="0">
                <a:latin typeface="Arial MT"/>
                <a:cs typeface="Arial MT"/>
              </a:rPr>
              <a:t> </a:t>
            </a:r>
            <a:r>
              <a:rPr sz="1600" dirty="0">
                <a:latin typeface="Arial MT"/>
                <a:cs typeface="Arial MT"/>
              </a:rPr>
              <a:t>the</a:t>
            </a:r>
            <a:r>
              <a:rPr sz="1600" spc="-20" dirty="0">
                <a:latin typeface="Arial MT"/>
                <a:cs typeface="Arial MT"/>
              </a:rPr>
              <a:t> </a:t>
            </a:r>
            <a:r>
              <a:rPr sz="1600" spc="-10" dirty="0">
                <a:latin typeface="Arial MT"/>
                <a:cs typeface="Arial MT"/>
              </a:rPr>
              <a:t>program. </a:t>
            </a:r>
            <a:r>
              <a:rPr sz="1600" dirty="0">
                <a:latin typeface="Arial MT"/>
                <a:cs typeface="Arial MT"/>
              </a:rPr>
              <a:t>This</a:t>
            </a:r>
            <a:r>
              <a:rPr sz="1600" spc="-30" dirty="0">
                <a:latin typeface="Arial MT"/>
                <a:cs typeface="Arial MT"/>
              </a:rPr>
              <a:t> </a:t>
            </a:r>
            <a:r>
              <a:rPr sz="1600" dirty="0">
                <a:latin typeface="Arial MT"/>
                <a:cs typeface="Arial MT"/>
              </a:rPr>
              <a:t>setup</a:t>
            </a:r>
            <a:r>
              <a:rPr sz="1600" spc="-30" dirty="0">
                <a:latin typeface="Arial MT"/>
                <a:cs typeface="Arial MT"/>
              </a:rPr>
              <a:t> </a:t>
            </a:r>
            <a:r>
              <a:rPr sz="1600" dirty="0">
                <a:latin typeface="Arial MT"/>
                <a:cs typeface="Arial MT"/>
              </a:rPr>
              <a:t>and</a:t>
            </a:r>
            <a:r>
              <a:rPr sz="1600" spc="-25" dirty="0">
                <a:latin typeface="Arial MT"/>
                <a:cs typeface="Arial MT"/>
              </a:rPr>
              <a:t> </a:t>
            </a:r>
            <a:r>
              <a:rPr sz="1600" dirty="0">
                <a:latin typeface="Arial MT"/>
                <a:cs typeface="Arial MT"/>
              </a:rPr>
              <a:t>teardown</a:t>
            </a:r>
            <a:r>
              <a:rPr sz="1600" spc="-30" dirty="0">
                <a:latin typeface="Arial MT"/>
                <a:cs typeface="Arial MT"/>
              </a:rPr>
              <a:t> </a:t>
            </a:r>
            <a:r>
              <a:rPr sz="1600" dirty="0">
                <a:latin typeface="Arial MT"/>
                <a:cs typeface="Arial MT"/>
              </a:rPr>
              <a:t>of</a:t>
            </a:r>
            <a:r>
              <a:rPr sz="1600" spc="-25" dirty="0">
                <a:latin typeface="Arial MT"/>
                <a:cs typeface="Arial MT"/>
              </a:rPr>
              <a:t> </a:t>
            </a:r>
            <a:r>
              <a:rPr sz="1600" dirty="0">
                <a:latin typeface="Arial MT"/>
                <a:cs typeface="Arial MT"/>
              </a:rPr>
              <a:t>the</a:t>
            </a:r>
            <a:r>
              <a:rPr sz="1600" spc="-30" dirty="0">
                <a:latin typeface="Arial MT"/>
                <a:cs typeface="Arial MT"/>
              </a:rPr>
              <a:t> </a:t>
            </a:r>
            <a:r>
              <a:rPr sz="1600" dirty="0">
                <a:latin typeface="Arial MT"/>
                <a:cs typeface="Arial MT"/>
              </a:rPr>
              <a:t>mutex</a:t>
            </a:r>
            <a:r>
              <a:rPr sz="1600" spc="-25" dirty="0">
                <a:latin typeface="Arial MT"/>
                <a:cs typeface="Arial MT"/>
              </a:rPr>
              <a:t> are </a:t>
            </a:r>
            <a:r>
              <a:rPr sz="1600" dirty="0">
                <a:latin typeface="Arial MT"/>
                <a:cs typeface="Arial MT"/>
              </a:rPr>
              <a:t>essential</a:t>
            </a:r>
            <a:r>
              <a:rPr sz="1600" spc="-35" dirty="0">
                <a:latin typeface="Arial MT"/>
                <a:cs typeface="Arial MT"/>
              </a:rPr>
              <a:t> </a:t>
            </a:r>
            <a:r>
              <a:rPr sz="1600" dirty="0">
                <a:latin typeface="Arial MT"/>
                <a:cs typeface="Arial MT"/>
              </a:rPr>
              <a:t>for</a:t>
            </a:r>
            <a:r>
              <a:rPr sz="1600" spc="-30" dirty="0">
                <a:latin typeface="Arial MT"/>
                <a:cs typeface="Arial MT"/>
              </a:rPr>
              <a:t> </a:t>
            </a:r>
            <a:r>
              <a:rPr sz="1600" b="1" dirty="0">
                <a:latin typeface="Arial"/>
                <a:cs typeface="Arial"/>
              </a:rPr>
              <a:t>proper</a:t>
            </a:r>
            <a:r>
              <a:rPr sz="1600" b="1" spc="-35" dirty="0">
                <a:latin typeface="Arial"/>
                <a:cs typeface="Arial"/>
              </a:rPr>
              <a:t> </a:t>
            </a:r>
            <a:r>
              <a:rPr sz="1600" b="1" dirty="0">
                <a:latin typeface="Arial"/>
                <a:cs typeface="Arial"/>
              </a:rPr>
              <a:t>resource</a:t>
            </a:r>
            <a:r>
              <a:rPr sz="1600" b="1" spc="-35" dirty="0">
                <a:latin typeface="Arial"/>
                <a:cs typeface="Arial"/>
              </a:rPr>
              <a:t> </a:t>
            </a:r>
            <a:r>
              <a:rPr sz="1600" b="1" spc="-10" dirty="0">
                <a:latin typeface="Arial"/>
                <a:cs typeface="Arial"/>
              </a:rPr>
              <a:t>management</a:t>
            </a:r>
            <a:r>
              <a:rPr sz="1600" spc="-10" dirty="0">
                <a:latin typeface="Arial MT"/>
                <a:cs typeface="Arial MT"/>
              </a:rPr>
              <a:t>.</a:t>
            </a:r>
            <a:endParaRPr sz="1600" dirty="0">
              <a:latin typeface="Arial MT"/>
              <a:cs typeface="Arial MT"/>
            </a:endParaRPr>
          </a:p>
        </p:txBody>
      </p:sp>
      <p:pic>
        <p:nvPicPr>
          <p:cNvPr id="4" name="object 4">
            <a:extLst>
              <a:ext uri="{C183D7F6-B498-43B3-948B-1728B52AA6E4}">
                <adec:decorative xmlns:adec="http://schemas.microsoft.com/office/drawing/2017/decorative" val="1"/>
              </a:ext>
            </a:extLst>
          </p:cNvPr>
          <p:cNvPicPr/>
          <p:nvPr/>
        </p:nvPicPr>
        <p:blipFill>
          <a:blip r:embed="rId2" cstate="print"/>
          <a:stretch>
            <a:fillRect/>
          </a:stretch>
        </p:blipFill>
        <p:spPr>
          <a:xfrm>
            <a:off x="5344625" y="1488975"/>
            <a:ext cx="6485023" cy="5216624"/>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0375" y="1442973"/>
            <a:ext cx="3074670" cy="655320"/>
          </a:xfrm>
          <a:prstGeom prst="rect">
            <a:avLst/>
          </a:prstGeom>
        </p:spPr>
        <p:txBody>
          <a:bodyPr vert="horz" wrap="square" lIns="0" tIns="12700" rIns="0" bIns="0" rtlCol="0">
            <a:spAutoFit/>
          </a:bodyPr>
          <a:lstStyle/>
          <a:p>
            <a:pPr marL="12700">
              <a:lnSpc>
                <a:spcPts val="2900"/>
              </a:lnSpc>
              <a:spcBef>
                <a:spcPts val="100"/>
              </a:spcBef>
            </a:pPr>
            <a:r>
              <a:rPr dirty="0"/>
              <a:t>Thread</a:t>
            </a:r>
            <a:r>
              <a:rPr spc="-110" dirty="0"/>
              <a:t> </a:t>
            </a:r>
            <a:r>
              <a:rPr spc="-10" dirty="0"/>
              <a:t>Safety</a:t>
            </a:r>
          </a:p>
          <a:p>
            <a:pPr marL="12700">
              <a:lnSpc>
                <a:spcPts val="2060"/>
              </a:lnSpc>
            </a:pPr>
            <a:r>
              <a:rPr sz="1800" dirty="0"/>
              <a:t>Bank</a:t>
            </a:r>
            <a:r>
              <a:rPr sz="1800" spc="-90" dirty="0"/>
              <a:t> </a:t>
            </a:r>
            <a:r>
              <a:rPr sz="1800" dirty="0"/>
              <a:t>Account</a:t>
            </a:r>
            <a:r>
              <a:rPr sz="1800" spc="-85" dirty="0"/>
              <a:t> </a:t>
            </a:r>
            <a:r>
              <a:rPr sz="1800" dirty="0"/>
              <a:t>Balance</a:t>
            </a:r>
            <a:r>
              <a:rPr sz="1800" spc="-85" dirty="0"/>
              <a:t> </a:t>
            </a:r>
            <a:r>
              <a:rPr sz="1800" spc="-10" dirty="0"/>
              <a:t>Update</a:t>
            </a:r>
            <a:endParaRPr sz="1800"/>
          </a:p>
        </p:txBody>
      </p:sp>
      <p:sp>
        <p:nvSpPr>
          <p:cNvPr id="3" name="object 3"/>
          <p:cNvSpPr txBox="1"/>
          <p:nvPr/>
        </p:nvSpPr>
        <p:spPr>
          <a:xfrm>
            <a:off x="560650" y="2532483"/>
            <a:ext cx="4128135" cy="3963670"/>
          </a:xfrm>
          <a:prstGeom prst="rect">
            <a:avLst/>
          </a:prstGeom>
        </p:spPr>
        <p:txBody>
          <a:bodyPr vert="horz" wrap="square" lIns="0" tIns="12700" rIns="0" bIns="0" rtlCol="0">
            <a:spAutoFit/>
          </a:bodyPr>
          <a:lstStyle/>
          <a:p>
            <a:pPr marL="12700" marR="5080">
              <a:lnSpc>
                <a:spcPct val="114999"/>
              </a:lnSpc>
              <a:spcBef>
                <a:spcPts val="100"/>
              </a:spcBef>
            </a:pPr>
            <a:r>
              <a:rPr sz="1800" b="1" dirty="0">
                <a:latin typeface="Arial"/>
                <a:cs typeface="Arial"/>
              </a:rPr>
              <a:t>Thread</a:t>
            </a:r>
            <a:r>
              <a:rPr sz="1800" b="1" spc="-30" dirty="0">
                <a:latin typeface="Arial"/>
                <a:cs typeface="Arial"/>
              </a:rPr>
              <a:t> </a:t>
            </a:r>
            <a:r>
              <a:rPr sz="1800" b="1" dirty="0">
                <a:latin typeface="Arial"/>
                <a:cs typeface="Arial"/>
              </a:rPr>
              <a:t>safety</a:t>
            </a:r>
            <a:r>
              <a:rPr sz="1800" b="1" spc="-10" dirty="0">
                <a:latin typeface="Arial"/>
                <a:cs typeface="Arial"/>
              </a:rPr>
              <a:t> </a:t>
            </a:r>
            <a:r>
              <a:rPr sz="1800" dirty="0">
                <a:latin typeface="Arial MT"/>
                <a:cs typeface="Arial MT"/>
              </a:rPr>
              <a:t>refers</a:t>
            </a:r>
            <a:r>
              <a:rPr sz="1800" spc="-20" dirty="0">
                <a:latin typeface="Arial MT"/>
                <a:cs typeface="Arial MT"/>
              </a:rPr>
              <a:t> </a:t>
            </a:r>
            <a:r>
              <a:rPr sz="1800" dirty="0">
                <a:latin typeface="Arial MT"/>
                <a:cs typeface="Arial MT"/>
              </a:rPr>
              <a:t>to</a:t>
            </a:r>
            <a:r>
              <a:rPr sz="1800" spc="-20" dirty="0">
                <a:latin typeface="Arial MT"/>
                <a:cs typeface="Arial MT"/>
              </a:rPr>
              <a:t> </a:t>
            </a:r>
            <a:r>
              <a:rPr sz="1800" dirty="0">
                <a:latin typeface="Arial MT"/>
                <a:cs typeface="Arial MT"/>
              </a:rPr>
              <a:t>writing</a:t>
            </a:r>
            <a:r>
              <a:rPr sz="1800" spc="-20" dirty="0">
                <a:latin typeface="Arial MT"/>
                <a:cs typeface="Arial MT"/>
              </a:rPr>
              <a:t> </a:t>
            </a:r>
            <a:r>
              <a:rPr sz="1800" dirty="0">
                <a:latin typeface="Arial MT"/>
                <a:cs typeface="Arial MT"/>
              </a:rPr>
              <a:t>code</a:t>
            </a:r>
            <a:r>
              <a:rPr sz="1800" spc="-20" dirty="0">
                <a:latin typeface="Arial MT"/>
                <a:cs typeface="Arial MT"/>
              </a:rPr>
              <a:t> </a:t>
            </a:r>
            <a:r>
              <a:rPr sz="1800" dirty="0">
                <a:latin typeface="Arial MT"/>
                <a:cs typeface="Arial MT"/>
              </a:rPr>
              <a:t>in</a:t>
            </a:r>
            <a:r>
              <a:rPr sz="1800" spc="-15" dirty="0">
                <a:latin typeface="Arial MT"/>
                <a:cs typeface="Arial MT"/>
              </a:rPr>
              <a:t> </a:t>
            </a:r>
            <a:r>
              <a:rPr sz="1800" spc="-50" dirty="0">
                <a:latin typeface="Arial MT"/>
                <a:cs typeface="Arial MT"/>
              </a:rPr>
              <a:t>a </a:t>
            </a:r>
            <a:r>
              <a:rPr sz="1800" dirty="0">
                <a:latin typeface="Arial MT"/>
                <a:cs typeface="Arial MT"/>
              </a:rPr>
              <a:t>way</a:t>
            </a:r>
            <a:r>
              <a:rPr sz="1800" spc="-30" dirty="0">
                <a:latin typeface="Arial MT"/>
                <a:cs typeface="Arial MT"/>
              </a:rPr>
              <a:t> </a:t>
            </a:r>
            <a:r>
              <a:rPr sz="1800" dirty="0">
                <a:latin typeface="Arial MT"/>
                <a:cs typeface="Arial MT"/>
              </a:rPr>
              <a:t>that</a:t>
            </a:r>
            <a:r>
              <a:rPr sz="1800" spc="-15" dirty="0">
                <a:latin typeface="Arial MT"/>
                <a:cs typeface="Arial MT"/>
              </a:rPr>
              <a:t> </a:t>
            </a:r>
            <a:r>
              <a:rPr sz="1800" dirty="0">
                <a:latin typeface="Arial MT"/>
                <a:cs typeface="Arial MT"/>
              </a:rPr>
              <a:t>multiple</a:t>
            </a:r>
            <a:r>
              <a:rPr sz="1800" spc="-20" dirty="0">
                <a:latin typeface="Arial MT"/>
                <a:cs typeface="Arial MT"/>
              </a:rPr>
              <a:t> </a:t>
            </a:r>
            <a:r>
              <a:rPr sz="1800" dirty="0">
                <a:latin typeface="Arial MT"/>
                <a:cs typeface="Arial MT"/>
              </a:rPr>
              <a:t>threads</a:t>
            </a:r>
            <a:r>
              <a:rPr sz="1800" spc="-15" dirty="0">
                <a:latin typeface="Arial MT"/>
                <a:cs typeface="Arial MT"/>
              </a:rPr>
              <a:t> </a:t>
            </a:r>
            <a:r>
              <a:rPr sz="1800" dirty="0">
                <a:latin typeface="Arial MT"/>
                <a:cs typeface="Arial MT"/>
              </a:rPr>
              <a:t>can</a:t>
            </a:r>
            <a:r>
              <a:rPr sz="1800" spc="-15" dirty="0">
                <a:latin typeface="Arial MT"/>
                <a:cs typeface="Arial MT"/>
              </a:rPr>
              <a:t> </a:t>
            </a:r>
            <a:r>
              <a:rPr sz="1800" spc="-10" dirty="0">
                <a:latin typeface="Arial MT"/>
                <a:cs typeface="Arial MT"/>
              </a:rPr>
              <a:t>execute </a:t>
            </a:r>
            <a:r>
              <a:rPr sz="1800" dirty="0">
                <a:latin typeface="Arial MT"/>
                <a:cs typeface="Arial MT"/>
              </a:rPr>
              <a:t>without</a:t>
            </a:r>
            <a:r>
              <a:rPr sz="1800" spc="-35" dirty="0">
                <a:latin typeface="Arial MT"/>
                <a:cs typeface="Arial MT"/>
              </a:rPr>
              <a:t> </a:t>
            </a:r>
            <a:r>
              <a:rPr sz="1800" dirty="0">
                <a:latin typeface="Arial MT"/>
                <a:cs typeface="Arial MT"/>
              </a:rPr>
              <a:t>causing</a:t>
            </a:r>
            <a:r>
              <a:rPr sz="1800" spc="-35" dirty="0">
                <a:latin typeface="Arial MT"/>
                <a:cs typeface="Arial MT"/>
              </a:rPr>
              <a:t> </a:t>
            </a:r>
            <a:r>
              <a:rPr sz="1800" dirty="0">
                <a:latin typeface="Arial MT"/>
                <a:cs typeface="Arial MT"/>
              </a:rPr>
              <a:t>data</a:t>
            </a:r>
            <a:r>
              <a:rPr sz="1800" spc="-35" dirty="0">
                <a:latin typeface="Arial MT"/>
                <a:cs typeface="Arial MT"/>
              </a:rPr>
              <a:t> </a:t>
            </a:r>
            <a:r>
              <a:rPr sz="1800" dirty="0">
                <a:latin typeface="Arial MT"/>
                <a:cs typeface="Arial MT"/>
              </a:rPr>
              <a:t>corruption</a:t>
            </a:r>
            <a:r>
              <a:rPr sz="1800" spc="-35" dirty="0">
                <a:latin typeface="Arial MT"/>
                <a:cs typeface="Arial MT"/>
              </a:rPr>
              <a:t> </a:t>
            </a:r>
            <a:r>
              <a:rPr sz="1800" spc="-25" dirty="0">
                <a:latin typeface="Arial MT"/>
                <a:cs typeface="Arial MT"/>
              </a:rPr>
              <a:t>or </a:t>
            </a:r>
            <a:r>
              <a:rPr sz="1800" dirty="0">
                <a:latin typeface="Arial MT"/>
                <a:cs typeface="Arial MT"/>
              </a:rPr>
              <a:t>unpredictable</a:t>
            </a:r>
            <a:r>
              <a:rPr sz="1800" spc="-25" dirty="0">
                <a:latin typeface="Arial MT"/>
                <a:cs typeface="Arial MT"/>
              </a:rPr>
              <a:t> </a:t>
            </a:r>
            <a:r>
              <a:rPr sz="1800" spc="-10" dirty="0">
                <a:latin typeface="Arial MT"/>
                <a:cs typeface="Arial MT"/>
              </a:rPr>
              <a:t>behavior.</a:t>
            </a:r>
            <a:r>
              <a:rPr sz="1800" spc="-55" dirty="0">
                <a:latin typeface="Arial MT"/>
                <a:cs typeface="Arial MT"/>
              </a:rPr>
              <a:t> </a:t>
            </a:r>
            <a:r>
              <a:rPr sz="1800" spc="-10" dirty="0">
                <a:latin typeface="Arial MT"/>
                <a:cs typeface="Arial MT"/>
              </a:rPr>
              <a:t>Thread-</a:t>
            </a:r>
            <a:r>
              <a:rPr sz="1800" spc="-20" dirty="0">
                <a:latin typeface="Arial MT"/>
                <a:cs typeface="Arial MT"/>
              </a:rPr>
              <a:t>safe </a:t>
            </a:r>
            <a:r>
              <a:rPr sz="1800" dirty="0">
                <a:latin typeface="Arial MT"/>
                <a:cs typeface="Arial MT"/>
              </a:rPr>
              <a:t>code</a:t>
            </a:r>
            <a:r>
              <a:rPr sz="1800" spc="-20" dirty="0">
                <a:latin typeface="Arial MT"/>
                <a:cs typeface="Arial MT"/>
              </a:rPr>
              <a:t> </a:t>
            </a:r>
            <a:r>
              <a:rPr sz="1800" dirty="0">
                <a:latin typeface="Arial MT"/>
                <a:cs typeface="Arial MT"/>
              </a:rPr>
              <a:t>avoids</a:t>
            </a:r>
            <a:r>
              <a:rPr sz="1800" spc="-20" dirty="0">
                <a:latin typeface="Arial MT"/>
                <a:cs typeface="Arial MT"/>
              </a:rPr>
              <a:t> </a:t>
            </a:r>
            <a:r>
              <a:rPr sz="1800" dirty="0">
                <a:latin typeface="Arial MT"/>
                <a:cs typeface="Arial MT"/>
              </a:rPr>
              <a:t>using</a:t>
            </a:r>
            <a:r>
              <a:rPr sz="1800" spc="-20" dirty="0">
                <a:latin typeface="Arial MT"/>
                <a:cs typeface="Arial MT"/>
              </a:rPr>
              <a:t> </a:t>
            </a:r>
            <a:r>
              <a:rPr sz="1800" dirty="0">
                <a:latin typeface="Arial MT"/>
                <a:cs typeface="Arial MT"/>
              </a:rPr>
              <a:t>shared</a:t>
            </a:r>
            <a:r>
              <a:rPr sz="1800" spc="-20" dirty="0">
                <a:latin typeface="Arial MT"/>
                <a:cs typeface="Arial MT"/>
              </a:rPr>
              <a:t> </a:t>
            </a:r>
            <a:r>
              <a:rPr sz="1800" spc="-10" dirty="0">
                <a:latin typeface="Arial MT"/>
                <a:cs typeface="Arial MT"/>
              </a:rPr>
              <a:t>resources unsafely.</a:t>
            </a:r>
            <a:endParaRPr sz="1800">
              <a:latin typeface="Arial MT"/>
              <a:cs typeface="Arial MT"/>
            </a:endParaRPr>
          </a:p>
          <a:p>
            <a:pPr marL="12700" marR="57785">
              <a:lnSpc>
                <a:spcPct val="114999"/>
              </a:lnSpc>
              <a:spcBef>
                <a:spcPts val="1200"/>
              </a:spcBef>
            </a:pPr>
            <a:r>
              <a:rPr sz="1800" dirty="0">
                <a:latin typeface="Arial MT"/>
                <a:cs typeface="Arial MT"/>
              </a:rPr>
              <a:t>This</a:t>
            </a:r>
            <a:r>
              <a:rPr sz="1800" spc="-15" dirty="0">
                <a:latin typeface="Arial MT"/>
                <a:cs typeface="Arial MT"/>
              </a:rPr>
              <a:t> </a:t>
            </a:r>
            <a:r>
              <a:rPr sz="1800" dirty="0">
                <a:latin typeface="Arial MT"/>
                <a:cs typeface="Arial MT"/>
              </a:rPr>
              <a:t>example</a:t>
            </a:r>
            <a:r>
              <a:rPr sz="1800" spc="-10" dirty="0">
                <a:latin typeface="Arial MT"/>
                <a:cs typeface="Arial MT"/>
              </a:rPr>
              <a:t> </a:t>
            </a:r>
            <a:r>
              <a:rPr sz="1800" dirty="0">
                <a:latin typeface="Arial MT"/>
                <a:cs typeface="Arial MT"/>
              </a:rPr>
              <a:t>demonstrates</a:t>
            </a:r>
            <a:r>
              <a:rPr sz="1800" spc="-15" dirty="0">
                <a:latin typeface="Arial MT"/>
                <a:cs typeface="Arial MT"/>
              </a:rPr>
              <a:t> </a:t>
            </a:r>
            <a:r>
              <a:rPr sz="1800" dirty="0">
                <a:latin typeface="Arial MT"/>
                <a:cs typeface="Arial MT"/>
              </a:rPr>
              <a:t>a</a:t>
            </a:r>
            <a:r>
              <a:rPr sz="1800" spc="-10" dirty="0">
                <a:latin typeface="Arial MT"/>
                <a:cs typeface="Arial MT"/>
              </a:rPr>
              <a:t> </a:t>
            </a:r>
            <a:r>
              <a:rPr sz="1800" spc="-20" dirty="0">
                <a:latin typeface="Arial MT"/>
                <a:cs typeface="Arial MT"/>
              </a:rPr>
              <a:t>bank </a:t>
            </a:r>
            <a:r>
              <a:rPr sz="1800" dirty="0">
                <a:latin typeface="Arial MT"/>
                <a:cs typeface="Arial MT"/>
              </a:rPr>
              <a:t>account</a:t>
            </a:r>
            <a:r>
              <a:rPr sz="1800" spc="-35" dirty="0">
                <a:latin typeface="Arial MT"/>
                <a:cs typeface="Arial MT"/>
              </a:rPr>
              <a:t> </a:t>
            </a:r>
            <a:r>
              <a:rPr sz="1800" dirty="0">
                <a:latin typeface="Arial MT"/>
                <a:cs typeface="Arial MT"/>
              </a:rPr>
              <a:t>balance</a:t>
            </a:r>
            <a:r>
              <a:rPr sz="1800" spc="-30" dirty="0">
                <a:latin typeface="Arial MT"/>
                <a:cs typeface="Arial MT"/>
              </a:rPr>
              <a:t> </a:t>
            </a:r>
            <a:r>
              <a:rPr sz="1800" dirty="0">
                <a:latin typeface="Arial MT"/>
                <a:cs typeface="Arial MT"/>
              </a:rPr>
              <a:t>that</a:t>
            </a:r>
            <a:r>
              <a:rPr sz="1800" spc="-35" dirty="0">
                <a:latin typeface="Arial MT"/>
                <a:cs typeface="Arial MT"/>
              </a:rPr>
              <a:t> </a:t>
            </a:r>
            <a:r>
              <a:rPr sz="1800" dirty="0">
                <a:latin typeface="Arial MT"/>
                <a:cs typeface="Arial MT"/>
              </a:rPr>
              <a:t>multiple</a:t>
            </a:r>
            <a:r>
              <a:rPr sz="1800" spc="-30" dirty="0">
                <a:latin typeface="Arial MT"/>
                <a:cs typeface="Arial MT"/>
              </a:rPr>
              <a:t> </a:t>
            </a:r>
            <a:r>
              <a:rPr sz="1800" spc="-10" dirty="0">
                <a:latin typeface="Arial MT"/>
                <a:cs typeface="Arial MT"/>
              </a:rPr>
              <a:t>threads </a:t>
            </a:r>
            <a:r>
              <a:rPr sz="1800" dirty="0">
                <a:latin typeface="Arial MT"/>
                <a:cs typeface="Arial MT"/>
              </a:rPr>
              <a:t>can</a:t>
            </a:r>
            <a:r>
              <a:rPr sz="1800" spc="-30" dirty="0">
                <a:latin typeface="Arial MT"/>
                <a:cs typeface="Arial MT"/>
              </a:rPr>
              <a:t> </a:t>
            </a:r>
            <a:r>
              <a:rPr sz="1800" dirty="0">
                <a:latin typeface="Arial MT"/>
                <a:cs typeface="Arial MT"/>
              </a:rPr>
              <a:t>either</a:t>
            </a:r>
            <a:r>
              <a:rPr sz="1800" spc="-20" dirty="0">
                <a:latin typeface="Arial MT"/>
                <a:cs typeface="Arial MT"/>
              </a:rPr>
              <a:t> </a:t>
            </a:r>
            <a:r>
              <a:rPr sz="1800" dirty="0">
                <a:latin typeface="Arial MT"/>
                <a:cs typeface="Arial MT"/>
              </a:rPr>
              <a:t>deposit</a:t>
            </a:r>
            <a:r>
              <a:rPr sz="1800" spc="-20" dirty="0">
                <a:latin typeface="Arial MT"/>
                <a:cs typeface="Arial MT"/>
              </a:rPr>
              <a:t> </a:t>
            </a:r>
            <a:r>
              <a:rPr sz="1800" dirty="0">
                <a:latin typeface="Arial MT"/>
                <a:cs typeface="Arial MT"/>
              </a:rPr>
              <a:t>into</a:t>
            </a:r>
            <a:r>
              <a:rPr sz="1800" spc="-20" dirty="0">
                <a:latin typeface="Arial MT"/>
                <a:cs typeface="Arial MT"/>
              </a:rPr>
              <a:t> </a:t>
            </a:r>
            <a:r>
              <a:rPr sz="1800" dirty="0">
                <a:latin typeface="Arial MT"/>
                <a:cs typeface="Arial MT"/>
              </a:rPr>
              <a:t>or</a:t>
            </a:r>
            <a:r>
              <a:rPr sz="1800" spc="-20" dirty="0">
                <a:latin typeface="Arial MT"/>
                <a:cs typeface="Arial MT"/>
              </a:rPr>
              <a:t> </a:t>
            </a:r>
            <a:r>
              <a:rPr sz="1800" dirty="0">
                <a:latin typeface="Arial MT"/>
                <a:cs typeface="Arial MT"/>
              </a:rPr>
              <a:t>withdraw</a:t>
            </a:r>
            <a:r>
              <a:rPr sz="1800" spc="-20" dirty="0">
                <a:latin typeface="Arial MT"/>
                <a:cs typeface="Arial MT"/>
              </a:rPr>
              <a:t> </a:t>
            </a:r>
            <a:r>
              <a:rPr sz="1800" spc="-10" dirty="0">
                <a:latin typeface="Arial MT"/>
                <a:cs typeface="Arial MT"/>
              </a:rPr>
              <a:t>from. </a:t>
            </a:r>
            <a:r>
              <a:rPr sz="1800" dirty="0">
                <a:latin typeface="Arial MT"/>
                <a:cs typeface="Arial MT"/>
              </a:rPr>
              <a:t>By</a:t>
            </a:r>
            <a:r>
              <a:rPr sz="1800" spc="-30" dirty="0">
                <a:latin typeface="Arial MT"/>
                <a:cs typeface="Arial MT"/>
              </a:rPr>
              <a:t> </a:t>
            </a:r>
            <a:r>
              <a:rPr sz="1800" dirty="0">
                <a:latin typeface="Arial MT"/>
                <a:cs typeface="Arial MT"/>
              </a:rPr>
              <a:t>using</a:t>
            </a:r>
            <a:r>
              <a:rPr sz="1800" spc="-15" dirty="0">
                <a:latin typeface="Arial MT"/>
                <a:cs typeface="Arial MT"/>
              </a:rPr>
              <a:t> </a:t>
            </a:r>
            <a:r>
              <a:rPr sz="1800" dirty="0">
                <a:latin typeface="Arial MT"/>
                <a:cs typeface="Arial MT"/>
              </a:rPr>
              <a:t>a</a:t>
            </a:r>
            <a:r>
              <a:rPr sz="1800" spc="-15" dirty="0">
                <a:latin typeface="Arial MT"/>
                <a:cs typeface="Arial MT"/>
              </a:rPr>
              <a:t> </a:t>
            </a:r>
            <a:r>
              <a:rPr sz="1800" b="1" dirty="0">
                <a:latin typeface="Arial"/>
                <a:cs typeface="Arial"/>
              </a:rPr>
              <a:t>mutex</a:t>
            </a:r>
            <a:r>
              <a:rPr sz="1800" b="1" spc="-15" dirty="0">
                <a:latin typeface="Arial"/>
                <a:cs typeface="Arial"/>
              </a:rPr>
              <a:t> </a:t>
            </a:r>
            <a:r>
              <a:rPr sz="1800" dirty="0">
                <a:latin typeface="Arial MT"/>
                <a:cs typeface="Arial MT"/>
              </a:rPr>
              <a:t>to</a:t>
            </a:r>
            <a:r>
              <a:rPr sz="1800" spc="-20" dirty="0">
                <a:latin typeface="Arial MT"/>
                <a:cs typeface="Arial MT"/>
              </a:rPr>
              <a:t> </a:t>
            </a:r>
            <a:r>
              <a:rPr sz="1800" dirty="0">
                <a:latin typeface="Arial MT"/>
                <a:cs typeface="Arial MT"/>
              </a:rPr>
              <a:t>protect</a:t>
            </a:r>
            <a:r>
              <a:rPr sz="1800" spc="-15" dirty="0">
                <a:latin typeface="Arial MT"/>
                <a:cs typeface="Arial MT"/>
              </a:rPr>
              <a:t> </a:t>
            </a:r>
            <a:r>
              <a:rPr sz="1800" dirty="0">
                <a:latin typeface="Arial MT"/>
                <a:cs typeface="Arial MT"/>
              </a:rPr>
              <a:t>the</a:t>
            </a:r>
            <a:r>
              <a:rPr sz="1800" spc="-15" dirty="0">
                <a:latin typeface="Arial MT"/>
                <a:cs typeface="Arial MT"/>
              </a:rPr>
              <a:t> </a:t>
            </a:r>
            <a:r>
              <a:rPr sz="1800" spc="-10" dirty="0">
                <a:latin typeface="Arial MT"/>
                <a:cs typeface="Arial MT"/>
              </a:rPr>
              <a:t>shared </a:t>
            </a:r>
            <a:r>
              <a:rPr sz="1800" spc="-10" dirty="0">
                <a:solidFill>
                  <a:srgbClr val="188037"/>
                </a:solidFill>
                <a:latin typeface="Courier New"/>
                <a:cs typeface="Courier New"/>
              </a:rPr>
              <a:t>balance</a:t>
            </a:r>
            <a:r>
              <a:rPr sz="1800" spc="-585" dirty="0">
                <a:solidFill>
                  <a:srgbClr val="188037"/>
                </a:solidFill>
                <a:latin typeface="Courier New"/>
                <a:cs typeface="Courier New"/>
              </a:rPr>
              <a:t> </a:t>
            </a:r>
            <a:r>
              <a:rPr sz="1800" dirty="0">
                <a:latin typeface="Arial MT"/>
                <a:cs typeface="Arial MT"/>
              </a:rPr>
              <a:t>variable,</a:t>
            </a:r>
            <a:r>
              <a:rPr sz="1800" spc="-10" dirty="0">
                <a:latin typeface="Arial MT"/>
                <a:cs typeface="Arial MT"/>
              </a:rPr>
              <a:t> </a:t>
            </a:r>
            <a:r>
              <a:rPr sz="1800" dirty="0">
                <a:latin typeface="Arial MT"/>
                <a:cs typeface="Arial MT"/>
              </a:rPr>
              <a:t>we</a:t>
            </a:r>
            <a:r>
              <a:rPr sz="1800" spc="-5" dirty="0">
                <a:latin typeface="Arial MT"/>
                <a:cs typeface="Arial MT"/>
              </a:rPr>
              <a:t> </a:t>
            </a:r>
            <a:r>
              <a:rPr sz="1800" spc="-10" dirty="0">
                <a:latin typeface="Arial MT"/>
                <a:cs typeface="Arial MT"/>
              </a:rPr>
              <a:t>ensure</a:t>
            </a:r>
            <a:endParaRPr sz="1800">
              <a:latin typeface="Arial MT"/>
              <a:cs typeface="Arial MT"/>
            </a:endParaRPr>
          </a:p>
          <a:p>
            <a:pPr marL="12700">
              <a:lnSpc>
                <a:spcPct val="100000"/>
              </a:lnSpc>
              <a:spcBef>
                <a:spcPts val="320"/>
              </a:spcBef>
            </a:pPr>
            <a:r>
              <a:rPr sz="1800" spc="-10" dirty="0">
                <a:latin typeface="Arial MT"/>
                <a:cs typeface="Arial MT"/>
              </a:rPr>
              <a:t>thread-</a:t>
            </a:r>
            <a:r>
              <a:rPr sz="1800" dirty="0">
                <a:latin typeface="Arial MT"/>
                <a:cs typeface="Arial MT"/>
              </a:rPr>
              <a:t>safe</a:t>
            </a:r>
            <a:r>
              <a:rPr sz="1800" spc="15" dirty="0">
                <a:latin typeface="Arial MT"/>
                <a:cs typeface="Arial MT"/>
              </a:rPr>
              <a:t> </a:t>
            </a:r>
            <a:r>
              <a:rPr sz="1800" spc="-10" dirty="0">
                <a:latin typeface="Arial MT"/>
                <a:cs typeface="Arial MT"/>
              </a:rPr>
              <a:t>operations.</a:t>
            </a:r>
            <a:endParaRPr sz="1800">
              <a:latin typeface="Arial MT"/>
              <a:cs typeface="Arial MT"/>
            </a:endParaRPr>
          </a:p>
        </p:txBody>
      </p:sp>
      <p:pic>
        <p:nvPicPr>
          <p:cNvPr id="4" name="object 4" descr="A cartoon illustration of thread synchronization. A &quot;Thread&quot; character holds a green key to a door labeled &quot;SYNCHRONIZED,&quot; while other thread characters wait behind a wall, shouting for them to hurry so they can enter the synchronized block."/>
          <p:cNvPicPr/>
          <p:nvPr/>
        </p:nvPicPr>
        <p:blipFill>
          <a:blip r:embed="rId2" cstate="print"/>
          <a:stretch>
            <a:fillRect/>
          </a:stretch>
        </p:blipFill>
        <p:spPr>
          <a:xfrm>
            <a:off x="5039825" y="2126741"/>
            <a:ext cx="6694974" cy="2756753"/>
          </a:xfrm>
          <a:prstGeom prst="rect">
            <a:avLst/>
          </a:prstGeom>
        </p:spPr>
      </p:pic>
      <p:sp>
        <p:nvSpPr>
          <p:cNvPr id="5" name="object 5">
            <a:extLst>
              <a:ext uri="{C183D7F6-B498-43B3-948B-1728B52AA6E4}">
                <adec:decorative xmlns:adec="http://schemas.microsoft.com/office/drawing/2017/decorative" val="1"/>
              </a:ext>
            </a:extLst>
          </p:cNvPr>
          <p:cNvSpPr txBox="1"/>
          <p:nvPr/>
        </p:nvSpPr>
        <p:spPr>
          <a:xfrm>
            <a:off x="7187300" y="5024370"/>
            <a:ext cx="2825750" cy="177800"/>
          </a:xfrm>
          <a:prstGeom prst="rect">
            <a:avLst/>
          </a:prstGeom>
        </p:spPr>
        <p:txBody>
          <a:bodyPr vert="horz" wrap="square" lIns="0" tIns="12700" rIns="0" bIns="0" rtlCol="0">
            <a:spAutoFit/>
          </a:bodyPr>
          <a:lstStyle/>
          <a:p>
            <a:pPr marL="12700">
              <a:lnSpc>
                <a:spcPct val="100000"/>
              </a:lnSpc>
              <a:spcBef>
                <a:spcPts val="100"/>
              </a:spcBef>
            </a:pPr>
            <a:r>
              <a:rPr sz="1000" dirty="0">
                <a:solidFill>
                  <a:srgbClr val="0F2044"/>
                </a:solidFill>
                <a:latin typeface="Arial MT"/>
                <a:cs typeface="Arial MT"/>
              </a:rPr>
              <a:t>Image</a:t>
            </a:r>
            <a:r>
              <a:rPr sz="1000" spc="-20" dirty="0">
                <a:solidFill>
                  <a:srgbClr val="0F2044"/>
                </a:solidFill>
                <a:latin typeface="Arial MT"/>
                <a:cs typeface="Arial MT"/>
              </a:rPr>
              <a:t> </a:t>
            </a:r>
            <a:r>
              <a:rPr sz="1000" dirty="0">
                <a:solidFill>
                  <a:srgbClr val="0F2044"/>
                </a:solidFill>
                <a:latin typeface="Arial MT"/>
                <a:cs typeface="Arial MT"/>
              </a:rPr>
              <a:t>Credit</a:t>
            </a:r>
            <a:r>
              <a:rPr sz="1000" spc="-15" dirty="0">
                <a:solidFill>
                  <a:srgbClr val="0F2044"/>
                </a:solidFill>
                <a:latin typeface="Arial MT"/>
                <a:cs typeface="Arial MT"/>
              </a:rPr>
              <a:t> </a:t>
            </a:r>
            <a:r>
              <a:rPr sz="1000" dirty="0">
                <a:solidFill>
                  <a:srgbClr val="0F2044"/>
                </a:solidFill>
                <a:latin typeface="Arial MT"/>
                <a:cs typeface="Arial MT"/>
              </a:rPr>
              <a:t>-</a:t>
            </a:r>
            <a:r>
              <a:rPr sz="1000" spc="-15" dirty="0">
                <a:solidFill>
                  <a:srgbClr val="0F2044"/>
                </a:solidFill>
                <a:latin typeface="Arial MT"/>
                <a:cs typeface="Arial MT"/>
              </a:rPr>
              <a:t> </a:t>
            </a:r>
            <a:r>
              <a:rPr sz="1000" dirty="0">
                <a:solidFill>
                  <a:srgbClr val="0F2044"/>
                </a:solidFill>
                <a:latin typeface="Arial MT"/>
                <a:cs typeface="Arial MT"/>
              </a:rPr>
              <a:t>Gowthamy</a:t>
            </a:r>
            <a:r>
              <a:rPr sz="1000" spc="-15" dirty="0">
                <a:solidFill>
                  <a:srgbClr val="0F2044"/>
                </a:solidFill>
                <a:latin typeface="Arial MT"/>
                <a:cs typeface="Arial MT"/>
              </a:rPr>
              <a:t> </a:t>
            </a:r>
            <a:r>
              <a:rPr sz="1000" spc="-10" dirty="0">
                <a:solidFill>
                  <a:srgbClr val="0F2044"/>
                </a:solidFill>
                <a:latin typeface="Arial MT"/>
                <a:cs typeface="Arial MT"/>
              </a:rPr>
              <a:t>Vaseekaran</a:t>
            </a:r>
            <a:r>
              <a:rPr sz="1000" spc="-20" dirty="0">
                <a:solidFill>
                  <a:srgbClr val="0F2044"/>
                </a:solidFill>
                <a:latin typeface="Arial MT"/>
                <a:cs typeface="Arial MT"/>
              </a:rPr>
              <a:t> </a:t>
            </a:r>
            <a:r>
              <a:rPr sz="1000" dirty="0">
                <a:solidFill>
                  <a:srgbClr val="0F2044"/>
                </a:solidFill>
                <a:latin typeface="Arial MT"/>
                <a:cs typeface="Arial MT"/>
              </a:rPr>
              <a:t>@</a:t>
            </a:r>
            <a:r>
              <a:rPr sz="1000" spc="-15" dirty="0">
                <a:solidFill>
                  <a:srgbClr val="0F2044"/>
                </a:solidFill>
                <a:latin typeface="Arial MT"/>
                <a:cs typeface="Arial MT"/>
              </a:rPr>
              <a:t> </a:t>
            </a:r>
            <a:r>
              <a:rPr sz="1000" spc="-10" dirty="0">
                <a:solidFill>
                  <a:srgbClr val="0F2044"/>
                </a:solidFill>
                <a:latin typeface="Arial MT"/>
                <a:cs typeface="Arial MT"/>
              </a:rPr>
              <a:t>Medium</a:t>
            </a:r>
            <a:endParaRPr sz="1000" dirty="0">
              <a:latin typeface="Arial MT"/>
              <a:cs typeface="Arial MT"/>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0375" y="1442973"/>
            <a:ext cx="1969135" cy="406400"/>
          </a:xfrm>
          <a:prstGeom prst="rect">
            <a:avLst/>
          </a:prstGeom>
        </p:spPr>
        <p:txBody>
          <a:bodyPr vert="horz" wrap="square" lIns="0" tIns="12700" rIns="0" bIns="0" rtlCol="0">
            <a:spAutoFit/>
          </a:bodyPr>
          <a:lstStyle/>
          <a:p>
            <a:pPr marL="12700">
              <a:lnSpc>
                <a:spcPct val="100000"/>
              </a:lnSpc>
              <a:spcBef>
                <a:spcPts val="100"/>
              </a:spcBef>
            </a:pPr>
            <a:r>
              <a:rPr dirty="0"/>
              <a:t>Thread</a:t>
            </a:r>
            <a:r>
              <a:rPr spc="-110" dirty="0"/>
              <a:t> </a:t>
            </a:r>
            <a:r>
              <a:rPr spc="-10" dirty="0"/>
              <a:t>Safety</a:t>
            </a:r>
          </a:p>
        </p:txBody>
      </p:sp>
      <p:sp>
        <p:nvSpPr>
          <p:cNvPr id="3" name="object 3"/>
          <p:cNvSpPr txBox="1"/>
          <p:nvPr/>
        </p:nvSpPr>
        <p:spPr>
          <a:xfrm>
            <a:off x="410375" y="1797963"/>
            <a:ext cx="4652010" cy="4462953"/>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0F2044"/>
                </a:solidFill>
                <a:latin typeface="Georgia"/>
                <a:cs typeface="Georgia"/>
              </a:rPr>
              <a:t>Bank</a:t>
            </a:r>
            <a:r>
              <a:rPr sz="1800" spc="-90" dirty="0">
                <a:solidFill>
                  <a:srgbClr val="0F2044"/>
                </a:solidFill>
                <a:latin typeface="Georgia"/>
                <a:cs typeface="Georgia"/>
              </a:rPr>
              <a:t> </a:t>
            </a:r>
            <a:r>
              <a:rPr sz="1800" dirty="0">
                <a:solidFill>
                  <a:srgbClr val="0F2044"/>
                </a:solidFill>
                <a:latin typeface="Georgia"/>
                <a:cs typeface="Georgia"/>
              </a:rPr>
              <a:t>Account</a:t>
            </a:r>
            <a:r>
              <a:rPr sz="1800" spc="-85" dirty="0">
                <a:solidFill>
                  <a:srgbClr val="0F2044"/>
                </a:solidFill>
                <a:latin typeface="Georgia"/>
                <a:cs typeface="Georgia"/>
              </a:rPr>
              <a:t> </a:t>
            </a:r>
            <a:r>
              <a:rPr sz="1800" dirty="0">
                <a:solidFill>
                  <a:srgbClr val="0F2044"/>
                </a:solidFill>
                <a:latin typeface="Georgia"/>
                <a:cs typeface="Georgia"/>
              </a:rPr>
              <a:t>Balance</a:t>
            </a:r>
            <a:r>
              <a:rPr sz="1800" spc="-85" dirty="0">
                <a:solidFill>
                  <a:srgbClr val="0F2044"/>
                </a:solidFill>
                <a:latin typeface="Georgia"/>
                <a:cs typeface="Georgia"/>
              </a:rPr>
              <a:t> </a:t>
            </a:r>
            <a:r>
              <a:rPr sz="1800" spc="-10" dirty="0">
                <a:solidFill>
                  <a:srgbClr val="0F2044"/>
                </a:solidFill>
                <a:latin typeface="Georgia"/>
                <a:cs typeface="Georgia"/>
              </a:rPr>
              <a:t>Update</a:t>
            </a:r>
            <a:endParaRPr sz="1800" dirty="0">
              <a:latin typeface="Georgia"/>
              <a:cs typeface="Georgia"/>
            </a:endParaRPr>
          </a:p>
          <a:p>
            <a:pPr marL="86360">
              <a:lnSpc>
                <a:spcPct val="100000"/>
              </a:lnSpc>
              <a:spcBef>
                <a:spcPts val="1555"/>
              </a:spcBef>
            </a:pPr>
            <a:r>
              <a:rPr sz="1600" b="1" dirty="0">
                <a:latin typeface="Arial"/>
                <a:cs typeface="Arial"/>
              </a:rPr>
              <a:t>Shared</a:t>
            </a:r>
            <a:r>
              <a:rPr sz="1600" b="1" spc="-35" dirty="0">
                <a:latin typeface="Arial"/>
                <a:cs typeface="Arial"/>
              </a:rPr>
              <a:t> </a:t>
            </a:r>
            <a:r>
              <a:rPr sz="1600" b="1" dirty="0">
                <a:latin typeface="Arial"/>
                <a:cs typeface="Arial"/>
              </a:rPr>
              <a:t>Balance</a:t>
            </a:r>
            <a:r>
              <a:rPr sz="1600" b="1" spc="-30" dirty="0">
                <a:latin typeface="Arial"/>
                <a:cs typeface="Arial"/>
              </a:rPr>
              <a:t> </a:t>
            </a:r>
            <a:r>
              <a:rPr sz="1600" b="1" spc="-10" dirty="0">
                <a:latin typeface="Arial"/>
                <a:cs typeface="Arial"/>
              </a:rPr>
              <a:t>Variable</a:t>
            </a:r>
            <a:r>
              <a:rPr sz="1600" spc="-10" dirty="0">
                <a:latin typeface="Arial MT"/>
                <a:cs typeface="Arial MT"/>
              </a:rPr>
              <a:t>:</a:t>
            </a:r>
            <a:endParaRPr sz="1600" dirty="0">
              <a:latin typeface="Arial MT"/>
              <a:cs typeface="Arial MT"/>
            </a:endParaRPr>
          </a:p>
          <a:p>
            <a:pPr marL="543560" marR="5080" indent="-351790">
              <a:lnSpc>
                <a:spcPct val="114999"/>
              </a:lnSpc>
              <a:spcBef>
                <a:spcPts val="1200"/>
              </a:spcBef>
              <a:buClr>
                <a:srgbClr val="000000"/>
              </a:buClr>
              <a:buFont typeface="Arial MT"/>
              <a:buChar char="●"/>
              <a:tabLst>
                <a:tab pos="543560" algn="l"/>
              </a:tabLst>
            </a:pPr>
            <a:r>
              <a:rPr sz="1600" b="1" spc="-20" dirty="0">
                <a:solidFill>
                  <a:srgbClr val="188037"/>
                </a:solidFill>
                <a:latin typeface="Courier New"/>
                <a:cs typeface="Courier New"/>
              </a:rPr>
              <a:t>balance</a:t>
            </a:r>
            <a:r>
              <a:rPr sz="1600" spc="-520" dirty="0">
                <a:solidFill>
                  <a:srgbClr val="188037"/>
                </a:solidFill>
                <a:latin typeface="Courier New"/>
                <a:cs typeface="Courier New"/>
              </a:rPr>
              <a:t> </a:t>
            </a:r>
            <a:r>
              <a:rPr sz="1600" dirty="0">
                <a:latin typeface="Arial MT"/>
                <a:cs typeface="Arial MT"/>
              </a:rPr>
              <a:t>is</a:t>
            </a:r>
            <a:r>
              <a:rPr sz="1600" spc="-15" dirty="0">
                <a:latin typeface="Arial MT"/>
                <a:cs typeface="Arial MT"/>
              </a:rPr>
              <a:t> </a:t>
            </a:r>
            <a:r>
              <a:rPr sz="1600" dirty="0">
                <a:latin typeface="Arial MT"/>
                <a:cs typeface="Arial MT"/>
              </a:rPr>
              <a:t>a</a:t>
            </a:r>
            <a:r>
              <a:rPr sz="1600" spc="-10" dirty="0">
                <a:latin typeface="Arial MT"/>
                <a:cs typeface="Arial MT"/>
              </a:rPr>
              <a:t> </a:t>
            </a:r>
            <a:r>
              <a:rPr sz="1600" dirty="0">
                <a:latin typeface="Arial MT"/>
                <a:cs typeface="Arial MT"/>
              </a:rPr>
              <a:t>shared</a:t>
            </a:r>
            <a:r>
              <a:rPr sz="1600" spc="-5" dirty="0">
                <a:latin typeface="Arial MT"/>
                <a:cs typeface="Arial MT"/>
              </a:rPr>
              <a:t> </a:t>
            </a:r>
            <a:r>
              <a:rPr sz="1600" dirty="0">
                <a:latin typeface="Arial MT"/>
                <a:cs typeface="Arial MT"/>
              </a:rPr>
              <a:t>variable</a:t>
            </a:r>
            <a:r>
              <a:rPr sz="1600" spc="-10" dirty="0">
                <a:latin typeface="Arial MT"/>
                <a:cs typeface="Arial MT"/>
              </a:rPr>
              <a:t> representing </a:t>
            </a:r>
            <a:r>
              <a:rPr sz="1600" dirty="0">
                <a:latin typeface="Arial MT"/>
                <a:cs typeface="Arial MT"/>
              </a:rPr>
              <a:t>the</a:t>
            </a:r>
            <a:r>
              <a:rPr sz="1600" spc="-30" dirty="0">
                <a:latin typeface="Arial MT"/>
                <a:cs typeface="Arial MT"/>
              </a:rPr>
              <a:t> </a:t>
            </a:r>
            <a:r>
              <a:rPr sz="1600" dirty="0">
                <a:latin typeface="Arial MT"/>
                <a:cs typeface="Arial MT"/>
              </a:rPr>
              <a:t>bank</a:t>
            </a:r>
            <a:r>
              <a:rPr sz="1600" spc="-30" dirty="0">
                <a:latin typeface="Arial MT"/>
                <a:cs typeface="Arial MT"/>
              </a:rPr>
              <a:t> </a:t>
            </a:r>
            <a:r>
              <a:rPr sz="1600" dirty="0">
                <a:latin typeface="Arial MT"/>
                <a:cs typeface="Arial MT"/>
              </a:rPr>
              <a:t>account</a:t>
            </a:r>
            <a:r>
              <a:rPr sz="1600" spc="-30" dirty="0">
                <a:latin typeface="Arial MT"/>
                <a:cs typeface="Arial MT"/>
              </a:rPr>
              <a:t> </a:t>
            </a:r>
            <a:r>
              <a:rPr sz="1600" dirty="0">
                <a:latin typeface="Arial MT"/>
                <a:cs typeface="Arial MT"/>
              </a:rPr>
              <a:t>balance.</a:t>
            </a:r>
            <a:r>
              <a:rPr sz="1600" spc="-30" dirty="0">
                <a:latin typeface="Arial MT"/>
                <a:cs typeface="Arial MT"/>
              </a:rPr>
              <a:t> </a:t>
            </a:r>
            <a:r>
              <a:rPr sz="1600" dirty="0">
                <a:latin typeface="Arial MT"/>
                <a:cs typeface="Arial MT"/>
              </a:rPr>
              <a:t>Both</a:t>
            </a:r>
            <a:r>
              <a:rPr sz="1600" spc="-25" dirty="0">
                <a:latin typeface="Arial MT"/>
                <a:cs typeface="Arial MT"/>
              </a:rPr>
              <a:t> </a:t>
            </a:r>
            <a:r>
              <a:rPr sz="1600" dirty="0">
                <a:latin typeface="Arial MT"/>
                <a:cs typeface="Arial MT"/>
              </a:rPr>
              <a:t>the</a:t>
            </a:r>
            <a:r>
              <a:rPr sz="1600" spc="-5" dirty="0">
                <a:latin typeface="Arial MT"/>
                <a:cs typeface="Arial MT"/>
              </a:rPr>
              <a:t> </a:t>
            </a:r>
            <a:r>
              <a:rPr sz="1600" b="1" spc="-10" dirty="0">
                <a:solidFill>
                  <a:srgbClr val="188037"/>
                </a:solidFill>
                <a:latin typeface="Courier New"/>
                <a:cs typeface="Courier New"/>
              </a:rPr>
              <a:t>deposit</a:t>
            </a:r>
            <a:r>
              <a:rPr sz="1600" spc="-10" dirty="0">
                <a:solidFill>
                  <a:srgbClr val="188037"/>
                </a:solidFill>
                <a:latin typeface="Courier New"/>
                <a:cs typeface="Courier New"/>
              </a:rPr>
              <a:t> </a:t>
            </a:r>
            <a:r>
              <a:rPr sz="1600" dirty="0">
                <a:latin typeface="Arial MT"/>
                <a:cs typeface="Arial MT"/>
              </a:rPr>
              <a:t>and </a:t>
            </a:r>
            <a:r>
              <a:rPr sz="1600" b="1" spc="-20" dirty="0">
                <a:solidFill>
                  <a:srgbClr val="188037"/>
                </a:solidFill>
                <a:latin typeface="Courier New"/>
                <a:cs typeface="Courier New"/>
              </a:rPr>
              <a:t>withdraw</a:t>
            </a:r>
            <a:r>
              <a:rPr sz="1600" spc="-509" dirty="0">
                <a:solidFill>
                  <a:srgbClr val="188037"/>
                </a:solidFill>
                <a:latin typeface="Courier New"/>
                <a:cs typeface="Courier New"/>
              </a:rPr>
              <a:t> </a:t>
            </a:r>
            <a:r>
              <a:rPr sz="1600" dirty="0">
                <a:latin typeface="Arial MT"/>
                <a:cs typeface="Arial MT"/>
              </a:rPr>
              <a:t>functions modify</a:t>
            </a:r>
            <a:r>
              <a:rPr sz="1600" spc="5" dirty="0">
                <a:latin typeface="Arial MT"/>
                <a:cs typeface="Arial MT"/>
              </a:rPr>
              <a:t> </a:t>
            </a:r>
            <a:r>
              <a:rPr sz="1600" dirty="0">
                <a:latin typeface="Arial MT"/>
                <a:cs typeface="Arial MT"/>
              </a:rPr>
              <a:t>this </a:t>
            </a:r>
            <a:r>
              <a:rPr sz="1600" spc="-10" dirty="0">
                <a:latin typeface="Arial MT"/>
                <a:cs typeface="Arial MT"/>
              </a:rPr>
              <a:t>variable.</a:t>
            </a:r>
            <a:endParaRPr sz="1600" dirty="0">
              <a:latin typeface="Arial MT"/>
              <a:cs typeface="Arial MT"/>
            </a:endParaRPr>
          </a:p>
          <a:p>
            <a:pPr marL="86360">
              <a:lnSpc>
                <a:spcPct val="100000"/>
              </a:lnSpc>
              <a:spcBef>
                <a:spcPts val="1485"/>
              </a:spcBef>
            </a:pPr>
            <a:r>
              <a:rPr sz="1600" b="1" dirty="0">
                <a:latin typeface="Arial"/>
                <a:cs typeface="Arial"/>
              </a:rPr>
              <a:t>Mutex</a:t>
            </a:r>
            <a:r>
              <a:rPr sz="1600" b="1" spc="-50" dirty="0">
                <a:latin typeface="Arial"/>
                <a:cs typeface="Arial"/>
              </a:rPr>
              <a:t> </a:t>
            </a:r>
            <a:r>
              <a:rPr sz="1600" b="1" dirty="0">
                <a:latin typeface="Arial"/>
                <a:cs typeface="Arial"/>
              </a:rPr>
              <a:t>for</a:t>
            </a:r>
            <a:r>
              <a:rPr sz="1600" b="1" spc="-45" dirty="0">
                <a:latin typeface="Arial"/>
                <a:cs typeface="Arial"/>
              </a:rPr>
              <a:t> </a:t>
            </a:r>
            <a:r>
              <a:rPr sz="1600" b="1" dirty="0">
                <a:latin typeface="Arial"/>
                <a:cs typeface="Arial"/>
              </a:rPr>
              <a:t>Thread</a:t>
            </a:r>
            <a:r>
              <a:rPr sz="1600" b="1" spc="-45" dirty="0">
                <a:latin typeface="Arial"/>
                <a:cs typeface="Arial"/>
              </a:rPr>
              <a:t> </a:t>
            </a:r>
            <a:r>
              <a:rPr sz="1600" b="1" spc="-10" dirty="0">
                <a:latin typeface="Arial"/>
                <a:cs typeface="Arial"/>
              </a:rPr>
              <a:t>Safety</a:t>
            </a:r>
            <a:r>
              <a:rPr sz="1600" spc="-10" dirty="0">
                <a:latin typeface="Arial MT"/>
                <a:cs typeface="Arial MT"/>
              </a:rPr>
              <a:t>:</a:t>
            </a:r>
            <a:endParaRPr sz="1600" dirty="0">
              <a:latin typeface="Arial MT"/>
              <a:cs typeface="Arial MT"/>
            </a:endParaRPr>
          </a:p>
          <a:p>
            <a:pPr marL="543560" marR="313690" indent="-351790">
              <a:lnSpc>
                <a:spcPct val="114999"/>
              </a:lnSpc>
              <a:spcBef>
                <a:spcPts val="1200"/>
              </a:spcBef>
              <a:spcAft>
                <a:spcPts val="1200"/>
              </a:spcAft>
              <a:buClr>
                <a:srgbClr val="000000"/>
              </a:buClr>
              <a:buFont typeface="Arial MT"/>
              <a:buChar char="●"/>
              <a:tabLst>
                <a:tab pos="543560" algn="l"/>
              </a:tabLst>
            </a:pPr>
            <a:r>
              <a:rPr sz="1600" b="1" dirty="0">
                <a:solidFill>
                  <a:srgbClr val="188037"/>
                </a:solidFill>
                <a:latin typeface="Courier New"/>
                <a:cs typeface="Courier New"/>
              </a:rPr>
              <a:t>pthread_mutex_t</a:t>
            </a:r>
            <a:r>
              <a:rPr sz="1600" b="1" spc="-114" dirty="0">
                <a:solidFill>
                  <a:srgbClr val="188037"/>
                </a:solidFill>
                <a:latin typeface="Courier New"/>
                <a:cs typeface="Courier New"/>
              </a:rPr>
              <a:t> </a:t>
            </a:r>
            <a:r>
              <a:rPr sz="1600" b="1" spc="-20" dirty="0">
                <a:solidFill>
                  <a:srgbClr val="188037"/>
                </a:solidFill>
                <a:latin typeface="Courier New"/>
                <a:cs typeface="Courier New"/>
              </a:rPr>
              <a:t>balance_lock</a:t>
            </a:r>
            <a:r>
              <a:rPr sz="1600" b="1" spc="-520" dirty="0">
                <a:solidFill>
                  <a:srgbClr val="188037"/>
                </a:solidFill>
                <a:latin typeface="Courier New"/>
                <a:cs typeface="Courier New"/>
              </a:rPr>
              <a:t> </a:t>
            </a:r>
            <a:r>
              <a:rPr sz="1600" dirty="0">
                <a:latin typeface="Arial MT"/>
                <a:cs typeface="Arial MT"/>
              </a:rPr>
              <a:t>is</a:t>
            </a:r>
            <a:r>
              <a:rPr sz="1600" spc="-40" dirty="0">
                <a:latin typeface="Arial MT"/>
                <a:cs typeface="Arial MT"/>
              </a:rPr>
              <a:t> </a:t>
            </a:r>
            <a:r>
              <a:rPr sz="1600" spc="-50" dirty="0">
                <a:latin typeface="Arial MT"/>
                <a:cs typeface="Arial MT"/>
              </a:rPr>
              <a:t>a </a:t>
            </a:r>
            <a:r>
              <a:rPr sz="1600" dirty="0">
                <a:latin typeface="Arial MT"/>
                <a:cs typeface="Arial MT"/>
              </a:rPr>
              <a:t>mutex</a:t>
            </a:r>
            <a:r>
              <a:rPr sz="1600" spc="-35" dirty="0">
                <a:latin typeface="Arial MT"/>
                <a:cs typeface="Arial MT"/>
              </a:rPr>
              <a:t> </a:t>
            </a:r>
            <a:r>
              <a:rPr sz="1600" dirty="0">
                <a:latin typeface="Arial MT"/>
                <a:cs typeface="Arial MT"/>
              </a:rPr>
              <a:t>that</a:t>
            </a:r>
            <a:r>
              <a:rPr sz="1600" spc="-35" dirty="0">
                <a:latin typeface="Arial MT"/>
                <a:cs typeface="Arial MT"/>
              </a:rPr>
              <a:t> </a:t>
            </a:r>
            <a:r>
              <a:rPr sz="1600" dirty="0">
                <a:latin typeface="Arial MT"/>
                <a:cs typeface="Arial MT"/>
              </a:rPr>
              <a:t>ensures</a:t>
            </a:r>
            <a:r>
              <a:rPr sz="1600" spc="-30" dirty="0">
                <a:latin typeface="Arial MT"/>
                <a:cs typeface="Arial MT"/>
              </a:rPr>
              <a:t> </a:t>
            </a:r>
            <a:r>
              <a:rPr sz="1600" dirty="0">
                <a:latin typeface="Arial MT"/>
                <a:cs typeface="Arial MT"/>
              </a:rPr>
              <a:t>only</a:t>
            </a:r>
            <a:r>
              <a:rPr sz="1600" spc="-35" dirty="0">
                <a:latin typeface="Arial MT"/>
                <a:cs typeface="Arial MT"/>
              </a:rPr>
              <a:t> </a:t>
            </a:r>
            <a:r>
              <a:rPr sz="1600" dirty="0">
                <a:latin typeface="Arial MT"/>
                <a:cs typeface="Arial MT"/>
              </a:rPr>
              <a:t>one</a:t>
            </a:r>
            <a:r>
              <a:rPr sz="1600" spc="-30" dirty="0">
                <a:latin typeface="Arial MT"/>
                <a:cs typeface="Arial MT"/>
              </a:rPr>
              <a:t> </a:t>
            </a:r>
            <a:r>
              <a:rPr sz="1600" dirty="0">
                <a:latin typeface="Arial MT"/>
                <a:cs typeface="Arial MT"/>
              </a:rPr>
              <a:t>thread</a:t>
            </a:r>
            <a:r>
              <a:rPr sz="1600" spc="-35" dirty="0">
                <a:latin typeface="Arial MT"/>
                <a:cs typeface="Arial MT"/>
              </a:rPr>
              <a:t> </a:t>
            </a:r>
            <a:r>
              <a:rPr sz="1600" spc="-25" dirty="0">
                <a:latin typeface="Arial MT"/>
                <a:cs typeface="Arial MT"/>
              </a:rPr>
              <a:t>can </a:t>
            </a:r>
            <a:r>
              <a:rPr sz="1600" dirty="0">
                <a:latin typeface="Arial MT"/>
                <a:cs typeface="Arial MT"/>
              </a:rPr>
              <a:t>modify </a:t>
            </a:r>
            <a:r>
              <a:rPr sz="1600" b="1" spc="-20" dirty="0">
                <a:solidFill>
                  <a:srgbClr val="188037"/>
                </a:solidFill>
                <a:latin typeface="Courier New"/>
                <a:cs typeface="Courier New"/>
              </a:rPr>
              <a:t>balance</a:t>
            </a:r>
            <a:r>
              <a:rPr sz="1600" spc="-515" dirty="0">
                <a:solidFill>
                  <a:srgbClr val="188037"/>
                </a:solidFill>
                <a:latin typeface="Courier New"/>
                <a:cs typeface="Courier New"/>
              </a:rPr>
              <a:t> </a:t>
            </a:r>
            <a:r>
              <a:rPr sz="1600" dirty="0">
                <a:latin typeface="Arial MT"/>
                <a:cs typeface="Arial MT"/>
              </a:rPr>
              <a:t>at a </a:t>
            </a:r>
            <a:r>
              <a:rPr sz="1600" spc="-10" dirty="0">
                <a:latin typeface="Arial MT"/>
                <a:cs typeface="Arial MT"/>
              </a:rPr>
              <a:t>time.</a:t>
            </a:r>
            <a:endParaRPr sz="1600" dirty="0">
              <a:latin typeface="Arial MT"/>
              <a:cs typeface="Arial MT"/>
            </a:endParaRPr>
          </a:p>
          <a:p>
            <a:pPr marL="543560" marR="222250" indent="-351790">
              <a:lnSpc>
                <a:spcPct val="114999"/>
              </a:lnSpc>
              <a:buClr>
                <a:srgbClr val="000000"/>
              </a:buClr>
              <a:buFont typeface="Arial MT"/>
              <a:buChar char="●"/>
              <a:tabLst>
                <a:tab pos="543560" algn="l"/>
              </a:tabLst>
            </a:pPr>
            <a:r>
              <a:rPr sz="1600" b="1" spc="-20" dirty="0">
                <a:solidFill>
                  <a:srgbClr val="188037"/>
                </a:solidFill>
                <a:latin typeface="Courier New"/>
                <a:cs typeface="Courier New"/>
              </a:rPr>
              <a:t>pthread_mutex_lock</a:t>
            </a:r>
            <a:r>
              <a:rPr sz="1600" b="1" spc="-420" dirty="0">
                <a:solidFill>
                  <a:srgbClr val="188037"/>
                </a:solidFill>
                <a:latin typeface="Courier New"/>
                <a:cs typeface="Courier New"/>
              </a:rPr>
              <a:t> </a:t>
            </a:r>
            <a:r>
              <a:rPr sz="1600" spc="-25" dirty="0">
                <a:latin typeface="Arial MT"/>
                <a:cs typeface="Arial MT"/>
              </a:rPr>
              <a:t>and </a:t>
            </a:r>
            <a:r>
              <a:rPr sz="1600" b="1" spc="-20" dirty="0">
                <a:solidFill>
                  <a:srgbClr val="188037"/>
                </a:solidFill>
                <a:latin typeface="Courier New"/>
                <a:cs typeface="Courier New"/>
              </a:rPr>
              <a:t>pthread_mutex_unlock</a:t>
            </a:r>
            <a:r>
              <a:rPr sz="1600" b="1" spc="-495" dirty="0">
                <a:solidFill>
                  <a:srgbClr val="188037"/>
                </a:solidFill>
                <a:latin typeface="Courier New"/>
                <a:cs typeface="Courier New"/>
              </a:rPr>
              <a:t> </a:t>
            </a:r>
            <a:r>
              <a:rPr sz="1600" dirty="0">
                <a:latin typeface="Arial MT"/>
                <a:cs typeface="Arial MT"/>
              </a:rPr>
              <a:t>are</a:t>
            </a:r>
            <a:r>
              <a:rPr sz="1600" spc="25" dirty="0">
                <a:latin typeface="Arial MT"/>
                <a:cs typeface="Arial MT"/>
              </a:rPr>
              <a:t> </a:t>
            </a:r>
            <a:r>
              <a:rPr sz="1600" dirty="0">
                <a:latin typeface="Arial MT"/>
                <a:cs typeface="Arial MT"/>
              </a:rPr>
              <a:t>used</a:t>
            </a:r>
            <a:r>
              <a:rPr sz="1600" spc="25" dirty="0">
                <a:latin typeface="Arial MT"/>
                <a:cs typeface="Arial MT"/>
              </a:rPr>
              <a:t> </a:t>
            </a:r>
            <a:r>
              <a:rPr sz="1600" spc="-25" dirty="0">
                <a:latin typeface="Arial MT"/>
                <a:cs typeface="Arial MT"/>
              </a:rPr>
              <a:t>to </a:t>
            </a:r>
            <a:r>
              <a:rPr sz="1600" dirty="0">
                <a:latin typeface="Arial MT"/>
                <a:cs typeface="Arial MT"/>
              </a:rPr>
              <a:t>acquire</a:t>
            </a:r>
            <a:r>
              <a:rPr sz="1600" spc="-35" dirty="0">
                <a:latin typeface="Arial MT"/>
                <a:cs typeface="Arial MT"/>
              </a:rPr>
              <a:t> </a:t>
            </a:r>
            <a:r>
              <a:rPr sz="1600" dirty="0">
                <a:latin typeface="Arial MT"/>
                <a:cs typeface="Arial MT"/>
              </a:rPr>
              <a:t>and</a:t>
            </a:r>
            <a:r>
              <a:rPr sz="1600" spc="-35" dirty="0">
                <a:latin typeface="Arial MT"/>
                <a:cs typeface="Arial MT"/>
              </a:rPr>
              <a:t> </a:t>
            </a:r>
            <a:r>
              <a:rPr sz="1600" dirty="0">
                <a:latin typeface="Arial MT"/>
                <a:cs typeface="Arial MT"/>
              </a:rPr>
              <a:t>release</a:t>
            </a:r>
            <a:r>
              <a:rPr sz="1600" spc="-35" dirty="0">
                <a:latin typeface="Arial MT"/>
                <a:cs typeface="Arial MT"/>
              </a:rPr>
              <a:t> </a:t>
            </a:r>
            <a:r>
              <a:rPr sz="1600" dirty="0">
                <a:latin typeface="Arial MT"/>
                <a:cs typeface="Arial MT"/>
              </a:rPr>
              <a:t>the</a:t>
            </a:r>
            <a:r>
              <a:rPr sz="1600" spc="-30" dirty="0">
                <a:latin typeface="Arial MT"/>
                <a:cs typeface="Arial MT"/>
              </a:rPr>
              <a:t> </a:t>
            </a:r>
            <a:r>
              <a:rPr sz="1600" dirty="0">
                <a:latin typeface="Arial MT"/>
                <a:cs typeface="Arial MT"/>
              </a:rPr>
              <a:t>mutex</a:t>
            </a:r>
            <a:r>
              <a:rPr sz="1600" spc="-35" dirty="0">
                <a:latin typeface="Arial MT"/>
                <a:cs typeface="Arial MT"/>
              </a:rPr>
              <a:t> </a:t>
            </a:r>
            <a:r>
              <a:rPr sz="1600" dirty="0">
                <a:latin typeface="Arial MT"/>
                <a:cs typeface="Arial MT"/>
              </a:rPr>
              <a:t>around</a:t>
            </a:r>
            <a:r>
              <a:rPr sz="1600" spc="-35" dirty="0">
                <a:latin typeface="Arial MT"/>
                <a:cs typeface="Arial MT"/>
              </a:rPr>
              <a:t> </a:t>
            </a:r>
            <a:r>
              <a:rPr sz="1600" spc="-25" dirty="0">
                <a:latin typeface="Arial MT"/>
                <a:cs typeface="Arial MT"/>
              </a:rPr>
              <a:t>the </a:t>
            </a:r>
            <a:r>
              <a:rPr sz="1600" dirty="0">
                <a:latin typeface="Arial MT"/>
                <a:cs typeface="Arial MT"/>
              </a:rPr>
              <a:t>critical</a:t>
            </a:r>
            <a:r>
              <a:rPr sz="1600" spc="-25" dirty="0">
                <a:latin typeface="Arial MT"/>
                <a:cs typeface="Arial MT"/>
              </a:rPr>
              <a:t> </a:t>
            </a:r>
            <a:r>
              <a:rPr sz="1600" dirty="0">
                <a:latin typeface="Arial MT"/>
                <a:cs typeface="Arial MT"/>
              </a:rPr>
              <a:t>section</a:t>
            </a:r>
            <a:r>
              <a:rPr sz="1600" spc="-15" dirty="0">
                <a:latin typeface="Arial MT"/>
                <a:cs typeface="Arial MT"/>
              </a:rPr>
              <a:t> </a:t>
            </a:r>
            <a:r>
              <a:rPr sz="1600" dirty="0">
                <a:latin typeface="Arial MT"/>
                <a:cs typeface="Arial MT"/>
              </a:rPr>
              <a:t>where</a:t>
            </a:r>
            <a:r>
              <a:rPr sz="1600" spc="-5" dirty="0">
                <a:latin typeface="Arial MT"/>
                <a:cs typeface="Arial MT"/>
              </a:rPr>
              <a:t> </a:t>
            </a:r>
            <a:r>
              <a:rPr sz="1600" b="1" spc="-20" dirty="0">
                <a:solidFill>
                  <a:srgbClr val="188037"/>
                </a:solidFill>
                <a:latin typeface="Courier New"/>
                <a:cs typeface="Courier New"/>
              </a:rPr>
              <a:t>balance</a:t>
            </a:r>
            <a:r>
              <a:rPr sz="1600" spc="-520" dirty="0">
                <a:solidFill>
                  <a:srgbClr val="188037"/>
                </a:solidFill>
                <a:latin typeface="Courier New"/>
                <a:cs typeface="Courier New"/>
              </a:rPr>
              <a:t> </a:t>
            </a:r>
            <a:r>
              <a:rPr sz="1600" dirty="0">
                <a:latin typeface="Arial MT"/>
                <a:cs typeface="Arial MT"/>
              </a:rPr>
              <a:t>is</a:t>
            </a:r>
            <a:r>
              <a:rPr sz="1600" spc="-15" dirty="0">
                <a:latin typeface="Arial MT"/>
                <a:cs typeface="Arial MT"/>
              </a:rPr>
              <a:t> </a:t>
            </a:r>
            <a:r>
              <a:rPr sz="1600" spc="-10" dirty="0">
                <a:latin typeface="Arial MT"/>
                <a:cs typeface="Arial MT"/>
              </a:rPr>
              <a:t>modified.</a:t>
            </a:r>
            <a:endParaRPr sz="1600" dirty="0">
              <a:latin typeface="Arial MT"/>
              <a:cs typeface="Arial MT"/>
            </a:endParaRPr>
          </a:p>
        </p:txBody>
      </p:sp>
      <p:pic>
        <p:nvPicPr>
          <p:cNvPr id="4" name="object 4" descr="A C code snippet defining deposit and withdraw functions. Both functions use a pthread_mutex_t named balance_lock to safely modify a shared balance variable across multiple iterations, preventing race conditions during financial simulations."/>
          <p:cNvPicPr/>
          <p:nvPr/>
        </p:nvPicPr>
        <p:blipFill>
          <a:blip r:embed="rId3" cstate="print"/>
          <a:stretch>
            <a:fillRect/>
          </a:stretch>
        </p:blipFill>
        <p:spPr>
          <a:xfrm>
            <a:off x="5459800" y="1190750"/>
            <a:ext cx="6421249" cy="53353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0375" y="1442973"/>
            <a:ext cx="3074670" cy="655320"/>
          </a:xfrm>
          <a:prstGeom prst="rect">
            <a:avLst/>
          </a:prstGeom>
        </p:spPr>
        <p:txBody>
          <a:bodyPr vert="horz" wrap="square" lIns="0" tIns="12700" rIns="0" bIns="0" rtlCol="0">
            <a:spAutoFit/>
          </a:bodyPr>
          <a:lstStyle/>
          <a:p>
            <a:pPr marL="12700">
              <a:lnSpc>
                <a:spcPts val="2900"/>
              </a:lnSpc>
              <a:spcBef>
                <a:spcPts val="100"/>
              </a:spcBef>
            </a:pPr>
            <a:r>
              <a:rPr dirty="0"/>
              <a:t>Thread</a:t>
            </a:r>
            <a:r>
              <a:rPr spc="-110" dirty="0"/>
              <a:t> </a:t>
            </a:r>
            <a:r>
              <a:rPr spc="-10" dirty="0"/>
              <a:t>Safety</a:t>
            </a:r>
          </a:p>
          <a:p>
            <a:pPr marL="12700">
              <a:lnSpc>
                <a:spcPts val="2060"/>
              </a:lnSpc>
            </a:pPr>
            <a:r>
              <a:rPr sz="1800" dirty="0"/>
              <a:t>Bank</a:t>
            </a:r>
            <a:r>
              <a:rPr sz="1800" spc="-90" dirty="0"/>
              <a:t> </a:t>
            </a:r>
            <a:r>
              <a:rPr sz="1800" dirty="0"/>
              <a:t>Account</a:t>
            </a:r>
            <a:r>
              <a:rPr sz="1800" spc="-85" dirty="0"/>
              <a:t> </a:t>
            </a:r>
            <a:r>
              <a:rPr sz="1800" dirty="0"/>
              <a:t>Balance</a:t>
            </a:r>
            <a:r>
              <a:rPr sz="1800" spc="-85" dirty="0"/>
              <a:t> </a:t>
            </a:r>
            <a:r>
              <a:rPr sz="1800" spc="-10" dirty="0"/>
              <a:t>Update</a:t>
            </a:r>
            <a:endParaRPr sz="1800"/>
          </a:p>
        </p:txBody>
      </p:sp>
      <p:sp>
        <p:nvSpPr>
          <p:cNvPr id="3" name="object 3"/>
          <p:cNvSpPr txBox="1"/>
          <p:nvPr/>
        </p:nvSpPr>
        <p:spPr>
          <a:xfrm>
            <a:off x="560650" y="2573630"/>
            <a:ext cx="4144010" cy="3291840"/>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a:cs typeface="Arial"/>
              </a:rPr>
              <a:t>Deposit</a:t>
            </a:r>
            <a:r>
              <a:rPr sz="1800" b="1" spc="-35" dirty="0">
                <a:latin typeface="Arial"/>
                <a:cs typeface="Arial"/>
              </a:rPr>
              <a:t> </a:t>
            </a:r>
            <a:r>
              <a:rPr sz="1800" b="1" dirty="0">
                <a:latin typeface="Arial"/>
                <a:cs typeface="Arial"/>
              </a:rPr>
              <a:t>and</a:t>
            </a:r>
            <a:r>
              <a:rPr sz="1800" b="1" spc="-30" dirty="0">
                <a:latin typeface="Arial"/>
                <a:cs typeface="Arial"/>
              </a:rPr>
              <a:t> </a:t>
            </a:r>
            <a:r>
              <a:rPr sz="1800" b="1" dirty="0">
                <a:latin typeface="Arial"/>
                <a:cs typeface="Arial"/>
              </a:rPr>
              <a:t>Withdraw</a:t>
            </a:r>
            <a:r>
              <a:rPr sz="1800" b="1" spc="-30" dirty="0">
                <a:latin typeface="Arial"/>
                <a:cs typeface="Arial"/>
              </a:rPr>
              <a:t> </a:t>
            </a:r>
            <a:r>
              <a:rPr sz="1800" b="1" spc="-10" dirty="0">
                <a:latin typeface="Arial"/>
                <a:cs typeface="Arial"/>
              </a:rPr>
              <a:t>Functions</a:t>
            </a:r>
            <a:r>
              <a:rPr sz="1800" spc="-10" dirty="0">
                <a:latin typeface="Arial MT"/>
                <a:cs typeface="Arial MT"/>
              </a:rPr>
              <a:t>:</a:t>
            </a:r>
            <a:endParaRPr sz="1800" dirty="0">
              <a:latin typeface="Arial MT"/>
              <a:cs typeface="Arial MT"/>
            </a:endParaRPr>
          </a:p>
          <a:p>
            <a:pPr marL="469900" marR="5080" indent="-367030">
              <a:lnSpc>
                <a:spcPct val="114999"/>
              </a:lnSpc>
              <a:spcBef>
                <a:spcPts val="1200"/>
              </a:spcBef>
              <a:buClr>
                <a:srgbClr val="000000"/>
              </a:buClr>
              <a:buFont typeface="Arial MT"/>
              <a:buChar char="●"/>
              <a:tabLst>
                <a:tab pos="469900" algn="l"/>
              </a:tabLst>
            </a:pPr>
            <a:r>
              <a:rPr sz="1800" b="1" spc="-10" dirty="0">
                <a:solidFill>
                  <a:srgbClr val="188037"/>
                </a:solidFill>
                <a:latin typeface="Courier New"/>
                <a:cs typeface="Courier New"/>
              </a:rPr>
              <a:t>deposit()</a:t>
            </a:r>
            <a:r>
              <a:rPr sz="1800" b="1" spc="-575" dirty="0">
                <a:solidFill>
                  <a:srgbClr val="188037"/>
                </a:solidFill>
                <a:latin typeface="Courier New"/>
                <a:cs typeface="Courier New"/>
              </a:rPr>
              <a:t> </a:t>
            </a:r>
            <a:r>
              <a:rPr sz="1800" dirty="0">
                <a:latin typeface="Arial MT"/>
                <a:cs typeface="Arial MT"/>
              </a:rPr>
              <a:t>increments</a:t>
            </a:r>
            <a:r>
              <a:rPr sz="1800" spc="10" dirty="0">
                <a:latin typeface="Arial MT"/>
                <a:cs typeface="Arial MT"/>
              </a:rPr>
              <a:t> </a:t>
            </a:r>
            <a:r>
              <a:rPr sz="1800" dirty="0">
                <a:latin typeface="Arial MT"/>
                <a:cs typeface="Arial MT"/>
              </a:rPr>
              <a:t>the</a:t>
            </a:r>
            <a:r>
              <a:rPr sz="1800" spc="10" dirty="0">
                <a:latin typeface="Arial MT"/>
                <a:cs typeface="Arial MT"/>
              </a:rPr>
              <a:t> </a:t>
            </a:r>
            <a:r>
              <a:rPr sz="1800" spc="-10" dirty="0">
                <a:latin typeface="Arial MT"/>
                <a:cs typeface="Arial MT"/>
              </a:rPr>
              <a:t>balance </a:t>
            </a:r>
            <a:r>
              <a:rPr sz="1800" dirty="0">
                <a:latin typeface="Arial MT"/>
                <a:cs typeface="Arial MT"/>
              </a:rPr>
              <a:t>by</a:t>
            </a:r>
            <a:r>
              <a:rPr sz="1800" spc="-20" dirty="0">
                <a:latin typeface="Arial MT"/>
                <a:cs typeface="Arial MT"/>
              </a:rPr>
              <a:t> </a:t>
            </a:r>
            <a:r>
              <a:rPr sz="1800" dirty="0">
                <a:latin typeface="Arial MT"/>
                <a:cs typeface="Arial MT"/>
              </a:rPr>
              <a:t>10</a:t>
            </a:r>
            <a:r>
              <a:rPr sz="1800" spc="-15" dirty="0">
                <a:latin typeface="Arial MT"/>
                <a:cs typeface="Arial MT"/>
              </a:rPr>
              <a:t> </a:t>
            </a:r>
            <a:r>
              <a:rPr sz="1800" dirty="0">
                <a:latin typeface="Arial MT"/>
                <a:cs typeface="Arial MT"/>
              </a:rPr>
              <a:t>units</a:t>
            </a:r>
            <a:r>
              <a:rPr sz="1800" spc="-15" dirty="0">
                <a:latin typeface="Arial MT"/>
                <a:cs typeface="Arial MT"/>
              </a:rPr>
              <a:t> </a:t>
            </a:r>
            <a:r>
              <a:rPr sz="1800" dirty="0">
                <a:latin typeface="Arial MT"/>
                <a:cs typeface="Arial MT"/>
              </a:rPr>
              <a:t>in</a:t>
            </a:r>
            <a:r>
              <a:rPr sz="1800" spc="-20" dirty="0">
                <a:latin typeface="Arial MT"/>
                <a:cs typeface="Arial MT"/>
              </a:rPr>
              <a:t> </a:t>
            </a:r>
            <a:r>
              <a:rPr sz="1800" dirty="0">
                <a:latin typeface="Arial MT"/>
                <a:cs typeface="Arial MT"/>
              </a:rPr>
              <a:t>each</a:t>
            </a:r>
            <a:r>
              <a:rPr sz="1800" spc="-15" dirty="0">
                <a:latin typeface="Arial MT"/>
                <a:cs typeface="Arial MT"/>
              </a:rPr>
              <a:t> </a:t>
            </a:r>
            <a:r>
              <a:rPr sz="1800" dirty="0">
                <a:latin typeface="Arial MT"/>
                <a:cs typeface="Arial MT"/>
              </a:rPr>
              <a:t>iteration,</a:t>
            </a:r>
            <a:r>
              <a:rPr sz="1800" spc="-15" dirty="0">
                <a:latin typeface="Arial MT"/>
                <a:cs typeface="Arial MT"/>
              </a:rPr>
              <a:t> </a:t>
            </a:r>
            <a:r>
              <a:rPr sz="1800" spc="-10" dirty="0">
                <a:latin typeface="Arial MT"/>
                <a:cs typeface="Arial MT"/>
              </a:rPr>
              <a:t>while </a:t>
            </a:r>
            <a:r>
              <a:rPr sz="1800" b="1" spc="-10" dirty="0">
                <a:solidFill>
                  <a:srgbClr val="188037"/>
                </a:solidFill>
                <a:latin typeface="Courier New"/>
                <a:cs typeface="Courier New"/>
              </a:rPr>
              <a:t>withdraw()</a:t>
            </a:r>
            <a:r>
              <a:rPr sz="1800" b="1" spc="-580" dirty="0">
                <a:solidFill>
                  <a:srgbClr val="188037"/>
                </a:solidFill>
                <a:latin typeface="Courier New"/>
                <a:cs typeface="Courier New"/>
              </a:rPr>
              <a:t> </a:t>
            </a:r>
            <a:r>
              <a:rPr sz="1800" dirty="0">
                <a:latin typeface="Arial MT"/>
                <a:cs typeface="Arial MT"/>
              </a:rPr>
              <a:t>decrements</a:t>
            </a:r>
            <a:r>
              <a:rPr sz="1800" spc="10" dirty="0">
                <a:latin typeface="Arial MT"/>
                <a:cs typeface="Arial MT"/>
              </a:rPr>
              <a:t> </a:t>
            </a:r>
            <a:r>
              <a:rPr sz="1800" dirty="0">
                <a:latin typeface="Arial MT"/>
                <a:cs typeface="Arial MT"/>
              </a:rPr>
              <a:t>it</a:t>
            </a:r>
            <a:r>
              <a:rPr sz="1800" spc="5" dirty="0">
                <a:latin typeface="Arial MT"/>
                <a:cs typeface="Arial MT"/>
              </a:rPr>
              <a:t> </a:t>
            </a:r>
            <a:r>
              <a:rPr sz="1800" dirty="0">
                <a:latin typeface="Arial MT"/>
                <a:cs typeface="Arial MT"/>
              </a:rPr>
              <a:t>by</a:t>
            </a:r>
            <a:r>
              <a:rPr sz="1800" spc="10" dirty="0">
                <a:latin typeface="Arial MT"/>
                <a:cs typeface="Arial MT"/>
              </a:rPr>
              <a:t> </a:t>
            </a:r>
            <a:r>
              <a:rPr sz="1800" spc="-25" dirty="0">
                <a:latin typeface="Arial MT"/>
                <a:cs typeface="Arial MT"/>
              </a:rPr>
              <a:t>10 </a:t>
            </a:r>
            <a:r>
              <a:rPr sz="1800" spc="-10" dirty="0">
                <a:latin typeface="Arial MT"/>
                <a:cs typeface="Arial MT"/>
              </a:rPr>
              <a:t>units.</a:t>
            </a:r>
            <a:endParaRPr sz="1800" dirty="0">
              <a:latin typeface="Arial MT"/>
              <a:cs typeface="Arial MT"/>
            </a:endParaRPr>
          </a:p>
          <a:p>
            <a:pPr>
              <a:lnSpc>
                <a:spcPct val="100000"/>
              </a:lnSpc>
              <a:spcBef>
                <a:spcPts val="409"/>
              </a:spcBef>
              <a:buFont typeface="Arial MT"/>
              <a:buChar char="●"/>
            </a:pPr>
            <a:endParaRPr sz="1800" dirty="0">
              <a:latin typeface="Arial MT"/>
              <a:cs typeface="Arial MT"/>
            </a:endParaRPr>
          </a:p>
          <a:p>
            <a:pPr marL="469900" marR="59055" indent="-367030">
              <a:lnSpc>
                <a:spcPct val="114999"/>
              </a:lnSpc>
              <a:spcBef>
                <a:spcPts val="5"/>
              </a:spcBef>
              <a:buChar char="●"/>
              <a:tabLst>
                <a:tab pos="469900" algn="l"/>
              </a:tabLst>
            </a:pPr>
            <a:r>
              <a:rPr sz="1800" dirty="0">
                <a:latin typeface="Arial MT"/>
                <a:cs typeface="Arial MT"/>
              </a:rPr>
              <a:t>Both</a:t>
            </a:r>
            <a:r>
              <a:rPr sz="1800" spc="-25" dirty="0">
                <a:latin typeface="Arial MT"/>
                <a:cs typeface="Arial MT"/>
              </a:rPr>
              <a:t> </a:t>
            </a:r>
            <a:r>
              <a:rPr sz="1800" dirty="0">
                <a:latin typeface="Arial MT"/>
                <a:cs typeface="Arial MT"/>
              </a:rPr>
              <a:t>functions</a:t>
            </a:r>
            <a:r>
              <a:rPr sz="1800" spc="-10" dirty="0">
                <a:latin typeface="Arial MT"/>
                <a:cs typeface="Arial MT"/>
              </a:rPr>
              <a:t> </a:t>
            </a:r>
            <a:r>
              <a:rPr sz="1800" dirty="0">
                <a:latin typeface="Arial MT"/>
                <a:cs typeface="Arial MT"/>
              </a:rPr>
              <a:t>use</a:t>
            </a:r>
            <a:r>
              <a:rPr sz="1800" spc="-15" dirty="0">
                <a:latin typeface="Arial MT"/>
                <a:cs typeface="Arial MT"/>
              </a:rPr>
              <a:t> </a:t>
            </a:r>
            <a:r>
              <a:rPr sz="1800" dirty="0">
                <a:latin typeface="Arial MT"/>
                <a:cs typeface="Arial MT"/>
              </a:rPr>
              <a:t>the</a:t>
            </a:r>
            <a:r>
              <a:rPr sz="1800" spc="-10" dirty="0">
                <a:latin typeface="Arial MT"/>
                <a:cs typeface="Arial MT"/>
              </a:rPr>
              <a:t> </a:t>
            </a:r>
            <a:r>
              <a:rPr sz="1800" dirty="0">
                <a:latin typeface="Arial MT"/>
                <a:cs typeface="Arial MT"/>
              </a:rPr>
              <a:t>mutex</a:t>
            </a:r>
            <a:r>
              <a:rPr sz="1800" spc="-10" dirty="0">
                <a:latin typeface="Arial MT"/>
                <a:cs typeface="Arial MT"/>
              </a:rPr>
              <a:t> </a:t>
            </a:r>
            <a:r>
              <a:rPr sz="1800" spc="-25" dirty="0">
                <a:latin typeface="Arial MT"/>
                <a:cs typeface="Arial MT"/>
              </a:rPr>
              <a:t>to </a:t>
            </a:r>
            <a:r>
              <a:rPr sz="1800" dirty="0">
                <a:latin typeface="Arial MT"/>
                <a:cs typeface="Arial MT"/>
              </a:rPr>
              <a:t>prevent</a:t>
            </a:r>
            <a:r>
              <a:rPr sz="1800" spc="-20" dirty="0">
                <a:latin typeface="Arial MT"/>
                <a:cs typeface="Arial MT"/>
              </a:rPr>
              <a:t> </a:t>
            </a:r>
            <a:r>
              <a:rPr sz="1800" dirty="0">
                <a:latin typeface="Arial MT"/>
                <a:cs typeface="Arial MT"/>
              </a:rPr>
              <a:t>race</a:t>
            </a:r>
            <a:r>
              <a:rPr sz="1800" spc="-15" dirty="0">
                <a:latin typeface="Arial MT"/>
                <a:cs typeface="Arial MT"/>
              </a:rPr>
              <a:t> </a:t>
            </a:r>
            <a:r>
              <a:rPr sz="1800" dirty="0">
                <a:latin typeface="Arial MT"/>
                <a:cs typeface="Arial MT"/>
              </a:rPr>
              <a:t>conditions</a:t>
            </a:r>
            <a:r>
              <a:rPr sz="1800" spc="-15" dirty="0">
                <a:latin typeface="Arial MT"/>
                <a:cs typeface="Arial MT"/>
              </a:rPr>
              <a:t> </a:t>
            </a:r>
            <a:r>
              <a:rPr sz="1800" dirty="0">
                <a:latin typeface="Arial MT"/>
                <a:cs typeface="Arial MT"/>
              </a:rPr>
              <a:t>by</a:t>
            </a:r>
            <a:r>
              <a:rPr sz="1800" spc="-15" dirty="0">
                <a:latin typeface="Arial MT"/>
                <a:cs typeface="Arial MT"/>
              </a:rPr>
              <a:t> </a:t>
            </a:r>
            <a:r>
              <a:rPr sz="1800" spc="-10" dirty="0">
                <a:latin typeface="Arial MT"/>
                <a:cs typeface="Arial MT"/>
              </a:rPr>
              <a:t>ensuring </a:t>
            </a:r>
            <a:r>
              <a:rPr sz="1800" dirty="0">
                <a:latin typeface="Arial MT"/>
                <a:cs typeface="Arial MT"/>
              </a:rPr>
              <a:t>that</a:t>
            </a:r>
            <a:r>
              <a:rPr sz="1800" spc="-20" dirty="0">
                <a:latin typeface="Arial MT"/>
                <a:cs typeface="Arial MT"/>
              </a:rPr>
              <a:t> </a:t>
            </a:r>
            <a:r>
              <a:rPr sz="1800" dirty="0">
                <a:latin typeface="Arial MT"/>
                <a:cs typeface="Arial MT"/>
              </a:rPr>
              <a:t>only</a:t>
            </a:r>
            <a:r>
              <a:rPr sz="1800" spc="-15" dirty="0">
                <a:latin typeface="Arial MT"/>
                <a:cs typeface="Arial MT"/>
              </a:rPr>
              <a:t> </a:t>
            </a:r>
            <a:r>
              <a:rPr sz="1800" dirty="0">
                <a:latin typeface="Arial MT"/>
                <a:cs typeface="Arial MT"/>
              </a:rPr>
              <a:t>one</a:t>
            </a:r>
            <a:r>
              <a:rPr sz="1800" spc="-20" dirty="0">
                <a:latin typeface="Arial MT"/>
                <a:cs typeface="Arial MT"/>
              </a:rPr>
              <a:t> </a:t>
            </a:r>
            <a:r>
              <a:rPr sz="1800" dirty="0">
                <a:latin typeface="Arial MT"/>
                <a:cs typeface="Arial MT"/>
              </a:rPr>
              <a:t>thread</a:t>
            </a:r>
            <a:r>
              <a:rPr sz="1800" spc="-15" dirty="0">
                <a:latin typeface="Arial MT"/>
                <a:cs typeface="Arial MT"/>
              </a:rPr>
              <a:t> </a:t>
            </a:r>
            <a:r>
              <a:rPr sz="1800" dirty="0">
                <a:latin typeface="Arial MT"/>
                <a:cs typeface="Arial MT"/>
              </a:rPr>
              <a:t>can</a:t>
            </a:r>
            <a:r>
              <a:rPr sz="1800" spc="-15" dirty="0">
                <a:latin typeface="Arial MT"/>
                <a:cs typeface="Arial MT"/>
              </a:rPr>
              <a:t> </a:t>
            </a:r>
            <a:r>
              <a:rPr sz="1800" spc="-10" dirty="0">
                <a:latin typeface="Arial MT"/>
                <a:cs typeface="Arial MT"/>
              </a:rPr>
              <a:t>modify </a:t>
            </a:r>
            <a:r>
              <a:rPr sz="1800" b="1" spc="-10" dirty="0">
                <a:solidFill>
                  <a:srgbClr val="188037"/>
                </a:solidFill>
                <a:latin typeface="Courier New"/>
                <a:cs typeface="Courier New"/>
              </a:rPr>
              <a:t>balance</a:t>
            </a:r>
            <a:r>
              <a:rPr sz="1800" spc="-585" dirty="0">
                <a:solidFill>
                  <a:srgbClr val="188037"/>
                </a:solidFill>
                <a:latin typeface="Courier New"/>
                <a:cs typeface="Courier New"/>
              </a:rPr>
              <a:t> </a:t>
            </a:r>
            <a:r>
              <a:rPr sz="1800" dirty="0">
                <a:latin typeface="Arial MT"/>
                <a:cs typeface="Arial MT"/>
              </a:rPr>
              <a:t>at any given </a:t>
            </a:r>
            <a:r>
              <a:rPr sz="1800" spc="-10" dirty="0">
                <a:latin typeface="Arial MT"/>
                <a:cs typeface="Arial MT"/>
              </a:rPr>
              <a:t>moment.</a:t>
            </a:r>
            <a:endParaRPr sz="1800" dirty="0">
              <a:latin typeface="Arial MT"/>
              <a:cs typeface="Arial MT"/>
            </a:endParaRPr>
          </a:p>
        </p:txBody>
      </p:sp>
      <p:pic>
        <p:nvPicPr>
          <p:cNvPr id="4" name="object 4">
            <a:extLst>
              <a:ext uri="{C183D7F6-B498-43B3-948B-1728B52AA6E4}">
                <adec:decorative xmlns:adec="http://schemas.microsoft.com/office/drawing/2017/decorative" val="1"/>
              </a:ext>
            </a:extLst>
          </p:cNvPr>
          <p:cNvPicPr/>
          <p:nvPr/>
        </p:nvPicPr>
        <p:blipFill>
          <a:blip r:embed="rId2" cstate="print"/>
          <a:stretch>
            <a:fillRect/>
          </a:stretch>
        </p:blipFill>
        <p:spPr>
          <a:xfrm>
            <a:off x="5459800" y="1190750"/>
            <a:ext cx="6421249" cy="53353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0375" y="1442973"/>
            <a:ext cx="3074670" cy="655320"/>
          </a:xfrm>
          <a:prstGeom prst="rect">
            <a:avLst/>
          </a:prstGeom>
        </p:spPr>
        <p:txBody>
          <a:bodyPr vert="horz" wrap="square" lIns="0" tIns="12700" rIns="0" bIns="0" rtlCol="0">
            <a:spAutoFit/>
          </a:bodyPr>
          <a:lstStyle/>
          <a:p>
            <a:pPr marL="12700">
              <a:lnSpc>
                <a:spcPts val="2900"/>
              </a:lnSpc>
              <a:spcBef>
                <a:spcPts val="100"/>
              </a:spcBef>
            </a:pPr>
            <a:r>
              <a:rPr dirty="0"/>
              <a:t>Thread</a:t>
            </a:r>
            <a:r>
              <a:rPr spc="-110" dirty="0"/>
              <a:t> </a:t>
            </a:r>
            <a:r>
              <a:rPr spc="-10" dirty="0"/>
              <a:t>Safety</a:t>
            </a:r>
          </a:p>
          <a:p>
            <a:pPr marL="12700">
              <a:lnSpc>
                <a:spcPts val="2060"/>
              </a:lnSpc>
            </a:pPr>
            <a:r>
              <a:rPr sz="1800" dirty="0"/>
              <a:t>Bank</a:t>
            </a:r>
            <a:r>
              <a:rPr sz="1800" spc="-90" dirty="0"/>
              <a:t> </a:t>
            </a:r>
            <a:r>
              <a:rPr sz="1800" dirty="0"/>
              <a:t>Account</a:t>
            </a:r>
            <a:r>
              <a:rPr sz="1800" spc="-85" dirty="0"/>
              <a:t> </a:t>
            </a:r>
            <a:r>
              <a:rPr sz="1800" dirty="0"/>
              <a:t>Balance</a:t>
            </a:r>
            <a:r>
              <a:rPr sz="1800" spc="-85" dirty="0"/>
              <a:t> </a:t>
            </a:r>
            <a:r>
              <a:rPr sz="1800" spc="-10" dirty="0"/>
              <a:t>Update</a:t>
            </a:r>
            <a:endParaRPr sz="1800"/>
          </a:p>
        </p:txBody>
      </p:sp>
      <p:sp>
        <p:nvSpPr>
          <p:cNvPr id="3" name="object 3"/>
          <p:cNvSpPr txBox="1"/>
          <p:nvPr/>
        </p:nvSpPr>
        <p:spPr>
          <a:xfrm>
            <a:off x="560650" y="2954630"/>
            <a:ext cx="3937635" cy="2345055"/>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a:cs typeface="Arial"/>
              </a:rPr>
              <a:t>Mutex</a:t>
            </a:r>
            <a:r>
              <a:rPr sz="1800" b="1" spc="-50" dirty="0">
                <a:latin typeface="Arial"/>
                <a:cs typeface="Arial"/>
              </a:rPr>
              <a:t> </a:t>
            </a:r>
            <a:r>
              <a:rPr sz="1800" b="1" dirty="0">
                <a:latin typeface="Arial"/>
                <a:cs typeface="Arial"/>
              </a:rPr>
              <a:t>Initialization</a:t>
            </a:r>
            <a:r>
              <a:rPr sz="1800" b="1" spc="-35" dirty="0">
                <a:latin typeface="Arial"/>
                <a:cs typeface="Arial"/>
              </a:rPr>
              <a:t> </a:t>
            </a:r>
            <a:r>
              <a:rPr sz="1800" b="1" dirty="0">
                <a:latin typeface="Arial"/>
                <a:cs typeface="Arial"/>
              </a:rPr>
              <a:t>and</a:t>
            </a:r>
            <a:r>
              <a:rPr sz="1800" b="1" spc="-35" dirty="0">
                <a:latin typeface="Arial"/>
                <a:cs typeface="Arial"/>
              </a:rPr>
              <a:t> </a:t>
            </a:r>
            <a:r>
              <a:rPr sz="1800" b="1" spc="-10" dirty="0">
                <a:latin typeface="Arial"/>
                <a:cs typeface="Arial"/>
              </a:rPr>
              <a:t>Destruction</a:t>
            </a:r>
            <a:r>
              <a:rPr sz="1800" spc="-10" dirty="0">
                <a:latin typeface="Arial MT"/>
                <a:cs typeface="Arial MT"/>
              </a:rPr>
              <a:t>:</a:t>
            </a:r>
            <a:endParaRPr sz="1800" dirty="0">
              <a:latin typeface="Arial MT"/>
              <a:cs typeface="Arial MT"/>
            </a:endParaRPr>
          </a:p>
          <a:p>
            <a:pPr marL="469900" marR="324485" indent="-367030">
              <a:lnSpc>
                <a:spcPct val="114999"/>
              </a:lnSpc>
              <a:spcBef>
                <a:spcPts val="1200"/>
              </a:spcBef>
              <a:buChar char="●"/>
              <a:tabLst>
                <a:tab pos="469900" algn="l"/>
              </a:tabLst>
            </a:pPr>
            <a:r>
              <a:rPr sz="1800" dirty="0">
                <a:latin typeface="Arial MT"/>
                <a:cs typeface="Arial MT"/>
              </a:rPr>
              <a:t>The</a:t>
            </a:r>
            <a:r>
              <a:rPr sz="1800" spc="-20" dirty="0">
                <a:latin typeface="Arial MT"/>
                <a:cs typeface="Arial MT"/>
              </a:rPr>
              <a:t> </a:t>
            </a:r>
            <a:r>
              <a:rPr sz="1800" dirty="0">
                <a:latin typeface="Arial MT"/>
                <a:cs typeface="Arial MT"/>
              </a:rPr>
              <a:t>mutex</a:t>
            </a:r>
            <a:r>
              <a:rPr sz="1800" spc="-20" dirty="0">
                <a:latin typeface="Arial MT"/>
                <a:cs typeface="Arial MT"/>
              </a:rPr>
              <a:t> </a:t>
            </a:r>
            <a:r>
              <a:rPr sz="1800" dirty="0">
                <a:latin typeface="Arial MT"/>
                <a:cs typeface="Arial MT"/>
              </a:rPr>
              <a:t>is</a:t>
            </a:r>
            <a:r>
              <a:rPr sz="1800" spc="-20" dirty="0">
                <a:latin typeface="Arial MT"/>
                <a:cs typeface="Arial MT"/>
              </a:rPr>
              <a:t> </a:t>
            </a:r>
            <a:r>
              <a:rPr sz="1800" dirty="0">
                <a:latin typeface="Arial MT"/>
                <a:cs typeface="Arial MT"/>
              </a:rPr>
              <a:t>initialized</a:t>
            </a:r>
            <a:r>
              <a:rPr sz="1800" spc="-20" dirty="0">
                <a:latin typeface="Arial MT"/>
                <a:cs typeface="Arial MT"/>
              </a:rPr>
              <a:t> with </a:t>
            </a:r>
            <a:r>
              <a:rPr sz="1800" b="1" spc="-10" dirty="0">
                <a:solidFill>
                  <a:srgbClr val="188037"/>
                </a:solidFill>
                <a:latin typeface="Courier New"/>
                <a:cs typeface="Courier New"/>
              </a:rPr>
              <a:t>pthread_mutex_init</a:t>
            </a:r>
            <a:r>
              <a:rPr sz="1800" b="1" spc="-495" dirty="0">
                <a:solidFill>
                  <a:srgbClr val="188037"/>
                </a:solidFill>
                <a:latin typeface="Courier New"/>
                <a:cs typeface="Courier New"/>
              </a:rPr>
              <a:t> </a:t>
            </a:r>
            <a:r>
              <a:rPr sz="1800" spc="-25" dirty="0">
                <a:latin typeface="Arial MT"/>
                <a:cs typeface="Arial MT"/>
              </a:rPr>
              <a:t>and </a:t>
            </a:r>
            <a:r>
              <a:rPr sz="1800" dirty="0">
                <a:latin typeface="Arial MT"/>
                <a:cs typeface="Arial MT"/>
              </a:rPr>
              <a:t>destroyed</a:t>
            </a:r>
            <a:r>
              <a:rPr sz="1800" spc="-45" dirty="0">
                <a:latin typeface="Arial MT"/>
                <a:cs typeface="Arial MT"/>
              </a:rPr>
              <a:t> </a:t>
            </a:r>
            <a:r>
              <a:rPr sz="1800" spc="-20" dirty="0">
                <a:latin typeface="Arial MT"/>
                <a:cs typeface="Arial MT"/>
              </a:rPr>
              <a:t>with </a:t>
            </a:r>
            <a:r>
              <a:rPr sz="1800" b="1" spc="-10" dirty="0">
                <a:solidFill>
                  <a:srgbClr val="188037"/>
                </a:solidFill>
                <a:latin typeface="Courier New"/>
                <a:cs typeface="Courier New"/>
              </a:rPr>
              <a:t>pthread_mutex_destroy</a:t>
            </a:r>
            <a:r>
              <a:rPr sz="1800" b="1" spc="-480" dirty="0">
                <a:solidFill>
                  <a:srgbClr val="188037"/>
                </a:solidFill>
                <a:latin typeface="Courier New"/>
                <a:cs typeface="Courier New"/>
              </a:rPr>
              <a:t> </a:t>
            </a:r>
            <a:r>
              <a:rPr sz="1800" spc="-25" dirty="0">
                <a:latin typeface="Arial MT"/>
                <a:cs typeface="Arial MT"/>
              </a:rPr>
              <a:t>to </a:t>
            </a:r>
            <a:r>
              <a:rPr sz="1800" dirty="0">
                <a:latin typeface="Arial MT"/>
                <a:cs typeface="Arial MT"/>
              </a:rPr>
              <a:t>ensure</a:t>
            </a:r>
            <a:r>
              <a:rPr sz="1800" spc="-30" dirty="0">
                <a:latin typeface="Arial MT"/>
                <a:cs typeface="Arial MT"/>
              </a:rPr>
              <a:t> </a:t>
            </a:r>
            <a:r>
              <a:rPr sz="1800" dirty="0">
                <a:latin typeface="Arial MT"/>
                <a:cs typeface="Arial MT"/>
              </a:rPr>
              <a:t>proper</a:t>
            </a:r>
            <a:r>
              <a:rPr sz="1800" spc="-30" dirty="0">
                <a:latin typeface="Arial MT"/>
                <a:cs typeface="Arial MT"/>
              </a:rPr>
              <a:t> </a:t>
            </a:r>
            <a:r>
              <a:rPr sz="1800" dirty="0">
                <a:latin typeface="Arial MT"/>
                <a:cs typeface="Arial MT"/>
              </a:rPr>
              <a:t>allocation</a:t>
            </a:r>
            <a:r>
              <a:rPr sz="1800" spc="-25" dirty="0">
                <a:latin typeface="Arial MT"/>
                <a:cs typeface="Arial MT"/>
              </a:rPr>
              <a:t> and </a:t>
            </a:r>
            <a:r>
              <a:rPr sz="1800" dirty="0">
                <a:latin typeface="Arial MT"/>
                <a:cs typeface="Arial MT"/>
              </a:rPr>
              <a:t>deallocation</a:t>
            </a:r>
            <a:r>
              <a:rPr sz="1800" spc="-35" dirty="0">
                <a:latin typeface="Arial MT"/>
                <a:cs typeface="Arial MT"/>
              </a:rPr>
              <a:t> </a:t>
            </a:r>
            <a:r>
              <a:rPr sz="1800" dirty="0">
                <a:latin typeface="Arial MT"/>
                <a:cs typeface="Arial MT"/>
              </a:rPr>
              <a:t>of</a:t>
            </a:r>
            <a:r>
              <a:rPr sz="1800" spc="-35" dirty="0">
                <a:latin typeface="Arial MT"/>
                <a:cs typeface="Arial MT"/>
              </a:rPr>
              <a:t> </a:t>
            </a:r>
            <a:r>
              <a:rPr sz="1800" spc="-10" dirty="0">
                <a:latin typeface="Arial MT"/>
                <a:cs typeface="Arial MT"/>
              </a:rPr>
              <a:t>resources.</a:t>
            </a:r>
            <a:endParaRPr sz="1800" dirty="0">
              <a:latin typeface="Arial MT"/>
              <a:cs typeface="Arial MT"/>
            </a:endParaRPr>
          </a:p>
        </p:txBody>
      </p:sp>
      <p:pic>
        <p:nvPicPr>
          <p:cNvPr id="4" name="object 4" descr="The main function for a multi-threaded banking program. It initializes a mutex, creates an equal number of deposit and withdrawal threads, joins them, and then destroys the mutex. The expected final balance output is 0, demonstrating successful synchronization."/>
          <p:cNvPicPr/>
          <p:nvPr/>
        </p:nvPicPr>
        <p:blipFill>
          <a:blip r:embed="rId2" cstate="print"/>
          <a:stretch>
            <a:fillRect/>
          </a:stretch>
        </p:blipFill>
        <p:spPr>
          <a:xfrm>
            <a:off x="5106225" y="1447000"/>
            <a:ext cx="6883925" cy="4970599"/>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0375" y="1442973"/>
            <a:ext cx="3074670" cy="655320"/>
          </a:xfrm>
          <a:prstGeom prst="rect">
            <a:avLst/>
          </a:prstGeom>
        </p:spPr>
        <p:txBody>
          <a:bodyPr vert="horz" wrap="square" lIns="0" tIns="12700" rIns="0" bIns="0" rtlCol="0">
            <a:spAutoFit/>
          </a:bodyPr>
          <a:lstStyle/>
          <a:p>
            <a:pPr marL="12700">
              <a:lnSpc>
                <a:spcPts val="2900"/>
              </a:lnSpc>
              <a:spcBef>
                <a:spcPts val="100"/>
              </a:spcBef>
            </a:pPr>
            <a:r>
              <a:rPr dirty="0"/>
              <a:t>Thread</a:t>
            </a:r>
            <a:r>
              <a:rPr spc="-110" dirty="0"/>
              <a:t> </a:t>
            </a:r>
            <a:r>
              <a:rPr spc="-10" dirty="0"/>
              <a:t>Safety</a:t>
            </a:r>
          </a:p>
          <a:p>
            <a:pPr marL="12700">
              <a:lnSpc>
                <a:spcPts val="2060"/>
              </a:lnSpc>
            </a:pPr>
            <a:r>
              <a:rPr sz="1800" dirty="0"/>
              <a:t>Bank</a:t>
            </a:r>
            <a:r>
              <a:rPr sz="1800" spc="-90" dirty="0"/>
              <a:t> </a:t>
            </a:r>
            <a:r>
              <a:rPr sz="1800" dirty="0"/>
              <a:t>Account</a:t>
            </a:r>
            <a:r>
              <a:rPr sz="1800" spc="-85" dirty="0"/>
              <a:t> </a:t>
            </a:r>
            <a:r>
              <a:rPr sz="1800" dirty="0"/>
              <a:t>Balance</a:t>
            </a:r>
            <a:r>
              <a:rPr sz="1800" spc="-85" dirty="0"/>
              <a:t> </a:t>
            </a:r>
            <a:r>
              <a:rPr sz="1800" spc="-10" dirty="0"/>
              <a:t>Update</a:t>
            </a:r>
            <a:endParaRPr sz="1800"/>
          </a:p>
        </p:txBody>
      </p:sp>
      <p:sp>
        <p:nvSpPr>
          <p:cNvPr id="3" name="object 3"/>
          <p:cNvSpPr txBox="1"/>
          <p:nvPr/>
        </p:nvSpPr>
        <p:spPr>
          <a:xfrm>
            <a:off x="560650" y="2573630"/>
            <a:ext cx="4144010" cy="3291840"/>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a:cs typeface="Arial"/>
              </a:rPr>
              <a:t>Deposit</a:t>
            </a:r>
            <a:r>
              <a:rPr sz="1800" b="1" spc="-35" dirty="0">
                <a:latin typeface="Arial"/>
                <a:cs typeface="Arial"/>
              </a:rPr>
              <a:t> </a:t>
            </a:r>
            <a:r>
              <a:rPr sz="1800" b="1" dirty="0">
                <a:latin typeface="Arial"/>
                <a:cs typeface="Arial"/>
              </a:rPr>
              <a:t>and</a:t>
            </a:r>
            <a:r>
              <a:rPr sz="1800" b="1" spc="-30" dirty="0">
                <a:latin typeface="Arial"/>
                <a:cs typeface="Arial"/>
              </a:rPr>
              <a:t> </a:t>
            </a:r>
            <a:r>
              <a:rPr sz="1800" b="1" dirty="0">
                <a:latin typeface="Arial"/>
                <a:cs typeface="Arial"/>
              </a:rPr>
              <a:t>Withdraw</a:t>
            </a:r>
            <a:r>
              <a:rPr sz="1800" b="1" spc="-30" dirty="0">
                <a:latin typeface="Arial"/>
                <a:cs typeface="Arial"/>
              </a:rPr>
              <a:t> </a:t>
            </a:r>
            <a:r>
              <a:rPr sz="1800" b="1" spc="-10" dirty="0">
                <a:latin typeface="Arial"/>
                <a:cs typeface="Arial"/>
              </a:rPr>
              <a:t>Functions</a:t>
            </a:r>
            <a:r>
              <a:rPr sz="1800" spc="-10" dirty="0">
                <a:latin typeface="Arial MT"/>
                <a:cs typeface="Arial MT"/>
              </a:rPr>
              <a:t>:</a:t>
            </a:r>
            <a:endParaRPr sz="1800" dirty="0">
              <a:latin typeface="Arial MT"/>
              <a:cs typeface="Arial MT"/>
            </a:endParaRPr>
          </a:p>
          <a:p>
            <a:pPr marL="469900" marR="5080" indent="-367030">
              <a:lnSpc>
                <a:spcPct val="114999"/>
              </a:lnSpc>
              <a:spcBef>
                <a:spcPts val="1200"/>
              </a:spcBef>
              <a:buClr>
                <a:srgbClr val="000000"/>
              </a:buClr>
              <a:buFont typeface="Arial MT"/>
              <a:buChar char="●"/>
              <a:tabLst>
                <a:tab pos="469900" algn="l"/>
              </a:tabLst>
            </a:pPr>
            <a:r>
              <a:rPr sz="1800" b="1" spc="-10" dirty="0">
                <a:solidFill>
                  <a:srgbClr val="188037"/>
                </a:solidFill>
                <a:latin typeface="Courier New"/>
                <a:cs typeface="Courier New"/>
              </a:rPr>
              <a:t>deposit()</a:t>
            </a:r>
            <a:r>
              <a:rPr sz="1800" spc="-575" dirty="0">
                <a:solidFill>
                  <a:srgbClr val="188037"/>
                </a:solidFill>
                <a:latin typeface="Courier New"/>
                <a:cs typeface="Courier New"/>
              </a:rPr>
              <a:t> </a:t>
            </a:r>
            <a:r>
              <a:rPr sz="1800" dirty="0">
                <a:latin typeface="Arial MT"/>
                <a:cs typeface="Arial MT"/>
              </a:rPr>
              <a:t>increments</a:t>
            </a:r>
            <a:r>
              <a:rPr sz="1800" spc="10" dirty="0">
                <a:latin typeface="Arial MT"/>
                <a:cs typeface="Arial MT"/>
              </a:rPr>
              <a:t> </a:t>
            </a:r>
            <a:r>
              <a:rPr sz="1800" dirty="0">
                <a:latin typeface="Arial MT"/>
                <a:cs typeface="Arial MT"/>
              </a:rPr>
              <a:t>the</a:t>
            </a:r>
            <a:r>
              <a:rPr sz="1800" spc="10" dirty="0">
                <a:latin typeface="Arial MT"/>
                <a:cs typeface="Arial MT"/>
              </a:rPr>
              <a:t> </a:t>
            </a:r>
            <a:r>
              <a:rPr sz="1800" spc="-10" dirty="0">
                <a:latin typeface="Arial MT"/>
                <a:cs typeface="Arial MT"/>
              </a:rPr>
              <a:t>balance </a:t>
            </a:r>
            <a:r>
              <a:rPr sz="1800" dirty="0">
                <a:latin typeface="Arial MT"/>
                <a:cs typeface="Arial MT"/>
              </a:rPr>
              <a:t>by</a:t>
            </a:r>
            <a:r>
              <a:rPr sz="1800" spc="-20" dirty="0">
                <a:latin typeface="Arial MT"/>
                <a:cs typeface="Arial MT"/>
              </a:rPr>
              <a:t> </a:t>
            </a:r>
            <a:r>
              <a:rPr sz="1800" dirty="0">
                <a:latin typeface="Arial MT"/>
                <a:cs typeface="Arial MT"/>
              </a:rPr>
              <a:t>10</a:t>
            </a:r>
            <a:r>
              <a:rPr sz="1800" spc="-15" dirty="0">
                <a:latin typeface="Arial MT"/>
                <a:cs typeface="Arial MT"/>
              </a:rPr>
              <a:t> </a:t>
            </a:r>
            <a:r>
              <a:rPr sz="1800" dirty="0">
                <a:latin typeface="Arial MT"/>
                <a:cs typeface="Arial MT"/>
              </a:rPr>
              <a:t>units</a:t>
            </a:r>
            <a:r>
              <a:rPr sz="1800" spc="-15" dirty="0">
                <a:latin typeface="Arial MT"/>
                <a:cs typeface="Arial MT"/>
              </a:rPr>
              <a:t> </a:t>
            </a:r>
            <a:r>
              <a:rPr sz="1800" dirty="0">
                <a:latin typeface="Arial MT"/>
                <a:cs typeface="Arial MT"/>
              </a:rPr>
              <a:t>in</a:t>
            </a:r>
            <a:r>
              <a:rPr sz="1800" spc="-20" dirty="0">
                <a:latin typeface="Arial MT"/>
                <a:cs typeface="Arial MT"/>
              </a:rPr>
              <a:t> </a:t>
            </a:r>
            <a:r>
              <a:rPr sz="1800" dirty="0">
                <a:latin typeface="Arial MT"/>
                <a:cs typeface="Arial MT"/>
              </a:rPr>
              <a:t>each</a:t>
            </a:r>
            <a:r>
              <a:rPr sz="1800" spc="-15" dirty="0">
                <a:latin typeface="Arial MT"/>
                <a:cs typeface="Arial MT"/>
              </a:rPr>
              <a:t> </a:t>
            </a:r>
            <a:r>
              <a:rPr sz="1800" dirty="0">
                <a:latin typeface="Arial MT"/>
                <a:cs typeface="Arial MT"/>
              </a:rPr>
              <a:t>iteration,</a:t>
            </a:r>
            <a:r>
              <a:rPr sz="1800" spc="-15" dirty="0">
                <a:latin typeface="Arial MT"/>
                <a:cs typeface="Arial MT"/>
              </a:rPr>
              <a:t> </a:t>
            </a:r>
            <a:r>
              <a:rPr sz="1800" spc="-10" dirty="0">
                <a:latin typeface="Arial MT"/>
                <a:cs typeface="Arial MT"/>
              </a:rPr>
              <a:t>while </a:t>
            </a:r>
            <a:r>
              <a:rPr sz="1800" b="1" spc="-10" dirty="0">
                <a:solidFill>
                  <a:srgbClr val="188037"/>
                </a:solidFill>
                <a:latin typeface="Courier New"/>
                <a:cs typeface="Courier New"/>
              </a:rPr>
              <a:t>withdraw()</a:t>
            </a:r>
            <a:r>
              <a:rPr sz="1800" b="1" spc="-580" dirty="0">
                <a:solidFill>
                  <a:srgbClr val="188037"/>
                </a:solidFill>
                <a:latin typeface="Courier New"/>
                <a:cs typeface="Courier New"/>
              </a:rPr>
              <a:t> </a:t>
            </a:r>
            <a:r>
              <a:rPr sz="1800" dirty="0">
                <a:latin typeface="Arial MT"/>
                <a:cs typeface="Arial MT"/>
              </a:rPr>
              <a:t>decrements</a:t>
            </a:r>
            <a:r>
              <a:rPr sz="1800" spc="10" dirty="0">
                <a:latin typeface="Arial MT"/>
                <a:cs typeface="Arial MT"/>
              </a:rPr>
              <a:t> </a:t>
            </a:r>
            <a:r>
              <a:rPr sz="1800" dirty="0">
                <a:latin typeface="Arial MT"/>
                <a:cs typeface="Arial MT"/>
              </a:rPr>
              <a:t>it</a:t>
            </a:r>
            <a:r>
              <a:rPr sz="1800" spc="5" dirty="0">
                <a:latin typeface="Arial MT"/>
                <a:cs typeface="Arial MT"/>
              </a:rPr>
              <a:t> </a:t>
            </a:r>
            <a:r>
              <a:rPr sz="1800" dirty="0">
                <a:latin typeface="Arial MT"/>
                <a:cs typeface="Arial MT"/>
              </a:rPr>
              <a:t>by</a:t>
            </a:r>
            <a:r>
              <a:rPr sz="1800" spc="10" dirty="0">
                <a:latin typeface="Arial MT"/>
                <a:cs typeface="Arial MT"/>
              </a:rPr>
              <a:t> </a:t>
            </a:r>
            <a:r>
              <a:rPr sz="1800" spc="-25" dirty="0">
                <a:latin typeface="Arial MT"/>
                <a:cs typeface="Arial MT"/>
              </a:rPr>
              <a:t>10 </a:t>
            </a:r>
            <a:r>
              <a:rPr sz="1800" spc="-10" dirty="0">
                <a:latin typeface="Arial MT"/>
                <a:cs typeface="Arial MT"/>
              </a:rPr>
              <a:t>units.</a:t>
            </a:r>
            <a:endParaRPr sz="1800" dirty="0">
              <a:latin typeface="Arial MT"/>
              <a:cs typeface="Arial MT"/>
            </a:endParaRPr>
          </a:p>
          <a:p>
            <a:pPr>
              <a:lnSpc>
                <a:spcPct val="100000"/>
              </a:lnSpc>
              <a:spcBef>
                <a:spcPts val="409"/>
              </a:spcBef>
              <a:buFont typeface="Arial MT"/>
              <a:buChar char="●"/>
            </a:pPr>
            <a:endParaRPr sz="1800" dirty="0">
              <a:latin typeface="Arial MT"/>
              <a:cs typeface="Arial MT"/>
            </a:endParaRPr>
          </a:p>
          <a:p>
            <a:pPr marL="469900" marR="59055" indent="-367030">
              <a:lnSpc>
                <a:spcPct val="114999"/>
              </a:lnSpc>
              <a:spcBef>
                <a:spcPts val="5"/>
              </a:spcBef>
              <a:buChar char="●"/>
              <a:tabLst>
                <a:tab pos="469900" algn="l"/>
              </a:tabLst>
            </a:pPr>
            <a:r>
              <a:rPr sz="1800" dirty="0">
                <a:latin typeface="Arial MT"/>
                <a:cs typeface="Arial MT"/>
              </a:rPr>
              <a:t>Both</a:t>
            </a:r>
            <a:r>
              <a:rPr sz="1800" spc="-25" dirty="0">
                <a:latin typeface="Arial MT"/>
                <a:cs typeface="Arial MT"/>
              </a:rPr>
              <a:t> </a:t>
            </a:r>
            <a:r>
              <a:rPr sz="1800" dirty="0">
                <a:latin typeface="Arial MT"/>
                <a:cs typeface="Arial MT"/>
              </a:rPr>
              <a:t>functions</a:t>
            </a:r>
            <a:r>
              <a:rPr sz="1800" spc="-10" dirty="0">
                <a:latin typeface="Arial MT"/>
                <a:cs typeface="Arial MT"/>
              </a:rPr>
              <a:t> </a:t>
            </a:r>
            <a:r>
              <a:rPr sz="1800" dirty="0">
                <a:latin typeface="Arial MT"/>
                <a:cs typeface="Arial MT"/>
              </a:rPr>
              <a:t>use</a:t>
            </a:r>
            <a:r>
              <a:rPr sz="1800" spc="-15" dirty="0">
                <a:latin typeface="Arial MT"/>
                <a:cs typeface="Arial MT"/>
              </a:rPr>
              <a:t> </a:t>
            </a:r>
            <a:r>
              <a:rPr sz="1800" dirty="0">
                <a:latin typeface="Arial MT"/>
                <a:cs typeface="Arial MT"/>
              </a:rPr>
              <a:t>the</a:t>
            </a:r>
            <a:r>
              <a:rPr sz="1800" spc="-10" dirty="0">
                <a:latin typeface="Arial MT"/>
                <a:cs typeface="Arial MT"/>
              </a:rPr>
              <a:t> </a:t>
            </a:r>
            <a:r>
              <a:rPr sz="1800" dirty="0">
                <a:latin typeface="Arial MT"/>
                <a:cs typeface="Arial MT"/>
              </a:rPr>
              <a:t>mutex</a:t>
            </a:r>
            <a:r>
              <a:rPr sz="1800" spc="-10" dirty="0">
                <a:latin typeface="Arial MT"/>
                <a:cs typeface="Arial MT"/>
              </a:rPr>
              <a:t> </a:t>
            </a:r>
            <a:r>
              <a:rPr sz="1800" spc="-25" dirty="0">
                <a:latin typeface="Arial MT"/>
                <a:cs typeface="Arial MT"/>
              </a:rPr>
              <a:t>to </a:t>
            </a:r>
            <a:r>
              <a:rPr sz="1800" dirty="0">
                <a:latin typeface="Arial MT"/>
                <a:cs typeface="Arial MT"/>
              </a:rPr>
              <a:t>prevent</a:t>
            </a:r>
            <a:r>
              <a:rPr sz="1800" spc="-20" dirty="0">
                <a:latin typeface="Arial MT"/>
                <a:cs typeface="Arial MT"/>
              </a:rPr>
              <a:t> </a:t>
            </a:r>
            <a:r>
              <a:rPr sz="1800" dirty="0">
                <a:latin typeface="Arial MT"/>
                <a:cs typeface="Arial MT"/>
              </a:rPr>
              <a:t>race</a:t>
            </a:r>
            <a:r>
              <a:rPr sz="1800" spc="-15" dirty="0">
                <a:latin typeface="Arial MT"/>
                <a:cs typeface="Arial MT"/>
              </a:rPr>
              <a:t> </a:t>
            </a:r>
            <a:r>
              <a:rPr sz="1800" dirty="0">
                <a:latin typeface="Arial MT"/>
                <a:cs typeface="Arial MT"/>
              </a:rPr>
              <a:t>conditions</a:t>
            </a:r>
            <a:r>
              <a:rPr sz="1800" spc="-15" dirty="0">
                <a:latin typeface="Arial MT"/>
                <a:cs typeface="Arial MT"/>
              </a:rPr>
              <a:t> </a:t>
            </a:r>
            <a:r>
              <a:rPr sz="1800" dirty="0">
                <a:latin typeface="Arial MT"/>
                <a:cs typeface="Arial MT"/>
              </a:rPr>
              <a:t>by</a:t>
            </a:r>
            <a:r>
              <a:rPr sz="1800" spc="-15" dirty="0">
                <a:latin typeface="Arial MT"/>
                <a:cs typeface="Arial MT"/>
              </a:rPr>
              <a:t> </a:t>
            </a:r>
            <a:r>
              <a:rPr sz="1800" spc="-10" dirty="0">
                <a:latin typeface="Arial MT"/>
                <a:cs typeface="Arial MT"/>
              </a:rPr>
              <a:t>ensuring </a:t>
            </a:r>
            <a:r>
              <a:rPr sz="1800" dirty="0">
                <a:latin typeface="Arial MT"/>
                <a:cs typeface="Arial MT"/>
              </a:rPr>
              <a:t>that</a:t>
            </a:r>
            <a:r>
              <a:rPr sz="1800" spc="-20" dirty="0">
                <a:latin typeface="Arial MT"/>
                <a:cs typeface="Arial MT"/>
              </a:rPr>
              <a:t> </a:t>
            </a:r>
            <a:r>
              <a:rPr sz="1800" dirty="0">
                <a:latin typeface="Arial MT"/>
                <a:cs typeface="Arial MT"/>
              </a:rPr>
              <a:t>only</a:t>
            </a:r>
            <a:r>
              <a:rPr sz="1800" spc="-15" dirty="0">
                <a:latin typeface="Arial MT"/>
                <a:cs typeface="Arial MT"/>
              </a:rPr>
              <a:t> </a:t>
            </a:r>
            <a:r>
              <a:rPr sz="1800" dirty="0">
                <a:latin typeface="Arial MT"/>
                <a:cs typeface="Arial MT"/>
              </a:rPr>
              <a:t>one</a:t>
            </a:r>
            <a:r>
              <a:rPr sz="1800" spc="-20" dirty="0">
                <a:latin typeface="Arial MT"/>
                <a:cs typeface="Arial MT"/>
              </a:rPr>
              <a:t> </a:t>
            </a:r>
            <a:r>
              <a:rPr sz="1800" dirty="0">
                <a:latin typeface="Arial MT"/>
                <a:cs typeface="Arial MT"/>
              </a:rPr>
              <a:t>thread</a:t>
            </a:r>
            <a:r>
              <a:rPr sz="1800" spc="-15" dirty="0">
                <a:latin typeface="Arial MT"/>
                <a:cs typeface="Arial MT"/>
              </a:rPr>
              <a:t> </a:t>
            </a:r>
            <a:r>
              <a:rPr sz="1800" dirty="0">
                <a:latin typeface="Arial MT"/>
                <a:cs typeface="Arial MT"/>
              </a:rPr>
              <a:t>can</a:t>
            </a:r>
            <a:r>
              <a:rPr sz="1800" spc="-15" dirty="0">
                <a:latin typeface="Arial MT"/>
                <a:cs typeface="Arial MT"/>
              </a:rPr>
              <a:t> </a:t>
            </a:r>
            <a:r>
              <a:rPr sz="1800" spc="-10" dirty="0">
                <a:latin typeface="Arial MT"/>
                <a:cs typeface="Arial MT"/>
              </a:rPr>
              <a:t>modify </a:t>
            </a:r>
            <a:r>
              <a:rPr sz="1800" b="1" spc="-10" dirty="0">
                <a:solidFill>
                  <a:srgbClr val="188037"/>
                </a:solidFill>
                <a:latin typeface="Courier New"/>
                <a:cs typeface="Courier New"/>
              </a:rPr>
              <a:t>balance</a:t>
            </a:r>
            <a:r>
              <a:rPr sz="1800" spc="-585" dirty="0">
                <a:solidFill>
                  <a:srgbClr val="188037"/>
                </a:solidFill>
                <a:latin typeface="Courier New"/>
                <a:cs typeface="Courier New"/>
              </a:rPr>
              <a:t> </a:t>
            </a:r>
            <a:r>
              <a:rPr sz="1800" dirty="0">
                <a:latin typeface="Arial MT"/>
                <a:cs typeface="Arial MT"/>
              </a:rPr>
              <a:t>at any given </a:t>
            </a:r>
            <a:r>
              <a:rPr sz="1800" spc="-10" dirty="0">
                <a:latin typeface="Arial MT"/>
                <a:cs typeface="Arial MT"/>
              </a:rPr>
              <a:t>moment.</a:t>
            </a:r>
            <a:endParaRPr sz="1800" dirty="0">
              <a:latin typeface="Arial MT"/>
              <a:cs typeface="Arial MT"/>
            </a:endParaRPr>
          </a:p>
        </p:txBody>
      </p:sp>
      <p:pic>
        <p:nvPicPr>
          <p:cNvPr id="4" name="object 4">
            <a:extLst>
              <a:ext uri="{C183D7F6-B498-43B3-948B-1728B52AA6E4}">
                <adec:decorative xmlns:adec="http://schemas.microsoft.com/office/drawing/2017/decorative" val="1"/>
              </a:ext>
            </a:extLst>
          </p:cNvPr>
          <p:cNvPicPr/>
          <p:nvPr/>
        </p:nvPicPr>
        <p:blipFill>
          <a:blip r:embed="rId3" cstate="print"/>
          <a:stretch>
            <a:fillRect/>
          </a:stretch>
        </p:blipFill>
        <p:spPr>
          <a:xfrm>
            <a:off x="5106225" y="1447000"/>
            <a:ext cx="6883925" cy="497059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NCG-White-TopNavyBar">
  <a:themeElements>
    <a:clrScheme name="uncg-brand-2018_v1">
      <a:dk1>
        <a:srgbClr val="000000"/>
      </a:dk1>
      <a:lt1>
        <a:srgbClr val="FFFFFF"/>
      </a:lt1>
      <a:dk2>
        <a:srgbClr val="0F2044"/>
      </a:dk2>
      <a:lt2>
        <a:srgbClr val="BEC0C2"/>
      </a:lt2>
      <a:accent1>
        <a:srgbClr val="FFB71B"/>
      </a:accent1>
      <a:accent2>
        <a:srgbClr val="92D1B3"/>
      </a:accent2>
      <a:accent3>
        <a:srgbClr val="00698C"/>
      </a:accent3>
      <a:accent4>
        <a:srgbClr val="A00C30"/>
      </a:accent4>
      <a:accent5>
        <a:srgbClr val="A59C87"/>
      </a:accent5>
      <a:accent6>
        <a:srgbClr val="4FC2BF"/>
      </a:accent6>
      <a:hlink>
        <a:srgbClr val="00698C"/>
      </a:hlink>
      <a:folHlink>
        <a:srgbClr val="A6B0B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a2761ec8-7198-4440-bea0-e9dd2af28b51}" enabled="1" method="Standard" siteId="{73e15cf5-5dbb-46af-a862-753916269d73}" contentBits="0" removed="0"/>
</clbl:labelList>
</file>

<file path=docProps/app.xml><?xml version="1.0" encoding="utf-8"?>
<Properties xmlns="http://schemas.openxmlformats.org/officeDocument/2006/extended-properties" xmlns:vt="http://schemas.openxmlformats.org/officeDocument/2006/docPropsVTypes">
  <Template/>
  <TotalTime>76</TotalTime>
  <Words>3334</Words>
  <Application>Microsoft Office PowerPoint</Application>
  <PresentationFormat>Widescreen</PresentationFormat>
  <Paragraphs>351</Paragraphs>
  <Slides>52</Slides>
  <Notes>40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52</vt:i4>
      </vt:variant>
    </vt:vector>
  </HeadingPairs>
  <TitlesOfParts>
    <vt:vector size="59" baseType="lpstr">
      <vt:lpstr>Aptos</vt:lpstr>
      <vt:lpstr>Arial</vt:lpstr>
      <vt:lpstr>Arial MT</vt:lpstr>
      <vt:lpstr>Courier New</vt:lpstr>
      <vt:lpstr>Georgia</vt:lpstr>
      <vt:lpstr>Office Theme</vt:lpstr>
      <vt:lpstr>UNCG-White-TopNavyBar</vt:lpstr>
      <vt:lpstr>CSC 362: System Programming</vt:lpstr>
      <vt:lpstr>Status Check</vt:lpstr>
      <vt:lpstr>Understanding Race Condition</vt:lpstr>
      <vt:lpstr>Understanding Race Condition</vt:lpstr>
      <vt:lpstr>Understanding Race Condition</vt:lpstr>
      <vt:lpstr>Understanding Race Condition</vt:lpstr>
      <vt:lpstr>Understanding Race Condition</vt:lpstr>
      <vt:lpstr>Understanding Race Condition</vt:lpstr>
      <vt:lpstr>Understanding Race Condition</vt:lpstr>
      <vt:lpstr>Understanding Race Condition</vt:lpstr>
      <vt:lpstr>Understanding Race Condition</vt:lpstr>
      <vt:lpstr>Understanding Race Condition</vt:lpstr>
      <vt:lpstr>Understanding Race Condition</vt:lpstr>
      <vt:lpstr>Understanding Race Condition Critical Section</vt:lpstr>
      <vt:lpstr>Understanding Race Condition</vt:lpstr>
      <vt:lpstr>Understanding Race Condition</vt:lpstr>
      <vt:lpstr>Understanding Race Condition</vt:lpstr>
      <vt:lpstr>Understanding Race Condition</vt:lpstr>
      <vt:lpstr>Understanding Race Condition</vt:lpstr>
      <vt:lpstr>Understanding Race Condition</vt:lpstr>
      <vt:lpstr>Understanding Race Condition</vt:lpstr>
      <vt:lpstr>Understanding Race Condition</vt:lpstr>
      <vt:lpstr>Understanding Race Condition</vt:lpstr>
      <vt:lpstr>Understanding Race Condition</vt:lpstr>
      <vt:lpstr>Understanding Race Condition</vt:lpstr>
      <vt:lpstr>Understanding Race Condition</vt:lpstr>
      <vt:lpstr>Understanding Race Condition</vt:lpstr>
      <vt:lpstr>Understanding Race Condition</vt:lpstr>
      <vt:lpstr>Understanding Race Condition Deadlocks</vt:lpstr>
      <vt:lpstr>Understanding Race Condition Deadlocks</vt:lpstr>
      <vt:lpstr>Understanding Race Condition</vt:lpstr>
      <vt:lpstr>Understanding Race Condition</vt:lpstr>
      <vt:lpstr>Understanding Race Condition</vt:lpstr>
      <vt:lpstr>Understanding Race Condition</vt:lpstr>
      <vt:lpstr>Understanding Race Condition</vt:lpstr>
      <vt:lpstr>Understanding Race Condition</vt:lpstr>
      <vt:lpstr>Race Conditions</vt:lpstr>
      <vt:lpstr>Race Conditions</vt:lpstr>
      <vt:lpstr>Race Conditions</vt:lpstr>
      <vt:lpstr>Race Conditions</vt:lpstr>
      <vt:lpstr>Atomic Operations</vt:lpstr>
      <vt:lpstr>Atomic Operations</vt:lpstr>
      <vt:lpstr>Thread Synchronization Mutual Exclusion: Mutexes</vt:lpstr>
      <vt:lpstr>Thread Synchronization</vt:lpstr>
      <vt:lpstr>Thread Synchronization</vt:lpstr>
      <vt:lpstr>Thread Synchronization</vt:lpstr>
      <vt:lpstr>Thread Synchronization Mutual Exclusion: Mutexes</vt:lpstr>
      <vt:lpstr>Thread Safety Bank Account Balance Update</vt:lpstr>
      <vt:lpstr>Thread Safety</vt:lpstr>
      <vt:lpstr>Thread Safety Bank Account Balance Update</vt:lpstr>
      <vt:lpstr>Thread Safety Bank Account Balance Update</vt:lpstr>
      <vt:lpstr>Thread Safety Bank Account Balance Update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CSC362 - Lecture 18.pptx</dc:title>
  <cp:lastModifiedBy>Richard Johnson</cp:lastModifiedBy>
  <cp:revision>59</cp:revision>
  <dcterms:created xsi:type="dcterms:W3CDTF">2026-01-14T01:01:23Z</dcterms:created>
  <dcterms:modified xsi:type="dcterms:W3CDTF">2026-04-01T02:16:25Z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2026-01-14T00:00:00Z</vt:filetime>
  </property>
  <property fmtid="{D5CDD505-2E9C-101B-9397-08002B2CF9AE}" pid="3" name="Creator">
    <vt:lpwstr>Google</vt:lpwstr>
  </property>
  <property fmtid="{D5CDD505-2E9C-101B-9397-08002B2CF9AE}" pid="4" name="LastSaved">
    <vt:filetime>2026-01-14T00:00:00Z</vt:filetime>
  </property>
</Properties>
</file>