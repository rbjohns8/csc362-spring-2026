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065" autoAdjust="0"/>
  </p:normalViewPr>
  <p:slideViewPr>
    <p:cSldViewPr>
      <p:cViewPr varScale="1">
        <p:scale>
          <a:sx n="62" d="100"/>
          <a:sy n="62" d="100"/>
        </p:scale>
        <p:origin x="1382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0F1FD-8141-49BF-80F7-C30FFA9A7B54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73BB8-C5A4-4B38-B668-8B850F4005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043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See example:</a:t>
            </a:r>
          </a:p>
          <a:p>
            <a:r>
              <a:rPr lang="en-US" dirty="0" err="1"/>
              <a:t>orphan.c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273BB8-C5A4-4B38-B668-8B850F4005D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41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1252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1252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133945"/>
            <a:ext cx="12192000" cy="10090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0375" y="1415541"/>
            <a:ext cx="11371249" cy="681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rgbClr val="0F2044"/>
                </a:solidFill>
                <a:latin typeface="Georgia"/>
                <a:cs typeface="Georg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0375" y="2391358"/>
            <a:ext cx="5167630" cy="3923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1252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caler.com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3.cs.jmu.edu/kirkpams/OpenCSF/Books/csf/html/Glossary.html#term-file-descriptor" TargetMode="External"/><Relationship Id="rId2" Type="http://schemas.openxmlformats.org/officeDocument/2006/relationships/hyperlink" Target="https://w3.cs.jmu.edu/kirkpams/OpenCSF/Books/csf/html/Glossary.html#term-pip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tutorialspoint.com/" TargetMode="External"/><Relationship Id="rId4" Type="http://schemas.openxmlformats.org/officeDocument/2006/relationships/image" Target="../media/image8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62183" y="2702546"/>
            <a:ext cx="8662035" cy="772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900" dirty="0"/>
              <a:t>CSC</a:t>
            </a:r>
            <a:r>
              <a:rPr sz="4900" spc="-85" dirty="0"/>
              <a:t> </a:t>
            </a:r>
            <a:r>
              <a:rPr sz="4900" dirty="0"/>
              <a:t>362:</a:t>
            </a:r>
            <a:r>
              <a:rPr sz="4900" spc="-85" dirty="0"/>
              <a:t> </a:t>
            </a:r>
            <a:r>
              <a:rPr sz="4900" dirty="0"/>
              <a:t>System</a:t>
            </a:r>
            <a:r>
              <a:rPr sz="4900" spc="-90" dirty="0"/>
              <a:t> </a:t>
            </a:r>
            <a:r>
              <a:rPr sz="4900" spc="-10" dirty="0"/>
              <a:t>Programming</a:t>
            </a:r>
            <a:endParaRPr sz="4900"/>
          </a:p>
        </p:txBody>
      </p:sp>
      <p:sp>
        <p:nvSpPr>
          <p:cNvPr id="3" name="object 3"/>
          <p:cNvSpPr txBox="1"/>
          <p:nvPr/>
        </p:nvSpPr>
        <p:spPr>
          <a:xfrm>
            <a:off x="5363120" y="3585985"/>
            <a:ext cx="14655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Lecture</a:t>
            </a:r>
            <a:r>
              <a:rPr sz="2400" spc="-1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0F2044"/>
                </a:solidFill>
                <a:latin typeface="Arial MT"/>
                <a:cs typeface="Arial MT"/>
              </a:rPr>
              <a:t>13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6" name="object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18174" y="4145624"/>
            <a:ext cx="9054465" cy="31115"/>
          </a:xfrm>
          <a:custGeom>
            <a:avLst/>
            <a:gdLst/>
            <a:ahLst/>
            <a:cxnLst/>
            <a:rect l="l" t="t" r="r" b="b"/>
            <a:pathLst>
              <a:path w="9054465" h="31114">
                <a:moveTo>
                  <a:pt x="0" y="0"/>
                </a:moveTo>
                <a:lnTo>
                  <a:pt x="9053999" y="30899"/>
                </a:lnTo>
              </a:path>
            </a:pathLst>
          </a:custGeom>
          <a:ln w="9524">
            <a:solidFill>
              <a:srgbClr val="0F20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E56263-D202-F698-57FD-ECE640E1E19A}"/>
              </a:ext>
            </a:extLst>
          </p:cNvPr>
          <p:cNvSpPr txBox="1"/>
          <p:nvPr/>
        </p:nvSpPr>
        <p:spPr>
          <a:xfrm>
            <a:off x="3098244" y="4267200"/>
            <a:ext cx="6094324" cy="67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Original slides by: Amitabha Dey</a:t>
            </a: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lang="en-US" dirty="0"/>
              <a:t>Adapted by: Dr. Richard Johnson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3203401" y="5437645"/>
            <a:ext cx="5782310" cy="72072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617855">
              <a:lnSpc>
                <a:spcPts val="2590"/>
              </a:lnSpc>
              <a:spcBef>
                <a:spcPts val="425"/>
              </a:spcBef>
            </a:pP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Department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Computer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Science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University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North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Carolina</a:t>
            </a:r>
            <a:r>
              <a:rPr sz="24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0F2044"/>
                </a:solidFill>
                <a:latin typeface="Arial MT"/>
                <a:cs typeface="Arial MT"/>
              </a:rPr>
              <a:t>at</a:t>
            </a:r>
            <a:r>
              <a:rPr sz="24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2400" spc="-10" dirty="0">
                <a:solidFill>
                  <a:srgbClr val="0F2044"/>
                </a:solidFill>
                <a:latin typeface="Arial MT"/>
                <a:cs typeface="Arial MT"/>
              </a:rPr>
              <a:t>Greensboro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35436"/>
            <a:ext cx="183451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Status</a:t>
            </a:r>
            <a:r>
              <a:rPr spc="-30" dirty="0"/>
              <a:t> </a:t>
            </a:r>
            <a:r>
              <a:rPr spc="-10" dirty="0"/>
              <a:t>Check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54862" y="1854879"/>
            <a:ext cx="3414395" cy="17399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0"/>
              </a:spcBef>
              <a:buChar char="●"/>
              <a:tabLst>
                <a:tab pos="356235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endParaRPr sz="1500">
              <a:latin typeface="Arial MT"/>
              <a:cs typeface="Arial MT"/>
            </a:endParaRPr>
          </a:p>
          <a:p>
            <a:pPr marL="813435" lvl="1" indent="-344170">
              <a:lnSpc>
                <a:spcPct val="100000"/>
              </a:lnSpc>
              <a:spcBef>
                <a:spcPts val="900"/>
              </a:spcBef>
              <a:buChar char="○"/>
              <a:tabLst>
                <a:tab pos="813435" algn="l"/>
              </a:tabLst>
            </a:pPr>
            <a:r>
              <a:rPr sz="1500" spc="-20" dirty="0">
                <a:solidFill>
                  <a:srgbClr val="0F2044"/>
                </a:solidFill>
                <a:latin typeface="Arial MT"/>
                <a:cs typeface="Arial MT"/>
              </a:rPr>
              <a:t>Parent-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Child</a:t>
            </a:r>
            <a:r>
              <a:rPr sz="15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Relationship</a:t>
            </a:r>
            <a:endParaRPr sz="1500">
              <a:latin typeface="Arial MT"/>
              <a:cs typeface="Arial MT"/>
            </a:endParaRPr>
          </a:p>
          <a:p>
            <a:pPr marL="813435" lvl="1" indent="-344170">
              <a:lnSpc>
                <a:spcPct val="100000"/>
              </a:lnSpc>
              <a:spcBef>
                <a:spcPts val="900"/>
              </a:spcBef>
              <a:buChar char="○"/>
              <a:tabLst>
                <a:tab pos="8134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Zombie</a:t>
            </a:r>
            <a:r>
              <a:rPr sz="15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r>
              <a:rPr sz="1500" spc="-5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→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Inspection</a:t>
            </a:r>
            <a:endParaRPr sz="15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commands: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fork,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exec,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F2044"/>
                </a:solidFill>
                <a:latin typeface="Arial MT"/>
                <a:cs typeface="Arial MT"/>
              </a:rPr>
              <a:t>wait</a:t>
            </a:r>
            <a:endParaRPr sz="15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r>
              <a:rPr sz="1500" spc="-7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Control</a:t>
            </a:r>
            <a:r>
              <a:rPr sz="1500" spc="-7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Blocks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325" y="3736817"/>
            <a:ext cx="3526154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What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we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will</a:t>
            </a:r>
            <a:r>
              <a:rPr sz="2500" spc="-35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dirty="0">
                <a:solidFill>
                  <a:srgbClr val="0F2044"/>
                </a:solidFill>
                <a:latin typeface="Georgia"/>
                <a:cs typeface="Georgia"/>
              </a:rPr>
              <a:t>cover</a:t>
            </a:r>
            <a:r>
              <a:rPr sz="2500" spc="-30" dirty="0">
                <a:solidFill>
                  <a:srgbClr val="0F2044"/>
                </a:solidFill>
                <a:latin typeface="Georgia"/>
                <a:cs typeface="Georgia"/>
              </a:rPr>
              <a:t> </a:t>
            </a:r>
            <a:r>
              <a:rPr sz="2500" spc="-20" dirty="0">
                <a:solidFill>
                  <a:srgbClr val="0F2044"/>
                </a:solidFill>
                <a:latin typeface="Georgia"/>
                <a:cs typeface="Georgia"/>
              </a:rPr>
              <a:t>today</a:t>
            </a:r>
            <a:endParaRPr sz="2500">
              <a:latin typeface="Georgia"/>
              <a:cs typeface="Georgi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4862" y="4256405"/>
            <a:ext cx="4497070" cy="2425700"/>
          </a:xfrm>
          <a:prstGeom prst="rect">
            <a:avLst/>
          </a:prstGeom>
        </p:spPr>
        <p:txBody>
          <a:bodyPr vert="horz" wrap="square" lIns="0" tIns="12700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1000"/>
              </a:spcBef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Orphan</a:t>
            </a:r>
            <a:r>
              <a:rPr sz="1500" spc="-8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endParaRPr sz="15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Interprocess</a:t>
            </a:r>
            <a:r>
              <a:rPr sz="15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Communication</a:t>
            </a:r>
            <a:r>
              <a:rPr sz="15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(IPC)</a:t>
            </a:r>
            <a:endParaRPr sz="15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Char char="●"/>
              <a:tabLst>
                <a:tab pos="356235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Pipes</a:t>
            </a:r>
            <a:endParaRPr sz="1500">
              <a:latin typeface="Arial MT"/>
              <a:cs typeface="Arial MT"/>
            </a:endParaRPr>
          </a:p>
          <a:p>
            <a:pPr marL="813435" lvl="1" indent="-344170">
              <a:lnSpc>
                <a:spcPct val="100000"/>
              </a:lnSpc>
              <a:spcBef>
                <a:spcPts val="900"/>
              </a:spcBef>
              <a:buChar char="○"/>
              <a:tabLst>
                <a:tab pos="8134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File</a:t>
            </a:r>
            <a:r>
              <a:rPr sz="1500" spc="-4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Descriptors</a:t>
            </a:r>
            <a:endParaRPr sz="1500">
              <a:latin typeface="Arial MT"/>
              <a:cs typeface="Arial MT"/>
            </a:endParaRPr>
          </a:p>
          <a:p>
            <a:pPr marL="813435" lvl="1" indent="-344170">
              <a:lnSpc>
                <a:spcPct val="100000"/>
              </a:lnSpc>
              <a:spcBef>
                <a:spcPts val="900"/>
              </a:spcBef>
              <a:buChar char="○"/>
              <a:tabLst>
                <a:tab pos="813435" algn="l"/>
              </a:tabLst>
            </a:pP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Unidirectional,</a:t>
            </a:r>
            <a:r>
              <a:rPr sz="15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Bidirectional</a:t>
            </a:r>
            <a:r>
              <a:rPr sz="15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Communication</a:t>
            </a:r>
            <a:endParaRPr sz="15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900"/>
              </a:spcBef>
              <a:buChar char="●"/>
              <a:tabLst>
                <a:tab pos="3562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Shared</a:t>
            </a:r>
            <a:r>
              <a:rPr sz="1500" spc="-8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10" dirty="0">
                <a:solidFill>
                  <a:srgbClr val="0F2044"/>
                </a:solidFill>
                <a:latin typeface="Arial MT"/>
                <a:cs typeface="Arial MT"/>
              </a:rPr>
              <a:t>Memory</a:t>
            </a:r>
            <a:endParaRPr sz="1500">
              <a:latin typeface="Arial MT"/>
              <a:cs typeface="Arial MT"/>
            </a:endParaRPr>
          </a:p>
          <a:p>
            <a:pPr marL="813435" lvl="1" indent="-344170">
              <a:lnSpc>
                <a:spcPct val="100000"/>
              </a:lnSpc>
              <a:spcBef>
                <a:spcPts val="900"/>
              </a:spcBef>
              <a:buChar char="○"/>
              <a:tabLst>
                <a:tab pos="813435" algn="l"/>
              </a:tabLst>
            </a:pPr>
            <a:r>
              <a:rPr sz="1500"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z="1500" spc="-6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500" spc="-20" dirty="0">
                <a:solidFill>
                  <a:srgbClr val="0F2044"/>
                </a:solidFill>
                <a:latin typeface="Arial MT"/>
                <a:cs typeface="Arial MT"/>
              </a:rPr>
              <a:t>mmap</a:t>
            </a:r>
            <a:endParaRPr sz="1500">
              <a:latin typeface="Arial MT"/>
              <a:cs typeface="Arial MT"/>
            </a:endParaRPr>
          </a:p>
        </p:txBody>
      </p:sp>
      <p:pic>
        <p:nvPic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2518" y="2216065"/>
            <a:ext cx="3208348" cy="27438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Orphan</a:t>
            </a:r>
            <a:r>
              <a:rPr spc="-3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2249883"/>
            <a:ext cx="414147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dirty="0">
                <a:latin typeface="Arial"/>
                <a:cs typeface="Arial"/>
              </a:rPr>
              <a:t>Orphan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Process</a:t>
            </a:r>
            <a:r>
              <a:rPr sz="1800" b="1" spc="-5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0" dirty="0">
                <a:latin typeface="Arial MT"/>
                <a:cs typeface="Arial MT"/>
              </a:rPr>
              <a:t> whose </a:t>
            </a:r>
            <a:r>
              <a:rPr sz="1800" dirty="0">
                <a:latin typeface="Arial MT"/>
                <a:cs typeface="Arial MT"/>
              </a:rPr>
              <a:t>parent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has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terminated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exited,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still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running.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0375" y="3348687"/>
            <a:ext cx="4094479" cy="2701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dies,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the </a:t>
            </a:r>
            <a:r>
              <a:rPr sz="1800" dirty="0">
                <a:latin typeface="Arial MT"/>
                <a:cs typeface="Arial MT"/>
              </a:rPr>
              <a:t>operating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automatically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assigns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orphan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init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 </a:t>
            </a:r>
            <a:r>
              <a:rPr sz="1800" dirty="0">
                <a:latin typeface="Arial MT"/>
                <a:cs typeface="Arial MT"/>
              </a:rPr>
              <a:t>(in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Linux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0" dirty="0">
                <a:latin typeface="Arial MT"/>
                <a:cs typeface="Arial MT"/>
              </a:rPr>
              <a:t> Unix-</a:t>
            </a:r>
            <a:r>
              <a:rPr sz="1800" dirty="0">
                <a:latin typeface="Arial MT"/>
                <a:cs typeface="Arial MT"/>
              </a:rPr>
              <a:t>like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systems)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become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new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parent.</a:t>
            </a:r>
            <a:endParaRPr sz="1800" dirty="0">
              <a:latin typeface="Arial MT"/>
              <a:cs typeface="Arial MT"/>
            </a:endParaRPr>
          </a:p>
          <a:p>
            <a:pPr marL="12700" marR="82550">
              <a:lnSpc>
                <a:spcPct val="114999"/>
              </a:lnSpc>
              <a:spcBef>
                <a:spcPts val="12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init</a:t>
            </a:r>
            <a:r>
              <a:rPr sz="1800" spc="-5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periodically waits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dirty="0">
                <a:latin typeface="Arial MT"/>
                <a:cs typeface="Arial MT"/>
              </a:rPr>
              <a:t>orphaned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terminate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cleans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after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them.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6" name="object 6" descr="A process timeline diagram showing a parent process forking a child; when the parent exits, the child is adopted by &quot;process init&quot; to prevent zombie processes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93650" y="2736341"/>
            <a:ext cx="6476999" cy="2590799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105825" y="5697220"/>
            <a:ext cx="23228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https://totozhang.github.io/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5457025" cy="681989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Orphan</a:t>
            </a:r>
            <a:r>
              <a:rPr spc="-30" dirty="0"/>
              <a:t> </a:t>
            </a:r>
            <a:r>
              <a:rPr spc="-10" dirty="0"/>
              <a:t>Process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08630" y="2252677"/>
            <a:ext cx="5151755" cy="4196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 marR="46355" indent="-359410">
              <a:lnSpc>
                <a:spcPct val="114999"/>
              </a:lnSpc>
              <a:spcBef>
                <a:spcPts val="100"/>
              </a:spcBef>
              <a:buChar char="●"/>
              <a:tabLst>
                <a:tab pos="371475" algn="l"/>
              </a:tabLst>
            </a:pPr>
            <a:r>
              <a:rPr sz="1700" dirty="0">
                <a:latin typeface="Arial MT"/>
                <a:cs typeface="Arial MT"/>
              </a:rPr>
              <a:t>In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Linux,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orphan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processes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adopted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new </a:t>
            </a:r>
            <a:r>
              <a:rPr sz="1700" dirty="0">
                <a:latin typeface="Arial MT"/>
                <a:cs typeface="Arial MT"/>
              </a:rPr>
              <a:t>parent,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usually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init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process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(PID=1),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through </a:t>
            </a:r>
            <a:r>
              <a:rPr sz="1700" b="1" spc="-20" dirty="0">
                <a:latin typeface="Arial"/>
                <a:cs typeface="Arial"/>
              </a:rPr>
              <a:t>re-</a:t>
            </a:r>
            <a:r>
              <a:rPr sz="1700" b="1" dirty="0">
                <a:latin typeface="Arial"/>
                <a:cs typeface="Arial"/>
              </a:rPr>
              <a:t>parenting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dirty="0">
                <a:latin typeface="Arial MT"/>
                <a:cs typeface="Arial MT"/>
              </a:rPr>
              <a:t>by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kernel.</a:t>
            </a:r>
            <a:endParaRPr sz="1700" dirty="0">
              <a:latin typeface="Arial MT"/>
              <a:cs typeface="Arial MT"/>
            </a:endParaRPr>
          </a:p>
          <a:p>
            <a:pPr marL="371475" marR="132080" indent="-359410">
              <a:lnSpc>
                <a:spcPct val="114999"/>
              </a:lnSpc>
              <a:buChar char="●"/>
              <a:tabLst>
                <a:tab pos="371475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kernel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detects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orphan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process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dirty="0">
                <a:latin typeface="Arial MT"/>
                <a:cs typeface="Arial MT"/>
              </a:rPr>
              <a:t>assigns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new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parent,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which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cleans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up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PCB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waits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child's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completion.</a:t>
            </a:r>
            <a:endParaRPr sz="1700" dirty="0">
              <a:latin typeface="Arial MT"/>
              <a:cs typeface="Arial MT"/>
            </a:endParaRPr>
          </a:p>
          <a:p>
            <a:pPr marL="371475" indent="-358775">
              <a:lnSpc>
                <a:spcPct val="100000"/>
              </a:lnSpc>
              <a:spcBef>
                <a:spcPts val="305"/>
              </a:spcBef>
              <a:buChar char="●"/>
              <a:tabLst>
                <a:tab pos="371475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fork()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system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call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new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process:</a:t>
            </a:r>
            <a:endParaRPr sz="1700" dirty="0">
              <a:latin typeface="Arial MT"/>
              <a:cs typeface="Arial MT"/>
            </a:endParaRPr>
          </a:p>
          <a:p>
            <a:pPr marL="828675" marR="5080" lvl="1" indent="-359410">
              <a:lnSpc>
                <a:spcPct val="114999"/>
              </a:lnSpc>
              <a:buChar char="○"/>
              <a:tabLst>
                <a:tab pos="828675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parent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receives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child's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PID,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while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the </a:t>
            </a:r>
            <a:r>
              <a:rPr sz="1700" dirty="0">
                <a:latin typeface="Arial MT"/>
                <a:cs typeface="Arial MT"/>
              </a:rPr>
              <a:t>child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receives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0.</a:t>
            </a:r>
            <a:endParaRPr sz="1700" dirty="0">
              <a:latin typeface="Arial MT"/>
              <a:cs typeface="Arial MT"/>
            </a:endParaRPr>
          </a:p>
          <a:p>
            <a:pPr marL="828675" marR="1064895" lvl="1" indent="-359410">
              <a:lnSpc>
                <a:spcPct val="114999"/>
              </a:lnSpc>
              <a:buChar char="○"/>
              <a:tabLst>
                <a:tab pos="828675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parent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prints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PID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exits immediately,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orphaning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child.</a:t>
            </a:r>
            <a:endParaRPr sz="1700" dirty="0">
              <a:latin typeface="Arial MT"/>
              <a:cs typeface="Arial MT"/>
            </a:endParaRPr>
          </a:p>
          <a:p>
            <a:pPr marL="828675" marR="177800" lvl="1" indent="-359410">
              <a:lnSpc>
                <a:spcPct val="114999"/>
              </a:lnSpc>
              <a:buChar char="○"/>
              <a:tabLst>
                <a:tab pos="828675" algn="l"/>
              </a:tabLst>
            </a:pP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child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sleeps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5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seconds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20" dirty="0">
                <a:latin typeface="Arial MT"/>
                <a:cs typeface="Arial MT"/>
              </a:rPr>
              <a:t>then </a:t>
            </a:r>
            <a:r>
              <a:rPr sz="1700" dirty="0">
                <a:latin typeface="Arial MT"/>
                <a:cs typeface="Arial MT"/>
              </a:rPr>
              <a:t>prints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its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new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parent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PID,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which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becomes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1 </a:t>
            </a:r>
            <a:r>
              <a:rPr sz="1700" spc="-10" dirty="0">
                <a:latin typeface="Arial MT"/>
                <a:cs typeface="Arial MT"/>
              </a:rPr>
              <a:t>(init).</a:t>
            </a:r>
            <a:endParaRPr sz="1700" dirty="0">
              <a:latin typeface="Arial MT"/>
              <a:cs typeface="Arial MT"/>
            </a:endParaRPr>
          </a:p>
        </p:txBody>
      </p:sp>
      <p:pic>
        <p:nvPicPr>
          <p:cNvPr id="4" name="object 4" descr="A C code snippet demonstrating the fork() system call, with logic to show a child process becoming orphaned and adopted by the init process (PID 1).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39801" y="1313701"/>
            <a:ext cx="5940426" cy="52677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Interprocess</a:t>
            </a:r>
            <a:r>
              <a:rPr spc="-90" dirty="0"/>
              <a:t> </a:t>
            </a:r>
            <a:r>
              <a:rPr spc="-10" dirty="0"/>
              <a:t>Communication</a:t>
            </a:r>
            <a:r>
              <a:rPr spc="-85" dirty="0"/>
              <a:t> </a:t>
            </a:r>
            <a:r>
              <a:rPr spc="-10" dirty="0"/>
              <a:t>(IPC)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2255470"/>
            <a:ext cx="5973445" cy="4368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Interprocess</a:t>
            </a:r>
            <a:r>
              <a:rPr sz="1600" spc="-4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Communication</a:t>
            </a:r>
            <a:r>
              <a:rPr sz="1600" spc="-4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(IPC)</a:t>
            </a:r>
            <a:r>
              <a:rPr sz="1600" spc="-4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refers</a:t>
            </a:r>
            <a:r>
              <a:rPr sz="1600" spc="-4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to</a:t>
            </a:r>
            <a:r>
              <a:rPr sz="1600" spc="-4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the</a:t>
            </a:r>
            <a:r>
              <a:rPr sz="1600" spc="-4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mechanisms</a:t>
            </a:r>
            <a:r>
              <a:rPr sz="1600" spc="-4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that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allow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processes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to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communicate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share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with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each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529"/>
                </a:solidFill>
                <a:latin typeface="Arial MT"/>
                <a:cs typeface="Arial MT"/>
              </a:rPr>
              <a:t>other.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In</a:t>
            </a:r>
            <a:r>
              <a:rPr sz="1600" spc="-3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system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529"/>
                </a:solidFill>
                <a:latin typeface="Arial MT"/>
                <a:cs typeface="Arial MT"/>
              </a:rPr>
              <a:t>programming,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processes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are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typically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isolated</a:t>
            </a:r>
            <a:r>
              <a:rPr sz="1600" spc="-3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to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529"/>
                </a:solidFill>
                <a:latin typeface="Arial MT"/>
                <a:cs typeface="Arial MT"/>
              </a:rPr>
              <a:t>ensure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security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and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529"/>
                </a:solidFill>
                <a:latin typeface="Arial MT"/>
                <a:cs typeface="Arial MT"/>
              </a:rPr>
              <a:t>stability,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but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IPC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enables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controlled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data</a:t>
            </a:r>
            <a:r>
              <a:rPr sz="1600" spc="-25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529"/>
                </a:solidFill>
                <a:latin typeface="Arial MT"/>
                <a:cs typeface="Arial MT"/>
              </a:rPr>
              <a:t>exchange </a:t>
            </a:r>
            <a:r>
              <a:rPr sz="1600" dirty="0">
                <a:solidFill>
                  <a:srgbClr val="212529"/>
                </a:solidFill>
                <a:latin typeface="Arial MT"/>
                <a:cs typeface="Arial MT"/>
              </a:rPr>
              <a:t>when</a:t>
            </a:r>
            <a:r>
              <a:rPr sz="1600" spc="-20" dirty="0">
                <a:solidFill>
                  <a:srgbClr val="212529"/>
                </a:solidFill>
                <a:latin typeface="Arial MT"/>
                <a:cs typeface="Arial MT"/>
              </a:rPr>
              <a:t> </a:t>
            </a:r>
            <a:r>
              <a:rPr sz="1600" spc="-10" dirty="0">
                <a:solidFill>
                  <a:srgbClr val="212529"/>
                </a:solidFill>
                <a:latin typeface="Arial MT"/>
                <a:cs typeface="Arial MT"/>
              </a:rPr>
              <a:t>needed.</a:t>
            </a:r>
            <a:endParaRPr sz="1600" dirty="0">
              <a:latin typeface="Arial MT"/>
              <a:cs typeface="Arial MT"/>
            </a:endParaRPr>
          </a:p>
          <a:p>
            <a:pPr marL="469900" marR="102235" indent="-344170">
              <a:lnSpc>
                <a:spcPct val="114999"/>
              </a:lnSpc>
              <a:spcBef>
                <a:spcPts val="1220"/>
              </a:spcBef>
              <a:spcAft>
                <a:spcPts val="600"/>
              </a:spcAft>
              <a:buClr>
                <a:srgbClr val="212529"/>
              </a:buClr>
              <a:buChar char="●"/>
              <a:tabLst>
                <a:tab pos="469900" algn="l"/>
              </a:tabLst>
            </a:pPr>
            <a:r>
              <a:rPr sz="1500" b="1" dirty="0">
                <a:latin typeface="Arial"/>
                <a:cs typeface="Arial"/>
              </a:rPr>
              <a:t>Process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Collaboration: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Processes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often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need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collaborate, </a:t>
            </a:r>
            <a:r>
              <a:rPr sz="1500" dirty="0">
                <a:latin typeface="Arial MT"/>
                <a:cs typeface="Arial MT"/>
              </a:rPr>
              <a:t>especially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systems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where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multiple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programs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need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work </a:t>
            </a:r>
            <a:r>
              <a:rPr sz="1500" spc="-10" dirty="0">
                <a:latin typeface="Arial MT"/>
                <a:cs typeface="Arial MT"/>
              </a:rPr>
              <a:t>together.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example,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server-</a:t>
            </a:r>
            <a:r>
              <a:rPr sz="1500" dirty="0">
                <a:latin typeface="Arial MT"/>
                <a:cs typeface="Arial MT"/>
              </a:rPr>
              <a:t>client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model,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server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might </a:t>
            </a:r>
            <a:r>
              <a:rPr sz="1500" dirty="0">
                <a:latin typeface="Arial MT"/>
                <a:cs typeface="Arial MT"/>
              </a:rPr>
              <a:t>need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communicate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multiple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client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processes.</a:t>
            </a:r>
            <a:endParaRPr sz="1500" dirty="0">
              <a:latin typeface="Arial MT"/>
              <a:cs typeface="Arial MT"/>
            </a:endParaRPr>
          </a:p>
          <a:p>
            <a:pPr marL="466725" marR="224790" indent="-340995" algn="just">
              <a:lnSpc>
                <a:spcPct val="114999"/>
              </a:lnSpc>
              <a:spcAft>
                <a:spcPts val="600"/>
              </a:spcAft>
              <a:buClr>
                <a:srgbClr val="212529"/>
              </a:buClr>
              <a:buChar char="●"/>
              <a:tabLst>
                <a:tab pos="469900" algn="l"/>
              </a:tabLst>
            </a:pPr>
            <a:r>
              <a:rPr sz="1500" b="1" spc="-10" dirty="0">
                <a:latin typeface="Arial"/>
                <a:cs typeface="Arial"/>
              </a:rPr>
              <a:t>Performance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Optimization: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IPC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can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improve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performance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by 	</a:t>
            </a:r>
            <a:r>
              <a:rPr sz="1500" dirty="0">
                <a:latin typeface="Arial MT"/>
                <a:cs typeface="Arial MT"/>
              </a:rPr>
              <a:t>enabling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parallel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processing,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where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different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processes</a:t>
            </a:r>
            <a:r>
              <a:rPr sz="1500" spc="-6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handle 	different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tasks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concurrently.</a:t>
            </a:r>
            <a:endParaRPr sz="1500" dirty="0">
              <a:latin typeface="Arial MT"/>
              <a:cs typeface="Arial MT"/>
            </a:endParaRPr>
          </a:p>
          <a:p>
            <a:pPr marL="466725" marR="54610" indent="-340995" algn="just">
              <a:lnSpc>
                <a:spcPct val="114999"/>
              </a:lnSpc>
              <a:buClr>
                <a:srgbClr val="212529"/>
              </a:buClr>
              <a:buChar char="●"/>
              <a:tabLst>
                <a:tab pos="469900" algn="l"/>
              </a:tabLst>
            </a:pPr>
            <a:r>
              <a:rPr sz="1500" b="1" dirty="0">
                <a:latin typeface="Arial"/>
                <a:cs typeface="Arial"/>
              </a:rPr>
              <a:t>Data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Sharing: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IPC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mechanisms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enable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processes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share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data 	</a:t>
            </a:r>
            <a:r>
              <a:rPr sz="1500" dirty="0">
                <a:latin typeface="Arial MT"/>
                <a:cs typeface="Arial MT"/>
              </a:rPr>
              <a:t>efficiently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without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duplicating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memory,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making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essential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tool 	</a:t>
            </a:r>
            <a:r>
              <a:rPr sz="1500" dirty="0">
                <a:latin typeface="Arial MT"/>
                <a:cs typeface="Arial MT"/>
              </a:rPr>
              <a:t>in </a:t>
            </a:r>
            <a:r>
              <a:rPr sz="1500" spc="-20" dirty="0">
                <a:latin typeface="Arial MT"/>
                <a:cs typeface="Arial MT"/>
              </a:rPr>
              <a:t>memory-</a:t>
            </a:r>
            <a:r>
              <a:rPr sz="1500" spc="-10" dirty="0">
                <a:latin typeface="Arial MT"/>
                <a:cs typeface="Arial MT"/>
              </a:rPr>
              <a:t>constrained</a:t>
            </a:r>
            <a:r>
              <a:rPr sz="150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environments.</a:t>
            </a:r>
            <a:endParaRPr sz="1500" dirty="0">
              <a:latin typeface="Arial MT"/>
              <a:cs typeface="Arial MT"/>
            </a:endParaRPr>
          </a:p>
        </p:txBody>
      </p:sp>
      <p:pic>
        <p:nvPicPr>
          <p:cNvPr id="4" name="object 4" descr="A diagram of a process using the pipe() system call, showing data flowing from the &quot;write&quot; end (pipe 1) to the &quot;read&quot; end (pipe 0)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23749" y="1492787"/>
            <a:ext cx="5281050" cy="4879024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171150" y="6488620"/>
            <a:ext cx="216217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  <a:hlinkClick r:id="rId3"/>
              </a:rPr>
              <a:t>https://www.scaler.com/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6" y="1415541"/>
            <a:ext cx="5588000" cy="681989"/>
          </a:xfrm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Interprocess</a:t>
            </a:r>
            <a:r>
              <a:rPr spc="-90" dirty="0"/>
              <a:t> </a:t>
            </a:r>
            <a:r>
              <a:rPr spc="-10" dirty="0"/>
              <a:t>Communication</a:t>
            </a:r>
            <a:r>
              <a:rPr spc="-85" dirty="0"/>
              <a:t> </a:t>
            </a:r>
            <a:r>
              <a:rPr spc="-10" dirty="0"/>
              <a:t>(IPC)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2291031"/>
            <a:ext cx="5588000" cy="3922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IPC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mechanisms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include:</a:t>
            </a:r>
            <a:endParaRPr sz="1800">
              <a:latin typeface="Arial MT"/>
              <a:cs typeface="Arial MT"/>
            </a:endParaRPr>
          </a:p>
          <a:p>
            <a:pPr marL="469900" marR="69215" indent="-419734">
              <a:lnSpc>
                <a:spcPct val="114999"/>
              </a:lnSpc>
              <a:spcBef>
                <a:spcPts val="1200"/>
              </a:spcBef>
              <a:buAutoNum type="arabicPeriod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Pipes: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channels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between </a:t>
            </a:r>
            <a:r>
              <a:rPr sz="1800" dirty="0">
                <a:latin typeface="Arial MT"/>
                <a:cs typeface="Arial MT"/>
              </a:rPr>
              <a:t>processes.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anonymous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(used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named </a:t>
            </a:r>
            <a:r>
              <a:rPr sz="1800" dirty="0">
                <a:latin typeface="Arial MT"/>
                <a:cs typeface="Arial MT"/>
              </a:rPr>
              <a:t>(used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unrelated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processes).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written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other </a:t>
            </a:r>
            <a:r>
              <a:rPr sz="1800" spc="-20" dirty="0">
                <a:latin typeface="Arial MT"/>
                <a:cs typeface="Arial MT"/>
              </a:rPr>
              <a:t>end.</a:t>
            </a:r>
            <a:endParaRPr sz="1800">
              <a:latin typeface="Arial MT"/>
              <a:cs typeface="Arial MT"/>
            </a:endParaRPr>
          </a:p>
          <a:p>
            <a:pPr marL="469900" marR="5080" indent="-419734">
              <a:lnSpc>
                <a:spcPct val="114999"/>
              </a:lnSpc>
              <a:buAutoNum type="arabicPeriod"/>
              <a:tabLst>
                <a:tab pos="469900" algn="l"/>
              </a:tabLst>
            </a:pPr>
            <a:r>
              <a:rPr sz="1800" b="1" dirty="0">
                <a:latin typeface="Arial"/>
                <a:cs typeface="Arial"/>
              </a:rPr>
              <a:t>Message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Queues,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Shared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Memory,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and </a:t>
            </a:r>
            <a:r>
              <a:rPr sz="1800" b="1" dirty="0">
                <a:latin typeface="Arial"/>
                <a:cs typeface="Arial"/>
              </a:rPr>
              <a:t>Semaphores: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advanced </a:t>
            </a:r>
            <a:r>
              <a:rPr sz="1800" dirty="0">
                <a:latin typeface="Arial MT"/>
                <a:cs typeface="Arial MT"/>
              </a:rPr>
              <a:t>mechanisms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greater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flexibility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dirty="0">
                <a:latin typeface="Arial MT"/>
                <a:cs typeface="Arial MT"/>
              </a:rPr>
              <a:t>exchange,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synchronization,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sharing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processes.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A diagram showing the command ls | less in User Space, with the kernel managing the pipe to enqueue output from ls and dequeue it for less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8850" y="1593849"/>
            <a:ext cx="5659121" cy="4587702"/>
          </a:xfrm>
          <a:prstGeom prst="rect">
            <a:avLst/>
          </a:prstGeom>
        </p:spPr>
      </p:pic>
      <p:sp>
        <p:nvSp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66350" y="6336220"/>
            <a:ext cx="233172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Matthew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Wong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@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Interprocess</a:t>
            </a:r>
            <a:r>
              <a:rPr spc="-90" dirty="0"/>
              <a:t> </a:t>
            </a:r>
            <a:r>
              <a:rPr spc="-10" dirty="0"/>
              <a:t>Communication</a:t>
            </a:r>
            <a:r>
              <a:rPr spc="-85" dirty="0"/>
              <a:t> </a:t>
            </a:r>
            <a:r>
              <a:rPr spc="-10" dirty="0"/>
              <a:t>(IPC)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2291031"/>
            <a:ext cx="35934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Common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IPC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mechanisms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include: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8326" y="2717751"/>
            <a:ext cx="5549900" cy="3495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800" marR="69215" indent="-419734">
              <a:lnSpc>
                <a:spcPct val="114999"/>
              </a:lnSpc>
              <a:spcBef>
                <a:spcPts val="100"/>
              </a:spcBef>
              <a:buAutoNum type="arabicPeriod"/>
              <a:tabLst>
                <a:tab pos="431800" algn="l"/>
              </a:tabLst>
            </a:pPr>
            <a:r>
              <a:rPr sz="1800" b="1" dirty="0">
                <a:latin typeface="Arial"/>
                <a:cs typeface="Arial"/>
              </a:rPr>
              <a:t>Pipes: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Simple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communication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channels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between </a:t>
            </a:r>
            <a:r>
              <a:rPr sz="1800" dirty="0">
                <a:latin typeface="Arial MT"/>
                <a:cs typeface="Arial MT"/>
              </a:rPr>
              <a:t>processes.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anonymous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(used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parent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processes)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named </a:t>
            </a:r>
            <a:r>
              <a:rPr sz="1800" dirty="0">
                <a:latin typeface="Arial MT"/>
                <a:cs typeface="Arial MT"/>
              </a:rPr>
              <a:t>(used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unrelated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processes).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Data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written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one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end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other </a:t>
            </a:r>
            <a:r>
              <a:rPr sz="1800" spc="-20" dirty="0">
                <a:latin typeface="Arial MT"/>
                <a:cs typeface="Arial MT"/>
              </a:rPr>
              <a:t>end.</a:t>
            </a:r>
            <a:endParaRPr sz="1800">
              <a:latin typeface="Arial MT"/>
              <a:cs typeface="Arial MT"/>
            </a:endParaRPr>
          </a:p>
          <a:p>
            <a:pPr marL="431800" marR="5080" indent="-419734">
              <a:lnSpc>
                <a:spcPct val="114999"/>
              </a:lnSpc>
              <a:buAutoNum type="arabicPeriod"/>
              <a:tabLst>
                <a:tab pos="431800" algn="l"/>
              </a:tabLst>
            </a:pPr>
            <a:r>
              <a:rPr sz="1800" b="1" dirty="0">
                <a:latin typeface="Arial"/>
                <a:cs typeface="Arial"/>
              </a:rPr>
              <a:t>Message</a:t>
            </a:r>
            <a:r>
              <a:rPr sz="1800" b="1" spc="-6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Queues,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dirty="0">
                <a:latin typeface="Arial"/>
                <a:cs typeface="Arial"/>
              </a:rPr>
              <a:t>Shared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b="1" spc="-10" dirty="0">
                <a:latin typeface="Arial"/>
                <a:cs typeface="Arial"/>
              </a:rPr>
              <a:t>Memory,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25" dirty="0">
                <a:latin typeface="Arial"/>
                <a:cs typeface="Arial"/>
              </a:rPr>
              <a:t>and </a:t>
            </a:r>
            <a:r>
              <a:rPr sz="1800" b="1" dirty="0">
                <a:latin typeface="Arial"/>
                <a:cs typeface="Arial"/>
              </a:rPr>
              <a:t>Semaphores:</a:t>
            </a:r>
            <a:r>
              <a:rPr sz="1800" b="1" spc="-50" dirty="0">
                <a:latin typeface="Arial"/>
                <a:cs typeface="Arial"/>
              </a:rPr>
              <a:t> </a:t>
            </a:r>
            <a:r>
              <a:rPr sz="1800" dirty="0">
                <a:latin typeface="Arial MT"/>
                <a:cs typeface="Arial MT"/>
              </a:rPr>
              <a:t>These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more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advanced </a:t>
            </a:r>
            <a:r>
              <a:rPr sz="1800" dirty="0">
                <a:latin typeface="Arial MT"/>
                <a:cs typeface="Arial MT"/>
              </a:rPr>
              <a:t>mechanisms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that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allow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greater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flexibility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dirty="0">
                <a:latin typeface="Arial MT"/>
                <a:cs typeface="Arial MT"/>
              </a:rPr>
              <a:t>exchange,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synchronization,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memory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sharing </a:t>
            </a:r>
            <a:r>
              <a:rPr sz="1800" dirty="0">
                <a:latin typeface="Arial MT"/>
                <a:cs typeface="Arial MT"/>
              </a:rPr>
              <a:t>between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processes.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6" name="object 6" descr="Side-by-side comparison of Inter-Process Communication (IPC) methods: (a) Message Passing via a kernel queue and (b) Shared Memory where processes access a common memory region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9500" y="2113950"/>
            <a:ext cx="5680324" cy="3604824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66350" y="5955220"/>
            <a:ext cx="230568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Rodrigo</a:t>
            </a:r>
            <a:r>
              <a:rPr sz="1000" spc="-1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Lucas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@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Medium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Pipes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1475">
              <a:lnSpc>
                <a:spcPct val="114999"/>
              </a:lnSpc>
              <a:spcBef>
                <a:spcPts val="100"/>
              </a:spcBef>
            </a:pPr>
            <a:r>
              <a:rPr b="1" dirty="0">
                <a:solidFill>
                  <a:srgbClr val="450084"/>
                </a:solidFill>
                <a:latin typeface="Arial"/>
                <a:cs typeface="Arial"/>
                <a:hlinkClick r:id="rId2"/>
              </a:rPr>
              <a:t>Pipes</a:t>
            </a:r>
            <a:r>
              <a:rPr b="1" spc="-35" dirty="0">
                <a:solidFill>
                  <a:srgbClr val="450084"/>
                </a:solidFill>
                <a:latin typeface="Arial"/>
                <a:cs typeface="Arial"/>
              </a:rPr>
              <a:t> </a:t>
            </a:r>
            <a:r>
              <a:rPr dirty="0"/>
              <a:t>allow</a:t>
            </a:r>
            <a:r>
              <a:rPr spc="-25" dirty="0"/>
              <a:t> </a:t>
            </a:r>
            <a:r>
              <a:rPr dirty="0"/>
              <a:t>processes</a:t>
            </a:r>
            <a:r>
              <a:rPr spc="-2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communicate</a:t>
            </a:r>
            <a:r>
              <a:rPr spc="-25" dirty="0"/>
              <a:t> </a:t>
            </a:r>
            <a:r>
              <a:rPr dirty="0"/>
              <a:t>using</a:t>
            </a:r>
            <a:r>
              <a:rPr spc="-20" dirty="0"/>
              <a:t> </a:t>
            </a:r>
            <a:r>
              <a:rPr spc="-50" dirty="0"/>
              <a:t>a </a:t>
            </a:r>
            <a:r>
              <a:rPr dirty="0"/>
              <a:t>unidirectional</a:t>
            </a:r>
            <a:r>
              <a:rPr spc="-35" dirty="0"/>
              <a:t> </a:t>
            </a:r>
            <a:r>
              <a:rPr dirty="0"/>
              <a:t>byte</a:t>
            </a:r>
            <a:r>
              <a:rPr spc="-30" dirty="0"/>
              <a:t> </a:t>
            </a:r>
            <a:r>
              <a:rPr dirty="0"/>
              <a:t>stream,</a:t>
            </a:r>
            <a:r>
              <a:rPr spc="-35" dirty="0"/>
              <a:t> </a:t>
            </a:r>
            <a:r>
              <a:rPr dirty="0"/>
              <a:t>with</a:t>
            </a:r>
            <a:r>
              <a:rPr spc="-30" dirty="0"/>
              <a:t> </a:t>
            </a:r>
            <a:r>
              <a:rPr dirty="0"/>
              <a:t>two</a:t>
            </a:r>
            <a:r>
              <a:rPr spc="-30" dirty="0"/>
              <a:t> </a:t>
            </a:r>
            <a:r>
              <a:rPr spc="-20" dirty="0"/>
              <a:t>ends </a:t>
            </a:r>
            <a:r>
              <a:rPr dirty="0"/>
              <a:t>designated</a:t>
            </a:r>
            <a:r>
              <a:rPr spc="-30" dirty="0"/>
              <a:t> </a:t>
            </a:r>
            <a:r>
              <a:rPr dirty="0"/>
              <a:t>by</a:t>
            </a:r>
            <a:r>
              <a:rPr spc="-30" dirty="0"/>
              <a:t> </a:t>
            </a:r>
            <a:r>
              <a:rPr dirty="0"/>
              <a:t>distinct</a:t>
            </a:r>
            <a:r>
              <a:rPr spc="-10" dirty="0"/>
              <a:t> </a:t>
            </a:r>
            <a:r>
              <a:rPr b="1" dirty="0">
                <a:solidFill>
                  <a:srgbClr val="450084"/>
                </a:solidFill>
                <a:latin typeface="Arial"/>
                <a:cs typeface="Arial"/>
                <a:hlinkClick r:id="rId3"/>
              </a:rPr>
              <a:t>file</a:t>
            </a:r>
            <a:r>
              <a:rPr b="1" spc="-25" dirty="0">
                <a:solidFill>
                  <a:srgbClr val="450084"/>
                </a:solidFill>
                <a:latin typeface="Arial"/>
                <a:cs typeface="Arial"/>
                <a:hlinkClick r:id="rId3"/>
              </a:rPr>
              <a:t> </a:t>
            </a:r>
            <a:r>
              <a:rPr b="1" spc="-10" dirty="0">
                <a:solidFill>
                  <a:srgbClr val="450084"/>
                </a:solidFill>
                <a:latin typeface="Arial"/>
                <a:cs typeface="Arial"/>
                <a:hlinkClick r:id="rId3"/>
              </a:rPr>
              <a:t>descriptors</a:t>
            </a:r>
            <a:r>
              <a:rPr spc="-10" dirty="0"/>
              <a:t>.</a:t>
            </a:r>
          </a:p>
          <a:p>
            <a:pPr marL="12700" marR="5080" algn="just">
              <a:lnSpc>
                <a:spcPct val="114999"/>
              </a:lnSpc>
              <a:spcBef>
                <a:spcPts val="1200"/>
              </a:spcBef>
            </a:pPr>
            <a:r>
              <a:rPr dirty="0"/>
              <a:t>A</a:t>
            </a:r>
            <a:r>
              <a:rPr spc="-120" dirty="0"/>
              <a:t> </a:t>
            </a:r>
            <a:r>
              <a:rPr dirty="0"/>
              <a:t>common</a:t>
            </a:r>
            <a:r>
              <a:rPr spc="-10" dirty="0"/>
              <a:t> </a:t>
            </a:r>
            <a:r>
              <a:rPr dirty="0"/>
              <a:t>visual</a:t>
            </a:r>
            <a:r>
              <a:rPr spc="-10" dirty="0"/>
              <a:t> </a:t>
            </a:r>
            <a:r>
              <a:rPr dirty="0"/>
              <a:t>analogy</a:t>
            </a:r>
            <a:r>
              <a:rPr spc="-1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pipe</a:t>
            </a:r>
            <a:r>
              <a:rPr spc="-10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spc="-10" dirty="0"/>
              <a:t>real-world </a:t>
            </a:r>
            <a:r>
              <a:rPr dirty="0"/>
              <a:t>water</a:t>
            </a:r>
            <a:r>
              <a:rPr spc="-25" dirty="0"/>
              <a:t> </a:t>
            </a:r>
            <a:r>
              <a:rPr dirty="0"/>
              <a:t>pipe;</a:t>
            </a:r>
            <a:r>
              <a:rPr spc="-15" dirty="0"/>
              <a:t> </a:t>
            </a:r>
            <a:r>
              <a:rPr dirty="0"/>
              <a:t>water</a:t>
            </a:r>
            <a:r>
              <a:rPr spc="-15" dirty="0"/>
              <a:t> </a:t>
            </a:r>
            <a:r>
              <a:rPr dirty="0"/>
              <a:t>that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poured</a:t>
            </a:r>
            <a:r>
              <a:rPr spc="-15" dirty="0"/>
              <a:t> </a:t>
            </a:r>
            <a:r>
              <a:rPr dirty="0"/>
              <a:t>into</a:t>
            </a:r>
            <a:r>
              <a:rPr spc="-15" dirty="0"/>
              <a:t> </a:t>
            </a:r>
            <a:r>
              <a:rPr dirty="0"/>
              <a:t>one</a:t>
            </a:r>
            <a:r>
              <a:rPr spc="-15" dirty="0"/>
              <a:t> </a:t>
            </a:r>
            <a:r>
              <a:rPr dirty="0"/>
              <a:t>end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25" dirty="0"/>
              <a:t>the </a:t>
            </a:r>
            <a:r>
              <a:rPr dirty="0"/>
              <a:t>pipe</a:t>
            </a:r>
            <a:r>
              <a:rPr spc="-25" dirty="0"/>
              <a:t> </a:t>
            </a:r>
            <a:r>
              <a:rPr dirty="0"/>
              <a:t>comes</a:t>
            </a:r>
            <a:r>
              <a:rPr spc="-10" dirty="0"/>
              <a:t> </a:t>
            </a:r>
            <a:r>
              <a:rPr dirty="0"/>
              <a:t>out</a:t>
            </a:r>
            <a:r>
              <a:rPr spc="-15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other</a:t>
            </a:r>
            <a:r>
              <a:rPr spc="-10" dirty="0"/>
              <a:t> </a:t>
            </a:r>
            <a:r>
              <a:rPr spc="-20" dirty="0"/>
              <a:t>end.</a:t>
            </a:r>
          </a:p>
          <a:p>
            <a:pPr marL="12700" marR="17780">
              <a:lnSpc>
                <a:spcPct val="114999"/>
              </a:lnSpc>
              <a:spcBef>
                <a:spcPts val="1200"/>
              </a:spcBef>
            </a:pPr>
            <a:r>
              <a:rPr dirty="0"/>
              <a:t>In</a:t>
            </a:r>
            <a:r>
              <a:rPr spc="-3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case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IPC,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“water”</a:t>
            </a:r>
            <a:r>
              <a:rPr spc="-15" dirty="0"/>
              <a:t> </a:t>
            </a:r>
            <a:r>
              <a:rPr dirty="0"/>
              <a:t>is</a:t>
            </a:r>
            <a:r>
              <a:rPr spc="-15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sequence</a:t>
            </a:r>
            <a:r>
              <a:rPr spc="-15" dirty="0"/>
              <a:t> </a:t>
            </a:r>
            <a:r>
              <a:rPr spc="-25" dirty="0"/>
              <a:t>of </a:t>
            </a:r>
            <a:r>
              <a:rPr dirty="0"/>
              <a:t>bytes</a:t>
            </a:r>
            <a:r>
              <a:rPr spc="-35" dirty="0"/>
              <a:t> </a:t>
            </a:r>
            <a:r>
              <a:rPr dirty="0"/>
              <a:t>being</a:t>
            </a:r>
            <a:r>
              <a:rPr spc="-25" dirty="0"/>
              <a:t> </a:t>
            </a:r>
            <a:r>
              <a:rPr dirty="0"/>
              <a:t>sent</a:t>
            </a:r>
            <a:r>
              <a:rPr spc="-25" dirty="0"/>
              <a:t> </a:t>
            </a:r>
            <a:r>
              <a:rPr dirty="0"/>
              <a:t>between</a:t>
            </a:r>
            <a:r>
              <a:rPr spc="-2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processes;</a:t>
            </a:r>
            <a:r>
              <a:rPr spc="-2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bytes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written</a:t>
            </a:r>
            <a:r>
              <a:rPr spc="-20" dirty="0"/>
              <a:t> </a:t>
            </a:r>
            <a:r>
              <a:rPr dirty="0"/>
              <a:t>into</a:t>
            </a:r>
            <a:r>
              <a:rPr spc="-15" dirty="0"/>
              <a:t> </a:t>
            </a:r>
            <a:r>
              <a:rPr dirty="0"/>
              <a:t>one</a:t>
            </a:r>
            <a:r>
              <a:rPr spc="-20" dirty="0"/>
              <a:t> </a:t>
            </a:r>
            <a:r>
              <a:rPr dirty="0"/>
              <a:t>end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pipe</a:t>
            </a:r>
            <a:r>
              <a:rPr spc="-15" dirty="0"/>
              <a:t> </a:t>
            </a:r>
            <a:r>
              <a:rPr dirty="0"/>
              <a:t>and</a:t>
            </a:r>
            <a:r>
              <a:rPr spc="-20" dirty="0"/>
              <a:t> </a:t>
            </a:r>
            <a:r>
              <a:rPr dirty="0"/>
              <a:t>read</a:t>
            </a:r>
            <a:r>
              <a:rPr spc="-15" dirty="0"/>
              <a:t> </a:t>
            </a:r>
            <a:r>
              <a:rPr spc="-20" dirty="0"/>
              <a:t>from </a:t>
            </a:r>
            <a:r>
              <a:rPr dirty="0"/>
              <a:t>the</a:t>
            </a:r>
            <a:r>
              <a:rPr spc="-20" dirty="0"/>
              <a:t> </a:t>
            </a:r>
            <a:r>
              <a:rPr dirty="0"/>
              <a:t>other</a:t>
            </a:r>
            <a:r>
              <a:rPr spc="-10" dirty="0"/>
              <a:t> </a:t>
            </a:r>
            <a:r>
              <a:rPr spc="-20" dirty="0"/>
              <a:t>end.</a:t>
            </a:r>
          </a:p>
          <a:p>
            <a:pPr marL="469265" indent="-351155">
              <a:lnSpc>
                <a:spcPct val="100000"/>
              </a:lnSpc>
              <a:spcBef>
                <a:spcPts val="1530"/>
              </a:spcBef>
              <a:buChar char="●"/>
              <a:tabLst>
                <a:tab pos="469265" algn="l"/>
              </a:tabLst>
            </a:pPr>
            <a:r>
              <a:rPr sz="1600" b="1" dirty="0">
                <a:latin typeface="Arial"/>
                <a:cs typeface="Arial"/>
              </a:rPr>
              <a:t>pipe()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dirty="0"/>
              <a:t>function</a:t>
            </a:r>
            <a:r>
              <a:rPr sz="1600" spc="-30" dirty="0"/>
              <a:t> </a:t>
            </a:r>
            <a:r>
              <a:rPr sz="1600" dirty="0"/>
              <a:t>takes</a:t>
            </a:r>
            <a:r>
              <a:rPr sz="1600" spc="-30" dirty="0"/>
              <a:t> </a:t>
            </a:r>
            <a:r>
              <a:rPr sz="1600" dirty="0"/>
              <a:t>an</a:t>
            </a:r>
            <a:r>
              <a:rPr sz="1600" spc="-35" dirty="0"/>
              <a:t> </a:t>
            </a:r>
            <a:r>
              <a:rPr sz="1600" dirty="0"/>
              <a:t>int</a:t>
            </a:r>
            <a:r>
              <a:rPr sz="1600" spc="-30" dirty="0"/>
              <a:t> </a:t>
            </a:r>
            <a:r>
              <a:rPr sz="1600" dirty="0"/>
              <a:t>array</a:t>
            </a:r>
            <a:r>
              <a:rPr sz="1600" spc="-30" dirty="0"/>
              <a:t> </a:t>
            </a:r>
            <a:r>
              <a:rPr sz="1600" dirty="0"/>
              <a:t>of</a:t>
            </a:r>
            <a:r>
              <a:rPr sz="1600" spc="-35" dirty="0"/>
              <a:t> </a:t>
            </a:r>
            <a:r>
              <a:rPr sz="1600" dirty="0"/>
              <a:t>length</a:t>
            </a:r>
            <a:r>
              <a:rPr sz="1600" spc="-30" dirty="0"/>
              <a:t> </a:t>
            </a:r>
            <a:r>
              <a:rPr sz="1600" spc="-25" dirty="0"/>
              <a:t>2.</a:t>
            </a:r>
            <a:endParaRPr sz="1600">
              <a:latin typeface="Arial"/>
              <a:cs typeface="Arial"/>
            </a:endParaRPr>
          </a:p>
        </p:txBody>
      </p:sp>
      <p:grpSp>
        <p:nvGrpSpPr>
          <p:cNvPr id="4" name="object 4" descr="A diagram of full-duplex communication using two pipes; Pipe 1 allows Parent-to-Child flow, while Pipe 2 allows Child-to-Parent flow, with unused ends crossed out."/>
          <p:cNvGrpSpPr/>
          <p:nvPr/>
        </p:nvGrpSpPr>
        <p:grpSpPr>
          <a:xfrm>
            <a:off x="6121949" y="2368251"/>
            <a:ext cx="5692775" cy="3128645"/>
            <a:chOff x="6121949" y="2368251"/>
            <a:chExt cx="5692775" cy="312864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31475" y="2468552"/>
              <a:ext cx="5628062" cy="299558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126712" y="2373014"/>
              <a:ext cx="5683250" cy="3119120"/>
            </a:xfrm>
            <a:custGeom>
              <a:avLst/>
              <a:gdLst/>
              <a:ahLst/>
              <a:cxnLst/>
              <a:rect l="l" t="t" r="r" b="b"/>
              <a:pathLst>
                <a:path w="5683250" h="3119120">
                  <a:moveTo>
                    <a:pt x="0" y="0"/>
                  </a:moveTo>
                  <a:lnTo>
                    <a:pt x="5682974" y="0"/>
                  </a:lnTo>
                  <a:lnTo>
                    <a:pt x="5682974" y="3118574"/>
                  </a:lnTo>
                  <a:lnTo>
                    <a:pt x="0" y="3118574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716549" y="5653770"/>
            <a:ext cx="25488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  <a:hlinkClick r:id="rId5"/>
              </a:rPr>
              <a:t>https://www.tutorialspoint.com/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File</a:t>
            </a:r>
            <a:r>
              <a:rPr spc="-65" dirty="0"/>
              <a:t> </a:t>
            </a:r>
            <a:r>
              <a:rPr spc="-10" dirty="0"/>
              <a:t>Descriptors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2233264"/>
            <a:ext cx="4714875" cy="3526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9385">
              <a:lnSpc>
                <a:spcPct val="114999"/>
              </a:lnSpc>
              <a:spcBef>
                <a:spcPts val="100"/>
              </a:spcBef>
            </a:pPr>
            <a:r>
              <a:rPr sz="1500" spc="-55" dirty="0">
                <a:latin typeface="Roboto"/>
                <a:cs typeface="Roboto"/>
              </a:rPr>
              <a:t>It’з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a</a:t>
            </a:r>
            <a:r>
              <a:rPr sz="1500" spc="-60" dirty="0">
                <a:latin typeface="Roboto"/>
                <a:cs typeface="Roboto"/>
              </a:rPr>
              <a:t> </a:t>
            </a:r>
            <a:r>
              <a:rPr sz="1500" spc="-20" dirty="0">
                <a:latin typeface="Roboto"/>
                <a:cs typeface="Roboto"/>
              </a:rPr>
              <a:t>pозitive</a:t>
            </a:r>
            <a:r>
              <a:rPr sz="1500" spc="-50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integer</a:t>
            </a:r>
            <a:r>
              <a:rPr sz="1500" spc="-50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number</a:t>
            </a:r>
            <a:r>
              <a:rPr sz="1500" spc="-4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uзed</a:t>
            </a:r>
            <a:r>
              <a:rPr sz="1500" spc="-5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by</a:t>
            </a:r>
            <a:r>
              <a:rPr sz="1500" spc="-5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ﬁle</a:t>
            </a:r>
            <a:r>
              <a:rPr sz="1500" spc="-50" dirty="0">
                <a:latin typeface="Roboto"/>
                <a:cs typeface="Roboto"/>
              </a:rPr>
              <a:t> </a:t>
            </a:r>
            <a:r>
              <a:rPr sz="1500" spc="-20" dirty="0">
                <a:latin typeface="Roboto"/>
                <a:cs typeface="Roboto"/>
              </a:rPr>
              <a:t>зyзtem</a:t>
            </a:r>
            <a:r>
              <a:rPr sz="1500" spc="-4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сallз inзtead</a:t>
            </a:r>
            <a:r>
              <a:rPr sz="1500" spc="-4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оf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a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ﬁle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path</a:t>
            </a:r>
            <a:r>
              <a:rPr sz="1500" spc="-4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in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оrder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tо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make</a:t>
            </a:r>
            <a:r>
              <a:rPr sz="1500" spc="-4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a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spc="-20" dirty="0">
                <a:latin typeface="Roboto"/>
                <a:cs typeface="Roboto"/>
              </a:rPr>
              <a:t>variety</a:t>
            </a:r>
            <a:r>
              <a:rPr sz="1500" spc="-40" dirty="0">
                <a:latin typeface="Roboto"/>
                <a:cs typeface="Roboto"/>
              </a:rPr>
              <a:t> </a:t>
            </a:r>
            <a:r>
              <a:rPr sz="1500" spc="-25" dirty="0">
                <a:latin typeface="Roboto"/>
                <a:cs typeface="Roboto"/>
              </a:rPr>
              <a:t>оf </a:t>
            </a:r>
            <a:r>
              <a:rPr sz="1500" spc="-10" dirty="0">
                <a:latin typeface="Roboto"/>
                <a:cs typeface="Roboto"/>
              </a:rPr>
              <a:t>оperatiоnз.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500" dirty="0">
                <a:latin typeface="Roboto"/>
                <a:cs typeface="Roboto"/>
              </a:rPr>
              <a:t>Every</a:t>
            </a:r>
            <a:r>
              <a:rPr sz="1500" spc="-65" dirty="0">
                <a:latin typeface="Roboto"/>
                <a:cs typeface="Roboto"/>
              </a:rPr>
              <a:t> </a:t>
            </a:r>
            <a:r>
              <a:rPr sz="1500" spc="-10" dirty="0">
                <a:latin typeface="Roboto"/>
                <a:cs typeface="Roboto"/>
              </a:rPr>
              <a:t>prосeзз</a:t>
            </a:r>
            <a:r>
              <a:rPr sz="1500" spc="-6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haз</a:t>
            </a:r>
            <a:r>
              <a:rPr sz="1500" spc="-60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itз</a:t>
            </a:r>
            <a:r>
              <a:rPr sz="1500" spc="-65" dirty="0">
                <a:latin typeface="Roboto"/>
                <a:cs typeface="Roboto"/>
              </a:rPr>
              <a:t> </a:t>
            </a:r>
            <a:r>
              <a:rPr sz="1500" dirty="0">
                <a:latin typeface="Roboto"/>
                <a:cs typeface="Roboto"/>
              </a:rPr>
              <a:t>оwn</a:t>
            </a:r>
            <a:r>
              <a:rPr sz="1500" spc="-55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ﬁle</a:t>
            </a:r>
            <a:r>
              <a:rPr sz="1500" b="1" spc="-60" dirty="0">
                <a:latin typeface="Roboto"/>
                <a:cs typeface="Roboto"/>
              </a:rPr>
              <a:t> </a:t>
            </a:r>
            <a:r>
              <a:rPr sz="1500" b="1" dirty="0">
                <a:latin typeface="Roboto"/>
                <a:cs typeface="Roboto"/>
              </a:rPr>
              <a:t>descriptor</a:t>
            </a:r>
            <a:r>
              <a:rPr sz="1500" b="1" spc="-65" dirty="0">
                <a:latin typeface="Roboto"/>
                <a:cs typeface="Roboto"/>
              </a:rPr>
              <a:t> </a:t>
            </a:r>
            <a:r>
              <a:rPr sz="1500" b="1" spc="-10" dirty="0">
                <a:latin typeface="Roboto"/>
                <a:cs typeface="Roboto"/>
              </a:rPr>
              <a:t>table</a:t>
            </a:r>
            <a:r>
              <a:rPr sz="1500" spc="-10" dirty="0">
                <a:latin typeface="Roboto"/>
                <a:cs typeface="Roboto"/>
              </a:rPr>
              <a:t>.</a:t>
            </a:r>
            <a:endParaRPr sz="15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470"/>
              </a:spcBef>
            </a:pPr>
            <a:r>
              <a:rPr sz="1500" dirty="0">
                <a:latin typeface="Arial MT"/>
                <a:cs typeface="Arial MT"/>
              </a:rPr>
              <a:t>File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descriptors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for:</a:t>
            </a:r>
            <a:endParaRPr sz="1500">
              <a:latin typeface="Arial MT"/>
              <a:cs typeface="Arial MT"/>
            </a:endParaRPr>
          </a:p>
          <a:p>
            <a:pPr marL="469265" indent="-387350">
              <a:lnSpc>
                <a:spcPct val="100000"/>
              </a:lnSpc>
              <a:spcBef>
                <a:spcPts val="1470"/>
              </a:spcBef>
              <a:buAutoNum type="arabicPeriod"/>
              <a:tabLst>
                <a:tab pos="469265" algn="l"/>
              </a:tabLst>
            </a:pPr>
            <a:r>
              <a:rPr sz="1500" b="1" dirty="0">
                <a:latin typeface="Arial"/>
                <a:cs typeface="Arial"/>
              </a:rPr>
              <a:t>File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operations: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reading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from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writing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file.</a:t>
            </a:r>
            <a:endParaRPr sz="1500">
              <a:latin typeface="Arial MT"/>
              <a:cs typeface="Arial MT"/>
            </a:endParaRPr>
          </a:p>
          <a:p>
            <a:pPr marL="469900" marR="786130" indent="-387985">
              <a:lnSpc>
                <a:spcPct val="114999"/>
              </a:lnSpc>
              <a:buAutoNum type="arabicPeriod"/>
              <a:tabLst>
                <a:tab pos="469900" algn="l"/>
              </a:tabLst>
            </a:pPr>
            <a:r>
              <a:rPr sz="1500" b="1" dirty="0">
                <a:latin typeface="Arial"/>
                <a:cs typeface="Arial"/>
              </a:rPr>
              <a:t>Pipes: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enabling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communication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between processes.</a:t>
            </a:r>
            <a:endParaRPr sz="1500">
              <a:latin typeface="Arial MT"/>
              <a:cs typeface="Arial MT"/>
            </a:endParaRPr>
          </a:p>
          <a:p>
            <a:pPr marL="469265" indent="-38735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469265" algn="l"/>
              </a:tabLst>
            </a:pPr>
            <a:r>
              <a:rPr sz="1500" b="1" dirty="0">
                <a:latin typeface="Arial"/>
                <a:cs typeface="Arial"/>
              </a:rPr>
              <a:t>Sockets: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spc="-10" dirty="0">
                <a:latin typeface="Arial MT"/>
                <a:cs typeface="Arial MT"/>
              </a:rPr>
              <a:t>managing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network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communication.</a:t>
            </a:r>
            <a:endParaRPr sz="1500">
              <a:latin typeface="Arial MT"/>
              <a:cs typeface="Arial MT"/>
            </a:endParaRPr>
          </a:p>
          <a:p>
            <a:pPr marL="12700" marR="5080">
              <a:lnSpc>
                <a:spcPct val="114999"/>
              </a:lnSpc>
              <a:spcBef>
                <a:spcPts val="1200"/>
              </a:spcBef>
            </a:pPr>
            <a:r>
              <a:rPr sz="1500" dirty="0">
                <a:latin typeface="Arial MT"/>
                <a:cs typeface="Arial MT"/>
              </a:rPr>
              <a:t>In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context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b="1" dirty="0">
                <a:latin typeface="Arial"/>
                <a:cs typeface="Arial"/>
              </a:rPr>
              <a:t>pipes</a:t>
            </a:r>
            <a:r>
              <a:rPr sz="1500" dirty="0">
                <a:latin typeface="Arial MT"/>
                <a:cs typeface="Arial MT"/>
              </a:rPr>
              <a:t>,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file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descriptors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used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refer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two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ends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pipe: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3912" y="5887055"/>
            <a:ext cx="4199255" cy="55118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356235" indent="-343535">
              <a:lnSpc>
                <a:spcPct val="100000"/>
              </a:lnSpc>
              <a:spcBef>
                <a:spcPts val="370"/>
              </a:spcBef>
              <a:buChar char="●"/>
              <a:tabLst>
                <a:tab pos="356235" algn="l"/>
              </a:tabLst>
            </a:pPr>
            <a:r>
              <a:rPr sz="1500" b="1" dirty="0">
                <a:latin typeface="Arial"/>
                <a:cs typeface="Arial"/>
              </a:rPr>
              <a:t>pipefd[0]: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Refers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read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end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pipe.</a:t>
            </a:r>
            <a:endParaRPr sz="1500">
              <a:latin typeface="Arial MT"/>
              <a:cs typeface="Arial MT"/>
            </a:endParaRPr>
          </a:p>
          <a:p>
            <a:pPr marL="356235" indent="-343535">
              <a:lnSpc>
                <a:spcPct val="100000"/>
              </a:lnSpc>
              <a:spcBef>
                <a:spcPts val="270"/>
              </a:spcBef>
              <a:buChar char="●"/>
              <a:tabLst>
                <a:tab pos="356235" algn="l"/>
              </a:tabLst>
            </a:pPr>
            <a:r>
              <a:rPr sz="1500" b="1" dirty="0">
                <a:latin typeface="Arial"/>
                <a:cs typeface="Arial"/>
              </a:rPr>
              <a:t>pipefd[1]:</a:t>
            </a:r>
            <a:r>
              <a:rPr sz="1500" b="1" spc="-3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Refers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write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end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pipe.</a:t>
            </a:r>
            <a:endParaRPr sz="1500">
              <a:latin typeface="Arial MT"/>
              <a:cs typeface="Arial MT"/>
            </a:endParaRPr>
          </a:p>
        </p:txBody>
      </p:sp>
      <p:grpSp>
        <p:nvGrpSpPr>
          <p:cNvPr id="5" name="object 5" descr="A technical map showing how two processes' File Descriptor Tables point to a system-wide Open File Description Table, which then links to specific Inodes."/>
          <p:cNvGrpSpPr/>
          <p:nvPr/>
        </p:nvGrpSpPr>
        <p:grpSpPr>
          <a:xfrm>
            <a:off x="5253525" y="2192627"/>
            <a:ext cx="6661150" cy="3946525"/>
            <a:chOff x="5253525" y="2192627"/>
            <a:chExt cx="6661150" cy="394652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1139" y="2254041"/>
              <a:ext cx="6181238" cy="379111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258287" y="2197389"/>
              <a:ext cx="6651625" cy="3937000"/>
            </a:xfrm>
            <a:custGeom>
              <a:avLst/>
              <a:gdLst/>
              <a:ahLst/>
              <a:cxnLst/>
              <a:rect l="l" t="t" r="r" b="b"/>
              <a:pathLst>
                <a:path w="6651625" h="3937000">
                  <a:moveTo>
                    <a:pt x="0" y="0"/>
                  </a:moveTo>
                  <a:lnTo>
                    <a:pt x="6651275" y="0"/>
                  </a:lnTo>
                  <a:lnTo>
                    <a:pt x="6651275" y="3936849"/>
                  </a:lnTo>
                  <a:lnTo>
                    <a:pt x="0" y="393684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F20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824750" y="6272819"/>
            <a:ext cx="1920239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https://biriukov.dev/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File</a:t>
            </a:r>
            <a:r>
              <a:rPr spc="-65" dirty="0"/>
              <a:t> </a:t>
            </a:r>
            <a:r>
              <a:rPr spc="-10" dirty="0"/>
              <a:t>Descriptors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0375" y="2360605"/>
            <a:ext cx="492569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Start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Process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in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2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Background: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Start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20" dirty="0">
                <a:latin typeface="Arial MT"/>
                <a:cs typeface="Arial MT"/>
              </a:rPr>
              <a:t> long-</a:t>
            </a:r>
            <a:r>
              <a:rPr sz="1500" spc="-10" dirty="0">
                <a:latin typeface="Arial MT"/>
                <a:cs typeface="Arial MT"/>
              </a:rPr>
              <a:t>running </a:t>
            </a:r>
            <a:r>
              <a:rPr sz="1500" dirty="0">
                <a:latin typeface="Arial MT"/>
                <a:cs typeface="Arial MT"/>
              </a:rPr>
              <a:t>process,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such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simple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sleep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command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runs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50" dirty="0">
                <a:latin typeface="Arial MT"/>
                <a:cs typeface="Arial MT"/>
              </a:rPr>
              <a:t> a </a:t>
            </a:r>
            <a:r>
              <a:rPr sz="1500" spc="-10" dirty="0">
                <a:latin typeface="Arial MT"/>
                <a:cs typeface="Arial MT"/>
              </a:rPr>
              <a:t>specified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time,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that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you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have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process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inspect.</a:t>
            </a:r>
            <a:endParaRPr sz="15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2249" y="3235774"/>
            <a:ext cx="4468495" cy="46228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sleep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1000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50" dirty="0">
                <a:solidFill>
                  <a:srgbClr val="980000"/>
                </a:solidFill>
                <a:latin typeface="Arial"/>
                <a:cs typeface="Arial"/>
              </a:rPr>
              <a:t>&amp;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10375" y="3965605"/>
            <a:ext cx="47320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latin typeface="Arial"/>
                <a:cs typeface="Arial"/>
              </a:rPr>
              <a:t>Verify</a:t>
            </a:r>
            <a:r>
              <a:rPr sz="1500" b="1" spc="-5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Process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and</a:t>
            </a:r>
            <a:r>
              <a:rPr sz="1500" b="1" spc="-25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Get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the</a:t>
            </a:r>
            <a:r>
              <a:rPr sz="1500" b="1" spc="-30" dirty="0">
                <a:latin typeface="Arial"/>
                <a:cs typeface="Arial"/>
              </a:rPr>
              <a:t> </a:t>
            </a:r>
            <a:r>
              <a:rPr sz="1500" b="1" dirty="0">
                <a:latin typeface="Arial"/>
                <a:cs typeface="Arial"/>
              </a:rPr>
              <a:t>PID:</a:t>
            </a:r>
            <a:r>
              <a:rPr sz="1500" b="1" spc="-5" dirty="0">
                <a:latin typeface="Arial"/>
                <a:cs typeface="Arial"/>
              </a:rPr>
              <a:t> </a:t>
            </a:r>
            <a:r>
              <a:rPr sz="1500" dirty="0">
                <a:latin typeface="Arial MT"/>
                <a:cs typeface="Arial MT"/>
              </a:rPr>
              <a:t>Use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ps</a:t>
            </a:r>
            <a:r>
              <a:rPr sz="15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pgrep</a:t>
            </a:r>
            <a:endParaRPr sz="1500" b="1" dirty="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500" dirty="0">
                <a:latin typeface="Arial MT"/>
                <a:cs typeface="Arial MT"/>
              </a:rPr>
              <a:t>to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check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PID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running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sleep</a:t>
            </a:r>
            <a:r>
              <a:rPr sz="15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process.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2249" y="4622899"/>
            <a:ext cx="4468495" cy="46228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pgrep</a:t>
            </a:r>
            <a:r>
              <a:rPr sz="1800" b="1" spc="-2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sleep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0375" y="5456705"/>
            <a:ext cx="43040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latin typeface="Arial MT"/>
                <a:cs typeface="Arial MT"/>
              </a:rPr>
              <a:t>Use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lsof</a:t>
            </a:r>
            <a:r>
              <a:rPr sz="15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Arial MT"/>
                <a:cs typeface="Arial MT"/>
              </a:rPr>
              <a:t>to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check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open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file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descriptors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the </a:t>
            </a:r>
            <a:r>
              <a:rPr sz="1500" spc="-10" dirty="0">
                <a:latin typeface="Arial MT"/>
                <a:cs typeface="Arial MT"/>
              </a:rPr>
              <a:t>process:</a:t>
            </a:r>
            <a:endParaRPr sz="1500" dirty="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12249" y="6035399"/>
            <a:ext cx="4468495" cy="462280"/>
          </a:xfrm>
          <a:prstGeom prst="rect">
            <a:avLst/>
          </a:prstGeom>
          <a:ln w="28574">
            <a:solidFill>
              <a:srgbClr val="000000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600"/>
              </a:spcBef>
            </a:pP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lsof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20" dirty="0">
                <a:solidFill>
                  <a:srgbClr val="980000"/>
                </a:solidFill>
                <a:latin typeface="Arial"/>
                <a:cs typeface="Arial"/>
              </a:rPr>
              <a:t>-</a:t>
            </a:r>
            <a:r>
              <a:rPr sz="1800" b="1" dirty="0">
                <a:solidFill>
                  <a:srgbClr val="980000"/>
                </a:solidFill>
                <a:latin typeface="Arial"/>
                <a:cs typeface="Arial"/>
              </a:rPr>
              <a:t>p</a:t>
            </a:r>
            <a:r>
              <a:rPr sz="1800" b="1" spc="-5" dirty="0">
                <a:solidFill>
                  <a:srgbClr val="980000"/>
                </a:solidFill>
                <a:latin typeface="Arial"/>
                <a:cs typeface="Arial"/>
              </a:rPr>
              <a:t> </a:t>
            </a:r>
            <a:r>
              <a:rPr sz="1800" b="1" spc="-10" dirty="0">
                <a:solidFill>
                  <a:srgbClr val="980000"/>
                </a:solidFill>
                <a:latin typeface="Arial"/>
                <a:cs typeface="Arial"/>
              </a:rPr>
              <a:t>&lt;PID&gt;</a:t>
            </a:r>
            <a:endParaRPr sz="1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559649" y="2281475"/>
            <a:ext cx="6479540" cy="141605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77470" rIns="0" bIns="0" rtlCol="0">
            <a:spAutoFit/>
          </a:bodyPr>
          <a:lstStyle/>
          <a:p>
            <a:pPr marL="85725">
              <a:lnSpc>
                <a:spcPct val="100000"/>
              </a:lnSpc>
              <a:spcBef>
                <a:spcPts val="610"/>
              </a:spcBef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pgrep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searches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all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running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match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given</a:t>
            </a:r>
            <a:endParaRPr sz="1600">
              <a:latin typeface="Arial MT"/>
              <a:cs typeface="Arial MT"/>
            </a:endParaRPr>
          </a:p>
          <a:p>
            <a:pPr marL="85725">
              <a:lnSpc>
                <a:spcPct val="100000"/>
              </a:lnSpc>
            </a:pPr>
            <a:r>
              <a:rPr sz="1600" b="1" dirty="0">
                <a:latin typeface="Arial"/>
                <a:cs typeface="Arial"/>
              </a:rPr>
              <a:t>process</a:t>
            </a:r>
            <a:r>
              <a:rPr sz="1600" b="1" spc="-35" dirty="0">
                <a:latin typeface="Arial"/>
                <a:cs typeface="Arial"/>
              </a:rPr>
              <a:t> </a:t>
            </a:r>
            <a:r>
              <a:rPr sz="1600" b="1" spc="-20" dirty="0">
                <a:latin typeface="Arial"/>
                <a:cs typeface="Arial"/>
              </a:rPr>
              <a:t>name</a:t>
            </a:r>
            <a:r>
              <a:rPr sz="1600" spc="-20" dirty="0">
                <a:latin typeface="Arial MT"/>
                <a:cs typeface="Arial MT"/>
              </a:rPr>
              <a:t>.</a:t>
            </a:r>
            <a:endParaRPr sz="1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600">
              <a:latin typeface="Arial MT"/>
              <a:cs typeface="Arial MT"/>
            </a:endParaRPr>
          </a:p>
          <a:p>
            <a:pPr marL="85725" marR="321945">
              <a:lnSpc>
                <a:spcPct val="100000"/>
              </a:lnSpc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lsof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command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</a:t>
            </a:r>
            <a:r>
              <a:rPr sz="1600" b="1" dirty="0">
                <a:latin typeface="Arial"/>
                <a:cs typeface="Arial"/>
              </a:rPr>
              <a:t>list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open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files</a:t>
            </a:r>
            <a:r>
              <a:rPr sz="1600" dirty="0">
                <a:latin typeface="Arial MT"/>
                <a:cs typeface="Arial MT"/>
              </a:rPr>
              <a:t>):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view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open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particular </a:t>
            </a:r>
            <a:r>
              <a:rPr sz="1600" dirty="0">
                <a:latin typeface="Arial MT"/>
                <a:cs typeface="Arial MT"/>
              </a:rPr>
              <a:t>process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-</a:t>
            </a:r>
            <a:r>
              <a:rPr sz="1600" b="1" spc="-50" dirty="0">
                <a:solidFill>
                  <a:srgbClr val="188037"/>
                </a:solidFill>
                <a:latin typeface="Courier New"/>
                <a:cs typeface="Courier New"/>
              </a:rPr>
              <a:t>p</a:t>
            </a:r>
            <a:endParaRPr sz="1600">
              <a:latin typeface="Courier New"/>
              <a:cs typeface="Courier New"/>
            </a:endParaRPr>
          </a:p>
        </p:txBody>
      </p:sp>
      <p:pic>
        <p:nvPicPr>
          <p:cNvPr id="9" name="object 9" descr="A terminal output of the lsof command showing the file descriptors (cwd, txt, 0u, 1u, 2u) for a process named &quot;sleep&quot; with PID 5846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19101" y="3904875"/>
            <a:ext cx="6519823" cy="1418074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5632675" y="5492005"/>
            <a:ext cx="294132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latin typeface="Arial"/>
                <a:cs typeface="Arial"/>
              </a:rPr>
              <a:t>FD</a:t>
            </a:r>
            <a:r>
              <a:rPr sz="1500" b="1" spc="-45" dirty="0"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88037"/>
                </a:solidFill>
                <a:latin typeface="Courier New"/>
                <a:cs typeface="Courier New"/>
              </a:rPr>
              <a:t>0u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Standard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input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(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stdin</a:t>
            </a:r>
            <a:r>
              <a:rPr sz="1500" spc="-10" dirty="0">
                <a:latin typeface="Arial MT"/>
                <a:cs typeface="Arial MT"/>
              </a:rPr>
              <a:t>). </a:t>
            </a:r>
            <a:r>
              <a:rPr sz="1500" b="1" dirty="0">
                <a:latin typeface="Arial"/>
                <a:cs typeface="Arial"/>
              </a:rPr>
              <a:t>FD</a:t>
            </a:r>
            <a:r>
              <a:rPr sz="1500" b="1" spc="-50" dirty="0"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88037"/>
                </a:solidFill>
                <a:latin typeface="Courier New"/>
                <a:cs typeface="Courier New"/>
              </a:rPr>
              <a:t>1u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Standard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output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(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stdout</a:t>
            </a:r>
            <a:r>
              <a:rPr sz="1500" spc="-10" dirty="0">
                <a:latin typeface="Arial MT"/>
                <a:cs typeface="Arial MT"/>
              </a:rPr>
              <a:t>). </a:t>
            </a:r>
            <a:r>
              <a:rPr sz="1500" b="1" dirty="0">
                <a:latin typeface="Arial"/>
                <a:cs typeface="Arial"/>
              </a:rPr>
              <a:t>FD</a:t>
            </a:r>
            <a:r>
              <a:rPr sz="1500" b="1" spc="-40" dirty="0">
                <a:latin typeface="Arial"/>
                <a:cs typeface="Arial"/>
              </a:rPr>
              <a:t> </a:t>
            </a:r>
            <a:r>
              <a:rPr sz="1500" b="1" dirty="0">
                <a:solidFill>
                  <a:srgbClr val="188037"/>
                </a:solidFill>
                <a:latin typeface="Courier New"/>
                <a:cs typeface="Courier New"/>
              </a:rPr>
              <a:t>2u</a:t>
            </a:r>
            <a:r>
              <a:rPr sz="1500" dirty="0">
                <a:latin typeface="Arial MT"/>
                <a:cs typeface="Arial MT"/>
              </a:rPr>
              <a:t>: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Standard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error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(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stderr</a:t>
            </a:r>
            <a:r>
              <a:rPr sz="1500" spc="-10" dirty="0">
                <a:latin typeface="Arial MT"/>
                <a:cs typeface="Arial MT"/>
              </a:rPr>
              <a:t>).</a:t>
            </a:r>
            <a:endParaRPr sz="15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Pipes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00899" y="2155346"/>
            <a:ext cx="10283825" cy="2082800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1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simplest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form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of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communication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with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pipes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provide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parent-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child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communication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using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endParaRPr sz="1800">
              <a:latin typeface="Arial MT"/>
              <a:cs typeface="Arial MT"/>
            </a:endParaRPr>
          </a:p>
          <a:p>
            <a:pPr marL="379095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pipe()</a:t>
            </a:r>
            <a:r>
              <a:rPr sz="1800" b="1" spc="-3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library</a:t>
            </a:r>
            <a:r>
              <a:rPr sz="1800" spc="-3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function.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Pipes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are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unidirectional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should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not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respond.</a:t>
            </a:r>
            <a:endParaRPr sz="1800">
              <a:latin typeface="Arial MT"/>
              <a:cs typeface="Arial MT"/>
            </a:endParaRPr>
          </a:p>
          <a:p>
            <a:pPr marL="379095" indent="-366395">
              <a:lnSpc>
                <a:spcPct val="100000"/>
              </a:lnSpc>
              <a:spcBef>
                <a:spcPts val="1080"/>
              </a:spcBef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Once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has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used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pipefd[0]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call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read()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same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process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cannot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turn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around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endParaRPr sz="1800">
              <a:latin typeface="Arial MT"/>
              <a:cs typeface="Arial MT"/>
            </a:endParaRPr>
          </a:p>
          <a:p>
            <a:pPr marL="379095">
              <a:lnSpc>
                <a:spcPct val="100000"/>
              </a:lnSpc>
              <a:spcBef>
                <a:spcPts val="1080"/>
              </a:spcBef>
            </a:pP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write()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pipefd[1]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;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doing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so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will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fail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silently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no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data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will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be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sent.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A simplified pipe diagram showing a one-way data flow from a write(pipefd[1]) call to a read(pipefd[0]) call, with a reverse write path crossed out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22975" y="4553675"/>
            <a:ext cx="8850300" cy="1759999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87725" y="6374345"/>
            <a:ext cx="2062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https://w3.cs.jmu.edu/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Basic</a:t>
            </a:r>
            <a:r>
              <a:rPr sz="2000" spc="-50" dirty="0"/>
              <a:t> </a:t>
            </a:r>
            <a:r>
              <a:rPr sz="2000" dirty="0"/>
              <a:t>Pipe</a:t>
            </a:r>
            <a:r>
              <a:rPr sz="2000" spc="-45" dirty="0"/>
              <a:t> </a:t>
            </a:r>
            <a:r>
              <a:rPr sz="2000" spc="-10" dirty="0"/>
              <a:t>Communication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500899" y="2368008"/>
            <a:ext cx="4158615" cy="3180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65405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pipe()</a:t>
            </a:r>
            <a:r>
              <a:rPr sz="1800" b="1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function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creates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pipe, </a:t>
            </a:r>
            <a:r>
              <a:rPr sz="1800" dirty="0">
                <a:latin typeface="Arial MT"/>
                <a:cs typeface="Arial MT"/>
              </a:rPr>
              <a:t>which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represented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two</a:t>
            </a:r>
            <a:r>
              <a:rPr sz="1800" spc="-20" dirty="0">
                <a:latin typeface="Arial MT"/>
                <a:cs typeface="Arial MT"/>
              </a:rPr>
              <a:t> file </a:t>
            </a:r>
            <a:r>
              <a:rPr sz="1800" dirty="0">
                <a:latin typeface="Arial MT"/>
                <a:cs typeface="Arial MT"/>
              </a:rPr>
              <a:t>descriptors: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pipefd[0]</a:t>
            </a:r>
            <a:r>
              <a:rPr sz="1800" spc="-5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reading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pipefd[1]</a:t>
            </a:r>
            <a:r>
              <a:rPr sz="1800" b="1" spc="-57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writing.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 MT"/>
              <a:buChar char="●"/>
            </a:pPr>
            <a:endParaRPr sz="1800" dirty="0">
              <a:latin typeface="Arial MT"/>
              <a:cs typeface="Arial MT"/>
            </a:endParaRPr>
          </a:p>
          <a:p>
            <a:pPr marL="379095" marR="5080" indent="-367030">
              <a:lnSpc>
                <a:spcPct val="114999"/>
              </a:lnSpc>
              <a:spcBef>
                <a:spcPts val="5"/>
              </a:spcBef>
              <a:buChar char="●"/>
              <a:tabLst>
                <a:tab pos="37909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1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works as a </a:t>
            </a:r>
            <a:r>
              <a:rPr sz="1800" spc="-10" dirty="0">
                <a:latin typeface="Arial MT"/>
                <a:cs typeface="Arial MT"/>
              </a:rPr>
              <a:t>first-</a:t>
            </a:r>
            <a:r>
              <a:rPr sz="1800" dirty="0">
                <a:latin typeface="Arial MT"/>
                <a:cs typeface="Arial MT"/>
              </a:rPr>
              <a:t>in,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first-</a:t>
            </a:r>
            <a:r>
              <a:rPr sz="1800" spc="-25" dirty="0">
                <a:latin typeface="Arial MT"/>
                <a:cs typeface="Arial MT"/>
              </a:rPr>
              <a:t>out </a:t>
            </a:r>
            <a:r>
              <a:rPr sz="1800" dirty="0">
                <a:latin typeface="Arial MT"/>
                <a:cs typeface="Arial MT"/>
              </a:rPr>
              <a:t>(FIFO)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buffer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managed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kernel. </a:t>
            </a:r>
            <a:r>
              <a:rPr sz="1800" dirty="0">
                <a:latin typeface="Arial MT"/>
                <a:cs typeface="Arial MT"/>
              </a:rPr>
              <a:t>When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data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pipe,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can </a:t>
            </a:r>
            <a:r>
              <a:rPr sz="1800" dirty="0">
                <a:latin typeface="Arial MT"/>
                <a:cs typeface="Arial MT"/>
              </a:rPr>
              <a:t>read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vice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versa.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 descr="A high-level view of a pipe, showing a process in User Space with two file descriptors (fd[1] for writing, fd[0] for reading) connected to a &quot;pipe buffer&quot; in the Kernel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1400" y="2345281"/>
            <a:ext cx="4369949" cy="2975274"/>
          </a:xfrm>
          <a:prstGeom prst="rect">
            <a:avLst/>
          </a:prstGeom>
        </p:spPr>
      </p:pic>
      <p:sp>
        <p:nvSpPr>
          <p:cNvPr id="5" name="objec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033325" y="5550420"/>
            <a:ext cx="2069464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https://hzqtc.github.io/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390225" cy="681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Basic</a:t>
            </a:r>
            <a:r>
              <a:rPr sz="2000" spc="-50" dirty="0"/>
              <a:t> </a:t>
            </a:r>
            <a:r>
              <a:rPr sz="2000" dirty="0"/>
              <a:t>Pipe</a:t>
            </a:r>
            <a:r>
              <a:rPr sz="2000" spc="-45" dirty="0"/>
              <a:t> </a:t>
            </a:r>
            <a:r>
              <a:rPr sz="2000" spc="-10" dirty="0"/>
              <a:t>Communication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774208"/>
            <a:ext cx="4046220" cy="3017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320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parent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sends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0" dirty="0">
                <a:latin typeface="Arial MT"/>
                <a:cs typeface="Arial MT"/>
              </a:rPr>
              <a:t> message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process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through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pipe.</a:t>
            </a:r>
            <a:endParaRPr sz="1800">
              <a:latin typeface="Arial MT"/>
              <a:cs typeface="Arial MT"/>
            </a:endParaRPr>
          </a:p>
          <a:p>
            <a:pPr marL="469265" indent="-366395">
              <a:lnSpc>
                <a:spcPct val="100000"/>
              </a:lnSpc>
              <a:spcBef>
                <a:spcPts val="1525"/>
              </a:spcBef>
              <a:buChar char="●"/>
              <a:tabLst>
                <a:tab pos="469265" algn="l"/>
              </a:tabLst>
            </a:pPr>
            <a:r>
              <a:rPr sz="1800" dirty="0">
                <a:latin typeface="Arial MT"/>
                <a:cs typeface="Arial MT"/>
              </a:rPr>
              <a:t>A</a:t>
            </a:r>
            <a:r>
              <a:rPr sz="1800" spc="-1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-10" dirty="0">
                <a:latin typeface="Arial MT"/>
                <a:cs typeface="Arial MT"/>
              </a:rPr>
              <a:t> created.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469900" marR="5080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Parent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writes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"Hello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parent"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to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pipe.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  <a:buFont typeface="Arial MT"/>
              <a:buChar char="●"/>
            </a:pPr>
            <a:endParaRPr sz="1800">
              <a:latin typeface="Arial MT"/>
              <a:cs typeface="Arial MT"/>
            </a:endParaRPr>
          </a:p>
          <a:p>
            <a:pPr marL="469900" marR="164465" indent="-36703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child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reads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pipe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prints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message.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 descr="A C code snippet demonstrating unidirectional Inter-Process Communication (IPC) using a single pipe where a parent process writes &quot;Hello from parent&quot; to its child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5250" y="1215777"/>
            <a:ext cx="6949549" cy="539609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>
            <a:extLst>
              <a:ext uri="{FF2B5EF4-FFF2-40B4-BE49-F238E27FC236}">
                <a16:creationId xmlns:a16="http://schemas.microsoft.com/office/drawing/2014/main" id="{4E179105-A711-59F5-ED5C-E0D8C908FD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390225" cy="681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Basic</a:t>
            </a:r>
            <a:r>
              <a:rPr sz="2000" spc="-50" dirty="0"/>
              <a:t> </a:t>
            </a:r>
            <a:r>
              <a:rPr sz="2000" dirty="0"/>
              <a:t>Pipe</a:t>
            </a:r>
            <a:r>
              <a:rPr sz="2000" spc="-45" dirty="0"/>
              <a:t> </a:t>
            </a:r>
            <a:r>
              <a:rPr sz="2000" spc="-10" dirty="0"/>
              <a:t>Communication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154047"/>
            <a:ext cx="4102100" cy="43991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266065" indent="-344170">
              <a:lnSpc>
                <a:spcPct val="114999"/>
              </a:lnSpc>
              <a:spcBef>
                <a:spcPts val="1400"/>
              </a:spcBef>
              <a:buChar char="●"/>
              <a:tabLst>
                <a:tab pos="469900" algn="l"/>
              </a:tabLst>
            </a:pPr>
            <a:r>
              <a:rPr sz="1500" dirty="0">
                <a:latin typeface="Arial MT"/>
                <a:cs typeface="Arial MT"/>
              </a:rPr>
              <a:t>A</a:t>
            </a:r>
            <a:r>
              <a:rPr sz="1500" spc="-10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pipe</a:t>
            </a:r>
            <a:r>
              <a:rPr sz="1500" spc="-6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created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with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pipe(pipefd)</a:t>
            </a:r>
            <a:r>
              <a:rPr sz="1500" spc="-10" dirty="0">
                <a:latin typeface="Arial MT"/>
                <a:cs typeface="Arial MT"/>
              </a:rPr>
              <a:t>,</a:t>
            </a:r>
            <a:r>
              <a:rPr sz="1500" b="1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which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initializes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pipefd[0]</a:t>
            </a:r>
            <a:r>
              <a:rPr sz="15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reading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5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pipefd[1]</a:t>
            </a:r>
            <a:r>
              <a:rPr sz="1500" spc="-48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writing.</a:t>
            </a:r>
            <a:endParaRPr sz="1500" dirty="0">
              <a:latin typeface="Arial MT"/>
              <a:cs typeface="Arial MT"/>
            </a:endParaRPr>
          </a:p>
          <a:p>
            <a:pPr marL="469900" marR="33655">
              <a:lnSpc>
                <a:spcPct val="114999"/>
              </a:lnSpc>
              <a:spcBef>
                <a:spcPts val="1200"/>
              </a:spcBef>
            </a:pP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exact</a:t>
            </a:r>
            <a:r>
              <a:rPr sz="1500" spc="-2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values</a:t>
            </a:r>
            <a:r>
              <a:rPr sz="1500" spc="-2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of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pipefd[0]</a:t>
            </a:r>
            <a:r>
              <a:rPr sz="15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spc="-25" dirty="0">
                <a:latin typeface="Arial MT"/>
                <a:cs typeface="Arial MT"/>
              </a:rPr>
              <a:t>and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pipefd[1]</a:t>
            </a:r>
            <a:r>
              <a:rPr sz="15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assigned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by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operating </a:t>
            </a:r>
            <a:r>
              <a:rPr sz="1500" dirty="0">
                <a:latin typeface="Arial MT"/>
                <a:cs typeface="Arial MT"/>
              </a:rPr>
              <a:t>system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when</a:t>
            </a:r>
            <a:r>
              <a:rPr sz="1500" spc="-1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5" dirty="0">
                <a:latin typeface="Arial MT"/>
                <a:cs typeface="Arial MT"/>
              </a:rPr>
              <a:t> </a:t>
            </a:r>
            <a:r>
              <a:rPr sz="1500" b="1" spc="-10" dirty="0">
                <a:solidFill>
                  <a:srgbClr val="188037"/>
                </a:solidFill>
                <a:latin typeface="Courier New"/>
                <a:cs typeface="Courier New"/>
              </a:rPr>
              <a:t>pipe(pipefd)</a:t>
            </a:r>
            <a:r>
              <a:rPr sz="1500" b="1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spc="-10" dirty="0">
                <a:latin typeface="Arial MT"/>
                <a:cs typeface="Arial MT"/>
              </a:rPr>
              <a:t>system </a:t>
            </a:r>
            <a:r>
              <a:rPr sz="1500" dirty="0">
                <a:latin typeface="Arial MT"/>
                <a:cs typeface="Arial MT"/>
              </a:rPr>
              <a:t>call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successfully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invoked.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500" dirty="0">
              <a:latin typeface="Arial MT"/>
              <a:cs typeface="Arial MT"/>
            </a:endParaRPr>
          </a:p>
          <a:p>
            <a:pPr marL="469900" marR="247650" algn="just">
              <a:lnSpc>
                <a:spcPct val="114999"/>
              </a:lnSpc>
            </a:pPr>
            <a:r>
              <a:rPr sz="1500" dirty="0">
                <a:latin typeface="Arial MT"/>
                <a:cs typeface="Arial MT"/>
              </a:rPr>
              <a:t>These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values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integers,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they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are </a:t>
            </a:r>
            <a:r>
              <a:rPr sz="1500" dirty="0">
                <a:latin typeface="Arial MT"/>
                <a:cs typeface="Arial MT"/>
              </a:rPr>
              <a:t>typically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small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numbers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representing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20" dirty="0">
                <a:latin typeface="Arial MT"/>
                <a:cs typeface="Arial MT"/>
              </a:rPr>
              <a:t>file </a:t>
            </a:r>
            <a:r>
              <a:rPr sz="1500" spc="-10" dirty="0">
                <a:latin typeface="Arial MT"/>
                <a:cs typeface="Arial MT"/>
              </a:rPr>
              <a:t>descriptors.</a:t>
            </a:r>
            <a:endParaRPr sz="15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500" dirty="0">
              <a:latin typeface="Arial MT"/>
              <a:cs typeface="Arial MT"/>
            </a:endParaRPr>
          </a:p>
          <a:p>
            <a:pPr marL="469900" marR="5080">
              <a:lnSpc>
                <a:spcPct val="114999"/>
              </a:lnSpc>
            </a:pPr>
            <a:r>
              <a:rPr sz="1500" dirty="0">
                <a:latin typeface="Arial MT"/>
                <a:cs typeface="Arial MT"/>
              </a:rPr>
              <a:t>For</a:t>
            </a:r>
            <a:r>
              <a:rPr sz="1500" spc="-7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example,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they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might</a:t>
            </a:r>
            <a:r>
              <a:rPr sz="1500" spc="-4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be</a:t>
            </a:r>
            <a:r>
              <a:rPr sz="1500" spc="-15" dirty="0">
                <a:latin typeface="Arial MT"/>
                <a:cs typeface="Arial MT"/>
              </a:rPr>
              <a:t> </a:t>
            </a:r>
            <a:r>
              <a:rPr sz="1500" b="1" dirty="0">
                <a:solidFill>
                  <a:srgbClr val="188037"/>
                </a:solidFill>
                <a:latin typeface="Courier New"/>
                <a:cs typeface="Courier New"/>
              </a:rPr>
              <a:t>3</a:t>
            </a:r>
            <a:r>
              <a:rPr sz="1500" spc="-484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500" dirty="0">
                <a:latin typeface="Arial MT"/>
                <a:cs typeface="Arial MT"/>
              </a:rPr>
              <a:t>and</a:t>
            </a:r>
            <a:r>
              <a:rPr sz="1500" spc="-35" dirty="0">
                <a:latin typeface="Arial MT"/>
                <a:cs typeface="Arial MT"/>
              </a:rPr>
              <a:t> </a:t>
            </a:r>
            <a:r>
              <a:rPr sz="1500" b="1" spc="-25" dirty="0">
                <a:solidFill>
                  <a:srgbClr val="188037"/>
                </a:solidFill>
                <a:latin typeface="Courier New"/>
                <a:cs typeface="Courier New"/>
              </a:rPr>
              <a:t>4</a:t>
            </a:r>
            <a:r>
              <a:rPr sz="1500" spc="-25" dirty="0">
                <a:latin typeface="Arial MT"/>
                <a:cs typeface="Arial MT"/>
              </a:rPr>
              <a:t>, </a:t>
            </a:r>
            <a:r>
              <a:rPr sz="1500" spc="-10" dirty="0">
                <a:latin typeface="Arial MT"/>
                <a:cs typeface="Arial MT"/>
              </a:rPr>
              <a:t>respectively,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or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other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numbers,</a:t>
            </a:r>
            <a:r>
              <a:rPr sz="1500" spc="-55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depending </a:t>
            </a:r>
            <a:r>
              <a:rPr sz="1500" dirty="0">
                <a:latin typeface="Arial MT"/>
                <a:cs typeface="Arial MT"/>
              </a:rPr>
              <a:t>on</a:t>
            </a:r>
            <a:r>
              <a:rPr sz="1500" spc="-5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what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file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descriptors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are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currently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in</a:t>
            </a:r>
            <a:r>
              <a:rPr sz="1500" spc="-45" dirty="0">
                <a:latin typeface="Arial MT"/>
                <a:cs typeface="Arial MT"/>
              </a:rPr>
              <a:t> </a:t>
            </a:r>
            <a:r>
              <a:rPr sz="1500" spc="-25" dirty="0">
                <a:latin typeface="Arial MT"/>
                <a:cs typeface="Arial MT"/>
              </a:rPr>
              <a:t>use </a:t>
            </a:r>
            <a:r>
              <a:rPr sz="1500" dirty="0">
                <a:latin typeface="Arial MT"/>
                <a:cs typeface="Arial MT"/>
              </a:rPr>
              <a:t>by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dirty="0">
                <a:latin typeface="Arial MT"/>
                <a:cs typeface="Arial MT"/>
              </a:rPr>
              <a:t>the</a:t>
            </a:r>
            <a:r>
              <a:rPr sz="1500" spc="-30" dirty="0">
                <a:latin typeface="Arial MT"/>
                <a:cs typeface="Arial MT"/>
              </a:rPr>
              <a:t> </a:t>
            </a:r>
            <a:r>
              <a:rPr sz="1500" spc="-10" dirty="0">
                <a:latin typeface="Arial MT"/>
                <a:cs typeface="Arial MT"/>
              </a:rPr>
              <a:t>process.</a:t>
            </a:r>
            <a:endParaRPr sz="15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5250" y="1215777"/>
            <a:ext cx="6949549" cy="539609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035133CD-5335-836C-F799-741324D3BD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390225" cy="681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Basic</a:t>
            </a:r>
            <a:r>
              <a:rPr sz="2000" spc="-50" dirty="0"/>
              <a:t> </a:t>
            </a:r>
            <a:r>
              <a:rPr sz="2000" dirty="0"/>
              <a:t>Pipe</a:t>
            </a:r>
            <a:r>
              <a:rPr sz="2000" spc="-45" dirty="0"/>
              <a:t> </a:t>
            </a:r>
            <a:r>
              <a:rPr sz="2000" spc="-10" dirty="0"/>
              <a:t>Communication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166172"/>
            <a:ext cx="4196715" cy="28630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351790">
              <a:lnSpc>
                <a:spcPct val="114999"/>
              </a:lnSpc>
              <a:spcBef>
                <a:spcPts val="1380"/>
              </a:spcBef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After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fork()</a:t>
            </a:r>
            <a:r>
              <a:rPr sz="1600" dirty="0">
                <a:latin typeface="Arial MT"/>
                <a:cs typeface="Arial MT"/>
              </a:rPr>
              <a:t>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both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parent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child </a:t>
            </a:r>
            <a:r>
              <a:rPr sz="1600" dirty="0">
                <a:latin typeface="Arial MT"/>
                <a:cs typeface="Arial MT"/>
              </a:rPr>
              <a:t>inherit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these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file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descriptors.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spc="-8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avoid </a:t>
            </a:r>
            <a:r>
              <a:rPr sz="1600" dirty="0">
                <a:latin typeface="Arial MT"/>
                <a:cs typeface="Arial MT"/>
              </a:rPr>
              <a:t>unintended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each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process </a:t>
            </a:r>
            <a:r>
              <a:rPr sz="1600" dirty="0">
                <a:latin typeface="Arial MT"/>
                <a:cs typeface="Arial MT"/>
              </a:rPr>
              <a:t>closes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don’t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use: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 MT"/>
              <a:buChar char="●"/>
            </a:pPr>
            <a:endParaRPr sz="1600" dirty="0">
              <a:latin typeface="Arial MT"/>
              <a:cs typeface="Arial MT"/>
            </a:endParaRPr>
          </a:p>
          <a:p>
            <a:pPr marL="927100" marR="133985" lvl="1" indent="-398145">
              <a:lnSpc>
                <a:spcPct val="114999"/>
              </a:lnSpc>
              <a:buAutoNum type="alphaLcPeriod"/>
              <a:tabLst>
                <a:tab pos="92710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parent</a:t>
            </a:r>
            <a:r>
              <a:rPr sz="1600" b="1" spc="-20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closes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reading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end </a:t>
            </a: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pipefd[0]</a:t>
            </a:r>
            <a:r>
              <a:rPr sz="1600" spc="-10" dirty="0">
                <a:latin typeface="Arial MT"/>
                <a:cs typeface="Arial MT"/>
              </a:rPr>
              <a:t>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since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only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writes.</a:t>
            </a:r>
            <a:endParaRPr sz="1600" dirty="0">
              <a:latin typeface="Arial MT"/>
              <a:cs typeface="Arial MT"/>
            </a:endParaRPr>
          </a:p>
          <a:p>
            <a:pPr lvl="1">
              <a:lnSpc>
                <a:spcPct val="100000"/>
              </a:lnSpc>
              <a:spcBef>
                <a:spcPts val="370"/>
              </a:spcBef>
              <a:buFont typeface="Arial MT"/>
              <a:buAutoNum type="alphaLcPeriod"/>
            </a:pPr>
            <a:endParaRPr sz="1600" dirty="0">
              <a:latin typeface="Arial MT"/>
              <a:cs typeface="Arial MT"/>
            </a:endParaRPr>
          </a:p>
          <a:p>
            <a:pPr marL="927100" marR="292100" lvl="1" indent="-398145">
              <a:lnSpc>
                <a:spcPct val="114999"/>
              </a:lnSpc>
              <a:buAutoNum type="alphaLcPeriod"/>
              <a:tabLst>
                <a:tab pos="927100" algn="l"/>
              </a:tabLst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dirty="0">
                <a:latin typeface="Arial"/>
                <a:cs typeface="Arial"/>
              </a:rPr>
              <a:t>child</a:t>
            </a:r>
            <a:r>
              <a:rPr sz="1600" b="1" spc="-25" dirty="0">
                <a:latin typeface="Arial"/>
                <a:cs typeface="Arial"/>
              </a:rPr>
              <a:t> </a:t>
            </a:r>
            <a:r>
              <a:rPr sz="1600" dirty="0">
                <a:latin typeface="Arial MT"/>
                <a:cs typeface="Arial MT"/>
              </a:rPr>
              <a:t>closes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writing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end </a:t>
            </a: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pipefd[1]</a:t>
            </a:r>
            <a:r>
              <a:rPr sz="1600" spc="-10" dirty="0">
                <a:latin typeface="Arial MT"/>
                <a:cs typeface="Arial MT"/>
              </a:rPr>
              <a:t>)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since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only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reads.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5250" y="1215777"/>
            <a:ext cx="6949549" cy="539609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B85825C2-6466-C048-0165-ED74FB7A22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390225" cy="681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Basic</a:t>
            </a:r>
            <a:r>
              <a:rPr sz="2000" spc="-50" dirty="0"/>
              <a:t> </a:t>
            </a:r>
            <a:r>
              <a:rPr sz="2000" dirty="0"/>
              <a:t>Pipe</a:t>
            </a:r>
            <a:r>
              <a:rPr sz="2000" spc="-45" dirty="0"/>
              <a:t> </a:t>
            </a:r>
            <a:r>
              <a:rPr sz="2000" spc="-10" dirty="0"/>
              <a:t>Communication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190597"/>
            <a:ext cx="4197350" cy="39816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351790">
              <a:lnSpc>
                <a:spcPct val="114999"/>
              </a:lnSpc>
              <a:spcBef>
                <a:spcPts val="1380"/>
              </a:spcBef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buffer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character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array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(of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size</a:t>
            </a:r>
            <a:r>
              <a:rPr sz="1600" spc="-20" dirty="0">
                <a:latin typeface="Arial MT"/>
                <a:cs typeface="Arial MT"/>
              </a:rPr>
              <a:t> 100)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temporary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storage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for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being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interprocess </a:t>
            </a:r>
            <a:r>
              <a:rPr sz="1600" dirty="0">
                <a:latin typeface="Arial MT"/>
                <a:cs typeface="Arial MT"/>
              </a:rPr>
              <a:t>communication</a:t>
            </a:r>
            <a:r>
              <a:rPr sz="1600" spc="-6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(IPC).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65"/>
              </a:spcBef>
              <a:buFont typeface="Arial MT"/>
              <a:buChar char="●"/>
            </a:pPr>
            <a:endParaRPr sz="1600" dirty="0">
              <a:latin typeface="Arial MT"/>
              <a:cs typeface="Arial MT"/>
            </a:endParaRPr>
          </a:p>
          <a:p>
            <a:pPr marL="469900" marR="50800" indent="-35179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Child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</a:t>
            </a:r>
            <a:r>
              <a:rPr sz="1600" spc="-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uses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read()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Arial MT"/>
                <a:cs typeface="Arial MT"/>
              </a:rPr>
              <a:t>system </a:t>
            </a:r>
            <a:r>
              <a:rPr sz="1600" dirty="0">
                <a:latin typeface="Arial MT"/>
                <a:cs typeface="Arial MT"/>
              </a:rPr>
              <a:t>call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end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the </a:t>
            </a:r>
            <a:r>
              <a:rPr sz="1600" dirty="0">
                <a:latin typeface="Arial MT"/>
                <a:cs typeface="Arial MT"/>
              </a:rPr>
              <a:t>pipe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(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pipefd[0]</a:t>
            </a:r>
            <a:r>
              <a:rPr sz="1600" spc="-10" dirty="0">
                <a:latin typeface="Arial MT"/>
                <a:cs typeface="Arial MT"/>
              </a:rPr>
              <a:t>)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stores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data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buffer</a:t>
            </a:r>
            <a:r>
              <a:rPr sz="1600" spc="-10" dirty="0">
                <a:latin typeface="Arial MT"/>
                <a:cs typeface="Arial MT"/>
              </a:rPr>
              <a:t>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 MT"/>
              <a:buChar char="●"/>
            </a:pPr>
            <a:endParaRPr sz="1600" dirty="0">
              <a:latin typeface="Arial MT"/>
              <a:cs typeface="Arial MT"/>
            </a:endParaRPr>
          </a:p>
          <a:p>
            <a:pPr marL="469900" marR="51435" indent="-351790">
              <a:lnSpc>
                <a:spcPct val="114999"/>
              </a:lnSpc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buffer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used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temporarily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store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string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"Hello</a:t>
            </a:r>
            <a:r>
              <a:rPr sz="1600" b="1" spc="-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from</a:t>
            </a:r>
            <a:r>
              <a:rPr sz="1600" b="1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parent"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that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is </a:t>
            </a:r>
            <a:r>
              <a:rPr sz="1600" dirty="0">
                <a:latin typeface="Arial MT"/>
                <a:cs typeface="Arial MT"/>
              </a:rPr>
              <a:t>sent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parent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through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dirty="0">
                <a:latin typeface="Arial MT"/>
                <a:cs typeface="Arial MT"/>
              </a:rPr>
              <a:t>pipe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child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process.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5250" y="1215777"/>
            <a:ext cx="6949549" cy="53960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>
            <a:extLst>
              <a:ext uri="{FF2B5EF4-FFF2-40B4-BE49-F238E27FC236}">
                <a16:creationId xmlns:a16="http://schemas.microsoft.com/office/drawing/2014/main" id="{23244B66-1811-3EF2-194C-7768727DD9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375" y="1415541"/>
            <a:ext cx="4390225" cy="6819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>
              <a:lnSpc>
                <a:spcPts val="2285"/>
              </a:lnSpc>
            </a:pPr>
            <a:r>
              <a:rPr sz="2000" dirty="0"/>
              <a:t>Basic</a:t>
            </a:r>
            <a:r>
              <a:rPr sz="2000" spc="-50" dirty="0"/>
              <a:t> </a:t>
            </a:r>
            <a:r>
              <a:rPr sz="2000" dirty="0"/>
              <a:t>Pipe</a:t>
            </a:r>
            <a:r>
              <a:rPr sz="2000" spc="-45" dirty="0"/>
              <a:t> </a:t>
            </a:r>
            <a:r>
              <a:rPr sz="2000" spc="-10" dirty="0"/>
              <a:t>Communication</a:t>
            </a:r>
            <a:endParaRPr sz="2000" dirty="0"/>
          </a:p>
        </p:txBody>
      </p:sp>
      <p:sp>
        <p:nvSpPr>
          <p:cNvPr id="3" name="object 3"/>
          <p:cNvSpPr txBox="1"/>
          <p:nvPr/>
        </p:nvSpPr>
        <p:spPr>
          <a:xfrm>
            <a:off x="410375" y="2316605"/>
            <a:ext cx="4156710" cy="4084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1600" b="1" dirty="0">
                <a:latin typeface="Arial"/>
                <a:cs typeface="Arial"/>
              </a:rPr>
              <a:t>Communication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between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Parent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dirty="0">
                <a:latin typeface="Arial"/>
                <a:cs typeface="Arial"/>
              </a:rPr>
              <a:t>and</a:t>
            </a:r>
            <a:r>
              <a:rPr sz="1600" b="1" spc="-30" dirty="0">
                <a:latin typeface="Arial"/>
                <a:cs typeface="Arial"/>
              </a:rPr>
              <a:t> </a:t>
            </a:r>
            <a:r>
              <a:rPr sz="1600" b="1" spc="-10" dirty="0">
                <a:latin typeface="Arial"/>
                <a:cs typeface="Arial"/>
              </a:rPr>
              <a:t>Child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 marL="469900" marR="33655" indent="-351790">
              <a:lnSpc>
                <a:spcPct val="114999"/>
              </a:lnSpc>
              <a:spcBef>
                <a:spcPts val="1200"/>
              </a:spcBef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parent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string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"Hello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from</a:t>
            </a:r>
            <a:r>
              <a:rPr sz="1600" b="1" spc="-5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parent"</a:t>
            </a:r>
            <a:r>
              <a:rPr sz="1600" b="1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written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pipe </a:t>
            </a:r>
            <a:r>
              <a:rPr sz="1600" dirty="0">
                <a:latin typeface="Arial MT"/>
                <a:cs typeface="Arial MT"/>
              </a:rPr>
              <a:t>using</a:t>
            </a:r>
            <a:r>
              <a:rPr sz="1600" spc="-85" dirty="0">
                <a:latin typeface="Arial MT"/>
                <a:cs typeface="Arial MT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write(pipefd[1],</a:t>
            </a:r>
            <a:r>
              <a:rPr sz="1600" b="1" spc="-17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"Hello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from</a:t>
            </a:r>
            <a:r>
              <a:rPr sz="1600" b="1" spc="-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parent",</a:t>
            </a:r>
            <a:r>
              <a:rPr sz="1600" b="1" spc="-8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17)</a:t>
            </a:r>
            <a:r>
              <a:rPr sz="1600" b="1" dirty="0">
                <a:latin typeface="Arial MT"/>
                <a:cs typeface="Arial MT"/>
              </a:rPr>
              <a:t>.</a:t>
            </a:r>
            <a:r>
              <a:rPr sz="1600" b="1" spc="-7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write() </a:t>
            </a:r>
            <a:r>
              <a:rPr sz="1600" dirty="0">
                <a:latin typeface="Arial MT"/>
                <a:cs typeface="Arial MT"/>
              </a:rPr>
              <a:t>system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call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sends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17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bytes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into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0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pipe.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70"/>
              </a:spcBef>
              <a:buFont typeface="Arial MT"/>
              <a:buChar char="●"/>
            </a:pPr>
            <a:endParaRPr sz="1600" dirty="0">
              <a:latin typeface="Arial MT"/>
              <a:cs typeface="Arial MT"/>
            </a:endParaRPr>
          </a:p>
          <a:p>
            <a:pPr marL="469900" marR="133985" indent="-35179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600" dirty="0">
                <a:latin typeface="Arial MT"/>
                <a:cs typeface="Arial MT"/>
              </a:rPr>
              <a:t>In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child</a:t>
            </a:r>
            <a:r>
              <a:rPr sz="1600" spc="-4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process,</a:t>
            </a:r>
            <a:r>
              <a:rPr sz="1600" spc="-5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the </a:t>
            </a:r>
            <a:r>
              <a:rPr sz="1600" b="1" dirty="0">
                <a:solidFill>
                  <a:srgbClr val="188037"/>
                </a:solidFill>
                <a:latin typeface="Courier New"/>
                <a:cs typeface="Courier New"/>
              </a:rPr>
              <a:t>read(pipefd[0],</a:t>
            </a:r>
            <a:r>
              <a:rPr sz="1600" b="1" spc="-2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b="1" spc="-10" dirty="0">
                <a:solidFill>
                  <a:srgbClr val="188037"/>
                </a:solidFill>
                <a:latin typeface="Courier New"/>
                <a:cs typeface="Courier New"/>
              </a:rPr>
              <a:t>buffer,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sizeof(buffer))</a:t>
            </a:r>
            <a:r>
              <a:rPr sz="1600" b="1" spc="-51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dirty="0">
                <a:latin typeface="Arial MT"/>
                <a:cs typeface="Arial MT"/>
              </a:rPr>
              <a:t>call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reads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5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data </a:t>
            </a:r>
            <a:r>
              <a:rPr sz="1600" dirty="0">
                <a:latin typeface="Arial MT"/>
                <a:cs typeface="Arial MT"/>
              </a:rPr>
              <a:t>from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pipe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b="1" spc="-20" dirty="0">
                <a:solidFill>
                  <a:srgbClr val="188037"/>
                </a:solidFill>
                <a:latin typeface="Courier New"/>
                <a:cs typeface="Courier New"/>
              </a:rPr>
              <a:t>buffer</a:t>
            </a:r>
            <a:r>
              <a:rPr sz="1600" spc="-520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600" spc="-10" dirty="0">
                <a:latin typeface="Arial MT"/>
                <a:cs typeface="Arial MT"/>
              </a:rPr>
              <a:t>array. </a:t>
            </a:r>
            <a:r>
              <a:rPr sz="1600" dirty="0">
                <a:latin typeface="Arial MT"/>
                <a:cs typeface="Arial MT"/>
              </a:rPr>
              <a:t>After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reading,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it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prints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message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5" dirty="0">
                <a:latin typeface="Arial MT"/>
                <a:cs typeface="Arial MT"/>
              </a:rPr>
              <a:t>to </a:t>
            </a:r>
            <a:r>
              <a:rPr sz="1600" spc="-10" dirty="0">
                <a:latin typeface="Arial MT"/>
                <a:cs typeface="Arial MT"/>
              </a:rPr>
              <a:t>standard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55250" y="1215777"/>
            <a:ext cx="6949549" cy="539609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70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Introduction</a:t>
            </a:r>
            <a:r>
              <a:rPr spc="-6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spc="-10" dirty="0"/>
              <a:t>Pipes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00899" y="2155346"/>
            <a:ext cx="3783965" cy="414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30480" indent="-367030">
              <a:lnSpc>
                <a:spcPct val="15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sz="1800" spc="-95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allow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bidirectional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communication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,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we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need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use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two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pipes.</a:t>
            </a:r>
            <a:endParaRPr sz="1800">
              <a:latin typeface="Arial MT"/>
              <a:cs typeface="Arial MT"/>
            </a:endParaRPr>
          </a:p>
          <a:p>
            <a:pPr marL="379095" marR="257810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parent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uses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p2cfd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send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data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child.</a:t>
            </a:r>
            <a:endParaRPr sz="1800">
              <a:latin typeface="Arial MT"/>
              <a:cs typeface="Arial MT"/>
            </a:endParaRPr>
          </a:p>
          <a:p>
            <a:pPr marL="379095" marR="5080" indent="-367030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Responses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from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child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use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the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other</a:t>
            </a:r>
            <a:r>
              <a:rPr sz="1800" spc="-3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pipe,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identified</a:t>
            </a:r>
            <a:r>
              <a:rPr sz="1800" spc="-2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by</a:t>
            </a:r>
            <a:r>
              <a:rPr sz="1800" spc="-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c2pfd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  <a:p>
            <a:pPr marL="377825" marR="54610" indent="-365760" algn="just">
              <a:lnSpc>
                <a:spcPct val="150000"/>
              </a:lnSpc>
              <a:buChar char="●"/>
              <a:tabLst>
                <a:tab pos="379095" algn="l"/>
              </a:tabLst>
            </a:pP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In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both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cases,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calls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to</a:t>
            </a:r>
            <a:r>
              <a:rPr sz="1800" spc="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write() 	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use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index</a:t>
            </a:r>
            <a:r>
              <a:rPr sz="1800" b="1" spc="-1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1</a:t>
            </a:r>
            <a:r>
              <a:rPr sz="1800" b="1" spc="-5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0F2044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0F2044"/>
                </a:solidFill>
                <a:latin typeface="Arial MT"/>
                <a:cs typeface="Arial MT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read()</a:t>
            </a:r>
            <a:r>
              <a:rPr sz="1800" b="1" spc="-10" dirty="0">
                <a:solidFill>
                  <a:srgbClr val="0F2044"/>
                </a:solidFill>
                <a:latin typeface="Arial"/>
                <a:cs typeface="Arial"/>
              </a:rPr>
              <a:t> calls 	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use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0F2044"/>
                </a:solidFill>
                <a:latin typeface="Arial"/>
                <a:cs typeface="Arial"/>
              </a:rPr>
              <a:t>index</a:t>
            </a:r>
            <a:r>
              <a:rPr sz="1800" b="1" spc="-20" dirty="0">
                <a:solidFill>
                  <a:srgbClr val="0F2044"/>
                </a:solidFill>
                <a:latin typeface="Arial"/>
                <a:cs typeface="Arial"/>
              </a:rPr>
              <a:t> </a:t>
            </a:r>
            <a:r>
              <a:rPr sz="1800" b="1" spc="-25" dirty="0">
                <a:solidFill>
                  <a:srgbClr val="0F2044"/>
                </a:solidFill>
                <a:latin typeface="Arial"/>
                <a:cs typeface="Arial"/>
              </a:rPr>
              <a:t>0</a:t>
            </a:r>
            <a:r>
              <a:rPr sz="1800" spc="-25" dirty="0">
                <a:solidFill>
                  <a:srgbClr val="0F2044"/>
                </a:solidFill>
                <a:latin typeface="Arial MT"/>
                <a:cs typeface="Arial MT"/>
              </a:rPr>
              <a:t>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5" name="object 5" descr="A conceptual diagram of full-duplex communication between a parent and child process using two separate pipes: one for &quot;Parent-to-child&quot; and one for &quot;Child-to-parent&quot;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3275" y="2629804"/>
            <a:ext cx="7314752" cy="2604995"/>
          </a:xfrm>
          <a:prstGeom prst="rect">
            <a:avLst/>
          </a:prstGeom>
        </p:spPr>
      </p:pic>
      <p:sp>
        <p:nvSpPr>
          <p:cNvPr id="3" name="objec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6782375" y="5583695"/>
            <a:ext cx="206248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dirty="0">
                <a:latin typeface="Arial MT"/>
                <a:cs typeface="Arial MT"/>
              </a:rPr>
              <a:t>Image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credit</a:t>
            </a:r>
            <a:r>
              <a:rPr sz="1000" spc="-20" dirty="0">
                <a:latin typeface="Arial MT"/>
                <a:cs typeface="Arial MT"/>
              </a:rPr>
              <a:t> </a:t>
            </a:r>
            <a:r>
              <a:rPr sz="1000" dirty="0">
                <a:latin typeface="Arial MT"/>
                <a:cs typeface="Arial MT"/>
              </a:rPr>
              <a:t>-</a:t>
            </a:r>
            <a:r>
              <a:rPr sz="1000" spc="-25" dirty="0">
                <a:latin typeface="Arial MT"/>
                <a:cs typeface="Arial MT"/>
              </a:rPr>
              <a:t> </a:t>
            </a:r>
            <a:r>
              <a:rPr sz="1000" spc="-10" dirty="0">
                <a:latin typeface="Arial MT"/>
                <a:cs typeface="Arial MT"/>
              </a:rPr>
              <a:t>https://w3.cs.jmu.edu/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0375" y="1457480"/>
            <a:ext cx="3905250" cy="95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 marR="5080">
              <a:lnSpc>
                <a:spcPts val="2160"/>
              </a:lnSpc>
              <a:spcBef>
                <a:spcPts val="155"/>
              </a:spcBef>
            </a:pPr>
            <a:r>
              <a:rPr sz="2000" spc="-10" dirty="0"/>
              <a:t>Bidirectional</a:t>
            </a:r>
            <a:r>
              <a:rPr sz="2000" spc="-65" dirty="0"/>
              <a:t> </a:t>
            </a:r>
            <a:r>
              <a:rPr sz="2000" spc="-10" dirty="0"/>
              <a:t>Communication</a:t>
            </a:r>
            <a:r>
              <a:rPr sz="2000" spc="-65" dirty="0"/>
              <a:t> </a:t>
            </a:r>
            <a:r>
              <a:rPr sz="2000" spc="-20" dirty="0"/>
              <a:t>with </a:t>
            </a:r>
            <a:r>
              <a:rPr sz="2000" dirty="0"/>
              <a:t>Two</a:t>
            </a:r>
            <a:r>
              <a:rPr sz="2000" spc="-15" dirty="0"/>
              <a:t> </a:t>
            </a:r>
            <a:r>
              <a:rPr sz="2000" spc="-10" dirty="0"/>
              <a:t>Pipes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410375" y="2777002"/>
            <a:ext cx="6192520" cy="3164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985">
              <a:lnSpc>
                <a:spcPct val="114999"/>
              </a:lnSpc>
              <a:spcBef>
                <a:spcPts val="100"/>
              </a:spcBef>
            </a:pPr>
            <a:r>
              <a:rPr sz="1700" spc="-40" dirty="0">
                <a:latin typeface="Arial MT"/>
                <a:cs typeface="Arial MT"/>
              </a:rPr>
              <a:t>Two-</a:t>
            </a:r>
            <a:r>
              <a:rPr sz="1700" dirty="0">
                <a:latin typeface="Arial MT"/>
                <a:cs typeface="Arial MT"/>
              </a:rPr>
              <a:t>way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communication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between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parent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child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two </a:t>
            </a:r>
            <a:r>
              <a:rPr sz="1700" spc="-10" dirty="0">
                <a:latin typeface="Arial MT"/>
                <a:cs typeface="Arial MT"/>
              </a:rPr>
              <a:t>pipes.</a:t>
            </a:r>
            <a:endParaRPr sz="1700" dirty="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505"/>
              </a:spcBef>
              <a:buChar char="●"/>
              <a:tabLst>
                <a:tab pos="469265" algn="l"/>
              </a:tabLst>
            </a:pPr>
            <a:r>
              <a:rPr sz="1700" spc="-10" dirty="0">
                <a:latin typeface="Arial MT"/>
                <a:cs typeface="Arial MT"/>
              </a:rPr>
              <a:t>Two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pipes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enable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full-</a:t>
            </a:r>
            <a:r>
              <a:rPr sz="1700" dirty="0">
                <a:latin typeface="Arial MT"/>
                <a:cs typeface="Arial MT"/>
              </a:rPr>
              <a:t>duplex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communication.</a:t>
            </a:r>
            <a:endParaRPr sz="17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90"/>
              </a:spcBef>
              <a:buFont typeface="Arial MT"/>
              <a:buChar char="●"/>
            </a:pPr>
            <a:endParaRPr sz="1700" dirty="0">
              <a:latin typeface="Arial MT"/>
              <a:cs typeface="Arial MT"/>
            </a:endParaRPr>
          </a:p>
          <a:p>
            <a:pPr marL="469900" marR="5080" indent="-359410">
              <a:lnSpc>
                <a:spcPct val="114999"/>
              </a:lnSpc>
              <a:buChar char="●"/>
              <a:tabLst>
                <a:tab pos="469900" algn="l"/>
              </a:tabLst>
            </a:pPr>
            <a:r>
              <a:rPr sz="1700" dirty="0">
                <a:latin typeface="Arial MT"/>
                <a:cs typeface="Arial MT"/>
              </a:rPr>
              <a:t>Parent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writes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child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through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pipe1</a:t>
            </a:r>
            <a:r>
              <a:rPr sz="1700" dirty="0">
                <a:latin typeface="Arial MT"/>
                <a:cs typeface="Arial MT"/>
              </a:rPr>
              <a:t>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child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responds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b="1" spc="-10" dirty="0">
                <a:latin typeface="Arial"/>
                <a:cs typeface="Arial"/>
              </a:rPr>
              <a:t>pipe2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700" spc="-10" dirty="0">
                <a:latin typeface="Arial MT"/>
                <a:cs typeface="Arial MT"/>
              </a:rPr>
              <a:t>Two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pipes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pipe()</a:t>
            </a:r>
            <a:r>
              <a:rPr sz="1700" b="1" spc="-10" dirty="0">
                <a:latin typeface="Arial MT"/>
                <a:cs typeface="Arial MT"/>
              </a:rPr>
              <a:t>.</a:t>
            </a:r>
            <a:endParaRPr sz="1700" b="1" dirty="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1510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pipe1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communication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parent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to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child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Font typeface="Arial MT"/>
              <a:buChar char="●"/>
              <a:tabLst>
                <a:tab pos="469265" algn="l"/>
              </a:tabLst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pipe2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communication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b="1" dirty="0">
                <a:latin typeface="Arial"/>
                <a:cs typeface="Arial"/>
              </a:rPr>
              <a:t>child</a:t>
            </a:r>
            <a:r>
              <a:rPr sz="1700" b="1" spc="-45" dirty="0">
                <a:latin typeface="Arial"/>
                <a:cs typeface="Arial"/>
              </a:rPr>
              <a:t> </a:t>
            </a:r>
            <a:r>
              <a:rPr sz="1700" b="1" dirty="0">
                <a:latin typeface="Arial"/>
                <a:cs typeface="Arial"/>
              </a:rPr>
              <a:t>to</a:t>
            </a:r>
            <a:r>
              <a:rPr sz="1700" b="1" spc="-40" dirty="0">
                <a:latin typeface="Arial"/>
                <a:cs typeface="Arial"/>
              </a:rPr>
              <a:t> </a:t>
            </a:r>
            <a:r>
              <a:rPr sz="1700" b="1" spc="-10" dirty="0">
                <a:latin typeface="Arial"/>
                <a:cs typeface="Arial"/>
              </a:rPr>
              <a:t>parent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</p:txBody>
      </p:sp>
      <p:pic>
        <p:nvPicPr>
          <p:cNvPr id="2" name="object 2" descr="A C code snippet implementing the two-pipe communication model, showing both processes closing unused file descriptors to facilitate bidirectional messaging.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9950" y="902850"/>
            <a:ext cx="4716550" cy="586099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3">
            <a:extLst>
              <a:ext uri="{FF2B5EF4-FFF2-40B4-BE49-F238E27FC236}">
                <a16:creationId xmlns:a16="http://schemas.microsoft.com/office/drawing/2014/main" id="{2CC96D0A-2E24-4C43-30AD-6A3693426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0375" y="1457480"/>
            <a:ext cx="3905250" cy="956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5"/>
              </a:lnSpc>
              <a:spcBef>
                <a:spcPts val="100"/>
              </a:spcBef>
            </a:pPr>
            <a:r>
              <a:rPr spc="-10" dirty="0"/>
              <a:t>Pipes</a:t>
            </a:r>
          </a:p>
          <a:p>
            <a:pPr marL="12700" marR="5080">
              <a:lnSpc>
                <a:spcPts val="2160"/>
              </a:lnSpc>
              <a:spcBef>
                <a:spcPts val="155"/>
              </a:spcBef>
            </a:pPr>
            <a:r>
              <a:rPr sz="2000" spc="-10" dirty="0"/>
              <a:t>Bidirectional</a:t>
            </a:r>
            <a:r>
              <a:rPr sz="2000" spc="-65" dirty="0"/>
              <a:t> </a:t>
            </a:r>
            <a:r>
              <a:rPr sz="2000" spc="-10" dirty="0"/>
              <a:t>Communication</a:t>
            </a:r>
            <a:r>
              <a:rPr sz="2000" spc="-65" dirty="0"/>
              <a:t> </a:t>
            </a:r>
            <a:r>
              <a:rPr sz="2000" spc="-20" dirty="0"/>
              <a:t>with </a:t>
            </a:r>
            <a:r>
              <a:rPr sz="2000" dirty="0"/>
              <a:t>Two</a:t>
            </a:r>
            <a:r>
              <a:rPr sz="2000" spc="-15" dirty="0"/>
              <a:t> </a:t>
            </a:r>
            <a:r>
              <a:rPr sz="2000" spc="-10" dirty="0"/>
              <a:t>Pipes</a:t>
            </a:r>
            <a:endParaRPr sz="2000" dirty="0"/>
          </a:p>
        </p:txBody>
      </p:sp>
      <p:sp>
        <p:nvSpPr>
          <p:cNvPr id="4" name="object 4"/>
          <p:cNvSpPr txBox="1"/>
          <p:nvPr/>
        </p:nvSpPr>
        <p:spPr>
          <a:xfrm>
            <a:off x="410375" y="2590800"/>
            <a:ext cx="6129020" cy="3814634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 marR="398780">
              <a:lnSpc>
                <a:spcPct val="114999"/>
              </a:lnSpc>
              <a:spcBef>
                <a:spcPts val="1130"/>
              </a:spcBef>
            </a:pPr>
            <a:r>
              <a:rPr sz="1700" dirty="0">
                <a:latin typeface="Arial MT"/>
                <a:cs typeface="Arial MT"/>
              </a:rPr>
              <a:t>Pipes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are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implemented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using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two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descriptors: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fd[0]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dirty="0">
                <a:latin typeface="Arial MT"/>
                <a:cs typeface="Arial MT"/>
              </a:rPr>
              <a:t>reading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fd[1]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writing.</a:t>
            </a:r>
            <a:endParaRPr sz="1700" dirty="0">
              <a:latin typeface="Arial MT"/>
              <a:cs typeface="Arial MT"/>
            </a:endParaRPr>
          </a:p>
          <a:p>
            <a:pPr marL="469900" marR="378460" indent="-359410">
              <a:lnSpc>
                <a:spcPct val="114999"/>
              </a:lnSpc>
              <a:spcBef>
                <a:spcPts val="1200"/>
              </a:spcBef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pipe(pipe1)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pipe(pipe2)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two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pipes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for </a:t>
            </a:r>
            <a:r>
              <a:rPr sz="1700" spc="-10" dirty="0">
                <a:latin typeface="Arial MT"/>
                <a:cs typeface="Arial MT"/>
              </a:rPr>
              <a:t>bidirectional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communication.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Font typeface="Arial MT"/>
              <a:buChar char="○"/>
              <a:tabLst>
                <a:tab pos="926465" algn="l"/>
              </a:tabLst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pipe1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data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flow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parent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child.</a:t>
            </a:r>
            <a:endParaRPr sz="1700" dirty="0">
              <a:latin typeface="Arial MT"/>
              <a:cs typeface="Arial MT"/>
            </a:endParaRPr>
          </a:p>
          <a:p>
            <a:pPr marL="926465" lvl="1" indent="-358775">
              <a:lnSpc>
                <a:spcPct val="100000"/>
              </a:lnSpc>
              <a:spcBef>
                <a:spcPts val="305"/>
              </a:spcBef>
              <a:buClr>
                <a:srgbClr val="000000"/>
              </a:buClr>
              <a:buFont typeface="Arial MT"/>
              <a:buChar char="○"/>
              <a:tabLst>
                <a:tab pos="926465" algn="l"/>
              </a:tabLst>
            </a:pP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pipe2</a:t>
            </a:r>
            <a:r>
              <a:rPr sz="1700" dirty="0">
                <a:latin typeface="Arial MT"/>
                <a:cs typeface="Arial MT"/>
              </a:rPr>
              <a:t>: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data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flow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child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parent.</a:t>
            </a:r>
            <a:endParaRPr sz="17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510"/>
              </a:spcBef>
            </a:pPr>
            <a:r>
              <a:rPr sz="1700" dirty="0">
                <a:latin typeface="Arial MT"/>
                <a:cs typeface="Arial MT"/>
              </a:rPr>
              <a:t>Each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pipe()</a:t>
            </a:r>
            <a:r>
              <a:rPr sz="1700" b="1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system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call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creates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two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file</a:t>
            </a:r>
            <a:r>
              <a:rPr sz="1700" spc="-3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descriptors:</a:t>
            </a:r>
            <a:endParaRPr sz="1700" dirty="0">
              <a:latin typeface="Arial MT"/>
              <a:cs typeface="Arial MT"/>
            </a:endParaRPr>
          </a:p>
          <a:p>
            <a:pPr marL="469900" marR="5080" indent="-359410">
              <a:lnSpc>
                <a:spcPct val="114999"/>
              </a:lnSpc>
              <a:spcBef>
                <a:spcPts val="1200"/>
              </a:spcBef>
              <a:buClr>
                <a:srgbClr val="000000"/>
              </a:buClr>
              <a:buFont typeface="Arial MT"/>
              <a:buChar char="●"/>
              <a:tabLst>
                <a:tab pos="469900" algn="l"/>
              </a:tabLst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pipe1[0]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reading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pipe1</a:t>
            </a:r>
            <a:r>
              <a:rPr sz="1700" dirty="0">
                <a:latin typeface="Arial MT"/>
                <a:cs typeface="Arial MT"/>
              </a:rPr>
              <a:t>,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15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pipe1[1]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25" dirty="0">
                <a:latin typeface="Arial MT"/>
                <a:cs typeface="Arial MT"/>
              </a:rPr>
              <a:t> for </a:t>
            </a:r>
            <a:r>
              <a:rPr sz="1700" dirty="0">
                <a:latin typeface="Arial MT"/>
                <a:cs typeface="Arial MT"/>
              </a:rPr>
              <a:t>writing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pipe1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  <a:p>
            <a:pPr marL="469265" indent="-358775">
              <a:lnSpc>
                <a:spcPct val="100000"/>
              </a:lnSpc>
              <a:spcBef>
                <a:spcPts val="305"/>
              </a:spcBef>
              <a:buChar char="●"/>
              <a:tabLst>
                <a:tab pos="469265" algn="l"/>
              </a:tabLst>
            </a:pPr>
            <a:r>
              <a:rPr sz="1700" spc="-10" dirty="0">
                <a:latin typeface="Arial MT"/>
                <a:cs typeface="Arial MT"/>
              </a:rPr>
              <a:t>Similarly,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pipe2[0]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reading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from</a:t>
            </a:r>
            <a:r>
              <a:rPr sz="1700" spc="-25" dirty="0">
                <a:latin typeface="Arial MT"/>
                <a:cs typeface="Arial MT"/>
              </a:rPr>
              <a:t> </a:t>
            </a:r>
            <a:r>
              <a:rPr sz="1700" b="1" dirty="0">
                <a:solidFill>
                  <a:srgbClr val="188037"/>
                </a:solidFill>
                <a:latin typeface="Courier New"/>
                <a:cs typeface="Courier New"/>
              </a:rPr>
              <a:t>pipe2</a:t>
            </a:r>
            <a:r>
              <a:rPr sz="1700" dirty="0">
                <a:latin typeface="Arial MT"/>
                <a:cs typeface="Arial MT"/>
              </a:rPr>
              <a:t>,</a:t>
            </a:r>
            <a:r>
              <a:rPr sz="1700" spc="-3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</a:t>
            </a:r>
            <a:endParaRPr sz="1700" dirty="0">
              <a:latin typeface="Arial MT"/>
              <a:cs typeface="Arial MT"/>
            </a:endParaRPr>
          </a:p>
          <a:p>
            <a:pPr marL="469900">
              <a:lnSpc>
                <a:spcPct val="100000"/>
              </a:lnSpc>
              <a:spcBef>
                <a:spcPts val="305"/>
              </a:spcBef>
            </a:pPr>
            <a:r>
              <a:rPr sz="1700" b="1" spc="-20" dirty="0">
                <a:solidFill>
                  <a:srgbClr val="188037"/>
                </a:solidFill>
                <a:latin typeface="Courier New"/>
                <a:cs typeface="Courier New"/>
              </a:rPr>
              <a:t>pipe2[1]</a:t>
            </a:r>
            <a:r>
              <a:rPr sz="1700" spc="-555" dirty="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sz="1700" dirty="0">
                <a:latin typeface="Arial MT"/>
                <a:cs typeface="Arial MT"/>
              </a:rPr>
              <a:t>is</a:t>
            </a:r>
            <a:r>
              <a:rPr sz="1700" spc="-2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writing</a:t>
            </a:r>
            <a:r>
              <a:rPr sz="1700" spc="-1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" dirty="0">
                <a:latin typeface="Arial MT"/>
                <a:cs typeface="Arial MT"/>
              </a:rPr>
              <a:t> </a:t>
            </a:r>
            <a:r>
              <a:rPr sz="1700" b="1" spc="-10" dirty="0">
                <a:solidFill>
                  <a:srgbClr val="188037"/>
                </a:solidFill>
                <a:latin typeface="Courier New"/>
                <a:cs typeface="Courier New"/>
              </a:rPr>
              <a:t>pipe2</a:t>
            </a:r>
            <a:r>
              <a:rPr sz="1700" spc="-10" dirty="0">
                <a:latin typeface="Arial MT"/>
                <a:cs typeface="Arial MT"/>
              </a:rPr>
              <a:t>.</a:t>
            </a:r>
            <a:endParaRPr sz="1700" dirty="0">
              <a:latin typeface="Arial MT"/>
              <a:cs typeface="Arial MT"/>
            </a:endParaRPr>
          </a:p>
        </p:txBody>
      </p:sp>
      <p:pic>
        <p:nvPicPr>
          <p:cNvPr id="2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9950" y="902850"/>
            <a:ext cx="4716550" cy="5860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2761ec8-7198-4440-bea0-e9dd2af28b51}" enabled="1" method="Standard" siteId="{73e15cf5-5dbb-46af-a862-753916269d7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Words>1799</Words>
  <Application>Microsoft Office PowerPoint</Application>
  <PresentationFormat>Widescreen</PresentationFormat>
  <Paragraphs>154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Arial MT</vt:lpstr>
      <vt:lpstr>Courier New</vt:lpstr>
      <vt:lpstr>Georgia</vt:lpstr>
      <vt:lpstr>Roboto</vt:lpstr>
      <vt:lpstr>Office Theme</vt:lpstr>
      <vt:lpstr>CSC 362: System Programming</vt:lpstr>
      <vt:lpstr>Status Check</vt:lpstr>
      <vt:lpstr>Orphan Process</vt:lpstr>
      <vt:lpstr>Orphan Process</vt:lpstr>
      <vt:lpstr>Interprocess Communication (IPC)</vt:lpstr>
      <vt:lpstr>Interprocess Communication (IPC)</vt:lpstr>
      <vt:lpstr>Interprocess Communication (IPC)</vt:lpstr>
      <vt:lpstr>Introduction to Pipes</vt:lpstr>
      <vt:lpstr>File Descriptors</vt:lpstr>
      <vt:lpstr>File Descriptors</vt:lpstr>
      <vt:lpstr>Introduction to Pipes</vt:lpstr>
      <vt:lpstr>Pipes Basic Pipe Communication</vt:lpstr>
      <vt:lpstr>Pipes Basic Pipe Communication</vt:lpstr>
      <vt:lpstr>Pipes Basic Pipe Communication</vt:lpstr>
      <vt:lpstr>Pipes Basic Pipe Communication</vt:lpstr>
      <vt:lpstr>Pipes Basic Pipe Communication</vt:lpstr>
      <vt:lpstr>Pipes Basic Pipe Communication</vt:lpstr>
      <vt:lpstr>Introduction to Pipes</vt:lpstr>
      <vt:lpstr>Pipes Bidirectional Communication with Two Pipes</vt:lpstr>
      <vt:lpstr>Pipes Bidirectional Communication with Two Pipes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CSC362 - Lecture 13.pptx</dc:title>
  <cp:lastModifiedBy>Richard Johnson</cp:lastModifiedBy>
  <cp:revision>25</cp:revision>
  <dcterms:created xsi:type="dcterms:W3CDTF">2026-01-14T00:59:56Z</dcterms:created>
  <dcterms:modified xsi:type="dcterms:W3CDTF">2026-02-27T19:33:16Z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2026-01-14T00:00:00Z</vt:filetime>
  </property>
</Properties>
</file>