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306" r:id="rId4"/>
    <p:sldId id="258" r:id="rId5"/>
    <p:sldId id="259" r:id="rId6"/>
    <p:sldId id="260" r:id="rId7"/>
    <p:sldId id="261" r:id="rId8"/>
    <p:sldId id="262" r:id="rId9"/>
    <p:sldId id="263" r:id="rId10"/>
    <p:sldId id="264" r:id="rId11"/>
    <p:sldId id="307" r:id="rId12"/>
    <p:sldId id="265" r:id="rId13"/>
    <p:sldId id="266" r:id="rId14"/>
    <p:sldId id="267" r:id="rId15"/>
    <p:sldId id="268" r:id="rId16"/>
    <p:sldId id="269" r:id="rId17"/>
    <p:sldId id="270" r:id="rId18"/>
    <p:sldId id="308"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5" autoAdjust="0"/>
    <p:restoredTop sz="78710" autoAdjust="0"/>
  </p:normalViewPr>
  <p:slideViewPr>
    <p:cSldViewPr>
      <p:cViewPr varScale="1">
        <p:scale>
          <a:sx n="62" d="100"/>
          <a:sy n="62" d="100"/>
        </p:scale>
        <p:origin x="1387" y="5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482A30E-9821-4A11-98BE-70F6C4243262}" type="datetimeFigureOut">
              <a:rPr lang="en-US" smtClean="0"/>
              <a:t>3/30/2026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15056E8-BAEA-47CE-9DA7-D78573A259E6}" type="slidenum">
              <a:rPr lang="en-US" smtClean="0"/>
              <a:t>‹#›</a:t>
            </a:fld>
            <a:endParaRPr lang="en-US"/>
          </a:p>
        </p:txBody>
      </p:sp>
    </p:spTree>
    <p:extLst>
      <p:ext uri="{BB962C8B-B14F-4D97-AF65-F5344CB8AC3E}">
        <p14:creationId xmlns:p14="http://schemas.microsoft.com/office/powerpoint/2010/main" val="358310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a:t>
            </a:fld>
            <a:endParaRPr lang="en-US"/>
          </a:p>
        </p:txBody>
      </p:sp>
    </p:spTree>
    <p:extLst>
      <p:ext uri="{BB962C8B-B14F-4D97-AF65-F5344CB8AC3E}">
        <p14:creationId xmlns:p14="http://schemas.microsoft.com/office/powerpoint/2010/main" val="1209733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processes are not ideal?:</a:t>
            </a:r>
            <a:r>
              <a:rPr lang="en-US" dirty="0"/>
              <a:t> </a:t>
            </a:r>
          </a:p>
          <a:p>
            <a:pPr marL="171450" indent="-171450">
              <a:buFont typeface="Arial" panose="020B0604020202020204" pitchFamily="34" charset="0"/>
              <a:buChar char="•"/>
            </a:pPr>
            <a:r>
              <a:rPr lang="en-US" dirty="0"/>
              <a:t>Processes have high overhead (e.g., 1.7 KB </a:t>
            </a:r>
            <a:r>
              <a:rPr lang="en-US" sz="1200" kern="1200" dirty="0" err="1">
                <a:solidFill>
                  <a:schemeClr val="tx1"/>
                </a:solidFill>
                <a:latin typeface="+mn-lt"/>
                <a:ea typeface="+mn-ea"/>
                <a:cs typeface="+mn-cs"/>
              </a:rPr>
              <a:t>task_struct</a:t>
            </a:r>
            <a:r>
              <a:rPr lang="en-US" dirty="0"/>
              <a:t> on Linux), </a:t>
            </a:r>
          </a:p>
          <a:p>
            <a:pPr marL="171450" indent="-171450">
              <a:buFont typeface="Arial" panose="020B0604020202020204" pitchFamily="34" charset="0"/>
              <a:buChar char="•"/>
            </a:pPr>
            <a:r>
              <a:rPr lang="en-US" dirty="0"/>
              <a:t>are expensive to create, </a:t>
            </a:r>
          </a:p>
          <a:p>
            <a:pPr marL="171450" indent="-171450">
              <a:buFont typeface="Arial" panose="020B0604020202020204" pitchFamily="34" charset="0"/>
              <a:buChar char="•"/>
            </a:pPr>
            <a:r>
              <a:rPr lang="en-US" dirty="0"/>
              <a:t>and do not directly share memory.</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4</a:t>
            </a:fld>
            <a:endParaRPr lang="en-US"/>
          </a:p>
        </p:txBody>
      </p:sp>
    </p:spTree>
    <p:extLst>
      <p:ext uri="{BB962C8B-B14F-4D97-AF65-F5344CB8AC3E}">
        <p14:creationId xmlns:p14="http://schemas.microsoft.com/office/powerpoint/2010/main" val="217671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Thread vs. Process (Definition):</a:t>
            </a:r>
            <a:r>
              <a:rPr lang="en-US" dirty="0"/>
              <a:t> </a:t>
            </a:r>
          </a:p>
          <a:p>
            <a:r>
              <a:rPr lang="en-US" dirty="0"/>
              <a:t>A thread is the smallest unit of execution within a process; </a:t>
            </a:r>
          </a:p>
          <a:p>
            <a:r>
              <a:rPr lang="en-US" dirty="0"/>
              <a:t>multiple threads can run concurrently within one process, </a:t>
            </a:r>
          </a:p>
          <a:p>
            <a:r>
              <a:rPr lang="en-US" dirty="0"/>
              <a:t>sharing memory but maintaining individual stacks.</a:t>
            </a:r>
          </a:p>
          <a:p>
            <a:endParaRPr lang="en-US" dirty="0"/>
          </a:p>
          <a:p>
            <a:r>
              <a:rPr lang="en-US" b="1" dirty="0"/>
              <a:t>Shared Resources:</a:t>
            </a:r>
            <a:r>
              <a:rPr lang="en-US" dirty="0"/>
              <a:t> </a:t>
            </a:r>
          </a:p>
          <a:p>
            <a:r>
              <a:rPr lang="en-US" dirty="0"/>
              <a:t>Threads within a process share the same address space and OS resources (code, data, files) </a:t>
            </a:r>
          </a:p>
          <a:p>
            <a:r>
              <a:rPr lang="en-US" dirty="0"/>
              <a:t>but have individual execution stacks and registers.</a:t>
            </a:r>
          </a:p>
          <a:p>
            <a:endParaRPr lang="en-US" dirty="0"/>
          </a:p>
          <a:p>
            <a:r>
              <a:rPr lang="en-US" b="1" dirty="0"/>
              <a:t>Architectural Comparison:</a:t>
            </a:r>
            <a:r>
              <a:rPr lang="en-US" dirty="0"/>
              <a:t> </a:t>
            </a:r>
          </a:p>
          <a:p>
            <a:r>
              <a:rPr lang="en-US" dirty="0"/>
              <a:t>In multithreading, </a:t>
            </a:r>
          </a:p>
          <a:p>
            <a:r>
              <a:rPr lang="en-US" dirty="0"/>
              <a:t>the thread becomes the unit of CPU scheduling, </a:t>
            </a:r>
          </a:p>
          <a:p>
            <a:r>
              <a:rPr lang="en-US" dirty="0"/>
              <a:t>while the process acts as a container for resources.</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5</a:t>
            </a:fld>
            <a:endParaRPr lang="en-US"/>
          </a:p>
        </p:txBody>
      </p:sp>
    </p:spTree>
    <p:extLst>
      <p:ext uri="{BB962C8B-B14F-4D97-AF65-F5344CB8AC3E}">
        <p14:creationId xmlns:p14="http://schemas.microsoft.com/office/powerpoint/2010/main" val="3469959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Figure:</a:t>
            </a:r>
          </a:p>
          <a:p>
            <a:r>
              <a:rPr lang="en-US" dirty="0"/>
              <a:t>A memory address space diagram showing how multiple threads </a:t>
            </a:r>
          </a:p>
          <a:p>
            <a:r>
              <a:rPr lang="en-US" dirty="0"/>
              <a:t>share a single process's code, data, and heap segments </a:t>
            </a:r>
          </a:p>
          <a:p>
            <a:r>
              <a:rPr lang="en-US" dirty="0"/>
              <a:t>while having independent stacks and program counters.</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6</a:t>
            </a:fld>
            <a:endParaRPr lang="en-US"/>
          </a:p>
        </p:txBody>
      </p:sp>
    </p:spTree>
    <p:extLst>
      <p:ext uri="{BB962C8B-B14F-4D97-AF65-F5344CB8AC3E}">
        <p14:creationId xmlns:p14="http://schemas.microsoft.com/office/powerpoint/2010/main" val="3323544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Control Block Comparison:</a:t>
            </a:r>
            <a:r>
              <a:rPr lang="en-US" dirty="0"/>
              <a:t> </a:t>
            </a:r>
          </a:p>
          <a:p>
            <a:r>
              <a:rPr lang="en-US" dirty="0"/>
              <a:t>Comparison of Thread Control Blocks (TCBs) and Process Control Blocks (PCBs); </a:t>
            </a:r>
          </a:p>
          <a:p>
            <a:r>
              <a:rPr lang="en-US" dirty="0"/>
              <a:t>TCBs are "smaller and cheaper" with fewer fields (24 vs. 106 in some systems).</a:t>
            </a:r>
          </a:p>
          <a:p>
            <a:endParaRPr lang="en-US" dirty="0"/>
          </a:p>
          <a:p>
            <a:r>
              <a:rPr lang="en-US" b="1" dirty="0"/>
              <a:t>Figure:</a:t>
            </a:r>
          </a:p>
          <a:p>
            <a:r>
              <a:rPr lang="en-US" dirty="0"/>
              <a:t>A diagram illustrating the relationship between Thread Control Blocks (TCB) and a Process Control Block (PCB). </a:t>
            </a:r>
          </a:p>
          <a:p>
            <a:r>
              <a:rPr lang="en-US" dirty="0"/>
              <a:t>Each TCB contains a unique ID, state, program counter, and registers, </a:t>
            </a:r>
          </a:p>
          <a:p>
            <a:r>
              <a:rPr lang="en-US" dirty="0"/>
              <a:t>while the PCB holds shared resources like address space and open files.</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7</a:t>
            </a:fld>
            <a:endParaRPr lang="en-US"/>
          </a:p>
        </p:txBody>
      </p:sp>
    </p:spTree>
    <p:extLst>
      <p:ext uri="{BB962C8B-B14F-4D97-AF65-F5344CB8AC3E}">
        <p14:creationId xmlns:p14="http://schemas.microsoft.com/office/powerpoint/2010/main" val="3576158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Context Switching:</a:t>
            </a:r>
            <a:r>
              <a:rPr lang="en-US" dirty="0"/>
              <a:t> </a:t>
            </a:r>
          </a:p>
          <a:p>
            <a:r>
              <a:rPr lang="en-US" dirty="0"/>
              <a:t>Switching between threads of the same process is faster because the address space (page tables, etc.) does not need to be swapped.</a:t>
            </a:r>
          </a:p>
          <a:p>
            <a:endParaRPr lang="en-US" dirty="0"/>
          </a:p>
          <a:p>
            <a:r>
              <a:rPr lang="en-US" b="1" dirty="0"/>
              <a:t>Parallelism vs. Concurrency:</a:t>
            </a:r>
            <a:r>
              <a:rPr lang="en-US" dirty="0"/>
              <a:t> </a:t>
            </a:r>
          </a:p>
          <a:p>
            <a:r>
              <a:rPr lang="en-US" dirty="0"/>
              <a:t>Visualizes how threads can run truly in parallel on different cores or concurrently via time-slicing on a single core.</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8</a:t>
            </a:fld>
            <a:endParaRPr lang="en-US"/>
          </a:p>
        </p:txBody>
      </p:sp>
    </p:spTree>
    <p:extLst>
      <p:ext uri="{BB962C8B-B14F-4D97-AF65-F5344CB8AC3E}">
        <p14:creationId xmlns:p14="http://schemas.microsoft.com/office/powerpoint/2010/main" val="2811896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Similarities vs. Differences:</a:t>
            </a:r>
            <a:r>
              <a:rPr lang="en-US" dirty="0"/>
              <a:t> </a:t>
            </a:r>
          </a:p>
          <a:p>
            <a:r>
              <a:rPr lang="en-US" dirty="0"/>
              <a:t>Both involve instruction execution and resource allocation, </a:t>
            </a:r>
          </a:p>
          <a:p>
            <a:r>
              <a:rPr lang="en-US" dirty="0"/>
              <a:t>but threads share memory (risking less fault isolation) and switch faster than processes.</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9</a:t>
            </a:fld>
            <a:endParaRPr lang="en-US"/>
          </a:p>
        </p:txBody>
      </p:sp>
    </p:spTree>
    <p:extLst>
      <p:ext uri="{BB962C8B-B14F-4D97-AF65-F5344CB8AC3E}">
        <p14:creationId xmlns:p14="http://schemas.microsoft.com/office/powerpoint/2010/main" val="169849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Value of Threads:</a:t>
            </a:r>
            <a:r>
              <a:rPr lang="en-US" dirty="0"/>
              <a:t> </a:t>
            </a:r>
          </a:p>
          <a:p>
            <a:r>
              <a:rPr lang="en-US" dirty="0"/>
              <a:t>Benefits include </a:t>
            </a:r>
          </a:p>
          <a:p>
            <a:pPr marL="171450" indent="-171450">
              <a:buFont typeface="Arial" panose="020B0604020202020204" pitchFamily="34" charset="0"/>
              <a:buChar char="•"/>
            </a:pPr>
            <a:r>
              <a:rPr lang="en-US" dirty="0"/>
              <a:t>increased application responsiveness, </a:t>
            </a:r>
          </a:p>
          <a:p>
            <a:pPr marL="171450" indent="-171450">
              <a:buFont typeface="Arial" panose="020B0604020202020204" pitchFamily="34" charset="0"/>
              <a:buChar char="•"/>
            </a:pPr>
            <a:r>
              <a:rPr lang="en-US" dirty="0"/>
              <a:t>simplified signal handling, </a:t>
            </a:r>
          </a:p>
          <a:p>
            <a:pPr marL="171450" indent="-171450">
              <a:buFont typeface="Arial" panose="020B0604020202020204" pitchFamily="34" charset="0"/>
              <a:buChar char="•"/>
            </a:pPr>
            <a:r>
              <a:rPr lang="en-US" dirty="0"/>
              <a:t>and efficient use of multiprocessor hardware.</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10</a:t>
            </a:fld>
            <a:endParaRPr lang="en-US"/>
          </a:p>
        </p:txBody>
      </p:sp>
    </p:spTree>
    <p:extLst>
      <p:ext uri="{BB962C8B-B14F-4D97-AF65-F5344CB8AC3E}">
        <p14:creationId xmlns:p14="http://schemas.microsoft.com/office/powerpoint/2010/main" val="2195813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POSIX Thread Libraries:</a:t>
            </a:r>
            <a:r>
              <a:rPr lang="en-US" dirty="0"/>
              <a:t> </a:t>
            </a:r>
          </a:p>
          <a:p>
            <a:r>
              <a:rPr lang="en-US" dirty="0"/>
              <a:t>Introduces </a:t>
            </a:r>
            <a:r>
              <a:rPr lang="en-US" sz="1200" kern="1200" dirty="0" err="1">
                <a:solidFill>
                  <a:schemeClr val="tx1"/>
                </a:solidFill>
                <a:latin typeface="+mn-lt"/>
                <a:ea typeface="+mn-ea"/>
                <a:cs typeface="+mn-cs"/>
              </a:rPr>
              <a:t>pthreads</a:t>
            </a:r>
            <a:r>
              <a:rPr lang="en-US" dirty="0"/>
              <a:t> as the POSIX standard for C threading, </a:t>
            </a:r>
          </a:p>
          <a:p>
            <a:r>
              <a:rPr lang="en-US" dirty="0"/>
              <a:t>enabling portable parallelism through a standard API.</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12</a:t>
            </a:fld>
            <a:endParaRPr lang="en-US"/>
          </a:p>
        </p:txBody>
      </p:sp>
    </p:spTree>
    <p:extLst>
      <p:ext uri="{BB962C8B-B14F-4D97-AF65-F5344CB8AC3E}">
        <p14:creationId xmlns:p14="http://schemas.microsoft.com/office/powerpoint/2010/main" val="1406202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Programming Interfaces:</a:t>
            </a:r>
            <a:r>
              <a:rPr lang="en-US" dirty="0"/>
              <a:t> </a:t>
            </a:r>
          </a:p>
          <a:p>
            <a:r>
              <a:rPr lang="en-US" dirty="0"/>
              <a:t>Compares </a:t>
            </a:r>
            <a:r>
              <a:rPr lang="en-US" b="1" dirty="0"/>
              <a:t>process</a:t>
            </a:r>
            <a:r>
              <a:rPr lang="en-US" dirty="0"/>
              <a:t> functions (</a:t>
            </a:r>
            <a:r>
              <a:rPr lang="en-US" sz="1200" kern="1200" dirty="0">
                <a:solidFill>
                  <a:schemeClr val="tx1"/>
                </a:solidFill>
                <a:latin typeface="+mn-lt"/>
                <a:ea typeface="+mn-ea"/>
                <a:cs typeface="+mn-cs"/>
              </a:rPr>
              <a:t>fork</a:t>
            </a:r>
            <a:r>
              <a:rPr lang="en-US" dirty="0"/>
              <a:t>, </a:t>
            </a:r>
            <a:r>
              <a:rPr lang="en-US" sz="1200" kern="1200" dirty="0">
                <a:solidFill>
                  <a:schemeClr val="tx1"/>
                </a:solidFill>
                <a:latin typeface="+mn-lt"/>
                <a:ea typeface="+mn-ea"/>
                <a:cs typeface="+mn-cs"/>
              </a:rPr>
              <a:t>wait</a:t>
            </a:r>
            <a:r>
              <a:rPr lang="en-US" dirty="0"/>
              <a:t>, </a:t>
            </a:r>
            <a:r>
              <a:rPr lang="en-US" sz="1200" kern="1200" dirty="0">
                <a:solidFill>
                  <a:schemeClr val="tx1"/>
                </a:solidFill>
                <a:latin typeface="+mn-lt"/>
                <a:ea typeface="+mn-ea"/>
                <a:cs typeface="+mn-cs"/>
              </a:rPr>
              <a:t>exit</a:t>
            </a:r>
            <a:r>
              <a:rPr lang="en-US" dirty="0"/>
              <a:t>) </a:t>
            </a:r>
          </a:p>
          <a:p>
            <a:r>
              <a:rPr lang="en-US" dirty="0"/>
              <a:t>to their </a:t>
            </a:r>
            <a:r>
              <a:rPr lang="en-US" b="1" dirty="0"/>
              <a:t>thread</a:t>
            </a:r>
            <a:r>
              <a:rPr lang="en-US" dirty="0"/>
              <a:t> counterparts (</a:t>
            </a:r>
            <a:r>
              <a:rPr lang="en-US" sz="1200" kern="1200" dirty="0" err="1">
                <a:solidFill>
                  <a:schemeClr val="tx1"/>
                </a:solidFill>
                <a:latin typeface="+mn-lt"/>
                <a:ea typeface="+mn-ea"/>
                <a:cs typeface="+mn-cs"/>
              </a:rPr>
              <a:t>pthread_create</a:t>
            </a:r>
            <a:r>
              <a:rPr lang="en-US" dirty="0"/>
              <a:t>, </a:t>
            </a:r>
            <a:r>
              <a:rPr lang="en-US" sz="1200" kern="1200" dirty="0" err="1">
                <a:solidFill>
                  <a:schemeClr val="tx1"/>
                </a:solidFill>
                <a:latin typeface="+mn-lt"/>
                <a:ea typeface="+mn-ea"/>
                <a:cs typeface="+mn-cs"/>
              </a:rPr>
              <a:t>pthread_join</a:t>
            </a:r>
            <a:r>
              <a:rPr lang="en-US" dirty="0"/>
              <a:t>, </a:t>
            </a:r>
            <a:r>
              <a:rPr lang="en-US" sz="1200" kern="1200" dirty="0" err="1">
                <a:solidFill>
                  <a:schemeClr val="tx1"/>
                </a:solidFill>
                <a:latin typeface="+mn-lt"/>
                <a:ea typeface="+mn-ea"/>
                <a:cs typeface="+mn-cs"/>
              </a:rPr>
              <a:t>pthread_exit</a:t>
            </a:r>
            <a:r>
              <a:rPr lang="en-US" dirty="0"/>
              <a:t>).</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13</a:t>
            </a:fld>
            <a:endParaRPr lang="en-US"/>
          </a:p>
        </p:txBody>
      </p:sp>
    </p:spTree>
    <p:extLst>
      <p:ext uri="{BB962C8B-B14F-4D97-AF65-F5344CB8AC3E}">
        <p14:creationId xmlns:p14="http://schemas.microsoft.com/office/powerpoint/2010/main" val="2142544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err="1">
                <a:solidFill>
                  <a:schemeClr val="tx1"/>
                </a:solidFill>
                <a:latin typeface="+mn-lt"/>
                <a:ea typeface="+mn-ea"/>
                <a:cs typeface="+mn-cs"/>
              </a:rPr>
              <a:t>pthread_create</a:t>
            </a:r>
            <a:r>
              <a:rPr lang="en-US" b="1" dirty="0"/>
              <a:t> Syntax:</a:t>
            </a:r>
            <a:r>
              <a:rPr lang="en-US" dirty="0"/>
              <a:t> </a:t>
            </a:r>
          </a:p>
          <a:p>
            <a:r>
              <a:rPr lang="en-US" dirty="0"/>
              <a:t>Details the four arguments: </a:t>
            </a:r>
          </a:p>
          <a:p>
            <a:pPr marL="228600" indent="-228600">
              <a:buFont typeface="+mj-lt"/>
              <a:buAutoNum type="arabicPeriod"/>
            </a:pPr>
            <a:r>
              <a:rPr lang="en-US" dirty="0"/>
              <a:t>thread ID pointer, </a:t>
            </a:r>
          </a:p>
          <a:p>
            <a:pPr marL="228600" indent="-228600">
              <a:buFont typeface="+mj-lt"/>
              <a:buAutoNum type="arabicPeriod"/>
            </a:pPr>
            <a:r>
              <a:rPr lang="en-US" dirty="0"/>
              <a:t>attributes, </a:t>
            </a:r>
          </a:p>
          <a:p>
            <a:pPr marL="228600" indent="-228600">
              <a:buFont typeface="+mj-lt"/>
              <a:buAutoNum type="arabicPeriod"/>
            </a:pPr>
            <a:r>
              <a:rPr lang="en-US" dirty="0"/>
              <a:t>start routine (function pointer), </a:t>
            </a:r>
          </a:p>
          <a:p>
            <a:pPr marL="228600" indent="-228600">
              <a:buFont typeface="+mj-lt"/>
              <a:buAutoNum type="arabicPeriod"/>
            </a:pPr>
            <a:r>
              <a:rPr lang="en-US" dirty="0"/>
              <a:t>and the argument passed to that function.</a:t>
            </a:r>
          </a:p>
          <a:p>
            <a:pPr marL="0" indent="0">
              <a:buFont typeface="+mj-lt"/>
              <a:buNone/>
            </a:pPr>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14</a:t>
            </a:fld>
            <a:endParaRPr lang="en-US"/>
          </a:p>
        </p:txBody>
      </p:sp>
    </p:spTree>
    <p:extLst>
      <p:ext uri="{BB962C8B-B14F-4D97-AF65-F5344CB8AC3E}">
        <p14:creationId xmlns:p14="http://schemas.microsoft.com/office/powerpoint/2010/main" val="1818637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Thread Communication:</a:t>
            </a:r>
            <a:r>
              <a:rPr lang="en-US" dirty="0"/>
              <a:t> </a:t>
            </a:r>
          </a:p>
          <a:p>
            <a:r>
              <a:rPr lang="en-US" dirty="0"/>
              <a:t>Unlike </a:t>
            </a:r>
            <a:r>
              <a:rPr lang="en-US" sz="1200" kern="1200" dirty="0">
                <a:solidFill>
                  <a:schemeClr val="tx1"/>
                </a:solidFill>
                <a:latin typeface="+mn-lt"/>
                <a:ea typeface="+mn-ea"/>
                <a:cs typeface="+mn-cs"/>
              </a:rPr>
              <a:t>fork</a:t>
            </a:r>
            <a:r>
              <a:rPr lang="en-US" dirty="0"/>
              <a:t>, threads share address space, </a:t>
            </a:r>
          </a:p>
          <a:p>
            <a:r>
              <a:rPr lang="en-US" dirty="0"/>
              <a:t>allowing them to communicate easily by manipulating the same data structures.</a:t>
            </a:r>
          </a:p>
          <a:p>
            <a:endParaRPr lang="en-US" dirty="0"/>
          </a:p>
          <a:p>
            <a:r>
              <a:rPr lang="en-US" b="1" dirty="0"/>
              <a:t>Memory Layout:</a:t>
            </a:r>
            <a:r>
              <a:rPr lang="en-US" dirty="0"/>
              <a:t> </a:t>
            </a:r>
          </a:p>
          <a:p>
            <a:r>
              <a:rPr lang="en-US" dirty="0"/>
              <a:t>Visualizes how each thread is allocated its own stack within the shared process address space.</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15</a:t>
            </a:fld>
            <a:endParaRPr lang="en-US"/>
          </a:p>
        </p:txBody>
      </p:sp>
    </p:spTree>
    <p:extLst>
      <p:ext uri="{BB962C8B-B14F-4D97-AF65-F5344CB8AC3E}">
        <p14:creationId xmlns:p14="http://schemas.microsoft.com/office/powerpoint/2010/main" val="1753966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Creating Threads:</a:t>
            </a:r>
            <a:r>
              <a:rPr lang="en-US" dirty="0"/>
              <a:t> </a:t>
            </a:r>
          </a:p>
          <a:p>
            <a:r>
              <a:rPr lang="en-US" dirty="0"/>
              <a:t>Shows C code using </a:t>
            </a:r>
            <a:r>
              <a:rPr lang="en-US" sz="1200" kern="1200" dirty="0" err="1">
                <a:solidFill>
                  <a:schemeClr val="tx1"/>
                </a:solidFill>
                <a:latin typeface="+mn-lt"/>
                <a:ea typeface="+mn-ea"/>
                <a:cs typeface="+mn-cs"/>
              </a:rPr>
              <a:t>pthread_create</a:t>
            </a:r>
            <a:r>
              <a:rPr lang="en-US" dirty="0"/>
              <a:t> and emphasizes that each thread executes independently on its own stack.</a:t>
            </a:r>
            <a:endParaRPr lang="en-US" b="1" dirty="0"/>
          </a:p>
          <a:p>
            <a:endParaRPr lang="en-US" b="1" dirty="0"/>
          </a:p>
          <a:p>
            <a:r>
              <a:rPr lang="en-US" b="1" dirty="0"/>
              <a:t>See example:</a:t>
            </a:r>
          </a:p>
          <a:p>
            <a:r>
              <a:rPr lang="en-US" dirty="0" err="1"/>
              <a:t>pthread_create.c</a:t>
            </a:r>
            <a:endParaRPr lang="en-US" dirty="0"/>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16</a:t>
            </a:fld>
            <a:endParaRPr lang="en-US"/>
          </a:p>
        </p:txBody>
      </p:sp>
    </p:spTree>
    <p:extLst>
      <p:ext uri="{BB962C8B-B14F-4D97-AF65-F5344CB8AC3E}">
        <p14:creationId xmlns:p14="http://schemas.microsoft.com/office/powerpoint/2010/main" val="198489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err="1">
                <a:solidFill>
                  <a:schemeClr val="tx1"/>
                </a:solidFill>
                <a:latin typeface="+mn-lt"/>
                <a:ea typeface="+mn-ea"/>
                <a:cs typeface="+mn-cs"/>
              </a:rPr>
              <a:t>pthread_join</a:t>
            </a:r>
            <a:r>
              <a:rPr lang="en-US" b="1" dirty="0"/>
              <a:t> Syntax:</a:t>
            </a:r>
            <a:r>
              <a:rPr lang="en-US" dirty="0"/>
              <a:t> </a:t>
            </a:r>
          </a:p>
          <a:p>
            <a:r>
              <a:rPr lang="en-US" dirty="0"/>
              <a:t>Function used to wait for a specific thread to terminate and optionally retrieve its return value.</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19</a:t>
            </a:fld>
            <a:endParaRPr lang="en-US"/>
          </a:p>
        </p:txBody>
      </p:sp>
    </p:spTree>
    <p:extLst>
      <p:ext uri="{BB962C8B-B14F-4D97-AF65-F5344CB8AC3E}">
        <p14:creationId xmlns:p14="http://schemas.microsoft.com/office/powerpoint/2010/main" val="61759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Join?:</a:t>
            </a:r>
            <a:r>
              <a:rPr lang="en-US" dirty="0"/>
              <a:t> </a:t>
            </a:r>
          </a:p>
          <a:p>
            <a:r>
              <a:rPr lang="en-US" dirty="0"/>
              <a:t>Failing to join can lead to resource leakage (zombie threads) and unpredictable behavior </a:t>
            </a:r>
          </a:p>
          <a:p>
            <a:r>
              <a:rPr lang="en-US" dirty="0"/>
              <a:t>if the main thread finishes before its children.</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20</a:t>
            </a:fld>
            <a:endParaRPr lang="en-US"/>
          </a:p>
        </p:txBody>
      </p:sp>
    </p:spTree>
    <p:extLst>
      <p:ext uri="{BB962C8B-B14F-4D97-AF65-F5344CB8AC3E}">
        <p14:creationId xmlns:p14="http://schemas.microsoft.com/office/powerpoint/2010/main" val="948103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Joining Threads:</a:t>
            </a:r>
            <a:r>
              <a:rPr lang="en-US" dirty="0"/>
              <a:t> </a:t>
            </a:r>
          </a:p>
          <a:p>
            <a:r>
              <a:rPr lang="en-US" dirty="0"/>
              <a:t>Demonstrates synchronization where the main thread waits for a child thread and retrieves an exit status.</a:t>
            </a:r>
          </a:p>
          <a:p>
            <a:endParaRPr lang="en-US" b="1" dirty="0"/>
          </a:p>
          <a:p>
            <a:r>
              <a:rPr lang="en-US" b="1" dirty="0"/>
              <a:t>See example:</a:t>
            </a:r>
          </a:p>
          <a:p>
            <a:r>
              <a:rPr lang="en-US" dirty="0" err="1"/>
              <a:t>pthread_join.c</a:t>
            </a:r>
            <a:endParaRPr lang="en-US" dirty="0"/>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21</a:t>
            </a:fld>
            <a:endParaRPr lang="en-US"/>
          </a:p>
        </p:txBody>
      </p:sp>
    </p:spTree>
    <p:extLst>
      <p:ext uri="{BB962C8B-B14F-4D97-AF65-F5344CB8AC3E}">
        <p14:creationId xmlns:p14="http://schemas.microsoft.com/office/powerpoint/2010/main" val="2890160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Terminating a Thread:</a:t>
            </a:r>
            <a:r>
              <a:rPr lang="en-US" dirty="0"/>
              <a:t> </a:t>
            </a:r>
          </a:p>
          <a:p>
            <a:r>
              <a:rPr lang="en-US" dirty="0"/>
              <a:t>Methods include returning from the start routine, calling </a:t>
            </a:r>
            <a:r>
              <a:rPr lang="en-US" sz="1200" kern="1200" dirty="0" err="1">
                <a:solidFill>
                  <a:schemeClr val="tx1"/>
                </a:solidFill>
                <a:latin typeface="+mn-lt"/>
                <a:ea typeface="+mn-ea"/>
                <a:cs typeface="+mn-cs"/>
              </a:rPr>
              <a:t>pthread_exit</a:t>
            </a:r>
            <a:r>
              <a:rPr lang="en-US" dirty="0"/>
              <a:t>, or being canceled by another thread.</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23</a:t>
            </a:fld>
            <a:endParaRPr lang="en-US"/>
          </a:p>
        </p:txBody>
      </p:sp>
    </p:spTree>
    <p:extLst>
      <p:ext uri="{BB962C8B-B14F-4D97-AF65-F5344CB8AC3E}">
        <p14:creationId xmlns:p14="http://schemas.microsoft.com/office/powerpoint/2010/main" val="2696716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err="1">
                <a:solidFill>
                  <a:schemeClr val="tx1"/>
                </a:solidFill>
                <a:latin typeface="+mn-lt"/>
                <a:ea typeface="+mn-ea"/>
                <a:cs typeface="+mn-cs"/>
              </a:rPr>
              <a:t>pthread_exit</a:t>
            </a:r>
            <a:r>
              <a:rPr lang="en-US" b="1" dirty="0"/>
              <a:t> Syntax:</a:t>
            </a:r>
            <a:r>
              <a:rPr lang="en-US" dirty="0"/>
              <a:t> </a:t>
            </a:r>
          </a:p>
          <a:p>
            <a:r>
              <a:rPr lang="en-US" dirty="0"/>
              <a:t>Explicitly terminates the calling thread and makes its exit status available to any thread calling </a:t>
            </a:r>
            <a:r>
              <a:rPr lang="en-US" sz="1200" kern="1200" dirty="0" err="1">
                <a:solidFill>
                  <a:schemeClr val="tx1"/>
                </a:solidFill>
                <a:latin typeface="+mn-lt"/>
                <a:ea typeface="+mn-ea"/>
                <a:cs typeface="+mn-cs"/>
              </a:rPr>
              <a:t>pthread_join</a:t>
            </a:r>
            <a:r>
              <a:rPr lang="en-US" dirty="0"/>
              <a:t>.</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24</a:t>
            </a:fld>
            <a:endParaRPr lang="en-US"/>
          </a:p>
        </p:txBody>
      </p:sp>
    </p:spTree>
    <p:extLst>
      <p:ext uri="{BB962C8B-B14F-4D97-AF65-F5344CB8AC3E}">
        <p14:creationId xmlns:p14="http://schemas.microsoft.com/office/powerpoint/2010/main" val="34226946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Exiting Threads:</a:t>
            </a:r>
            <a:endParaRPr lang="en-US" dirty="0"/>
          </a:p>
          <a:p>
            <a:r>
              <a:rPr lang="en-US" dirty="0"/>
              <a:t>Illustrates using </a:t>
            </a:r>
            <a:r>
              <a:rPr lang="en-US" sz="1200" kern="1200" dirty="0" err="1">
                <a:solidFill>
                  <a:schemeClr val="tx1"/>
                </a:solidFill>
                <a:latin typeface="+mn-lt"/>
                <a:ea typeface="+mn-ea"/>
                <a:cs typeface="+mn-cs"/>
              </a:rPr>
              <a:t>pthread_exit</a:t>
            </a:r>
            <a:r>
              <a:rPr lang="en-US" dirty="0"/>
              <a:t> to finish a thread without returning a specific data pointer.</a:t>
            </a:r>
          </a:p>
          <a:p>
            <a:endParaRPr lang="en-US" b="1" dirty="0"/>
          </a:p>
          <a:p>
            <a:r>
              <a:rPr lang="en-US" b="1" dirty="0"/>
              <a:t>See example:</a:t>
            </a:r>
          </a:p>
          <a:p>
            <a:r>
              <a:rPr lang="en-US" dirty="0" err="1"/>
              <a:t>pthread_exit.c</a:t>
            </a:r>
            <a:endParaRPr lang="en-US" dirty="0"/>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25</a:t>
            </a:fld>
            <a:endParaRPr lang="en-US"/>
          </a:p>
        </p:txBody>
      </p:sp>
    </p:spTree>
    <p:extLst>
      <p:ext uri="{BB962C8B-B14F-4D97-AF65-F5344CB8AC3E}">
        <p14:creationId xmlns:p14="http://schemas.microsoft.com/office/powerpoint/2010/main" val="1924663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Stopping a Thread (</a:t>
            </a:r>
            <a:r>
              <a:rPr lang="en-US" sz="1200" b="1" kern="1200" dirty="0" err="1">
                <a:solidFill>
                  <a:schemeClr val="tx1"/>
                </a:solidFill>
                <a:latin typeface="+mn-lt"/>
                <a:ea typeface="+mn-ea"/>
                <a:cs typeface="+mn-cs"/>
              </a:rPr>
              <a:t>pthread_cancel</a:t>
            </a:r>
            <a:r>
              <a:rPr lang="en-US" b="1" dirty="0"/>
              <a:t>):</a:t>
            </a:r>
            <a:r>
              <a:rPr lang="en-US" dirty="0"/>
              <a:t> </a:t>
            </a:r>
          </a:p>
          <a:p>
            <a:r>
              <a:rPr lang="en-US" dirty="0"/>
              <a:t>One thread can request the termination of another; </a:t>
            </a:r>
          </a:p>
          <a:p>
            <a:r>
              <a:rPr lang="en-US" dirty="0"/>
              <a:t>how the target responds depends on its "cancelability state.“</a:t>
            </a:r>
          </a:p>
          <a:p>
            <a:endParaRPr lang="en-US" dirty="0"/>
          </a:p>
          <a:p>
            <a:r>
              <a:rPr lang="en-US" b="1" dirty="0"/>
              <a:t>Cancelability States &amp; Types:</a:t>
            </a:r>
            <a:r>
              <a:rPr lang="en-US" dirty="0"/>
              <a:t> </a:t>
            </a:r>
          </a:p>
          <a:p>
            <a:r>
              <a:rPr lang="en-US" dirty="0"/>
              <a:t>Details </a:t>
            </a:r>
            <a:r>
              <a:rPr lang="en-US" sz="1200" kern="1200" dirty="0">
                <a:solidFill>
                  <a:schemeClr val="tx1"/>
                </a:solidFill>
                <a:latin typeface="+mn-lt"/>
                <a:ea typeface="+mn-ea"/>
                <a:cs typeface="+mn-cs"/>
              </a:rPr>
              <a:t>PTHREAD_CANCEL_ENABLE/DISABLE</a:t>
            </a:r>
            <a:r>
              <a:rPr lang="en-US" dirty="0"/>
              <a:t> and </a:t>
            </a:r>
            <a:r>
              <a:rPr lang="en-US" sz="1200" kern="1200" dirty="0">
                <a:solidFill>
                  <a:schemeClr val="tx1"/>
                </a:solidFill>
                <a:latin typeface="+mn-lt"/>
                <a:ea typeface="+mn-ea"/>
                <a:cs typeface="+mn-cs"/>
              </a:rPr>
              <a:t>DEFERRED</a:t>
            </a:r>
            <a:r>
              <a:rPr lang="en-US" dirty="0"/>
              <a:t> (at specific points) vs. </a:t>
            </a:r>
            <a:r>
              <a:rPr lang="en-US" sz="1200" kern="1200" dirty="0">
                <a:solidFill>
                  <a:schemeClr val="tx1"/>
                </a:solidFill>
                <a:latin typeface="+mn-lt"/>
                <a:ea typeface="+mn-ea"/>
                <a:cs typeface="+mn-cs"/>
              </a:rPr>
              <a:t>ASYNCHRONOUS</a:t>
            </a:r>
            <a:r>
              <a:rPr lang="en-US" dirty="0"/>
              <a:t> (immediate) cancellation.</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27</a:t>
            </a:fld>
            <a:endParaRPr lang="en-US"/>
          </a:p>
        </p:txBody>
      </p:sp>
    </p:spTree>
    <p:extLst>
      <p:ext uri="{BB962C8B-B14F-4D97-AF65-F5344CB8AC3E}">
        <p14:creationId xmlns:p14="http://schemas.microsoft.com/office/powerpoint/2010/main" val="38512521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Cancellation:</a:t>
            </a:r>
            <a:r>
              <a:rPr lang="en-US" dirty="0"/>
              <a:t> </a:t>
            </a:r>
          </a:p>
          <a:p>
            <a:r>
              <a:rPr lang="en-US" dirty="0"/>
              <a:t>Shows requesting a cancellation for long-running operations and emphasizes using cleanup handlers to avoid resource leaks.</a:t>
            </a:r>
          </a:p>
          <a:p>
            <a:endParaRPr lang="en-US" b="1" dirty="0"/>
          </a:p>
          <a:p>
            <a:r>
              <a:rPr lang="en-US" b="1" dirty="0"/>
              <a:t>See example:</a:t>
            </a:r>
          </a:p>
          <a:p>
            <a:r>
              <a:rPr lang="en-US" dirty="0" err="1"/>
              <a:t>pthread_cancel.c</a:t>
            </a:r>
            <a:endParaRPr lang="en-US" dirty="0"/>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34</a:t>
            </a:fld>
            <a:endParaRPr lang="en-US"/>
          </a:p>
        </p:txBody>
      </p:sp>
    </p:spTree>
    <p:extLst>
      <p:ext uri="{BB962C8B-B14F-4D97-AF65-F5344CB8AC3E}">
        <p14:creationId xmlns:p14="http://schemas.microsoft.com/office/powerpoint/2010/main" val="1180799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err="1">
                <a:solidFill>
                  <a:schemeClr val="tx1"/>
                </a:solidFill>
                <a:latin typeface="+mn-lt"/>
                <a:ea typeface="+mn-ea"/>
                <a:cs typeface="+mn-cs"/>
              </a:rPr>
              <a:t>pthread_cancel</a:t>
            </a:r>
            <a:r>
              <a:rPr lang="en-US" b="1" dirty="0"/>
              <a:t> vs. </a:t>
            </a:r>
            <a:r>
              <a:rPr lang="en-US" sz="1200" b="1" kern="1200" dirty="0" err="1">
                <a:solidFill>
                  <a:schemeClr val="tx1"/>
                </a:solidFill>
                <a:latin typeface="+mn-lt"/>
                <a:ea typeface="+mn-ea"/>
                <a:cs typeface="+mn-cs"/>
              </a:rPr>
              <a:t>pthread_exit</a:t>
            </a:r>
            <a:r>
              <a:rPr lang="en-US" b="1" dirty="0"/>
              <a:t>:</a:t>
            </a:r>
            <a:r>
              <a:rPr lang="en-US" dirty="0"/>
              <a:t> </a:t>
            </a:r>
          </a:p>
          <a:p>
            <a:r>
              <a:rPr lang="en-US" dirty="0"/>
              <a:t>Compares self-termination (</a:t>
            </a:r>
            <a:r>
              <a:rPr lang="en-US" sz="1200" kern="1200" dirty="0">
                <a:solidFill>
                  <a:schemeClr val="tx1"/>
                </a:solidFill>
                <a:latin typeface="+mn-lt"/>
                <a:ea typeface="+mn-ea"/>
                <a:cs typeface="+mn-cs"/>
              </a:rPr>
              <a:t>exit</a:t>
            </a:r>
            <a:r>
              <a:rPr lang="en-US" dirty="0"/>
              <a:t>) for normal task completion vs. external requests (</a:t>
            </a:r>
            <a:r>
              <a:rPr lang="en-US" sz="1200" kern="1200" dirty="0">
                <a:solidFill>
                  <a:schemeClr val="tx1"/>
                </a:solidFill>
                <a:latin typeface="+mn-lt"/>
                <a:ea typeface="+mn-ea"/>
                <a:cs typeface="+mn-cs"/>
              </a:rPr>
              <a:t>cancel</a:t>
            </a:r>
            <a:r>
              <a:rPr lang="en-US" dirty="0"/>
              <a:t>) when a task is no longer needed.</a:t>
            </a:r>
          </a:p>
          <a:p>
            <a:endParaRPr lang="en-US" dirty="0"/>
          </a:p>
        </p:txBody>
      </p:sp>
      <p:sp>
        <p:nvSpPr>
          <p:cNvPr id="4" name="Slide Number Placeholder 3"/>
          <p:cNvSpPr>
            <a:spLocks noGrp="1"/>
          </p:cNvSpPr>
          <p:nvPr>
            <p:ph type="sldNum" sz="quarter" idx="5"/>
          </p:nvPr>
        </p:nvSpPr>
        <p:spPr/>
        <p:txBody>
          <a:bodyPr/>
          <a:lstStyle/>
          <a:p>
            <a:fld id="{815056E8-BAEA-47CE-9DA7-D78573A259E6}" type="slidenum">
              <a:rPr lang="en-US" smtClean="0"/>
              <a:t>36</a:t>
            </a:fld>
            <a:endParaRPr lang="en-US"/>
          </a:p>
        </p:txBody>
      </p:sp>
    </p:spTree>
    <p:extLst>
      <p:ext uri="{BB962C8B-B14F-4D97-AF65-F5344CB8AC3E}">
        <p14:creationId xmlns:p14="http://schemas.microsoft.com/office/powerpoint/2010/main" val="3203340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rgbClr val="333333"/>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600" b="0" i="0">
                <a:solidFill>
                  <a:srgbClr val="333333"/>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sz="half" idx="2"/>
          </p:nvPr>
        </p:nvSpPr>
        <p:spPr>
          <a:xfrm>
            <a:off x="419100" y="2185974"/>
            <a:ext cx="5080635" cy="39528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33945"/>
            <a:ext cx="12192000" cy="1009054"/>
          </a:xfrm>
          <a:prstGeom prst="rect">
            <a:avLst/>
          </a:prstGeom>
        </p:spPr>
      </p:pic>
      <p:sp>
        <p:nvSpPr>
          <p:cNvPr id="2" name="Holder 2"/>
          <p:cNvSpPr>
            <a:spLocks noGrp="1"/>
          </p:cNvSpPr>
          <p:nvPr>
            <p:ph type="title"/>
          </p:nvPr>
        </p:nvSpPr>
        <p:spPr>
          <a:xfrm>
            <a:off x="410375" y="1435436"/>
            <a:ext cx="4480560" cy="662857"/>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a:xfrm>
            <a:off x="590321" y="2562487"/>
            <a:ext cx="5422900" cy="3951604"/>
          </a:xfrm>
          <a:prstGeom prst="rect">
            <a:avLst/>
          </a:prstGeom>
        </p:spPr>
        <p:txBody>
          <a:bodyPr wrap="square" lIns="0" tIns="0" rIns="0" bIns="0">
            <a:spAutoFit/>
          </a:bodyPr>
          <a:lstStyle>
            <a:lvl1pPr>
              <a:defRPr sz="1600" b="0" i="0">
                <a:solidFill>
                  <a:srgbClr val="333333"/>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www.logicbig.com/" TargetMode="External"/><Relationship Id="rId5" Type="http://schemas.openxmlformats.org/officeDocument/2006/relationships/image" Target="../media/image8.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hyperlink" Target="http://www.cs.fsu.edu/" TargetMode="External"/><Relationship Id="rId4" Type="http://schemas.openxmlformats.org/officeDocument/2006/relationships/image" Target="../media/image15.jpg"/></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2183" y="2702546"/>
            <a:ext cx="8662035" cy="772160"/>
          </a:xfrm>
          <a:prstGeom prst="rect">
            <a:avLst/>
          </a:prstGeom>
        </p:spPr>
        <p:txBody>
          <a:bodyPr vert="horz" wrap="square" lIns="0" tIns="12700" rIns="0" bIns="0" rtlCol="0">
            <a:spAutoFit/>
          </a:bodyPr>
          <a:lstStyle/>
          <a:p>
            <a:pPr marL="12700">
              <a:lnSpc>
                <a:spcPct val="100000"/>
              </a:lnSpc>
              <a:spcBef>
                <a:spcPts val="100"/>
              </a:spcBef>
            </a:pPr>
            <a:r>
              <a:rPr sz="4900" dirty="0"/>
              <a:t>CSC</a:t>
            </a:r>
            <a:r>
              <a:rPr sz="4900" spc="-85" dirty="0"/>
              <a:t> </a:t>
            </a:r>
            <a:r>
              <a:rPr sz="4900" dirty="0"/>
              <a:t>362:</a:t>
            </a:r>
            <a:r>
              <a:rPr sz="4900" spc="-85" dirty="0"/>
              <a:t> </a:t>
            </a:r>
            <a:r>
              <a:rPr sz="4900" dirty="0"/>
              <a:t>System</a:t>
            </a:r>
            <a:r>
              <a:rPr sz="4900" spc="-90" dirty="0"/>
              <a:t> </a:t>
            </a:r>
            <a:r>
              <a:rPr sz="4900" spc="-10" dirty="0"/>
              <a:t>Programming</a:t>
            </a:r>
            <a:endParaRPr sz="4900" dirty="0"/>
          </a:p>
        </p:txBody>
      </p:sp>
      <p:sp>
        <p:nvSpPr>
          <p:cNvPr id="3" name="object 3"/>
          <p:cNvSpPr txBox="1"/>
          <p:nvPr/>
        </p:nvSpPr>
        <p:spPr>
          <a:xfrm>
            <a:off x="5363120" y="3585985"/>
            <a:ext cx="146558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F2044"/>
                </a:solidFill>
                <a:latin typeface="Arial MT"/>
                <a:cs typeface="Arial MT"/>
              </a:rPr>
              <a:t>Lecture</a:t>
            </a:r>
            <a:r>
              <a:rPr sz="2400" spc="-120" dirty="0">
                <a:solidFill>
                  <a:srgbClr val="0F2044"/>
                </a:solidFill>
                <a:latin typeface="Arial MT"/>
                <a:cs typeface="Arial MT"/>
              </a:rPr>
              <a:t> </a:t>
            </a:r>
            <a:r>
              <a:rPr sz="2400" spc="-25" dirty="0">
                <a:solidFill>
                  <a:srgbClr val="0F2044"/>
                </a:solidFill>
                <a:latin typeface="Arial MT"/>
                <a:cs typeface="Arial MT"/>
              </a:rPr>
              <a:t>17</a:t>
            </a:r>
            <a:endParaRPr sz="2400">
              <a:latin typeface="Arial MT"/>
              <a:cs typeface="Arial MT"/>
            </a:endParaRPr>
          </a:p>
        </p:txBody>
      </p:sp>
      <p:sp>
        <p:nvSpPr>
          <p:cNvPr id="6" name="object 6">
            <a:extLst>
              <a:ext uri="{C183D7F6-B498-43B3-948B-1728B52AA6E4}">
                <adec:decorative xmlns:adec="http://schemas.microsoft.com/office/drawing/2017/decorative" val="1"/>
              </a:ext>
            </a:extLst>
          </p:cNvPr>
          <p:cNvSpPr/>
          <p:nvPr/>
        </p:nvSpPr>
        <p:spPr>
          <a:xfrm>
            <a:off x="1618174" y="4145624"/>
            <a:ext cx="9054465" cy="31115"/>
          </a:xfrm>
          <a:custGeom>
            <a:avLst/>
            <a:gdLst/>
            <a:ahLst/>
            <a:cxnLst/>
            <a:rect l="l" t="t" r="r" b="b"/>
            <a:pathLst>
              <a:path w="9054465" h="31114">
                <a:moveTo>
                  <a:pt x="0" y="0"/>
                </a:moveTo>
                <a:lnTo>
                  <a:pt x="9053999" y="30899"/>
                </a:lnTo>
              </a:path>
            </a:pathLst>
          </a:custGeom>
          <a:ln w="9524">
            <a:solidFill>
              <a:srgbClr val="0F2044"/>
            </a:solidFill>
          </a:ln>
        </p:spPr>
        <p:txBody>
          <a:bodyPr wrap="square" lIns="0" tIns="0" rIns="0" bIns="0" rtlCol="0"/>
          <a:lstStyle/>
          <a:p>
            <a:endParaRPr/>
          </a:p>
        </p:txBody>
      </p:sp>
      <p:sp>
        <p:nvSpPr>
          <p:cNvPr id="7" name="TextBox 6">
            <a:extLst>
              <a:ext uri="{FF2B5EF4-FFF2-40B4-BE49-F238E27FC236}">
                <a16:creationId xmlns:a16="http://schemas.microsoft.com/office/drawing/2014/main" id="{FD6E44F7-A21A-55DC-C972-0ABB664D2AC6}"/>
              </a:ext>
            </a:extLst>
          </p:cNvPr>
          <p:cNvSpPr txBox="1"/>
          <p:nvPr/>
        </p:nvSpPr>
        <p:spPr>
          <a:xfrm>
            <a:off x="3098244" y="4267200"/>
            <a:ext cx="6094324" cy="678134"/>
          </a:xfrm>
          <a:prstGeom prst="rect">
            <a:avLst/>
          </a:prstGeom>
          <a:noFill/>
        </p:spPr>
        <p:txBody>
          <a:bodyPr wrap="square">
            <a:spAutoFit/>
          </a:bodyPr>
          <a:lstStyle/>
          <a:p>
            <a:pPr marL="0" marR="0" lvl="0" indent="0" algn="ctr" rtl="0">
              <a:lnSpc>
                <a:spcPct val="110000"/>
              </a:lnSpc>
              <a:spcBef>
                <a:spcPts val="0"/>
              </a:spcBef>
              <a:spcAft>
                <a:spcPts val="0"/>
              </a:spcAft>
              <a:buClr>
                <a:schemeClr val="dk2"/>
              </a:buClr>
              <a:buSzPts val="2400"/>
              <a:buFont typeface="Arial"/>
              <a:buNone/>
            </a:pPr>
            <a:r>
              <a:rPr lang="en-US" dirty="0"/>
              <a:t>Original slides by: Amitabha Dey</a:t>
            </a:r>
          </a:p>
          <a:p>
            <a:pPr marL="0" marR="0" lvl="0" indent="0" algn="ctr" rtl="0">
              <a:lnSpc>
                <a:spcPct val="110000"/>
              </a:lnSpc>
              <a:spcBef>
                <a:spcPts val="0"/>
              </a:spcBef>
              <a:spcAft>
                <a:spcPts val="0"/>
              </a:spcAft>
              <a:buClr>
                <a:schemeClr val="dk2"/>
              </a:buClr>
              <a:buSzPts val="2400"/>
              <a:buFont typeface="Arial"/>
              <a:buNone/>
            </a:pPr>
            <a:r>
              <a:rPr lang="en-US" dirty="0"/>
              <a:t>Adapted by: Dr. Richard Johnson</a:t>
            </a:r>
          </a:p>
        </p:txBody>
      </p:sp>
      <p:sp>
        <p:nvSpPr>
          <p:cNvPr id="5" name="object 5"/>
          <p:cNvSpPr txBox="1"/>
          <p:nvPr/>
        </p:nvSpPr>
        <p:spPr>
          <a:xfrm>
            <a:off x="3203401" y="5437645"/>
            <a:ext cx="5782310" cy="720725"/>
          </a:xfrm>
          <a:prstGeom prst="rect">
            <a:avLst/>
          </a:prstGeom>
        </p:spPr>
        <p:txBody>
          <a:bodyPr vert="horz" wrap="square" lIns="0" tIns="53975" rIns="0" bIns="0" rtlCol="0">
            <a:spAutoFit/>
          </a:bodyPr>
          <a:lstStyle/>
          <a:p>
            <a:pPr marL="12700" marR="5080" indent="617855">
              <a:lnSpc>
                <a:spcPts val="2590"/>
              </a:lnSpc>
              <a:spcBef>
                <a:spcPts val="425"/>
              </a:spcBef>
            </a:pPr>
            <a:r>
              <a:rPr sz="2400" spc="-10" dirty="0">
                <a:solidFill>
                  <a:srgbClr val="0F2044"/>
                </a:solidFill>
                <a:latin typeface="Arial MT"/>
                <a:cs typeface="Arial MT"/>
              </a:rPr>
              <a:t>Department</a:t>
            </a:r>
            <a:r>
              <a:rPr sz="2400" spc="-70" dirty="0">
                <a:solidFill>
                  <a:srgbClr val="0F2044"/>
                </a:solidFill>
                <a:latin typeface="Arial MT"/>
                <a:cs typeface="Arial MT"/>
              </a:rPr>
              <a:t> </a:t>
            </a:r>
            <a:r>
              <a:rPr sz="2400" dirty="0">
                <a:solidFill>
                  <a:srgbClr val="0F2044"/>
                </a:solidFill>
                <a:latin typeface="Arial MT"/>
                <a:cs typeface="Arial MT"/>
              </a:rPr>
              <a:t>of</a:t>
            </a:r>
            <a:r>
              <a:rPr sz="2400" spc="-65" dirty="0">
                <a:solidFill>
                  <a:srgbClr val="0F2044"/>
                </a:solidFill>
                <a:latin typeface="Arial MT"/>
                <a:cs typeface="Arial MT"/>
              </a:rPr>
              <a:t> </a:t>
            </a:r>
            <a:r>
              <a:rPr sz="2400" dirty="0">
                <a:solidFill>
                  <a:srgbClr val="0F2044"/>
                </a:solidFill>
                <a:latin typeface="Arial MT"/>
                <a:cs typeface="Arial MT"/>
              </a:rPr>
              <a:t>Computer</a:t>
            </a:r>
            <a:r>
              <a:rPr sz="2400" spc="-65" dirty="0">
                <a:solidFill>
                  <a:srgbClr val="0F2044"/>
                </a:solidFill>
                <a:latin typeface="Arial MT"/>
                <a:cs typeface="Arial MT"/>
              </a:rPr>
              <a:t> </a:t>
            </a:r>
            <a:r>
              <a:rPr sz="2400" spc="-10" dirty="0">
                <a:solidFill>
                  <a:srgbClr val="0F2044"/>
                </a:solidFill>
                <a:latin typeface="Arial MT"/>
                <a:cs typeface="Arial MT"/>
              </a:rPr>
              <a:t>Science </a:t>
            </a:r>
            <a:r>
              <a:rPr sz="2400" dirty="0">
                <a:solidFill>
                  <a:srgbClr val="0F2044"/>
                </a:solidFill>
                <a:latin typeface="Arial MT"/>
                <a:cs typeface="Arial MT"/>
              </a:rPr>
              <a:t>University</a:t>
            </a:r>
            <a:r>
              <a:rPr sz="2400" spc="-70" dirty="0">
                <a:solidFill>
                  <a:srgbClr val="0F2044"/>
                </a:solidFill>
                <a:latin typeface="Arial MT"/>
                <a:cs typeface="Arial MT"/>
              </a:rPr>
              <a:t> </a:t>
            </a:r>
            <a:r>
              <a:rPr sz="2400" dirty="0">
                <a:solidFill>
                  <a:srgbClr val="0F2044"/>
                </a:solidFill>
                <a:latin typeface="Arial MT"/>
                <a:cs typeface="Arial MT"/>
              </a:rPr>
              <a:t>of</a:t>
            </a:r>
            <a:r>
              <a:rPr sz="2400" spc="-70" dirty="0">
                <a:solidFill>
                  <a:srgbClr val="0F2044"/>
                </a:solidFill>
                <a:latin typeface="Arial MT"/>
                <a:cs typeface="Arial MT"/>
              </a:rPr>
              <a:t> </a:t>
            </a:r>
            <a:r>
              <a:rPr sz="2400" dirty="0">
                <a:solidFill>
                  <a:srgbClr val="0F2044"/>
                </a:solidFill>
                <a:latin typeface="Arial MT"/>
                <a:cs typeface="Arial MT"/>
              </a:rPr>
              <a:t>North</a:t>
            </a:r>
            <a:r>
              <a:rPr sz="2400" spc="-70" dirty="0">
                <a:solidFill>
                  <a:srgbClr val="0F2044"/>
                </a:solidFill>
                <a:latin typeface="Arial MT"/>
                <a:cs typeface="Arial MT"/>
              </a:rPr>
              <a:t> </a:t>
            </a:r>
            <a:r>
              <a:rPr sz="2400" dirty="0">
                <a:solidFill>
                  <a:srgbClr val="0F2044"/>
                </a:solidFill>
                <a:latin typeface="Arial MT"/>
                <a:cs typeface="Arial MT"/>
              </a:rPr>
              <a:t>Carolina</a:t>
            </a:r>
            <a:r>
              <a:rPr sz="2400" spc="-70" dirty="0">
                <a:solidFill>
                  <a:srgbClr val="0F2044"/>
                </a:solidFill>
                <a:latin typeface="Arial MT"/>
                <a:cs typeface="Arial MT"/>
              </a:rPr>
              <a:t> </a:t>
            </a:r>
            <a:r>
              <a:rPr sz="2400" dirty="0">
                <a:solidFill>
                  <a:srgbClr val="0F2044"/>
                </a:solidFill>
                <a:latin typeface="Arial MT"/>
                <a:cs typeface="Arial MT"/>
              </a:rPr>
              <a:t>at</a:t>
            </a:r>
            <a:r>
              <a:rPr sz="2400" spc="-65" dirty="0">
                <a:solidFill>
                  <a:srgbClr val="0F2044"/>
                </a:solidFill>
                <a:latin typeface="Arial MT"/>
                <a:cs typeface="Arial MT"/>
              </a:rPr>
              <a:t> </a:t>
            </a:r>
            <a:r>
              <a:rPr sz="2400" spc="-10" dirty="0">
                <a:solidFill>
                  <a:srgbClr val="0F2044"/>
                </a:solidFill>
                <a:latin typeface="Arial MT"/>
                <a:cs typeface="Arial MT"/>
              </a:rPr>
              <a:t>Greensboro</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35436"/>
            <a:ext cx="1834514" cy="406400"/>
          </a:xfrm>
          <a:prstGeom prst="rect">
            <a:avLst/>
          </a:prstGeom>
        </p:spPr>
        <p:txBody>
          <a:bodyPr vert="horz" wrap="square" lIns="0" tIns="12700" rIns="0" bIns="0" rtlCol="0">
            <a:spAutoFit/>
          </a:bodyPr>
          <a:lstStyle/>
          <a:p>
            <a:pPr marL="12700">
              <a:lnSpc>
                <a:spcPct val="100000"/>
              </a:lnSpc>
              <a:spcBef>
                <a:spcPts val="100"/>
              </a:spcBef>
            </a:pPr>
            <a:r>
              <a:rPr dirty="0"/>
              <a:t>Status</a:t>
            </a:r>
            <a:r>
              <a:rPr spc="-30" dirty="0"/>
              <a:t> </a:t>
            </a:r>
            <a:r>
              <a:rPr spc="-10" dirty="0"/>
              <a:t>Check</a:t>
            </a:r>
          </a:p>
        </p:txBody>
      </p:sp>
      <p:sp>
        <p:nvSpPr>
          <p:cNvPr id="3" name="object 3"/>
          <p:cNvSpPr txBox="1"/>
          <p:nvPr/>
        </p:nvSpPr>
        <p:spPr>
          <a:xfrm>
            <a:off x="654862" y="1854879"/>
            <a:ext cx="6584138" cy="1190069"/>
          </a:xfrm>
          <a:prstGeom prst="rect">
            <a:avLst/>
          </a:prstGeom>
        </p:spPr>
        <p:txBody>
          <a:bodyPr vert="horz" wrap="square" lIns="0" tIns="127000" rIns="0" bIns="0" rtlCol="0">
            <a:spAutoFit/>
          </a:bodyPr>
          <a:lstStyle/>
          <a:p>
            <a:pPr marL="356235" indent="-343535">
              <a:lnSpc>
                <a:spcPct val="100000"/>
              </a:lnSpc>
              <a:spcBef>
                <a:spcPts val="1000"/>
              </a:spcBef>
              <a:buChar char="●"/>
              <a:tabLst>
                <a:tab pos="356235" algn="l"/>
              </a:tabLst>
            </a:pPr>
            <a:r>
              <a:rPr dirty="0">
                <a:solidFill>
                  <a:srgbClr val="0F2044"/>
                </a:solidFill>
                <a:latin typeface="Arial MT"/>
                <a:cs typeface="Arial MT"/>
              </a:rPr>
              <a:t>Implicit</a:t>
            </a:r>
            <a:r>
              <a:rPr spc="-50" dirty="0">
                <a:solidFill>
                  <a:srgbClr val="0F2044"/>
                </a:solidFill>
                <a:latin typeface="Arial MT"/>
                <a:cs typeface="Arial MT"/>
              </a:rPr>
              <a:t> </a:t>
            </a:r>
            <a:r>
              <a:rPr dirty="0">
                <a:solidFill>
                  <a:srgbClr val="0F2044"/>
                </a:solidFill>
                <a:latin typeface="Arial MT"/>
                <a:cs typeface="Arial MT"/>
              </a:rPr>
              <a:t>Free</a:t>
            </a:r>
            <a:r>
              <a:rPr spc="-50" dirty="0">
                <a:solidFill>
                  <a:srgbClr val="0F2044"/>
                </a:solidFill>
                <a:latin typeface="Arial MT"/>
                <a:cs typeface="Arial MT"/>
              </a:rPr>
              <a:t> </a:t>
            </a:r>
            <a:r>
              <a:rPr dirty="0">
                <a:solidFill>
                  <a:srgbClr val="0F2044"/>
                </a:solidFill>
                <a:latin typeface="Arial MT"/>
                <a:cs typeface="Arial MT"/>
              </a:rPr>
              <a:t>List,</a:t>
            </a:r>
            <a:r>
              <a:rPr spc="-50" dirty="0">
                <a:solidFill>
                  <a:srgbClr val="0F2044"/>
                </a:solidFill>
                <a:latin typeface="Arial MT"/>
                <a:cs typeface="Arial MT"/>
              </a:rPr>
              <a:t> </a:t>
            </a:r>
            <a:r>
              <a:rPr spc="-10" dirty="0">
                <a:solidFill>
                  <a:srgbClr val="0F2044"/>
                </a:solidFill>
                <a:latin typeface="Arial MT"/>
                <a:cs typeface="Arial MT"/>
              </a:rPr>
              <a:t>Bidirectional</a:t>
            </a:r>
            <a:r>
              <a:rPr spc="-50" dirty="0">
                <a:solidFill>
                  <a:srgbClr val="0F2044"/>
                </a:solidFill>
                <a:latin typeface="Arial MT"/>
                <a:cs typeface="Arial MT"/>
              </a:rPr>
              <a:t> </a:t>
            </a:r>
            <a:r>
              <a:rPr spc="-10" dirty="0">
                <a:solidFill>
                  <a:srgbClr val="0F2044"/>
                </a:solidFill>
                <a:latin typeface="Arial MT"/>
                <a:cs typeface="Arial MT"/>
              </a:rPr>
              <a:t>Coalescing,</a:t>
            </a:r>
            <a:r>
              <a:rPr spc="-45" dirty="0">
                <a:solidFill>
                  <a:srgbClr val="0F2044"/>
                </a:solidFill>
                <a:latin typeface="Arial MT"/>
                <a:cs typeface="Arial MT"/>
              </a:rPr>
              <a:t> </a:t>
            </a:r>
            <a:r>
              <a:rPr dirty="0">
                <a:solidFill>
                  <a:srgbClr val="0F2044"/>
                </a:solidFill>
                <a:latin typeface="Arial MT"/>
                <a:cs typeface="Arial MT"/>
              </a:rPr>
              <a:t>Explicit</a:t>
            </a:r>
            <a:r>
              <a:rPr spc="-50" dirty="0">
                <a:solidFill>
                  <a:srgbClr val="0F2044"/>
                </a:solidFill>
                <a:latin typeface="Arial MT"/>
                <a:cs typeface="Arial MT"/>
              </a:rPr>
              <a:t> </a:t>
            </a:r>
            <a:r>
              <a:rPr dirty="0">
                <a:solidFill>
                  <a:srgbClr val="0F2044"/>
                </a:solidFill>
                <a:latin typeface="Arial MT"/>
                <a:cs typeface="Arial MT"/>
              </a:rPr>
              <a:t>Free</a:t>
            </a:r>
            <a:r>
              <a:rPr spc="-50" dirty="0">
                <a:solidFill>
                  <a:srgbClr val="0F2044"/>
                </a:solidFill>
                <a:latin typeface="Arial MT"/>
                <a:cs typeface="Arial MT"/>
              </a:rPr>
              <a:t> </a:t>
            </a:r>
            <a:r>
              <a:rPr spc="-20" dirty="0">
                <a:solidFill>
                  <a:srgbClr val="0F2044"/>
                </a:solidFill>
                <a:latin typeface="Arial MT"/>
                <a:cs typeface="Arial MT"/>
              </a:rPr>
              <a:t>List</a:t>
            </a:r>
            <a:endParaRPr dirty="0">
              <a:latin typeface="Arial MT"/>
              <a:cs typeface="Arial MT"/>
            </a:endParaRPr>
          </a:p>
          <a:p>
            <a:pPr marL="356235" indent="-343535">
              <a:lnSpc>
                <a:spcPct val="100000"/>
              </a:lnSpc>
              <a:spcBef>
                <a:spcPts val="900"/>
              </a:spcBef>
              <a:buChar char="●"/>
              <a:tabLst>
                <a:tab pos="356235" algn="l"/>
              </a:tabLst>
            </a:pPr>
            <a:r>
              <a:rPr spc="-10" dirty="0">
                <a:solidFill>
                  <a:srgbClr val="0F2044"/>
                </a:solidFill>
                <a:latin typeface="Arial MT"/>
                <a:cs typeface="Arial MT"/>
              </a:rPr>
              <a:t>Splitting,</a:t>
            </a:r>
            <a:r>
              <a:rPr spc="-45" dirty="0">
                <a:solidFill>
                  <a:srgbClr val="0F2044"/>
                </a:solidFill>
                <a:latin typeface="Arial MT"/>
                <a:cs typeface="Arial MT"/>
              </a:rPr>
              <a:t> </a:t>
            </a:r>
            <a:r>
              <a:rPr dirty="0">
                <a:solidFill>
                  <a:srgbClr val="0F2044"/>
                </a:solidFill>
                <a:latin typeface="Arial MT"/>
                <a:cs typeface="Arial MT"/>
              </a:rPr>
              <a:t>False</a:t>
            </a:r>
            <a:r>
              <a:rPr spc="-45" dirty="0">
                <a:solidFill>
                  <a:srgbClr val="0F2044"/>
                </a:solidFill>
                <a:latin typeface="Arial MT"/>
                <a:cs typeface="Arial MT"/>
              </a:rPr>
              <a:t> </a:t>
            </a:r>
            <a:r>
              <a:rPr spc="-10" dirty="0">
                <a:solidFill>
                  <a:srgbClr val="0F2044"/>
                </a:solidFill>
                <a:latin typeface="Arial MT"/>
                <a:cs typeface="Arial MT"/>
              </a:rPr>
              <a:t>Fragmentation,</a:t>
            </a:r>
            <a:r>
              <a:rPr spc="-40" dirty="0">
                <a:solidFill>
                  <a:srgbClr val="0F2044"/>
                </a:solidFill>
                <a:latin typeface="Arial MT"/>
                <a:cs typeface="Arial MT"/>
              </a:rPr>
              <a:t> </a:t>
            </a:r>
            <a:r>
              <a:rPr dirty="0">
                <a:solidFill>
                  <a:srgbClr val="0F2044"/>
                </a:solidFill>
                <a:latin typeface="Arial MT"/>
                <a:cs typeface="Arial MT"/>
              </a:rPr>
              <a:t>Boundary</a:t>
            </a:r>
            <a:r>
              <a:rPr spc="-65" dirty="0">
                <a:solidFill>
                  <a:srgbClr val="0F2044"/>
                </a:solidFill>
                <a:latin typeface="Arial MT"/>
                <a:cs typeface="Arial MT"/>
              </a:rPr>
              <a:t> </a:t>
            </a:r>
            <a:r>
              <a:rPr spc="-20" dirty="0">
                <a:solidFill>
                  <a:srgbClr val="0F2044"/>
                </a:solidFill>
                <a:latin typeface="Arial MT"/>
                <a:cs typeface="Arial MT"/>
              </a:rPr>
              <a:t>Tags</a:t>
            </a:r>
            <a:endParaRPr dirty="0">
              <a:latin typeface="Arial MT"/>
              <a:cs typeface="Arial MT"/>
            </a:endParaRPr>
          </a:p>
          <a:p>
            <a:pPr marL="356235" indent="-343535">
              <a:lnSpc>
                <a:spcPct val="100000"/>
              </a:lnSpc>
              <a:spcBef>
                <a:spcPts val="900"/>
              </a:spcBef>
              <a:buChar char="●"/>
              <a:tabLst>
                <a:tab pos="356235" algn="l"/>
              </a:tabLst>
            </a:pPr>
            <a:r>
              <a:rPr dirty="0">
                <a:solidFill>
                  <a:srgbClr val="0F2044"/>
                </a:solidFill>
                <a:latin typeface="Arial MT"/>
                <a:cs typeface="Arial MT"/>
              </a:rPr>
              <a:t>Free</a:t>
            </a:r>
            <a:r>
              <a:rPr spc="-55" dirty="0">
                <a:solidFill>
                  <a:srgbClr val="0F2044"/>
                </a:solidFill>
                <a:latin typeface="Arial MT"/>
                <a:cs typeface="Arial MT"/>
              </a:rPr>
              <a:t> </a:t>
            </a:r>
            <a:r>
              <a:rPr dirty="0">
                <a:solidFill>
                  <a:srgbClr val="0F2044"/>
                </a:solidFill>
                <a:latin typeface="Arial MT"/>
                <a:cs typeface="Arial MT"/>
              </a:rPr>
              <a:t>Block</a:t>
            </a:r>
            <a:r>
              <a:rPr spc="-50" dirty="0">
                <a:solidFill>
                  <a:srgbClr val="0F2044"/>
                </a:solidFill>
                <a:latin typeface="Arial MT"/>
                <a:cs typeface="Arial MT"/>
              </a:rPr>
              <a:t> </a:t>
            </a:r>
            <a:r>
              <a:rPr dirty="0">
                <a:solidFill>
                  <a:srgbClr val="0F2044"/>
                </a:solidFill>
                <a:latin typeface="Arial MT"/>
                <a:cs typeface="Arial MT"/>
              </a:rPr>
              <a:t>Insertion</a:t>
            </a:r>
            <a:r>
              <a:rPr spc="-50" dirty="0">
                <a:solidFill>
                  <a:srgbClr val="0F2044"/>
                </a:solidFill>
                <a:latin typeface="Arial MT"/>
                <a:cs typeface="Arial MT"/>
              </a:rPr>
              <a:t> </a:t>
            </a:r>
            <a:r>
              <a:rPr dirty="0">
                <a:solidFill>
                  <a:srgbClr val="0F2044"/>
                </a:solidFill>
                <a:latin typeface="Arial MT"/>
                <a:cs typeface="Arial MT"/>
              </a:rPr>
              <a:t>Policy</a:t>
            </a:r>
            <a:r>
              <a:rPr spc="-50" dirty="0">
                <a:solidFill>
                  <a:srgbClr val="0F2044"/>
                </a:solidFill>
                <a:latin typeface="Arial MT"/>
                <a:cs typeface="Arial MT"/>
              </a:rPr>
              <a:t> </a:t>
            </a:r>
            <a:r>
              <a:rPr dirty="0">
                <a:solidFill>
                  <a:srgbClr val="0F2044"/>
                </a:solidFill>
                <a:latin typeface="Arial MT"/>
                <a:cs typeface="Arial MT"/>
              </a:rPr>
              <a:t>-</a:t>
            </a:r>
            <a:r>
              <a:rPr spc="-50" dirty="0">
                <a:solidFill>
                  <a:srgbClr val="0F2044"/>
                </a:solidFill>
                <a:latin typeface="Arial MT"/>
                <a:cs typeface="Arial MT"/>
              </a:rPr>
              <a:t> </a:t>
            </a:r>
            <a:r>
              <a:rPr spc="-20" dirty="0">
                <a:solidFill>
                  <a:srgbClr val="0F2044"/>
                </a:solidFill>
                <a:latin typeface="Arial MT"/>
                <a:cs typeface="Arial MT"/>
              </a:rPr>
              <a:t>LIFO</a:t>
            </a:r>
            <a:endParaRPr dirty="0">
              <a:latin typeface="Arial MT"/>
              <a:cs typeface="Arial MT"/>
            </a:endParaRPr>
          </a:p>
        </p:txBody>
      </p:sp>
      <p:sp>
        <p:nvSpPr>
          <p:cNvPr id="4" name="object 4"/>
          <p:cNvSpPr txBox="1"/>
          <p:nvPr/>
        </p:nvSpPr>
        <p:spPr>
          <a:xfrm>
            <a:off x="410375" y="3361497"/>
            <a:ext cx="3552025" cy="406400"/>
          </a:xfrm>
          <a:prstGeom prst="rect">
            <a:avLst/>
          </a:prstGeom>
        </p:spPr>
        <p:txBody>
          <a:bodyPr vert="horz" wrap="square" lIns="0" tIns="12700" rIns="0" bIns="0" rtlCol="0">
            <a:spAutoFit/>
          </a:bodyPr>
          <a:lstStyle/>
          <a:p>
            <a:pPr marL="12700">
              <a:lnSpc>
                <a:spcPct val="100000"/>
              </a:lnSpc>
              <a:spcBef>
                <a:spcPts val="100"/>
              </a:spcBef>
            </a:pPr>
            <a:r>
              <a:rPr sz="2500" dirty="0">
                <a:solidFill>
                  <a:srgbClr val="0F2044"/>
                </a:solidFill>
                <a:latin typeface="Georgia"/>
                <a:cs typeface="Georgia"/>
              </a:rPr>
              <a:t>What</a:t>
            </a:r>
            <a:r>
              <a:rPr sz="2500" spc="-35" dirty="0">
                <a:solidFill>
                  <a:srgbClr val="0F2044"/>
                </a:solidFill>
                <a:latin typeface="Georgia"/>
                <a:cs typeface="Georgia"/>
              </a:rPr>
              <a:t> </a:t>
            </a:r>
            <a:r>
              <a:rPr sz="2500" dirty="0">
                <a:solidFill>
                  <a:srgbClr val="0F2044"/>
                </a:solidFill>
                <a:latin typeface="Georgia"/>
                <a:cs typeface="Georgia"/>
              </a:rPr>
              <a:t>we</a:t>
            </a:r>
            <a:r>
              <a:rPr sz="2500" spc="-35" dirty="0">
                <a:solidFill>
                  <a:srgbClr val="0F2044"/>
                </a:solidFill>
                <a:latin typeface="Georgia"/>
                <a:cs typeface="Georgia"/>
              </a:rPr>
              <a:t> </a:t>
            </a:r>
            <a:r>
              <a:rPr sz="2500" dirty="0">
                <a:solidFill>
                  <a:srgbClr val="0F2044"/>
                </a:solidFill>
                <a:latin typeface="Georgia"/>
                <a:cs typeface="Georgia"/>
              </a:rPr>
              <a:t>will</a:t>
            </a:r>
            <a:r>
              <a:rPr sz="2500" spc="-35" dirty="0">
                <a:solidFill>
                  <a:srgbClr val="0F2044"/>
                </a:solidFill>
                <a:latin typeface="Georgia"/>
                <a:cs typeface="Georgia"/>
              </a:rPr>
              <a:t> </a:t>
            </a:r>
            <a:r>
              <a:rPr sz="2500" dirty="0">
                <a:solidFill>
                  <a:srgbClr val="0F2044"/>
                </a:solidFill>
                <a:latin typeface="Georgia"/>
                <a:cs typeface="Georgia"/>
              </a:rPr>
              <a:t>cover</a:t>
            </a:r>
            <a:r>
              <a:rPr sz="2500" spc="-30" dirty="0">
                <a:solidFill>
                  <a:srgbClr val="0F2044"/>
                </a:solidFill>
                <a:latin typeface="Georgia"/>
                <a:cs typeface="Georgia"/>
              </a:rPr>
              <a:t> </a:t>
            </a:r>
            <a:r>
              <a:rPr sz="2500" spc="-20" dirty="0">
                <a:solidFill>
                  <a:srgbClr val="0F2044"/>
                </a:solidFill>
                <a:latin typeface="Georgia"/>
                <a:cs typeface="Georgia"/>
              </a:rPr>
              <a:t>today</a:t>
            </a:r>
            <a:endParaRPr sz="2500" dirty="0">
              <a:latin typeface="Georgia"/>
              <a:cs typeface="Georgia"/>
            </a:endParaRPr>
          </a:p>
        </p:txBody>
      </p:sp>
      <p:sp>
        <p:nvSpPr>
          <p:cNvPr id="6" name="object 6"/>
          <p:cNvSpPr txBox="1"/>
          <p:nvPr/>
        </p:nvSpPr>
        <p:spPr>
          <a:xfrm>
            <a:off x="654861" y="3810000"/>
            <a:ext cx="3412617" cy="2367315"/>
          </a:xfrm>
          <a:prstGeom prst="rect">
            <a:avLst/>
          </a:prstGeom>
        </p:spPr>
        <p:txBody>
          <a:bodyPr vert="horz" wrap="square" lIns="0" tIns="127000" rIns="0" bIns="0" rtlCol="0">
            <a:spAutoFit/>
          </a:bodyPr>
          <a:lstStyle/>
          <a:p>
            <a:pPr marL="356235" indent="-343535">
              <a:lnSpc>
                <a:spcPct val="100000"/>
              </a:lnSpc>
              <a:spcBef>
                <a:spcPts val="1000"/>
              </a:spcBef>
              <a:buChar char="●"/>
              <a:tabLst>
                <a:tab pos="356235" algn="l"/>
              </a:tabLst>
            </a:pPr>
            <a:r>
              <a:rPr dirty="0">
                <a:solidFill>
                  <a:srgbClr val="0F2044"/>
                </a:solidFill>
                <a:latin typeface="Arial MT"/>
                <a:cs typeface="Arial MT"/>
              </a:rPr>
              <a:t>Threads</a:t>
            </a:r>
            <a:r>
              <a:rPr spc="-35" dirty="0">
                <a:solidFill>
                  <a:srgbClr val="0F2044"/>
                </a:solidFill>
                <a:latin typeface="Arial MT"/>
                <a:cs typeface="Arial MT"/>
              </a:rPr>
              <a:t> </a:t>
            </a:r>
            <a:r>
              <a:rPr dirty="0">
                <a:solidFill>
                  <a:srgbClr val="0F2044"/>
                </a:solidFill>
                <a:latin typeface="Arial MT"/>
                <a:cs typeface="Arial MT"/>
              </a:rPr>
              <a:t>vs</a:t>
            </a:r>
            <a:r>
              <a:rPr spc="-35" dirty="0">
                <a:solidFill>
                  <a:srgbClr val="0F2044"/>
                </a:solidFill>
                <a:latin typeface="Arial MT"/>
                <a:cs typeface="Arial MT"/>
              </a:rPr>
              <a:t> </a:t>
            </a:r>
            <a:r>
              <a:rPr spc="-10" dirty="0">
                <a:solidFill>
                  <a:srgbClr val="0F2044"/>
                </a:solidFill>
                <a:latin typeface="Arial MT"/>
                <a:cs typeface="Arial MT"/>
              </a:rPr>
              <a:t>Processes</a:t>
            </a:r>
            <a:endParaRPr dirty="0">
              <a:latin typeface="Arial MT"/>
              <a:cs typeface="Arial MT"/>
            </a:endParaRPr>
          </a:p>
          <a:p>
            <a:pPr marL="356235" indent="-343535">
              <a:lnSpc>
                <a:spcPct val="100000"/>
              </a:lnSpc>
              <a:spcBef>
                <a:spcPts val="900"/>
              </a:spcBef>
              <a:buChar char="●"/>
              <a:tabLst>
                <a:tab pos="356235" algn="l"/>
              </a:tabLst>
            </a:pPr>
            <a:r>
              <a:rPr spc="-20" dirty="0">
                <a:solidFill>
                  <a:srgbClr val="0F2044"/>
                </a:solidFill>
                <a:latin typeface="Arial MT"/>
                <a:cs typeface="Arial MT"/>
              </a:rPr>
              <a:t>Multi-</a:t>
            </a:r>
            <a:r>
              <a:rPr dirty="0">
                <a:solidFill>
                  <a:srgbClr val="0F2044"/>
                </a:solidFill>
                <a:latin typeface="Arial MT"/>
                <a:cs typeface="Arial MT"/>
              </a:rPr>
              <a:t>threaded</a:t>
            </a:r>
            <a:r>
              <a:rPr spc="-50" dirty="0">
                <a:solidFill>
                  <a:srgbClr val="0F2044"/>
                </a:solidFill>
                <a:latin typeface="Arial MT"/>
                <a:cs typeface="Arial MT"/>
              </a:rPr>
              <a:t> </a:t>
            </a:r>
            <a:r>
              <a:rPr dirty="0">
                <a:solidFill>
                  <a:srgbClr val="0F2044"/>
                </a:solidFill>
                <a:latin typeface="Arial MT"/>
                <a:cs typeface="Arial MT"/>
              </a:rPr>
              <a:t>Programs</a:t>
            </a:r>
            <a:r>
              <a:rPr spc="-45" dirty="0">
                <a:solidFill>
                  <a:srgbClr val="0F2044"/>
                </a:solidFill>
                <a:latin typeface="Arial MT"/>
                <a:cs typeface="Arial MT"/>
              </a:rPr>
              <a:t> </a:t>
            </a:r>
            <a:r>
              <a:rPr dirty="0">
                <a:solidFill>
                  <a:srgbClr val="0F2044"/>
                </a:solidFill>
                <a:latin typeface="Arial MT"/>
                <a:cs typeface="Arial MT"/>
              </a:rPr>
              <a:t>in</a:t>
            </a:r>
            <a:r>
              <a:rPr spc="-45" dirty="0">
                <a:solidFill>
                  <a:srgbClr val="0F2044"/>
                </a:solidFill>
                <a:latin typeface="Arial MT"/>
                <a:cs typeface="Arial MT"/>
              </a:rPr>
              <a:t> </a:t>
            </a:r>
            <a:r>
              <a:rPr spc="-50" dirty="0">
                <a:solidFill>
                  <a:srgbClr val="0F2044"/>
                </a:solidFill>
                <a:latin typeface="Arial MT"/>
                <a:cs typeface="Arial MT"/>
              </a:rPr>
              <a:t>C</a:t>
            </a:r>
            <a:endParaRPr dirty="0">
              <a:latin typeface="Arial MT"/>
              <a:cs typeface="Arial MT"/>
            </a:endParaRPr>
          </a:p>
          <a:p>
            <a:pPr marL="813435" lvl="1" indent="-344170">
              <a:lnSpc>
                <a:spcPct val="100000"/>
              </a:lnSpc>
              <a:spcBef>
                <a:spcPts val="900"/>
              </a:spcBef>
              <a:buChar char="○"/>
              <a:tabLst>
                <a:tab pos="813435" algn="l"/>
              </a:tabLst>
            </a:pPr>
            <a:r>
              <a:rPr spc="-10" dirty="0">
                <a:solidFill>
                  <a:srgbClr val="0F2044"/>
                </a:solidFill>
                <a:latin typeface="Arial MT"/>
                <a:cs typeface="Arial MT"/>
              </a:rPr>
              <a:t>pthread_create</a:t>
            </a:r>
            <a:endParaRPr dirty="0">
              <a:latin typeface="Arial MT"/>
              <a:cs typeface="Arial MT"/>
            </a:endParaRPr>
          </a:p>
          <a:p>
            <a:pPr marL="813435" lvl="1" indent="-344170">
              <a:lnSpc>
                <a:spcPct val="100000"/>
              </a:lnSpc>
              <a:spcBef>
                <a:spcPts val="900"/>
              </a:spcBef>
              <a:buChar char="○"/>
              <a:tabLst>
                <a:tab pos="813435" algn="l"/>
              </a:tabLst>
            </a:pPr>
            <a:r>
              <a:rPr spc="-10" dirty="0">
                <a:solidFill>
                  <a:srgbClr val="0F2044"/>
                </a:solidFill>
                <a:latin typeface="Arial MT"/>
                <a:cs typeface="Arial MT"/>
              </a:rPr>
              <a:t>pthread_join</a:t>
            </a:r>
            <a:endParaRPr dirty="0">
              <a:latin typeface="Arial MT"/>
              <a:cs typeface="Arial MT"/>
            </a:endParaRPr>
          </a:p>
          <a:p>
            <a:pPr marL="813435" lvl="1" indent="-344170">
              <a:lnSpc>
                <a:spcPct val="100000"/>
              </a:lnSpc>
              <a:spcBef>
                <a:spcPts val="900"/>
              </a:spcBef>
              <a:buChar char="○"/>
              <a:tabLst>
                <a:tab pos="813435" algn="l"/>
              </a:tabLst>
            </a:pPr>
            <a:r>
              <a:rPr spc="-10" dirty="0">
                <a:solidFill>
                  <a:srgbClr val="0F2044"/>
                </a:solidFill>
                <a:latin typeface="Arial MT"/>
                <a:cs typeface="Arial MT"/>
              </a:rPr>
              <a:t>pthread_exit</a:t>
            </a:r>
            <a:endParaRPr dirty="0">
              <a:latin typeface="Arial MT"/>
              <a:cs typeface="Arial MT"/>
            </a:endParaRPr>
          </a:p>
          <a:p>
            <a:pPr marL="813435" lvl="1" indent="-344170">
              <a:lnSpc>
                <a:spcPct val="100000"/>
              </a:lnSpc>
              <a:spcBef>
                <a:spcPts val="900"/>
              </a:spcBef>
              <a:buChar char="○"/>
              <a:tabLst>
                <a:tab pos="813435" algn="l"/>
              </a:tabLst>
            </a:pPr>
            <a:r>
              <a:rPr spc="-10" dirty="0">
                <a:solidFill>
                  <a:srgbClr val="0F2044"/>
                </a:solidFill>
                <a:latin typeface="Arial MT"/>
                <a:cs typeface="Arial MT"/>
              </a:rPr>
              <a:t>pthread_cancel</a:t>
            </a:r>
            <a:endParaRPr dirty="0">
              <a:latin typeface="Arial MT"/>
              <a:cs typeface="Arial MT"/>
            </a:endParaRPr>
          </a:p>
        </p:txBody>
      </p:sp>
      <p:pic>
        <p:nvPicPr>
          <p:cNvPr id="5" name="object 5">
            <a:extLst>
              <a:ext uri="{C183D7F6-B498-43B3-948B-1728B52AA6E4}">
                <adec:decorative xmlns:adec="http://schemas.microsoft.com/office/drawing/2017/decorative" val="1"/>
              </a:ext>
            </a:extLst>
          </p:cNvPr>
          <p:cNvPicPr/>
          <p:nvPr/>
        </p:nvPicPr>
        <p:blipFill>
          <a:blip r:embed="rId2" cstate="print"/>
          <a:stretch>
            <a:fillRect/>
          </a:stretch>
        </p:blipFill>
        <p:spPr>
          <a:xfrm>
            <a:off x="7882518" y="2216065"/>
            <a:ext cx="3208348" cy="27438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B0FC7-EC01-9B49-8D3E-5FD6E9AF8ACB}"/>
              </a:ext>
            </a:extLst>
          </p:cNvPr>
          <p:cNvSpPr>
            <a:spLocks noGrp="1"/>
          </p:cNvSpPr>
          <p:nvPr>
            <p:ph type="title"/>
          </p:nvPr>
        </p:nvSpPr>
        <p:spPr>
          <a:xfrm>
            <a:off x="1066800" y="3352800"/>
            <a:ext cx="10134600" cy="553998"/>
          </a:xfrm>
        </p:spPr>
        <p:txBody>
          <a:bodyPr/>
          <a:lstStyle/>
          <a:p>
            <a:pPr algn="ctr"/>
            <a:r>
              <a:rPr lang="en-US" sz="3600" dirty="0"/>
              <a:t>Processes vs. Threads</a:t>
            </a:r>
          </a:p>
        </p:txBody>
      </p:sp>
    </p:spTree>
    <p:extLst>
      <p:ext uri="{BB962C8B-B14F-4D97-AF65-F5344CB8AC3E}">
        <p14:creationId xmlns:p14="http://schemas.microsoft.com/office/powerpoint/2010/main" val="399898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95400"/>
            <a:ext cx="4480560" cy="384721"/>
          </a:xfrm>
          <a:prstGeom prst="rect">
            <a:avLst/>
          </a:prstGeom>
        </p:spPr>
        <p:txBody>
          <a:bodyPr vert="horz" wrap="square" lIns="0" tIns="0" rIns="0" bIns="0" rtlCol="0">
            <a:spAutoFit/>
          </a:bodyPr>
          <a:lstStyle/>
          <a:p>
            <a:pPr marL="12700">
              <a:lnSpc>
                <a:spcPct val="100000"/>
              </a:lnSpc>
            </a:pPr>
            <a:r>
              <a:rPr dirty="0"/>
              <a:t>Why</a:t>
            </a:r>
            <a:r>
              <a:rPr spc="-35" dirty="0"/>
              <a:t> </a:t>
            </a:r>
            <a:r>
              <a:rPr dirty="0"/>
              <a:t>Processes</a:t>
            </a:r>
            <a:r>
              <a:rPr spc="-30" dirty="0"/>
              <a:t> </a:t>
            </a:r>
            <a:r>
              <a:rPr dirty="0"/>
              <a:t>are</a:t>
            </a:r>
            <a:r>
              <a:rPr spc="-30" dirty="0"/>
              <a:t> </a:t>
            </a:r>
            <a:r>
              <a:rPr dirty="0"/>
              <a:t>not</a:t>
            </a:r>
            <a:r>
              <a:rPr spc="-30" dirty="0"/>
              <a:t> </a:t>
            </a:r>
            <a:r>
              <a:rPr lang="en-US" spc="-10" dirty="0"/>
              <a:t>I</a:t>
            </a:r>
            <a:r>
              <a:rPr spc="-10" dirty="0"/>
              <a:t>deal?</a:t>
            </a:r>
          </a:p>
        </p:txBody>
      </p:sp>
      <p:sp>
        <p:nvSpPr>
          <p:cNvPr id="3" name="object 3"/>
          <p:cNvSpPr txBox="1"/>
          <p:nvPr/>
        </p:nvSpPr>
        <p:spPr>
          <a:xfrm>
            <a:off x="484450" y="1862767"/>
            <a:ext cx="9091295" cy="4732962"/>
          </a:xfrm>
          <a:prstGeom prst="rect">
            <a:avLst/>
          </a:prstGeom>
        </p:spPr>
        <p:txBody>
          <a:bodyPr vert="horz" wrap="square" lIns="0" tIns="53975" rIns="0" bIns="0" rtlCol="0">
            <a:spAutoFit/>
          </a:bodyPr>
          <a:lstStyle/>
          <a:p>
            <a:pPr marL="12700">
              <a:lnSpc>
                <a:spcPct val="114000"/>
              </a:lnSpc>
              <a:spcBef>
                <a:spcPts val="425"/>
              </a:spcBef>
              <a:spcAft>
                <a:spcPts val="600"/>
              </a:spcAft>
            </a:pPr>
            <a:r>
              <a:rPr sz="1800" b="1" dirty="0">
                <a:solidFill>
                  <a:srgbClr val="980000"/>
                </a:solidFill>
                <a:latin typeface="Arial"/>
                <a:cs typeface="Arial"/>
              </a:rPr>
              <a:t>Processes</a:t>
            </a:r>
            <a:r>
              <a:rPr sz="1800" b="1" spc="-30" dirty="0">
                <a:solidFill>
                  <a:srgbClr val="980000"/>
                </a:solidFill>
                <a:latin typeface="Arial"/>
                <a:cs typeface="Arial"/>
              </a:rPr>
              <a:t> </a:t>
            </a:r>
            <a:r>
              <a:rPr sz="1800" b="1" dirty="0">
                <a:solidFill>
                  <a:srgbClr val="980000"/>
                </a:solidFill>
                <a:latin typeface="Arial"/>
                <a:cs typeface="Arial"/>
              </a:rPr>
              <a:t>are</a:t>
            </a:r>
            <a:r>
              <a:rPr sz="1800" b="1" spc="-30" dirty="0">
                <a:solidFill>
                  <a:srgbClr val="980000"/>
                </a:solidFill>
                <a:latin typeface="Arial"/>
                <a:cs typeface="Arial"/>
              </a:rPr>
              <a:t> </a:t>
            </a:r>
            <a:r>
              <a:rPr sz="1800" b="1" dirty="0">
                <a:solidFill>
                  <a:srgbClr val="980000"/>
                </a:solidFill>
                <a:latin typeface="Arial"/>
                <a:cs typeface="Arial"/>
              </a:rPr>
              <a:t>not</a:t>
            </a:r>
            <a:r>
              <a:rPr sz="1800" b="1" spc="-25" dirty="0">
                <a:solidFill>
                  <a:srgbClr val="980000"/>
                </a:solidFill>
                <a:latin typeface="Arial"/>
                <a:cs typeface="Arial"/>
              </a:rPr>
              <a:t> </a:t>
            </a:r>
            <a:r>
              <a:rPr sz="1800" b="1" dirty="0">
                <a:solidFill>
                  <a:srgbClr val="980000"/>
                </a:solidFill>
                <a:latin typeface="Arial"/>
                <a:cs typeface="Arial"/>
              </a:rPr>
              <a:t>very</a:t>
            </a:r>
            <a:r>
              <a:rPr sz="1800" b="1" spc="-30" dirty="0">
                <a:solidFill>
                  <a:srgbClr val="980000"/>
                </a:solidFill>
                <a:latin typeface="Arial"/>
                <a:cs typeface="Arial"/>
              </a:rPr>
              <a:t> </a:t>
            </a:r>
            <a:r>
              <a:rPr sz="1800" b="1" spc="-10" dirty="0">
                <a:solidFill>
                  <a:srgbClr val="980000"/>
                </a:solidFill>
                <a:latin typeface="Arial"/>
                <a:cs typeface="Arial"/>
              </a:rPr>
              <a:t>efficient</a:t>
            </a:r>
            <a:endParaRPr sz="1800" dirty="0">
              <a:latin typeface="Arial"/>
              <a:cs typeface="Arial"/>
            </a:endParaRPr>
          </a:p>
          <a:p>
            <a:pPr marL="469265" indent="-366395">
              <a:lnSpc>
                <a:spcPct val="114000"/>
              </a:lnSpc>
              <a:spcBef>
                <a:spcPts val="320"/>
              </a:spcBef>
              <a:spcAft>
                <a:spcPts val="600"/>
              </a:spcAft>
              <a:buChar char="●"/>
              <a:tabLst>
                <a:tab pos="469265" algn="l"/>
              </a:tabLst>
            </a:pPr>
            <a:r>
              <a:rPr sz="1800" dirty="0">
                <a:latin typeface="Arial MT"/>
                <a:cs typeface="Arial MT"/>
              </a:rPr>
              <a:t>Each</a:t>
            </a:r>
            <a:r>
              <a:rPr sz="1800" spc="-25" dirty="0">
                <a:latin typeface="Arial MT"/>
                <a:cs typeface="Arial MT"/>
              </a:rPr>
              <a:t> </a:t>
            </a:r>
            <a:r>
              <a:rPr sz="1800" dirty="0">
                <a:latin typeface="Arial MT"/>
                <a:cs typeface="Arial MT"/>
              </a:rPr>
              <a:t>process</a:t>
            </a:r>
            <a:r>
              <a:rPr sz="1800" spc="-10" dirty="0">
                <a:latin typeface="Arial MT"/>
                <a:cs typeface="Arial MT"/>
              </a:rPr>
              <a:t> </a:t>
            </a:r>
            <a:r>
              <a:rPr sz="1800" dirty="0">
                <a:latin typeface="Arial MT"/>
                <a:cs typeface="Arial MT"/>
              </a:rPr>
              <a:t>has</a:t>
            </a:r>
            <a:r>
              <a:rPr sz="1800" spc="-10" dirty="0">
                <a:latin typeface="Arial MT"/>
                <a:cs typeface="Arial MT"/>
              </a:rPr>
              <a:t> </a:t>
            </a:r>
            <a:r>
              <a:rPr sz="1800" dirty="0">
                <a:latin typeface="Arial MT"/>
                <a:cs typeface="Arial MT"/>
              </a:rPr>
              <a:t>its</a:t>
            </a:r>
            <a:r>
              <a:rPr sz="1800" spc="-10" dirty="0">
                <a:latin typeface="Arial MT"/>
                <a:cs typeface="Arial MT"/>
              </a:rPr>
              <a:t> </a:t>
            </a:r>
            <a:r>
              <a:rPr sz="1800" dirty="0">
                <a:latin typeface="Arial MT"/>
                <a:cs typeface="Arial MT"/>
              </a:rPr>
              <a:t>own</a:t>
            </a:r>
            <a:r>
              <a:rPr sz="1800" spc="-15" dirty="0">
                <a:latin typeface="Arial MT"/>
                <a:cs typeface="Arial MT"/>
              </a:rPr>
              <a:t> </a:t>
            </a:r>
            <a:r>
              <a:rPr sz="1800" dirty="0">
                <a:latin typeface="Arial MT"/>
                <a:cs typeface="Arial MT"/>
              </a:rPr>
              <a:t>PCB</a:t>
            </a:r>
            <a:r>
              <a:rPr sz="1800" spc="-10" dirty="0">
                <a:latin typeface="Arial MT"/>
                <a:cs typeface="Arial MT"/>
              </a:rPr>
              <a:t> </a:t>
            </a:r>
            <a:r>
              <a:rPr sz="1800" dirty="0">
                <a:latin typeface="Arial MT"/>
                <a:cs typeface="Arial MT"/>
              </a:rPr>
              <a:t>and</a:t>
            </a:r>
            <a:r>
              <a:rPr sz="1800" spc="-10" dirty="0">
                <a:latin typeface="Arial MT"/>
                <a:cs typeface="Arial MT"/>
              </a:rPr>
              <a:t> </a:t>
            </a:r>
            <a:r>
              <a:rPr sz="1800" dirty="0">
                <a:latin typeface="Arial MT"/>
                <a:cs typeface="Arial MT"/>
              </a:rPr>
              <a:t>OS</a:t>
            </a:r>
            <a:r>
              <a:rPr sz="1800" spc="-10" dirty="0">
                <a:latin typeface="Arial MT"/>
                <a:cs typeface="Arial MT"/>
              </a:rPr>
              <a:t> resources</a:t>
            </a:r>
            <a:endParaRPr sz="1800" dirty="0">
              <a:latin typeface="Arial MT"/>
              <a:cs typeface="Arial MT"/>
            </a:endParaRPr>
          </a:p>
          <a:p>
            <a:pPr marL="469265" indent="-366395">
              <a:lnSpc>
                <a:spcPct val="114000"/>
              </a:lnSpc>
              <a:spcBef>
                <a:spcPts val="325"/>
              </a:spcBef>
              <a:spcAft>
                <a:spcPts val="600"/>
              </a:spcAft>
              <a:buChar char="●"/>
              <a:tabLst>
                <a:tab pos="469265" algn="l"/>
              </a:tabLst>
            </a:pPr>
            <a:r>
              <a:rPr sz="1800" dirty="0">
                <a:latin typeface="Arial MT"/>
                <a:cs typeface="Arial MT"/>
              </a:rPr>
              <a:t>Typically</a:t>
            </a:r>
            <a:r>
              <a:rPr lang="en-US" sz="1800" dirty="0">
                <a:latin typeface="Arial MT"/>
                <a:cs typeface="Arial MT"/>
              </a:rPr>
              <a:t>,</a:t>
            </a:r>
            <a:r>
              <a:rPr sz="1800" spc="-35" dirty="0">
                <a:latin typeface="Arial MT"/>
                <a:cs typeface="Arial MT"/>
              </a:rPr>
              <a:t> </a:t>
            </a:r>
            <a:r>
              <a:rPr sz="1800" dirty="0">
                <a:latin typeface="Arial MT"/>
                <a:cs typeface="Arial MT"/>
              </a:rPr>
              <a:t>high</a:t>
            </a:r>
            <a:r>
              <a:rPr sz="1800" spc="-30" dirty="0">
                <a:latin typeface="Arial MT"/>
                <a:cs typeface="Arial MT"/>
              </a:rPr>
              <a:t> </a:t>
            </a:r>
            <a:r>
              <a:rPr sz="1800" dirty="0">
                <a:latin typeface="Arial MT"/>
                <a:cs typeface="Arial MT"/>
              </a:rPr>
              <a:t>overhead</a:t>
            </a:r>
            <a:r>
              <a:rPr sz="1800" spc="-30" dirty="0">
                <a:latin typeface="Arial MT"/>
                <a:cs typeface="Arial MT"/>
              </a:rPr>
              <a:t> </a:t>
            </a:r>
            <a:r>
              <a:rPr sz="1800" dirty="0">
                <a:latin typeface="Arial MT"/>
                <a:cs typeface="Arial MT"/>
              </a:rPr>
              <a:t>for</a:t>
            </a:r>
            <a:r>
              <a:rPr sz="1800" spc="-30" dirty="0">
                <a:latin typeface="Arial MT"/>
                <a:cs typeface="Arial MT"/>
              </a:rPr>
              <a:t> </a:t>
            </a:r>
            <a:r>
              <a:rPr sz="1800" dirty="0">
                <a:latin typeface="Arial MT"/>
                <a:cs typeface="Arial MT"/>
              </a:rPr>
              <a:t>each</a:t>
            </a:r>
            <a:r>
              <a:rPr sz="1800" spc="-30" dirty="0">
                <a:latin typeface="Arial MT"/>
                <a:cs typeface="Arial MT"/>
              </a:rPr>
              <a:t> </a:t>
            </a:r>
            <a:r>
              <a:rPr sz="1800" dirty="0">
                <a:latin typeface="Arial MT"/>
                <a:cs typeface="Arial MT"/>
              </a:rPr>
              <a:t>process:</a:t>
            </a:r>
            <a:r>
              <a:rPr sz="1800" spc="-30" dirty="0">
                <a:latin typeface="Arial MT"/>
                <a:cs typeface="Arial MT"/>
              </a:rPr>
              <a:t> </a:t>
            </a:r>
            <a:r>
              <a:rPr sz="1800" dirty="0">
                <a:latin typeface="Arial MT"/>
                <a:cs typeface="Arial MT"/>
              </a:rPr>
              <a:t>e.g.,</a:t>
            </a:r>
            <a:r>
              <a:rPr sz="1800" spc="-30" dirty="0">
                <a:latin typeface="Arial MT"/>
                <a:cs typeface="Arial MT"/>
              </a:rPr>
              <a:t> </a:t>
            </a:r>
            <a:r>
              <a:rPr sz="1800" dirty="0">
                <a:latin typeface="Arial MT"/>
                <a:cs typeface="Arial MT"/>
              </a:rPr>
              <a:t>1.7</a:t>
            </a:r>
            <a:r>
              <a:rPr sz="1800" spc="-30" dirty="0">
                <a:latin typeface="Arial MT"/>
                <a:cs typeface="Arial MT"/>
              </a:rPr>
              <a:t> </a:t>
            </a:r>
            <a:r>
              <a:rPr sz="1800" dirty="0">
                <a:latin typeface="Arial MT"/>
                <a:cs typeface="Arial MT"/>
              </a:rPr>
              <a:t>KB</a:t>
            </a:r>
            <a:r>
              <a:rPr sz="1800" spc="-30" dirty="0">
                <a:latin typeface="Arial MT"/>
                <a:cs typeface="Arial MT"/>
              </a:rPr>
              <a:t> </a:t>
            </a:r>
            <a:r>
              <a:rPr sz="1800" dirty="0">
                <a:latin typeface="Arial MT"/>
                <a:cs typeface="Arial MT"/>
              </a:rPr>
              <a:t>per</a:t>
            </a:r>
            <a:r>
              <a:rPr sz="1800" spc="-30" dirty="0">
                <a:latin typeface="Arial MT"/>
                <a:cs typeface="Arial MT"/>
              </a:rPr>
              <a:t> </a:t>
            </a:r>
            <a:r>
              <a:rPr sz="1800" dirty="0">
                <a:latin typeface="Arial MT"/>
                <a:cs typeface="Arial MT"/>
              </a:rPr>
              <a:t>task_struct</a:t>
            </a:r>
            <a:r>
              <a:rPr sz="1800" spc="-35" dirty="0">
                <a:latin typeface="Arial MT"/>
                <a:cs typeface="Arial MT"/>
              </a:rPr>
              <a:t> </a:t>
            </a:r>
            <a:r>
              <a:rPr sz="1800" dirty="0">
                <a:latin typeface="Arial MT"/>
                <a:cs typeface="Arial MT"/>
              </a:rPr>
              <a:t>on</a:t>
            </a:r>
            <a:r>
              <a:rPr sz="1800" spc="-30" dirty="0">
                <a:latin typeface="Arial MT"/>
                <a:cs typeface="Arial MT"/>
              </a:rPr>
              <a:t> </a:t>
            </a:r>
            <a:r>
              <a:rPr sz="1800" spc="-10" dirty="0">
                <a:latin typeface="Arial MT"/>
                <a:cs typeface="Arial MT"/>
              </a:rPr>
              <a:t>Linux!</a:t>
            </a:r>
            <a:endParaRPr sz="1800" dirty="0">
              <a:latin typeface="Arial MT"/>
              <a:cs typeface="Arial MT"/>
            </a:endParaRPr>
          </a:p>
          <a:p>
            <a:pPr marL="469265" indent="-366395">
              <a:lnSpc>
                <a:spcPct val="114000"/>
              </a:lnSpc>
              <a:spcBef>
                <a:spcPts val="325"/>
              </a:spcBef>
              <a:spcAft>
                <a:spcPts val="1800"/>
              </a:spcAft>
              <a:buChar char="●"/>
              <a:tabLst>
                <a:tab pos="469265" algn="l"/>
              </a:tabLst>
            </a:pPr>
            <a:r>
              <a:rPr sz="1800" dirty="0">
                <a:latin typeface="Arial MT"/>
                <a:cs typeface="Arial MT"/>
              </a:rPr>
              <a:t>Creating</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new</a:t>
            </a:r>
            <a:r>
              <a:rPr sz="1800" spc="-15"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often</a:t>
            </a:r>
            <a:r>
              <a:rPr sz="1800" spc="-15" dirty="0">
                <a:latin typeface="Arial MT"/>
                <a:cs typeface="Arial MT"/>
              </a:rPr>
              <a:t> </a:t>
            </a:r>
            <a:r>
              <a:rPr sz="1800" dirty="0">
                <a:latin typeface="Arial MT"/>
                <a:cs typeface="Arial MT"/>
              </a:rPr>
              <a:t>very</a:t>
            </a:r>
            <a:r>
              <a:rPr sz="1800" spc="-10" dirty="0">
                <a:latin typeface="Arial MT"/>
                <a:cs typeface="Arial MT"/>
              </a:rPr>
              <a:t> expensive</a:t>
            </a:r>
            <a:endParaRPr sz="1800" dirty="0">
              <a:latin typeface="Arial MT"/>
              <a:cs typeface="Arial MT"/>
            </a:endParaRPr>
          </a:p>
          <a:p>
            <a:pPr marL="12700">
              <a:lnSpc>
                <a:spcPct val="114000"/>
              </a:lnSpc>
              <a:spcBef>
                <a:spcPts val="5"/>
              </a:spcBef>
              <a:spcAft>
                <a:spcPts val="600"/>
              </a:spcAft>
            </a:pPr>
            <a:r>
              <a:rPr sz="1800" b="1" dirty="0">
                <a:solidFill>
                  <a:srgbClr val="980000"/>
                </a:solidFill>
                <a:latin typeface="Arial"/>
                <a:cs typeface="Arial"/>
              </a:rPr>
              <a:t>Processes</a:t>
            </a:r>
            <a:r>
              <a:rPr sz="1800" b="1" spc="-20" dirty="0">
                <a:solidFill>
                  <a:srgbClr val="980000"/>
                </a:solidFill>
                <a:latin typeface="Arial"/>
                <a:cs typeface="Arial"/>
              </a:rPr>
              <a:t> </a:t>
            </a:r>
            <a:r>
              <a:rPr sz="1800" b="1" dirty="0">
                <a:solidFill>
                  <a:srgbClr val="980000"/>
                </a:solidFill>
                <a:latin typeface="Arial"/>
                <a:cs typeface="Arial"/>
              </a:rPr>
              <a:t>don't</a:t>
            </a:r>
            <a:r>
              <a:rPr sz="1800" b="1" spc="-20" dirty="0">
                <a:solidFill>
                  <a:srgbClr val="980000"/>
                </a:solidFill>
                <a:latin typeface="Arial"/>
                <a:cs typeface="Arial"/>
              </a:rPr>
              <a:t> </a:t>
            </a:r>
            <a:r>
              <a:rPr sz="1800" b="1" dirty="0">
                <a:solidFill>
                  <a:srgbClr val="980000"/>
                </a:solidFill>
                <a:latin typeface="Arial"/>
                <a:cs typeface="Arial"/>
              </a:rPr>
              <a:t>(directly)</a:t>
            </a:r>
            <a:r>
              <a:rPr sz="1800" b="1" spc="-20" dirty="0">
                <a:solidFill>
                  <a:srgbClr val="980000"/>
                </a:solidFill>
                <a:latin typeface="Arial"/>
                <a:cs typeface="Arial"/>
              </a:rPr>
              <a:t> </a:t>
            </a:r>
            <a:r>
              <a:rPr sz="1800" b="1" dirty="0">
                <a:solidFill>
                  <a:srgbClr val="980000"/>
                </a:solidFill>
                <a:latin typeface="Arial"/>
                <a:cs typeface="Arial"/>
              </a:rPr>
              <a:t>share</a:t>
            </a:r>
            <a:r>
              <a:rPr sz="1800" b="1" spc="-20" dirty="0">
                <a:solidFill>
                  <a:srgbClr val="980000"/>
                </a:solidFill>
                <a:latin typeface="Arial"/>
                <a:cs typeface="Arial"/>
              </a:rPr>
              <a:t> </a:t>
            </a:r>
            <a:r>
              <a:rPr sz="1800" b="1" spc="-10" dirty="0">
                <a:solidFill>
                  <a:srgbClr val="980000"/>
                </a:solidFill>
                <a:latin typeface="Arial"/>
                <a:cs typeface="Arial"/>
              </a:rPr>
              <a:t>memory</a:t>
            </a:r>
            <a:endParaRPr sz="1800" dirty="0">
              <a:latin typeface="Arial"/>
              <a:cs typeface="Arial"/>
            </a:endParaRPr>
          </a:p>
          <a:p>
            <a:pPr marL="469265" indent="-366395">
              <a:lnSpc>
                <a:spcPct val="114000"/>
              </a:lnSpc>
              <a:spcBef>
                <a:spcPts val="320"/>
              </a:spcBef>
              <a:spcAft>
                <a:spcPts val="600"/>
              </a:spcAft>
              <a:buChar char="●"/>
              <a:tabLst>
                <a:tab pos="469265" algn="l"/>
              </a:tabLst>
            </a:pPr>
            <a:r>
              <a:rPr sz="1800" dirty="0">
                <a:latin typeface="Arial MT"/>
                <a:cs typeface="Arial MT"/>
              </a:rPr>
              <a:t>Each</a:t>
            </a:r>
            <a:r>
              <a:rPr sz="1800" spc="-10" dirty="0">
                <a:latin typeface="Arial MT"/>
                <a:cs typeface="Arial MT"/>
              </a:rPr>
              <a:t> </a:t>
            </a:r>
            <a:r>
              <a:rPr sz="1800" dirty="0">
                <a:latin typeface="Arial MT"/>
                <a:cs typeface="Arial MT"/>
              </a:rPr>
              <a:t>process</a:t>
            </a:r>
            <a:r>
              <a:rPr sz="1800" spc="-10" dirty="0">
                <a:latin typeface="Arial MT"/>
                <a:cs typeface="Arial MT"/>
              </a:rPr>
              <a:t> </a:t>
            </a:r>
            <a:r>
              <a:rPr sz="1800" dirty="0">
                <a:latin typeface="Arial MT"/>
                <a:cs typeface="Arial MT"/>
              </a:rPr>
              <a:t>has</a:t>
            </a:r>
            <a:r>
              <a:rPr sz="1800" spc="-10" dirty="0">
                <a:latin typeface="Arial MT"/>
                <a:cs typeface="Arial MT"/>
              </a:rPr>
              <a:t> </a:t>
            </a:r>
            <a:r>
              <a:rPr sz="1800" dirty="0">
                <a:latin typeface="Arial MT"/>
                <a:cs typeface="Arial MT"/>
              </a:rPr>
              <a:t>its</a:t>
            </a:r>
            <a:r>
              <a:rPr sz="1800" spc="-10" dirty="0">
                <a:latin typeface="Arial MT"/>
                <a:cs typeface="Arial MT"/>
              </a:rPr>
              <a:t> </a:t>
            </a:r>
            <a:r>
              <a:rPr sz="1800" dirty="0">
                <a:latin typeface="Arial MT"/>
                <a:cs typeface="Arial MT"/>
              </a:rPr>
              <a:t>own</a:t>
            </a:r>
            <a:r>
              <a:rPr sz="1800" spc="-10" dirty="0">
                <a:latin typeface="Arial MT"/>
                <a:cs typeface="Arial MT"/>
              </a:rPr>
              <a:t> </a:t>
            </a:r>
            <a:r>
              <a:rPr sz="1800" dirty="0">
                <a:latin typeface="Arial MT"/>
                <a:cs typeface="Arial MT"/>
              </a:rPr>
              <a:t>address</a:t>
            </a:r>
            <a:r>
              <a:rPr sz="1800" spc="-5" dirty="0">
                <a:latin typeface="Arial MT"/>
                <a:cs typeface="Arial MT"/>
              </a:rPr>
              <a:t> </a:t>
            </a:r>
            <a:r>
              <a:rPr sz="1800" spc="-10" dirty="0">
                <a:latin typeface="Arial MT"/>
                <a:cs typeface="Arial MT"/>
              </a:rPr>
              <a:t>space</a:t>
            </a:r>
            <a:endParaRPr sz="1800" dirty="0">
              <a:latin typeface="Arial MT"/>
              <a:cs typeface="Arial MT"/>
            </a:endParaRPr>
          </a:p>
          <a:p>
            <a:pPr marL="469900" marR="5080" indent="-367030">
              <a:lnSpc>
                <a:spcPct val="114000"/>
              </a:lnSpc>
              <a:spcAft>
                <a:spcPts val="1800"/>
              </a:spcAft>
              <a:buChar char="●"/>
              <a:tabLst>
                <a:tab pos="469900" algn="l"/>
              </a:tabLst>
            </a:pPr>
            <a:r>
              <a:rPr sz="1800" dirty="0">
                <a:latin typeface="Arial MT"/>
                <a:cs typeface="Arial MT"/>
              </a:rPr>
              <a:t>Parallel</a:t>
            </a:r>
            <a:r>
              <a:rPr sz="1800" spc="-25" dirty="0">
                <a:latin typeface="Arial MT"/>
                <a:cs typeface="Arial MT"/>
              </a:rPr>
              <a:t> </a:t>
            </a:r>
            <a:r>
              <a:rPr sz="1800" dirty="0">
                <a:latin typeface="Arial MT"/>
                <a:cs typeface="Arial MT"/>
              </a:rPr>
              <a:t>and</a:t>
            </a:r>
            <a:r>
              <a:rPr sz="1800" spc="-25" dirty="0">
                <a:latin typeface="Arial MT"/>
                <a:cs typeface="Arial MT"/>
              </a:rPr>
              <a:t> </a:t>
            </a:r>
            <a:r>
              <a:rPr sz="1800" dirty="0">
                <a:latin typeface="Arial MT"/>
                <a:cs typeface="Arial MT"/>
              </a:rPr>
              <a:t>concurrent</a:t>
            </a:r>
            <a:r>
              <a:rPr sz="1800" spc="-20" dirty="0">
                <a:latin typeface="Arial MT"/>
                <a:cs typeface="Arial MT"/>
              </a:rPr>
              <a:t> </a:t>
            </a:r>
            <a:r>
              <a:rPr sz="1800" dirty="0">
                <a:latin typeface="Arial MT"/>
                <a:cs typeface="Arial MT"/>
              </a:rPr>
              <a:t>programs</a:t>
            </a:r>
            <a:r>
              <a:rPr sz="1800" spc="-25" dirty="0">
                <a:latin typeface="Arial MT"/>
                <a:cs typeface="Arial MT"/>
              </a:rPr>
              <a:t> </a:t>
            </a:r>
            <a:r>
              <a:rPr sz="1800" dirty="0">
                <a:latin typeface="Arial MT"/>
                <a:cs typeface="Arial MT"/>
              </a:rPr>
              <a:t>often</a:t>
            </a:r>
            <a:r>
              <a:rPr sz="1800" spc="-25" dirty="0">
                <a:latin typeface="Arial MT"/>
                <a:cs typeface="Arial MT"/>
              </a:rPr>
              <a:t> </a:t>
            </a:r>
            <a:r>
              <a:rPr sz="1800" dirty="0">
                <a:latin typeface="Arial MT"/>
                <a:cs typeface="Arial MT"/>
              </a:rPr>
              <a:t>want</a:t>
            </a:r>
            <a:r>
              <a:rPr sz="1800" spc="-2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directly</a:t>
            </a:r>
            <a:r>
              <a:rPr sz="1800" spc="-25" dirty="0">
                <a:latin typeface="Arial MT"/>
                <a:cs typeface="Arial MT"/>
              </a:rPr>
              <a:t> </a:t>
            </a:r>
            <a:r>
              <a:rPr sz="1800" dirty="0">
                <a:latin typeface="Arial MT"/>
                <a:cs typeface="Arial MT"/>
              </a:rPr>
              <a:t>manipulate</a:t>
            </a:r>
            <a:r>
              <a:rPr sz="1800" spc="-20"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same</a:t>
            </a:r>
            <a:r>
              <a:rPr sz="1800" spc="-20" dirty="0">
                <a:latin typeface="Arial MT"/>
                <a:cs typeface="Arial MT"/>
              </a:rPr>
              <a:t> </a:t>
            </a:r>
            <a:r>
              <a:rPr sz="1800" spc="-10" dirty="0">
                <a:latin typeface="Arial MT"/>
                <a:cs typeface="Arial MT"/>
              </a:rPr>
              <a:t>memory </a:t>
            </a:r>
            <a:r>
              <a:rPr sz="1800" dirty="0">
                <a:latin typeface="Arial MT"/>
                <a:cs typeface="Arial MT"/>
              </a:rPr>
              <a:t>(e.g.When</a:t>
            </a:r>
            <a:r>
              <a:rPr sz="1800" spc="-30" dirty="0">
                <a:latin typeface="Arial MT"/>
                <a:cs typeface="Arial MT"/>
              </a:rPr>
              <a:t> </a:t>
            </a:r>
            <a:r>
              <a:rPr sz="1800" dirty="0">
                <a:latin typeface="Arial MT"/>
                <a:cs typeface="Arial MT"/>
              </a:rPr>
              <a:t>processing</a:t>
            </a:r>
            <a:r>
              <a:rPr sz="1800" spc="-20" dirty="0">
                <a:latin typeface="Arial MT"/>
                <a:cs typeface="Arial MT"/>
              </a:rPr>
              <a:t> </a:t>
            </a:r>
            <a:r>
              <a:rPr sz="1800" dirty="0">
                <a:latin typeface="Arial MT"/>
                <a:cs typeface="Arial MT"/>
              </a:rPr>
              <a:t>elements</a:t>
            </a:r>
            <a:r>
              <a:rPr sz="1800" spc="-20"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large</a:t>
            </a:r>
            <a:r>
              <a:rPr sz="1800" spc="-20" dirty="0">
                <a:latin typeface="Arial MT"/>
                <a:cs typeface="Arial MT"/>
              </a:rPr>
              <a:t> </a:t>
            </a:r>
            <a:r>
              <a:rPr sz="1800" dirty="0">
                <a:latin typeface="Arial MT"/>
                <a:cs typeface="Arial MT"/>
              </a:rPr>
              <a:t>array</a:t>
            </a:r>
            <a:r>
              <a:rPr sz="1800" spc="-20" dirty="0">
                <a:latin typeface="Arial MT"/>
                <a:cs typeface="Arial MT"/>
              </a:rPr>
              <a:t> </a:t>
            </a:r>
            <a:r>
              <a:rPr sz="1800" dirty="0">
                <a:latin typeface="Arial MT"/>
                <a:cs typeface="Arial MT"/>
              </a:rPr>
              <a:t>in</a:t>
            </a:r>
            <a:r>
              <a:rPr sz="1800" spc="-15" dirty="0">
                <a:latin typeface="Arial MT"/>
                <a:cs typeface="Arial MT"/>
              </a:rPr>
              <a:t> </a:t>
            </a:r>
            <a:r>
              <a:rPr sz="1800" spc="-10" dirty="0">
                <a:latin typeface="Arial MT"/>
                <a:cs typeface="Arial MT"/>
              </a:rPr>
              <a:t>parallel)</a:t>
            </a:r>
            <a:endParaRPr sz="1800" dirty="0">
              <a:latin typeface="Arial MT"/>
              <a:cs typeface="Arial MT"/>
            </a:endParaRPr>
          </a:p>
          <a:p>
            <a:pPr marL="12700">
              <a:lnSpc>
                <a:spcPct val="114000"/>
              </a:lnSpc>
              <a:spcAft>
                <a:spcPts val="600"/>
              </a:spcAft>
            </a:pPr>
            <a:r>
              <a:rPr sz="1800" b="1" dirty="0">
                <a:solidFill>
                  <a:srgbClr val="980000"/>
                </a:solidFill>
                <a:latin typeface="Arial"/>
                <a:cs typeface="Arial"/>
              </a:rPr>
              <a:t>Note:</a:t>
            </a:r>
            <a:r>
              <a:rPr sz="1800" b="1" spc="-25" dirty="0">
                <a:solidFill>
                  <a:srgbClr val="980000"/>
                </a:solidFill>
                <a:latin typeface="Arial"/>
                <a:cs typeface="Arial"/>
              </a:rPr>
              <a:t> </a:t>
            </a:r>
            <a:r>
              <a:rPr sz="1800" b="1" dirty="0">
                <a:solidFill>
                  <a:srgbClr val="980000"/>
                </a:solidFill>
                <a:latin typeface="Arial"/>
                <a:cs typeface="Arial"/>
              </a:rPr>
              <a:t>Many</a:t>
            </a:r>
            <a:r>
              <a:rPr sz="1800" b="1" spc="-25" dirty="0">
                <a:solidFill>
                  <a:srgbClr val="980000"/>
                </a:solidFill>
                <a:latin typeface="Arial"/>
                <a:cs typeface="Arial"/>
              </a:rPr>
              <a:t> </a:t>
            </a:r>
            <a:r>
              <a:rPr sz="1800" b="1" dirty="0">
                <a:solidFill>
                  <a:srgbClr val="980000"/>
                </a:solidFill>
                <a:latin typeface="Arial"/>
                <a:cs typeface="Arial"/>
              </a:rPr>
              <a:t>OS's</a:t>
            </a:r>
            <a:r>
              <a:rPr sz="1800" b="1" spc="-25" dirty="0">
                <a:solidFill>
                  <a:srgbClr val="980000"/>
                </a:solidFill>
                <a:latin typeface="Arial"/>
                <a:cs typeface="Arial"/>
              </a:rPr>
              <a:t> </a:t>
            </a:r>
            <a:r>
              <a:rPr sz="1800" b="1" dirty="0">
                <a:solidFill>
                  <a:srgbClr val="980000"/>
                </a:solidFill>
                <a:latin typeface="Arial"/>
                <a:cs typeface="Arial"/>
              </a:rPr>
              <a:t>provide</a:t>
            </a:r>
            <a:r>
              <a:rPr sz="1800" b="1" spc="-25" dirty="0">
                <a:solidFill>
                  <a:srgbClr val="980000"/>
                </a:solidFill>
                <a:latin typeface="Arial"/>
                <a:cs typeface="Arial"/>
              </a:rPr>
              <a:t> </a:t>
            </a:r>
            <a:r>
              <a:rPr sz="1800" b="1" dirty="0">
                <a:solidFill>
                  <a:srgbClr val="980000"/>
                </a:solidFill>
                <a:latin typeface="Arial"/>
                <a:cs typeface="Arial"/>
              </a:rPr>
              <a:t>some</a:t>
            </a:r>
            <a:r>
              <a:rPr sz="1800" b="1" spc="-25" dirty="0">
                <a:solidFill>
                  <a:srgbClr val="980000"/>
                </a:solidFill>
                <a:latin typeface="Arial"/>
                <a:cs typeface="Arial"/>
              </a:rPr>
              <a:t> </a:t>
            </a:r>
            <a:r>
              <a:rPr sz="1800" b="1" dirty="0">
                <a:solidFill>
                  <a:srgbClr val="980000"/>
                </a:solidFill>
                <a:latin typeface="Arial"/>
                <a:cs typeface="Arial"/>
              </a:rPr>
              <a:t>form</a:t>
            </a:r>
            <a:r>
              <a:rPr sz="1800" b="1" spc="-25" dirty="0">
                <a:solidFill>
                  <a:srgbClr val="980000"/>
                </a:solidFill>
                <a:latin typeface="Arial"/>
                <a:cs typeface="Arial"/>
              </a:rPr>
              <a:t> </a:t>
            </a:r>
            <a:r>
              <a:rPr sz="1800" b="1" dirty="0">
                <a:solidFill>
                  <a:srgbClr val="980000"/>
                </a:solidFill>
                <a:latin typeface="Arial"/>
                <a:cs typeface="Arial"/>
              </a:rPr>
              <a:t>of</a:t>
            </a:r>
            <a:r>
              <a:rPr sz="1800" b="1" spc="-25" dirty="0">
                <a:solidFill>
                  <a:srgbClr val="980000"/>
                </a:solidFill>
                <a:latin typeface="Arial"/>
                <a:cs typeface="Arial"/>
              </a:rPr>
              <a:t> </a:t>
            </a:r>
            <a:r>
              <a:rPr sz="1800" b="1" spc="-10" dirty="0">
                <a:solidFill>
                  <a:srgbClr val="980000"/>
                </a:solidFill>
                <a:latin typeface="Arial"/>
                <a:cs typeface="Arial"/>
              </a:rPr>
              <a:t>inter-</a:t>
            </a:r>
            <a:r>
              <a:rPr sz="1800" b="1" dirty="0">
                <a:solidFill>
                  <a:srgbClr val="980000"/>
                </a:solidFill>
                <a:latin typeface="Arial"/>
                <a:cs typeface="Arial"/>
              </a:rPr>
              <a:t>process</a:t>
            </a:r>
            <a:r>
              <a:rPr sz="1800" b="1" spc="-25" dirty="0">
                <a:solidFill>
                  <a:srgbClr val="980000"/>
                </a:solidFill>
                <a:latin typeface="Arial"/>
                <a:cs typeface="Arial"/>
              </a:rPr>
              <a:t> </a:t>
            </a:r>
            <a:r>
              <a:rPr sz="1800" b="1" dirty="0">
                <a:solidFill>
                  <a:srgbClr val="980000"/>
                </a:solidFill>
                <a:latin typeface="Arial"/>
                <a:cs typeface="Arial"/>
              </a:rPr>
              <a:t>shared</a:t>
            </a:r>
            <a:r>
              <a:rPr sz="1800" b="1" spc="-25" dirty="0">
                <a:solidFill>
                  <a:srgbClr val="980000"/>
                </a:solidFill>
                <a:latin typeface="Arial"/>
                <a:cs typeface="Arial"/>
              </a:rPr>
              <a:t> </a:t>
            </a:r>
            <a:r>
              <a:rPr sz="1800" b="1" spc="-10" dirty="0">
                <a:solidFill>
                  <a:srgbClr val="980000"/>
                </a:solidFill>
                <a:latin typeface="Arial"/>
                <a:cs typeface="Arial"/>
              </a:rPr>
              <a:t>memory</a:t>
            </a:r>
            <a:endParaRPr sz="1800" dirty="0">
              <a:latin typeface="Arial"/>
              <a:cs typeface="Arial"/>
            </a:endParaRPr>
          </a:p>
          <a:p>
            <a:pPr marL="469265" indent="-366395">
              <a:lnSpc>
                <a:spcPct val="114000"/>
              </a:lnSpc>
              <a:spcBef>
                <a:spcPts val="325"/>
              </a:spcBef>
              <a:spcAft>
                <a:spcPts val="600"/>
              </a:spcAft>
              <a:buChar char="●"/>
              <a:tabLst>
                <a:tab pos="469265" algn="l"/>
              </a:tabLst>
            </a:pPr>
            <a:r>
              <a:rPr sz="1800" dirty="0">
                <a:latin typeface="Arial MT"/>
                <a:cs typeface="Arial MT"/>
              </a:rPr>
              <a:t>cf.,</a:t>
            </a:r>
            <a:r>
              <a:rPr sz="1800" spc="-15" dirty="0">
                <a:latin typeface="Arial MT"/>
                <a:cs typeface="Arial MT"/>
              </a:rPr>
              <a:t> </a:t>
            </a:r>
            <a:r>
              <a:rPr sz="1800" dirty="0">
                <a:latin typeface="Arial MT"/>
                <a:cs typeface="Arial MT"/>
              </a:rPr>
              <a:t>UNIX</a:t>
            </a:r>
            <a:r>
              <a:rPr sz="1800" spc="-10" dirty="0">
                <a:latin typeface="Arial MT"/>
                <a:cs typeface="Arial MT"/>
              </a:rPr>
              <a:t> </a:t>
            </a:r>
            <a:r>
              <a:rPr sz="1800" dirty="0">
                <a:latin typeface="Arial MT"/>
                <a:cs typeface="Arial MT"/>
              </a:rPr>
              <a:t>shmget()</a:t>
            </a:r>
            <a:r>
              <a:rPr sz="1800" spc="-10"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shmat()</a:t>
            </a:r>
            <a:r>
              <a:rPr sz="1800" spc="-10" dirty="0">
                <a:latin typeface="Arial MT"/>
                <a:cs typeface="Arial MT"/>
              </a:rPr>
              <a:t> </a:t>
            </a:r>
            <a:r>
              <a:rPr sz="1800" dirty="0">
                <a:latin typeface="Arial MT"/>
                <a:cs typeface="Arial MT"/>
              </a:rPr>
              <a:t>system</a:t>
            </a:r>
            <a:r>
              <a:rPr sz="1800" spc="-10" dirty="0">
                <a:latin typeface="Arial MT"/>
                <a:cs typeface="Arial MT"/>
              </a:rPr>
              <a:t> calls</a:t>
            </a:r>
            <a:endParaRPr sz="1800" dirty="0">
              <a:latin typeface="Arial MT"/>
              <a:cs typeface="Arial MT"/>
            </a:endParaRPr>
          </a:p>
          <a:p>
            <a:pPr marL="469265" indent="-366395">
              <a:lnSpc>
                <a:spcPct val="114000"/>
              </a:lnSpc>
              <a:spcBef>
                <a:spcPts val="325"/>
              </a:spcBef>
              <a:buChar char="●"/>
              <a:tabLst>
                <a:tab pos="469265" algn="l"/>
              </a:tabLst>
            </a:pPr>
            <a:r>
              <a:rPr sz="1800" dirty="0">
                <a:latin typeface="Arial MT"/>
                <a:cs typeface="Arial MT"/>
              </a:rPr>
              <a:t>Still,</a:t>
            </a:r>
            <a:r>
              <a:rPr sz="1800" spc="-25" dirty="0">
                <a:latin typeface="Arial MT"/>
                <a:cs typeface="Arial MT"/>
              </a:rPr>
              <a:t> </a:t>
            </a:r>
            <a:r>
              <a:rPr sz="1800" dirty="0">
                <a:latin typeface="Arial MT"/>
                <a:cs typeface="Arial MT"/>
              </a:rPr>
              <a:t>this</a:t>
            </a:r>
            <a:r>
              <a:rPr sz="1800" spc="-15" dirty="0">
                <a:latin typeface="Arial MT"/>
                <a:cs typeface="Arial MT"/>
              </a:rPr>
              <a:t> </a:t>
            </a:r>
            <a:r>
              <a:rPr sz="1800" dirty="0">
                <a:latin typeface="Arial MT"/>
                <a:cs typeface="Arial MT"/>
              </a:rPr>
              <a:t>requires</a:t>
            </a:r>
            <a:r>
              <a:rPr sz="1800" spc="-15" dirty="0">
                <a:latin typeface="Arial MT"/>
                <a:cs typeface="Arial MT"/>
              </a:rPr>
              <a:t> </a:t>
            </a:r>
            <a:r>
              <a:rPr sz="1800" dirty="0">
                <a:latin typeface="Arial MT"/>
                <a:cs typeface="Arial MT"/>
              </a:rPr>
              <a:t>more</a:t>
            </a:r>
            <a:r>
              <a:rPr sz="1800" spc="-15" dirty="0">
                <a:latin typeface="Arial MT"/>
                <a:cs typeface="Arial MT"/>
              </a:rPr>
              <a:t> </a:t>
            </a:r>
            <a:r>
              <a:rPr sz="1800" dirty="0">
                <a:latin typeface="Arial MT"/>
                <a:cs typeface="Arial MT"/>
              </a:rPr>
              <a:t>programmer</a:t>
            </a:r>
            <a:r>
              <a:rPr sz="1800" spc="-15" dirty="0">
                <a:latin typeface="Arial MT"/>
                <a:cs typeface="Arial MT"/>
              </a:rPr>
              <a:t> </a:t>
            </a:r>
            <a:r>
              <a:rPr sz="1800" dirty="0">
                <a:latin typeface="Arial MT"/>
                <a:cs typeface="Arial MT"/>
              </a:rPr>
              <a:t>work</a:t>
            </a:r>
            <a:r>
              <a:rPr sz="1800" spc="-10"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does</a:t>
            </a:r>
            <a:r>
              <a:rPr sz="1800" spc="-15" dirty="0">
                <a:latin typeface="Arial MT"/>
                <a:cs typeface="Arial MT"/>
              </a:rPr>
              <a:t> </a:t>
            </a:r>
            <a:r>
              <a:rPr sz="1800" dirty="0">
                <a:latin typeface="Arial MT"/>
                <a:cs typeface="Arial MT"/>
              </a:rPr>
              <a:t>not</a:t>
            </a:r>
            <a:r>
              <a:rPr sz="1800" spc="-15" dirty="0">
                <a:latin typeface="Arial MT"/>
                <a:cs typeface="Arial MT"/>
              </a:rPr>
              <a:t> </a:t>
            </a:r>
            <a:r>
              <a:rPr sz="1800" dirty="0">
                <a:latin typeface="Arial MT"/>
                <a:cs typeface="Arial MT"/>
              </a:rPr>
              <a:t>address</a:t>
            </a:r>
            <a:r>
              <a:rPr sz="1800" spc="-1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efficiency</a:t>
            </a:r>
            <a:r>
              <a:rPr sz="1800" spc="-10" dirty="0">
                <a:latin typeface="Arial MT"/>
                <a:cs typeface="Arial MT"/>
              </a:rPr>
              <a:t> issues.</a:t>
            </a:r>
            <a:endParaRPr sz="1800"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93FD7A1A-BEC5-A470-D0F4-BB6E7FE78802}"/>
              </a:ext>
            </a:extLst>
          </p:cNvPr>
          <p:cNvSpPr txBox="1">
            <a:spLocks/>
          </p:cNvSpPr>
          <p:nvPr/>
        </p:nvSpPr>
        <p:spPr>
          <a:xfrm>
            <a:off x="410375" y="1086462"/>
            <a:ext cx="4480560" cy="662857"/>
          </a:xfrm>
          <a:prstGeom prst="rect">
            <a:avLst/>
          </a:prstGeom>
        </p:spPr>
        <p:txBody>
          <a:bodyPr vert="horz" wrap="square" lIns="0" tIns="12700" rIns="0" bIns="0" rtlCol="0">
            <a:spAutoFit/>
          </a:bodyPr>
          <a:lstStyle>
            <a:lvl1pPr>
              <a:defRPr sz="2500" b="0" i="0">
                <a:solidFill>
                  <a:srgbClr val="0F2044"/>
                </a:solidFill>
                <a:latin typeface="Georgia"/>
                <a:ea typeface="+mj-ea"/>
                <a:cs typeface="Georgia"/>
              </a:defRPr>
            </a:lvl1pPr>
          </a:lstStyle>
          <a:p>
            <a:pPr marL="12700">
              <a:lnSpc>
                <a:spcPts val="2900"/>
              </a:lnSpc>
              <a:spcBef>
                <a:spcPts val="100"/>
              </a:spcBef>
            </a:pPr>
            <a:r>
              <a:rPr lang="en-US" spc="-25" dirty="0"/>
              <a:t>Multi-</a:t>
            </a:r>
            <a:r>
              <a:rPr lang="en-US" dirty="0"/>
              <a:t>threaded</a:t>
            </a:r>
            <a:r>
              <a:rPr lang="en-US" spc="-90" dirty="0"/>
              <a:t> </a:t>
            </a:r>
            <a:r>
              <a:rPr lang="en-US" spc="-10" dirty="0"/>
              <a:t>Programming</a:t>
            </a:r>
          </a:p>
          <a:p>
            <a:pPr marL="12700">
              <a:lnSpc>
                <a:spcPts val="2060"/>
              </a:lnSpc>
            </a:pPr>
            <a:r>
              <a:rPr lang="en-US" sz="1800" dirty="0"/>
              <a:t>Thread</a:t>
            </a:r>
            <a:r>
              <a:rPr lang="en-US" sz="1800" spc="-60" dirty="0"/>
              <a:t> </a:t>
            </a:r>
            <a:r>
              <a:rPr lang="en-US" sz="1800" dirty="0"/>
              <a:t>vs</a:t>
            </a:r>
            <a:r>
              <a:rPr lang="en-US" sz="1800" spc="-55" dirty="0"/>
              <a:t> </a:t>
            </a:r>
            <a:r>
              <a:rPr lang="en-US" sz="1800" spc="-10" dirty="0"/>
              <a:t>Process</a:t>
            </a:r>
            <a:endParaRPr lang="en-US" sz="1800" dirty="0"/>
          </a:p>
        </p:txBody>
      </p:sp>
      <p:sp>
        <p:nvSpPr>
          <p:cNvPr id="2" name="object 2"/>
          <p:cNvSpPr txBox="1"/>
          <p:nvPr/>
        </p:nvSpPr>
        <p:spPr>
          <a:xfrm>
            <a:off x="410375" y="1924662"/>
            <a:ext cx="4464050" cy="4933338"/>
          </a:xfrm>
          <a:prstGeom prst="rect">
            <a:avLst/>
          </a:prstGeom>
        </p:spPr>
        <p:txBody>
          <a:bodyPr vert="horz" wrap="square" lIns="0" tIns="12700" rIns="0" bIns="0" rtlCol="0">
            <a:spAutoFit/>
          </a:bodyPr>
          <a:lstStyle/>
          <a:p>
            <a:pPr marL="93980" marR="70485">
              <a:lnSpc>
                <a:spcPct val="114000"/>
              </a:lnSpc>
              <a:spcBef>
                <a:spcPts val="1470"/>
              </a:spcBef>
            </a:pPr>
            <a:r>
              <a:rPr sz="1800" dirty="0">
                <a:latin typeface="Arial MT"/>
                <a:cs typeface="Arial MT"/>
              </a:rPr>
              <a:t>A</a:t>
            </a:r>
            <a:r>
              <a:rPr sz="1800" spc="-125" dirty="0">
                <a:latin typeface="Arial MT"/>
                <a:cs typeface="Arial MT"/>
              </a:rPr>
              <a:t> </a:t>
            </a:r>
            <a:r>
              <a:rPr sz="1800" b="1" dirty="0">
                <a:latin typeface="Arial"/>
                <a:cs typeface="Arial"/>
              </a:rPr>
              <a:t>thread</a:t>
            </a:r>
            <a:r>
              <a:rPr sz="1800" b="1" spc="-5" dirty="0">
                <a:latin typeface="Arial"/>
                <a:cs typeface="Arial"/>
              </a:rPr>
              <a:t> </a:t>
            </a:r>
            <a:r>
              <a:rPr sz="1800" dirty="0">
                <a:latin typeface="Arial MT"/>
                <a:cs typeface="Arial MT"/>
              </a:rPr>
              <a:t>is</a:t>
            </a:r>
            <a:r>
              <a:rPr sz="1800" spc="-20"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smallest</a:t>
            </a:r>
            <a:r>
              <a:rPr sz="1800" spc="-15" dirty="0">
                <a:latin typeface="Arial MT"/>
                <a:cs typeface="Arial MT"/>
              </a:rPr>
              <a:t> </a:t>
            </a:r>
            <a:r>
              <a:rPr sz="1800" dirty="0">
                <a:latin typeface="Arial MT"/>
                <a:cs typeface="Arial MT"/>
              </a:rPr>
              <a:t>unit</a:t>
            </a:r>
            <a:r>
              <a:rPr sz="1800" spc="-20" dirty="0">
                <a:latin typeface="Arial MT"/>
                <a:cs typeface="Arial MT"/>
              </a:rPr>
              <a:t> </a:t>
            </a:r>
            <a:r>
              <a:rPr sz="1800" dirty="0">
                <a:latin typeface="Arial MT"/>
                <a:cs typeface="Arial MT"/>
              </a:rPr>
              <a:t>of</a:t>
            </a:r>
            <a:r>
              <a:rPr sz="1800" spc="-15" dirty="0">
                <a:latin typeface="Arial MT"/>
                <a:cs typeface="Arial MT"/>
              </a:rPr>
              <a:t> </a:t>
            </a:r>
            <a:r>
              <a:rPr sz="1800" spc="-10" dirty="0">
                <a:latin typeface="Arial MT"/>
                <a:cs typeface="Arial MT"/>
              </a:rPr>
              <a:t>execution </a:t>
            </a:r>
            <a:r>
              <a:rPr sz="1800" dirty="0">
                <a:latin typeface="Arial MT"/>
                <a:cs typeface="Arial MT"/>
              </a:rPr>
              <a:t>within</a:t>
            </a:r>
            <a:r>
              <a:rPr sz="1800" spc="-30"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process,</a:t>
            </a:r>
            <a:r>
              <a:rPr sz="1800" spc="-25" dirty="0">
                <a:latin typeface="Arial MT"/>
                <a:cs typeface="Arial MT"/>
              </a:rPr>
              <a:t> </a:t>
            </a:r>
            <a:r>
              <a:rPr sz="1800" dirty="0">
                <a:latin typeface="Arial MT"/>
                <a:cs typeface="Arial MT"/>
              </a:rPr>
              <a:t>allowing</a:t>
            </a:r>
            <a:r>
              <a:rPr sz="1800" spc="-30" dirty="0">
                <a:latin typeface="Arial MT"/>
                <a:cs typeface="Arial MT"/>
              </a:rPr>
              <a:t> </a:t>
            </a:r>
            <a:r>
              <a:rPr sz="1800" dirty="0">
                <a:latin typeface="Arial MT"/>
                <a:cs typeface="Arial MT"/>
              </a:rPr>
              <a:t>multiple</a:t>
            </a:r>
            <a:r>
              <a:rPr sz="1800" spc="-25" dirty="0">
                <a:latin typeface="Arial MT"/>
                <a:cs typeface="Arial MT"/>
              </a:rPr>
              <a:t> </a:t>
            </a:r>
            <a:r>
              <a:rPr sz="1800" dirty="0">
                <a:latin typeface="Arial MT"/>
                <a:cs typeface="Arial MT"/>
              </a:rPr>
              <a:t>tasks</a:t>
            </a:r>
            <a:r>
              <a:rPr sz="1800" spc="-25" dirty="0">
                <a:latin typeface="Arial MT"/>
                <a:cs typeface="Arial MT"/>
              </a:rPr>
              <a:t> to </a:t>
            </a:r>
            <a:r>
              <a:rPr sz="1800" dirty="0">
                <a:latin typeface="Arial MT"/>
                <a:cs typeface="Arial MT"/>
              </a:rPr>
              <a:t>be</a:t>
            </a:r>
            <a:r>
              <a:rPr sz="1800" spc="-30" dirty="0">
                <a:latin typeface="Arial MT"/>
                <a:cs typeface="Arial MT"/>
              </a:rPr>
              <a:t> </a:t>
            </a:r>
            <a:r>
              <a:rPr sz="1800" dirty="0">
                <a:latin typeface="Arial MT"/>
                <a:cs typeface="Arial MT"/>
              </a:rPr>
              <a:t>carried</a:t>
            </a:r>
            <a:r>
              <a:rPr sz="1800" spc="-15" dirty="0">
                <a:latin typeface="Arial MT"/>
                <a:cs typeface="Arial MT"/>
              </a:rPr>
              <a:t> </a:t>
            </a:r>
            <a:r>
              <a:rPr sz="1800" dirty="0">
                <a:latin typeface="Arial MT"/>
                <a:cs typeface="Arial MT"/>
              </a:rPr>
              <a:t>out</a:t>
            </a:r>
            <a:r>
              <a:rPr sz="1800" spc="-15" dirty="0">
                <a:latin typeface="Arial MT"/>
                <a:cs typeface="Arial MT"/>
              </a:rPr>
              <a:t> </a:t>
            </a:r>
            <a:r>
              <a:rPr sz="1800" dirty="0">
                <a:latin typeface="Arial MT"/>
                <a:cs typeface="Arial MT"/>
              </a:rPr>
              <a:t>concurrently</a:t>
            </a:r>
            <a:r>
              <a:rPr sz="1800" spc="-20" dirty="0">
                <a:latin typeface="Arial MT"/>
                <a:cs typeface="Arial MT"/>
              </a:rPr>
              <a:t> </a:t>
            </a:r>
            <a:r>
              <a:rPr sz="1800" dirty="0">
                <a:latin typeface="Arial MT"/>
                <a:cs typeface="Arial MT"/>
              </a:rPr>
              <a:t>within</a:t>
            </a:r>
            <a:r>
              <a:rPr sz="1800" spc="-15" dirty="0">
                <a:latin typeface="Arial MT"/>
                <a:cs typeface="Arial MT"/>
              </a:rPr>
              <a:t> </a:t>
            </a:r>
            <a:r>
              <a:rPr sz="1800" dirty="0">
                <a:latin typeface="Arial MT"/>
                <a:cs typeface="Arial MT"/>
              </a:rPr>
              <a:t>a</a:t>
            </a:r>
            <a:r>
              <a:rPr sz="1800" spc="-15" dirty="0">
                <a:latin typeface="Arial MT"/>
                <a:cs typeface="Arial MT"/>
              </a:rPr>
              <a:t> </a:t>
            </a:r>
            <a:r>
              <a:rPr sz="1800" spc="-10" dirty="0">
                <a:latin typeface="Arial MT"/>
                <a:cs typeface="Arial MT"/>
              </a:rPr>
              <a:t>single </a:t>
            </a:r>
            <a:r>
              <a:rPr sz="1800" dirty="0">
                <a:latin typeface="Arial MT"/>
                <a:cs typeface="Arial MT"/>
              </a:rPr>
              <a:t>process.</a:t>
            </a:r>
            <a:r>
              <a:rPr sz="1800" spc="-60" dirty="0">
                <a:latin typeface="Arial MT"/>
                <a:cs typeface="Arial MT"/>
              </a:rPr>
              <a:t> </a:t>
            </a:r>
            <a:r>
              <a:rPr sz="1800" dirty="0">
                <a:latin typeface="Arial MT"/>
                <a:cs typeface="Arial MT"/>
              </a:rPr>
              <a:t>Threads</a:t>
            </a:r>
            <a:r>
              <a:rPr sz="1800" spc="-15" dirty="0">
                <a:latin typeface="Arial MT"/>
                <a:cs typeface="Arial MT"/>
              </a:rPr>
              <a:t> </a:t>
            </a:r>
            <a:r>
              <a:rPr sz="1800" dirty="0">
                <a:latin typeface="Arial MT"/>
                <a:cs typeface="Arial MT"/>
              </a:rPr>
              <a:t>are</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part</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a</a:t>
            </a:r>
            <a:r>
              <a:rPr sz="1800" spc="25" dirty="0">
                <a:latin typeface="Arial MT"/>
                <a:cs typeface="Arial MT"/>
              </a:rPr>
              <a:t> </a:t>
            </a:r>
            <a:r>
              <a:rPr sz="1800" b="1" spc="-10" dirty="0">
                <a:latin typeface="Arial"/>
                <a:cs typeface="Arial"/>
              </a:rPr>
              <a:t>process</a:t>
            </a:r>
            <a:r>
              <a:rPr sz="1800" spc="-10" dirty="0">
                <a:latin typeface="Arial MT"/>
                <a:cs typeface="Arial MT"/>
              </a:rPr>
              <a:t>.</a:t>
            </a:r>
            <a:endParaRPr sz="1800" dirty="0">
              <a:latin typeface="Arial MT"/>
              <a:cs typeface="Arial MT"/>
            </a:endParaRPr>
          </a:p>
          <a:p>
            <a:pPr marL="93980" marR="5080">
              <a:lnSpc>
                <a:spcPct val="114000"/>
              </a:lnSpc>
              <a:spcBef>
                <a:spcPts val="1960"/>
              </a:spcBef>
              <a:spcAft>
                <a:spcPts val="600"/>
              </a:spcAft>
            </a:pPr>
            <a:r>
              <a:rPr sz="1800" dirty="0">
                <a:latin typeface="Arial MT"/>
                <a:cs typeface="Arial MT"/>
              </a:rPr>
              <a:t>A</a:t>
            </a:r>
            <a:r>
              <a:rPr sz="1800" spc="-114"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can</a:t>
            </a:r>
            <a:r>
              <a:rPr sz="1800" spc="-15" dirty="0">
                <a:latin typeface="Arial MT"/>
                <a:cs typeface="Arial MT"/>
              </a:rPr>
              <a:t> </a:t>
            </a:r>
            <a:r>
              <a:rPr sz="1800" dirty="0">
                <a:latin typeface="Arial MT"/>
                <a:cs typeface="Arial MT"/>
              </a:rPr>
              <a:t>contain</a:t>
            </a:r>
            <a:r>
              <a:rPr sz="1800" spc="-15" dirty="0">
                <a:latin typeface="Arial MT"/>
                <a:cs typeface="Arial MT"/>
              </a:rPr>
              <a:t> </a:t>
            </a:r>
            <a:r>
              <a:rPr sz="1800" dirty="0">
                <a:latin typeface="Arial MT"/>
                <a:cs typeface="Arial MT"/>
              </a:rPr>
              <a:t>one</a:t>
            </a:r>
            <a:r>
              <a:rPr sz="1800" spc="-15" dirty="0">
                <a:latin typeface="Arial MT"/>
                <a:cs typeface="Arial MT"/>
              </a:rPr>
              <a:t> </a:t>
            </a:r>
            <a:r>
              <a:rPr sz="1800" dirty="0">
                <a:latin typeface="Arial MT"/>
                <a:cs typeface="Arial MT"/>
              </a:rPr>
              <a:t>or</a:t>
            </a:r>
            <a:r>
              <a:rPr sz="1800" spc="-15" dirty="0">
                <a:latin typeface="Arial MT"/>
                <a:cs typeface="Arial MT"/>
              </a:rPr>
              <a:t> </a:t>
            </a:r>
            <a:r>
              <a:rPr sz="1800" dirty="0">
                <a:latin typeface="Arial MT"/>
                <a:cs typeface="Arial MT"/>
              </a:rPr>
              <a:t>more</a:t>
            </a:r>
            <a:r>
              <a:rPr sz="1800" spc="-10" dirty="0">
                <a:latin typeface="Arial MT"/>
                <a:cs typeface="Arial MT"/>
              </a:rPr>
              <a:t> threads </a:t>
            </a:r>
            <a:r>
              <a:rPr sz="1800" dirty="0">
                <a:latin typeface="Arial MT"/>
                <a:cs typeface="Arial MT"/>
              </a:rPr>
              <a:t>that</a:t>
            </a:r>
            <a:r>
              <a:rPr sz="1800" spc="-30" dirty="0">
                <a:latin typeface="Arial MT"/>
                <a:cs typeface="Arial MT"/>
              </a:rPr>
              <a:t> </a:t>
            </a:r>
            <a:r>
              <a:rPr sz="1800" dirty="0">
                <a:latin typeface="Arial MT"/>
                <a:cs typeface="Arial MT"/>
              </a:rPr>
              <a:t>share</a:t>
            </a:r>
            <a:r>
              <a:rPr sz="1800" spc="-20"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same</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space</a:t>
            </a:r>
            <a:r>
              <a:rPr sz="1800" spc="-15" dirty="0">
                <a:latin typeface="Arial MT"/>
                <a:cs typeface="Arial MT"/>
              </a:rPr>
              <a:t> </a:t>
            </a:r>
            <a:r>
              <a:rPr sz="1800" spc="-25" dirty="0">
                <a:latin typeface="Arial MT"/>
                <a:cs typeface="Arial MT"/>
              </a:rPr>
              <a:t>but </a:t>
            </a:r>
            <a:r>
              <a:rPr sz="1800" dirty="0">
                <a:latin typeface="Arial MT"/>
                <a:cs typeface="Arial MT"/>
              </a:rPr>
              <a:t>have</a:t>
            </a:r>
            <a:r>
              <a:rPr sz="1800" spc="-30" dirty="0">
                <a:latin typeface="Arial MT"/>
                <a:cs typeface="Arial MT"/>
              </a:rPr>
              <a:t> </a:t>
            </a:r>
            <a:r>
              <a:rPr sz="1800" dirty="0">
                <a:latin typeface="Arial MT"/>
                <a:cs typeface="Arial MT"/>
              </a:rPr>
              <a:t>their</a:t>
            </a:r>
            <a:r>
              <a:rPr sz="1800" spc="-25" dirty="0">
                <a:latin typeface="Arial MT"/>
                <a:cs typeface="Arial MT"/>
              </a:rPr>
              <a:t> </a:t>
            </a:r>
            <a:r>
              <a:rPr sz="1800" dirty="0">
                <a:latin typeface="Arial MT"/>
                <a:cs typeface="Arial MT"/>
              </a:rPr>
              <a:t>own</a:t>
            </a:r>
            <a:r>
              <a:rPr sz="1800" spc="-30" dirty="0">
                <a:latin typeface="Arial MT"/>
                <a:cs typeface="Arial MT"/>
              </a:rPr>
              <a:t> </a:t>
            </a:r>
            <a:r>
              <a:rPr sz="1800" dirty="0">
                <a:latin typeface="Arial MT"/>
                <a:cs typeface="Arial MT"/>
              </a:rPr>
              <a:t>individual</a:t>
            </a:r>
            <a:r>
              <a:rPr sz="1800" spc="-25" dirty="0">
                <a:latin typeface="Arial MT"/>
                <a:cs typeface="Arial MT"/>
              </a:rPr>
              <a:t> </a:t>
            </a:r>
            <a:r>
              <a:rPr sz="1800" dirty="0">
                <a:latin typeface="Arial MT"/>
                <a:cs typeface="Arial MT"/>
              </a:rPr>
              <a:t>execution</a:t>
            </a:r>
            <a:r>
              <a:rPr sz="1800" spc="-25" dirty="0">
                <a:latin typeface="Arial MT"/>
                <a:cs typeface="Arial MT"/>
              </a:rPr>
              <a:t> </a:t>
            </a:r>
            <a:r>
              <a:rPr sz="1800" spc="-10" dirty="0">
                <a:latin typeface="Arial MT"/>
                <a:cs typeface="Arial MT"/>
              </a:rPr>
              <a:t>stacks </a:t>
            </a:r>
            <a:r>
              <a:rPr sz="1800" dirty="0">
                <a:latin typeface="Arial MT"/>
                <a:cs typeface="Arial MT"/>
              </a:rPr>
              <a:t>and</a:t>
            </a:r>
            <a:r>
              <a:rPr sz="1800" spc="-15" dirty="0">
                <a:latin typeface="Arial MT"/>
                <a:cs typeface="Arial MT"/>
              </a:rPr>
              <a:t> </a:t>
            </a:r>
            <a:r>
              <a:rPr sz="1800" spc="-10" dirty="0">
                <a:latin typeface="Arial MT"/>
                <a:cs typeface="Arial MT"/>
              </a:rPr>
              <a:t>registers.</a:t>
            </a:r>
            <a:endParaRPr lang="en-US" sz="1800" spc="-10" dirty="0">
              <a:latin typeface="Arial MT"/>
              <a:cs typeface="Arial MT"/>
            </a:endParaRPr>
          </a:p>
          <a:p>
            <a:pPr marL="377825" marR="158750" indent="-266700">
              <a:lnSpc>
                <a:spcPct val="114000"/>
              </a:lnSpc>
              <a:spcBef>
                <a:spcPts val="345"/>
              </a:spcBef>
              <a:spcAft>
                <a:spcPts val="600"/>
              </a:spcAft>
              <a:buChar char="●"/>
              <a:tabLst>
                <a:tab pos="379095" algn="l"/>
              </a:tabLst>
            </a:pPr>
            <a:r>
              <a:rPr lang="en-US" sz="1700" dirty="0">
                <a:latin typeface="Arial MT"/>
                <a:cs typeface="Arial MT"/>
              </a:rPr>
              <a:t>Each</a:t>
            </a:r>
            <a:r>
              <a:rPr lang="en-US" sz="1700" spc="-20" dirty="0">
                <a:latin typeface="Arial MT"/>
                <a:cs typeface="Arial MT"/>
              </a:rPr>
              <a:t> </a:t>
            </a:r>
            <a:r>
              <a:rPr lang="en-US" sz="1700" dirty="0">
                <a:latin typeface="Arial MT"/>
                <a:cs typeface="Arial MT"/>
              </a:rPr>
              <a:t>thread</a:t>
            </a:r>
            <a:r>
              <a:rPr lang="en-US" sz="1700" spc="-15" dirty="0">
                <a:latin typeface="Arial MT"/>
                <a:cs typeface="Arial MT"/>
              </a:rPr>
              <a:t> </a:t>
            </a:r>
            <a:r>
              <a:rPr lang="en-US" sz="1700" dirty="0">
                <a:latin typeface="Arial MT"/>
                <a:cs typeface="Arial MT"/>
              </a:rPr>
              <a:t>has</a:t>
            </a:r>
            <a:r>
              <a:rPr lang="en-US" sz="1700" spc="-20" dirty="0">
                <a:latin typeface="Arial MT"/>
                <a:cs typeface="Arial MT"/>
              </a:rPr>
              <a:t> </a:t>
            </a:r>
            <a:r>
              <a:rPr lang="en-US" sz="1700" dirty="0">
                <a:latin typeface="Arial MT"/>
                <a:cs typeface="Arial MT"/>
              </a:rPr>
              <a:t>its</a:t>
            </a:r>
            <a:r>
              <a:rPr lang="en-US" sz="1700" spc="-15" dirty="0">
                <a:latin typeface="Arial MT"/>
                <a:cs typeface="Arial MT"/>
              </a:rPr>
              <a:t> </a:t>
            </a:r>
            <a:r>
              <a:rPr lang="en-US" sz="1700" dirty="0">
                <a:latin typeface="Arial MT"/>
                <a:cs typeface="Arial MT"/>
              </a:rPr>
              <a:t>own</a:t>
            </a:r>
            <a:r>
              <a:rPr lang="en-US" sz="1700" spc="-20" dirty="0">
                <a:latin typeface="Arial MT"/>
                <a:cs typeface="Arial MT"/>
              </a:rPr>
              <a:t> </a:t>
            </a:r>
            <a:r>
              <a:rPr lang="en-US" sz="1700" dirty="0">
                <a:latin typeface="Arial MT"/>
                <a:cs typeface="Arial MT"/>
              </a:rPr>
              <a:t>stack,</a:t>
            </a:r>
            <a:r>
              <a:rPr lang="en-US" sz="1700" spc="-15" dirty="0">
                <a:latin typeface="Arial MT"/>
                <a:cs typeface="Arial MT"/>
              </a:rPr>
              <a:t> </a:t>
            </a:r>
            <a:r>
              <a:rPr lang="en-US" sz="1700" spc="-25" dirty="0">
                <a:latin typeface="Arial MT"/>
                <a:cs typeface="Arial MT"/>
              </a:rPr>
              <a:t>CPU </a:t>
            </a:r>
            <a:r>
              <a:rPr lang="en-US" sz="1700" dirty="0">
                <a:latin typeface="Arial MT"/>
                <a:cs typeface="Arial MT"/>
              </a:rPr>
              <a:t>Registers,</a:t>
            </a:r>
            <a:r>
              <a:rPr lang="en-US" sz="1700" spc="-50" dirty="0">
                <a:latin typeface="Arial MT"/>
                <a:cs typeface="Arial MT"/>
              </a:rPr>
              <a:t> </a:t>
            </a:r>
            <a:r>
              <a:rPr lang="en-US" sz="1700" spc="-20" dirty="0">
                <a:latin typeface="Arial MT"/>
                <a:cs typeface="Arial MT"/>
              </a:rPr>
              <a:t>etc.</a:t>
            </a:r>
            <a:endParaRPr lang="en-US" sz="1700" dirty="0">
              <a:latin typeface="Arial MT"/>
              <a:cs typeface="Arial MT"/>
            </a:endParaRPr>
          </a:p>
          <a:p>
            <a:pPr marL="377825" marR="5080" indent="-266700">
              <a:lnSpc>
                <a:spcPct val="114000"/>
              </a:lnSpc>
              <a:spcBef>
                <a:spcPts val="10"/>
              </a:spcBef>
              <a:spcAft>
                <a:spcPts val="600"/>
              </a:spcAft>
              <a:buChar char="●"/>
              <a:tabLst>
                <a:tab pos="379095" algn="l"/>
              </a:tabLst>
            </a:pPr>
            <a:r>
              <a:rPr lang="en-US" sz="1700" dirty="0">
                <a:latin typeface="Arial MT"/>
                <a:cs typeface="Arial MT"/>
              </a:rPr>
              <a:t>All</a:t>
            </a:r>
            <a:r>
              <a:rPr lang="en-US" sz="1700" spc="-15" dirty="0">
                <a:latin typeface="Arial MT"/>
                <a:cs typeface="Arial MT"/>
              </a:rPr>
              <a:t> </a:t>
            </a:r>
            <a:r>
              <a:rPr lang="en-US" sz="1700" dirty="0">
                <a:latin typeface="Arial MT"/>
                <a:cs typeface="Arial MT"/>
              </a:rPr>
              <a:t>threads</a:t>
            </a:r>
            <a:r>
              <a:rPr lang="en-US" sz="1700" spc="-15" dirty="0">
                <a:latin typeface="Arial MT"/>
                <a:cs typeface="Arial MT"/>
              </a:rPr>
              <a:t> </a:t>
            </a:r>
            <a:r>
              <a:rPr lang="en-US" sz="1700" dirty="0">
                <a:latin typeface="Arial MT"/>
                <a:cs typeface="Arial MT"/>
              </a:rPr>
              <a:t>within</a:t>
            </a:r>
            <a:r>
              <a:rPr lang="en-US" sz="1700" spc="-15" dirty="0">
                <a:latin typeface="Arial MT"/>
                <a:cs typeface="Arial MT"/>
              </a:rPr>
              <a:t> </a:t>
            </a:r>
            <a:r>
              <a:rPr lang="en-US" sz="1700" dirty="0">
                <a:latin typeface="Arial MT"/>
                <a:cs typeface="Arial MT"/>
              </a:rPr>
              <a:t>a</a:t>
            </a:r>
            <a:r>
              <a:rPr lang="en-US" sz="1700" spc="-15" dirty="0">
                <a:latin typeface="Arial MT"/>
                <a:cs typeface="Arial MT"/>
              </a:rPr>
              <a:t> </a:t>
            </a:r>
            <a:r>
              <a:rPr lang="en-US" sz="1700" dirty="0">
                <a:latin typeface="Arial MT"/>
                <a:cs typeface="Arial MT"/>
              </a:rPr>
              <a:t>process</a:t>
            </a:r>
            <a:r>
              <a:rPr lang="en-US" sz="1700" spc="-15" dirty="0">
                <a:latin typeface="Arial MT"/>
                <a:cs typeface="Arial MT"/>
              </a:rPr>
              <a:t> </a:t>
            </a:r>
            <a:r>
              <a:rPr lang="en-US" sz="1700" dirty="0">
                <a:latin typeface="Arial MT"/>
                <a:cs typeface="Arial MT"/>
              </a:rPr>
              <a:t>share</a:t>
            </a:r>
            <a:r>
              <a:rPr lang="en-US" sz="1700" spc="-10" dirty="0">
                <a:latin typeface="Arial MT"/>
                <a:cs typeface="Arial MT"/>
              </a:rPr>
              <a:t> </a:t>
            </a:r>
            <a:r>
              <a:rPr lang="en-US" sz="1700" spc="-25" dirty="0">
                <a:latin typeface="Arial MT"/>
                <a:cs typeface="Arial MT"/>
              </a:rPr>
              <a:t>the </a:t>
            </a:r>
            <a:r>
              <a:rPr lang="en-US" sz="1700" dirty="0">
                <a:latin typeface="Arial MT"/>
                <a:cs typeface="Arial MT"/>
              </a:rPr>
              <a:t>same</a:t>
            </a:r>
            <a:r>
              <a:rPr lang="en-US" sz="1700" spc="-20" dirty="0">
                <a:latin typeface="Arial MT"/>
                <a:cs typeface="Arial MT"/>
              </a:rPr>
              <a:t> </a:t>
            </a:r>
            <a:r>
              <a:rPr lang="en-US" sz="1700" dirty="0">
                <a:latin typeface="Arial MT"/>
                <a:cs typeface="Arial MT"/>
              </a:rPr>
              <a:t>address</a:t>
            </a:r>
            <a:r>
              <a:rPr lang="en-US" sz="1700" spc="-15" dirty="0">
                <a:latin typeface="Arial MT"/>
                <a:cs typeface="Arial MT"/>
              </a:rPr>
              <a:t> </a:t>
            </a:r>
            <a:r>
              <a:rPr lang="en-US" sz="1700" dirty="0">
                <a:latin typeface="Arial MT"/>
                <a:cs typeface="Arial MT"/>
              </a:rPr>
              <a:t>space</a:t>
            </a:r>
            <a:r>
              <a:rPr lang="en-US" sz="1700" spc="-15" dirty="0">
                <a:latin typeface="Arial MT"/>
                <a:cs typeface="Arial MT"/>
              </a:rPr>
              <a:t> </a:t>
            </a:r>
            <a:r>
              <a:rPr lang="en-US" sz="1700" dirty="0">
                <a:latin typeface="Arial MT"/>
                <a:cs typeface="Arial MT"/>
              </a:rPr>
              <a:t>and</a:t>
            </a:r>
            <a:r>
              <a:rPr lang="en-US" sz="1700" spc="-15" dirty="0">
                <a:latin typeface="Arial MT"/>
                <a:cs typeface="Arial MT"/>
              </a:rPr>
              <a:t> </a:t>
            </a:r>
            <a:r>
              <a:rPr lang="en-US" sz="1700" spc="-25" dirty="0">
                <a:latin typeface="Arial MT"/>
                <a:cs typeface="Arial MT"/>
              </a:rPr>
              <a:t>OS </a:t>
            </a:r>
            <a:r>
              <a:rPr lang="en-US" sz="1700" spc="-10" dirty="0">
                <a:latin typeface="Arial MT"/>
                <a:cs typeface="Arial MT"/>
              </a:rPr>
              <a:t>resources</a:t>
            </a:r>
            <a:endParaRPr lang="en-US" sz="1700" dirty="0">
              <a:latin typeface="Arial MT"/>
              <a:cs typeface="Arial MT"/>
            </a:endParaRPr>
          </a:p>
          <a:p>
            <a:pPr marL="377825" marR="44450" indent="-266700">
              <a:lnSpc>
                <a:spcPct val="114000"/>
              </a:lnSpc>
              <a:spcBef>
                <a:spcPts val="10"/>
              </a:spcBef>
              <a:buChar char="●"/>
              <a:tabLst>
                <a:tab pos="379095" algn="l"/>
              </a:tabLst>
            </a:pPr>
            <a:r>
              <a:rPr lang="en-US" sz="1700" dirty="0">
                <a:latin typeface="Arial MT"/>
                <a:cs typeface="Arial MT"/>
              </a:rPr>
              <a:t>Threads</a:t>
            </a:r>
            <a:r>
              <a:rPr lang="en-US" sz="1700" spc="-20" dirty="0">
                <a:latin typeface="Arial MT"/>
                <a:cs typeface="Arial MT"/>
              </a:rPr>
              <a:t> </a:t>
            </a:r>
            <a:r>
              <a:rPr lang="en-US" sz="1700" dirty="0">
                <a:latin typeface="Arial MT"/>
                <a:cs typeface="Arial MT"/>
              </a:rPr>
              <a:t>share</a:t>
            </a:r>
            <a:r>
              <a:rPr lang="en-US" sz="1700" spc="-15" dirty="0">
                <a:latin typeface="Arial MT"/>
                <a:cs typeface="Arial MT"/>
              </a:rPr>
              <a:t> </a:t>
            </a:r>
            <a:r>
              <a:rPr lang="en-US" sz="1700" dirty="0">
                <a:latin typeface="Arial MT"/>
                <a:cs typeface="Arial MT"/>
              </a:rPr>
              <a:t>memory!</a:t>
            </a:r>
            <a:r>
              <a:rPr lang="en-US" sz="1700" spc="-20" dirty="0">
                <a:latin typeface="Arial MT"/>
                <a:cs typeface="Arial MT"/>
              </a:rPr>
              <a:t> </a:t>
            </a:r>
            <a:r>
              <a:rPr lang="en-US" sz="1700" dirty="0">
                <a:latin typeface="Arial MT"/>
                <a:cs typeface="Arial MT"/>
              </a:rPr>
              <a:t>So,</a:t>
            </a:r>
            <a:r>
              <a:rPr lang="en-US" sz="1700" spc="-15" dirty="0">
                <a:latin typeface="Arial MT"/>
                <a:cs typeface="Arial MT"/>
              </a:rPr>
              <a:t> </a:t>
            </a:r>
            <a:r>
              <a:rPr lang="en-US" sz="1700" dirty="0">
                <a:latin typeface="Arial MT"/>
                <a:cs typeface="Arial MT"/>
              </a:rPr>
              <a:t>they</a:t>
            </a:r>
            <a:r>
              <a:rPr lang="en-US" sz="1700" spc="-15" dirty="0">
                <a:latin typeface="Arial MT"/>
                <a:cs typeface="Arial MT"/>
              </a:rPr>
              <a:t> </a:t>
            </a:r>
            <a:r>
              <a:rPr lang="en-US" sz="1700" spc="-25" dirty="0">
                <a:latin typeface="Arial MT"/>
                <a:cs typeface="Arial MT"/>
              </a:rPr>
              <a:t>can </a:t>
            </a:r>
            <a:r>
              <a:rPr lang="en-US" sz="1700" spc="-10" dirty="0">
                <a:latin typeface="Arial MT"/>
                <a:cs typeface="Arial MT"/>
              </a:rPr>
              <a:t>communicate</a:t>
            </a:r>
            <a:endParaRPr lang="en-US" sz="1700" dirty="0">
              <a:latin typeface="Arial MT"/>
              <a:cs typeface="Arial MT"/>
            </a:endParaRPr>
          </a:p>
        </p:txBody>
      </p:sp>
      <p:sp>
        <p:nvSpPr>
          <p:cNvPr id="6" name="object 6"/>
          <p:cNvSpPr txBox="1">
            <a:spLocks noGrp="1"/>
          </p:cNvSpPr>
          <p:nvPr>
            <p:ph type="title"/>
          </p:nvPr>
        </p:nvSpPr>
        <p:spPr>
          <a:xfrm>
            <a:off x="5370125" y="1363146"/>
            <a:ext cx="5203825" cy="618054"/>
          </a:xfrm>
          <a:prstGeom prst="rect">
            <a:avLst/>
          </a:prstGeom>
        </p:spPr>
        <p:txBody>
          <a:bodyPr vert="horz" wrap="square" lIns="0" tIns="12700" rIns="0" bIns="0" rtlCol="0">
            <a:spAutoFit/>
          </a:bodyPr>
          <a:lstStyle/>
          <a:p>
            <a:pPr marL="12700" marR="5080">
              <a:lnSpc>
                <a:spcPct val="114000"/>
              </a:lnSpc>
              <a:spcBef>
                <a:spcPts val="100"/>
              </a:spcBef>
            </a:pPr>
            <a:r>
              <a:rPr sz="1800" b="1" dirty="0">
                <a:latin typeface="Arial"/>
                <a:cs typeface="Arial"/>
              </a:rPr>
              <a:t>The</a:t>
            </a:r>
            <a:r>
              <a:rPr sz="1800" b="1" spc="-30" dirty="0">
                <a:latin typeface="Arial"/>
                <a:cs typeface="Arial"/>
              </a:rPr>
              <a:t> </a:t>
            </a:r>
            <a:r>
              <a:rPr sz="1800" b="1" dirty="0">
                <a:latin typeface="Arial"/>
                <a:cs typeface="Arial"/>
              </a:rPr>
              <a:t>thread</a:t>
            </a:r>
            <a:r>
              <a:rPr sz="1800" b="1" spc="-25" dirty="0">
                <a:latin typeface="Arial"/>
                <a:cs typeface="Arial"/>
              </a:rPr>
              <a:t> </a:t>
            </a:r>
            <a:r>
              <a:rPr sz="1800" b="1" dirty="0">
                <a:latin typeface="Arial"/>
                <a:cs typeface="Arial"/>
              </a:rPr>
              <a:t>is</a:t>
            </a:r>
            <a:r>
              <a:rPr sz="1800" b="1" spc="-25" dirty="0">
                <a:latin typeface="Arial"/>
                <a:cs typeface="Arial"/>
              </a:rPr>
              <a:t> </a:t>
            </a:r>
            <a:r>
              <a:rPr sz="1800" b="1" dirty="0">
                <a:latin typeface="Arial"/>
                <a:cs typeface="Arial"/>
              </a:rPr>
              <a:t>now</a:t>
            </a:r>
            <a:r>
              <a:rPr sz="1800" b="1" spc="-25" dirty="0">
                <a:latin typeface="Arial"/>
                <a:cs typeface="Arial"/>
              </a:rPr>
              <a:t> </a:t>
            </a:r>
            <a:r>
              <a:rPr sz="1800" b="1" dirty="0">
                <a:latin typeface="Arial"/>
                <a:cs typeface="Arial"/>
              </a:rPr>
              <a:t>the</a:t>
            </a:r>
            <a:r>
              <a:rPr sz="1800" b="1" spc="-25" dirty="0">
                <a:latin typeface="Arial"/>
                <a:cs typeface="Arial"/>
              </a:rPr>
              <a:t> </a:t>
            </a:r>
            <a:r>
              <a:rPr sz="1800" b="1" dirty="0">
                <a:latin typeface="Arial"/>
                <a:cs typeface="Arial"/>
              </a:rPr>
              <a:t>unit</a:t>
            </a:r>
            <a:r>
              <a:rPr sz="1800" b="1" spc="-25" dirty="0">
                <a:latin typeface="Arial"/>
                <a:cs typeface="Arial"/>
              </a:rPr>
              <a:t> </a:t>
            </a:r>
            <a:r>
              <a:rPr sz="1800" b="1" dirty="0">
                <a:latin typeface="Arial"/>
                <a:cs typeface="Arial"/>
              </a:rPr>
              <a:t>of</a:t>
            </a:r>
            <a:r>
              <a:rPr sz="1800" b="1" spc="-25" dirty="0">
                <a:latin typeface="Arial"/>
                <a:cs typeface="Arial"/>
              </a:rPr>
              <a:t> </a:t>
            </a:r>
            <a:r>
              <a:rPr sz="1800" b="1" dirty="0">
                <a:latin typeface="Arial"/>
                <a:cs typeface="Arial"/>
              </a:rPr>
              <a:t>“CPU</a:t>
            </a:r>
            <a:r>
              <a:rPr sz="1800" b="1" spc="-25" dirty="0">
                <a:latin typeface="Arial"/>
                <a:cs typeface="Arial"/>
              </a:rPr>
              <a:t> </a:t>
            </a:r>
            <a:r>
              <a:rPr sz="1800" b="1" spc="-10" dirty="0">
                <a:latin typeface="Arial"/>
                <a:cs typeface="Arial"/>
              </a:rPr>
              <a:t>Scheduling” </a:t>
            </a:r>
            <a:r>
              <a:rPr sz="1800" b="1" dirty="0">
                <a:latin typeface="Arial"/>
                <a:cs typeface="Arial"/>
              </a:rPr>
              <a:t>A</a:t>
            </a:r>
            <a:r>
              <a:rPr sz="1800" b="1" spc="-85" dirty="0">
                <a:latin typeface="Arial"/>
                <a:cs typeface="Arial"/>
              </a:rPr>
              <a:t> </a:t>
            </a:r>
            <a:r>
              <a:rPr sz="1800" b="1" dirty="0">
                <a:latin typeface="Arial"/>
                <a:cs typeface="Arial"/>
              </a:rPr>
              <a:t>process</a:t>
            </a:r>
            <a:r>
              <a:rPr sz="1800" b="1" spc="-20" dirty="0">
                <a:latin typeface="Arial"/>
                <a:cs typeface="Arial"/>
              </a:rPr>
              <a:t> </a:t>
            </a:r>
            <a:r>
              <a:rPr sz="1800" b="1" dirty="0">
                <a:latin typeface="Arial"/>
                <a:cs typeface="Arial"/>
              </a:rPr>
              <a:t>is</a:t>
            </a:r>
            <a:r>
              <a:rPr sz="1800" b="1" spc="-25" dirty="0">
                <a:latin typeface="Arial"/>
                <a:cs typeface="Arial"/>
              </a:rPr>
              <a:t> </a:t>
            </a:r>
            <a:r>
              <a:rPr sz="1800" b="1" dirty="0">
                <a:latin typeface="Arial"/>
                <a:cs typeface="Arial"/>
              </a:rPr>
              <a:t>just</a:t>
            </a:r>
            <a:r>
              <a:rPr sz="1800" b="1" spc="-20" dirty="0">
                <a:latin typeface="Arial"/>
                <a:cs typeface="Arial"/>
              </a:rPr>
              <a:t> </a:t>
            </a:r>
            <a:r>
              <a:rPr sz="1800" b="1" dirty="0">
                <a:latin typeface="Arial"/>
                <a:cs typeface="Arial"/>
              </a:rPr>
              <a:t>a</a:t>
            </a:r>
            <a:r>
              <a:rPr sz="1800" b="1" spc="-20" dirty="0">
                <a:latin typeface="Arial"/>
                <a:cs typeface="Arial"/>
              </a:rPr>
              <a:t> </a:t>
            </a:r>
            <a:r>
              <a:rPr sz="1800" b="1" dirty="0">
                <a:latin typeface="Arial"/>
                <a:cs typeface="Arial"/>
              </a:rPr>
              <a:t>container</a:t>
            </a:r>
            <a:r>
              <a:rPr sz="1800" b="1" spc="-20" dirty="0">
                <a:latin typeface="Arial"/>
                <a:cs typeface="Arial"/>
              </a:rPr>
              <a:t> </a:t>
            </a:r>
            <a:r>
              <a:rPr sz="1800" b="1" dirty="0">
                <a:latin typeface="Arial"/>
                <a:cs typeface="Arial"/>
              </a:rPr>
              <a:t>for</a:t>
            </a:r>
            <a:r>
              <a:rPr sz="1800" b="1" spc="-20" dirty="0">
                <a:latin typeface="Arial"/>
                <a:cs typeface="Arial"/>
              </a:rPr>
              <a:t> </a:t>
            </a:r>
            <a:r>
              <a:rPr sz="1800" b="1" spc="-10" dirty="0">
                <a:latin typeface="Arial"/>
                <a:cs typeface="Arial"/>
              </a:rPr>
              <a:t>threads</a:t>
            </a:r>
            <a:endParaRPr sz="1800" dirty="0">
              <a:latin typeface="Arial"/>
              <a:cs typeface="Arial"/>
            </a:endParaRPr>
          </a:p>
        </p:txBody>
      </p:sp>
      <p:pic>
        <p:nvPicPr>
          <p:cNvPr id="4" name="object 4" descr="A comparison diagram of a single-threaded process versus a multithreaded process. It shows that while code, data, and files are shared, each thread maintains its own set of registers and a stack."/>
          <p:cNvPicPr/>
          <p:nvPr/>
        </p:nvPicPr>
        <p:blipFill>
          <a:blip r:embed="rId3" cstate="print"/>
          <a:stretch>
            <a:fillRect/>
          </a:stretch>
        </p:blipFill>
        <p:spPr>
          <a:xfrm>
            <a:off x="5297100" y="2305051"/>
            <a:ext cx="6705599" cy="3867149"/>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7293574" y="6375400"/>
            <a:ext cx="224853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15" dirty="0">
                <a:solidFill>
                  <a:srgbClr val="0F2044"/>
                </a:solidFill>
                <a:latin typeface="Arial MT"/>
                <a:cs typeface="Arial MT"/>
              </a:rPr>
              <a:t> </a:t>
            </a:r>
            <a:r>
              <a:rPr sz="1000" dirty="0">
                <a:solidFill>
                  <a:srgbClr val="0F2044"/>
                </a:solidFill>
                <a:latin typeface="Arial MT"/>
                <a:cs typeface="Arial MT"/>
              </a:rPr>
              <a:t>credit</a:t>
            </a:r>
            <a:r>
              <a:rPr sz="1000" spc="-10" dirty="0">
                <a:solidFill>
                  <a:srgbClr val="0F2044"/>
                </a:solidFill>
                <a:latin typeface="Arial MT"/>
                <a:cs typeface="Arial MT"/>
              </a:rPr>
              <a:t> </a:t>
            </a:r>
            <a:r>
              <a:rPr sz="1000" dirty="0">
                <a:solidFill>
                  <a:srgbClr val="0F2044"/>
                </a:solidFill>
                <a:latin typeface="Arial MT"/>
                <a:cs typeface="Arial MT"/>
              </a:rPr>
              <a:t>-</a:t>
            </a:r>
            <a:r>
              <a:rPr sz="1000" spc="-65" dirty="0">
                <a:solidFill>
                  <a:srgbClr val="0F2044"/>
                </a:solidFill>
                <a:latin typeface="Arial MT"/>
                <a:cs typeface="Arial MT"/>
              </a:rPr>
              <a:t> </a:t>
            </a:r>
            <a:r>
              <a:rPr sz="1000" dirty="0">
                <a:solidFill>
                  <a:srgbClr val="0F2044"/>
                </a:solidFill>
                <a:latin typeface="Arial MT"/>
                <a:cs typeface="Arial MT"/>
              </a:rPr>
              <a:t>A</a:t>
            </a:r>
            <a:r>
              <a:rPr sz="1000" spc="-65" dirty="0">
                <a:solidFill>
                  <a:srgbClr val="0F2044"/>
                </a:solidFill>
                <a:latin typeface="Arial MT"/>
                <a:cs typeface="Arial MT"/>
              </a:rPr>
              <a:t> </a:t>
            </a:r>
            <a:r>
              <a:rPr sz="1000" dirty="0">
                <a:solidFill>
                  <a:srgbClr val="0F2044"/>
                </a:solidFill>
                <a:latin typeface="Arial MT"/>
                <a:cs typeface="Arial MT"/>
              </a:rPr>
              <a:t>X</a:t>
            </a:r>
            <a:r>
              <a:rPr sz="1000" spc="-10" dirty="0">
                <a:solidFill>
                  <a:srgbClr val="0F2044"/>
                </a:solidFill>
                <a:latin typeface="Arial MT"/>
                <a:cs typeface="Arial MT"/>
              </a:rPr>
              <a:t> </a:t>
            </a:r>
            <a:r>
              <a:rPr sz="1000" dirty="0">
                <a:solidFill>
                  <a:srgbClr val="0F2044"/>
                </a:solidFill>
                <a:latin typeface="Arial MT"/>
                <a:cs typeface="Arial MT"/>
              </a:rPr>
              <a:t>I</a:t>
            </a:r>
            <a:r>
              <a:rPr sz="1000" spc="-10" dirty="0">
                <a:solidFill>
                  <a:srgbClr val="0F2044"/>
                </a:solidFill>
                <a:latin typeface="Arial MT"/>
                <a:cs typeface="Arial MT"/>
              </a:rPr>
              <a:t> </a:t>
            </a:r>
            <a:r>
              <a:rPr sz="1000" dirty="0">
                <a:solidFill>
                  <a:srgbClr val="0F2044"/>
                </a:solidFill>
                <a:latin typeface="Arial MT"/>
                <a:cs typeface="Arial MT"/>
              </a:rPr>
              <a:t>X</a:t>
            </a:r>
            <a:r>
              <a:rPr sz="1000" spc="-65" dirty="0">
                <a:solidFill>
                  <a:srgbClr val="0F2044"/>
                </a:solidFill>
                <a:latin typeface="Arial MT"/>
                <a:cs typeface="Arial MT"/>
              </a:rPr>
              <a:t> </a:t>
            </a:r>
            <a:r>
              <a:rPr sz="1000" dirty="0">
                <a:solidFill>
                  <a:srgbClr val="0F2044"/>
                </a:solidFill>
                <a:latin typeface="Arial MT"/>
                <a:cs typeface="Arial MT"/>
              </a:rPr>
              <a:t>A</a:t>
            </a:r>
            <a:r>
              <a:rPr sz="1000" spc="-65" dirty="0">
                <a:solidFill>
                  <a:srgbClr val="0F2044"/>
                </a:solidFill>
                <a:latin typeface="Arial MT"/>
                <a:cs typeface="Arial MT"/>
              </a:rPr>
              <a:t> </a:t>
            </a:r>
            <a:r>
              <a:rPr sz="1000" dirty="0">
                <a:solidFill>
                  <a:srgbClr val="0F2044"/>
                </a:solidFill>
                <a:latin typeface="Arial MT"/>
                <a:cs typeface="Arial MT"/>
              </a:rPr>
              <a:t>@</a:t>
            </a:r>
            <a:r>
              <a:rPr sz="1000" spc="-10" dirty="0">
                <a:solidFill>
                  <a:srgbClr val="0F2044"/>
                </a:solidFill>
                <a:latin typeface="Arial MT"/>
                <a:cs typeface="Arial MT"/>
              </a:rPr>
              <a:t> Medium.com</a:t>
            </a:r>
            <a:endParaRPr sz="1000" dirty="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0C3C2DD6-DE96-3432-892A-6DD5BE0144D7}"/>
              </a:ext>
              <a:ext uri="{C183D7F6-B498-43B3-948B-1728B52AA6E4}">
                <adec:decorative xmlns:adec="http://schemas.microsoft.com/office/drawing/2017/decorative" val="0"/>
              </a:ext>
            </a:extLst>
          </p:cNvPr>
          <p:cNvSpPr txBox="1">
            <a:spLocks noGrp="1"/>
          </p:cNvSpPr>
          <p:nvPr>
            <p:ph type="title" idx="4294967295"/>
          </p:nvPr>
        </p:nvSpPr>
        <p:spPr>
          <a:xfrm>
            <a:off x="410375" y="1086462"/>
            <a:ext cx="4480560" cy="662857"/>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lvl1pPr>
              <a:defRPr sz="2500" b="0" i="0">
                <a:solidFill>
                  <a:srgbClr val="0F2044"/>
                </a:solidFill>
                <a:latin typeface="Georgia"/>
                <a:ea typeface="+mj-ea"/>
                <a:cs typeface="Georgia"/>
              </a:defRPr>
            </a:lvl1pPr>
          </a:lstStyle>
          <a:p>
            <a:pPr marL="12700" marR="0" lvl="0" indent="0" defTabSz="914400" eaLnBrk="1" fontAlgn="auto" latinLnBrk="0" hangingPunct="1">
              <a:lnSpc>
                <a:spcPts val="2900"/>
              </a:lnSpc>
              <a:spcBef>
                <a:spcPts val="100"/>
              </a:spcBef>
              <a:spcAft>
                <a:spcPts val="0"/>
              </a:spcAft>
              <a:buClrTx/>
              <a:buSzTx/>
              <a:buFontTx/>
              <a:buNone/>
              <a:tabLst/>
              <a:defRPr/>
            </a:pPr>
            <a:r>
              <a:rPr kumimoji="0" lang="en-US" sz="2500" b="0" i="0" u="none" strike="noStrike" kern="0" cap="none" spc="-25" normalizeH="0" baseline="0" noProof="0" dirty="0">
                <a:ln>
                  <a:noFill/>
                </a:ln>
                <a:solidFill>
                  <a:srgbClr val="0F2044"/>
                </a:solidFill>
                <a:effectLst/>
                <a:uLnTx/>
                <a:uFillTx/>
                <a:latin typeface="Georgia"/>
                <a:ea typeface="+mj-ea"/>
                <a:cs typeface="Georgia"/>
              </a:rPr>
              <a:t>Multi-</a:t>
            </a:r>
            <a:r>
              <a:rPr kumimoji="0" lang="en-US" sz="2500" b="0" i="0" u="none" strike="noStrike" kern="0" cap="none" spc="0" normalizeH="0" baseline="0" noProof="0" dirty="0">
                <a:ln>
                  <a:noFill/>
                </a:ln>
                <a:solidFill>
                  <a:srgbClr val="0F2044"/>
                </a:solidFill>
                <a:effectLst/>
                <a:uLnTx/>
                <a:uFillTx/>
                <a:latin typeface="Georgia"/>
                <a:ea typeface="+mj-ea"/>
                <a:cs typeface="Georgia"/>
              </a:rPr>
              <a:t>threaded</a:t>
            </a:r>
            <a:r>
              <a:rPr kumimoji="0" lang="en-US" sz="2500" b="0" i="0" u="none" strike="noStrike" kern="0" cap="none" spc="-90" normalizeH="0" baseline="0" noProof="0" dirty="0">
                <a:ln>
                  <a:noFill/>
                </a:ln>
                <a:solidFill>
                  <a:srgbClr val="0F2044"/>
                </a:solidFill>
                <a:effectLst/>
                <a:uLnTx/>
                <a:uFillTx/>
                <a:latin typeface="Georgia"/>
                <a:ea typeface="+mj-ea"/>
                <a:cs typeface="Georgia"/>
              </a:rPr>
              <a:t> </a:t>
            </a:r>
            <a:r>
              <a:rPr kumimoji="0" lang="en-US" sz="2500" b="0" i="0" u="none" strike="noStrike" kern="0" cap="none" spc="-10" normalizeH="0" baseline="0" noProof="0" dirty="0">
                <a:ln>
                  <a:noFill/>
                </a:ln>
                <a:solidFill>
                  <a:srgbClr val="0F2044"/>
                </a:solidFill>
                <a:effectLst/>
                <a:uLnTx/>
                <a:uFillTx/>
                <a:latin typeface="Georgia"/>
                <a:ea typeface="+mj-ea"/>
                <a:cs typeface="Georgia"/>
              </a:rPr>
              <a:t>Programming</a:t>
            </a:r>
          </a:p>
          <a:p>
            <a:pPr marL="12700" marR="0" lvl="0" indent="0" defTabSz="914400" eaLnBrk="1" fontAlgn="auto" latinLnBrk="0" hangingPunct="1">
              <a:lnSpc>
                <a:spcPts val="206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F2044"/>
                </a:solidFill>
                <a:effectLst/>
                <a:uLnTx/>
                <a:uFillTx/>
                <a:latin typeface="Georgia"/>
                <a:ea typeface="+mj-ea"/>
                <a:cs typeface="Georgia"/>
              </a:rPr>
              <a:t>Thread</a:t>
            </a:r>
            <a:r>
              <a:rPr kumimoji="0" lang="en-US" sz="1800" b="0" i="0" u="none" strike="noStrike" kern="0" cap="none" spc="-60" normalizeH="0" baseline="0" noProof="0" dirty="0">
                <a:ln>
                  <a:noFill/>
                </a:ln>
                <a:solidFill>
                  <a:srgbClr val="0F2044"/>
                </a:solidFill>
                <a:effectLst/>
                <a:uLnTx/>
                <a:uFillTx/>
                <a:latin typeface="Georgia"/>
                <a:ea typeface="+mj-ea"/>
                <a:cs typeface="Georgia"/>
              </a:rPr>
              <a:t> </a:t>
            </a:r>
            <a:r>
              <a:rPr kumimoji="0" lang="en-US" sz="1800" b="0" i="0" u="none" strike="noStrike" kern="0" cap="none" spc="0" normalizeH="0" baseline="0" noProof="0" dirty="0">
                <a:ln>
                  <a:noFill/>
                </a:ln>
                <a:solidFill>
                  <a:srgbClr val="0F2044"/>
                </a:solidFill>
                <a:effectLst/>
                <a:uLnTx/>
                <a:uFillTx/>
                <a:latin typeface="Georgia"/>
                <a:ea typeface="+mj-ea"/>
                <a:cs typeface="Georgia"/>
              </a:rPr>
              <a:t>vs</a:t>
            </a:r>
            <a:r>
              <a:rPr kumimoji="0" lang="en-US" sz="1800" b="0" i="0" u="none" strike="noStrike" kern="0" cap="none" spc="-55" normalizeH="0" baseline="0" noProof="0" dirty="0">
                <a:ln>
                  <a:noFill/>
                </a:ln>
                <a:solidFill>
                  <a:srgbClr val="0F2044"/>
                </a:solidFill>
                <a:effectLst/>
                <a:uLnTx/>
                <a:uFillTx/>
                <a:latin typeface="Georgia"/>
                <a:ea typeface="+mj-ea"/>
                <a:cs typeface="Georgia"/>
              </a:rPr>
              <a:t> </a:t>
            </a:r>
            <a:r>
              <a:rPr kumimoji="0" lang="en-US" sz="1800" b="0" i="0" u="none" strike="noStrike" kern="0" cap="none" spc="-10" normalizeH="0" baseline="0" noProof="0" dirty="0">
                <a:ln>
                  <a:noFill/>
                </a:ln>
                <a:solidFill>
                  <a:srgbClr val="0F2044"/>
                </a:solidFill>
                <a:effectLst/>
                <a:uLnTx/>
                <a:uFillTx/>
                <a:latin typeface="Georgia"/>
                <a:ea typeface="+mj-ea"/>
                <a:cs typeface="Georgia"/>
              </a:rPr>
              <a:t>Process</a:t>
            </a:r>
            <a:endParaRPr kumimoji="0" lang="en-US" sz="1800" b="0" i="0" u="none" strike="noStrike" kern="0" cap="none" spc="0" normalizeH="0" baseline="0" noProof="0" dirty="0">
              <a:ln>
                <a:noFill/>
              </a:ln>
              <a:solidFill>
                <a:srgbClr val="0F2044"/>
              </a:solidFill>
              <a:effectLst/>
              <a:uLnTx/>
              <a:uFillTx/>
              <a:latin typeface="Georgia"/>
              <a:ea typeface="+mj-ea"/>
              <a:cs typeface="Georgia"/>
            </a:endParaRPr>
          </a:p>
        </p:txBody>
      </p:sp>
      <p:sp>
        <p:nvSpPr>
          <p:cNvPr id="10" name="object 2">
            <a:extLst>
              <a:ext uri="{FF2B5EF4-FFF2-40B4-BE49-F238E27FC236}">
                <a16:creationId xmlns:a16="http://schemas.microsoft.com/office/drawing/2014/main" id="{2952D5D8-42D3-70BC-2C95-DF34AF868B9A}"/>
              </a:ext>
              <a:ext uri="{C183D7F6-B498-43B3-948B-1728B52AA6E4}">
                <adec:decorative xmlns:adec="http://schemas.microsoft.com/office/drawing/2017/decorative" val="1"/>
              </a:ext>
            </a:extLst>
          </p:cNvPr>
          <p:cNvSpPr txBox="1"/>
          <p:nvPr/>
        </p:nvSpPr>
        <p:spPr>
          <a:xfrm>
            <a:off x="410375" y="1924662"/>
            <a:ext cx="4464050" cy="4933338"/>
          </a:xfrm>
          <a:prstGeom prst="rect">
            <a:avLst/>
          </a:prstGeom>
        </p:spPr>
        <p:txBody>
          <a:bodyPr vert="horz" wrap="square" lIns="0" tIns="12700" rIns="0" bIns="0" rtlCol="0">
            <a:spAutoFit/>
          </a:bodyPr>
          <a:lstStyle/>
          <a:p>
            <a:pPr marL="93980" marR="70485">
              <a:lnSpc>
                <a:spcPct val="114000"/>
              </a:lnSpc>
              <a:spcBef>
                <a:spcPts val="1470"/>
              </a:spcBef>
            </a:pPr>
            <a:r>
              <a:rPr sz="1800" dirty="0">
                <a:latin typeface="Arial MT"/>
                <a:cs typeface="Arial MT"/>
              </a:rPr>
              <a:t>A</a:t>
            </a:r>
            <a:r>
              <a:rPr sz="1800" spc="-125" dirty="0">
                <a:latin typeface="Arial MT"/>
                <a:cs typeface="Arial MT"/>
              </a:rPr>
              <a:t> </a:t>
            </a:r>
            <a:r>
              <a:rPr sz="1800" b="1" dirty="0">
                <a:latin typeface="Arial"/>
                <a:cs typeface="Arial"/>
              </a:rPr>
              <a:t>thread</a:t>
            </a:r>
            <a:r>
              <a:rPr sz="1800" b="1" spc="-5" dirty="0">
                <a:latin typeface="Arial"/>
                <a:cs typeface="Arial"/>
              </a:rPr>
              <a:t> </a:t>
            </a:r>
            <a:r>
              <a:rPr sz="1800" dirty="0">
                <a:latin typeface="Arial MT"/>
                <a:cs typeface="Arial MT"/>
              </a:rPr>
              <a:t>is</a:t>
            </a:r>
            <a:r>
              <a:rPr sz="1800" spc="-20"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smallest</a:t>
            </a:r>
            <a:r>
              <a:rPr sz="1800" spc="-15" dirty="0">
                <a:latin typeface="Arial MT"/>
                <a:cs typeface="Arial MT"/>
              </a:rPr>
              <a:t> </a:t>
            </a:r>
            <a:r>
              <a:rPr sz="1800" dirty="0">
                <a:latin typeface="Arial MT"/>
                <a:cs typeface="Arial MT"/>
              </a:rPr>
              <a:t>unit</a:t>
            </a:r>
            <a:r>
              <a:rPr sz="1800" spc="-20" dirty="0">
                <a:latin typeface="Arial MT"/>
                <a:cs typeface="Arial MT"/>
              </a:rPr>
              <a:t> </a:t>
            </a:r>
            <a:r>
              <a:rPr sz="1800" dirty="0">
                <a:latin typeface="Arial MT"/>
                <a:cs typeface="Arial MT"/>
              </a:rPr>
              <a:t>of</a:t>
            </a:r>
            <a:r>
              <a:rPr sz="1800" spc="-15" dirty="0">
                <a:latin typeface="Arial MT"/>
                <a:cs typeface="Arial MT"/>
              </a:rPr>
              <a:t> </a:t>
            </a:r>
            <a:r>
              <a:rPr sz="1800" spc="-10" dirty="0">
                <a:latin typeface="Arial MT"/>
                <a:cs typeface="Arial MT"/>
              </a:rPr>
              <a:t>execution </a:t>
            </a:r>
            <a:r>
              <a:rPr sz="1800" dirty="0">
                <a:latin typeface="Arial MT"/>
                <a:cs typeface="Arial MT"/>
              </a:rPr>
              <a:t>within</a:t>
            </a:r>
            <a:r>
              <a:rPr sz="1800" spc="-30"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process,</a:t>
            </a:r>
            <a:r>
              <a:rPr sz="1800" spc="-25" dirty="0">
                <a:latin typeface="Arial MT"/>
                <a:cs typeface="Arial MT"/>
              </a:rPr>
              <a:t> </a:t>
            </a:r>
            <a:r>
              <a:rPr sz="1800" dirty="0">
                <a:latin typeface="Arial MT"/>
                <a:cs typeface="Arial MT"/>
              </a:rPr>
              <a:t>allowing</a:t>
            </a:r>
            <a:r>
              <a:rPr sz="1800" spc="-30" dirty="0">
                <a:latin typeface="Arial MT"/>
                <a:cs typeface="Arial MT"/>
              </a:rPr>
              <a:t> </a:t>
            </a:r>
            <a:r>
              <a:rPr sz="1800" dirty="0">
                <a:latin typeface="Arial MT"/>
                <a:cs typeface="Arial MT"/>
              </a:rPr>
              <a:t>multiple</a:t>
            </a:r>
            <a:r>
              <a:rPr sz="1800" spc="-25" dirty="0">
                <a:latin typeface="Arial MT"/>
                <a:cs typeface="Arial MT"/>
              </a:rPr>
              <a:t> </a:t>
            </a:r>
            <a:r>
              <a:rPr sz="1800" dirty="0">
                <a:latin typeface="Arial MT"/>
                <a:cs typeface="Arial MT"/>
              </a:rPr>
              <a:t>tasks</a:t>
            </a:r>
            <a:r>
              <a:rPr sz="1800" spc="-25" dirty="0">
                <a:latin typeface="Arial MT"/>
                <a:cs typeface="Arial MT"/>
              </a:rPr>
              <a:t> to </a:t>
            </a:r>
            <a:r>
              <a:rPr sz="1800" dirty="0">
                <a:latin typeface="Arial MT"/>
                <a:cs typeface="Arial MT"/>
              </a:rPr>
              <a:t>be</a:t>
            </a:r>
            <a:r>
              <a:rPr sz="1800" spc="-30" dirty="0">
                <a:latin typeface="Arial MT"/>
                <a:cs typeface="Arial MT"/>
              </a:rPr>
              <a:t> </a:t>
            </a:r>
            <a:r>
              <a:rPr sz="1800" dirty="0">
                <a:latin typeface="Arial MT"/>
                <a:cs typeface="Arial MT"/>
              </a:rPr>
              <a:t>carried</a:t>
            </a:r>
            <a:r>
              <a:rPr sz="1800" spc="-15" dirty="0">
                <a:latin typeface="Arial MT"/>
                <a:cs typeface="Arial MT"/>
              </a:rPr>
              <a:t> </a:t>
            </a:r>
            <a:r>
              <a:rPr sz="1800" dirty="0">
                <a:latin typeface="Arial MT"/>
                <a:cs typeface="Arial MT"/>
              </a:rPr>
              <a:t>out</a:t>
            </a:r>
            <a:r>
              <a:rPr sz="1800" spc="-15" dirty="0">
                <a:latin typeface="Arial MT"/>
                <a:cs typeface="Arial MT"/>
              </a:rPr>
              <a:t> </a:t>
            </a:r>
            <a:r>
              <a:rPr sz="1800" dirty="0">
                <a:latin typeface="Arial MT"/>
                <a:cs typeface="Arial MT"/>
              </a:rPr>
              <a:t>concurrently</a:t>
            </a:r>
            <a:r>
              <a:rPr sz="1800" spc="-20" dirty="0">
                <a:latin typeface="Arial MT"/>
                <a:cs typeface="Arial MT"/>
              </a:rPr>
              <a:t> </a:t>
            </a:r>
            <a:r>
              <a:rPr sz="1800" dirty="0">
                <a:latin typeface="Arial MT"/>
                <a:cs typeface="Arial MT"/>
              </a:rPr>
              <a:t>within</a:t>
            </a:r>
            <a:r>
              <a:rPr sz="1800" spc="-15" dirty="0">
                <a:latin typeface="Arial MT"/>
                <a:cs typeface="Arial MT"/>
              </a:rPr>
              <a:t> </a:t>
            </a:r>
            <a:r>
              <a:rPr sz="1800" dirty="0">
                <a:latin typeface="Arial MT"/>
                <a:cs typeface="Arial MT"/>
              </a:rPr>
              <a:t>a</a:t>
            </a:r>
            <a:r>
              <a:rPr sz="1800" spc="-15" dirty="0">
                <a:latin typeface="Arial MT"/>
                <a:cs typeface="Arial MT"/>
              </a:rPr>
              <a:t> </a:t>
            </a:r>
            <a:r>
              <a:rPr sz="1800" spc="-10" dirty="0">
                <a:latin typeface="Arial MT"/>
                <a:cs typeface="Arial MT"/>
              </a:rPr>
              <a:t>single </a:t>
            </a:r>
            <a:r>
              <a:rPr sz="1800" dirty="0">
                <a:latin typeface="Arial MT"/>
                <a:cs typeface="Arial MT"/>
              </a:rPr>
              <a:t>process.</a:t>
            </a:r>
            <a:r>
              <a:rPr sz="1800" spc="-60" dirty="0">
                <a:latin typeface="Arial MT"/>
                <a:cs typeface="Arial MT"/>
              </a:rPr>
              <a:t> </a:t>
            </a:r>
            <a:r>
              <a:rPr sz="1800" dirty="0">
                <a:latin typeface="Arial MT"/>
                <a:cs typeface="Arial MT"/>
              </a:rPr>
              <a:t>Threads</a:t>
            </a:r>
            <a:r>
              <a:rPr sz="1800" spc="-15" dirty="0">
                <a:latin typeface="Arial MT"/>
                <a:cs typeface="Arial MT"/>
              </a:rPr>
              <a:t> </a:t>
            </a:r>
            <a:r>
              <a:rPr sz="1800" dirty="0">
                <a:latin typeface="Arial MT"/>
                <a:cs typeface="Arial MT"/>
              </a:rPr>
              <a:t>are</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part</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a</a:t>
            </a:r>
            <a:r>
              <a:rPr sz="1800" spc="25" dirty="0">
                <a:latin typeface="Arial MT"/>
                <a:cs typeface="Arial MT"/>
              </a:rPr>
              <a:t> </a:t>
            </a:r>
            <a:r>
              <a:rPr sz="1800" b="1" spc="-10" dirty="0">
                <a:latin typeface="Arial"/>
                <a:cs typeface="Arial"/>
              </a:rPr>
              <a:t>process</a:t>
            </a:r>
            <a:r>
              <a:rPr sz="1800" spc="-10" dirty="0">
                <a:latin typeface="Arial MT"/>
                <a:cs typeface="Arial MT"/>
              </a:rPr>
              <a:t>.</a:t>
            </a:r>
            <a:endParaRPr sz="1800" dirty="0">
              <a:latin typeface="Arial MT"/>
              <a:cs typeface="Arial MT"/>
            </a:endParaRPr>
          </a:p>
          <a:p>
            <a:pPr marL="93980" marR="5080">
              <a:lnSpc>
                <a:spcPct val="114000"/>
              </a:lnSpc>
              <a:spcBef>
                <a:spcPts val="1960"/>
              </a:spcBef>
              <a:spcAft>
                <a:spcPts val="600"/>
              </a:spcAft>
            </a:pPr>
            <a:r>
              <a:rPr sz="1800" dirty="0">
                <a:latin typeface="Arial MT"/>
                <a:cs typeface="Arial MT"/>
              </a:rPr>
              <a:t>A</a:t>
            </a:r>
            <a:r>
              <a:rPr sz="1800" spc="-114"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can</a:t>
            </a:r>
            <a:r>
              <a:rPr sz="1800" spc="-15" dirty="0">
                <a:latin typeface="Arial MT"/>
                <a:cs typeface="Arial MT"/>
              </a:rPr>
              <a:t> </a:t>
            </a:r>
            <a:r>
              <a:rPr sz="1800" dirty="0">
                <a:latin typeface="Arial MT"/>
                <a:cs typeface="Arial MT"/>
              </a:rPr>
              <a:t>contain</a:t>
            </a:r>
            <a:r>
              <a:rPr sz="1800" spc="-15" dirty="0">
                <a:latin typeface="Arial MT"/>
                <a:cs typeface="Arial MT"/>
              </a:rPr>
              <a:t> </a:t>
            </a:r>
            <a:r>
              <a:rPr sz="1800" dirty="0">
                <a:latin typeface="Arial MT"/>
                <a:cs typeface="Arial MT"/>
              </a:rPr>
              <a:t>one</a:t>
            </a:r>
            <a:r>
              <a:rPr sz="1800" spc="-15" dirty="0">
                <a:latin typeface="Arial MT"/>
                <a:cs typeface="Arial MT"/>
              </a:rPr>
              <a:t> </a:t>
            </a:r>
            <a:r>
              <a:rPr sz="1800" dirty="0">
                <a:latin typeface="Arial MT"/>
                <a:cs typeface="Arial MT"/>
              </a:rPr>
              <a:t>or</a:t>
            </a:r>
            <a:r>
              <a:rPr sz="1800" spc="-15" dirty="0">
                <a:latin typeface="Arial MT"/>
                <a:cs typeface="Arial MT"/>
              </a:rPr>
              <a:t> </a:t>
            </a:r>
            <a:r>
              <a:rPr sz="1800" dirty="0">
                <a:latin typeface="Arial MT"/>
                <a:cs typeface="Arial MT"/>
              </a:rPr>
              <a:t>more</a:t>
            </a:r>
            <a:r>
              <a:rPr sz="1800" spc="-10" dirty="0">
                <a:latin typeface="Arial MT"/>
                <a:cs typeface="Arial MT"/>
              </a:rPr>
              <a:t> threads </a:t>
            </a:r>
            <a:r>
              <a:rPr sz="1800" dirty="0">
                <a:latin typeface="Arial MT"/>
                <a:cs typeface="Arial MT"/>
              </a:rPr>
              <a:t>that</a:t>
            </a:r>
            <a:r>
              <a:rPr sz="1800" spc="-30" dirty="0">
                <a:latin typeface="Arial MT"/>
                <a:cs typeface="Arial MT"/>
              </a:rPr>
              <a:t> </a:t>
            </a:r>
            <a:r>
              <a:rPr sz="1800" dirty="0">
                <a:latin typeface="Arial MT"/>
                <a:cs typeface="Arial MT"/>
              </a:rPr>
              <a:t>share</a:t>
            </a:r>
            <a:r>
              <a:rPr sz="1800" spc="-20"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same</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space</a:t>
            </a:r>
            <a:r>
              <a:rPr sz="1800" spc="-15" dirty="0">
                <a:latin typeface="Arial MT"/>
                <a:cs typeface="Arial MT"/>
              </a:rPr>
              <a:t> </a:t>
            </a:r>
            <a:r>
              <a:rPr sz="1800" spc="-25" dirty="0">
                <a:latin typeface="Arial MT"/>
                <a:cs typeface="Arial MT"/>
              </a:rPr>
              <a:t>but </a:t>
            </a:r>
            <a:r>
              <a:rPr sz="1800" dirty="0">
                <a:latin typeface="Arial MT"/>
                <a:cs typeface="Arial MT"/>
              </a:rPr>
              <a:t>have</a:t>
            </a:r>
            <a:r>
              <a:rPr sz="1800" spc="-30" dirty="0">
                <a:latin typeface="Arial MT"/>
                <a:cs typeface="Arial MT"/>
              </a:rPr>
              <a:t> </a:t>
            </a:r>
            <a:r>
              <a:rPr sz="1800" dirty="0">
                <a:latin typeface="Arial MT"/>
                <a:cs typeface="Arial MT"/>
              </a:rPr>
              <a:t>their</a:t>
            </a:r>
            <a:r>
              <a:rPr sz="1800" spc="-25" dirty="0">
                <a:latin typeface="Arial MT"/>
                <a:cs typeface="Arial MT"/>
              </a:rPr>
              <a:t> </a:t>
            </a:r>
            <a:r>
              <a:rPr sz="1800" dirty="0">
                <a:latin typeface="Arial MT"/>
                <a:cs typeface="Arial MT"/>
              </a:rPr>
              <a:t>own</a:t>
            </a:r>
            <a:r>
              <a:rPr sz="1800" spc="-30" dirty="0">
                <a:latin typeface="Arial MT"/>
                <a:cs typeface="Arial MT"/>
              </a:rPr>
              <a:t> </a:t>
            </a:r>
            <a:r>
              <a:rPr sz="1800" dirty="0">
                <a:latin typeface="Arial MT"/>
                <a:cs typeface="Arial MT"/>
              </a:rPr>
              <a:t>individual</a:t>
            </a:r>
            <a:r>
              <a:rPr sz="1800" spc="-25" dirty="0">
                <a:latin typeface="Arial MT"/>
                <a:cs typeface="Arial MT"/>
              </a:rPr>
              <a:t> </a:t>
            </a:r>
            <a:r>
              <a:rPr sz="1800" dirty="0">
                <a:latin typeface="Arial MT"/>
                <a:cs typeface="Arial MT"/>
              </a:rPr>
              <a:t>execution</a:t>
            </a:r>
            <a:r>
              <a:rPr sz="1800" spc="-25" dirty="0">
                <a:latin typeface="Arial MT"/>
                <a:cs typeface="Arial MT"/>
              </a:rPr>
              <a:t> </a:t>
            </a:r>
            <a:r>
              <a:rPr sz="1800" spc="-10" dirty="0">
                <a:latin typeface="Arial MT"/>
                <a:cs typeface="Arial MT"/>
              </a:rPr>
              <a:t>stacks </a:t>
            </a:r>
            <a:r>
              <a:rPr sz="1800" dirty="0">
                <a:latin typeface="Arial MT"/>
                <a:cs typeface="Arial MT"/>
              </a:rPr>
              <a:t>and</a:t>
            </a:r>
            <a:r>
              <a:rPr sz="1800" spc="-15" dirty="0">
                <a:latin typeface="Arial MT"/>
                <a:cs typeface="Arial MT"/>
              </a:rPr>
              <a:t> </a:t>
            </a:r>
            <a:r>
              <a:rPr sz="1800" spc="-10" dirty="0">
                <a:latin typeface="Arial MT"/>
                <a:cs typeface="Arial MT"/>
              </a:rPr>
              <a:t>registers.</a:t>
            </a:r>
            <a:endParaRPr lang="en-US" sz="1800" spc="-10" dirty="0">
              <a:latin typeface="Arial MT"/>
              <a:cs typeface="Arial MT"/>
            </a:endParaRPr>
          </a:p>
          <a:p>
            <a:pPr marL="377825" marR="158750" indent="-266700">
              <a:lnSpc>
                <a:spcPct val="114000"/>
              </a:lnSpc>
              <a:spcBef>
                <a:spcPts val="345"/>
              </a:spcBef>
              <a:spcAft>
                <a:spcPts val="600"/>
              </a:spcAft>
              <a:buChar char="●"/>
              <a:tabLst>
                <a:tab pos="379095" algn="l"/>
              </a:tabLst>
            </a:pPr>
            <a:r>
              <a:rPr lang="en-US" sz="1700" dirty="0">
                <a:latin typeface="Arial MT"/>
                <a:cs typeface="Arial MT"/>
              </a:rPr>
              <a:t>Each</a:t>
            </a:r>
            <a:r>
              <a:rPr lang="en-US" sz="1700" spc="-20" dirty="0">
                <a:latin typeface="Arial MT"/>
                <a:cs typeface="Arial MT"/>
              </a:rPr>
              <a:t> </a:t>
            </a:r>
            <a:r>
              <a:rPr lang="en-US" sz="1700" dirty="0">
                <a:latin typeface="Arial MT"/>
                <a:cs typeface="Arial MT"/>
              </a:rPr>
              <a:t>thread</a:t>
            </a:r>
            <a:r>
              <a:rPr lang="en-US" sz="1700" spc="-15" dirty="0">
                <a:latin typeface="Arial MT"/>
                <a:cs typeface="Arial MT"/>
              </a:rPr>
              <a:t> </a:t>
            </a:r>
            <a:r>
              <a:rPr lang="en-US" sz="1700" dirty="0">
                <a:latin typeface="Arial MT"/>
                <a:cs typeface="Arial MT"/>
              </a:rPr>
              <a:t>has</a:t>
            </a:r>
            <a:r>
              <a:rPr lang="en-US" sz="1700" spc="-20" dirty="0">
                <a:latin typeface="Arial MT"/>
                <a:cs typeface="Arial MT"/>
              </a:rPr>
              <a:t> </a:t>
            </a:r>
            <a:r>
              <a:rPr lang="en-US" sz="1700" dirty="0">
                <a:latin typeface="Arial MT"/>
                <a:cs typeface="Arial MT"/>
              </a:rPr>
              <a:t>its</a:t>
            </a:r>
            <a:r>
              <a:rPr lang="en-US" sz="1700" spc="-15" dirty="0">
                <a:latin typeface="Arial MT"/>
                <a:cs typeface="Arial MT"/>
              </a:rPr>
              <a:t> </a:t>
            </a:r>
            <a:r>
              <a:rPr lang="en-US" sz="1700" dirty="0">
                <a:latin typeface="Arial MT"/>
                <a:cs typeface="Arial MT"/>
              </a:rPr>
              <a:t>own</a:t>
            </a:r>
            <a:r>
              <a:rPr lang="en-US" sz="1700" spc="-20" dirty="0">
                <a:latin typeface="Arial MT"/>
                <a:cs typeface="Arial MT"/>
              </a:rPr>
              <a:t> </a:t>
            </a:r>
            <a:r>
              <a:rPr lang="en-US" sz="1700" dirty="0">
                <a:latin typeface="Arial MT"/>
                <a:cs typeface="Arial MT"/>
              </a:rPr>
              <a:t>stack,</a:t>
            </a:r>
            <a:r>
              <a:rPr lang="en-US" sz="1700" spc="-15" dirty="0">
                <a:latin typeface="Arial MT"/>
                <a:cs typeface="Arial MT"/>
              </a:rPr>
              <a:t> </a:t>
            </a:r>
            <a:r>
              <a:rPr lang="en-US" sz="1700" spc="-25" dirty="0">
                <a:latin typeface="Arial MT"/>
                <a:cs typeface="Arial MT"/>
              </a:rPr>
              <a:t>CPU </a:t>
            </a:r>
            <a:r>
              <a:rPr lang="en-US" sz="1700" dirty="0">
                <a:latin typeface="Arial MT"/>
                <a:cs typeface="Arial MT"/>
              </a:rPr>
              <a:t>Registers,</a:t>
            </a:r>
            <a:r>
              <a:rPr lang="en-US" sz="1700" spc="-50" dirty="0">
                <a:latin typeface="Arial MT"/>
                <a:cs typeface="Arial MT"/>
              </a:rPr>
              <a:t> </a:t>
            </a:r>
            <a:r>
              <a:rPr lang="en-US" sz="1700" spc="-20" dirty="0">
                <a:latin typeface="Arial MT"/>
                <a:cs typeface="Arial MT"/>
              </a:rPr>
              <a:t>etc.</a:t>
            </a:r>
            <a:endParaRPr lang="en-US" sz="1700" dirty="0">
              <a:latin typeface="Arial MT"/>
              <a:cs typeface="Arial MT"/>
            </a:endParaRPr>
          </a:p>
          <a:p>
            <a:pPr marL="377825" marR="5080" indent="-266700">
              <a:lnSpc>
                <a:spcPct val="114000"/>
              </a:lnSpc>
              <a:spcBef>
                <a:spcPts val="10"/>
              </a:spcBef>
              <a:spcAft>
                <a:spcPts val="600"/>
              </a:spcAft>
              <a:buChar char="●"/>
              <a:tabLst>
                <a:tab pos="379095" algn="l"/>
              </a:tabLst>
            </a:pPr>
            <a:r>
              <a:rPr lang="en-US" sz="1700" dirty="0">
                <a:latin typeface="Arial MT"/>
                <a:cs typeface="Arial MT"/>
              </a:rPr>
              <a:t>All</a:t>
            </a:r>
            <a:r>
              <a:rPr lang="en-US" sz="1700" spc="-15" dirty="0">
                <a:latin typeface="Arial MT"/>
                <a:cs typeface="Arial MT"/>
              </a:rPr>
              <a:t> </a:t>
            </a:r>
            <a:r>
              <a:rPr lang="en-US" sz="1700" dirty="0">
                <a:latin typeface="Arial MT"/>
                <a:cs typeface="Arial MT"/>
              </a:rPr>
              <a:t>threads</a:t>
            </a:r>
            <a:r>
              <a:rPr lang="en-US" sz="1700" spc="-15" dirty="0">
                <a:latin typeface="Arial MT"/>
                <a:cs typeface="Arial MT"/>
              </a:rPr>
              <a:t> </a:t>
            </a:r>
            <a:r>
              <a:rPr lang="en-US" sz="1700" dirty="0">
                <a:latin typeface="Arial MT"/>
                <a:cs typeface="Arial MT"/>
              </a:rPr>
              <a:t>within</a:t>
            </a:r>
            <a:r>
              <a:rPr lang="en-US" sz="1700" spc="-15" dirty="0">
                <a:latin typeface="Arial MT"/>
                <a:cs typeface="Arial MT"/>
              </a:rPr>
              <a:t> </a:t>
            </a:r>
            <a:r>
              <a:rPr lang="en-US" sz="1700" dirty="0">
                <a:latin typeface="Arial MT"/>
                <a:cs typeface="Arial MT"/>
              </a:rPr>
              <a:t>a</a:t>
            </a:r>
            <a:r>
              <a:rPr lang="en-US" sz="1700" spc="-15" dirty="0">
                <a:latin typeface="Arial MT"/>
                <a:cs typeface="Arial MT"/>
              </a:rPr>
              <a:t> </a:t>
            </a:r>
            <a:r>
              <a:rPr lang="en-US" sz="1700" dirty="0">
                <a:latin typeface="Arial MT"/>
                <a:cs typeface="Arial MT"/>
              </a:rPr>
              <a:t>process</a:t>
            </a:r>
            <a:r>
              <a:rPr lang="en-US" sz="1700" spc="-15" dirty="0">
                <a:latin typeface="Arial MT"/>
                <a:cs typeface="Arial MT"/>
              </a:rPr>
              <a:t> </a:t>
            </a:r>
            <a:r>
              <a:rPr lang="en-US" sz="1700" dirty="0">
                <a:latin typeface="Arial MT"/>
                <a:cs typeface="Arial MT"/>
              </a:rPr>
              <a:t>share</a:t>
            </a:r>
            <a:r>
              <a:rPr lang="en-US" sz="1700" spc="-10" dirty="0">
                <a:latin typeface="Arial MT"/>
                <a:cs typeface="Arial MT"/>
              </a:rPr>
              <a:t> </a:t>
            </a:r>
            <a:r>
              <a:rPr lang="en-US" sz="1700" spc="-25" dirty="0">
                <a:latin typeface="Arial MT"/>
                <a:cs typeface="Arial MT"/>
              </a:rPr>
              <a:t>the </a:t>
            </a:r>
            <a:r>
              <a:rPr lang="en-US" sz="1700" dirty="0">
                <a:latin typeface="Arial MT"/>
                <a:cs typeface="Arial MT"/>
              </a:rPr>
              <a:t>same</a:t>
            </a:r>
            <a:r>
              <a:rPr lang="en-US" sz="1700" spc="-20" dirty="0">
                <a:latin typeface="Arial MT"/>
                <a:cs typeface="Arial MT"/>
              </a:rPr>
              <a:t> </a:t>
            </a:r>
            <a:r>
              <a:rPr lang="en-US" sz="1700" dirty="0">
                <a:latin typeface="Arial MT"/>
                <a:cs typeface="Arial MT"/>
              </a:rPr>
              <a:t>address</a:t>
            </a:r>
            <a:r>
              <a:rPr lang="en-US" sz="1700" spc="-15" dirty="0">
                <a:latin typeface="Arial MT"/>
                <a:cs typeface="Arial MT"/>
              </a:rPr>
              <a:t> </a:t>
            </a:r>
            <a:r>
              <a:rPr lang="en-US" sz="1700" dirty="0">
                <a:latin typeface="Arial MT"/>
                <a:cs typeface="Arial MT"/>
              </a:rPr>
              <a:t>space</a:t>
            </a:r>
            <a:r>
              <a:rPr lang="en-US" sz="1700" spc="-15" dirty="0">
                <a:latin typeface="Arial MT"/>
                <a:cs typeface="Arial MT"/>
              </a:rPr>
              <a:t> </a:t>
            </a:r>
            <a:r>
              <a:rPr lang="en-US" sz="1700" dirty="0">
                <a:latin typeface="Arial MT"/>
                <a:cs typeface="Arial MT"/>
              </a:rPr>
              <a:t>and</a:t>
            </a:r>
            <a:r>
              <a:rPr lang="en-US" sz="1700" spc="-15" dirty="0">
                <a:latin typeface="Arial MT"/>
                <a:cs typeface="Arial MT"/>
              </a:rPr>
              <a:t> </a:t>
            </a:r>
            <a:r>
              <a:rPr lang="en-US" sz="1700" spc="-25" dirty="0">
                <a:latin typeface="Arial MT"/>
                <a:cs typeface="Arial MT"/>
              </a:rPr>
              <a:t>OS </a:t>
            </a:r>
            <a:r>
              <a:rPr lang="en-US" sz="1700" spc="-10" dirty="0">
                <a:latin typeface="Arial MT"/>
                <a:cs typeface="Arial MT"/>
              </a:rPr>
              <a:t>resources</a:t>
            </a:r>
            <a:endParaRPr lang="en-US" sz="1700" dirty="0">
              <a:latin typeface="Arial MT"/>
              <a:cs typeface="Arial MT"/>
            </a:endParaRPr>
          </a:p>
          <a:p>
            <a:pPr marL="377825" marR="44450" indent="-266700">
              <a:lnSpc>
                <a:spcPct val="114000"/>
              </a:lnSpc>
              <a:spcBef>
                <a:spcPts val="10"/>
              </a:spcBef>
              <a:buChar char="●"/>
              <a:tabLst>
                <a:tab pos="379095" algn="l"/>
              </a:tabLst>
            </a:pPr>
            <a:r>
              <a:rPr lang="en-US" sz="1700" dirty="0">
                <a:latin typeface="Arial MT"/>
                <a:cs typeface="Arial MT"/>
              </a:rPr>
              <a:t>Threads</a:t>
            </a:r>
            <a:r>
              <a:rPr lang="en-US" sz="1700" spc="-20" dirty="0">
                <a:latin typeface="Arial MT"/>
                <a:cs typeface="Arial MT"/>
              </a:rPr>
              <a:t> </a:t>
            </a:r>
            <a:r>
              <a:rPr lang="en-US" sz="1700" dirty="0">
                <a:latin typeface="Arial MT"/>
                <a:cs typeface="Arial MT"/>
              </a:rPr>
              <a:t>share</a:t>
            </a:r>
            <a:r>
              <a:rPr lang="en-US" sz="1700" spc="-15" dirty="0">
                <a:latin typeface="Arial MT"/>
                <a:cs typeface="Arial MT"/>
              </a:rPr>
              <a:t> </a:t>
            </a:r>
            <a:r>
              <a:rPr lang="en-US" sz="1700" dirty="0">
                <a:latin typeface="Arial MT"/>
                <a:cs typeface="Arial MT"/>
              </a:rPr>
              <a:t>memory!</a:t>
            </a:r>
            <a:r>
              <a:rPr lang="en-US" sz="1700" spc="-20" dirty="0">
                <a:latin typeface="Arial MT"/>
                <a:cs typeface="Arial MT"/>
              </a:rPr>
              <a:t> </a:t>
            </a:r>
            <a:r>
              <a:rPr lang="en-US" sz="1700" dirty="0">
                <a:latin typeface="Arial MT"/>
                <a:cs typeface="Arial MT"/>
              </a:rPr>
              <a:t>So,</a:t>
            </a:r>
            <a:r>
              <a:rPr lang="en-US" sz="1700" spc="-15" dirty="0">
                <a:latin typeface="Arial MT"/>
                <a:cs typeface="Arial MT"/>
              </a:rPr>
              <a:t> </a:t>
            </a:r>
            <a:r>
              <a:rPr lang="en-US" sz="1700" dirty="0">
                <a:latin typeface="Arial MT"/>
                <a:cs typeface="Arial MT"/>
              </a:rPr>
              <a:t>they</a:t>
            </a:r>
            <a:r>
              <a:rPr lang="en-US" sz="1700" spc="-15" dirty="0">
                <a:latin typeface="Arial MT"/>
                <a:cs typeface="Arial MT"/>
              </a:rPr>
              <a:t> </a:t>
            </a:r>
            <a:r>
              <a:rPr lang="en-US" sz="1700" spc="-25" dirty="0">
                <a:latin typeface="Arial MT"/>
                <a:cs typeface="Arial MT"/>
              </a:rPr>
              <a:t>can </a:t>
            </a:r>
            <a:r>
              <a:rPr lang="en-US" sz="1700" spc="-10" dirty="0">
                <a:latin typeface="Arial MT"/>
                <a:cs typeface="Arial MT"/>
              </a:rPr>
              <a:t>communicate</a:t>
            </a:r>
            <a:endParaRPr lang="en-US" sz="1700" dirty="0">
              <a:latin typeface="Arial MT"/>
              <a:cs typeface="Arial MT"/>
            </a:endParaRPr>
          </a:p>
        </p:txBody>
      </p:sp>
      <p:pic>
        <p:nvPicPr>
          <p:cNvPr id="6" name="object 6" descr="A memory address space diagram showing how multiple threads share a single process's code, data, and heap segments while having independent stacks and program counters."/>
          <p:cNvPicPr/>
          <p:nvPr/>
        </p:nvPicPr>
        <p:blipFill>
          <a:blip r:embed="rId3" cstate="print"/>
          <a:stretch>
            <a:fillRect/>
          </a:stretch>
        </p:blipFill>
        <p:spPr>
          <a:xfrm>
            <a:off x="5883757" y="1839292"/>
            <a:ext cx="5086426" cy="4289212"/>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7293574" y="6329320"/>
            <a:ext cx="187388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0"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dirty="0">
                <a:solidFill>
                  <a:srgbClr val="0F2044"/>
                </a:solidFill>
                <a:latin typeface="Arial MT"/>
                <a:cs typeface="Arial MT"/>
              </a:rPr>
              <a:t>Rutgers</a:t>
            </a:r>
            <a:r>
              <a:rPr sz="1000" spc="-20" dirty="0">
                <a:solidFill>
                  <a:srgbClr val="0F2044"/>
                </a:solidFill>
                <a:latin typeface="Arial MT"/>
                <a:cs typeface="Arial MT"/>
              </a:rPr>
              <a:t> </a:t>
            </a:r>
            <a:r>
              <a:rPr sz="1000" spc="-10" dirty="0">
                <a:solidFill>
                  <a:srgbClr val="0F2044"/>
                </a:solidFill>
                <a:latin typeface="Arial MT"/>
                <a:cs typeface="Arial MT"/>
              </a:rPr>
              <a:t>University</a:t>
            </a:r>
            <a:endParaRPr sz="100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25" dirty="0"/>
              <a:t>Multi-</a:t>
            </a:r>
            <a:r>
              <a:rPr dirty="0"/>
              <a:t>threaded</a:t>
            </a:r>
            <a:r>
              <a:rPr spc="-90" dirty="0"/>
              <a:t> </a:t>
            </a:r>
            <a:r>
              <a:rPr spc="-10" dirty="0"/>
              <a:t>Programming</a:t>
            </a:r>
          </a:p>
          <a:p>
            <a:pPr marL="12700">
              <a:lnSpc>
                <a:spcPts val="2060"/>
              </a:lnSpc>
            </a:pPr>
            <a:r>
              <a:rPr sz="1800" dirty="0"/>
              <a:t>Thread</a:t>
            </a:r>
            <a:r>
              <a:rPr sz="1800" spc="-60" dirty="0"/>
              <a:t> </a:t>
            </a:r>
            <a:r>
              <a:rPr sz="1800" dirty="0"/>
              <a:t>vs</a:t>
            </a:r>
            <a:r>
              <a:rPr sz="1800" spc="-55" dirty="0"/>
              <a:t> </a:t>
            </a:r>
            <a:r>
              <a:rPr sz="1800" spc="-10" dirty="0"/>
              <a:t>Process</a:t>
            </a:r>
            <a:endParaRPr sz="1800" dirty="0"/>
          </a:p>
        </p:txBody>
      </p:sp>
      <p:sp>
        <p:nvSpPr>
          <p:cNvPr id="3" name="object 3"/>
          <p:cNvSpPr txBox="1"/>
          <p:nvPr/>
        </p:nvSpPr>
        <p:spPr>
          <a:xfrm>
            <a:off x="720725" y="2630856"/>
            <a:ext cx="4364990" cy="3335337"/>
          </a:xfrm>
          <a:prstGeom prst="rect">
            <a:avLst/>
          </a:prstGeom>
        </p:spPr>
        <p:txBody>
          <a:bodyPr vert="horz" wrap="square" lIns="0" tIns="12700" rIns="0" bIns="0" rtlCol="0">
            <a:spAutoFit/>
          </a:bodyPr>
          <a:lstStyle/>
          <a:p>
            <a:pPr marL="12700">
              <a:lnSpc>
                <a:spcPct val="114000"/>
              </a:lnSpc>
              <a:spcBef>
                <a:spcPts val="100"/>
              </a:spcBef>
              <a:spcAft>
                <a:spcPts val="600"/>
              </a:spcAft>
            </a:pPr>
            <a:r>
              <a:rPr sz="1800" b="1" dirty="0">
                <a:solidFill>
                  <a:srgbClr val="980000"/>
                </a:solidFill>
                <a:latin typeface="Arial"/>
                <a:cs typeface="Arial"/>
              </a:rPr>
              <a:t>Idea:</a:t>
            </a:r>
            <a:r>
              <a:rPr sz="1800" b="1" spc="-30" dirty="0">
                <a:solidFill>
                  <a:srgbClr val="980000"/>
                </a:solidFill>
                <a:latin typeface="Arial"/>
                <a:cs typeface="Arial"/>
              </a:rPr>
              <a:t> </a:t>
            </a:r>
            <a:r>
              <a:rPr sz="1800" b="1" dirty="0">
                <a:solidFill>
                  <a:srgbClr val="980000"/>
                </a:solidFill>
                <a:latin typeface="Arial"/>
                <a:cs typeface="Arial"/>
              </a:rPr>
              <a:t>Break</a:t>
            </a:r>
            <a:r>
              <a:rPr sz="1800" b="1" spc="-25" dirty="0">
                <a:solidFill>
                  <a:srgbClr val="980000"/>
                </a:solidFill>
                <a:latin typeface="Arial"/>
                <a:cs typeface="Arial"/>
              </a:rPr>
              <a:t> </a:t>
            </a:r>
            <a:r>
              <a:rPr sz="1800" b="1" dirty="0">
                <a:solidFill>
                  <a:srgbClr val="980000"/>
                </a:solidFill>
                <a:latin typeface="Arial"/>
                <a:cs typeface="Arial"/>
              </a:rPr>
              <a:t>the</a:t>
            </a:r>
            <a:r>
              <a:rPr sz="1800" b="1" spc="-25" dirty="0">
                <a:solidFill>
                  <a:srgbClr val="980000"/>
                </a:solidFill>
                <a:latin typeface="Arial"/>
                <a:cs typeface="Arial"/>
              </a:rPr>
              <a:t> </a:t>
            </a:r>
            <a:r>
              <a:rPr sz="1800" b="1" dirty="0">
                <a:solidFill>
                  <a:srgbClr val="980000"/>
                </a:solidFill>
                <a:latin typeface="Arial"/>
                <a:cs typeface="Arial"/>
              </a:rPr>
              <a:t>PCB</a:t>
            </a:r>
            <a:r>
              <a:rPr sz="1800" b="1" spc="-30" dirty="0">
                <a:solidFill>
                  <a:srgbClr val="980000"/>
                </a:solidFill>
                <a:latin typeface="Arial"/>
                <a:cs typeface="Arial"/>
              </a:rPr>
              <a:t> </a:t>
            </a:r>
            <a:r>
              <a:rPr sz="1800" b="1" dirty="0">
                <a:solidFill>
                  <a:srgbClr val="980000"/>
                </a:solidFill>
                <a:latin typeface="Arial"/>
                <a:cs typeface="Arial"/>
              </a:rPr>
              <a:t>into</a:t>
            </a:r>
            <a:r>
              <a:rPr sz="1800" b="1" spc="-25" dirty="0">
                <a:solidFill>
                  <a:srgbClr val="980000"/>
                </a:solidFill>
                <a:latin typeface="Arial"/>
                <a:cs typeface="Arial"/>
              </a:rPr>
              <a:t> </a:t>
            </a:r>
            <a:r>
              <a:rPr sz="1800" b="1" dirty="0">
                <a:solidFill>
                  <a:srgbClr val="980000"/>
                </a:solidFill>
                <a:latin typeface="Arial"/>
                <a:cs typeface="Arial"/>
              </a:rPr>
              <a:t>two</a:t>
            </a:r>
            <a:r>
              <a:rPr sz="1800" b="1" spc="-25" dirty="0">
                <a:solidFill>
                  <a:srgbClr val="980000"/>
                </a:solidFill>
                <a:latin typeface="Arial"/>
                <a:cs typeface="Arial"/>
              </a:rPr>
              <a:t> </a:t>
            </a:r>
            <a:r>
              <a:rPr sz="1800" b="1" spc="-10" dirty="0">
                <a:solidFill>
                  <a:srgbClr val="980000"/>
                </a:solidFill>
                <a:latin typeface="Arial"/>
                <a:cs typeface="Arial"/>
              </a:rPr>
              <a:t>pieces:</a:t>
            </a:r>
            <a:endParaRPr sz="1800" dirty="0">
              <a:latin typeface="Arial"/>
              <a:cs typeface="Arial"/>
            </a:endParaRPr>
          </a:p>
          <a:p>
            <a:pPr marL="401638" indent="-366713">
              <a:lnSpc>
                <a:spcPct val="114000"/>
              </a:lnSpc>
              <a:spcAft>
                <a:spcPts val="600"/>
              </a:spcAft>
              <a:buFont typeface="+mj-lt"/>
              <a:buAutoNum type="arabicPeriod"/>
              <a:tabLst>
                <a:tab pos="401638" algn="l"/>
              </a:tabLst>
            </a:pPr>
            <a:r>
              <a:rPr sz="1800" b="1" dirty="0">
                <a:latin typeface="Arial MT"/>
                <a:cs typeface="Arial MT"/>
              </a:rPr>
              <a:t>Thread</a:t>
            </a:r>
            <a:r>
              <a:rPr sz="1800" b="1" spc="-30" dirty="0">
                <a:latin typeface="Arial MT"/>
                <a:cs typeface="Arial MT"/>
              </a:rPr>
              <a:t> </a:t>
            </a:r>
            <a:r>
              <a:rPr sz="1800" b="1" dirty="0">
                <a:latin typeface="Arial MT"/>
                <a:cs typeface="Arial MT"/>
              </a:rPr>
              <a:t>Specific</a:t>
            </a:r>
            <a:r>
              <a:rPr sz="1800" b="1" spc="-25" dirty="0">
                <a:latin typeface="Arial MT"/>
                <a:cs typeface="Arial MT"/>
              </a:rPr>
              <a:t> </a:t>
            </a:r>
            <a:r>
              <a:rPr sz="1800" b="1" dirty="0">
                <a:latin typeface="Arial MT"/>
                <a:cs typeface="Arial MT"/>
              </a:rPr>
              <a:t>Stuff:</a:t>
            </a:r>
            <a:r>
              <a:rPr sz="1800" b="1" spc="-30" dirty="0">
                <a:latin typeface="Arial MT"/>
                <a:cs typeface="Arial MT"/>
              </a:rPr>
              <a:t> </a:t>
            </a:r>
            <a:br>
              <a:rPr lang="en-US" sz="1800" b="1" spc="-30" dirty="0">
                <a:latin typeface="Arial MT"/>
                <a:cs typeface="Arial MT"/>
              </a:rPr>
            </a:br>
            <a:r>
              <a:rPr sz="1800" dirty="0">
                <a:latin typeface="Arial MT"/>
                <a:cs typeface="Arial MT"/>
              </a:rPr>
              <a:t>CPU</a:t>
            </a:r>
            <a:r>
              <a:rPr sz="1800" spc="-25" dirty="0">
                <a:latin typeface="Arial MT"/>
                <a:cs typeface="Arial MT"/>
              </a:rPr>
              <a:t> </a:t>
            </a:r>
            <a:r>
              <a:rPr sz="1800" spc="-10" dirty="0">
                <a:latin typeface="Arial MT"/>
                <a:cs typeface="Arial MT"/>
              </a:rPr>
              <a:t>State</a:t>
            </a:r>
            <a:endParaRPr sz="1800" dirty="0">
              <a:latin typeface="Arial MT"/>
              <a:cs typeface="Arial MT"/>
            </a:endParaRPr>
          </a:p>
          <a:p>
            <a:pPr marL="401638" marR="5080" indent="-366713">
              <a:lnSpc>
                <a:spcPct val="114000"/>
              </a:lnSpc>
              <a:buFont typeface="+mj-lt"/>
              <a:buAutoNum type="arabicPeriod"/>
              <a:tabLst>
                <a:tab pos="401638" algn="l"/>
              </a:tabLst>
            </a:pPr>
            <a:r>
              <a:rPr sz="1800" b="1" dirty="0">
                <a:latin typeface="Arial MT"/>
                <a:cs typeface="Arial MT"/>
              </a:rPr>
              <a:t>Process</a:t>
            </a:r>
            <a:r>
              <a:rPr sz="1800" b="1" spc="-15" dirty="0">
                <a:latin typeface="Arial MT"/>
                <a:cs typeface="Arial MT"/>
              </a:rPr>
              <a:t> </a:t>
            </a:r>
            <a:r>
              <a:rPr sz="1800" b="1" dirty="0">
                <a:latin typeface="Arial MT"/>
                <a:cs typeface="Arial MT"/>
              </a:rPr>
              <a:t>Specific</a:t>
            </a:r>
            <a:r>
              <a:rPr sz="1800" b="1" spc="-5" dirty="0">
                <a:latin typeface="Arial MT"/>
                <a:cs typeface="Arial MT"/>
              </a:rPr>
              <a:t> </a:t>
            </a:r>
            <a:r>
              <a:rPr sz="1800" b="1" spc="-10" dirty="0">
                <a:latin typeface="Arial MT"/>
                <a:cs typeface="Arial MT"/>
              </a:rPr>
              <a:t>Stuff:</a:t>
            </a:r>
            <a:r>
              <a:rPr sz="1800" b="1" spc="-105" dirty="0">
                <a:latin typeface="Arial MT"/>
                <a:cs typeface="Arial MT"/>
              </a:rPr>
              <a:t> </a:t>
            </a:r>
            <a:br>
              <a:rPr lang="en-US" sz="1800" spc="-105" dirty="0">
                <a:latin typeface="Arial MT"/>
                <a:cs typeface="Arial MT"/>
              </a:rPr>
            </a:br>
            <a:r>
              <a:rPr sz="1800" dirty="0">
                <a:latin typeface="Arial MT"/>
                <a:cs typeface="Arial MT"/>
              </a:rPr>
              <a:t>Address </a:t>
            </a:r>
            <a:r>
              <a:rPr sz="1800" spc="-10" dirty="0">
                <a:latin typeface="Arial MT"/>
                <a:cs typeface="Arial MT"/>
              </a:rPr>
              <a:t>Space </a:t>
            </a:r>
            <a:r>
              <a:rPr sz="1800" dirty="0">
                <a:latin typeface="Arial MT"/>
                <a:cs typeface="Arial MT"/>
              </a:rPr>
              <a:t>and</a:t>
            </a:r>
            <a:r>
              <a:rPr sz="1800" spc="-25" dirty="0">
                <a:latin typeface="Arial MT"/>
                <a:cs typeface="Arial MT"/>
              </a:rPr>
              <a:t> </a:t>
            </a:r>
            <a:r>
              <a:rPr sz="1800" dirty="0">
                <a:latin typeface="Arial MT"/>
                <a:cs typeface="Arial MT"/>
              </a:rPr>
              <a:t>OS</a:t>
            </a:r>
            <a:r>
              <a:rPr sz="1800" spc="-10" dirty="0">
                <a:latin typeface="Arial MT"/>
                <a:cs typeface="Arial MT"/>
              </a:rPr>
              <a:t> resources</a:t>
            </a:r>
            <a:endParaRPr sz="1800" dirty="0">
              <a:latin typeface="Arial MT"/>
              <a:cs typeface="Arial MT"/>
            </a:endParaRPr>
          </a:p>
          <a:p>
            <a:pPr marL="12700" marR="928369">
              <a:lnSpc>
                <a:spcPct val="229999"/>
              </a:lnSpc>
            </a:pPr>
            <a:r>
              <a:rPr sz="1800" b="1" dirty="0">
                <a:solidFill>
                  <a:srgbClr val="0000FF"/>
                </a:solidFill>
                <a:latin typeface="Arial"/>
                <a:cs typeface="Arial"/>
              </a:rPr>
              <a:t>TCBs</a:t>
            </a:r>
            <a:r>
              <a:rPr sz="1800" b="1" spc="-35" dirty="0">
                <a:solidFill>
                  <a:srgbClr val="0000FF"/>
                </a:solidFill>
                <a:latin typeface="Arial"/>
                <a:cs typeface="Arial"/>
              </a:rPr>
              <a:t> </a:t>
            </a:r>
            <a:r>
              <a:rPr sz="1800" b="1" dirty="0">
                <a:solidFill>
                  <a:srgbClr val="0000FF"/>
                </a:solidFill>
                <a:latin typeface="Arial"/>
                <a:cs typeface="Arial"/>
              </a:rPr>
              <a:t>are</a:t>
            </a:r>
            <a:r>
              <a:rPr sz="1800" b="1" spc="-25" dirty="0">
                <a:solidFill>
                  <a:srgbClr val="0000FF"/>
                </a:solidFill>
                <a:latin typeface="Arial"/>
                <a:cs typeface="Arial"/>
              </a:rPr>
              <a:t> </a:t>
            </a:r>
            <a:r>
              <a:rPr sz="1800" b="1" dirty="0">
                <a:solidFill>
                  <a:srgbClr val="0000FF"/>
                </a:solidFill>
                <a:latin typeface="Arial"/>
                <a:cs typeface="Arial"/>
              </a:rPr>
              <a:t>smaller</a:t>
            </a:r>
            <a:r>
              <a:rPr sz="1800" b="1" spc="-25" dirty="0">
                <a:solidFill>
                  <a:srgbClr val="0000FF"/>
                </a:solidFill>
                <a:latin typeface="Arial"/>
                <a:cs typeface="Arial"/>
              </a:rPr>
              <a:t> </a:t>
            </a:r>
            <a:r>
              <a:rPr sz="1800" b="1" dirty="0">
                <a:solidFill>
                  <a:srgbClr val="0000FF"/>
                </a:solidFill>
                <a:latin typeface="Arial"/>
                <a:cs typeface="Arial"/>
              </a:rPr>
              <a:t>and</a:t>
            </a:r>
            <a:r>
              <a:rPr sz="1800" b="1" spc="-25" dirty="0">
                <a:solidFill>
                  <a:srgbClr val="0000FF"/>
                </a:solidFill>
                <a:latin typeface="Arial"/>
                <a:cs typeface="Arial"/>
              </a:rPr>
              <a:t> </a:t>
            </a:r>
            <a:r>
              <a:rPr sz="1800" b="1" dirty="0">
                <a:solidFill>
                  <a:srgbClr val="0000FF"/>
                </a:solidFill>
                <a:latin typeface="Arial"/>
                <a:cs typeface="Arial"/>
              </a:rPr>
              <a:t>cheaper</a:t>
            </a:r>
            <a:r>
              <a:rPr sz="1800" b="1" spc="-20" dirty="0">
                <a:solidFill>
                  <a:srgbClr val="0000FF"/>
                </a:solidFill>
                <a:latin typeface="Arial"/>
                <a:cs typeface="Arial"/>
              </a:rPr>
              <a:t> </a:t>
            </a:r>
            <a:r>
              <a:rPr sz="1800" b="1" spc="-50" dirty="0">
                <a:solidFill>
                  <a:srgbClr val="0000FF"/>
                </a:solidFill>
                <a:latin typeface="Arial"/>
                <a:cs typeface="Arial"/>
              </a:rPr>
              <a:t>! </a:t>
            </a:r>
            <a:r>
              <a:rPr sz="1800" b="1" dirty="0">
                <a:latin typeface="Arial"/>
                <a:cs typeface="Arial"/>
              </a:rPr>
              <a:t>TCB:</a:t>
            </a:r>
            <a:r>
              <a:rPr sz="1800" b="1" spc="-30" dirty="0">
                <a:latin typeface="Arial"/>
                <a:cs typeface="Arial"/>
              </a:rPr>
              <a:t> </a:t>
            </a:r>
            <a:r>
              <a:rPr sz="1800" b="1" dirty="0">
                <a:latin typeface="Arial"/>
                <a:cs typeface="Arial"/>
              </a:rPr>
              <a:t>24</a:t>
            </a:r>
            <a:r>
              <a:rPr sz="1800" b="1" spc="-30" dirty="0">
                <a:latin typeface="Arial"/>
                <a:cs typeface="Arial"/>
              </a:rPr>
              <a:t> </a:t>
            </a:r>
            <a:r>
              <a:rPr sz="1800" b="1" spc="-10" dirty="0">
                <a:latin typeface="Arial"/>
                <a:cs typeface="Arial"/>
              </a:rPr>
              <a:t>fields</a:t>
            </a:r>
            <a:endParaRPr sz="1800" dirty="0">
              <a:latin typeface="Arial"/>
              <a:cs typeface="Arial"/>
            </a:endParaRPr>
          </a:p>
          <a:p>
            <a:pPr marL="12700">
              <a:lnSpc>
                <a:spcPct val="100000"/>
              </a:lnSpc>
              <a:spcBef>
                <a:spcPts val="325"/>
              </a:spcBef>
            </a:pPr>
            <a:r>
              <a:rPr sz="1800" b="1" dirty="0">
                <a:latin typeface="Arial"/>
                <a:cs typeface="Arial"/>
              </a:rPr>
              <a:t>PCB:</a:t>
            </a:r>
            <a:r>
              <a:rPr sz="1800" b="1" spc="-40" dirty="0">
                <a:latin typeface="Arial"/>
                <a:cs typeface="Arial"/>
              </a:rPr>
              <a:t> </a:t>
            </a:r>
            <a:r>
              <a:rPr sz="1800" b="1" dirty="0">
                <a:latin typeface="Arial"/>
                <a:cs typeface="Arial"/>
              </a:rPr>
              <a:t>106</a:t>
            </a:r>
            <a:r>
              <a:rPr sz="1800" b="1" spc="-30" dirty="0">
                <a:latin typeface="Arial"/>
                <a:cs typeface="Arial"/>
              </a:rPr>
              <a:t> </a:t>
            </a:r>
            <a:r>
              <a:rPr sz="1800" b="1" spc="-10" dirty="0">
                <a:latin typeface="Arial"/>
                <a:cs typeface="Arial"/>
              </a:rPr>
              <a:t>fields</a:t>
            </a:r>
            <a:endParaRPr sz="1800" dirty="0">
              <a:latin typeface="Arial"/>
              <a:cs typeface="Arial"/>
            </a:endParaRPr>
          </a:p>
        </p:txBody>
      </p:sp>
      <p:pic>
        <p:nvPicPr>
          <p:cNvPr id="5" name="object 5" descr="A diagram illustrating the relationship between Thread Control Blocks (TCB) and a Process Control Block (PCB). Each TCB contains a unique ID, state, program counter, and registers, while the PCB holds shared resources like address space and open files."/>
          <p:cNvPicPr/>
          <p:nvPr/>
        </p:nvPicPr>
        <p:blipFill>
          <a:blip r:embed="rId3" cstate="print"/>
          <a:stretch>
            <a:fillRect/>
          </a:stretch>
        </p:blipFill>
        <p:spPr>
          <a:xfrm>
            <a:off x="5886605" y="1576944"/>
            <a:ext cx="5470117" cy="4385836"/>
          </a:xfrm>
          <a:prstGeom prst="rect">
            <a:avLst/>
          </a:prstGeom>
        </p:spPr>
      </p:pic>
      <p:sp>
        <p:nvSpPr>
          <p:cNvPr id="4" name="object 4">
            <a:extLst>
              <a:ext uri="{C183D7F6-B498-43B3-948B-1728B52AA6E4}">
                <adec:decorative xmlns:adec="http://schemas.microsoft.com/office/drawing/2017/decorative" val="1"/>
              </a:ext>
            </a:extLst>
          </p:cNvPr>
          <p:cNvSpPr txBox="1"/>
          <p:nvPr/>
        </p:nvSpPr>
        <p:spPr>
          <a:xfrm>
            <a:off x="7750774" y="6176920"/>
            <a:ext cx="187388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0"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dirty="0">
                <a:solidFill>
                  <a:srgbClr val="0F2044"/>
                </a:solidFill>
                <a:latin typeface="Arial MT"/>
                <a:cs typeface="Arial MT"/>
              </a:rPr>
              <a:t>Rutgers</a:t>
            </a:r>
            <a:r>
              <a:rPr sz="1000" spc="-20" dirty="0">
                <a:solidFill>
                  <a:srgbClr val="0F2044"/>
                </a:solidFill>
                <a:latin typeface="Arial MT"/>
                <a:cs typeface="Arial MT"/>
              </a:rPr>
              <a:t> </a:t>
            </a:r>
            <a:r>
              <a:rPr sz="1000" spc="-10" dirty="0">
                <a:solidFill>
                  <a:srgbClr val="0F2044"/>
                </a:solidFill>
                <a:latin typeface="Arial MT"/>
                <a:cs typeface="Arial MT"/>
              </a:rPr>
              <a:t>University</a:t>
            </a:r>
            <a:endParaRPr sz="1000"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25" dirty="0"/>
              <a:t>Multi-</a:t>
            </a:r>
            <a:r>
              <a:rPr dirty="0"/>
              <a:t>threaded</a:t>
            </a:r>
            <a:r>
              <a:rPr spc="-90" dirty="0"/>
              <a:t> </a:t>
            </a:r>
            <a:r>
              <a:rPr spc="-10" dirty="0"/>
              <a:t>Programming</a:t>
            </a:r>
          </a:p>
          <a:p>
            <a:pPr marL="12700">
              <a:lnSpc>
                <a:spcPts val="2060"/>
              </a:lnSpc>
            </a:pPr>
            <a:r>
              <a:rPr sz="1800" dirty="0"/>
              <a:t>Thread</a:t>
            </a:r>
            <a:r>
              <a:rPr sz="1800" spc="-60" dirty="0"/>
              <a:t> </a:t>
            </a:r>
            <a:r>
              <a:rPr sz="1800" dirty="0"/>
              <a:t>vs</a:t>
            </a:r>
            <a:r>
              <a:rPr sz="1800" spc="-55" dirty="0"/>
              <a:t> </a:t>
            </a:r>
            <a:r>
              <a:rPr sz="1800" spc="-10" dirty="0"/>
              <a:t>Process</a:t>
            </a:r>
            <a:endParaRPr sz="1800"/>
          </a:p>
        </p:txBody>
      </p:sp>
      <p:sp>
        <p:nvSpPr>
          <p:cNvPr id="6" name="object 6"/>
          <p:cNvSpPr txBox="1"/>
          <p:nvPr/>
        </p:nvSpPr>
        <p:spPr>
          <a:xfrm>
            <a:off x="492125" y="2366696"/>
            <a:ext cx="5488940" cy="1447191"/>
          </a:xfrm>
          <a:prstGeom prst="rect">
            <a:avLst/>
          </a:prstGeom>
        </p:spPr>
        <p:txBody>
          <a:bodyPr vert="horz" wrap="square" lIns="0" tIns="48895" rIns="0" bIns="0" rtlCol="0">
            <a:spAutoFit/>
          </a:bodyPr>
          <a:lstStyle/>
          <a:p>
            <a:pPr marL="12700">
              <a:lnSpc>
                <a:spcPct val="100000"/>
              </a:lnSpc>
              <a:spcBef>
                <a:spcPts val="385"/>
              </a:spcBef>
            </a:pPr>
            <a:r>
              <a:rPr sz="1600" b="1" dirty="0">
                <a:solidFill>
                  <a:srgbClr val="980000"/>
                </a:solidFill>
                <a:latin typeface="Arial"/>
                <a:cs typeface="Arial"/>
              </a:rPr>
              <a:t>Context</a:t>
            </a:r>
            <a:r>
              <a:rPr sz="1600" b="1" spc="-35" dirty="0">
                <a:solidFill>
                  <a:srgbClr val="980000"/>
                </a:solidFill>
                <a:latin typeface="Arial"/>
                <a:cs typeface="Arial"/>
              </a:rPr>
              <a:t> </a:t>
            </a:r>
            <a:r>
              <a:rPr sz="1600" b="1" dirty="0">
                <a:solidFill>
                  <a:srgbClr val="980000"/>
                </a:solidFill>
                <a:latin typeface="Arial"/>
                <a:cs typeface="Arial"/>
              </a:rPr>
              <a:t>switch</a:t>
            </a:r>
            <a:r>
              <a:rPr sz="1600" b="1" spc="-35" dirty="0">
                <a:solidFill>
                  <a:srgbClr val="980000"/>
                </a:solidFill>
                <a:latin typeface="Arial"/>
                <a:cs typeface="Arial"/>
              </a:rPr>
              <a:t> </a:t>
            </a:r>
            <a:r>
              <a:rPr sz="1600" b="1" dirty="0">
                <a:solidFill>
                  <a:srgbClr val="980000"/>
                </a:solidFill>
                <a:latin typeface="Arial"/>
                <a:cs typeface="Arial"/>
              </a:rPr>
              <a:t>between</a:t>
            </a:r>
            <a:r>
              <a:rPr sz="1600" b="1" spc="-35" dirty="0">
                <a:solidFill>
                  <a:srgbClr val="980000"/>
                </a:solidFill>
                <a:latin typeface="Arial"/>
                <a:cs typeface="Arial"/>
              </a:rPr>
              <a:t> </a:t>
            </a:r>
            <a:r>
              <a:rPr sz="1600" b="1" dirty="0">
                <a:solidFill>
                  <a:srgbClr val="980000"/>
                </a:solidFill>
                <a:latin typeface="Arial"/>
                <a:cs typeface="Arial"/>
              </a:rPr>
              <a:t>two</a:t>
            </a:r>
            <a:r>
              <a:rPr sz="1600" b="1" spc="-30" dirty="0">
                <a:solidFill>
                  <a:srgbClr val="980000"/>
                </a:solidFill>
                <a:latin typeface="Arial"/>
                <a:cs typeface="Arial"/>
              </a:rPr>
              <a:t> </a:t>
            </a:r>
            <a:r>
              <a:rPr sz="1600" b="1" dirty="0">
                <a:solidFill>
                  <a:srgbClr val="980000"/>
                </a:solidFill>
                <a:latin typeface="Arial"/>
                <a:cs typeface="Arial"/>
              </a:rPr>
              <a:t>threads</a:t>
            </a:r>
            <a:r>
              <a:rPr sz="1600" b="1" spc="-35" dirty="0">
                <a:solidFill>
                  <a:srgbClr val="980000"/>
                </a:solidFill>
                <a:latin typeface="Arial"/>
                <a:cs typeface="Arial"/>
              </a:rPr>
              <a:t> </a:t>
            </a:r>
            <a:r>
              <a:rPr sz="1600" b="1" dirty="0">
                <a:solidFill>
                  <a:srgbClr val="980000"/>
                </a:solidFill>
                <a:latin typeface="Arial"/>
                <a:cs typeface="Arial"/>
              </a:rPr>
              <a:t>of</a:t>
            </a:r>
            <a:r>
              <a:rPr sz="1600" b="1" spc="-10" dirty="0">
                <a:solidFill>
                  <a:srgbClr val="980000"/>
                </a:solidFill>
                <a:latin typeface="Arial"/>
                <a:cs typeface="Arial"/>
              </a:rPr>
              <a:t> </a:t>
            </a:r>
            <a:r>
              <a:rPr sz="1600" b="1" dirty="0">
                <a:solidFill>
                  <a:srgbClr val="0000FF"/>
                </a:solidFill>
                <a:latin typeface="Arial"/>
                <a:cs typeface="Arial"/>
              </a:rPr>
              <a:t>same</a:t>
            </a:r>
            <a:r>
              <a:rPr sz="1600" b="1" spc="-35" dirty="0">
                <a:solidFill>
                  <a:srgbClr val="0000FF"/>
                </a:solidFill>
                <a:latin typeface="Arial"/>
                <a:cs typeface="Arial"/>
              </a:rPr>
              <a:t> </a:t>
            </a:r>
            <a:r>
              <a:rPr sz="1600" b="1" spc="-10" dirty="0">
                <a:solidFill>
                  <a:srgbClr val="980000"/>
                </a:solidFill>
                <a:latin typeface="Arial"/>
                <a:cs typeface="Arial"/>
              </a:rPr>
              <a:t>process</a:t>
            </a:r>
            <a:endParaRPr sz="1600" dirty="0">
              <a:latin typeface="Arial"/>
              <a:cs typeface="Arial"/>
            </a:endParaRPr>
          </a:p>
          <a:p>
            <a:pPr marL="469265" indent="-351155">
              <a:lnSpc>
                <a:spcPct val="100000"/>
              </a:lnSpc>
              <a:spcBef>
                <a:spcPts val="290"/>
              </a:spcBef>
              <a:buChar char="●"/>
              <a:tabLst>
                <a:tab pos="469265" algn="l"/>
              </a:tabLst>
            </a:pPr>
            <a:r>
              <a:rPr sz="1600" b="1" dirty="0">
                <a:latin typeface="Arial"/>
                <a:cs typeface="Arial"/>
              </a:rPr>
              <a:t>Need</a:t>
            </a:r>
            <a:r>
              <a:rPr sz="1600" b="1" spc="-35" dirty="0">
                <a:latin typeface="Arial"/>
                <a:cs typeface="Arial"/>
              </a:rPr>
              <a:t> </a:t>
            </a:r>
            <a:r>
              <a:rPr sz="1600" b="1" dirty="0">
                <a:latin typeface="Arial"/>
                <a:cs typeface="Arial"/>
              </a:rPr>
              <a:t>not</a:t>
            </a:r>
            <a:r>
              <a:rPr sz="1600" b="1" spc="-20" dirty="0">
                <a:latin typeface="Arial"/>
                <a:cs typeface="Arial"/>
              </a:rPr>
              <a:t> </a:t>
            </a:r>
            <a:r>
              <a:rPr sz="1600" b="1" dirty="0">
                <a:latin typeface="Arial"/>
                <a:cs typeface="Arial"/>
              </a:rPr>
              <a:t>change</a:t>
            </a:r>
            <a:r>
              <a:rPr sz="1600" b="1" spc="-20" dirty="0">
                <a:latin typeface="Arial"/>
                <a:cs typeface="Arial"/>
              </a:rPr>
              <a:t> </a:t>
            </a:r>
            <a:r>
              <a:rPr sz="1600" b="1" dirty="0">
                <a:latin typeface="Arial"/>
                <a:cs typeface="Arial"/>
              </a:rPr>
              <a:t>the</a:t>
            </a:r>
            <a:r>
              <a:rPr sz="1600" b="1" spc="-20" dirty="0">
                <a:latin typeface="Arial"/>
                <a:cs typeface="Arial"/>
              </a:rPr>
              <a:t> </a:t>
            </a:r>
            <a:r>
              <a:rPr sz="1600" b="1" dirty="0">
                <a:latin typeface="Arial"/>
                <a:cs typeface="Arial"/>
              </a:rPr>
              <a:t>address</a:t>
            </a:r>
            <a:r>
              <a:rPr sz="1600" b="1" spc="-20" dirty="0">
                <a:latin typeface="Arial"/>
                <a:cs typeface="Arial"/>
              </a:rPr>
              <a:t> </a:t>
            </a:r>
            <a:r>
              <a:rPr sz="1600" b="1" spc="-10" dirty="0">
                <a:latin typeface="Arial"/>
                <a:cs typeface="Arial"/>
              </a:rPr>
              <a:t>space</a:t>
            </a:r>
            <a:endParaRPr sz="1600" dirty="0">
              <a:latin typeface="Arial"/>
              <a:cs typeface="Arial"/>
            </a:endParaRPr>
          </a:p>
          <a:p>
            <a:pPr>
              <a:lnSpc>
                <a:spcPct val="100000"/>
              </a:lnSpc>
              <a:spcBef>
                <a:spcPts val="655"/>
              </a:spcBef>
              <a:buFont typeface="Arial"/>
              <a:buChar char="●"/>
            </a:pPr>
            <a:endParaRPr sz="1600" dirty="0">
              <a:latin typeface="Arial"/>
              <a:cs typeface="Arial"/>
            </a:endParaRPr>
          </a:p>
          <a:p>
            <a:pPr marL="12700">
              <a:lnSpc>
                <a:spcPct val="100000"/>
              </a:lnSpc>
            </a:pPr>
            <a:r>
              <a:rPr sz="1600" b="1" dirty="0">
                <a:solidFill>
                  <a:srgbClr val="980000"/>
                </a:solidFill>
                <a:latin typeface="Arial"/>
                <a:cs typeface="Arial"/>
              </a:rPr>
              <a:t>Context</a:t>
            </a:r>
            <a:r>
              <a:rPr sz="1600" b="1" spc="-45" dirty="0">
                <a:solidFill>
                  <a:srgbClr val="980000"/>
                </a:solidFill>
                <a:latin typeface="Arial"/>
                <a:cs typeface="Arial"/>
              </a:rPr>
              <a:t> </a:t>
            </a:r>
            <a:r>
              <a:rPr sz="1600" b="1" dirty="0">
                <a:solidFill>
                  <a:srgbClr val="980000"/>
                </a:solidFill>
                <a:latin typeface="Arial"/>
                <a:cs typeface="Arial"/>
              </a:rPr>
              <a:t>switch</a:t>
            </a:r>
            <a:r>
              <a:rPr sz="1600" b="1" spc="-40" dirty="0">
                <a:solidFill>
                  <a:srgbClr val="980000"/>
                </a:solidFill>
                <a:latin typeface="Arial"/>
                <a:cs typeface="Arial"/>
              </a:rPr>
              <a:t> </a:t>
            </a:r>
            <a:r>
              <a:rPr sz="1600" b="1" dirty="0">
                <a:solidFill>
                  <a:srgbClr val="980000"/>
                </a:solidFill>
                <a:latin typeface="Arial"/>
                <a:cs typeface="Arial"/>
              </a:rPr>
              <a:t>between</a:t>
            </a:r>
            <a:r>
              <a:rPr sz="1600" b="1" spc="-40" dirty="0">
                <a:solidFill>
                  <a:srgbClr val="980000"/>
                </a:solidFill>
                <a:latin typeface="Arial"/>
                <a:cs typeface="Arial"/>
              </a:rPr>
              <a:t> </a:t>
            </a:r>
            <a:r>
              <a:rPr sz="1600" b="1" dirty="0">
                <a:solidFill>
                  <a:srgbClr val="980000"/>
                </a:solidFill>
                <a:latin typeface="Arial"/>
                <a:cs typeface="Arial"/>
              </a:rPr>
              <a:t>two</a:t>
            </a:r>
            <a:r>
              <a:rPr sz="1600" b="1" spc="-40" dirty="0">
                <a:solidFill>
                  <a:srgbClr val="980000"/>
                </a:solidFill>
                <a:latin typeface="Arial"/>
                <a:cs typeface="Arial"/>
              </a:rPr>
              <a:t> </a:t>
            </a:r>
            <a:r>
              <a:rPr sz="1600" b="1" dirty="0">
                <a:solidFill>
                  <a:srgbClr val="980000"/>
                </a:solidFill>
                <a:latin typeface="Arial"/>
                <a:cs typeface="Arial"/>
              </a:rPr>
              <a:t>threads</a:t>
            </a:r>
            <a:r>
              <a:rPr sz="1600" b="1" spc="-40" dirty="0">
                <a:solidFill>
                  <a:srgbClr val="980000"/>
                </a:solidFill>
                <a:latin typeface="Arial"/>
                <a:cs typeface="Arial"/>
              </a:rPr>
              <a:t> </a:t>
            </a:r>
            <a:r>
              <a:rPr sz="1600" b="1" dirty="0">
                <a:solidFill>
                  <a:srgbClr val="980000"/>
                </a:solidFill>
                <a:latin typeface="Arial"/>
                <a:cs typeface="Arial"/>
              </a:rPr>
              <a:t>of</a:t>
            </a:r>
            <a:r>
              <a:rPr sz="1600" b="1" spc="-20" dirty="0">
                <a:solidFill>
                  <a:srgbClr val="980000"/>
                </a:solidFill>
                <a:latin typeface="Arial"/>
                <a:cs typeface="Arial"/>
              </a:rPr>
              <a:t> </a:t>
            </a:r>
            <a:r>
              <a:rPr sz="1600" b="1" dirty="0">
                <a:solidFill>
                  <a:srgbClr val="0000FF"/>
                </a:solidFill>
                <a:latin typeface="Arial"/>
                <a:cs typeface="Arial"/>
              </a:rPr>
              <a:t>different</a:t>
            </a:r>
            <a:r>
              <a:rPr sz="1600" b="1" spc="-40" dirty="0">
                <a:solidFill>
                  <a:srgbClr val="0000FF"/>
                </a:solidFill>
                <a:latin typeface="Arial"/>
                <a:cs typeface="Arial"/>
              </a:rPr>
              <a:t> </a:t>
            </a:r>
            <a:r>
              <a:rPr sz="1600" b="1" spc="-10" dirty="0">
                <a:solidFill>
                  <a:srgbClr val="980000"/>
                </a:solidFill>
                <a:latin typeface="Arial"/>
                <a:cs typeface="Arial"/>
              </a:rPr>
              <a:t>process</a:t>
            </a:r>
            <a:endParaRPr sz="1600" dirty="0">
              <a:latin typeface="Arial"/>
              <a:cs typeface="Arial"/>
            </a:endParaRPr>
          </a:p>
          <a:p>
            <a:pPr marL="469265" indent="-351155">
              <a:lnSpc>
                <a:spcPct val="100000"/>
              </a:lnSpc>
              <a:spcBef>
                <a:spcPts val="290"/>
              </a:spcBef>
              <a:buChar char="●"/>
              <a:tabLst>
                <a:tab pos="469265" algn="l"/>
              </a:tabLst>
            </a:pPr>
            <a:r>
              <a:rPr sz="1600" b="1" dirty="0">
                <a:latin typeface="Arial"/>
                <a:cs typeface="Arial"/>
              </a:rPr>
              <a:t>Need</a:t>
            </a:r>
            <a:r>
              <a:rPr sz="1600" b="1" spc="-25" dirty="0">
                <a:latin typeface="Arial"/>
                <a:cs typeface="Arial"/>
              </a:rPr>
              <a:t> </a:t>
            </a:r>
            <a:r>
              <a:rPr sz="1600" b="1" dirty="0">
                <a:latin typeface="Arial"/>
                <a:cs typeface="Arial"/>
              </a:rPr>
              <a:t>to</a:t>
            </a:r>
            <a:r>
              <a:rPr sz="1600" b="1" spc="-30" dirty="0">
                <a:latin typeface="Arial"/>
                <a:cs typeface="Arial"/>
              </a:rPr>
              <a:t> </a:t>
            </a:r>
            <a:r>
              <a:rPr sz="1600" b="1" dirty="0">
                <a:latin typeface="Arial"/>
                <a:cs typeface="Arial"/>
              </a:rPr>
              <a:t>change</a:t>
            </a:r>
            <a:r>
              <a:rPr sz="1600" b="1" spc="-25" dirty="0">
                <a:latin typeface="Arial"/>
                <a:cs typeface="Arial"/>
              </a:rPr>
              <a:t> </a:t>
            </a:r>
            <a:r>
              <a:rPr sz="1600" b="1" dirty="0">
                <a:latin typeface="Arial"/>
                <a:cs typeface="Arial"/>
              </a:rPr>
              <a:t>the</a:t>
            </a:r>
            <a:r>
              <a:rPr sz="1600" b="1" spc="-25" dirty="0">
                <a:latin typeface="Arial"/>
                <a:cs typeface="Arial"/>
              </a:rPr>
              <a:t> </a:t>
            </a:r>
            <a:r>
              <a:rPr sz="1600" b="1" dirty="0">
                <a:latin typeface="Arial"/>
                <a:cs typeface="Arial"/>
              </a:rPr>
              <a:t>address</a:t>
            </a:r>
            <a:r>
              <a:rPr sz="1600" b="1" spc="-25" dirty="0">
                <a:latin typeface="Arial"/>
                <a:cs typeface="Arial"/>
              </a:rPr>
              <a:t> </a:t>
            </a:r>
            <a:r>
              <a:rPr sz="1600" b="1" spc="-10" dirty="0">
                <a:latin typeface="Arial"/>
                <a:cs typeface="Arial"/>
              </a:rPr>
              <a:t>space.</a:t>
            </a:r>
            <a:endParaRPr sz="1600" dirty="0">
              <a:latin typeface="Arial"/>
              <a:cs typeface="Arial"/>
            </a:endParaRPr>
          </a:p>
        </p:txBody>
      </p:sp>
      <p:pic>
        <p:nvPicPr>
          <p:cNvPr id="8" name="object 8" descr="A visualization of an operating system ready queue, showing two threads with different Process IDs (PIDs) waiting for execution, each with its own program counter and registers."/>
          <p:cNvPicPr/>
          <p:nvPr/>
        </p:nvPicPr>
        <p:blipFill>
          <a:blip r:embed="rId3" cstate="print"/>
          <a:stretch>
            <a:fillRect/>
          </a:stretch>
        </p:blipFill>
        <p:spPr>
          <a:xfrm>
            <a:off x="448446" y="3939816"/>
            <a:ext cx="5976002" cy="2011723"/>
          </a:xfrm>
          <a:prstGeom prst="rect">
            <a:avLst/>
          </a:prstGeom>
        </p:spPr>
      </p:pic>
      <p:sp>
        <p:nvSpPr>
          <p:cNvPr id="7" name="object 7">
            <a:extLst>
              <a:ext uri="{C183D7F6-B498-43B3-948B-1728B52AA6E4}">
                <adec:decorative xmlns:adec="http://schemas.microsoft.com/office/drawing/2017/decorative" val="1"/>
              </a:ext>
            </a:extLst>
          </p:cNvPr>
          <p:cNvSpPr txBox="1"/>
          <p:nvPr/>
        </p:nvSpPr>
        <p:spPr>
          <a:xfrm>
            <a:off x="2569524" y="6084995"/>
            <a:ext cx="187388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0"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dirty="0">
                <a:solidFill>
                  <a:srgbClr val="0F2044"/>
                </a:solidFill>
                <a:latin typeface="Arial MT"/>
                <a:cs typeface="Arial MT"/>
              </a:rPr>
              <a:t>Rutgers</a:t>
            </a:r>
            <a:r>
              <a:rPr sz="1000" spc="-20" dirty="0">
                <a:solidFill>
                  <a:srgbClr val="0F2044"/>
                </a:solidFill>
                <a:latin typeface="Arial MT"/>
                <a:cs typeface="Arial MT"/>
              </a:rPr>
              <a:t> </a:t>
            </a:r>
            <a:r>
              <a:rPr sz="1000" spc="-10" dirty="0">
                <a:solidFill>
                  <a:srgbClr val="0F2044"/>
                </a:solidFill>
                <a:latin typeface="Arial MT"/>
                <a:cs typeface="Arial MT"/>
              </a:rPr>
              <a:t>University</a:t>
            </a:r>
            <a:endParaRPr sz="1000" dirty="0">
              <a:latin typeface="Arial MT"/>
              <a:cs typeface="Arial MT"/>
            </a:endParaRPr>
          </a:p>
        </p:txBody>
      </p:sp>
      <p:grpSp>
        <p:nvGrpSpPr>
          <p:cNvPr id="10" name="Group 9" descr="Timeline diagrams comparing context switching on a single core, parallelism on dual cores, and concurrency with mutual exclusion where one thread is blocked on a critical section.">
            <a:extLst>
              <a:ext uri="{FF2B5EF4-FFF2-40B4-BE49-F238E27FC236}">
                <a16:creationId xmlns:a16="http://schemas.microsoft.com/office/drawing/2014/main" id="{D6CED6FF-013A-B61A-7243-5359A714A899}"/>
              </a:ext>
            </a:extLst>
          </p:cNvPr>
          <p:cNvGrpSpPr/>
          <p:nvPr/>
        </p:nvGrpSpPr>
        <p:grpSpPr>
          <a:xfrm>
            <a:off x="6029175" y="970324"/>
            <a:ext cx="5981849" cy="5436925"/>
            <a:chOff x="6029175" y="970324"/>
            <a:chExt cx="5981849" cy="5436925"/>
          </a:xfrm>
        </p:grpSpPr>
        <p:pic>
          <p:nvPicPr>
            <p:cNvPr id="3" name="object 3"/>
            <p:cNvPicPr/>
            <p:nvPr/>
          </p:nvPicPr>
          <p:blipFill>
            <a:blip r:embed="rId4" cstate="print"/>
            <a:stretch>
              <a:fillRect/>
            </a:stretch>
          </p:blipFill>
          <p:spPr>
            <a:xfrm>
              <a:off x="6029175" y="970324"/>
              <a:ext cx="5981849" cy="2664425"/>
            </a:xfrm>
            <a:prstGeom prst="rect">
              <a:avLst/>
            </a:prstGeom>
          </p:spPr>
        </p:pic>
        <p:pic>
          <p:nvPicPr>
            <p:cNvPr id="4" name="object 4"/>
            <p:cNvPicPr/>
            <p:nvPr/>
          </p:nvPicPr>
          <p:blipFill>
            <a:blip r:embed="rId5" cstate="print"/>
            <a:stretch>
              <a:fillRect/>
            </a:stretch>
          </p:blipFill>
          <p:spPr>
            <a:xfrm>
              <a:off x="6961425" y="3424199"/>
              <a:ext cx="3892323" cy="2983050"/>
            </a:xfrm>
            <a:prstGeom prst="rect">
              <a:avLst/>
            </a:prstGeom>
          </p:spPr>
        </p:pic>
      </p:grpSp>
      <p:sp>
        <p:nvSpPr>
          <p:cNvPr id="9" name="object 9">
            <a:extLst>
              <a:ext uri="{C183D7F6-B498-43B3-948B-1728B52AA6E4}">
                <adec:decorative xmlns:adec="http://schemas.microsoft.com/office/drawing/2017/decorative" val="1"/>
              </a:ext>
            </a:extLst>
          </p:cNvPr>
          <p:cNvSpPr txBox="1"/>
          <p:nvPr/>
        </p:nvSpPr>
        <p:spPr>
          <a:xfrm>
            <a:off x="8186236" y="6595474"/>
            <a:ext cx="181356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hlinkClick r:id="rId6"/>
              </a:rPr>
              <a:t>https://www.logicbig.com/</a:t>
            </a:r>
            <a:endParaRPr sz="8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117600"/>
            <a:ext cx="4193540" cy="406400"/>
          </a:xfrm>
          <a:prstGeom prst="rect">
            <a:avLst/>
          </a:prstGeom>
        </p:spPr>
        <p:txBody>
          <a:bodyPr vert="horz" wrap="square" lIns="0" tIns="12700" rIns="0" bIns="0" rtlCol="0">
            <a:spAutoFit/>
          </a:bodyPr>
          <a:lstStyle/>
          <a:p>
            <a:pPr marL="12700">
              <a:lnSpc>
                <a:spcPct val="100000"/>
              </a:lnSpc>
              <a:spcBef>
                <a:spcPts val="100"/>
              </a:spcBef>
            </a:pPr>
            <a:r>
              <a:rPr spc="-25" dirty="0"/>
              <a:t>Multi-</a:t>
            </a:r>
            <a:r>
              <a:rPr dirty="0"/>
              <a:t>threaded</a:t>
            </a:r>
            <a:r>
              <a:rPr spc="-90" dirty="0"/>
              <a:t> </a:t>
            </a:r>
            <a:r>
              <a:rPr spc="-10" dirty="0"/>
              <a:t>Programming</a:t>
            </a:r>
          </a:p>
        </p:txBody>
      </p:sp>
      <p:sp>
        <p:nvSpPr>
          <p:cNvPr id="3" name="object 3"/>
          <p:cNvSpPr txBox="1"/>
          <p:nvPr/>
        </p:nvSpPr>
        <p:spPr>
          <a:xfrm>
            <a:off x="410375" y="1518563"/>
            <a:ext cx="46678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F2044"/>
                </a:solidFill>
                <a:latin typeface="Georgia"/>
                <a:cs typeface="Georgia"/>
              </a:rPr>
              <a:t>Thread</a:t>
            </a:r>
            <a:r>
              <a:rPr sz="1800" spc="-50" dirty="0">
                <a:solidFill>
                  <a:srgbClr val="0F2044"/>
                </a:solidFill>
                <a:latin typeface="Georgia"/>
                <a:cs typeface="Georgia"/>
              </a:rPr>
              <a:t> </a:t>
            </a:r>
            <a:r>
              <a:rPr sz="1800" dirty="0">
                <a:solidFill>
                  <a:srgbClr val="0F2044"/>
                </a:solidFill>
                <a:latin typeface="Georgia"/>
                <a:cs typeface="Georgia"/>
              </a:rPr>
              <a:t>vs</a:t>
            </a:r>
            <a:r>
              <a:rPr sz="1800" spc="-45" dirty="0">
                <a:solidFill>
                  <a:srgbClr val="0F2044"/>
                </a:solidFill>
                <a:latin typeface="Georgia"/>
                <a:cs typeface="Georgia"/>
              </a:rPr>
              <a:t> </a:t>
            </a:r>
            <a:r>
              <a:rPr sz="1800" dirty="0">
                <a:solidFill>
                  <a:srgbClr val="0F2044"/>
                </a:solidFill>
                <a:latin typeface="Georgia"/>
                <a:cs typeface="Georgia"/>
              </a:rPr>
              <a:t>Process</a:t>
            </a:r>
            <a:r>
              <a:rPr sz="1800" spc="-45" dirty="0">
                <a:solidFill>
                  <a:srgbClr val="0F2044"/>
                </a:solidFill>
                <a:latin typeface="Georgia"/>
                <a:cs typeface="Georgia"/>
              </a:rPr>
              <a:t> </a:t>
            </a:r>
            <a:r>
              <a:rPr sz="1800" dirty="0">
                <a:solidFill>
                  <a:srgbClr val="0F2044"/>
                </a:solidFill>
                <a:latin typeface="Georgia"/>
                <a:cs typeface="Georgia"/>
              </a:rPr>
              <a:t>-</a:t>
            </a:r>
            <a:r>
              <a:rPr sz="1800" spc="-50" dirty="0">
                <a:solidFill>
                  <a:srgbClr val="0F2044"/>
                </a:solidFill>
                <a:latin typeface="Georgia"/>
                <a:cs typeface="Georgia"/>
              </a:rPr>
              <a:t> </a:t>
            </a:r>
            <a:r>
              <a:rPr sz="1800" spc="-10" dirty="0">
                <a:solidFill>
                  <a:srgbClr val="0F2044"/>
                </a:solidFill>
                <a:latin typeface="Georgia"/>
                <a:cs typeface="Georgia"/>
              </a:rPr>
              <a:t>Similarities</a:t>
            </a:r>
            <a:r>
              <a:rPr sz="1800" spc="-45" dirty="0">
                <a:solidFill>
                  <a:srgbClr val="0F2044"/>
                </a:solidFill>
                <a:latin typeface="Georgia"/>
                <a:cs typeface="Georgia"/>
              </a:rPr>
              <a:t> </a:t>
            </a:r>
            <a:r>
              <a:rPr sz="1800" dirty="0">
                <a:solidFill>
                  <a:srgbClr val="0F2044"/>
                </a:solidFill>
                <a:latin typeface="Georgia"/>
                <a:cs typeface="Georgia"/>
              </a:rPr>
              <a:t>vs</a:t>
            </a:r>
            <a:r>
              <a:rPr sz="1800" spc="-45" dirty="0">
                <a:solidFill>
                  <a:srgbClr val="0F2044"/>
                </a:solidFill>
                <a:latin typeface="Georgia"/>
                <a:cs typeface="Georgia"/>
              </a:rPr>
              <a:t> </a:t>
            </a:r>
            <a:r>
              <a:rPr sz="1800" spc="-10" dirty="0">
                <a:solidFill>
                  <a:srgbClr val="0F2044"/>
                </a:solidFill>
                <a:latin typeface="Georgia"/>
                <a:cs typeface="Georgia"/>
              </a:rPr>
              <a:t>Differences</a:t>
            </a:r>
            <a:endParaRPr sz="1800" dirty="0">
              <a:latin typeface="Georgia"/>
              <a:cs typeface="Georgia"/>
            </a:endParaRPr>
          </a:p>
        </p:txBody>
      </p:sp>
      <p:sp>
        <p:nvSpPr>
          <p:cNvPr id="4" name="object 4"/>
          <p:cNvSpPr txBox="1"/>
          <p:nvPr/>
        </p:nvSpPr>
        <p:spPr>
          <a:xfrm>
            <a:off x="419100" y="1934243"/>
            <a:ext cx="5080635" cy="4618957"/>
          </a:xfrm>
          <a:prstGeom prst="rect">
            <a:avLst/>
          </a:prstGeom>
          <a:solidFill>
            <a:srgbClr val="D9EAD3"/>
          </a:solidFill>
          <a:ln w="9524">
            <a:solidFill>
              <a:srgbClr val="000000"/>
            </a:solidFill>
          </a:ln>
        </p:spPr>
        <p:txBody>
          <a:bodyPr vert="horz" wrap="square" lIns="0" tIns="50800" rIns="0" bIns="0" rtlCol="0">
            <a:spAutoFit/>
          </a:bodyPr>
          <a:lstStyle/>
          <a:p>
            <a:pPr marL="85725">
              <a:lnSpc>
                <a:spcPct val="114000"/>
              </a:lnSpc>
              <a:spcBef>
                <a:spcPts val="400"/>
              </a:spcBef>
            </a:pPr>
            <a:r>
              <a:rPr sz="2000" b="1" u="sng" spc="-10" dirty="0">
                <a:uFill>
                  <a:solidFill>
                    <a:srgbClr val="000000"/>
                  </a:solidFill>
                </a:uFill>
                <a:latin typeface="Arial"/>
                <a:cs typeface="Arial"/>
              </a:rPr>
              <a:t>Similaritie</a:t>
            </a:r>
            <a:r>
              <a:rPr lang="en-US" sz="2000" b="1" u="sng" spc="-10" dirty="0">
                <a:uFill>
                  <a:solidFill>
                    <a:srgbClr val="000000"/>
                  </a:solidFill>
                </a:uFill>
                <a:latin typeface="Arial"/>
                <a:cs typeface="Arial"/>
              </a:rPr>
              <a:t>s</a:t>
            </a:r>
            <a:endParaRPr sz="2000" u="sng" dirty="0">
              <a:latin typeface="Arial"/>
              <a:cs typeface="Arial"/>
            </a:endParaRPr>
          </a:p>
          <a:p>
            <a:pPr marL="85725" marR="147320">
              <a:lnSpc>
                <a:spcPct val="114000"/>
              </a:lnSpc>
              <a:spcBef>
                <a:spcPts val="1980"/>
              </a:spcBef>
            </a:pPr>
            <a:r>
              <a:rPr sz="1800" b="1" dirty="0">
                <a:latin typeface="Arial"/>
                <a:cs typeface="Arial"/>
              </a:rPr>
              <a:t>Execution</a:t>
            </a:r>
            <a:r>
              <a:rPr sz="1800" dirty="0">
                <a:latin typeface="Arial MT"/>
                <a:cs typeface="Arial MT"/>
              </a:rPr>
              <a:t>:</a:t>
            </a:r>
            <a:r>
              <a:rPr sz="1800" spc="-30" dirty="0">
                <a:latin typeface="Arial MT"/>
                <a:cs typeface="Arial MT"/>
              </a:rPr>
              <a:t> </a:t>
            </a:r>
            <a:r>
              <a:rPr sz="1800" dirty="0">
                <a:latin typeface="Arial MT"/>
                <a:cs typeface="Arial MT"/>
              </a:rPr>
              <a:t>Both</a:t>
            </a:r>
            <a:r>
              <a:rPr sz="1800" spc="-15" dirty="0">
                <a:latin typeface="Arial MT"/>
                <a:cs typeface="Arial MT"/>
              </a:rPr>
              <a:t> </a:t>
            </a:r>
            <a:r>
              <a:rPr sz="1800" dirty="0">
                <a:latin typeface="Arial MT"/>
                <a:cs typeface="Arial MT"/>
              </a:rPr>
              <a:t>threads</a:t>
            </a:r>
            <a:r>
              <a:rPr sz="1800" spc="-15"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processes</a:t>
            </a:r>
            <a:r>
              <a:rPr sz="1800" spc="-15" dirty="0">
                <a:latin typeface="Arial MT"/>
                <a:cs typeface="Arial MT"/>
              </a:rPr>
              <a:t> </a:t>
            </a:r>
            <a:r>
              <a:rPr sz="1800" spc="-10" dirty="0">
                <a:latin typeface="Arial MT"/>
                <a:cs typeface="Arial MT"/>
              </a:rPr>
              <a:t>involve </a:t>
            </a:r>
            <a:r>
              <a:rPr sz="1800" dirty="0">
                <a:latin typeface="Arial MT"/>
                <a:cs typeface="Arial MT"/>
              </a:rPr>
              <a:t>the</a:t>
            </a:r>
            <a:r>
              <a:rPr sz="1800" spc="-30" dirty="0">
                <a:latin typeface="Arial MT"/>
                <a:cs typeface="Arial MT"/>
              </a:rPr>
              <a:t> </a:t>
            </a:r>
            <a:r>
              <a:rPr sz="1800" dirty="0">
                <a:latin typeface="Arial MT"/>
                <a:cs typeface="Arial MT"/>
              </a:rPr>
              <a:t>execution</a:t>
            </a:r>
            <a:r>
              <a:rPr sz="1800" spc="-30"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instructions.</a:t>
            </a:r>
            <a:r>
              <a:rPr sz="1800" spc="-65" dirty="0">
                <a:latin typeface="Arial MT"/>
                <a:cs typeface="Arial MT"/>
              </a:rPr>
              <a:t> </a:t>
            </a:r>
            <a:r>
              <a:rPr sz="1800" dirty="0">
                <a:latin typeface="Arial MT"/>
                <a:cs typeface="Arial MT"/>
              </a:rPr>
              <a:t>They</a:t>
            </a:r>
            <a:r>
              <a:rPr sz="1800" spc="-25" dirty="0">
                <a:latin typeface="Arial MT"/>
                <a:cs typeface="Arial MT"/>
              </a:rPr>
              <a:t> </a:t>
            </a:r>
            <a:r>
              <a:rPr sz="1800" spc="-10" dirty="0">
                <a:latin typeface="Arial MT"/>
                <a:cs typeface="Arial MT"/>
              </a:rPr>
              <a:t>represent </a:t>
            </a:r>
            <a:r>
              <a:rPr sz="1800" dirty="0">
                <a:latin typeface="Arial MT"/>
                <a:cs typeface="Arial MT"/>
              </a:rPr>
              <a:t>sequences</a:t>
            </a:r>
            <a:r>
              <a:rPr sz="1800" spc="-15"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instructions</a:t>
            </a:r>
            <a:r>
              <a:rPr sz="1800" spc="-10" dirty="0">
                <a:latin typeface="Arial MT"/>
                <a:cs typeface="Arial MT"/>
              </a:rPr>
              <a:t> </a:t>
            </a:r>
            <a:r>
              <a:rPr sz="1800" dirty="0">
                <a:latin typeface="Arial MT"/>
                <a:cs typeface="Arial MT"/>
              </a:rPr>
              <a:t>that</a:t>
            </a:r>
            <a:r>
              <a:rPr sz="1800" spc="-10" dirty="0">
                <a:latin typeface="Arial MT"/>
                <a:cs typeface="Arial MT"/>
              </a:rPr>
              <a:t> </a:t>
            </a:r>
            <a:r>
              <a:rPr sz="1800" dirty="0">
                <a:latin typeface="Arial MT"/>
                <a:cs typeface="Arial MT"/>
              </a:rPr>
              <a:t>the</a:t>
            </a:r>
            <a:r>
              <a:rPr sz="1800" spc="-10" dirty="0">
                <a:latin typeface="Arial MT"/>
                <a:cs typeface="Arial MT"/>
              </a:rPr>
              <a:t> </a:t>
            </a:r>
            <a:r>
              <a:rPr sz="1800" spc="-25" dirty="0">
                <a:latin typeface="Arial MT"/>
                <a:cs typeface="Arial MT"/>
              </a:rPr>
              <a:t>CPU </a:t>
            </a:r>
            <a:r>
              <a:rPr sz="1800" spc="-10" dirty="0">
                <a:latin typeface="Arial MT"/>
                <a:cs typeface="Arial MT"/>
              </a:rPr>
              <a:t>executes.</a:t>
            </a:r>
            <a:endParaRPr sz="1800" dirty="0">
              <a:latin typeface="Arial MT"/>
              <a:cs typeface="Arial MT"/>
            </a:endParaRPr>
          </a:p>
          <a:p>
            <a:pPr marL="85725" marR="180975">
              <a:lnSpc>
                <a:spcPct val="114000"/>
              </a:lnSpc>
              <a:spcBef>
                <a:spcPts val="1960"/>
              </a:spcBef>
            </a:pPr>
            <a:r>
              <a:rPr sz="1800" b="1" dirty="0">
                <a:latin typeface="Arial"/>
                <a:cs typeface="Arial"/>
              </a:rPr>
              <a:t>Resource</a:t>
            </a:r>
            <a:r>
              <a:rPr sz="1800" b="1" spc="-100" dirty="0">
                <a:latin typeface="Arial"/>
                <a:cs typeface="Arial"/>
              </a:rPr>
              <a:t> </a:t>
            </a:r>
            <a:r>
              <a:rPr sz="1800" b="1" dirty="0">
                <a:latin typeface="Arial"/>
                <a:cs typeface="Arial"/>
              </a:rPr>
              <a:t>Allocation</a:t>
            </a:r>
            <a:r>
              <a:rPr sz="1800" dirty="0">
                <a:latin typeface="Arial MT"/>
                <a:cs typeface="Arial MT"/>
              </a:rPr>
              <a:t>:</a:t>
            </a:r>
            <a:r>
              <a:rPr sz="1800" spc="-25" dirty="0">
                <a:latin typeface="Arial MT"/>
                <a:cs typeface="Arial MT"/>
              </a:rPr>
              <a:t> </a:t>
            </a:r>
            <a:r>
              <a:rPr sz="1800" dirty="0">
                <a:latin typeface="Arial MT"/>
                <a:cs typeface="Arial MT"/>
              </a:rPr>
              <a:t>Both</a:t>
            </a:r>
            <a:r>
              <a:rPr sz="1800" spc="-25" dirty="0">
                <a:latin typeface="Arial MT"/>
                <a:cs typeface="Arial MT"/>
              </a:rPr>
              <a:t> </a:t>
            </a:r>
            <a:r>
              <a:rPr sz="1800" dirty="0">
                <a:latin typeface="Arial MT"/>
                <a:cs typeface="Arial MT"/>
              </a:rPr>
              <a:t>threads</a:t>
            </a:r>
            <a:r>
              <a:rPr sz="1800" spc="-25" dirty="0">
                <a:latin typeface="Arial MT"/>
                <a:cs typeface="Arial MT"/>
              </a:rPr>
              <a:t> and </a:t>
            </a:r>
            <a:r>
              <a:rPr sz="1800" dirty="0">
                <a:latin typeface="Arial MT"/>
                <a:cs typeface="Arial MT"/>
              </a:rPr>
              <a:t>processes</a:t>
            </a:r>
            <a:r>
              <a:rPr sz="1800" spc="-15" dirty="0">
                <a:latin typeface="Arial MT"/>
                <a:cs typeface="Arial MT"/>
              </a:rPr>
              <a:t> </a:t>
            </a:r>
            <a:r>
              <a:rPr sz="1800" dirty="0">
                <a:latin typeface="Arial MT"/>
                <a:cs typeface="Arial MT"/>
              </a:rPr>
              <a:t>require</a:t>
            </a:r>
            <a:r>
              <a:rPr sz="1800" spc="-15" dirty="0">
                <a:latin typeface="Arial MT"/>
                <a:cs typeface="Arial MT"/>
              </a:rPr>
              <a:t> </a:t>
            </a:r>
            <a:r>
              <a:rPr sz="1800" dirty="0">
                <a:latin typeface="Arial MT"/>
                <a:cs typeface="Arial MT"/>
              </a:rPr>
              <a:t>system</a:t>
            </a:r>
            <a:r>
              <a:rPr sz="1800" spc="-15" dirty="0">
                <a:latin typeface="Arial MT"/>
                <a:cs typeface="Arial MT"/>
              </a:rPr>
              <a:t> </a:t>
            </a:r>
            <a:r>
              <a:rPr sz="1800" dirty="0">
                <a:latin typeface="Arial MT"/>
                <a:cs typeface="Arial MT"/>
              </a:rPr>
              <a:t>resources</a:t>
            </a:r>
            <a:r>
              <a:rPr sz="1800" spc="-15" dirty="0">
                <a:latin typeface="Arial MT"/>
                <a:cs typeface="Arial MT"/>
              </a:rPr>
              <a:t> </a:t>
            </a:r>
            <a:r>
              <a:rPr sz="1800" dirty="0">
                <a:latin typeface="Arial MT"/>
                <a:cs typeface="Arial MT"/>
              </a:rPr>
              <a:t>such</a:t>
            </a:r>
            <a:r>
              <a:rPr sz="1800" spc="-10" dirty="0">
                <a:latin typeface="Arial MT"/>
                <a:cs typeface="Arial MT"/>
              </a:rPr>
              <a:t> </a:t>
            </a:r>
            <a:r>
              <a:rPr sz="1800" spc="-25" dirty="0">
                <a:latin typeface="Arial MT"/>
                <a:cs typeface="Arial MT"/>
              </a:rPr>
              <a:t>as </a:t>
            </a:r>
            <a:r>
              <a:rPr sz="1800" spc="-10" dirty="0">
                <a:latin typeface="Arial MT"/>
                <a:cs typeface="Arial MT"/>
              </a:rPr>
              <a:t>memory,</a:t>
            </a:r>
            <a:r>
              <a:rPr sz="1800" spc="-35" dirty="0">
                <a:latin typeface="Arial MT"/>
                <a:cs typeface="Arial MT"/>
              </a:rPr>
              <a:t> </a:t>
            </a:r>
            <a:r>
              <a:rPr sz="1800" dirty="0">
                <a:latin typeface="Arial MT"/>
                <a:cs typeface="Arial MT"/>
              </a:rPr>
              <a:t>CPU</a:t>
            </a:r>
            <a:r>
              <a:rPr sz="1800" spc="-20" dirty="0">
                <a:latin typeface="Arial MT"/>
                <a:cs typeface="Arial MT"/>
              </a:rPr>
              <a:t> </a:t>
            </a:r>
            <a:r>
              <a:rPr sz="1800" dirty="0">
                <a:latin typeface="Arial MT"/>
                <a:cs typeface="Arial MT"/>
              </a:rPr>
              <a:t>time,</a:t>
            </a:r>
            <a:r>
              <a:rPr sz="1800" spc="-25"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I/O</a:t>
            </a:r>
            <a:r>
              <a:rPr sz="1800" spc="-25" dirty="0">
                <a:latin typeface="Arial MT"/>
                <a:cs typeface="Arial MT"/>
              </a:rPr>
              <a:t> </a:t>
            </a:r>
            <a:r>
              <a:rPr sz="1800" dirty="0">
                <a:latin typeface="Arial MT"/>
                <a:cs typeface="Arial MT"/>
              </a:rPr>
              <a:t>devices</a:t>
            </a:r>
            <a:r>
              <a:rPr sz="1800" spc="-20" dirty="0">
                <a:latin typeface="Arial MT"/>
                <a:cs typeface="Arial MT"/>
              </a:rPr>
              <a:t> </a:t>
            </a:r>
            <a:r>
              <a:rPr sz="1800" dirty="0">
                <a:latin typeface="Arial MT"/>
                <a:cs typeface="Arial MT"/>
              </a:rPr>
              <a:t>to</a:t>
            </a:r>
            <a:r>
              <a:rPr sz="1800" spc="-20" dirty="0">
                <a:latin typeface="Arial MT"/>
                <a:cs typeface="Arial MT"/>
              </a:rPr>
              <a:t> </a:t>
            </a:r>
            <a:r>
              <a:rPr sz="1800" spc="-10" dirty="0">
                <a:latin typeface="Arial MT"/>
                <a:cs typeface="Arial MT"/>
              </a:rPr>
              <a:t>execute.</a:t>
            </a:r>
            <a:endParaRPr sz="1800" dirty="0">
              <a:latin typeface="Arial MT"/>
              <a:cs typeface="Arial MT"/>
            </a:endParaRPr>
          </a:p>
          <a:p>
            <a:pPr marL="85725" marR="107950">
              <a:lnSpc>
                <a:spcPct val="114000"/>
              </a:lnSpc>
              <a:spcBef>
                <a:spcPts val="1955"/>
              </a:spcBef>
            </a:pPr>
            <a:r>
              <a:rPr sz="1800" b="1" dirty="0">
                <a:latin typeface="Arial"/>
                <a:cs typeface="Arial"/>
              </a:rPr>
              <a:t>Control</a:t>
            </a:r>
            <a:r>
              <a:rPr sz="1800" b="1" spc="-35" dirty="0">
                <a:latin typeface="Arial"/>
                <a:cs typeface="Arial"/>
              </a:rPr>
              <a:t> </a:t>
            </a:r>
            <a:r>
              <a:rPr sz="1800" b="1" dirty="0">
                <a:latin typeface="Arial"/>
                <a:cs typeface="Arial"/>
              </a:rPr>
              <a:t>Flow</a:t>
            </a:r>
            <a:r>
              <a:rPr sz="1800" dirty="0">
                <a:latin typeface="Arial MT"/>
                <a:cs typeface="Arial MT"/>
              </a:rPr>
              <a:t>:</a:t>
            </a:r>
            <a:r>
              <a:rPr sz="1800" spc="-70" dirty="0">
                <a:latin typeface="Arial MT"/>
                <a:cs typeface="Arial MT"/>
              </a:rPr>
              <a:t> </a:t>
            </a:r>
            <a:r>
              <a:rPr sz="1800" dirty="0">
                <a:latin typeface="Arial MT"/>
                <a:cs typeface="Arial MT"/>
              </a:rPr>
              <a:t>Threads</a:t>
            </a:r>
            <a:r>
              <a:rPr sz="1800" spc="-35" dirty="0">
                <a:latin typeface="Arial MT"/>
                <a:cs typeface="Arial MT"/>
              </a:rPr>
              <a:t> </a:t>
            </a:r>
            <a:r>
              <a:rPr sz="1800" dirty="0">
                <a:latin typeface="Arial MT"/>
                <a:cs typeface="Arial MT"/>
              </a:rPr>
              <a:t>and</a:t>
            </a:r>
            <a:r>
              <a:rPr sz="1800" spc="-35" dirty="0">
                <a:latin typeface="Arial MT"/>
                <a:cs typeface="Arial MT"/>
              </a:rPr>
              <a:t> </a:t>
            </a:r>
            <a:r>
              <a:rPr sz="1800" dirty="0">
                <a:latin typeface="Arial MT"/>
                <a:cs typeface="Arial MT"/>
              </a:rPr>
              <a:t>processes</a:t>
            </a:r>
            <a:r>
              <a:rPr sz="1800" spc="-30" dirty="0">
                <a:latin typeface="Arial MT"/>
                <a:cs typeface="Arial MT"/>
              </a:rPr>
              <a:t> </a:t>
            </a:r>
            <a:r>
              <a:rPr sz="1800" spc="-20" dirty="0">
                <a:latin typeface="Arial MT"/>
                <a:cs typeface="Arial MT"/>
              </a:rPr>
              <a:t>both </a:t>
            </a:r>
            <a:r>
              <a:rPr sz="1800" dirty="0">
                <a:latin typeface="Arial MT"/>
                <a:cs typeface="Arial MT"/>
              </a:rPr>
              <a:t>have</a:t>
            </a:r>
            <a:r>
              <a:rPr sz="1800" spc="-30" dirty="0">
                <a:latin typeface="Arial MT"/>
                <a:cs typeface="Arial MT"/>
              </a:rPr>
              <a:t> </a:t>
            </a:r>
            <a:r>
              <a:rPr sz="1800" dirty="0">
                <a:latin typeface="Arial MT"/>
                <a:cs typeface="Arial MT"/>
              </a:rPr>
              <a:t>their</a:t>
            </a:r>
            <a:r>
              <a:rPr sz="1800" spc="-25" dirty="0">
                <a:latin typeface="Arial MT"/>
                <a:cs typeface="Arial MT"/>
              </a:rPr>
              <a:t> </a:t>
            </a:r>
            <a:r>
              <a:rPr sz="1800" dirty="0">
                <a:latin typeface="Arial MT"/>
                <a:cs typeface="Arial MT"/>
              </a:rPr>
              <a:t>own</a:t>
            </a:r>
            <a:r>
              <a:rPr sz="1800" spc="-25" dirty="0">
                <a:latin typeface="Arial MT"/>
                <a:cs typeface="Arial MT"/>
              </a:rPr>
              <a:t> </a:t>
            </a:r>
            <a:r>
              <a:rPr sz="1800" dirty="0">
                <a:latin typeface="Arial MT"/>
                <a:cs typeface="Arial MT"/>
              </a:rPr>
              <a:t>control</a:t>
            </a:r>
            <a:r>
              <a:rPr sz="1800" spc="-25" dirty="0">
                <a:latin typeface="Arial MT"/>
                <a:cs typeface="Arial MT"/>
              </a:rPr>
              <a:t> </a:t>
            </a:r>
            <a:r>
              <a:rPr sz="1800" spc="-10" dirty="0">
                <a:latin typeface="Arial MT"/>
                <a:cs typeface="Arial MT"/>
              </a:rPr>
              <a:t>flow.</a:t>
            </a:r>
            <a:r>
              <a:rPr sz="1800" spc="-55" dirty="0">
                <a:latin typeface="Arial MT"/>
                <a:cs typeface="Arial MT"/>
              </a:rPr>
              <a:t> </a:t>
            </a:r>
            <a:r>
              <a:rPr sz="1800" dirty="0">
                <a:latin typeface="Arial MT"/>
                <a:cs typeface="Arial MT"/>
              </a:rPr>
              <a:t>They</a:t>
            </a:r>
            <a:r>
              <a:rPr sz="1800" spc="-25" dirty="0">
                <a:latin typeface="Arial MT"/>
                <a:cs typeface="Arial MT"/>
              </a:rPr>
              <a:t> </a:t>
            </a:r>
            <a:r>
              <a:rPr sz="1800" spc="-10" dirty="0">
                <a:latin typeface="Arial MT"/>
                <a:cs typeface="Arial MT"/>
              </a:rPr>
              <a:t>execute </a:t>
            </a:r>
            <a:r>
              <a:rPr sz="1800" dirty="0">
                <a:latin typeface="Arial MT"/>
                <a:cs typeface="Arial MT"/>
              </a:rPr>
              <a:t>instructions</a:t>
            </a:r>
            <a:r>
              <a:rPr sz="1800" spc="-30" dirty="0">
                <a:latin typeface="Arial MT"/>
                <a:cs typeface="Arial MT"/>
              </a:rPr>
              <a:t> </a:t>
            </a:r>
            <a:r>
              <a:rPr sz="1800" spc="-10" dirty="0">
                <a:latin typeface="Arial MT"/>
                <a:cs typeface="Arial MT"/>
              </a:rPr>
              <a:t>sequentially,</a:t>
            </a:r>
            <a:r>
              <a:rPr sz="1800" spc="-20" dirty="0">
                <a:latin typeface="Arial MT"/>
                <a:cs typeface="Arial MT"/>
              </a:rPr>
              <a:t> </a:t>
            </a:r>
            <a:r>
              <a:rPr sz="1800" dirty="0">
                <a:latin typeface="Arial MT"/>
                <a:cs typeface="Arial MT"/>
              </a:rPr>
              <a:t>following</a:t>
            </a:r>
            <a:r>
              <a:rPr sz="1800" spc="-20" dirty="0">
                <a:latin typeface="Arial MT"/>
                <a:cs typeface="Arial MT"/>
              </a:rPr>
              <a:t> </a:t>
            </a:r>
            <a:r>
              <a:rPr sz="1800" dirty="0">
                <a:latin typeface="Arial MT"/>
                <a:cs typeface="Arial MT"/>
              </a:rPr>
              <a:t>the</a:t>
            </a:r>
            <a:r>
              <a:rPr sz="1800" spc="-15" dirty="0">
                <a:latin typeface="Arial MT"/>
                <a:cs typeface="Arial MT"/>
              </a:rPr>
              <a:t> </a:t>
            </a:r>
            <a:r>
              <a:rPr sz="1800" spc="-10" dirty="0">
                <a:latin typeface="Arial MT"/>
                <a:cs typeface="Arial MT"/>
              </a:rPr>
              <a:t>program's logic.</a:t>
            </a:r>
            <a:endParaRPr sz="1800" dirty="0">
              <a:latin typeface="Arial MT"/>
              <a:cs typeface="Arial MT"/>
            </a:endParaRPr>
          </a:p>
        </p:txBody>
      </p:sp>
      <p:sp>
        <p:nvSpPr>
          <p:cNvPr id="6" name="object 6"/>
          <p:cNvSpPr/>
          <p:nvPr/>
        </p:nvSpPr>
        <p:spPr>
          <a:xfrm>
            <a:off x="5816300" y="1295400"/>
            <a:ext cx="6049645" cy="5257800"/>
          </a:xfrm>
          <a:custGeom>
            <a:avLst/>
            <a:gdLst/>
            <a:ahLst/>
            <a:cxnLst/>
            <a:rect l="l" t="t" r="r" b="b"/>
            <a:pathLst>
              <a:path w="6049645" h="4451985">
                <a:moveTo>
                  <a:pt x="6049499" y="4451399"/>
                </a:moveTo>
                <a:lnTo>
                  <a:pt x="0" y="4451399"/>
                </a:lnTo>
                <a:lnTo>
                  <a:pt x="0" y="0"/>
                </a:lnTo>
                <a:lnTo>
                  <a:pt x="6049499" y="0"/>
                </a:lnTo>
                <a:lnTo>
                  <a:pt x="6049499" y="4451399"/>
                </a:lnTo>
                <a:close/>
              </a:path>
            </a:pathLst>
          </a:custGeom>
          <a:solidFill>
            <a:srgbClr val="FCE4CD"/>
          </a:solidFill>
          <a:ln w="9525">
            <a:solidFill>
              <a:schemeClr val="tx1"/>
            </a:solidFill>
          </a:ln>
        </p:spPr>
        <p:txBody>
          <a:bodyPr wrap="square" lIns="0" tIns="0" rIns="0" bIns="0" rtlCol="0"/>
          <a:lstStyle/>
          <a:p>
            <a:pPr marL="82296" marR="5080">
              <a:lnSpc>
                <a:spcPct val="114000"/>
              </a:lnSpc>
              <a:spcBef>
                <a:spcPts val="400"/>
              </a:spcBef>
            </a:pPr>
            <a:r>
              <a:rPr lang="en-US" sz="2000" b="1" u="sng" spc="-10" dirty="0">
                <a:uFill>
                  <a:solidFill>
                    <a:srgbClr val="000000"/>
                  </a:solidFill>
                </a:uFill>
                <a:latin typeface="Arial"/>
                <a:cs typeface="Arial"/>
              </a:rPr>
              <a:t>Differences</a:t>
            </a:r>
            <a:endParaRPr lang="en-US" sz="2000" u="sng" dirty="0">
              <a:latin typeface="Arial"/>
              <a:cs typeface="Arial"/>
            </a:endParaRPr>
          </a:p>
          <a:p>
            <a:pPr marL="82296" marR="5080">
              <a:lnSpc>
                <a:spcPct val="114000"/>
              </a:lnSpc>
              <a:spcBef>
                <a:spcPts val="2000"/>
              </a:spcBef>
            </a:pPr>
            <a:r>
              <a:rPr lang="en-US" sz="1800" b="1" dirty="0">
                <a:latin typeface="Arial"/>
                <a:cs typeface="Arial"/>
              </a:rPr>
              <a:t>Resource</a:t>
            </a:r>
            <a:r>
              <a:rPr lang="en-US" sz="1800" b="1" spc="-30" dirty="0">
                <a:latin typeface="Arial"/>
                <a:cs typeface="Arial"/>
              </a:rPr>
              <a:t> </a:t>
            </a:r>
            <a:r>
              <a:rPr lang="en-US" sz="1800" b="1" dirty="0">
                <a:latin typeface="Arial"/>
                <a:cs typeface="Arial"/>
              </a:rPr>
              <a:t>Sharing:</a:t>
            </a:r>
            <a:r>
              <a:rPr lang="en-US" sz="1800" b="1" spc="-15" dirty="0">
                <a:latin typeface="Arial"/>
                <a:cs typeface="Arial"/>
              </a:rPr>
              <a:t> </a:t>
            </a:r>
            <a:r>
              <a:rPr lang="en-US" sz="1800" dirty="0">
                <a:latin typeface="Arial MT"/>
                <a:cs typeface="Arial MT"/>
              </a:rPr>
              <a:t>Threads</a:t>
            </a:r>
            <a:r>
              <a:rPr lang="en-US" sz="1800" spc="-20" dirty="0">
                <a:latin typeface="Arial MT"/>
                <a:cs typeface="Arial MT"/>
              </a:rPr>
              <a:t> </a:t>
            </a:r>
            <a:r>
              <a:rPr lang="en-US" sz="1800" dirty="0">
                <a:latin typeface="Arial MT"/>
                <a:cs typeface="Arial MT"/>
              </a:rPr>
              <a:t>within</a:t>
            </a:r>
            <a:r>
              <a:rPr lang="en-US" sz="1800" spc="-20" dirty="0">
                <a:latin typeface="Arial MT"/>
                <a:cs typeface="Arial MT"/>
              </a:rPr>
              <a:t> </a:t>
            </a:r>
            <a:r>
              <a:rPr lang="en-US" sz="1800" dirty="0">
                <a:latin typeface="Arial MT"/>
                <a:cs typeface="Arial MT"/>
              </a:rPr>
              <a:t>the</a:t>
            </a:r>
            <a:r>
              <a:rPr lang="en-US" sz="1800" spc="-20" dirty="0">
                <a:latin typeface="Arial MT"/>
                <a:cs typeface="Arial MT"/>
              </a:rPr>
              <a:t> </a:t>
            </a:r>
            <a:r>
              <a:rPr lang="en-US" sz="1800" dirty="0">
                <a:latin typeface="Arial MT"/>
                <a:cs typeface="Arial MT"/>
              </a:rPr>
              <a:t>same</a:t>
            </a:r>
            <a:r>
              <a:rPr lang="en-US" sz="1800" spc="-15" dirty="0">
                <a:latin typeface="Arial MT"/>
                <a:cs typeface="Arial MT"/>
              </a:rPr>
              <a:t> </a:t>
            </a:r>
            <a:r>
              <a:rPr lang="en-US" sz="1800" spc="-10" dirty="0">
                <a:latin typeface="Arial MT"/>
                <a:cs typeface="Arial MT"/>
              </a:rPr>
              <a:t>process </a:t>
            </a:r>
            <a:r>
              <a:rPr lang="en-US" sz="1800" dirty="0">
                <a:latin typeface="Arial MT"/>
                <a:cs typeface="Arial MT"/>
              </a:rPr>
              <a:t>share</a:t>
            </a:r>
            <a:r>
              <a:rPr lang="en-US" sz="1800" spc="-35" dirty="0">
                <a:latin typeface="Arial MT"/>
                <a:cs typeface="Arial MT"/>
              </a:rPr>
              <a:t> </a:t>
            </a:r>
            <a:r>
              <a:rPr lang="en-US" sz="1800" dirty="0">
                <a:latin typeface="Arial MT"/>
                <a:cs typeface="Arial MT"/>
              </a:rPr>
              <a:t>the</a:t>
            </a:r>
            <a:r>
              <a:rPr lang="en-US" sz="1800" spc="-20" dirty="0">
                <a:latin typeface="Arial MT"/>
                <a:cs typeface="Arial MT"/>
              </a:rPr>
              <a:t> </a:t>
            </a:r>
            <a:r>
              <a:rPr lang="en-US" sz="1800" dirty="0">
                <a:latin typeface="Arial MT"/>
                <a:cs typeface="Arial MT"/>
              </a:rPr>
              <a:t>same</a:t>
            </a:r>
            <a:r>
              <a:rPr lang="en-US" sz="1800" spc="-25" dirty="0">
                <a:latin typeface="Arial MT"/>
                <a:cs typeface="Arial MT"/>
              </a:rPr>
              <a:t> </a:t>
            </a:r>
            <a:r>
              <a:rPr lang="en-US" sz="1800" dirty="0">
                <a:latin typeface="Arial MT"/>
                <a:cs typeface="Arial MT"/>
              </a:rPr>
              <a:t>memory</a:t>
            </a:r>
            <a:r>
              <a:rPr lang="en-US" sz="1800" spc="-20" dirty="0">
                <a:latin typeface="Arial MT"/>
                <a:cs typeface="Arial MT"/>
              </a:rPr>
              <a:t> </a:t>
            </a:r>
            <a:r>
              <a:rPr lang="en-US" sz="1800" dirty="0">
                <a:latin typeface="Arial MT"/>
                <a:cs typeface="Arial MT"/>
              </a:rPr>
              <a:t>space</a:t>
            </a:r>
            <a:r>
              <a:rPr lang="en-US" sz="1800" spc="-25" dirty="0">
                <a:latin typeface="Arial MT"/>
                <a:cs typeface="Arial MT"/>
              </a:rPr>
              <a:t> </a:t>
            </a:r>
            <a:r>
              <a:rPr lang="en-US" sz="1800" dirty="0">
                <a:latin typeface="Arial MT"/>
                <a:cs typeface="Arial MT"/>
              </a:rPr>
              <a:t>and</a:t>
            </a:r>
            <a:r>
              <a:rPr lang="en-US" sz="1800" spc="-20" dirty="0">
                <a:latin typeface="Arial MT"/>
                <a:cs typeface="Arial MT"/>
              </a:rPr>
              <a:t> </a:t>
            </a:r>
            <a:r>
              <a:rPr lang="en-US" sz="1800" dirty="0">
                <a:latin typeface="Arial MT"/>
                <a:cs typeface="Arial MT"/>
              </a:rPr>
              <a:t>resources,</a:t>
            </a:r>
            <a:r>
              <a:rPr lang="en-US" sz="1800" spc="-20" dirty="0">
                <a:latin typeface="Arial MT"/>
                <a:cs typeface="Arial MT"/>
              </a:rPr>
              <a:t> </a:t>
            </a:r>
            <a:r>
              <a:rPr lang="en-US" sz="1800" spc="-10" dirty="0">
                <a:latin typeface="Arial MT"/>
                <a:cs typeface="Arial MT"/>
              </a:rPr>
              <a:t>while </a:t>
            </a:r>
            <a:r>
              <a:rPr lang="en-US" sz="1800" dirty="0">
                <a:latin typeface="Arial MT"/>
                <a:cs typeface="Arial MT"/>
              </a:rPr>
              <a:t>processes</a:t>
            </a:r>
            <a:r>
              <a:rPr lang="en-US" sz="1800" spc="-25" dirty="0">
                <a:latin typeface="Arial MT"/>
                <a:cs typeface="Arial MT"/>
              </a:rPr>
              <a:t> </a:t>
            </a:r>
            <a:r>
              <a:rPr lang="en-US" sz="1800" dirty="0">
                <a:latin typeface="Arial MT"/>
                <a:cs typeface="Arial MT"/>
              </a:rPr>
              <a:t>have</a:t>
            </a:r>
            <a:r>
              <a:rPr lang="en-US" sz="1800" spc="-15" dirty="0">
                <a:latin typeface="Arial MT"/>
                <a:cs typeface="Arial MT"/>
              </a:rPr>
              <a:t> </a:t>
            </a:r>
            <a:r>
              <a:rPr lang="en-US" sz="1800" dirty="0">
                <a:latin typeface="Arial MT"/>
                <a:cs typeface="Arial MT"/>
              </a:rPr>
              <a:t>separate</a:t>
            </a:r>
            <a:r>
              <a:rPr lang="en-US" sz="1800" spc="-15" dirty="0">
                <a:latin typeface="Arial MT"/>
                <a:cs typeface="Arial MT"/>
              </a:rPr>
              <a:t> </a:t>
            </a:r>
            <a:r>
              <a:rPr lang="en-US" sz="1800" dirty="0">
                <a:latin typeface="Arial MT"/>
                <a:cs typeface="Arial MT"/>
              </a:rPr>
              <a:t>memory</a:t>
            </a:r>
            <a:r>
              <a:rPr lang="en-US" sz="1800" spc="-15" dirty="0">
                <a:latin typeface="Arial MT"/>
                <a:cs typeface="Arial MT"/>
              </a:rPr>
              <a:t> </a:t>
            </a:r>
            <a:r>
              <a:rPr lang="en-US" sz="1800" dirty="0">
                <a:latin typeface="Arial MT"/>
                <a:cs typeface="Arial MT"/>
              </a:rPr>
              <a:t>spaces</a:t>
            </a:r>
            <a:r>
              <a:rPr lang="en-US" sz="1800" spc="-15" dirty="0">
                <a:latin typeface="Arial MT"/>
                <a:cs typeface="Arial MT"/>
              </a:rPr>
              <a:t> </a:t>
            </a:r>
            <a:r>
              <a:rPr lang="en-US" sz="1800" dirty="0">
                <a:latin typeface="Arial MT"/>
                <a:cs typeface="Arial MT"/>
              </a:rPr>
              <a:t>and</a:t>
            </a:r>
            <a:r>
              <a:rPr lang="en-US" sz="1800" spc="-15" dirty="0">
                <a:latin typeface="Arial MT"/>
                <a:cs typeface="Arial MT"/>
              </a:rPr>
              <a:t> </a:t>
            </a:r>
            <a:r>
              <a:rPr lang="en-US" sz="1800" spc="-10" dirty="0">
                <a:latin typeface="Arial MT"/>
                <a:cs typeface="Arial MT"/>
              </a:rPr>
              <a:t>resources.</a:t>
            </a:r>
            <a:endParaRPr lang="en-US" sz="1800" dirty="0">
              <a:latin typeface="Arial MT"/>
              <a:cs typeface="Arial MT"/>
            </a:endParaRPr>
          </a:p>
          <a:p>
            <a:pPr marL="82296" marR="246379">
              <a:lnSpc>
                <a:spcPct val="114000"/>
              </a:lnSpc>
              <a:spcBef>
                <a:spcPts val="1955"/>
              </a:spcBef>
            </a:pPr>
            <a:r>
              <a:rPr lang="en-US" sz="1800" b="1" dirty="0">
                <a:latin typeface="Arial"/>
                <a:cs typeface="Arial"/>
              </a:rPr>
              <a:t>Fault</a:t>
            </a:r>
            <a:r>
              <a:rPr lang="en-US" sz="1800" b="1" spc="-35" dirty="0">
                <a:latin typeface="Arial"/>
                <a:cs typeface="Arial"/>
              </a:rPr>
              <a:t> </a:t>
            </a:r>
            <a:r>
              <a:rPr lang="en-US" sz="1800" b="1" dirty="0">
                <a:latin typeface="Arial"/>
                <a:cs typeface="Arial"/>
              </a:rPr>
              <a:t>Isolation:</a:t>
            </a:r>
            <a:r>
              <a:rPr lang="en-US" sz="1800" b="1" spc="-25" dirty="0">
                <a:latin typeface="Arial"/>
                <a:cs typeface="Arial"/>
              </a:rPr>
              <a:t> </a:t>
            </a:r>
            <a:r>
              <a:rPr lang="en-US" sz="1800" dirty="0">
                <a:latin typeface="Arial MT"/>
                <a:cs typeface="Arial MT"/>
              </a:rPr>
              <a:t>If</a:t>
            </a:r>
            <a:r>
              <a:rPr lang="en-US" sz="1800" spc="-25" dirty="0">
                <a:latin typeface="Arial MT"/>
                <a:cs typeface="Arial MT"/>
              </a:rPr>
              <a:t> </a:t>
            </a:r>
            <a:r>
              <a:rPr lang="en-US" sz="1800" dirty="0">
                <a:latin typeface="Arial MT"/>
                <a:cs typeface="Arial MT"/>
              </a:rPr>
              <a:t>one</a:t>
            </a:r>
            <a:r>
              <a:rPr lang="en-US" sz="1800" spc="-25" dirty="0">
                <a:latin typeface="Arial MT"/>
                <a:cs typeface="Arial MT"/>
              </a:rPr>
              <a:t> </a:t>
            </a:r>
            <a:r>
              <a:rPr lang="en-US" sz="1800" dirty="0">
                <a:latin typeface="Arial MT"/>
                <a:cs typeface="Arial MT"/>
              </a:rPr>
              <a:t>thread</a:t>
            </a:r>
            <a:r>
              <a:rPr lang="en-US" sz="1800" spc="-25" dirty="0">
                <a:latin typeface="Arial MT"/>
                <a:cs typeface="Arial MT"/>
              </a:rPr>
              <a:t> </a:t>
            </a:r>
            <a:r>
              <a:rPr lang="en-US" sz="1800" dirty="0">
                <a:latin typeface="Arial MT"/>
                <a:cs typeface="Arial MT"/>
              </a:rPr>
              <a:t>in</a:t>
            </a:r>
            <a:r>
              <a:rPr lang="en-US" sz="1800" spc="-30" dirty="0">
                <a:latin typeface="Arial MT"/>
                <a:cs typeface="Arial MT"/>
              </a:rPr>
              <a:t> </a:t>
            </a:r>
            <a:r>
              <a:rPr lang="en-US" sz="1800" dirty="0">
                <a:latin typeface="Arial MT"/>
                <a:cs typeface="Arial MT"/>
              </a:rPr>
              <a:t>a</a:t>
            </a:r>
            <a:r>
              <a:rPr lang="en-US" sz="1800" spc="-25" dirty="0">
                <a:latin typeface="Arial MT"/>
                <a:cs typeface="Arial MT"/>
              </a:rPr>
              <a:t> </a:t>
            </a:r>
            <a:r>
              <a:rPr lang="en-US" sz="1800" dirty="0">
                <a:latin typeface="Arial MT"/>
                <a:cs typeface="Arial MT"/>
              </a:rPr>
              <a:t>process</a:t>
            </a:r>
            <a:r>
              <a:rPr lang="en-US" sz="1800" spc="-25" dirty="0">
                <a:latin typeface="Arial MT"/>
                <a:cs typeface="Arial MT"/>
              </a:rPr>
              <a:t> </a:t>
            </a:r>
            <a:r>
              <a:rPr lang="en-US" sz="1800" spc="-10" dirty="0">
                <a:latin typeface="Arial MT"/>
                <a:cs typeface="Arial MT"/>
              </a:rPr>
              <a:t>encounters </a:t>
            </a:r>
            <a:r>
              <a:rPr lang="en-US" sz="1800" dirty="0">
                <a:latin typeface="Arial MT"/>
                <a:cs typeface="Arial MT"/>
              </a:rPr>
              <a:t>an</a:t>
            </a:r>
            <a:r>
              <a:rPr lang="en-US" sz="1800" spc="-40" dirty="0">
                <a:latin typeface="Arial MT"/>
                <a:cs typeface="Arial MT"/>
              </a:rPr>
              <a:t> </a:t>
            </a:r>
            <a:r>
              <a:rPr lang="en-US" sz="1800" dirty="0">
                <a:latin typeface="Arial MT"/>
                <a:cs typeface="Arial MT"/>
              </a:rPr>
              <a:t>error,</a:t>
            </a:r>
            <a:r>
              <a:rPr lang="en-US" sz="1800" spc="-25" dirty="0">
                <a:latin typeface="Arial MT"/>
                <a:cs typeface="Arial MT"/>
              </a:rPr>
              <a:t> </a:t>
            </a:r>
            <a:r>
              <a:rPr lang="en-US" sz="1800" dirty="0">
                <a:latin typeface="Arial MT"/>
                <a:cs typeface="Arial MT"/>
              </a:rPr>
              <a:t>it</a:t>
            </a:r>
            <a:r>
              <a:rPr lang="en-US" sz="1800" spc="-30" dirty="0">
                <a:latin typeface="Arial MT"/>
                <a:cs typeface="Arial MT"/>
              </a:rPr>
              <a:t> </a:t>
            </a:r>
            <a:r>
              <a:rPr lang="en-US" sz="1800" dirty="0">
                <a:latin typeface="Arial MT"/>
                <a:cs typeface="Arial MT"/>
              </a:rPr>
              <a:t>can</a:t>
            </a:r>
            <a:r>
              <a:rPr lang="en-US" sz="1800" spc="-25" dirty="0">
                <a:latin typeface="Arial MT"/>
                <a:cs typeface="Arial MT"/>
              </a:rPr>
              <a:t> </a:t>
            </a:r>
            <a:r>
              <a:rPr lang="en-US" sz="1800" dirty="0">
                <a:latin typeface="Arial MT"/>
                <a:cs typeface="Arial MT"/>
              </a:rPr>
              <a:t>potentially</a:t>
            </a:r>
            <a:r>
              <a:rPr lang="en-US" sz="1800" spc="-25" dirty="0">
                <a:latin typeface="Arial MT"/>
                <a:cs typeface="Arial MT"/>
              </a:rPr>
              <a:t> </a:t>
            </a:r>
            <a:r>
              <a:rPr lang="en-US" sz="1800" dirty="0">
                <a:latin typeface="Arial MT"/>
                <a:cs typeface="Arial MT"/>
              </a:rPr>
              <a:t>affect</a:t>
            </a:r>
            <a:r>
              <a:rPr lang="en-US" sz="1800" spc="-30" dirty="0">
                <a:latin typeface="Arial MT"/>
                <a:cs typeface="Arial MT"/>
              </a:rPr>
              <a:t> </a:t>
            </a:r>
            <a:r>
              <a:rPr lang="en-US" sz="1800" dirty="0">
                <a:latin typeface="Arial MT"/>
                <a:cs typeface="Arial MT"/>
              </a:rPr>
              <a:t>other</a:t>
            </a:r>
            <a:r>
              <a:rPr lang="en-US" sz="1800" spc="-25" dirty="0">
                <a:latin typeface="Arial MT"/>
                <a:cs typeface="Arial MT"/>
              </a:rPr>
              <a:t> </a:t>
            </a:r>
            <a:r>
              <a:rPr lang="en-US" sz="1800" dirty="0">
                <a:latin typeface="Arial MT"/>
                <a:cs typeface="Arial MT"/>
              </a:rPr>
              <a:t>threads</a:t>
            </a:r>
            <a:r>
              <a:rPr lang="en-US" sz="1800" spc="-25" dirty="0">
                <a:latin typeface="Arial MT"/>
                <a:cs typeface="Arial MT"/>
              </a:rPr>
              <a:t> </a:t>
            </a:r>
            <a:r>
              <a:rPr lang="en-US" sz="1800" spc="-10" dirty="0">
                <a:latin typeface="Arial MT"/>
                <a:cs typeface="Arial MT"/>
              </a:rPr>
              <a:t>within </a:t>
            </a:r>
            <a:r>
              <a:rPr lang="en-US" sz="1800" dirty="0">
                <a:latin typeface="Arial MT"/>
                <a:cs typeface="Arial MT"/>
              </a:rPr>
              <a:t>the</a:t>
            </a:r>
            <a:r>
              <a:rPr lang="en-US" sz="1800" spc="-40" dirty="0">
                <a:latin typeface="Arial MT"/>
                <a:cs typeface="Arial MT"/>
              </a:rPr>
              <a:t> </a:t>
            </a:r>
            <a:r>
              <a:rPr lang="en-US" sz="1800" dirty="0">
                <a:latin typeface="Arial MT"/>
                <a:cs typeface="Arial MT"/>
              </a:rPr>
              <a:t>same</a:t>
            </a:r>
            <a:r>
              <a:rPr lang="en-US" sz="1800" spc="-30" dirty="0">
                <a:latin typeface="Arial MT"/>
                <a:cs typeface="Arial MT"/>
              </a:rPr>
              <a:t> </a:t>
            </a:r>
            <a:r>
              <a:rPr lang="en-US" sz="1800" dirty="0">
                <a:latin typeface="Arial MT"/>
                <a:cs typeface="Arial MT"/>
              </a:rPr>
              <a:t>process.</a:t>
            </a:r>
            <a:r>
              <a:rPr lang="en-US" sz="1800" spc="-30" dirty="0">
                <a:latin typeface="Arial MT"/>
                <a:cs typeface="Arial MT"/>
              </a:rPr>
              <a:t> </a:t>
            </a:r>
            <a:r>
              <a:rPr lang="en-US" sz="1800" dirty="0">
                <a:latin typeface="Arial MT"/>
                <a:cs typeface="Arial MT"/>
              </a:rPr>
              <a:t>However,</a:t>
            </a:r>
            <a:r>
              <a:rPr lang="en-US" sz="1800" spc="-30" dirty="0">
                <a:latin typeface="Arial MT"/>
                <a:cs typeface="Arial MT"/>
              </a:rPr>
              <a:t> </a:t>
            </a:r>
            <a:r>
              <a:rPr lang="en-US" sz="1800" dirty="0">
                <a:latin typeface="Arial MT"/>
                <a:cs typeface="Arial MT"/>
              </a:rPr>
              <a:t>if</a:t>
            </a:r>
            <a:r>
              <a:rPr lang="en-US" sz="1800" spc="-30" dirty="0">
                <a:latin typeface="Arial MT"/>
                <a:cs typeface="Arial MT"/>
              </a:rPr>
              <a:t> </a:t>
            </a:r>
            <a:r>
              <a:rPr lang="en-US" sz="1800" dirty="0">
                <a:latin typeface="Arial MT"/>
                <a:cs typeface="Arial MT"/>
              </a:rPr>
              <a:t>one</a:t>
            </a:r>
            <a:r>
              <a:rPr lang="en-US" sz="1800" spc="-30" dirty="0">
                <a:latin typeface="Arial MT"/>
                <a:cs typeface="Arial MT"/>
              </a:rPr>
              <a:t> </a:t>
            </a:r>
            <a:r>
              <a:rPr lang="en-US" sz="1800" dirty="0">
                <a:latin typeface="Arial MT"/>
                <a:cs typeface="Arial MT"/>
              </a:rPr>
              <a:t>process</a:t>
            </a:r>
            <a:r>
              <a:rPr lang="en-US" sz="1800" spc="-30" dirty="0">
                <a:latin typeface="Arial MT"/>
                <a:cs typeface="Arial MT"/>
              </a:rPr>
              <a:t> </a:t>
            </a:r>
            <a:r>
              <a:rPr lang="en-US" sz="1800" spc="-10" dirty="0">
                <a:latin typeface="Arial MT"/>
                <a:cs typeface="Arial MT"/>
              </a:rPr>
              <a:t>encounters </a:t>
            </a:r>
            <a:r>
              <a:rPr lang="en-US" sz="1800" dirty="0">
                <a:latin typeface="Arial MT"/>
                <a:cs typeface="Arial MT"/>
              </a:rPr>
              <a:t>an</a:t>
            </a:r>
            <a:r>
              <a:rPr lang="en-US" sz="1800" spc="-40" dirty="0">
                <a:latin typeface="Arial MT"/>
                <a:cs typeface="Arial MT"/>
              </a:rPr>
              <a:t> </a:t>
            </a:r>
            <a:r>
              <a:rPr lang="en-US" sz="1800" dirty="0">
                <a:latin typeface="Arial MT"/>
                <a:cs typeface="Arial MT"/>
              </a:rPr>
              <a:t>error,</a:t>
            </a:r>
            <a:r>
              <a:rPr lang="en-US" sz="1800" spc="-25" dirty="0">
                <a:latin typeface="Arial MT"/>
                <a:cs typeface="Arial MT"/>
              </a:rPr>
              <a:t> </a:t>
            </a:r>
            <a:r>
              <a:rPr lang="en-US" sz="1800" dirty="0">
                <a:latin typeface="Arial MT"/>
                <a:cs typeface="Arial MT"/>
              </a:rPr>
              <a:t>it</a:t>
            </a:r>
            <a:r>
              <a:rPr lang="en-US" sz="1800" spc="-30" dirty="0">
                <a:latin typeface="Arial MT"/>
                <a:cs typeface="Arial MT"/>
              </a:rPr>
              <a:t> </a:t>
            </a:r>
            <a:r>
              <a:rPr lang="en-US" sz="1800" dirty="0">
                <a:latin typeface="Arial MT"/>
                <a:cs typeface="Arial MT"/>
              </a:rPr>
              <a:t>typically</a:t>
            </a:r>
            <a:r>
              <a:rPr lang="en-US" sz="1800" spc="-25" dirty="0">
                <a:latin typeface="Arial MT"/>
                <a:cs typeface="Arial MT"/>
              </a:rPr>
              <a:t> </a:t>
            </a:r>
            <a:r>
              <a:rPr lang="en-US" sz="1800" dirty="0">
                <a:latin typeface="Arial MT"/>
                <a:cs typeface="Arial MT"/>
              </a:rPr>
              <a:t>does</a:t>
            </a:r>
            <a:r>
              <a:rPr lang="en-US" sz="1800" spc="-25" dirty="0">
                <a:latin typeface="Arial MT"/>
                <a:cs typeface="Arial MT"/>
              </a:rPr>
              <a:t> </a:t>
            </a:r>
            <a:r>
              <a:rPr lang="en-US" sz="1800" dirty="0">
                <a:latin typeface="Arial MT"/>
                <a:cs typeface="Arial MT"/>
              </a:rPr>
              <a:t>not</a:t>
            </a:r>
            <a:r>
              <a:rPr lang="en-US" sz="1800" spc="-30" dirty="0">
                <a:latin typeface="Arial MT"/>
                <a:cs typeface="Arial MT"/>
              </a:rPr>
              <a:t> </a:t>
            </a:r>
            <a:r>
              <a:rPr lang="en-US" sz="1800" dirty="0">
                <a:latin typeface="Arial MT"/>
                <a:cs typeface="Arial MT"/>
              </a:rPr>
              <a:t>affect</a:t>
            </a:r>
            <a:r>
              <a:rPr lang="en-US" sz="1800" spc="-25" dirty="0">
                <a:latin typeface="Arial MT"/>
                <a:cs typeface="Arial MT"/>
              </a:rPr>
              <a:t> </a:t>
            </a:r>
            <a:r>
              <a:rPr lang="en-US" sz="1800" dirty="0">
                <a:latin typeface="Arial MT"/>
                <a:cs typeface="Arial MT"/>
              </a:rPr>
              <a:t>other</a:t>
            </a:r>
            <a:r>
              <a:rPr lang="en-US" sz="1800" spc="-25" dirty="0">
                <a:latin typeface="Arial MT"/>
                <a:cs typeface="Arial MT"/>
              </a:rPr>
              <a:t> </a:t>
            </a:r>
            <a:r>
              <a:rPr lang="en-US" sz="1800" spc="-10" dirty="0">
                <a:latin typeface="Arial MT"/>
                <a:cs typeface="Arial MT"/>
              </a:rPr>
              <a:t>processes </a:t>
            </a:r>
            <a:r>
              <a:rPr lang="en-US" sz="1800" dirty="0">
                <a:latin typeface="Arial MT"/>
                <a:cs typeface="Arial MT"/>
              </a:rPr>
              <a:t>because</a:t>
            </a:r>
            <a:r>
              <a:rPr lang="en-US" sz="1800" spc="-30" dirty="0">
                <a:latin typeface="Arial MT"/>
                <a:cs typeface="Arial MT"/>
              </a:rPr>
              <a:t> </a:t>
            </a:r>
            <a:r>
              <a:rPr lang="en-US" sz="1800" dirty="0">
                <a:latin typeface="Arial MT"/>
                <a:cs typeface="Arial MT"/>
              </a:rPr>
              <a:t>they</a:t>
            </a:r>
            <a:r>
              <a:rPr lang="en-US" sz="1800" spc="-20" dirty="0">
                <a:latin typeface="Arial MT"/>
                <a:cs typeface="Arial MT"/>
              </a:rPr>
              <a:t> </a:t>
            </a:r>
            <a:r>
              <a:rPr lang="en-US" sz="1800" dirty="0">
                <a:latin typeface="Arial MT"/>
                <a:cs typeface="Arial MT"/>
              </a:rPr>
              <a:t>are</a:t>
            </a:r>
            <a:r>
              <a:rPr lang="en-US" sz="1800" spc="-20" dirty="0">
                <a:latin typeface="Arial MT"/>
                <a:cs typeface="Arial MT"/>
              </a:rPr>
              <a:t> </a:t>
            </a:r>
            <a:r>
              <a:rPr lang="en-US" sz="1800" dirty="0">
                <a:latin typeface="Arial MT"/>
                <a:cs typeface="Arial MT"/>
              </a:rPr>
              <a:t>isolated</a:t>
            </a:r>
            <a:r>
              <a:rPr lang="en-US" sz="1800" spc="-20" dirty="0">
                <a:latin typeface="Arial MT"/>
                <a:cs typeface="Arial MT"/>
              </a:rPr>
              <a:t> </a:t>
            </a:r>
            <a:r>
              <a:rPr lang="en-US" sz="1800" dirty="0">
                <a:latin typeface="Arial MT"/>
                <a:cs typeface="Arial MT"/>
              </a:rPr>
              <a:t>from</a:t>
            </a:r>
            <a:r>
              <a:rPr lang="en-US" sz="1800" spc="-20" dirty="0">
                <a:latin typeface="Arial MT"/>
                <a:cs typeface="Arial MT"/>
              </a:rPr>
              <a:t> </a:t>
            </a:r>
            <a:r>
              <a:rPr lang="en-US" sz="1800" dirty="0">
                <a:latin typeface="Arial MT"/>
                <a:cs typeface="Arial MT"/>
              </a:rPr>
              <a:t>each</a:t>
            </a:r>
            <a:r>
              <a:rPr lang="en-US" sz="1800" spc="-20" dirty="0">
                <a:latin typeface="Arial MT"/>
                <a:cs typeface="Arial MT"/>
              </a:rPr>
              <a:t> </a:t>
            </a:r>
            <a:r>
              <a:rPr lang="en-US" sz="1800" spc="-10" dirty="0">
                <a:latin typeface="Arial MT"/>
                <a:cs typeface="Arial MT"/>
              </a:rPr>
              <a:t>other.</a:t>
            </a:r>
            <a:endParaRPr lang="en-US" sz="1800" dirty="0">
              <a:latin typeface="Arial MT"/>
              <a:cs typeface="Arial MT"/>
            </a:endParaRPr>
          </a:p>
          <a:p>
            <a:pPr marL="82296" marR="288290">
              <a:lnSpc>
                <a:spcPct val="114000"/>
              </a:lnSpc>
              <a:spcBef>
                <a:spcPts val="1964"/>
              </a:spcBef>
            </a:pPr>
            <a:r>
              <a:rPr lang="en-US" sz="1800" b="1" dirty="0">
                <a:latin typeface="Arial"/>
                <a:cs typeface="Arial"/>
              </a:rPr>
              <a:t>Context</a:t>
            </a:r>
            <a:r>
              <a:rPr lang="en-US" sz="1800" b="1" spc="-60" dirty="0">
                <a:latin typeface="Arial"/>
                <a:cs typeface="Arial"/>
              </a:rPr>
              <a:t> </a:t>
            </a:r>
            <a:r>
              <a:rPr lang="en-US" sz="1800" b="1" dirty="0">
                <a:latin typeface="Arial"/>
                <a:cs typeface="Arial"/>
              </a:rPr>
              <a:t>Switching:</a:t>
            </a:r>
            <a:r>
              <a:rPr lang="en-US" sz="1800" b="1" spc="-50" dirty="0">
                <a:latin typeface="Arial"/>
                <a:cs typeface="Arial"/>
              </a:rPr>
              <a:t> </a:t>
            </a:r>
            <a:r>
              <a:rPr lang="en-US" sz="1800" dirty="0">
                <a:latin typeface="Arial MT"/>
                <a:cs typeface="Arial MT"/>
              </a:rPr>
              <a:t>Switching</a:t>
            </a:r>
            <a:r>
              <a:rPr lang="en-US" sz="1800" spc="-50" dirty="0">
                <a:latin typeface="Arial MT"/>
                <a:cs typeface="Arial MT"/>
              </a:rPr>
              <a:t> </a:t>
            </a:r>
            <a:r>
              <a:rPr lang="en-US" sz="1800" dirty="0">
                <a:latin typeface="Arial MT"/>
                <a:cs typeface="Arial MT"/>
              </a:rPr>
              <a:t>between</a:t>
            </a:r>
            <a:r>
              <a:rPr lang="en-US" sz="1800" spc="-50" dirty="0">
                <a:latin typeface="Arial MT"/>
                <a:cs typeface="Arial MT"/>
              </a:rPr>
              <a:t> </a:t>
            </a:r>
            <a:r>
              <a:rPr lang="en-US" sz="1800" dirty="0">
                <a:latin typeface="Arial MT"/>
                <a:cs typeface="Arial MT"/>
              </a:rPr>
              <a:t>threads</a:t>
            </a:r>
            <a:r>
              <a:rPr lang="en-US" sz="1800" spc="-50" dirty="0">
                <a:latin typeface="Arial MT"/>
                <a:cs typeface="Arial MT"/>
              </a:rPr>
              <a:t> </a:t>
            </a:r>
            <a:r>
              <a:rPr lang="en-US" sz="1800" spc="-10" dirty="0">
                <a:latin typeface="Arial MT"/>
                <a:cs typeface="Arial MT"/>
              </a:rPr>
              <a:t>within </a:t>
            </a:r>
            <a:r>
              <a:rPr lang="en-US" sz="1800" dirty="0">
                <a:latin typeface="Arial MT"/>
                <a:cs typeface="Arial MT"/>
              </a:rPr>
              <a:t>the</a:t>
            </a:r>
            <a:r>
              <a:rPr lang="en-US" sz="1800" spc="-25" dirty="0">
                <a:latin typeface="Arial MT"/>
                <a:cs typeface="Arial MT"/>
              </a:rPr>
              <a:t> </a:t>
            </a:r>
            <a:r>
              <a:rPr lang="en-US" sz="1800" dirty="0">
                <a:latin typeface="Arial MT"/>
                <a:cs typeface="Arial MT"/>
              </a:rPr>
              <a:t>same</a:t>
            </a:r>
            <a:r>
              <a:rPr lang="en-US" sz="1800" spc="-10" dirty="0">
                <a:latin typeface="Arial MT"/>
                <a:cs typeface="Arial MT"/>
              </a:rPr>
              <a:t> </a:t>
            </a:r>
            <a:r>
              <a:rPr lang="en-US" sz="1800" dirty="0">
                <a:latin typeface="Arial MT"/>
                <a:cs typeface="Arial MT"/>
              </a:rPr>
              <a:t>process</a:t>
            </a:r>
            <a:r>
              <a:rPr lang="en-US" sz="1800" spc="-10" dirty="0">
                <a:latin typeface="Arial MT"/>
                <a:cs typeface="Arial MT"/>
              </a:rPr>
              <a:t> </a:t>
            </a:r>
            <a:r>
              <a:rPr lang="en-US" sz="1800" dirty="0">
                <a:latin typeface="Arial MT"/>
                <a:cs typeface="Arial MT"/>
              </a:rPr>
              <a:t>is</a:t>
            </a:r>
            <a:r>
              <a:rPr lang="en-US" sz="1800" spc="-10" dirty="0">
                <a:latin typeface="Arial MT"/>
                <a:cs typeface="Arial MT"/>
              </a:rPr>
              <a:t> </a:t>
            </a:r>
            <a:r>
              <a:rPr lang="en-US" sz="1800" dirty="0">
                <a:latin typeface="Arial MT"/>
                <a:cs typeface="Arial MT"/>
              </a:rPr>
              <a:t>typically</a:t>
            </a:r>
            <a:r>
              <a:rPr lang="en-US" sz="1800" spc="-10" dirty="0">
                <a:latin typeface="Arial MT"/>
                <a:cs typeface="Arial MT"/>
              </a:rPr>
              <a:t> </a:t>
            </a:r>
            <a:r>
              <a:rPr lang="en-US" sz="1800" dirty="0">
                <a:latin typeface="Arial MT"/>
                <a:cs typeface="Arial MT"/>
              </a:rPr>
              <a:t>faster</a:t>
            </a:r>
            <a:r>
              <a:rPr lang="en-US" sz="1800" spc="-10" dirty="0">
                <a:latin typeface="Arial MT"/>
                <a:cs typeface="Arial MT"/>
              </a:rPr>
              <a:t> </a:t>
            </a:r>
            <a:r>
              <a:rPr lang="en-US" sz="1800" dirty="0">
                <a:latin typeface="Arial MT"/>
                <a:cs typeface="Arial MT"/>
              </a:rPr>
              <a:t>than</a:t>
            </a:r>
            <a:r>
              <a:rPr lang="en-US" sz="1800" spc="-10" dirty="0">
                <a:latin typeface="Arial MT"/>
                <a:cs typeface="Arial MT"/>
              </a:rPr>
              <a:t> switching </a:t>
            </a:r>
            <a:r>
              <a:rPr lang="en-US" sz="1800" dirty="0">
                <a:latin typeface="Arial MT"/>
                <a:cs typeface="Arial MT"/>
              </a:rPr>
              <a:t>between</a:t>
            </a:r>
            <a:r>
              <a:rPr lang="en-US" sz="1800" spc="-35" dirty="0">
                <a:latin typeface="Arial MT"/>
                <a:cs typeface="Arial MT"/>
              </a:rPr>
              <a:t> </a:t>
            </a:r>
            <a:r>
              <a:rPr lang="en-US" sz="1800" dirty="0">
                <a:latin typeface="Arial MT"/>
                <a:cs typeface="Arial MT"/>
              </a:rPr>
              <a:t>processes.</a:t>
            </a:r>
            <a:r>
              <a:rPr lang="en-US" sz="1800" spc="-55" dirty="0">
                <a:latin typeface="Arial MT"/>
                <a:cs typeface="Arial MT"/>
              </a:rPr>
              <a:t> </a:t>
            </a:r>
            <a:r>
              <a:rPr lang="en-US" sz="1800" dirty="0">
                <a:latin typeface="Arial MT"/>
                <a:cs typeface="Arial MT"/>
              </a:rPr>
              <a:t>This</a:t>
            </a:r>
            <a:r>
              <a:rPr lang="en-US" sz="1800" spc="-25" dirty="0">
                <a:latin typeface="Arial MT"/>
                <a:cs typeface="Arial MT"/>
              </a:rPr>
              <a:t> </a:t>
            </a:r>
            <a:r>
              <a:rPr lang="en-US" sz="1800" dirty="0">
                <a:latin typeface="Arial MT"/>
                <a:cs typeface="Arial MT"/>
              </a:rPr>
              <a:t>is</a:t>
            </a:r>
            <a:r>
              <a:rPr lang="en-US" sz="1800" spc="-25" dirty="0">
                <a:latin typeface="Arial MT"/>
                <a:cs typeface="Arial MT"/>
              </a:rPr>
              <a:t> </a:t>
            </a:r>
            <a:r>
              <a:rPr lang="en-US" sz="1800" dirty="0">
                <a:latin typeface="Arial MT"/>
                <a:cs typeface="Arial MT"/>
              </a:rPr>
              <a:t>because</a:t>
            </a:r>
            <a:r>
              <a:rPr lang="en-US" sz="1800" spc="-20" dirty="0">
                <a:latin typeface="Arial MT"/>
                <a:cs typeface="Arial MT"/>
              </a:rPr>
              <a:t> </a:t>
            </a:r>
            <a:r>
              <a:rPr lang="en-US" sz="1800" dirty="0">
                <a:latin typeface="Arial MT"/>
                <a:cs typeface="Arial MT"/>
              </a:rPr>
              <a:t>threads</a:t>
            </a:r>
            <a:r>
              <a:rPr lang="en-US" sz="1800" spc="-25" dirty="0">
                <a:latin typeface="Arial MT"/>
                <a:cs typeface="Arial MT"/>
              </a:rPr>
              <a:t> </a:t>
            </a:r>
            <a:r>
              <a:rPr lang="en-US" sz="1800" dirty="0">
                <a:latin typeface="Arial MT"/>
                <a:cs typeface="Arial MT"/>
              </a:rPr>
              <a:t>share</a:t>
            </a:r>
            <a:r>
              <a:rPr lang="en-US" sz="1800" spc="-20" dirty="0">
                <a:latin typeface="Arial MT"/>
                <a:cs typeface="Arial MT"/>
              </a:rPr>
              <a:t> </a:t>
            </a:r>
            <a:r>
              <a:rPr lang="en-US" sz="1800" spc="-25" dirty="0">
                <a:latin typeface="Arial MT"/>
                <a:cs typeface="Arial MT"/>
              </a:rPr>
              <a:t>the </a:t>
            </a:r>
            <a:r>
              <a:rPr lang="en-US" sz="1800" dirty="0">
                <a:latin typeface="Arial MT"/>
                <a:cs typeface="Arial MT"/>
              </a:rPr>
              <a:t>same</a:t>
            </a:r>
            <a:r>
              <a:rPr lang="en-US" sz="1800" spc="-30" dirty="0">
                <a:latin typeface="Arial MT"/>
                <a:cs typeface="Arial MT"/>
              </a:rPr>
              <a:t> </a:t>
            </a:r>
            <a:r>
              <a:rPr lang="en-US" sz="1800" dirty="0">
                <a:latin typeface="Arial MT"/>
                <a:cs typeface="Arial MT"/>
              </a:rPr>
              <a:t>memory</a:t>
            </a:r>
            <a:r>
              <a:rPr lang="en-US" sz="1800" spc="-20" dirty="0">
                <a:latin typeface="Arial MT"/>
                <a:cs typeface="Arial MT"/>
              </a:rPr>
              <a:t> </a:t>
            </a:r>
            <a:r>
              <a:rPr lang="en-US" sz="1800" dirty="0">
                <a:latin typeface="Arial MT"/>
                <a:cs typeface="Arial MT"/>
              </a:rPr>
              <a:t>space,</a:t>
            </a:r>
            <a:r>
              <a:rPr lang="en-US" sz="1800" spc="-20" dirty="0">
                <a:latin typeface="Arial MT"/>
                <a:cs typeface="Arial MT"/>
              </a:rPr>
              <a:t> </a:t>
            </a:r>
            <a:r>
              <a:rPr lang="en-US" sz="1800" dirty="0">
                <a:latin typeface="Arial MT"/>
                <a:cs typeface="Arial MT"/>
              </a:rPr>
              <a:t>so</a:t>
            </a:r>
            <a:r>
              <a:rPr lang="en-US" sz="1800" spc="-20" dirty="0">
                <a:latin typeface="Arial MT"/>
                <a:cs typeface="Arial MT"/>
              </a:rPr>
              <a:t> </a:t>
            </a:r>
            <a:r>
              <a:rPr lang="en-US" sz="1800" dirty="0">
                <a:latin typeface="Arial MT"/>
                <a:cs typeface="Arial MT"/>
              </a:rPr>
              <a:t>less</a:t>
            </a:r>
            <a:r>
              <a:rPr lang="en-US" sz="1800" spc="-20" dirty="0">
                <a:latin typeface="Arial MT"/>
                <a:cs typeface="Arial MT"/>
              </a:rPr>
              <a:t> </a:t>
            </a:r>
            <a:r>
              <a:rPr lang="en-US" sz="1800" dirty="0">
                <a:latin typeface="Arial MT"/>
                <a:cs typeface="Arial MT"/>
              </a:rPr>
              <a:t>overhead</a:t>
            </a:r>
            <a:r>
              <a:rPr lang="en-US" sz="1800" spc="-20" dirty="0">
                <a:latin typeface="Arial MT"/>
                <a:cs typeface="Arial MT"/>
              </a:rPr>
              <a:t> </a:t>
            </a:r>
            <a:r>
              <a:rPr lang="en-US" sz="1800" dirty="0">
                <a:latin typeface="Arial MT"/>
                <a:cs typeface="Arial MT"/>
              </a:rPr>
              <a:t>is</a:t>
            </a:r>
            <a:r>
              <a:rPr lang="en-US" sz="1800" spc="-20" dirty="0">
                <a:latin typeface="Arial MT"/>
                <a:cs typeface="Arial MT"/>
              </a:rPr>
              <a:t> </a:t>
            </a:r>
            <a:r>
              <a:rPr lang="en-US" sz="1800" dirty="0">
                <a:latin typeface="Arial MT"/>
                <a:cs typeface="Arial MT"/>
              </a:rPr>
              <a:t>required</a:t>
            </a:r>
            <a:r>
              <a:rPr lang="en-US" sz="1800" spc="-15" dirty="0">
                <a:latin typeface="Arial MT"/>
                <a:cs typeface="Arial MT"/>
              </a:rPr>
              <a:t> </a:t>
            </a:r>
            <a:r>
              <a:rPr lang="en-US" sz="1800" spc="-25" dirty="0">
                <a:latin typeface="Arial MT"/>
                <a:cs typeface="Arial MT"/>
              </a:rPr>
              <a:t>to </a:t>
            </a:r>
            <a:r>
              <a:rPr lang="en-US" sz="1800" dirty="0">
                <a:latin typeface="Arial MT"/>
                <a:cs typeface="Arial MT"/>
              </a:rPr>
              <a:t>switch</a:t>
            </a:r>
            <a:r>
              <a:rPr lang="en-US" sz="1800" spc="-45" dirty="0">
                <a:latin typeface="Arial MT"/>
                <a:cs typeface="Arial MT"/>
              </a:rPr>
              <a:t> </a:t>
            </a:r>
            <a:r>
              <a:rPr lang="en-US" sz="1800" dirty="0">
                <a:latin typeface="Arial MT"/>
                <a:cs typeface="Arial MT"/>
              </a:rPr>
              <a:t>between</a:t>
            </a:r>
            <a:r>
              <a:rPr lang="en-US" sz="1800" spc="-30" dirty="0">
                <a:latin typeface="Arial MT"/>
                <a:cs typeface="Arial MT"/>
              </a:rPr>
              <a:t> </a:t>
            </a:r>
            <a:r>
              <a:rPr lang="en-US" sz="1800" spc="-10" dirty="0">
                <a:latin typeface="Arial MT"/>
                <a:cs typeface="Arial MT"/>
              </a:rPr>
              <a:t>them.</a:t>
            </a:r>
            <a:endParaRPr lang="en-US" sz="1800" dirty="0">
              <a:latin typeface="Arial MT"/>
              <a:cs typeface="Arial MT"/>
            </a:endParaRPr>
          </a:p>
          <a:p>
            <a:pPr>
              <a:lnSpc>
                <a:spcPct val="114000"/>
              </a:lnSpc>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066800"/>
            <a:ext cx="4193540" cy="406400"/>
          </a:xfrm>
          <a:prstGeom prst="rect">
            <a:avLst/>
          </a:prstGeom>
        </p:spPr>
        <p:txBody>
          <a:bodyPr vert="horz" wrap="square" lIns="0" tIns="12700" rIns="0" bIns="0" rtlCol="0">
            <a:spAutoFit/>
          </a:bodyPr>
          <a:lstStyle/>
          <a:p>
            <a:pPr marL="12700">
              <a:lnSpc>
                <a:spcPct val="100000"/>
              </a:lnSpc>
              <a:spcBef>
                <a:spcPts val="100"/>
              </a:spcBef>
            </a:pPr>
            <a:r>
              <a:rPr spc="-25" dirty="0"/>
              <a:t>Multi-</a:t>
            </a:r>
            <a:r>
              <a:rPr dirty="0"/>
              <a:t>threaded</a:t>
            </a:r>
            <a:r>
              <a:rPr spc="-90" dirty="0"/>
              <a:t> </a:t>
            </a:r>
            <a:r>
              <a:rPr spc="-10" dirty="0"/>
              <a:t>Programming</a:t>
            </a:r>
          </a:p>
        </p:txBody>
      </p:sp>
      <p:sp>
        <p:nvSpPr>
          <p:cNvPr id="3" name="object 3"/>
          <p:cNvSpPr txBox="1"/>
          <p:nvPr/>
        </p:nvSpPr>
        <p:spPr>
          <a:xfrm>
            <a:off x="410375" y="1447800"/>
            <a:ext cx="5190490" cy="276999"/>
          </a:xfrm>
          <a:prstGeom prst="rect">
            <a:avLst/>
          </a:prstGeom>
        </p:spPr>
        <p:txBody>
          <a:bodyPr vert="horz" wrap="square" lIns="0" tIns="0" rIns="0" bIns="0" rtlCol="0">
            <a:spAutoFit/>
          </a:bodyPr>
          <a:lstStyle/>
          <a:p>
            <a:pPr marL="12700">
              <a:lnSpc>
                <a:spcPct val="100000"/>
              </a:lnSpc>
              <a:spcBef>
                <a:spcPts val="1155"/>
              </a:spcBef>
            </a:pPr>
            <a:r>
              <a:rPr sz="1800" dirty="0">
                <a:solidFill>
                  <a:srgbClr val="0F2044"/>
                </a:solidFill>
                <a:latin typeface="Georgia"/>
                <a:cs typeface="Georgia"/>
              </a:rPr>
              <a:t>The</a:t>
            </a:r>
            <a:r>
              <a:rPr sz="1800" spc="-45" dirty="0">
                <a:solidFill>
                  <a:srgbClr val="0F2044"/>
                </a:solidFill>
                <a:latin typeface="Georgia"/>
                <a:cs typeface="Georgia"/>
              </a:rPr>
              <a:t> </a:t>
            </a:r>
            <a:r>
              <a:rPr sz="1800" dirty="0">
                <a:solidFill>
                  <a:srgbClr val="0F2044"/>
                </a:solidFill>
                <a:latin typeface="Georgia"/>
                <a:cs typeface="Georgia"/>
              </a:rPr>
              <a:t>Value</a:t>
            </a:r>
            <a:r>
              <a:rPr sz="1800" spc="-40" dirty="0">
                <a:solidFill>
                  <a:srgbClr val="0F2044"/>
                </a:solidFill>
                <a:latin typeface="Georgia"/>
                <a:cs typeface="Georgia"/>
              </a:rPr>
              <a:t> </a:t>
            </a:r>
            <a:r>
              <a:rPr sz="1800" dirty="0">
                <a:solidFill>
                  <a:srgbClr val="0F2044"/>
                </a:solidFill>
                <a:latin typeface="Georgia"/>
                <a:cs typeface="Georgia"/>
              </a:rPr>
              <a:t>of</a:t>
            </a:r>
            <a:r>
              <a:rPr sz="1800" spc="-40" dirty="0">
                <a:solidFill>
                  <a:srgbClr val="0F2044"/>
                </a:solidFill>
                <a:latin typeface="Georgia"/>
                <a:cs typeface="Georgia"/>
              </a:rPr>
              <a:t> </a:t>
            </a:r>
            <a:r>
              <a:rPr sz="1800" dirty="0">
                <a:solidFill>
                  <a:srgbClr val="0F2044"/>
                </a:solidFill>
                <a:latin typeface="Georgia"/>
                <a:cs typeface="Georgia"/>
              </a:rPr>
              <a:t>Using</a:t>
            </a:r>
            <a:r>
              <a:rPr sz="1800" spc="-45" dirty="0">
                <a:solidFill>
                  <a:srgbClr val="0F2044"/>
                </a:solidFill>
                <a:latin typeface="Georgia"/>
                <a:cs typeface="Georgia"/>
              </a:rPr>
              <a:t> </a:t>
            </a:r>
            <a:r>
              <a:rPr sz="1800" spc="-10" dirty="0">
                <a:solidFill>
                  <a:srgbClr val="0F2044"/>
                </a:solidFill>
                <a:latin typeface="Georgia"/>
                <a:cs typeface="Georgia"/>
              </a:rPr>
              <a:t>Threads</a:t>
            </a:r>
            <a:endParaRPr sz="1800" dirty="0">
              <a:latin typeface="Georgia"/>
              <a:cs typeface="Georgia"/>
            </a:endParaRPr>
          </a:p>
        </p:txBody>
      </p:sp>
      <p:sp>
        <p:nvSpPr>
          <p:cNvPr id="4" name="object 4"/>
          <p:cNvSpPr txBox="1">
            <a:spLocks noGrp="1"/>
          </p:cNvSpPr>
          <p:nvPr>
            <p:ph type="body" idx="1"/>
          </p:nvPr>
        </p:nvSpPr>
        <p:spPr>
          <a:xfrm>
            <a:off x="410374" y="1828800"/>
            <a:ext cx="6066625" cy="4879797"/>
          </a:xfrm>
          <a:prstGeom prst="rect">
            <a:avLst/>
          </a:prstGeom>
        </p:spPr>
        <p:txBody>
          <a:bodyPr vert="horz" wrap="square" lIns="0" tIns="12700" rIns="0" bIns="0" rtlCol="0">
            <a:spAutoFit/>
          </a:bodyPr>
          <a:lstStyle/>
          <a:p>
            <a:pPr marL="12065" marR="512445">
              <a:lnSpc>
                <a:spcPct val="114000"/>
              </a:lnSpc>
              <a:spcBef>
                <a:spcPts val="500"/>
              </a:spcBef>
              <a:tabLst>
                <a:tab pos="363855" algn="l"/>
              </a:tabLst>
            </a:pPr>
            <a:r>
              <a:rPr lang="en-US" b="1" dirty="0"/>
              <a:t>The</a:t>
            </a:r>
            <a:r>
              <a:rPr lang="en-US" b="1" spc="-35" dirty="0"/>
              <a:t> </a:t>
            </a:r>
            <a:r>
              <a:rPr lang="en-US" b="1" dirty="0"/>
              <a:t>main</a:t>
            </a:r>
            <a:r>
              <a:rPr lang="en-US" b="1" spc="-35" dirty="0"/>
              <a:t> </a:t>
            </a:r>
            <a:r>
              <a:rPr lang="en-US" b="1" dirty="0"/>
              <a:t>benefits</a:t>
            </a:r>
            <a:r>
              <a:rPr lang="en-US" b="1" spc="-35" dirty="0"/>
              <a:t> </a:t>
            </a:r>
            <a:r>
              <a:rPr lang="en-US" b="1" dirty="0"/>
              <a:t>of</a:t>
            </a:r>
            <a:r>
              <a:rPr lang="en-US" b="1" spc="-30" dirty="0"/>
              <a:t> </a:t>
            </a:r>
            <a:r>
              <a:rPr lang="en-US" b="1" dirty="0"/>
              <a:t>writing</a:t>
            </a:r>
            <a:r>
              <a:rPr lang="en-US" b="1" spc="-35" dirty="0"/>
              <a:t> </a:t>
            </a:r>
            <a:r>
              <a:rPr lang="en-US" b="1" dirty="0"/>
              <a:t>multithreaded</a:t>
            </a:r>
            <a:r>
              <a:rPr lang="en-US" b="1" spc="-35" dirty="0"/>
              <a:t> </a:t>
            </a:r>
            <a:r>
              <a:rPr lang="en-US" b="1" dirty="0"/>
              <a:t>programs</a:t>
            </a:r>
            <a:r>
              <a:rPr lang="en-US" b="1" spc="-35" dirty="0"/>
              <a:t> </a:t>
            </a:r>
            <a:r>
              <a:rPr lang="en-US" b="1" spc="-20" dirty="0"/>
              <a:t>are:</a:t>
            </a:r>
            <a:endParaRPr lang="en-US" b="1" dirty="0"/>
          </a:p>
          <a:p>
            <a:pPr marL="363538" marR="512445" indent="-252413">
              <a:lnSpc>
                <a:spcPct val="114000"/>
              </a:lnSpc>
              <a:spcBef>
                <a:spcPts val="500"/>
              </a:spcBef>
              <a:buChar char="●"/>
              <a:tabLst>
                <a:tab pos="363855" algn="l"/>
              </a:tabLst>
            </a:pPr>
            <a:r>
              <a:rPr spc="-10" dirty="0"/>
              <a:t>Performance</a:t>
            </a:r>
            <a:r>
              <a:rPr spc="-40" dirty="0"/>
              <a:t> </a:t>
            </a:r>
            <a:r>
              <a:rPr dirty="0"/>
              <a:t>gains</a:t>
            </a:r>
            <a:r>
              <a:rPr spc="-40" dirty="0"/>
              <a:t> </a:t>
            </a:r>
            <a:r>
              <a:rPr dirty="0"/>
              <a:t>from</a:t>
            </a:r>
            <a:r>
              <a:rPr spc="-40" dirty="0"/>
              <a:t> </a:t>
            </a:r>
            <a:r>
              <a:rPr dirty="0"/>
              <a:t>multiprocessing</a:t>
            </a:r>
            <a:r>
              <a:rPr spc="-35" dirty="0"/>
              <a:t> </a:t>
            </a:r>
            <a:r>
              <a:rPr spc="-10" dirty="0"/>
              <a:t>hardware (parallelism)</a:t>
            </a:r>
          </a:p>
          <a:p>
            <a:pPr marL="363538" indent="-252413">
              <a:lnSpc>
                <a:spcPct val="114000"/>
              </a:lnSpc>
              <a:spcBef>
                <a:spcPts val="500"/>
              </a:spcBef>
              <a:buChar char="●"/>
              <a:tabLst>
                <a:tab pos="363855" algn="l"/>
              </a:tabLst>
            </a:pPr>
            <a:r>
              <a:rPr dirty="0"/>
              <a:t>Increased</a:t>
            </a:r>
            <a:r>
              <a:rPr spc="-50" dirty="0"/>
              <a:t> </a:t>
            </a:r>
            <a:r>
              <a:rPr dirty="0"/>
              <a:t>application</a:t>
            </a:r>
            <a:r>
              <a:rPr spc="-50" dirty="0"/>
              <a:t> </a:t>
            </a:r>
            <a:r>
              <a:rPr spc="-10" dirty="0"/>
              <a:t>throughput</a:t>
            </a:r>
          </a:p>
          <a:p>
            <a:pPr marL="363538" indent="-252413">
              <a:lnSpc>
                <a:spcPct val="114000"/>
              </a:lnSpc>
              <a:spcBef>
                <a:spcPts val="500"/>
              </a:spcBef>
              <a:buChar char="●"/>
              <a:tabLst>
                <a:tab pos="363855" algn="l"/>
              </a:tabLst>
            </a:pPr>
            <a:r>
              <a:rPr dirty="0"/>
              <a:t>Increased</a:t>
            </a:r>
            <a:r>
              <a:rPr spc="-50" dirty="0"/>
              <a:t> </a:t>
            </a:r>
            <a:r>
              <a:rPr dirty="0"/>
              <a:t>application</a:t>
            </a:r>
            <a:r>
              <a:rPr spc="-50" dirty="0"/>
              <a:t> </a:t>
            </a:r>
            <a:r>
              <a:rPr spc="-10" dirty="0"/>
              <a:t>responsiveness</a:t>
            </a:r>
          </a:p>
          <a:p>
            <a:pPr marL="363538" indent="-252413">
              <a:lnSpc>
                <a:spcPct val="114000"/>
              </a:lnSpc>
              <a:spcBef>
                <a:spcPts val="500"/>
              </a:spcBef>
              <a:buChar char="●"/>
              <a:tabLst>
                <a:tab pos="363855" algn="l"/>
              </a:tabLst>
            </a:pPr>
            <a:r>
              <a:rPr dirty="0"/>
              <a:t>Replacing</a:t>
            </a:r>
            <a:r>
              <a:rPr spc="-40" dirty="0"/>
              <a:t> </a:t>
            </a:r>
            <a:r>
              <a:rPr spc="-10" dirty="0"/>
              <a:t>process-to-</a:t>
            </a:r>
            <a:r>
              <a:rPr dirty="0"/>
              <a:t>process</a:t>
            </a:r>
            <a:r>
              <a:rPr spc="-40" dirty="0"/>
              <a:t> </a:t>
            </a:r>
            <a:r>
              <a:rPr spc="-10" dirty="0"/>
              <a:t>communications</a:t>
            </a:r>
          </a:p>
          <a:p>
            <a:pPr marL="363538" indent="-252413">
              <a:lnSpc>
                <a:spcPct val="114000"/>
              </a:lnSpc>
              <a:spcBef>
                <a:spcPts val="500"/>
              </a:spcBef>
              <a:buChar char="●"/>
              <a:tabLst>
                <a:tab pos="363855" algn="l"/>
              </a:tabLst>
            </a:pPr>
            <a:r>
              <a:rPr dirty="0"/>
              <a:t>Efficient</a:t>
            </a:r>
            <a:r>
              <a:rPr spc="-50" dirty="0"/>
              <a:t> </a:t>
            </a:r>
            <a:r>
              <a:rPr dirty="0"/>
              <a:t>use</a:t>
            </a:r>
            <a:r>
              <a:rPr spc="-45" dirty="0"/>
              <a:t> </a:t>
            </a:r>
            <a:r>
              <a:rPr dirty="0"/>
              <a:t>of</a:t>
            </a:r>
            <a:r>
              <a:rPr spc="-45" dirty="0"/>
              <a:t> </a:t>
            </a:r>
            <a:r>
              <a:rPr dirty="0"/>
              <a:t>system</a:t>
            </a:r>
            <a:r>
              <a:rPr spc="-45" dirty="0"/>
              <a:t> </a:t>
            </a:r>
            <a:r>
              <a:rPr spc="-10" dirty="0"/>
              <a:t>resources</a:t>
            </a:r>
          </a:p>
          <a:p>
            <a:pPr marL="363538" indent="-252413">
              <a:lnSpc>
                <a:spcPct val="114000"/>
              </a:lnSpc>
              <a:spcBef>
                <a:spcPts val="500"/>
              </a:spcBef>
              <a:buChar char="●"/>
              <a:tabLst>
                <a:tab pos="363855" algn="l"/>
              </a:tabLst>
            </a:pPr>
            <a:r>
              <a:rPr dirty="0"/>
              <a:t>Simplified</a:t>
            </a:r>
            <a:r>
              <a:rPr spc="-55" dirty="0"/>
              <a:t> </a:t>
            </a:r>
            <a:r>
              <a:rPr dirty="0"/>
              <a:t>realtime</a:t>
            </a:r>
            <a:r>
              <a:rPr spc="-45" dirty="0"/>
              <a:t> </a:t>
            </a:r>
            <a:r>
              <a:rPr spc="-10" dirty="0"/>
              <a:t>processing</a:t>
            </a:r>
          </a:p>
          <a:p>
            <a:pPr marL="363538" indent="-252413">
              <a:lnSpc>
                <a:spcPct val="114000"/>
              </a:lnSpc>
              <a:spcBef>
                <a:spcPts val="500"/>
              </a:spcBef>
              <a:buChar char="●"/>
              <a:tabLst>
                <a:tab pos="363855" algn="l"/>
              </a:tabLst>
            </a:pPr>
            <a:r>
              <a:rPr dirty="0"/>
              <a:t>Simplified</a:t>
            </a:r>
            <a:r>
              <a:rPr spc="-40" dirty="0"/>
              <a:t> </a:t>
            </a:r>
            <a:r>
              <a:rPr dirty="0"/>
              <a:t>signal</a:t>
            </a:r>
            <a:r>
              <a:rPr spc="-40" dirty="0"/>
              <a:t> </a:t>
            </a:r>
            <a:r>
              <a:rPr spc="-10" dirty="0"/>
              <a:t>handling</a:t>
            </a:r>
          </a:p>
          <a:p>
            <a:pPr marL="363538" marR="220345" indent="-252413">
              <a:lnSpc>
                <a:spcPct val="114000"/>
              </a:lnSpc>
              <a:spcBef>
                <a:spcPts val="500"/>
              </a:spcBef>
              <a:buChar char="●"/>
              <a:tabLst>
                <a:tab pos="363855" algn="l"/>
              </a:tabLst>
            </a:pPr>
            <a:r>
              <a:rPr dirty="0"/>
              <a:t>The</a:t>
            </a:r>
            <a:r>
              <a:rPr spc="-25" dirty="0"/>
              <a:t> </a:t>
            </a:r>
            <a:r>
              <a:rPr dirty="0"/>
              <a:t>ability</a:t>
            </a:r>
            <a:r>
              <a:rPr spc="-20" dirty="0"/>
              <a:t> </a:t>
            </a:r>
            <a:r>
              <a:rPr dirty="0"/>
              <a:t>to</a:t>
            </a:r>
            <a:r>
              <a:rPr spc="-20" dirty="0"/>
              <a:t> </a:t>
            </a:r>
            <a:r>
              <a:rPr dirty="0"/>
              <a:t>make</a:t>
            </a:r>
            <a:r>
              <a:rPr spc="-20" dirty="0"/>
              <a:t> </a:t>
            </a:r>
            <a:r>
              <a:rPr dirty="0"/>
              <a:t>use</a:t>
            </a:r>
            <a:r>
              <a:rPr spc="-20" dirty="0"/>
              <a:t> </a:t>
            </a:r>
            <a:r>
              <a:rPr dirty="0"/>
              <a:t>of</a:t>
            </a:r>
            <a:r>
              <a:rPr spc="-20" dirty="0"/>
              <a:t> </a:t>
            </a:r>
            <a:r>
              <a:rPr dirty="0"/>
              <a:t>the</a:t>
            </a:r>
            <a:r>
              <a:rPr spc="-20" dirty="0"/>
              <a:t> </a:t>
            </a:r>
            <a:r>
              <a:rPr dirty="0"/>
              <a:t>inherent</a:t>
            </a:r>
            <a:r>
              <a:rPr spc="-20" dirty="0"/>
              <a:t> </a:t>
            </a:r>
            <a:r>
              <a:rPr dirty="0"/>
              <a:t>concurrency</a:t>
            </a:r>
            <a:r>
              <a:rPr spc="-20" dirty="0"/>
              <a:t> </a:t>
            </a:r>
            <a:r>
              <a:rPr spc="-25" dirty="0"/>
              <a:t>of </a:t>
            </a:r>
            <a:r>
              <a:rPr dirty="0"/>
              <a:t>distributed</a:t>
            </a:r>
            <a:r>
              <a:rPr spc="-55" dirty="0"/>
              <a:t> </a:t>
            </a:r>
            <a:r>
              <a:rPr spc="-10" dirty="0"/>
              <a:t>objects</a:t>
            </a:r>
          </a:p>
          <a:p>
            <a:pPr marL="363538" marR="5080" indent="-252413">
              <a:lnSpc>
                <a:spcPct val="114000"/>
              </a:lnSpc>
              <a:spcBef>
                <a:spcPts val="500"/>
              </a:spcBef>
              <a:buChar char="●"/>
              <a:tabLst>
                <a:tab pos="363855" algn="l"/>
              </a:tabLst>
            </a:pPr>
            <a:r>
              <a:rPr dirty="0"/>
              <a:t>There</a:t>
            </a:r>
            <a:r>
              <a:rPr spc="-20" dirty="0"/>
              <a:t> </a:t>
            </a:r>
            <a:r>
              <a:rPr dirty="0"/>
              <a:t>is</a:t>
            </a:r>
            <a:r>
              <a:rPr spc="-15" dirty="0"/>
              <a:t> </a:t>
            </a:r>
            <a:r>
              <a:rPr dirty="0"/>
              <a:t>one</a:t>
            </a:r>
            <a:r>
              <a:rPr spc="-20" dirty="0"/>
              <a:t> </a:t>
            </a:r>
            <a:r>
              <a:rPr dirty="0"/>
              <a:t>binary</a:t>
            </a:r>
            <a:r>
              <a:rPr spc="-15" dirty="0"/>
              <a:t> </a:t>
            </a:r>
            <a:r>
              <a:rPr dirty="0"/>
              <a:t>that</a:t>
            </a:r>
            <a:r>
              <a:rPr spc="-15" dirty="0"/>
              <a:t> </a:t>
            </a:r>
            <a:r>
              <a:rPr dirty="0"/>
              <a:t>runs</a:t>
            </a:r>
            <a:r>
              <a:rPr spc="-20" dirty="0"/>
              <a:t> </a:t>
            </a:r>
            <a:r>
              <a:rPr dirty="0"/>
              <a:t>well</a:t>
            </a:r>
            <a:r>
              <a:rPr spc="-15" dirty="0"/>
              <a:t> </a:t>
            </a:r>
            <a:r>
              <a:rPr dirty="0"/>
              <a:t>on</a:t>
            </a:r>
            <a:r>
              <a:rPr spc="-15" dirty="0"/>
              <a:t> </a:t>
            </a:r>
            <a:r>
              <a:rPr dirty="0"/>
              <a:t>both</a:t>
            </a:r>
            <a:r>
              <a:rPr spc="-20" dirty="0"/>
              <a:t> </a:t>
            </a:r>
            <a:r>
              <a:rPr spc="-10" dirty="0"/>
              <a:t>uniprocessors </a:t>
            </a:r>
            <a:br>
              <a:rPr lang="en-US" spc="-10" dirty="0"/>
            </a:br>
            <a:r>
              <a:rPr dirty="0"/>
              <a:t>and</a:t>
            </a:r>
            <a:r>
              <a:rPr spc="-15" dirty="0"/>
              <a:t> </a:t>
            </a:r>
            <a:r>
              <a:rPr spc="-10" dirty="0"/>
              <a:t>multiprocessors</a:t>
            </a:r>
          </a:p>
          <a:p>
            <a:pPr marL="363538" indent="-252413">
              <a:lnSpc>
                <a:spcPct val="114000"/>
              </a:lnSpc>
              <a:spcBef>
                <a:spcPts val="500"/>
              </a:spcBef>
              <a:buChar char="●"/>
              <a:tabLst>
                <a:tab pos="363855" algn="l"/>
              </a:tabLst>
            </a:pPr>
            <a:r>
              <a:rPr dirty="0"/>
              <a:t>The</a:t>
            </a:r>
            <a:r>
              <a:rPr spc="-30" dirty="0"/>
              <a:t> </a:t>
            </a:r>
            <a:r>
              <a:rPr dirty="0"/>
              <a:t>ability</a:t>
            </a:r>
            <a:r>
              <a:rPr spc="-30" dirty="0"/>
              <a:t> </a:t>
            </a:r>
            <a:r>
              <a:rPr dirty="0"/>
              <a:t>to</a:t>
            </a:r>
            <a:r>
              <a:rPr spc="-30" dirty="0"/>
              <a:t> </a:t>
            </a:r>
            <a:r>
              <a:rPr dirty="0"/>
              <a:t>create</a:t>
            </a:r>
            <a:r>
              <a:rPr spc="-25" dirty="0"/>
              <a:t> </a:t>
            </a:r>
            <a:r>
              <a:rPr spc="-10" dirty="0"/>
              <a:t>well-</a:t>
            </a:r>
            <a:r>
              <a:rPr dirty="0"/>
              <a:t>structured</a:t>
            </a:r>
            <a:r>
              <a:rPr spc="-30" dirty="0"/>
              <a:t> </a:t>
            </a:r>
            <a:r>
              <a:rPr spc="-10" dirty="0"/>
              <a:t>programs</a:t>
            </a:r>
          </a:p>
          <a:p>
            <a:pPr marL="363538" indent="-252413">
              <a:lnSpc>
                <a:spcPct val="114000"/>
              </a:lnSpc>
              <a:spcBef>
                <a:spcPts val="285"/>
              </a:spcBef>
              <a:buChar char="●"/>
              <a:tabLst>
                <a:tab pos="363855" algn="l"/>
              </a:tabLst>
            </a:pPr>
            <a:r>
              <a:rPr dirty="0"/>
              <a:t>There</a:t>
            </a:r>
            <a:r>
              <a:rPr spc="-25" dirty="0"/>
              <a:t> </a:t>
            </a:r>
            <a:r>
              <a:rPr dirty="0"/>
              <a:t>can</a:t>
            </a:r>
            <a:r>
              <a:rPr spc="-20" dirty="0"/>
              <a:t> </a:t>
            </a:r>
            <a:r>
              <a:rPr dirty="0"/>
              <a:t>be</a:t>
            </a:r>
            <a:r>
              <a:rPr spc="-25" dirty="0"/>
              <a:t> </a:t>
            </a:r>
            <a:r>
              <a:rPr dirty="0"/>
              <a:t>a</a:t>
            </a:r>
            <a:r>
              <a:rPr spc="-20" dirty="0"/>
              <a:t> </a:t>
            </a:r>
            <a:r>
              <a:rPr dirty="0"/>
              <a:t>single</a:t>
            </a:r>
            <a:r>
              <a:rPr spc="-25" dirty="0"/>
              <a:t> </a:t>
            </a:r>
            <a:r>
              <a:rPr dirty="0"/>
              <a:t>source</a:t>
            </a:r>
            <a:r>
              <a:rPr spc="-20" dirty="0"/>
              <a:t> </a:t>
            </a:r>
            <a:r>
              <a:rPr dirty="0"/>
              <a:t>for</a:t>
            </a:r>
            <a:r>
              <a:rPr spc="-25" dirty="0"/>
              <a:t> </a:t>
            </a:r>
            <a:r>
              <a:rPr dirty="0"/>
              <a:t>multiple</a:t>
            </a:r>
            <a:r>
              <a:rPr spc="-20" dirty="0"/>
              <a:t> </a:t>
            </a:r>
            <a:r>
              <a:rPr spc="-10" dirty="0"/>
              <a:t>platforms</a:t>
            </a:r>
          </a:p>
        </p:txBody>
      </p:sp>
      <p:pic>
        <p:nvPicPr>
          <p:cNvPr id="6" name="object 6" descr="A conceptual architecture diagram showing user-level thread structures managed by a threads library sitting above the operating system kernel and shared process data."/>
          <p:cNvPicPr/>
          <p:nvPr/>
        </p:nvPicPr>
        <p:blipFill>
          <a:blip r:embed="rId3" cstate="print"/>
          <a:stretch>
            <a:fillRect/>
          </a:stretch>
        </p:blipFill>
        <p:spPr>
          <a:xfrm>
            <a:off x="6290300" y="2286125"/>
            <a:ext cx="5682999" cy="3012575"/>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8469876" y="5366644"/>
            <a:ext cx="235013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https://comp3511.github.io/</a:t>
            </a:r>
            <a:endParaRPr sz="1000" dirty="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0B06-70F2-A460-CC1E-B515A4BB1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7241E-6CA6-6DC5-27B5-58252457EBB5}"/>
              </a:ext>
            </a:extLst>
          </p:cNvPr>
          <p:cNvSpPr>
            <a:spLocks noGrp="1"/>
          </p:cNvSpPr>
          <p:nvPr>
            <p:ph type="title"/>
          </p:nvPr>
        </p:nvSpPr>
        <p:spPr>
          <a:xfrm>
            <a:off x="1066800" y="3352800"/>
            <a:ext cx="10134600" cy="553998"/>
          </a:xfrm>
        </p:spPr>
        <p:txBody>
          <a:bodyPr/>
          <a:lstStyle/>
          <a:p>
            <a:pPr algn="ctr"/>
            <a:r>
              <a:rPr lang="en-US" sz="3600" dirty="0" err="1"/>
              <a:t>Pthreads</a:t>
            </a:r>
            <a:r>
              <a:rPr lang="en-US" sz="3600" dirty="0"/>
              <a:t> in C</a:t>
            </a:r>
          </a:p>
        </p:txBody>
      </p:sp>
    </p:spTree>
    <p:extLst>
      <p:ext uri="{BB962C8B-B14F-4D97-AF65-F5344CB8AC3E}">
        <p14:creationId xmlns:p14="http://schemas.microsoft.com/office/powerpoint/2010/main" val="260261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dirty="0"/>
              <a:t>POSIX</a:t>
            </a:r>
            <a:r>
              <a:rPr spc="-70" dirty="0"/>
              <a:t> </a:t>
            </a:r>
            <a:r>
              <a:rPr dirty="0"/>
              <a:t>Thread</a:t>
            </a:r>
            <a:r>
              <a:rPr spc="-65" dirty="0"/>
              <a:t> </a:t>
            </a:r>
            <a:r>
              <a:rPr spc="-10" dirty="0"/>
              <a:t>Libraries</a:t>
            </a:r>
          </a:p>
          <a:p>
            <a:pPr marL="12700">
              <a:lnSpc>
                <a:spcPts val="2060"/>
              </a:lnSpc>
            </a:pPr>
            <a:r>
              <a:rPr sz="1800" dirty="0"/>
              <a:t>pthread</a:t>
            </a:r>
            <a:r>
              <a:rPr sz="1800" spc="-70" dirty="0"/>
              <a:t> </a:t>
            </a:r>
            <a:r>
              <a:rPr sz="1800" dirty="0"/>
              <a:t>family</a:t>
            </a:r>
            <a:r>
              <a:rPr sz="1800" spc="-70" dirty="0"/>
              <a:t> </a:t>
            </a:r>
            <a:r>
              <a:rPr sz="1800" dirty="0"/>
              <a:t>of</a:t>
            </a:r>
            <a:r>
              <a:rPr sz="1800" spc="-65" dirty="0"/>
              <a:t> </a:t>
            </a:r>
            <a:r>
              <a:rPr sz="1800" spc="-10" dirty="0"/>
              <a:t>functions</a:t>
            </a:r>
            <a:endParaRPr sz="1800" dirty="0"/>
          </a:p>
        </p:txBody>
      </p:sp>
      <p:sp>
        <p:nvSpPr>
          <p:cNvPr id="4" name="object 4"/>
          <p:cNvSpPr txBox="1"/>
          <p:nvPr/>
        </p:nvSpPr>
        <p:spPr>
          <a:xfrm>
            <a:off x="469050" y="2376260"/>
            <a:ext cx="6084150" cy="3945247"/>
          </a:xfrm>
          <a:prstGeom prst="rect">
            <a:avLst/>
          </a:prstGeom>
        </p:spPr>
        <p:txBody>
          <a:bodyPr vert="horz" wrap="square" lIns="0" tIns="43815" rIns="0" bIns="0" rtlCol="0">
            <a:spAutoFit/>
          </a:bodyPr>
          <a:lstStyle/>
          <a:p>
            <a:pPr marL="12700" marR="67310">
              <a:lnSpc>
                <a:spcPct val="114000"/>
              </a:lnSpc>
              <a:spcBef>
                <a:spcPts val="345"/>
              </a:spcBef>
            </a:pPr>
            <a:r>
              <a:rPr sz="1800" b="1" dirty="0">
                <a:latin typeface="Arial"/>
                <a:cs typeface="Arial"/>
              </a:rPr>
              <a:t>POSIX</a:t>
            </a:r>
            <a:r>
              <a:rPr sz="1800" b="1" spc="-30" dirty="0">
                <a:latin typeface="Arial"/>
                <a:cs typeface="Arial"/>
              </a:rPr>
              <a:t> </a:t>
            </a:r>
            <a:r>
              <a:rPr sz="1800" b="1" dirty="0">
                <a:latin typeface="Arial"/>
                <a:cs typeface="Arial"/>
              </a:rPr>
              <a:t>(Portable</a:t>
            </a:r>
            <a:r>
              <a:rPr sz="1800" b="1" spc="-30" dirty="0">
                <a:latin typeface="Arial"/>
                <a:cs typeface="Arial"/>
              </a:rPr>
              <a:t> </a:t>
            </a:r>
            <a:r>
              <a:rPr sz="1800" b="1" dirty="0">
                <a:latin typeface="Arial"/>
                <a:cs typeface="Arial"/>
              </a:rPr>
              <a:t>Operating</a:t>
            </a:r>
            <a:r>
              <a:rPr sz="1800" b="1" spc="-30" dirty="0">
                <a:latin typeface="Arial"/>
                <a:cs typeface="Arial"/>
              </a:rPr>
              <a:t> </a:t>
            </a:r>
            <a:r>
              <a:rPr sz="1800" b="1" dirty="0">
                <a:latin typeface="Arial"/>
                <a:cs typeface="Arial"/>
              </a:rPr>
              <a:t>System</a:t>
            </a:r>
            <a:r>
              <a:rPr sz="1800" b="1" spc="-30" dirty="0">
                <a:latin typeface="Arial"/>
                <a:cs typeface="Arial"/>
              </a:rPr>
              <a:t> </a:t>
            </a:r>
            <a:r>
              <a:rPr sz="1800" b="1" dirty="0">
                <a:latin typeface="Arial"/>
                <a:cs typeface="Arial"/>
              </a:rPr>
              <a:t>Interface)</a:t>
            </a:r>
            <a:r>
              <a:rPr sz="1800" b="1" spc="5" dirty="0">
                <a:latin typeface="Arial"/>
                <a:cs typeface="Arial"/>
              </a:rPr>
              <a:t> </a:t>
            </a:r>
            <a:r>
              <a:rPr sz="1800" spc="-25" dirty="0">
                <a:latin typeface="Arial MT"/>
                <a:cs typeface="Arial MT"/>
              </a:rPr>
              <a:t>is </a:t>
            </a:r>
            <a:r>
              <a:rPr sz="1800" dirty="0">
                <a:latin typeface="Arial MT"/>
                <a:cs typeface="Arial MT"/>
              </a:rPr>
              <a:t>a</a:t>
            </a:r>
            <a:r>
              <a:rPr sz="1800" spc="-25" dirty="0">
                <a:latin typeface="Arial MT"/>
                <a:cs typeface="Arial MT"/>
              </a:rPr>
              <a:t> </a:t>
            </a:r>
            <a:r>
              <a:rPr sz="1800" dirty="0">
                <a:latin typeface="Arial MT"/>
                <a:cs typeface="Arial MT"/>
              </a:rPr>
              <a:t>family</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standards</a:t>
            </a:r>
            <a:r>
              <a:rPr sz="1800" spc="-10" dirty="0">
                <a:latin typeface="Arial MT"/>
                <a:cs typeface="Arial MT"/>
              </a:rPr>
              <a:t> </a:t>
            </a:r>
            <a:r>
              <a:rPr sz="1800" dirty="0">
                <a:latin typeface="Arial MT"/>
                <a:cs typeface="Arial MT"/>
              </a:rPr>
              <a:t>specified</a:t>
            </a:r>
            <a:r>
              <a:rPr sz="1800" spc="-15" dirty="0">
                <a:latin typeface="Arial MT"/>
                <a:cs typeface="Arial MT"/>
              </a:rPr>
              <a:t> </a:t>
            </a:r>
            <a:r>
              <a:rPr sz="1800" dirty="0">
                <a:latin typeface="Arial MT"/>
                <a:cs typeface="Arial MT"/>
              </a:rPr>
              <a:t>by</a:t>
            </a:r>
            <a:r>
              <a:rPr sz="1800" spc="-1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IEEE</a:t>
            </a:r>
            <a:r>
              <a:rPr sz="1800" spc="-10" dirty="0">
                <a:latin typeface="Arial MT"/>
                <a:cs typeface="Arial MT"/>
              </a:rPr>
              <a:t> </a:t>
            </a:r>
            <a:r>
              <a:rPr sz="1800" spc="-25" dirty="0">
                <a:latin typeface="Arial MT"/>
                <a:cs typeface="Arial MT"/>
              </a:rPr>
              <a:t>for </a:t>
            </a:r>
            <a:r>
              <a:rPr sz="1800" spc="-10" dirty="0">
                <a:latin typeface="Arial MT"/>
                <a:cs typeface="Arial MT"/>
              </a:rPr>
              <a:t>Unix-</a:t>
            </a:r>
            <a:r>
              <a:rPr sz="1800" dirty="0">
                <a:latin typeface="Arial MT"/>
                <a:cs typeface="Arial MT"/>
              </a:rPr>
              <a:t>like</a:t>
            </a:r>
            <a:r>
              <a:rPr sz="1800" spc="5" dirty="0">
                <a:latin typeface="Arial MT"/>
                <a:cs typeface="Arial MT"/>
              </a:rPr>
              <a:t> </a:t>
            </a:r>
            <a:r>
              <a:rPr sz="1800" spc="-10" dirty="0">
                <a:latin typeface="Arial MT"/>
                <a:cs typeface="Arial MT"/>
              </a:rPr>
              <a:t>systems.</a:t>
            </a:r>
            <a:endParaRPr sz="1800" dirty="0">
              <a:latin typeface="Arial MT"/>
              <a:cs typeface="Arial MT"/>
            </a:endParaRPr>
          </a:p>
          <a:p>
            <a:pPr marL="12700" marR="5080">
              <a:lnSpc>
                <a:spcPct val="114000"/>
              </a:lnSpc>
              <a:spcBef>
                <a:spcPts val="1960"/>
              </a:spcBef>
            </a:pPr>
            <a:r>
              <a:rPr sz="1800" dirty="0">
                <a:solidFill>
                  <a:srgbClr val="333333"/>
                </a:solidFill>
                <a:latin typeface="Arial MT"/>
                <a:cs typeface="Arial MT"/>
              </a:rPr>
              <a:t>POSIX</a:t>
            </a:r>
            <a:r>
              <a:rPr sz="1800" spc="-55" dirty="0">
                <a:solidFill>
                  <a:srgbClr val="333333"/>
                </a:solidFill>
                <a:latin typeface="Arial MT"/>
                <a:cs typeface="Arial MT"/>
              </a:rPr>
              <a:t> </a:t>
            </a:r>
            <a:r>
              <a:rPr sz="1800" dirty="0">
                <a:solidFill>
                  <a:srgbClr val="333333"/>
                </a:solidFill>
                <a:latin typeface="Arial MT"/>
                <a:cs typeface="Arial MT"/>
              </a:rPr>
              <a:t>Threads</a:t>
            </a:r>
            <a:r>
              <a:rPr sz="1800" spc="-25" dirty="0">
                <a:solidFill>
                  <a:srgbClr val="333333"/>
                </a:solidFill>
                <a:latin typeface="Arial MT"/>
                <a:cs typeface="Arial MT"/>
              </a:rPr>
              <a:t> </a:t>
            </a:r>
            <a:r>
              <a:rPr sz="1800" dirty="0">
                <a:solidFill>
                  <a:srgbClr val="333333"/>
                </a:solidFill>
                <a:latin typeface="Arial MT"/>
                <a:cs typeface="Arial MT"/>
              </a:rPr>
              <a:t>(</a:t>
            </a:r>
            <a:r>
              <a:rPr sz="1800" b="1" dirty="0">
                <a:solidFill>
                  <a:srgbClr val="333333"/>
                </a:solidFill>
                <a:latin typeface="Arial"/>
                <a:cs typeface="Arial"/>
              </a:rPr>
              <a:t>pthreads</a:t>
            </a:r>
            <a:r>
              <a:rPr sz="1800" dirty="0">
                <a:solidFill>
                  <a:srgbClr val="333333"/>
                </a:solidFill>
                <a:latin typeface="Arial MT"/>
                <a:cs typeface="Arial MT"/>
              </a:rPr>
              <a:t>)</a:t>
            </a:r>
            <a:r>
              <a:rPr sz="1800" spc="-20" dirty="0">
                <a:solidFill>
                  <a:srgbClr val="333333"/>
                </a:solidFill>
                <a:latin typeface="Arial MT"/>
                <a:cs typeface="Arial MT"/>
              </a:rPr>
              <a:t> </a:t>
            </a:r>
            <a:r>
              <a:rPr sz="1800" dirty="0">
                <a:solidFill>
                  <a:srgbClr val="333333"/>
                </a:solidFill>
                <a:latin typeface="Arial MT"/>
                <a:cs typeface="Arial MT"/>
              </a:rPr>
              <a:t>are</a:t>
            </a:r>
            <a:r>
              <a:rPr sz="1800" spc="-20" dirty="0">
                <a:solidFill>
                  <a:srgbClr val="333333"/>
                </a:solidFill>
                <a:latin typeface="Arial MT"/>
                <a:cs typeface="Arial MT"/>
              </a:rPr>
              <a:t> </a:t>
            </a:r>
            <a:r>
              <a:rPr sz="1800" dirty="0">
                <a:solidFill>
                  <a:srgbClr val="333333"/>
                </a:solidFill>
                <a:latin typeface="Arial MT"/>
                <a:cs typeface="Arial MT"/>
              </a:rPr>
              <a:t>the</a:t>
            </a:r>
            <a:r>
              <a:rPr sz="1800" spc="-20" dirty="0">
                <a:solidFill>
                  <a:srgbClr val="333333"/>
                </a:solidFill>
                <a:latin typeface="Arial MT"/>
                <a:cs typeface="Arial MT"/>
              </a:rPr>
              <a:t> </a:t>
            </a:r>
            <a:r>
              <a:rPr sz="1800" spc="-10" dirty="0">
                <a:solidFill>
                  <a:srgbClr val="333333"/>
                </a:solidFill>
                <a:latin typeface="Arial MT"/>
                <a:cs typeface="Arial MT"/>
              </a:rPr>
              <a:t>POSIX </a:t>
            </a:r>
            <a:r>
              <a:rPr sz="1800" dirty="0">
                <a:solidFill>
                  <a:srgbClr val="333333"/>
                </a:solidFill>
                <a:latin typeface="Arial MT"/>
                <a:cs typeface="Arial MT"/>
              </a:rPr>
              <a:t>standard</a:t>
            </a:r>
            <a:r>
              <a:rPr sz="1800" spc="-35" dirty="0">
                <a:solidFill>
                  <a:srgbClr val="333333"/>
                </a:solidFill>
                <a:latin typeface="Arial MT"/>
                <a:cs typeface="Arial MT"/>
              </a:rPr>
              <a:t> </a:t>
            </a:r>
            <a:r>
              <a:rPr sz="1800" dirty="0">
                <a:solidFill>
                  <a:srgbClr val="333333"/>
                </a:solidFill>
                <a:latin typeface="Arial MT"/>
                <a:cs typeface="Arial MT"/>
              </a:rPr>
              <a:t>for</a:t>
            </a:r>
            <a:r>
              <a:rPr sz="1800" spc="-20" dirty="0">
                <a:solidFill>
                  <a:srgbClr val="333333"/>
                </a:solidFill>
                <a:latin typeface="Arial MT"/>
                <a:cs typeface="Arial MT"/>
              </a:rPr>
              <a:t> </a:t>
            </a:r>
            <a:r>
              <a:rPr sz="1800" dirty="0">
                <a:solidFill>
                  <a:srgbClr val="333333"/>
                </a:solidFill>
                <a:latin typeface="Arial MT"/>
                <a:cs typeface="Arial MT"/>
              </a:rPr>
              <a:t>threading</a:t>
            </a:r>
            <a:r>
              <a:rPr sz="1800" spc="-25" dirty="0">
                <a:solidFill>
                  <a:srgbClr val="333333"/>
                </a:solidFill>
                <a:latin typeface="Arial MT"/>
                <a:cs typeface="Arial MT"/>
              </a:rPr>
              <a:t> </a:t>
            </a:r>
            <a:r>
              <a:rPr sz="1800" dirty="0">
                <a:solidFill>
                  <a:srgbClr val="333333"/>
                </a:solidFill>
                <a:latin typeface="Arial MT"/>
                <a:cs typeface="Arial MT"/>
              </a:rPr>
              <a:t>in</a:t>
            </a:r>
            <a:r>
              <a:rPr sz="1800" spc="-20" dirty="0">
                <a:solidFill>
                  <a:srgbClr val="333333"/>
                </a:solidFill>
                <a:latin typeface="Arial MT"/>
                <a:cs typeface="Arial MT"/>
              </a:rPr>
              <a:t> </a:t>
            </a:r>
            <a:r>
              <a:rPr sz="1800" dirty="0">
                <a:solidFill>
                  <a:srgbClr val="333333"/>
                </a:solidFill>
                <a:latin typeface="Arial MT"/>
                <a:cs typeface="Arial MT"/>
              </a:rPr>
              <a:t>C,</a:t>
            </a:r>
            <a:r>
              <a:rPr sz="1800" spc="-25" dirty="0">
                <a:solidFill>
                  <a:srgbClr val="333333"/>
                </a:solidFill>
                <a:latin typeface="Arial MT"/>
                <a:cs typeface="Arial MT"/>
              </a:rPr>
              <a:t> </a:t>
            </a:r>
            <a:r>
              <a:rPr sz="1800" dirty="0">
                <a:solidFill>
                  <a:srgbClr val="333333"/>
                </a:solidFill>
                <a:latin typeface="Arial MT"/>
                <a:cs typeface="Arial MT"/>
              </a:rPr>
              <a:t>enabling</a:t>
            </a:r>
            <a:r>
              <a:rPr sz="1800" spc="-20" dirty="0">
                <a:solidFill>
                  <a:srgbClr val="333333"/>
                </a:solidFill>
                <a:latin typeface="Arial MT"/>
                <a:cs typeface="Arial MT"/>
              </a:rPr>
              <a:t> </a:t>
            </a:r>
            <a:r>
              <a:rPr sz="1800" dirty="0">
                <a:solidFill>
                  <a:srgbClr val="333333"/>
                </a:solidFill>
                <a:latin typeface="Arial MT"/>
                <a:cs typeface="Arial MT"/>
              </a:rPr>
              <a:t>parallelism</a:t>
            </a:r>
            <a:r>
              <a:rPr sz="1800" spc="-20" dirty="0">
                <a:solidFill>
                  <a:srgbClr val="333333"/>
                </a:solidFill>
                <a:latin typeface="Arial MT"/>
                <a:cs typeface="Arial MT"/>
              </a:rPr>
              <a:t> </a:t>
            </a:r>
            <a:r>
              <a:rPr sz="1800" spc="-25" dirty="0">
                <a:solidFill>
                  <a:srgbClr val="333333"/>
                </a:solidFill>
                <a:latin typeface="Arial MT"/>
                <a:cs typeface="Arial MT"/>
              </a:rPr>
              <a:t>by </a:t>
            </a:r>
            <a:r>
              <a:rPr sz="1800" dirty="0">
                <a:solidFill>
                  <a:srgbClr val="333333"/>
                </a:solidFill>
                <a:latin typeface="Arial MT"/>
                <a:cs typeface="Arial MT"/>
              </a:rPr>
              <a:t>allowing</a:t>
            </a:r>
            <a:r>
              <a:rPr sz="1800" spc="-30" dirty="0">
                <a:solidFill>
                  <a:srgbClr val="333333"/>
                </a:solidFill>
                <a:latin typeface="Arial MT"/>
                <a:cs typeface="Arial MT"/>
              </a:rPr>
              <a:t> </a:t>
            </a:r>
            <a:r>
              <a:rPr sz="1800" dirty="0">
                <a:solidFill>
                  <a:srgbClr val="333333"/>
                </a:solidFill>
                <a:latin typeface="Arial MT"/>
                <a:cs typeface="Arial MT"/>
              </a:rPr>
              <a:t>multiple</a:t>
            </a:r>
            <a:r>
              <a:rPr sz="1800" spc="-20" dirty="0">
                <a:solidFill>
                  <a:srgbClr val="333333"/>
                </a:solidFill>
                <a:latin typeface="Arial MT"/>
                <a:cs typeface="Arial MT"/>
              </a:rPr>
              <a:t> </a:t>
            </a:r>
            <a:r>
              <a:rPr sz="1800" dirty="0">
                <a:solidFill>
                  <a:srgbClr val="333333"/>
                </a:solidFill>
                <a:latin typeface="Arial MT"/>
                <a:cs typeface="Arial MT"/>
              </a:rPr>
              <a:t>threads</a:t>
            </a:r>
            <a:r>
              <a:rPr sz="1800" spc="-20" dirty="0">
                <a:solidFill>
                  <a:srgbClr val="333333"/>
                </a:solidFill>
                <a:latin typeface="Arial MT"/>
                <a:cs typeface="Arial MT"/>
              </a:rPr>
              <a:t> </a:t>
            </a:r>
            <a:r>
              <a:rPr sz="1800" dirty="0">
                <a:solidFill>
                  <a:srgbClr val="333333"/>
                </a:solidFill>
                <a:latin typeface="Arial MT"/>
                <a:cs typeface="Arial MT"/>
              </a:rPr>
              <a:t>to</a:t>
            </a:r>
            <a:r>
              <a:rPr sz="1800" spc="-20" dirty="0">
                <a:solidFill>
                  <a:srgbClr val="333333"/>
                </a:solidFill>
                <a:latin typeface="Arial MT"/>
                <a:cs typeface="Arial MT"/>
              </a:rPr>
              <a:t> </a:t>
            </a:r>
            <a:r>
              <a:rPr sz="1800" dirty="0">
                <a:solidFill>
                  <a:srgbClr val="333333"/>
                </a:solidFill>
                <a:latin typeface="Arial MT"/>
                <a:cs typeface="Arial MT"/>
              </a:rPr>
              <a:t>run</a:t>
            </a:r>
            <a:r>
              <a:rPr sz="1800" spc="-20" dirty="0">
                <a:solidFill>
                  <a:srgbClr val="333333"/>
                </a:solidFill>
                <a:latin typeface="Arial MT"/>
                <a:cs typeface="Arial MT"/>
              </a:rPr>
              <a:t> </a:t>
            </a:r>
            <a:r>
              <a:rPr sz="1800" dirty="0">
                <a:solidFill>
                  <a:srgbClr val="333333"/>
                </a:solidFill>
                <a:latin typeface="Arial MT"/>
                <a:cs typeface="Arial MT"/>
              </a:rPr>
              <a:t>concurrently</a:t>
            </a:r>
            <a:r>
              <a:rPr sz="1800" spc="-15" dirty="0">
                <a:solidFill>
                  <a:srgbClr val="333333"/>
                </a:solidFill>
                <a:latin typeface="Arial MT"/>
                <a:cs typeface="Arial MT"/>
              </a:rPr>
              <a:t> </a:t>
            </a:r>
            <a:r>
              <a:rPr sz="1800" spc="-10" dirty="0">
                <a:solidFill>
                  <a:srgbClr val="333333"/>
                </a:solidFill>
                <a:latin typeface="Arial MT"/>
                <a:cs typeface="Arial MT"/>
              </a:rPr>
              <a:t>within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single</a:t>
            </a:r>
            <a:r>
              <a:rPr sz="1800" spc="-15" dirty="0">
                <a:solidFill>
                  <a:srgbClr val="333333"/>
                </a:solidFill>
                <a:latin typeface="Arial MT"/>
                <a:cs typeface="Arial MT"/>
              </a:rPr>
              <a:t> </a:t>
            </a:r>
            <a:r>
              <a:rPr sz="1800" spc="-10" dirty="0">
                <a:solidFill>
                  <a:srgbClr val="333333"/>
                </a:solidFill>
                <a:latin typeface="Arial MT"/>
                <a:cs typeface="Arial MT"/>
              </a:rPr>
              <a:t>process.</a:t>
            </a:r>
            <a:endParaRPr sz="1800" dirty="0">
              <a:latin typeface="Arial MT"/>
              <a:cs typeface="Arial MT"/>
            </a:endParaRPr>
          </a:p>
          <a:p>
            <a:pPr marL="12700" marR="36830">
              <a:lnSpc>
                <a:spcPct val="114000"/>
              </a:lnSpc>
              <a:spcBef>
                <a:spcPts val="1960"/>
              </a:spcBef>
            </a:pPr>
            <a:r>
              <a:rPr sz="1800" dirty="0">
                <a:solidFill>
                  <a:srgbClr val="333333"/>
                </a:solidFill>
                <a:latin typeface="Arial MT"/>
                <a:cs typeface="Arial MT"/>
              </a:rPr>
              <a:t>A</a:t>
            </a:r>
            <a:r>
              <a:rPr sz="1800" spc="-130" dirty="0">
                <a:solidFill>
                  <a:srgbClr val="333333"/>
                </a:solidFill>
                <a:latin typeface="Arial MT"/>
                <a:cs typeface="Arial MT"/>
              </a:rPr>
              <a:t> </a:t>
            </a:r>
            <a:r>
              <a:rPr sz="1800" dirty="0">
                <a:solidFill>
                  <a:srgbClr val="333333"/>
                </a:solidFill>
                <a:latin typeface="Arial MT"/>
                <a:cs typeface="Arial MT"/>
              </a:rPr>
              <a:t>thread</a:t>
            </a:r>
            <a:r>
              <a:rPr sz="1800" spc="-20" dirty="0">
                <a:solidFill>
                  <a:srgbClr val="333333"/>
                </a:solidFill>
                <a:latin typeface="Arial MT"/>
                <a:cs typeface="Arial MT"/>
              </a:rPr>
              <a:t> </a:t>
            </a:r>
            <a:r>
              <a:rPr sz="1800" dirty="0">
                <a:solidFill>
                  <a:srgbClr val="333333"/>
                </a:solidFill>
                <a:latin typeface="Arial MT"/>
                <a:cs typeface="Arial MT"/>
              </a:rPr>
              <a:t>is</a:t>
            </a:r>
            <a:r>
              <a:rPr sz="1800" spc="-20"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path</a:t>
            </a:r>
            <a:r>
              <a:rPr sz="1800" spc="-20" dirty="0">
                <a:solidFill>
                  <a:srgbClr val="333333"/>
                </a:solidFill>
                <a:latin typeface="Arial MT"/>
                <a:cs typeface="Arial MT"/>
              </a:rPr>
              <a:t> </a:t>
            </a:r>
            <a:r>
              <a:rPr sz="1800" dirty="0">
                <a:solidFill>
                  <a:srgbClr val="333333"/>
                </a:solidFill>
                <a:latin typeface="Arial MT"/>
                <a:cs typeface="Arial MT"/>
              </a:rPr>
              <a:t>of</a:t>
            </a:r>
            <a:r>
              <a:rPr sz="1800" spc="-20" dirty="0">
                <a:solidFill>
                  <a:srgbClr val="333333"/>
                </a:solidFill>
                <a:latin typeface="Arial MT"/>
                <a:cs typeface="Arial MT"/>
              </a:rPr>
              <a:t> </a:t>
            </a:r>
            <a:r>
              <a:rPr sz="1800" dirty="0">
                <a:solidFill>
                  <a:srgbClr val="333333"/>
                </a:solidFill>
                <a:latin typeface="Arial MT"/>
                <a:cs typeface="Arial MT"/>
              </a:rPr>
              <a:t>execution</a:t>
            </a:r>
            <a:r>
              <a:rPr sz="1800" spc="-20" dirty="0">
                <a:solidFill>
                  <a:srgbClr val="333333"/>
                </a:solidFill>
                <a:latin typeface="Arial MT"/>
                <a:cs typeface="Arial MT"/>
              </a:rPr>
              <a:t> </a:t>
            </a:r>
            <a:r>
              <a:rPr sz="1800" dirty="0">
                <a:solidFill>
                  <a:srgbClr val="333333"/>
                </a:solidFill>
                <a:latin typeface="Arial MT"/>
                <a:cs typeface="Arial MT"/>
              </a:rPr>
              <a:t>within</a:t>
            </a:r>
            <a:r>
              <a:rPr sz="1800" spc="-20"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process,</a:t>
            </a:r>
            <a:r>
              <a:rPr sz="1800" spc="-15" dirty="0">
                <a:solidFill>
                  <a:srgbClr val="333333"/>
                </a:solidFill>
                <a:latin typeface="Arial MT"/>
                <a:cs typeface="Arial MT"/>
              </a:rPr>
              <a:t> </a:t>
            </a:r>
            <a:r>
              <a:rPr sz="1800" spc="-25" dirty="0">
                <a:solidFill>
                  <a:srgbClr val="333333"/>
                </a:solidFill>
                <a:latin typeface="Arial MT"/>
                <a:cs typeface="Arial MT"/>
              </a:rPr>
              <a:t>it </a:t>
            </a:r>
            <a:r>
              <a:rPr sz="1800" dirty="0">
                <a:solidFill>
                  <a:srgbClr val="333333"/>
                </a:solidFill>
                <a:latin typeface="Arial MT"/>
                <a:cs typeface="Arial MT"/>
              </a:rPr>
              <a:t>can</a:t>
            </a:r>
            <a:r>
              <a:rPr sz="1800" spc="-35" dirty="0">
                <a:solidFill>
                  <a:srgbClr val="333333"/>
                </a:solidFill>
                <a:latin typeface="Arial MT"/>
                <a:cs typeface="Arial MT"/>
              </a:rPr>
              <a:t> </a:t>
            </a:r>
            <a:r>
              <a:rPr sz="1800" dirty="0">
                <a:solidFill>
                  <a:srgbClr val="333333"/>
                </a:solidFill>
                <a:latin typeface="Arial MT"/>
                <a:cs typeface="Arial MT"/>
              </a:rPr>
              <a:t>be</a:t>
            </a:r>
            <a:r>
              <a:rPr sz="1800" spc="-20" dirty="0">
                <a:solidFill>
                  <a:srgbClr val="333333"/>
                </a:solidFill>
                <a:latin typeface="Arial MT"/>
                <a:cs typeface="Arial MT"/>
              </a:rPr>
              <a:t> </a:t>
            </a:r>
            <a:r>
              <a:rPr sz="1800" dirty="0">
                <a:solidFill>
                  <a:srgbClr val="333333"/>
                </a:solidFill>
                <a:latin typeface="Arial MT"/>
                <a:cs typeface="Arial MT"/>
              </a:rPr>
              <a:t>considered</a:t>
            </a:r>
            <a:r>
              <a:rPr sz="1800" spc="-20" dirty="0">
                <a:solidFill>
                  <a:srgbClr val="333333"/>
                </a:solidFill>
                <a:latin typeface="Arial MT"/>
                <a:cs typeface="Arial MT"/>
              </a:rPr>
              <a:t> </a:t>
            </a:r>
            <a:r>
              <a:rPr sz="1800" dirty="0">
                <a:solidFill>
                  <a:srgbClr val="333333"/>
                </a:solidFill>
                <a:latin typeface="Arial MT"/>
                <a:cs typeface="Arial MT"/>
              </a:rPr>
              <a:t>as</a:t>
            </a:r>
            <a:r>
              <a:rPr sz="1800" spc="-20"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lightweight</a:t>
            </a:r>
            <a:r>
              <a:rPr sz="1800" spc="-20" dirty="0">
                <a:solidFill>
                  <a:srgbClr val="333333"/>
                </a:solidFill>
                <a:latin typeface="Arial MT"/>
                <a:cs typeface="Arial MT"/>
              </a:rPr>
              <a:t> </a:t>
            </a:r>
            <a:r>
              <a:rPr sz="1800" dirty="0">
                <a:solidFill>
                  <a:srgbClr val="333333"/>
                </a:solidFill>
                <a:latin typeface="Arial MT"/>
                <a:cs typeface="Arial MT"/>
              </a:rPr>
              <a:t>process</a:t>
            </a:r>
            <a:r>
              <a:rPr sz="1800" spc="-20" dirty="0">
                <a:solidFill>
                  <a:srgbClr val="333333"/>
                </a:solidFill>
                <a:latin typeface="Arial MT"/>
                <a:cs typeface="Arial MT"/>
              </a:rPr>
              <a:t> </a:t>
            </a:r>
            <a:r>
              <a:rPr sz="1800" spc="-10" dirty="0">
                <a:solidFill>
                  <a:srgbClr val="333333"/>
                </a:solidFill>
                <a:latin typeface="Arial MT"/>
                <a:cs typeface="Arial MT"/>
              </a:rPr>
              <a:t>(LWP),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process</a:t>
            </a:r>
            <a:r>
              <a:rPr sz="1800" spc="-20" dirty="0">
                <a:solidFill>
                  <a:srgbClr val="333333"/>
                </a:solidFill>
                <a:latin typeface="Arial MT"/>
                <a:cs typeface="Arial MT"/>
              </a:rPr>
              <a:t> </a:t>
            </a:r>
            <a:r>
              <a:rPr sz="1800" dirty="0">
                <a:solidFill>
                  <a:srgbClr val="333333"/>
                </a:solidFill>
                <a:latin typeface="Arial MT"/>
                <a:cs typeface="Arial MT"/>
              </a:rPr>
              <a:t>can</a:t>
            </a:r>
            <a:r>
              <a:rPr sz="1800" spc="-20" dirty="0">
                <a:solidFill>
                  <a:srgbClr val="333333"/>
                </a:solidFill>
                <a:latin typeface="Arial MT"/>
                <a:cs typeface="Arial MT"/>
              </a:rPr>
              <a:t> </a:t>
            </a:r>
            <a:r>
              <a:rPr sz="1800" dirty="0">
                <a:solidFill>
                  <a:srgbClr val="333333"/>
                </a:solidFill>
                <a:latin typeface="Arial MT"/>
                <a:cs typeface="Arial MT"/>
              </a:rPr>
              <a:t>also</a:t>
            </a:r>
            <a:r>
              <a:rPr sz="1800" spc="-20" dirty="0">
                <a:solidFill>
                  <a:srgbClr val="333333"/>
                </a:solidFill>
                <a:latin typeface="Arial MT"/>
                <a:cs typeface="Arial MT"/>
              </a:rPr>
              <a:t> </a:t>
            </a:r>
            <a:r>
              <a:rPr sz="1800" dirty="0">
                <a:solidFill>
                  <a:srgbClr val="333333"/>
                </a:solidFill>
                <a:latin typeface="Arial MT"/>
                <a:cs typeface="Arial MT"/>
              </a:rPr>
              <a:t>contain</a:t>
            </a:r>
            <a:r>
              <a:rPr sz="1800" spc="-20" dirty="0">
                <a:solidFill>
                  <a:srgbClr val="333333"/>
                </a:solidFill>
                <a:latin typeface="Arial MT"/>
                <a:cs typeface="Arial MT"/>
              </a:rPr>
              <a:t> </a:t>
            </a:r>
            <a:r>
              <a:rPr sz="1800" dirty="0">
                <a:solidFill>
                  <a:srgbClr val="333333"/>
                </a:solidFill>
                <a:latin typeface="Arial MT"/>
                <a:cs typeface="Arial MT"/>
              </a:rPr>
              <a:t>multiple</a:t>
            </a:r>
            <a:r>
              <a:rPr sz="1800" spc="-20" dirty="0">
                <a:solidFill>
                  <a:srgbClr val="333333"/>
                </a:solidFill>
                <a:latin typeface="Arial MT"/>
                <a:cs typeface="Arial MT"/>
              </a:rPr>
              <a:t> </a:t>
            </a:r>
            <a:r>
              <a:rPr sz="1800" spc="-10" dirty="0">
                <a:solidFill>
                  <a:srgbClr val="333333"/>
                </a:solidFill>
                <a:latin typeface="Arial MT"/>
                <a:cs typeface="Arial MT"/>
              </a:rPr>
              <a:t>threads.</a:t>
            </a:r>
            <a:endParaRPr sz="1800" dirty="0">
              <a:latin typeface="Arial MT"/>
              <a:cs typeface="Arial MT"/>
            </a:endParaRPr>
          </a:p>
          <a:p>
            <a:pPr marL="12700" marR="271780" algn="just">
              <a:lnSpc>
                <a:spcPct val="114000"/>
              </a:lnSpc>
              <a:spcBef>
                <a:spcPts val="1955"/>
              </a:spcBef>
            </a:pPr>
            <a:r>
              <a:rPr sz="1800" dirty="0">
                <a:solidFill>
                  <a:srgbClr val="333333"/>
                </a:solidFill>
                <a:latin typeface="Arial MT"/>
                <a:cs typeface="Arial MT"/>
              </a:rPr>
              <a:t>The</a:t>
            </a:r>
            <a:r>
              <a:rPr sz="1800" spc="-30" dirty="0">
                <a:solidFill>
                  <a:srgbClr val="333333"/>
                </a:solidFill>
                <a:latin typeface="Arial MT"/>
                <a:cs typeface="Arial MT"/>
              </a:rPr>
              <a:t> </a:t>
            </a:r>
            <a:r>
              <a:rPr sz="1800" dirty="0">
                <a:solidFill>
                  <a:srgbClr val="333333"/>
                </a:solidFill>
                <a:latin typeface="Arial MT"/>
                <a:cs typeface="Arial MT"/>
              </a:rPr>
              <a:t>standard</a:t>
            </a:r>
            <a:r>
              <a:rPr sz="1800" spc="-20" dirty="0">
                <a:solidFill>
                  <a:srgbClr val="333333"/>
                </a:solidFill>
                <a:latin typeface="Arial MT"/>
                <a:cs typeface="Arial MT"/>
              </a:rPr>
              <a:t> </a:t>
            </a:r>
            <a:r>
              <a:rPr sz="1800" dirty="0">
                <a:solidFill>
                  <a:srgbClr val="333333"/>
                </a:solidFill>
                <a:latin typeface="Arial MT"/>
                <a:cs typeface="Arial MT"/>
              </a:rPr>
              <a:t>library</a:t>
            </a:r>
            <a:r>
              <a:rPr sz="1800" spc="-20" dirty="0">
                <a:solidFill>
                  <a:srgbClr val="333333"/>
                </a:solidFill>
                <a:latin typeface="Arial MT"/>
                <a:cs typeface="Arial MT"/>
              </a:rPr>
              <a:t> </a:t>
            </a:r>
            <a:r>
              <a:rPr sz="1800" dirty="0">
                <a:solidFill>
                  <a:srgbClr val="333333"/>
                </a:solidFill>
                <a:latin typeface="Arial MT"/>
                <a:cs typeface="Arial MT"/>
              </a:rPr>
              <a:t>for</a:t>
            </a:r>
            <a:r>
              <a:rPr sz="1800" spc="-15" dirty="0">
                <a:solidFill>
                  <a:srgbClr val="333333"/>
                </a:solidFill>
                <a:latin typeface="Arial MT"/>
                <a:cs typeface="Arial MT"/>
              </a:rPr>
              <a:t> </a:t>
            </a:r>
            <a:r>
              <a:rPr sz="1800" dirty="0">
                <a:solidFill>
                  <a:srgbClr val="333333"/>
                </a:solidFill>
                <a:latin typeface="Arial MT"/>
                <a:cs typeface="Arial MT"/>
              </a:rPr>
              <a:t>creating</a:t>
            </a:r>
            <a:r>
              <a:rPr sz="1800" spc="-20"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thread</a:t>
            </a:r>
            <a:r>
              <a:rPr sz="1800" spc="-20"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spc="-20" dirty="0">
                <a:solidFill>
                  <a:srgbClr val="333333"/>
                </a:solidFill>
                <a:latin typeface="Arial MT"/>
                <a:cs typeface="Arial MT"/>
              </a:rPr>
              <a:t>your </a:t>
            </a:r>
            <a:r>
              <a:rPr sz="1800" dirty="0">
                <a:solidFill>
                  <a:srgbClr val="333333"/>
                </a:solidFill>
                <a:latin typeface="Arial MT"/>
                <a:cs typeface="Arial MT"/>
              </a:rPr>
              <a:t>program</a:t>
            </a:r>
            <a:r>
              <a:rPr sz="1800" spc="-25" dirty="0">
                <a:solidFill>
                  <a:srgbClr val="333333"/>
                </a:solidFill>
                <a:latin typeface="Arial MT"/>
                <a:cs typeface="Arial MT"/>
              </a:rPr>
              <a:t> </a:t>
            </a:r>
            <a:r>
              <a:rPr sz="1800" dirty="0">
                <a:solidFill>
                  <a:srgbClr val="333333"/>
                </a:solidFill>
                <a:latin typeface="Arial MT"/>
                <a:cs typeface="Arial MT"/>
              </a:rPr>
              <a:t>lies</a:t>
            </a:r>
            <a:r>
              <a:rPr sz="1800" spc="-10" dirty="0">
                <a:solidFill>
                  <a:srgbClr val="333333"/>
                </a:solidFill>
                <a:latin typeface="Arial MT"/>
                <a:cs typeface="Arial MT"/>
              </a:rPr>
              <a:t> </a:t>
            </a:r>
            <a:r>
              <a:rPr sz="1800" dirty="0">
                <a:solidFill>
                  <a:srgbClr val="333333"/>
                </a:solidFill>
                <a:latin typeface="Arial MT"/>
                <a:cs typeface="Arial MT"/>
              </a:rPr>
              <a:t>in</a:t>
            </a:r>
            <a:r>
              <a:rPr sz="1800" spc="-10" dirty="0">
                <a:solidFill>
                  <a:srgbClr val="333333"/>
                </a:solidFill>
                <a:latin typeface="Arial MT"/>
                <a:cs typeface="Arial MT"/>
              </a:rPr>
              <a:t> </a:t>
            </a:r>
            <a:r>
              <a:rPr sz="1800" dirty="0">
                <a:solidFill>
                  <a:srgbClr val="333333"/>
                </a:solidFill>
                <a:latin typeface="Arial MT"/>
                <a:cs typeface="Arial MT"/>
              </a:rPr>
              <a:t>the</a:t>
            </a:r>
            <a:r>
              <a:rPr sz="1800" spc="-10" dirty="0">
                <a:solidFill>
                  <a:srgbClr val="333333"/>
                </a:solidFill>
                <a:latin typeface="Arial MT"/>
                <a:cs typeface="Arial MT"/>
              </a:rPr>
              <a:t> </a:t>
            </a:r>
            <a:r>
              <a:rPr sz="1800" dirty="0">
                <a:solidFill>
                  <a:srgbClr val="333333"/>
                </a:solidFill>
                <a:latin typeface="Arial MT"/>
                <a:cs typeface="Arial MT"/>
              </a:rPr>
              <a:t>POSIX</a:t>
            </a:r>
            <a:r>
              <a:rPr sz="1800" spc="-15" dirty="0">
                <a:solidFill>
                  <a:srgbClr val="333333"/>
                </a:solidFill>
                <a:latin typeface="Arial MT"/>
                <a:cs typeface="Arial MT"/>
              </a:rPr>
              <a:t> </a:t>
            </a:r>
            <a:r>
              <a:rPr sz="1800" dirty="0">
                <a:solidFill>
                  <a:srgbClr val="333333"/>
                </a:solidFill>
                <a:latin typeface="Arial MT"/>
                <a:cs typeface="Arial MT"/>
              </a:rPr>
              <a:t>layer</a:t>
            </a:r>
            <a:r>
              <a:rPr sz="1800" spc="-10" dirty="0">
                <a:solidFill>
                  <a:srgbClr val="333333"/>
                </a:solidFill>
                <a:latin typeface="Arial MT"/>
                <a:cs typeface="Arial MT"/>
              </a:rPr>
              <a:t> </a:t>
            </a:r>
            <a:r>
              <a:rPr sz="1800" dirty="0">
                <a:solidFill>
                  <a:srgbClr val="333333"/>
                </a:solidFill>
                <a:latin typeface="Arial MT"/>
                <a:cs typeface="Arial MT"/>
              </a:rPr>
              <a:t>in</a:t>
            </a:r>
            <a:r>
              <a:rPr sz="1800" spc="-10" dirty="0">
                <a:solidFill>
                  <a:srgbClr val="333333"/>
                </a:solidFill>
                <a:latin typeface="Arial MT"/>
                <a:cs typeface="Arial MT"/>
              </a:rPr>
              <a:t> </a:t>
            </a:r>
            <a:r>
              <a:rPr sz="1800" dirty="0">
                <a:solidFill>
                  <a:srgbClr val="333333"/>
                </a:solidFill>
                <a:latin typeface="Arial MT"/>
                <a:cs typeface="Arial MT"/>
              </a:rPr>
              <a:t>the</a:t>
            </a:r>
            <a:r>
              <a:rPr sz="1800" spc="-10" dirty="0">
                <a:solidFill>
                  <a:srgbClr val="333333"/>
                </a:solidFill>
                <a:latin typeface="Arial MT"/>
                <a:cs typeface="Arial MT"/>
              </a:rPr>
              <a:t> Operating System.</a:t>
            </a:r>
            <a:endParaRPr sz="1800" dirty="0">
              <a:latin typeface="Arial MT"/>
              <a:cs typeface="Arial MT"/>
            </a:endParaRPr>
          </a:p>
        </p:txBody>
      </p:sp>
      <p:pic>
        <p:nvPicPr>
          <p:cNvPr id="2" name="object 2" descr="The cover of the O'Reilly book &quot;Pthreads Programming,&quot; featuring a detailed black-and-white illustration of a caterpillar on a leaf."/>
          <p:cNvPicPr/>
          <p:nvPr/>
        </p:nvPicPr>
        <p:blipFill>
          <a:blip r:embed="rId3" cstate="print"/>
          <a:stretch>
            <a:fillRect/>
          </a:stretch>
        </p:blipFill>
        <p:spPr>
          <a:xfrm>
            <a:off x="7046301" y="975075"/>
            <a:ext cx="4002699" cy="56060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408045" cy="406400"/>
          </a:xfrm>
          <a:prstGeom prst="rect">
            <a:avLst/>
          </a:prstGeom>
        </p:spPr>
        <p:txBody>
          <a:bodyPr vert="horz" wrap="square" lIns="0" tIns="12700" rIns="0" bIns="0" rtlCol="0">
            <a:spAutoFit/>
          </a:bodyPr>
          <a:lstStyle/>
          <a:p>
            <a:pPr marL="12700">
              <a:lnSpc>
                <a:spcPct val="100000"/>
              </a:lnSpc>
              <a:spcBef>
                <a:spcPts val="100"/>
              </a:spcBef>
            </a:pPr>
            <a:r>
              <a:rPr dirty="0"/>
              <a:t>POSIX</a:t>
            </a:r>
            <a:r>
              <a:rPr spc="-70" dirty="0"/>
              <a:t> </a:t>
            </a:r>
            <a:r>
              <a:rPr dirty="0"/>
              <a:t>Thread</a:t>
            </a:r>
            <a:r>
              <a:rPr spc="-65" dirty="0"/>
              <a:t> </a:t>
            </a:r>
            <a:r>
              <a:rPr spc="-10" dirty="0"/>
              <a:t>Libraries</a:t>
            </a:r>
          </a:p>
        </p:txBody>
      </p:sp>
      <p:sp>
        <p:nvSpPr>
          <p:cNvPr id="3" name="object 3"/>
          <p:cNvSpPr txBox="1"/>
          <p:nvPr/>
        </p:nvSpPr>
        <p:spPr>
          <a:xfrm>
            <a:off x="410375" y="1797963"/>
            <a:ext cx="249237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F2044"/>
                </a:solidFill>
                <a:latin typeface="Georgia"/>
                <a:cs typeface="Georgia"/>
              </a:rPr>
              <a:t>Programming</a:t>
            </a:r>
            <a:r>
              <a:rPr sz="1800" spc="-60" dirty="0">
                <a:solidFill>
                  <a:srgbClr val="0F2044"/>
                </a:solidFill>
                <a:latin typeface="Georgia"/>
                <a:cs typeface="Georgia"/>
              </a:rPr>
              <a:t> </a:t>
            </a:r>
            <a:r>
              <a:rPr sz="1800" spc="-10" dirty="0">
                <a:solidFill>
                  <a:srgbClr val="0F2044"/>
                </a:solidFill>
                <a:latin typeface="Georgia"/>
                <a:cs typeface="Georgia"/>
              </a:rPr>
              <a:t>Interfaces</a:t>
            </a:r>
            <a:endParaRPr sz="1800">
              <a:latin typeface="Georgia"/>
              <a:cs typeface="Georgia"/>
            </a:endParaRPr>
          </a:p>
        </p:txBody>
      </p:sp>
      <p:sp>
        <p:nvSpPr>
          <p:cNvPr id="4" name="object 4"/>
          <p:cNvSpPr txBox="1"/>
          <p:nvPr/>
        </p:nvSpPr>
        <p:spPr>
          <a:xfrm>
            <a:off x="419100" y="2262174"/>
            <a:ext cx="4981575" cy="3543278"/>
          </a:xfrm>
          <a:prstGeom prst="rect">
            <a:avLst/>
          </a:prstGeom>
          <a:solidFill>
            <a:srgbClr val="C9DAF7"/>
          </a:solidFill>
          <a:ln w="9524">
            <a:solidFill>
              <a:srgbClr val="000000"/>
            </a:solidFill>
          </a:ln>
        </p:spPr>
        <p:txBody>
          <a:bodyPr vert="horz" wrap="square" lIns="0" tIns="49530" rIns="0" bIns="91440" rtlCol="0">
            <a:spAutoFit/>
          </a:bodyPr>
          <a:lstStyle/>
          <a:p>
            <a:pPr marL="85725">
              <a:lnSpc>
                <a:spcPct val="100000"/>
              </a:lnSpc>
              <a:spcBef>
                <a:spcPts val="390"/>
              </a:spcBef>
            </a:pPr>
            <a:r>
              <a:rPr sz="2100" b="1" spc="75" dirty="0">
                <a:solidFill>
                  <a:srgbClr val="0F2044"/>
                </a:solidFill>
                <a:latin typeface="Arial"/>
                <a:cs typeface="Arial"/>
              </a:rPr>
              <a:t>P</a:t>
            </a:r>
            <a:r>
              <a:rPr lang="en-US" sz="2100" b="1" spc="75" dirty="0">
                <a:solidFill>
                  <a:srgbClr val="0F2044"/>
                </a:solidFill>
                <a:latin typeface="Arial"/>
                <a:cs typeface="Arial"/>
              </a:rPr>
              <a:t>r</a:t>
            </a:r>
            <a:r>
              <a:rPr sz="2100" b="1" spc="75" dirty="0">
                <a:solidFill>
                  <a:srgbClr val="0F2044"/>
                </a:solidFill>
                <a:latin typeface="Arial"/>
                <a:cs typeface="Arial"/>
              </a:rPr>
              <a:t>ocess</a:t>
            </a:r>
            <a:r>
              <a:rPr sz="2100" b="1" spc="40" dirty="0">
                <a:solidFill>
                  <a:srgbClr val="0F2044"/>
                </a:solidFill>
                <a:latin typeface="Arial"/>
                <a:cs typeface="Arial"/>
              </a:rPr>
              <a:t> </a:t>
            </a:r>
            <a:r>
              <a:rPr sz="2100" b="1" spc="155" dirty="0">
                <a:solidFill>
                  <a:srgbClr val="0F2044"/>
                </a:solidFill>
                <a:latin typeface="Arial"/>
                <a:cs typeface="Arial"/>
              </a:rPr>
              <a:t>management</a:t>
            </a:r>
            <a:r>
              <a:rPr sz="2100" b="1" spc="45" dirty="0">
                <a:solidFill>
                  <a:srgbClr val="0F2044"/>
                </a:solidFill>
                <a:latin typeface="Arial"/>
                <a:cs typeface="Arial"/>
              </a:rPr>
              <a:t> </a:t>
            </a:r>
            <a:r>
              <a:rPr sz="2100" b="1" spc="80" dirty="0">
                <a:solidFill>
                  <a:srgbClr val="0F2044"/>
                </a:solidFill>
                <a:latin typeface="Arial"/>
                <a:cs typeface="Arial"/>
              </a:rPr>
              <a:t>functions</a:t>
            </a:r>
            <a:endParaRPr sz="2100" dirty="0">
              <a:latin typeface="Arial"/>
              <a:cs typeface="Arial"/>
            </a:endParaRPr>
          </a:p>
          <a:p>
            <a:pPr marL="542290" indent="-366395">
              <a:lnSpc>
                <a:spcPts val="2050"/>
              </a:lnSpc>
              <a:spcBef>
                <a:spcPts val="2055"/>
              </a:spcBef>
              <a:buFont typeface="Arial MT"/>
              <a:buChar char="●"/>
              <a:tabLst>
                <a:tab pos="542290" algn="l"/>
              </a:tabLst>
            </a:pPr>
            <a:r>
              <a:rPr sz="1800" b="1" spc="-20" dirty="0">
                <a:solidFill>
                  <a:srgbClr val="0F2044"/>
                </a:solidFill>
                <a:latin typeface="Courier New"/>
                <a:cs typeface="Courier New"/>
              </a:rPr>
              <a:t>fork</a:t>
            </a:r>
            <a:endParaRPr sz="1800" b="1" dirty="0">
              <a:latin typeface="Courier New"/>
              <a:cs typeface="Courier New"/>
            </a:endParaRPr>
          </a:p>
          <a:p>
            <a:pPr marL="1000125">
              <a:lnSpc>
                <a:spcPts val="2050"/>
              </a:lnSpc>
            </a:pPr>
            <a:r>
              <a:rPr sz="1800" dirty="0">
                <a:solidFill>
                  <a:srgbClr val="0F2044"/>
                </a:solidFill>
                <a:latin typeface="Arial MT"/>
                <a:cs typeface="Arial MT"/>
              </a:rPr>
              <a:t>creates</a:t>
            </a:r>
            <a:r>
              <a:rPr sz="1800" spc="-10" dirty="0">
                <a:solidFill>
                  <a:srgbClr val="0F2044"/>
                </a:solidFill>
                <a:latin typeface="Arial MT"/>
                <a:cs typeface="Arial MT"/>
              </a:rPr>
              <a:t> </a:t>
            </a:r>
            <a:r>
              <a:rPr sz="1800" dirty="0">
                <a:solidFill>
                  <a:srgbClr val="0F2044"/>
                </a:solidFill>
                <a:latin typeface="Arial MT"/>
                <a:cs typeface="Arial MT"/>
              </a:rPr>
              <a:t>a</a:t>
            </a:r>
            <a:r>
              <a:rPr sz="1800" spc="-10" dirty="0">
                <a:solidFill>
                  <a:srgbClr val="0F2044"/>
                </a:solidFill>
                <a:latin typeface="Arial MT"/>
                <a:cs typeface="Arial MT"/>
              </a:rPr>
              <a:t> </a:t>
            </a:r>
            <a:r>
              <a:rPr sz="1800" dirty="0">
                <a:solidFill>
                  <a:srgbClr val="0F2044"/>
                </a:solidFill>
                <a:latin typeface="Arial MT"/>
                <a:cs typeface="Arial MT"/>
              </a:rPr>
              <a:t>new</a:t>
            </a:r>
            <a:r>
              <a:rPr sz="1800" spc="-5" dirty="0">
                <a:solidFill>
                  <a:srgbClr val="0F2044"/>
                </a:solidFill>
                <a:latin typeface="Arial MT"/>
                <a:cs typeface="Arial MT"/>
              </a:rPr>
              <a:t> </a:t>
            </a:r>
            <a:r>
              <a:rPr sz="1800" spc="-10" dirty="0">
                <a:solidFill>
                  <a:srgbClr val="0F2044"/>
                </a:solidFill>
                <a:latin typeface="Arial MT"/>
                <a:cs typeface="Arial MT"/>
              </a:rPr>
              <a:t>process</a:t>
            </a:r>
            <a:endParaRPr sz="1800" dirty="0">
              <a:latin typeface="Arial MT"/>
              <a:cs typeface="Arial MT"/>
            </a:endParaRPr>
          </a:p>
          <a:p>
            <a:pPr marL="542290" indent="-366395">
              <a:lnSpc>
                <a:spcPts val="2050"/>
              </a:lnSpc>
              <a:spcBef>
                <a:spcPts val="1730"/>
              </a:spcBef>
              <a:buFont typeface="Arial MT"/>
              <a:buChar char="●"/>
              <a:tabLst>
                <a:tab pos="542290" algn="l"/>
              </a:tabLst>
            </a:pPr>
            <a:r>
              <a:rPr sz="1800" b="1" spc="-20" dirty="0">
                <a:solidFill>
                  <a:srgbClr val="0F2044"/>
                </a:solidFill>
                <a:latin typeface="Courier New"/>
                <a:cs typeface="Courier New"/>
              </a:rPr>
              <a:t>wait</a:t>
            </a:r>
            <a:endParaRPr sz="1800" b="1" dirty="0">
              <a:latin typeface="Courier New"/>
              <a:cs typeface="Courier New"/>
            </a:endParaRPr>
          </a:p>
          <a:p>
            <a:pPr marL="1000125">
              <a:lnSpc>
                <a:spcPts val="2050"/>
              </a:lnSpc>
            </a:pPr>
            <a:r>
              <a:rPr sz="1800" dirty="0">
                <a:solidFill>
                  <a:srgbClr val="0F2044"/>
                </a:solidFill>
                <a:latin typeface="Arial MT"/>
                <a:cs typeface="Arial MT"/>
              </a:rPr>
              <a:t>waits</a:t>
            </a:r>
            <a:r>
              <a:rPr sz="1800" spc="-15" dirty="0">
                <a:solidFill>
                  <a:srgbClr val="0F2044"/>
                </a:solidFill>
                <a:latin typeface="Arial MT"/>
                <a:cs typeface="Arial MT"/>
              </a:rPr>
              <a:t> </a:t>
            </a:r>
            <a:r>
              <a:rPr sz="1800" dirty="0">
                <a:solidFill>
                  <a:srgbClr val="0F2044"/>
                </a:solidFill>
                <a:latin typeface="Arial MT"/>
                <a:cs typeface="Arial MT"/>
              </a:rPr>
              <a:t>for</a:t>
            </a:r>
            <a:r>
              <a:rPr sz="1800" spc="-10" dirty="0">
                <a:solidFill>
                  <a:srgbClr val="0F2044"/>
                </a:solidFill>
                <a:latin typeface="Arial MT"/>
                <a:cs typeface="Arial MT"/>
              </a:rPr>
              <a:t> </a:t>
            </a:r>
            <a:r>
              <a:rPr sz="1800" dirty="0">
                <a:solidFill>
                  <a:srgbClr val="0F2044"/>
                </a:solidFill>
                <a:latin typeface="Arial MT"/>
                <a:cs typeface="Arial MT"/>
              </a:rPr>
              <a:t>child</a:t>
            </a:r>
            <a:r>
              <a:rPr sz="1800" spc="-15" dirty="0">
                <a:solidFill>
                  <a:srgbClr val="0F2044"/>
                </a:solidFill>
                <a:latin typeface="Arial MT"/>
                <a:cs typeface="Arial MT"/>
              </a:rPr>
              <a:t> </a:t>
            </a:r>
            <a:r>
              <a:rPr sz="1800" dirty="0">
                <a:solidFill>
                  <a:srgbClr val="0F2044"/>
                </a:solidFill>
                <a:latin typeface="Arial MT"/>
                <a:cs typeface="Arial MT"/>
              </a:rPr>
              <a:t>exit</a:t>
            </a:r>
            <a:r>
              <a:rPr sz="1800" spc="-10" dirty="0">
                <a:solidFill>
                  <a:srgbClr val="0F2044"/>
                </a:solidFill>
                <a:latin typeface="Arial MT"/>
                <a:cs typeface="Arial MT"/>
              </a:rPr>
              <a:t> </a:t>
            </a:r>
            <a:r>
              <a:rPr sz="1800" dirty="0">
                <a:solidFill>
                  <a:srgbClr val="0F2044"/>
                </a:solidFill>
                <a:latin typeface="Arial MT"/>
                <a:cs typeface="Arial MT"/>
              </a:rPr>
              <a:t>and</a:t>
            </a:r>
            <a:r>
              <a:rPr sz="1800" spc="-15" dirty="0">
                <a:solidFill>
                  <a:srgbClr val="0F2044"/>
                </a:solidFill>
                <a:latin typeface="Arial MT"/>
                <a:cs typeface="Arial MT"/>
              </a:rPr>
              <a:t> </a:t>
            </a:r>
            <a:r>
              <a:rPr sz="1800" dirty="0">
                <a:solidFill>
                  <a:srgbClr val="0F2044"/>
                </a:solidFill>
                <a:latin typeface="Arial MT"/>
                <a:cs typeface="Arial MT"/>
              </a:rPr>
              <a:t>gets</a:t>
            </a:r>
            <a:r>
              <a:rPr sz="1800" spc="-10" dirty="0">
                <a:solidFill>
                  <a:srgbClr val="0F2044"/>
                </a:solidFill>
                <a:latin typeface="Arial MT"/>
                <a:cs typeface="Arial MT"/>
              </a:rPr>
              <a:t> status</a:t>
            </a:r>
            <a:endParaRPr sz="1800" dirty="0">
              <a:latin typeface="Arial MT"/>
              <a:cs typeface="Arial MT"/>
            </a:endParaRPr>
          </a:p>
          <a:p>
            <a:pPr marL="542290" indent="-366395">
              <a:lnSpc>
                <a:spcPts val="2050"/>
              </a:lnSpc>
              <a:spcBef>
                <a:spcPts val="1725"/>
              </a:spcBef>
              <a:buFont typeface="Arial MT"/>
              <a:buChar char="●"/>
              <a:tabLst>
                <a:tab pos="542290" algn="l"/>
              </a:tabLst>
            </a:pPr>
            <a:r>
              <a:rPr sz="1800" b="1" spc="-20" dirty="0">
                <a:solidFill>
                  <a:srgbClr val="0F2044"/>
                </a:solidFill>
                <a:latin typeface="Courier New"/>
                <a:cs typeface="Courier New"/>
              </a:rPr>
              <a:t>kill</a:t>
            </a:r>
            <a:endParaRPr sz="1800" b="1" dirty="0">
              <a:latin typeface="Courier New"/>
              <a:cs typeface="Courier New"/>
            </a:endParaRPr>
          </a:p>
          <a:p>
            <a:pPr marL="1000125">
              <a:lnSpc>
                <a:spcPts val="2050"/>
              </a:lnSpc>
            </a:pPr>
            <a:r>
              <a:rPr sz="1800" dirty="0">
                <a:solidFill>
                  <a:srgbClr val="0F2044"/>
                </a:solidFill>
                <a:latin typeface="Arial MT"/>
                <a:cs typeface="Arial MT"/>
              </a:rPr>
              <a:t>signals</a:t>
            </a:r>
            <a:r>
              <a:rPr sz="1800" spc="-5" dirty="0">
                <a:solidFill>
                  <a:srgbClr val="0F2044"/>
                </a:solidFill>
                <a:latin typeface="Arial MT"/>
                <a:cs typeface="Arial MT"/>
              </a:rPr>
              <a:t> </a:t>
            </a:r>
            <a:r>
              <a:rPr sz="1800" dirty="0">
                <a:solidFill>
                  <a:srgbClr val="0F2044"/>
                </a:solidFill>
                <a:latin typeface="Arial MT"/>
                <a:cs typeface="Arial MT"/>
              </a:rPr>
              <a:t>(stops)</a:t>
            </a:r>
            <a:r>
              <a:rPr sz="1800" spc="-5" dirty="0">
                <a:solidFill>
                  <a:srgbClr val="0F2044"/>
                </a:solidFill>
                <a:latin typeface="Arial MT"/>
                <a:cs typeface="Arial MT"/>
              </a:rPr>
              <a:t> </a:t>
            </a:r>
            <a:r>
              <a:rPr sz="1800" dirty="0">
                <a:solidFill>
                  <a:srgbClr val="0F2044"/>
                </a:solidFill>
                <a:latin typeface="Arial MT"/>
                <a:cs typeface="Arial MT"/>
              </a:rPr>
              <a:t>another</a:t>
            </a:r>
            <a:r>
              <a:rPr sz="1800" spc="-5" dirty="0">
                <a:solidFill>
                  <a:srgbClr val="0F2044"/>
                </a:solidFill>
                <a:latin typeface="Arial MT"/>
                <a:cs typeface="Arial MT"/>
              </a:rPr>
              <a:t> </a:t>
            </a:r>
            <a:r>
              <a:rPr sz="1800" spc="-10" dirty="0">
                <a:solidFill>
                  <a:srgbClr val="0F2044"/>
                </a:solidFill>
                <a:latin typeface="Arial MT"/>
                <a:cs typeface="Arial MT"/>
              </a:rPr>
              <a:t>process</a:t>
            </a:r>
            <a:endParaRPr sz="1800" dirty="0">
              <a:latin typeface="Arial MT"/>
              <a:cs typeface="Arial MT"/>
            </a:endParaRPr>
          </a:p>
          <a:p>
            <a:pPr marL="542290" indent="-366395">
              <a:lnSpc>
                <a:spcPts val="2050"/>
              </a:lnSpc>
              <a:spcBef>
                <a:spcPts val="1730"/>
              </a:spcBef>
              <a:buFont typeface="Arial MT"/>
              <a:buChar char="●"/>
              <a:tabLst>
                <a:tab pos="542290" algn="l"/>
              </a:tabLst>
            </a:pPr>
            <a:r>
              <a:rPr sz="1800" b="1" spc="-20" dirty="0">
                <a:solidFill>
                  <a:srgbClr val="0F2044"/>
                </a:solidFill>
                <a:latin typeface="Courier New"/>
                <a:cs typeface="Courier New"/>
              </a:rPr>
              <a:t>exit</a:t>
            </a:r>
            <a:endParaRPr sz="1800" b="1" dirty="0">
              <a:latin typeface="Courier New"/>
              <a:cs typeface="Courier New"/>
            </a:endParaRPr>
          </a:p>
          <a:p>
            <a:pPr marL="1000125">
              <a:lnSpc>
                <a:spcPts val="2050"/>
              </a:lnSpc>
            </a:pPr>
            <a:r>
              <a:rPr sz="1800" dirty="0">
                <a:solidFill>
                  <a:srgbClr val="0F2044"/>
                </a:solidFill>
                <a:latin typeface="Arial MT"/>
                <a:cs typeface="Arial MT"/>
              </a:rPr>
              <a:t>exits</a:t>
            </a:r>
            <a:r>
              <a:rPr sz="1800" spc="-5" dirty="0">
                <a:solidFill>
                  <a:srgbClr val="0F2044"/>
                </a:solidFill>
                <a:latin typeface="Arial MT"/>
                <a:cs typeface="Arial MT"/>
              </a:rPr>
              <a:t> </a:t>
            </a:r>
            <a:r>
              <a:rPr sz="1800" dirty="0">
                <a:solidFill>
                  <a:srgbClr val="0F2044"/>
                </a:solidFill>
                <a:latin typeface="Arial MT"/>
                <a:cs typeface="Arial MT"/>
              </a:rPr>
              <a:t>this</a:t>
            </a:r>
            <a:r>
              <a:rPr sz="1800" spc="-5" dirty="0">
                <a:solidFill>
                  <a:srgbClr val="0F2044"/>
                </a:solidFill>
                <a:latin typeface="Arial MT"/>
                <a:cs typeface="Arial MT"/>
              </a:rPr>
              <a:t> </a:t>
            </a:r>
            <a:r>
              <a:rPr sz="1800" spc="-10" dirty="0">
                <a:solidFill>
                  <a:srgbClr val="0F2044"/>
                </a:solidFill>
                <a:latin typeface="Arial MT"/>
                <a:cs typeface="Arial MT"/>
              </a:rPr>
              <a:t>process</a:t>
            </a:r>
            <a:endParaRPr sz="1800" dirty="0">
              <a:latin typeface="Arial MT"/>
              <a:cs typeface="Arial MT"/>
            </a:endParaRPr>
          </a:p>
        </p:txBody>
      </p:sp>
      <p:sp>
        <p:nvSpPr>
          <p:cNvPr id="5" name="object 5"/>
          <p:cNvSpPr txBox="1"/>
          <p:nvPr/>
        </p:nvSpPr>
        <p:spPr>
          <a:xfrm>
            <a:off x="5826474" y="2262174"/>
            <a:ext cx="4981575" cy="3543278"/>
          </a:xfrm>
          <a:prstGeom prst="rect">
            <a:avLst/>
          </a:prstGeom>
          <a:solidFill>
            <a:srgbClr val="FCE4CD"/>
          </a:solidFill>
          <a:ln w="9524">
            <a:solidFill>
              <a:srgbClr val="000000"/>
            </a:solidFill>
          </a:ln>
        </p:spPr>
        <p:txBody>
          <a:bodyPr vert="horz" wrap="square" lIns="0" tIns="49530" rIns="0" bIns="91440" rtlCol="0">
            <a:spAutoFit/>
          </a:bodyPr>
          <a:lstStyle/>
          <a:p>
            <a:pPr marL="85725">
              <a:lnSpc>
                <a:spcPct val="100000"/>
              </a:lnSpc>
              <a:spcBef>
                <a:spcPts val="390"/>
              </a:spcBef>
            </a:pPr>
            <a:r>
              <a:rPr sz="2100" b="1" spc="185" dirty="0">
                <a:solidFill>
                  <a:srgbClr val="0F2044"/>
                </a:solidFill>
                <a:latin typeface="Arial"/>
                <a:cs typeface="Arial"/>
              </a:rPr>
              <a:t>Th</a:t>
            </a:r>
            <a:r>
              <a:rPr lang="en-US" sz="2100" b="1" spc="185" dirty="0">
                <a:solidFill>
                  <a:srgbClr val="0F2044"/>
                </a:solidFill>
                <a:latin typeface="Arial"/>
                <a:cs typeface="Arial"/>
              </a:rPr>
              <a:t>r</a:t>
            </a:r>
            <a:r>
              <a:rPr sz="2100" b="1" spc="185" dirty="0">
                <a:solidFill>
                  <a:srgbClr val="0F2044"/>
                </a:solidFill>
                <a:latin typeface="Arial"/>
                <a:cs typeface="Arial"/>
              </a:rPr>
              <a:t>ead</a:t>
            </a:r>
            <a:r>
              <a:rPr sz="2100" b="1" spc="35" dirty="0">
                <a:solidFill>
                  <a:srgbClr val="0F2044"/>
                </a:solidFill>
                <a:latin typeface="Arial"/>
                <a:cs typeface="Arial"/>
              </a:rPr>
              <a:t> </a:t>
            </a:r>
            <a:r>
              <a:rPr sz="2100" b="1" spc="155" dirty="0">
                <a:solidFill>
                  <a:srgbClr val="0F2044"/>
                </a:solidFill>
                <a:latin typeface="Arial"/>
                <a:cs typeface="Arial"/>
              </a:rPr>
              <a:t>management</a:t>
            </a:r>
            <a:r>
              <a:rPr sz="2100" b="1" spc="35" dirty="0">
                <a:solidFill>
                  <a:srgbClr val="0F2044"/>
                </a:solidFill>
                <a:latin typeface="Arial"/>
                <a:cs typeface="Arial"/>
              </a:rPr>
              <a:t> </a:t>
            </a:r>
            <a:r>
              <a:rPr sz="2100" b="1" spc="80" dirty="0">
                <a:solidFill>
                  <a:srgbClr val="0F2044"/>
                </a:solidFill>
                <a:latin typeface="Arial"/>
                <a:cs typeface="Arial"/>
              </a:rPr>
              <a:t>functions</a:t>
            </a:r>
            <a:endParaRPr sz="2100" dirty="0">
              <a:latin typeface="Arial"/>
              <a:cs typeface="Arial"/>
            </a:endParaRPr>
          </a:p>
          <a:p>
            <a:pPr marL="542290" indent="-366395">
              <a:lnSpc>
                <a:spcPts val="2050"/>
              </a:lnSpc>
              <a:spcBef>
                <a:spcPts val="2055"/>
              </a:spcBef>
              <a:buFont typeface="Arial MT"/>
              <a:buChar char="●"/>
              <a:tabLst>
                <a:tab pos="542290" algn="l"/>
              </a:tabLst>
            </a:pPr>
            <a:r>
              <a:rPr sz="1800" b="1" spc="-10" dirty="0">
                <a:solidFill>
                  <a:srgbClr val="0F2044"/>
                </a:solidFill>
                <a:latin typeface="Courier New"/>
                <a:cs typeface="Courier New"/>
              </a:rPr>
              <a:t>pthread_create</a:t>
            </a:r>
            <a:endParaRPr sz="1800" b="1" dirty="0">
              <a:latin typeface="Courier New"/>
              <a:cs typeface="Courier New"/>
            </a:endParaRPr>
          </a:p>
          <a:p>
            <a:pPr marL="1000125">
              <a:lnSpc>
                <a:spcPts val="2050"/>
              </a:lnSpc>
            </a:pPr>
            <a:r>
              <a:rPr sz="1800" dirty="0">
                <a:solidFill>
                  <a:srgbClr val="0F2044"/>
                </a:solidFill>
                <a:latin typeface="Arial MT"/>
                <a:cs typeface="Arial MT"/>
              </a:rPr>
              <a:t>creates</a:t>
            </a:r>
            <a:r>
              <a:rPr sz="1800" spc="-10" dirty="0">
                <a:solidFill>
                  <a:srgbClr val="0F2044"/>
                </a:solidFill>
                <a:latin typeface="Arial MT"/>
                <a:cs typeface="Arial MT"/>
              </a:rPr>
              <a:t> </a:t>
            </a:r>
            <a:r>
              <a:rPr sz="1800" dirty="0">
                <a:solidFill>
                  <a:srgbClr val="0F2044"/>
                </a:solidFill>
                <a:latin typeface="Arial MT"/>
                <a:cs typeface="Arial MT"/>
              </a:rPr>
              <a:t>a</a:t>
            </a:r>
            <a:r>
              <a:rPr sz="1800" spc="-10" dirty="0">
                <a:solidFill>
                  <a:srgbClr val="0F2044"/>
                </a:solidFill>
                <a:latin typeface="Arial MT"/>
                <a:cs typeface="Arial MT"/>
              </a:rPr>
              <a:t> </a:t>
            </a:r>
            <a:r>
              <a:rPr sz="1800" dirty="0">
                <a:solidFill>
                  <a:srgbClr val="0F2044"/>
                </a:solidFill>
                <a:latin typeface="Arial MT"/>
                <a:cs typeface="Arial MT"/>
              </a:rPr>
              <a:t>new</a:t>
            </a:r>
            <a:r>
              <a:rPr sz="1800" spc="-5" dirty="0">
                <a:solidFill>
                  <a:srgbClr val="0F2044"/>
                </a:solidFill>
                <a:latin typeface="Arial MT"/>
                <a:cs typeface="Arial MT"/>
              </a:rPr>
              <a:t> </a:t>
            </a:r>
            <a:r>
              <a:rPr sz="1800" spc="-10" dirty="0">
                <a:solidFill>
                  <a:srgbClr val="0F2044"/>
                </a:solidFill>
                <a:latin typeface="Arial MT"/>
                <a:cs typeface="Arial MT"/>
              </a:rPr>
              <a:t>thread</a:t>
            </a:r>
            <a:endParaRPr sz="1800" dirty="0">
              <a:latin typeface="Arial MT"/>
              <a:cs typeface="Arial MT"/>
            </a:endParaRPr>
          </a:p>
          <a:p>
            <a:pPr marL="542290" indent="-366395">
              <a:lnSpc>
                <a:spcPts val="2050"/>
              </a:lnSpc>
              <a:spcBef>
                <a:spcPts val="1730"/>
              </a:spcBef>
              <a:buFont typeface="Arial MT"/>
              <a:buChar char="●"/>
              <a:tabLst>
                <a:tab pos="542290" algn="l"/>
              </a:tabLst>
            </a:pPr>
            <a:r>
              <a:rPr sz="1800" b="1" spc="-10" dirty="0">
                <a:solidFill>
                  <a:srgbClr val="0F2044"/>
                </a:solidFill>
                <a:latin typeface="Courier New"/>
                <a:cs typeface="Courier New"/>
              </a:rPr>
              <a:t>pthread_join</a:t>
            </a:r>
            <a:endParaRPr sz="1800" b="1" dirty="0">
              <a:latin typeface="Courier New"/>
              <a:cs typeface="Courier New"/>
            </a:endParaRPr>
          </a:p>
          <a:p>
            <a:pPr marL="1000125">
              <a:lnSpc>
                <a:spcPts val="2050"/>
              </a:lnSpc>
            </a:pPr>
            <a:r>
              <a:rPr sz="1800" dirty="0">
                <a:solidFill>
                  <a:srgbClr val="0F2044"/>
                </a:solidFill>
                <a:latin typeface="Arial MT"/>
                <a:cs typeface="Arial MT"/>
              </a:rPr>
              <a:t>waits</a:t>
            </a:r>
            <a:r>
              <a:rPr sz="1800" spc="-15" dirty="0">
                <a:solidFill>
                  <a:srgbClr val="0F2044"/>
                </a:solidFill>
                <a:latin typeface="Arial MT"/>
                <a:cs typeface="Arial MT"/>
              </a:rPr>
              <a:t> </a:t>
            </a:r>
            <a:r>
              <a:rPr sz="1800" dirty="0">
                <a:solidFill>
                  <a:srgbClr val="0F2044"/>
                </a:solidFill>
                <a:latin typeface="Arial MT"/>
                <a:cs typeface="Arial MT"/>
              </a:rPr>
              <a:t>for</a:t>
            </a:r>
            <a:r>
              <a:rPr sz="1800" spc="-15" dirty="0">
                <a:solidFill>
                  <a:srgbClr val="0F2044"/>
                </a:solidFill>
                <a:latin typeface="Arial MT"/>
                <a:cs typeface="Arial MT"/>
              </a:rPr>
              <a:t> </a:t>
            </a:r>
            <a:r>
              <a:rPr sz="1800" dirty="0">
                <a:solidFill>
                  <a:srgbClr val="0F2044"/>
                </a:solidFill>
                <a:latin typeface="Arial MT"/>
                <a:cs typeface="Arial MT"/>
              </a:rPr>
              <a:t>thread</a:t>
            </a:r>
            <a:r>
              <a:rPr sz="1800" spc="-10" dirty="0">
                <a:solidFill>
                  <a:srgbClr val="0F2044"/>
                </a:solidFill>
                <a:latin typeface="Arial MT"/>
                <a:cs typeface="Arial MT"/>
              </a:rPr>
              <a:t> </a:t>
            </a:r>
            <a:r>
              <a:rPr sz="1800" dirty="0">
                <a:solidFill>
                  <a:srgbClr val="0F2044"/>
                </a:solidFill>
                <a:latin typeface="Arial MT"/>
                <a:cs typeface="Arial MT"/>
              </a:rPr>
              <a:t>exit</a:t>
            </a:r>
            <a:r>
              <a:rPr sz="1800" spc="-15" dirty="0">
                <a:solidFill>
                  <a:srgbClr val="0F2044"/>
                </a:solidFill>
                <a:latin typeface="Arial MT"/>
                <a:cs typeface="Arial MT"/>
              </a:rPr>
              <a:t> </a:t>
            </a:r>
            <a:r>
              <a:rPr sz="1800" dirty="0">
                <a:solidFill>
                  <a:srgbClr val="0F2044"/>
                </a:solidFill>
                <a:latin typeface="Arial MT"/>
                <a:cs typeface="Arial MT"/>
              </a:rPr>
              <a:t>and</a:t>
            </a:r>
            <a:r>
              <a:rPr sz="1800" spc="-15" dirty="0">
                <a:solidFill>
                  <a:srgbClr val="0F2044"/>
                </a:solidFill>
                <a:latin typeface="Arial MT"/>
                <a:cs typeface="Arial MT"/>
              </a:rPr>
              <a:t> </a:t>
            </a:r>
            <a:r>
              <a:rPr sz="1800" dirty="0">
                <a:solidFill>
                  <a:srgbClr val="0F2044"/>
                </a:solidFill>
                <a:latin typeface="Arial MT"/>
                <a:cs typeface="Arial MT"/>
              </a:rPr>
              <a:t>gets</a:t>
            </a:r>
            <a:r>
              <a:rPr sz="1800" spc="-10" dirty="0">
                <a:solidFill>
                  <a:srgbClr val="0F2044"/>
                </a:solidFill>
                <a:latin typeface="Arial MT"/>
                <a:cs typeface="Arial MT"/>
              </a:rPr>
              <a:t> status</a:t>
            </a:r>
            <a:endParaRPr sz="1800" dirty="0">
              <a:latin typeface="Arial MT"/>
              <a:cs typeface="Arial MT"/>
            </a:endParaRPr>
          </a:p>
          <a:p>
            <a:pPr marL="542290" indent="-366395">
              <a:lnSpc>
                <a:spcPts val="2050"/>
              </a:lnSpc>
              <a:spcBef>
                <a:spcPts val="1725"/>
              </a:spcBef>
              <a:buFont typeface="Arial MT"/>
              <a:buChar char="●"/>
              <a:tabLst>
                <a:tab pos="542290" algn="l"/>
              </a:tabLst>
            </a:pPr>
            <a:r>
              <a:rPr sz="1800" b="1" spc="-10" dirty="0">
                <a:solidFill>
                  <a:srgbClr val="0F2044"/>
                </a:solidFill>
                <a:latin typeface="Courier New"/>
                <a:cs typeface="Courier New"/>
              </a:rPr>
              <a:t>pthread_cancel</a:t>
            </a:r>
            <a:endParaRPr sz="1800" b="1" dirty="0">
              <a:latin typeface="Courier New"/>
              <a:cs typeface="Courier New"/>
            </a:endParaRPr>
          </a:p>
          <a:p>
            <a:pPr marL="1000125">
              <a:lnSpc>
                <a:spcPts val="2050"/>
              </a:lnSpc>
            </a:pPr>
            <a:r>
              <a:rPr sz="1800" dirty="0">
                <a:solidFill>
                  <a:srgbClr val="0F2044"/>
                </a:solidFill>
                <a:latin typeface="Arial MT"/>
                <a:cs typeface="Arial MT"/>
              </a:rPr>
              <a:t>stops</a:t>
            </a:r>
            <a:r>
              <a:rPr sz="1800" spc="-30" dirty="0">
                <a:solidFill>
                  <a:srgbClr val="0F2044"/>
                </a:solidFill>
                <a:latin typeface="Arial MT"/>
                <a:cs typeface="Arial MT"/>
              </a:rPr>
              <a:t> </a:t>
            </a:r>
            <a:r>
              <a:rPr sz="1800" dirty="0">
                <a:solidFill>
                  <a:srgbClr val="0F2044"/>
                </a:solidFill>
                <a:latin typeface="Arial MT"/>
                <a:cs typeface="Arial MT"/>
              </a:rPr>
              <a:t>a</a:t>
            </a:r>
            <a:r>
              <a:rPr sz="1800" spc="-30" dirty="0">
                <a:solidFill>
                  <a:srgbClr val="0F2044"/>
                </a:solidFill>
                <a:latin typeface="Arial MT"/>
                <a:cs typeface="Arial MT"/>
              </a:rPr>
              <a:t> </a:t>
            </a:r>
            <a:r>
              <a:rPr sz="1800" dirty="0">
                <a:solidFill>
                  <a:srgbClr val="0F2044"/>
                </a:solidFill>
                <a:latin typeface="Arial MT"/>
                <a:cs typeface="Arial MT"/>
              </a:rPr>
              <a:t>different</a:t>
            </a:r>
            <a:r>
              <a:rPr sz="1800" spc="-25" dirty="0">
                <a:solidFill>
                  <a:srgbClr val="0F2044"/>
                </a:solidFill>
                <a:latin typeface="Arial MT"/>
                <a:cs typeface="Arial MT"/>
              </a:rPr>
              <a:t> </a:t>
            </a:r>
            <a:r>
              <a:rPr sz="1800" spc="-10" dirty="0">
                <a:solidFill>
                  <a:srgbClr val="0F2044"/>
                </a:solidFill>
                <a:latin typeface="Arial MT"/>
                <a:cs typeface="Arial MT"/>
              </a:rPr>
              <a:t>thread</a:t>
            </a:r>
            <a:endParaRPr sz="1800" dirty="0">
              <a:latin typeface="Arial MT"/>
              <a:cs typeface="Arial MT"/>
            </a:endParaRPr>
          </a:p>
          <a:p>
            <a:pPr marL="542290" indent="-366395">
              <a:lnSpc>
                <a:spcPts val="2050"/>
              </a:lnSpc>
              <a:spcBef>
                <a:spcPts val="1730"/>
              </a:spcBef>
              <a:buFont typeface="Arial MT"/>
              <a:buChar char="●"/>
              <a:tabLst>
                <a:tab pos="542290" algn="l"/>
              </a:tabLst>
            </a:pPr>
            <a:r>
              <a:rPr sz="1800" b="1" spc="-10" dirty="0">
                <a:solidFill>
                  <a:srgbClr val="0F2044"/>
                </a:solidFill>
                <a:latin typeface="Courier New"/>
                <a:cs typeface="Courier New"/>
              </a:rPr>
              <a:t>pthread_exit</a:t>
            </a:r>
            <a:endParaRPr sz="1800" b="1" dirty="0">
              <a:latin typeface="Courier New"/>
              <a:cs typeface="Courier New"/>
            </a:endParaRPr>
          </a:p>
          <a:p>
            <a:pPr marL="1000125">
              <a:lnSpc>
                <a:spcPts val="2050"/>
              </a:lnSpc>
            </a:pPr>
            <a:r>
              <a:rPr sz="1800" dirty="0">
                <a:solidFill>
                  <a:srgbClr val="0F2044"/>
                </a:solidFill>
                <a:latin typeface="Arial MT"/>
                <a:cs typeface="Arial MT"/>
              </a:rPr>
              <a:t>exits</a:t>
            </a:r>
            <a:r>
              <a:rPr sz="1800" spc="-15" dirty="0">
                <a:solidFill>
                  <a:srgbClr val="0F2044"/>
                </a:solidFill>
                <a:latin typeface="Arial MT"/>
                <a:cs typeface="Arial MT"/>
              </a:rPr>
              <a:t> </a:t>
            </a:r>
            <a:r>
              <a:rPr sz="1800" dirty="0">
                <a:solidFill>
                  <a:srgbClr val="0F2044"/>
                </a:solidFill>
                <a:latin typeface="Arial MT"/>
                <a:cs typeface="Arial MT"/>
              </a:rPr>
              <a:t>this</a:t>
            </a:r>
            <a:r>
              <a:rPr sz="1800" spc="-5" dirty="0">
                <a:solidFill>
                  <a:srgbClr val="0F2044"/>
                </a:solidFill>
                <a:latin typeface="Arial MT"/>
                <a:cs typeface="Arial MT"/>
              </a:rPr>
              <a:t> </a:t>
            </a:r>
            <a:r>
              <a:rPr sz="1800" spc="-10" dirty="0">
                <a:solidFill>
                  <a:srgbClr val="0F2044"/>
                </a:solidFill>
                <a:latin typeface="Arial MT"/>
                <a:cs typeface="Arial MT"/>
              </a:rPr>
              <a:t>thread</a:t>
            </a:r>
            <a:endParaRPr sz="1800"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500"/>
                                        <p:tgtEl>
                                          <p:spTgt spid="5">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500"/>
                                        <p:tgtEl>
                                          <p:spTgt spid="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500"/>
                                        <p:tgtEl>
                                          <p:spTgt spid="4">
                                            <p:txEl>
                                              <p:pRg st="5" end="5"/>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fade">
                                      <p:cBhvr>
                                        <p:cTn id="38" dur="500"/>
                                        <p:tgtEl>
                                          <p:spTgt spid="4">
                                            <p:txEl>
                                              <p:pRg st="6" end="6"/>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animEffect transition="in" filter="fade">
                                      <p:cBhvr>
                                        <p:cTn id="41" dur="500"/>
                                        <p:tgtEl>
                                          <p:spTgt spid="5">
                                            <p:txEl>
                                              <p:pRg st="5" end="5"/>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5">
                                            <p:txEl>
                                              <p:pRg st="6" end="6"/>
                                            </p:txEl>
                                          </p:spTgt>
                                        </p:tgtEl>
                                        <p:attrNameLst>
                                          <p:attrName>style.visibility</p:attrName>
                                        </p:attrNameLst>
                                      </p:cBhvr>
                                      <p:to>
                                        <p:strVal val="visible"/>
                                      </p:to>
                                    </p:set>
                                    <p:animEffect transition="in" filter="fade">
                                      <p:cBhvr>
                                        <p:cTn id="44" dur="500"/>
                                        <p:tgtEl>
                                          <p:spTgt spid="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fade">
                                      <p:cBhvr>
                                        <p:cTn id="49" dur="500"/>
                                        <p:tgtEl>
                                          <p:spTgt spid="4">
                                            <p:txEl>
                                              <p:pRg st="7" end="7"/>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Effect transition="in" filter="fade">
                                      <p:cBhvr>
                                        <p:cTn id="52" dur="500"/>
                                        <p:tgtEl>
                                          <p:spTgt spid="4">
                                            <p:txEl>
                                              <p:pRg st="8" end="8"/>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animEffect transition="in" filter="fade">
                                      <p:cBhvr>
                                        <p:cTn id="55" dur="500"/>
                                        <p:tgtEl>
                                          <p:spTgt spid="5">
                                            <p:txEl>
                                              <p:pRg st="7" end="7"/>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5">
                                            <p:txEl>
                                              <p:pRg st="8" end="8"/>
                                            </p:txEl>
                                          </p:spTgt>
                                        </p:tgtEl>
                                        <p:attrNameLst>
                                          <p:attrName>style.visibility</p:attrName>
                                        </p:attrNameLst>
                                      </p:cBhvr>
                                      <p:to>
                                        <p:strVal val="visible"/>
                                      </p:to>
                                    </p:set>
                                    <p:animEffect transition="in" filter="fade">
                                      <p:cBhvr>
                                        <p:cTn id="58"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Creating</a:t>
            </a:r>
            <a:r>
              <a:rPr sz="1800" spc="-110" dirty="0"/>
              <a:t> </a:t>
            </a:r>
            <a:r>
              <a:rPr sz="1800" spc="-10" dirty="0"/>
              <a:t>Threads</a:t>
            </a:r>
            <a:endParaRPr sz="1800" dirty="0"/>
          </a:p>
        </p:txBody>
      </p:sp>
      <p:grpSp>
        <p:nvGrpSpPr>
          <p:cNvPr id="37" name="Group 36" descr="A code snippet in C showing a complete example of creating a thread, passing an integer to be doubled, joining the thread to retrieve the result, and freeing allocated memory.">
            <a:extLst>
              <a:ext uri="{FF2B5EF4-FFF2-40B4-BE49-F238E27FC236}">
                <a16:creationId xmlns:a16="http://schemas.microsoft.com/office/drawing/2014/main" id="{5135E9EF-903B-BD85-620E-3967204AA07B}"/>
              </a:ext>
            </a:extLst>
          </p:cNvPr>
          <p:cNvGrpSpPr/>
          <p:nvPr/>
        </p:nvGrpSpPr>
        <p:grpSpPr>
          <a:xfrm>
            <a:off x="474049" y="2425400"/>
            <a:ext cx="4903495" cy="2136647"/>
            <a:chOff x="474049" y="2425400"/>
            <a:chExt cx="4903495" cy="2136647"/>
          </a:xfrm>
        </p:grpSpPr>
        <p:sp>
          <p:nvSpPr>
            <p:cNvPr id="3" name="object 3"/>
            <p:cNvSpPr txBox="1"/>
            <p:nvPr/>
          </p:nvSpPr>
          <p:spPr>
            <a:xfrm>
              <a:off x="474049" y="2425400"/>
              <a:ext cx="1791335" cy="274320"/>
            </a:xfrm>
            <a:prstGeom prst="rect">
              <a:avLst/>
            </a:prstGeom>
            <a:solidFill>
              <a:srgbClr val="F6F6F6"/>
            </a:solidFill>
          </p:spPr>
          <p:txBody>
            <a:bodyPr vert="horz" wrap="square" lIns="0" tIns="0" rIns="0" bIns="0" rtlCol="0">
              <a:spAutoFit/>
            </a:bodyPr>
            <a:lstStyle/>
            <a:p>
              <a:pPr>
                <a:lnSpc>
                  <a:spcPts val="2090"/>
                </a:lnSpc>
              </a:pPr>
              <a:r>
                <a:rPr sz="1800" b="1" spc="-10" dirty="0">
                  <a:latin typeface="Arial"/>
                  <a:cs typeface="Arial"/>
                </a:rPr>
                <a:t>pthread_create()</a:t>
              </a:r>
              <a:endParaRPr sz="1800" dirty="0">
                <a:latin typeface="Arial"/>
                <a:cs typeface="Arial"/>
              </a:endParaRPr>
            </a:p>
          </p:txBody>
        </p:sp>
        <p:grpSp>
          <p:nvGrpSpPr>
            <p:cNvPr id="4" name="object 4"/>
            <p:cNvGrpSpPr/>
            <p:nvPr/>
          </p:nvGrpSpPr>
          <p:grpSpPr>
            <a:xfrm>
              <a:off x="2456440" y="2956768"/>
              <a:ext cx="1830705" cy="274320"/>
              <a:chOff x="2456440" y="2956768"/>
              <a:chExt cx="1830705" cy="274320"/>
            </a:xfrm>
          </p:grpSpPr>
          <p:sp>
            <p:nvSpPr>
              <p:cNvPr id="5" name="object 5"/>
              <p:cNvSpPr/>
              <p:nvPr/>
            </p:nvSpPr>
            <p:spPr>
              <a:xfrm>
                <a:off x="2456440" y="2956768"/>
                <a:ext cx="1767205" cy="274320"/>
              </a:xfrm>
              <a:custGeom>
                <a:avLst/>
                <a:gdLst/>
                <a:ahLst/>
                <a:cxnLst/>
                <a:rect l="l" t="t" r="r" b="b"/>
                <a:pathLst>
                  <a:path w="1767204" h="274319">
                    <a:moveTo>
                      <a:pt x="1766627" y="274320"/>
                    </a:moveTo>
                    <a:lnTo>
                      <a:pt x="0" y="274320"/>
                    </a:lnTo>
                    <a:lnTo>
                      <a:pt x="0" y="0"/>
                    </a:lnTo>
                    <a:lnTo>
                      <a:pt x="1766627" y="0"/>
                    </a:lnTo>
                    <a:lnTo>
                      <a:pt x="1766627" y="274320"/>
                    </a:lnTo>
                    <a:close/>
                  </a:path>
                </a:pathLst>
              </a:custGeom>
              <a:solidFill>
                <a:srgbClr val="FCE4CD"/>
              </a:solidFill>
            </p:spPr>
            <p:txBody>
              <a:bodyPr wrap="square" lIns="0" tIns="0" rIns="0" bIns="0" rtlCol="0"/>
              <a:lstStyle/>
              <a:p>
                <a:endParaRPr/>
              </a:p>
            </p:txBody>
          </p:sp>
          <p:sp>
            <p:nvSpPr>
              <p:cNvPr id="6" name="object 6"/>
              <p:cNvSpPr/>
              <p:nvPr/>
            </p:nvSpPr>
            <p:spPr>
              <a:xfrm>
                <a:off x="4223067" y="2956768"/>
                <a:ext cx="64135" cy="274320"/>
              </a:xfrm>
              <a:custGeom>
                <a:avLst/>
                <a:gdLst/>
                <a:ahLst/>
                <a:cxnLst/>
                <a:rect l="l" t="t" r="r" b="b"/>
                <a:pathLst>
                  <a:path w="64135" h="274319">
                    <a:moveTo>
                      <a:pt x="63512" y="274320"/>
                    </a:moveTo>
                    <a:lnTo>
                      <a:pt x="0" y="274320"/>
                    </a:lnTo>
                    <a:lnTo>
                      <a:pt x="0" y="0"/>
                    </a:lnTo>
                    <a:lnTo>
                      <a:pt x="63512" y="0"/>
                    </a:lnTo>
                    <a:lnTo>
                      <a:pt x="63512" y="274320"/>
                    </a:lnTo>
                    <a:close/>
                  </a:path>
                </a:pathLst>
              </a:custGeom>
              <a:solidFill>
                <a:srgbClr val="F6F6F6"/>
              </a:solidFill>
            </p:spPr>
            <p:txBody>
              <a:bodyPr wrap="square" lIns="0" tIns="0" rIns="0" bIns="0" rtlCol="0"/>
              <a:lstStyle/>
              <a:p>
                <a:endParaRPr/>
              </a:p>
            </p:txBody>
          </p:sp>
        </p:grpSp>
        <p:sp>
          <p:nvSpPr>
            <p:cNvPr id="7" name="object 7"/>
            <p:cNvSpPr txBox="1"/>
            <p:nvPr/>
          </p:nvSpPr>
          <p:spPr>
            <a:xfrm>
              <a:off x="474049" y="2956768"/>
              <a:ext cx="1982470" cy="274320"/>
            </a:xfrm>
            <a:prstGeom prst="rect">
              <a:avLst/>
            </a:prstGeom>
            <a:solidFill>
              <a:srgbClr val="F6F6F6"/>
            </a:solidFill>
          </p:spPr>
          <p:txBody>
            <a:bodyPr vert="horz" wrap="square" lIns="0" tIns="0" rIns="0" bIns="0" rtlCol="0">
              <a:spAutoFit/>
            </a:bodyPr>
            <a:lstStyle/>
            <a:p>
              <a:pPr>
                <a:lnSpc>
                  <a:spcPts val="2090"/>
                </a:lnSpc>
              </a:pPr>
              <a:r>
                <a:rPr sz="1800" dirty="0">
                  <a:latin typeface="Arial MT"/>
                  <a:cs typeface="Arial MT"/>
                </a:rPr>
                <a:t>int</a:t>
              </a:r>
              <a:r>
                <a:rPr sz="1800" spc="-45" dirty="0">
                  <a:latin typeface="Arial MT"/>
                  <a:cs typeface="Arial MT"/>
                </a:rPr>
                <a:t> </a:t>
              </a:r>
              <a:r>
                <a:rPr sz="1800" dirty="0">
                  <a:latin typeface="Arial MT"/>
                  <a:cs typeface="Arial MT"/>
                </a:rPr>
                <a:t>pthread_create</a:t>
              </a:r>
              <a:r>
                <a:rPr sz="1800" spc="-40" dirty="0">
                  <a:latin typeface="Arial MT"/>
                  <a:cs typeface="Arial MT"/>
                </a:rPr>
                <a:t> </a:t>
              </a:r>
              <a:r>
                <a:rPr sz="1800" spc="-50" dirty="0">
                  <a:latin typeface="Arial MT"/>
                  <a:cs typeface="Arial MT"/>
                </a:rPr>
                <a:t>(</a:t>
              </a:r>
              <a:endParaRPr sz="1800" dirty="0">
                <a:latin typeface="Arial MT"/>
                <a:cs typeface="Arial MT"/>
              </a:endParaRPr>
            </a:p>
          </p:txBody>
        </p:sp>
        <p:sp>
          <p:nvSpPr>
            <p:cNvPr id="8" name="object 8"/>
            <p:cNvSpPr txBox="1"/>
            <p:nvPr/>
          </p:nvSpPr>
          <p:spPr>
            <a:xfrm>
              <a:off x="2443740" y="2934924"/>
              <a:ext cx="18561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pthread_t</a:t>
              </a:r>
              <a:r>
                <a:rPr sz="1800" spc="-45" dirty="0">
                  <a:latin typeface="Arial MT"/>
                  <a:cs typeface="Arial MT"/>
                </a:rPr>
                <a:t> </a:t>
              </a:r>
              <a:r>
                <a:rPr sz="1800" spc="-10" dirty="0">
                  <a:latin typeface="Arial MT"/>
                  <a:cs typeface="Arial MT"/>
                </a:rPr>
                <a:t>*thread,</a:t>
              </a:r>
              <a:endParaRPr sz="1800" dirty="0">
                <a:latin typeface="Arial MT"/>
                <a:cs typeface="Arial MT"/>
              </a:endParaRPr>
            </a:p>
          </p:txBody>
        </p:sp>
        <p:grpSp>
          <p:nvGrpSpPr>
            <p:cNvPr id="9" name="object 9"/>
            <p:cNvGrpSpPr/>
            <p:nvPr/>
          </p:nvGrpSpPr>
          <p:grpSpPr>
            <a:xfrm>
              <a:off x="2302849" y="3399236"/>
              <a:ext cx="2707005" cy="274320"/>
              <a:chOff x="2302849" y="3399236"/>
              <a:chExt cx="2707005" cy="274320"/>
            </a:xfrm>
          </p:grpSpPr>
          <p:sp>
            <p:nvSpPr>
              <p:cNvPr id="10" name="object 10"/>
              <p:cNvSpPr/>
              <p:nvPr/>
            </p:nvSpPr>
            <p:spPr>
              <a:xfrm>
                <a:off x="2302849" y="3399236"/>
                <a:ext cx="127635" cy="274320"/>
              </a:xfrm>
              <a:custGeom>
                <a:avLst/>
                <a:gdLst/>
                <a:ahLst/>
                <a:cxnLst/>
                <a:rect l="l" t="t" r="r" b="b"/>
                <a:pathLst>
                  <a:path w="127635" h="274320">
                    <a:moveTo>
                      <a:pt x="127024" y="274319"/>
                    </a:moveTo>
                    <a:lnTo>
                      <a:pt x="0" y="274319"/>
                    </a:lnTo>
                    <a:lnTo>
                      <a:pt x="0" y="0"/>
                    </a:lnTo>
                    <a:lnTo>
                      <a:pt x="127024" y="0"/>
                    </a:lnTo>
                    <a:lnTo>
                      <a:pt x="127024" y="274319"/>
                    </a:lnTo>
                    <a:close/>
                  </a:path>
                </a:pathLst>
              </a:custGeom>
              <a:solidFill>
                <a:srgbClr val="F6F6F6"/>
              </a:solidFill>
            </p:spPr>
            <p:txBody>
              <a:bodyPr wrap="square" lIns="0" tIns="0" rIns="0" bIns="0" rtlCol="0"/>
              <a:lstStyle/>
              <a:p>
                <a:endParaRPr/>
              </a:p>
            </p:txBody>
          </p:sp>
          <p:sp>
            <p:nvSpPr>
              <p:cNvPr id="11" name="object 11"/>
              <p:cNvSpPr/>
              <p:nvPr/>
            </p:nvSpPr>
            <p:spPr>
              <a:xfrm>
                <a:off x="2429874" y="3399236"/>
                <a:ext cx="2516505" cy="274320"/>
              </a:xfrm>
              <a:custGeom>
                <a:avLst/>
                <a:gdLst/>
                <a:ahLst/>
                <a:cxnLst/>
                <a:rect l="l" t="t" r="r" b="b"/>
                <a:pathLst>
                  <a:path w="2516504" h="274320">
                    <a:moveTo>
                      <a:pt x="2516051" y="274319"/>
                    </a:moveTo>
                    <a:lnTo>
                      <a:pt x="0" y="274319"/>
                    </a:lnTo>
                    <a:lnTo>
                      <a:pt x="0" y="0"/>
                    </a:lnTo>
                    <a:lnTo>
                      <a:pt x="2516051" y="0"/>
                    </a:lnTo>
                    <a:lnTo>
                      <a:pt x="2516051" y="274319"/>
                    </a:lnTo>
                    <a:close/>
                  </a:path>
                </a:pathLst>
              </a:custGeom>
              <a:solidFill>
                <a:srgbClr val="D9EAD3"/>
              </a:solidFill>
            </p:spPr>
            <p:txBody>
              <a:bodyPr wrap="square" lIns="0" tIns="0" rIns="0" bIns="0" rtlCol="0"/>
              <a:lstStyle/>
              <a:p>
                <a:endParaRPr/>
              </a:p>
            </p:txBody>
          </p:sp>
          <p:sp>
            <p:nvSpPr>
              <p:cNvPr id="12" name="object 12"/>
              <p:cNvSpPr/>
              <p:nvPr/>
            </p:nvSpPr>
            <p:spPr>
              <a:xfrm>
                <a:off x="4945925" y="3399236"/>
                <a:ext cx="64135" cy="274320"/>
              </a:xfrm>
              <a:custGeom>
                <a:avLst/>
                <a:gdLst/>
                <a:ahLst/>
                <a:cxnLst/>
                <a:rect l="l" t="t" r="r" b="b"/>
                <a:pathLst>
                  <a:path w="64135" h="274320">
                    <a:moveTo>
                      <a:pt x="63512" y="274319"/>
                    </a:moveTo>
                    <a:lnTo>
                      <a:pt x="0" y="274319"/>
                    </a:lnTo>
                    <a:lnTo>
                      <a:pt x="0" y="0"/>
                    </a:lnTo>
                    <a:lnTo>
                      <a:pt x="63512" y="0"/>
                    </a:lnTo>
                    <a:lnTo>
                      <a:pt x="63512" y="274319"/>
                    </a:lnTo>
                    <a:close/>
                  </a:path>
                </a:pathLst>
              </a:custGeom>
              <a:solidFill>
                <a:srgbClr val="F6F6F6"/>
              </a:solidFill>
            </p:spPr>
            <p:txBody>
              <a:bodyPr wrap="square" lIns="0" tIns="0" rIns="0" bIns="0" rtlCol="0"/>
              <a:lstStyle/>
              <a:p>
                <a:endParaRPr/>
              </a:p>
            </p:txBody>
          </p:sp>
        </p:grpSp>
        <p:sp>
          <p:nvSpPr>
            <p:cNvPr id="13" name="object 13"/>
            <p:cNvSpPr txBox="1"/>
            <p:nvPr/>
          </p:nvSpPr>
          <p:spPr>
            <a:xfrm>
              <a:off x="2417174" y="3377392"/>
              <a:ext cx="26054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const</a:t>
              </a:r>
              <a:r>
                <a:rPr sz="1800" spc="-50" dirty="0">
                  <a:latin typeface="Arial MT"/>
                  <a:cs typeface="Arial MT"/>
                </a:rPr>
                <a:t> </a:t>
              </a:r>
              <a:r>
                <a:rPr sz="1800" dirty="0">
                  <a:latin typeface="Arial MT"/>
                  <a:cs typeface="Arial MT"/>
                </a:rPr>
                <a:t>pthread_attr_t</a:t>
              </a:r>
              <a:r>
                <a:rPr sz="1800" spc="-45" dirty="0">
                  <a:latin typeface="Arial MT"/>
                  <a:cs typeface="Arial MT"/>
                </a:rPr>
                <a:t> </a:t>
              </a:r>
              <a:r>
                <a:rPr sz="1800" spc="-10" dirty="0">
                  <a:latin typeface="Arial MT"/>
                  <a:cs typeface="Arial MT"/>
                </a:rPr>
                <a:t>*attr,</a:t>
              </a:r>
              <a:endParaRPr sz="1800">
                <a:latin typeface="Arial MT"/>
                <a:cs typeface="Arial MT"/>
              </a:endParaRPr>
            </a:p>
          </p:txBody>
        </p:sp>
        <p:grpSp>
          <p:nvGrpSpPr>
            <p:cNvPr id="14" name="object 14"/>
            <p:cNvGrpSpPr/>
            <p:nvPr/>
          </p:nvGrpSpPr>
          <p:grpSpPr>
            <a:xfrm>
              <a:off x="2302849" y="3841704"/>
              <a:ext cx="3061970" cy="274320"/>
              <a:chOff x="2302849" y="3841704"/>
              <a:chExt cx="3061970" cy="274320"/>
            </a:xfrm>
          </p:grpSpPr>
          <p:sp>
            <p:nvSpPr>
              <p:cNvPr id="15" name="object 15"/>
              <p:cNvSpPr/>
              <p:nvPr/>
            </p:nvSpPr>
            <p:spPr>
              <a:xfrm>
                <a:off x="2302849" y="3841704"/>
                <a:ext cx="127635" cy="274320"/>
              </a:xfrm>
              <a:custGeom>
                <a:avLst/>
                <a:gdLst/>
                <a:ahLst/>
                <a:cxnLst/>
                <a:rect l="l" t="t" r="r" b="b"/>
                <a:pathLst>
                  <a:path w="127635" h="274320">
                    <a:moveTo>
                      <a:pt x="127024" y="274319"/>
                    </a:moveTo>
                    <a:lnTo>
                      <a:pt x="0" y="274319"/>
                    </a:lnTo>
                    <a:lnTo>
                      <a:pt x="0" y="0"/>
                    </a:lnTo>
                    <a:lnTo>
                      <a:pt x="127024" y="0"/>
                    </a:lnTo>
                    <a:lnTo>
                      <a:pt x="127024" y="274319"/>
                    </a:lnTo>
                    <a:close/>
                  </a:path>
                </a:pathLst>
              </a:custGeom>
              <a:solidFill>
                <a:srgbClr val="F6F6F6"/>
              </a:solidFill>
            </p:spPr>
            <p:txBody>
              <a:bodyPr wrap="square" lIns="0" tIns="0" rIns="0" bIns="0" rtlCol="0"/>
              <a:lstStyle/>
              <a:p>
                <a:endParaRPr/>
              </a:p>
            </p:txBody>
          </p:sp>
          <p:sp>
            <p:nvSpPr>
              <p:cNvPr id="16" name="object 16"/>
              <p:cNvSpPr/>
              <p:nvPr/>
            </p:nvSpPr>
            <p:spPr>
              <a:xfrm>
                <a:off x="2429874" y="3841704"/>
                <a:ext cx="2871470" cy="274320"/>
              </a:xfrm>
              <a:custGeom>
                <a:avLst/>
                <a:gdLst/>
                <a:ahLst/>
                <a:cxnLst/>
                <a:rect l="l" t="t" r="r" b="b"/>
                <a:pathLst>
                  <a:path w="2871470" h="274320">
                    <a:moveTo>
                      <a:pt x="2871340" y="274319"/>
                    </a:moveTo>
                    <a:lnTo>
                      <a:pt x="0" y="274319"/>
                    </a:lnTo>
                    <a:lnTo>
                      <a:pt x="0" y="0"/>
                    </a:lnTo>
                    <a:lnTo>
                      <a:pt x="2871340" y="0"/>
                    </a:lnTo>
                    <a:lnTo>
                      <a:pt x="2871340" y="274319"/>
                    </a:lnTo>
                    <a:close/>
                  </a:path>
                </a:pathLst>
              </a:custGeom>
              <a:solidFill>
                <a:srgbClr val="C9DAF7"/>
              </a:solidFill>
            </p:spPr>
            <p:txBody>
              <a:bodyPr wrap="square" lIns="0" tIns="0" rIns="0" bIns="0" rtlCol="0"/>
              <a:lstStyle/>
              <a:p>
                <a:endParaRPr/>
              </a:p>
            </p:txBody>
          </p:sp>
          <p:sp>
            <p:nvSpPr>
              <p:cNvPr id="17" name="object 17"/>
              <p:cNvSpPr/>
              <p:nvPr/>
            </p:nvSpPr>
            <p:spPr>
              <a:xfrm>
                <a:off x="5301215" y="3841704"/>
                <a:ext cx="64135" cy="274320"/>
              </a:xfrm>
              <a:custGeom>
                <a:avLst/>
                <a:gdLst/>
                <a:ahLst/>
                <a:cxnLst/>
                <a:rect l="l" t="t" r="r" b="b"/>
                <a:pathLst>
                  <a:path w="64135" h="274320">
                    <a:moveTo>
                      <a:pt x="63512" y="274319"/>
                    </a:moveTo>
                    <a:lnTo>
                      <a:pt x="0" y="274319"/>
                    </a:lnTo>
                    <a:lnTo>
                      <a:pt x="0" y="0"/>
                    </a:lnTo>
                    <a:lnTo>
                      <a:pt x="63512" y="0"/>
                    </a:lnTo>
                    <a:lnTo>
                      <a:pt x="63512" y="274319"/>
                    </a:lnTo>
                    <a:close/>
                  </a:path>
                </a:pathLst>
              </a:custGeom>
              <a:solidFill>
                <a:srgbClr val="F6F6F6"/>
              </a:solidFill>
            </p:spPr>
            <p:txBody>
              <a:bodyPr wrap="square" lIns="0" tIns="0" rIns="0" bIns="0" rtlCol="0"/>
              <a:lstStyle/>
              <a:p>
                <a:endParaRPr/>
              </a:p>
            </p:txBody>
          </p:sp>
        </p:grpSp>
        <p:sp>
          <p:nvSpPr>
            <p:cNvPr id="18" name="object 18"/>
            <p:cNvSpPr txBox="1"/>
            <p:nvPr/>
          </p:nvSpPr>
          <p:spPr>
            <a:xfrm>
              <a:off x="2417174" y="3819859"/>
              <a:ext cx="296037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void</a:t>
              </a:r>
              <a:r>
                <a:rPr sz="1800" spc="-20" dirty="0">
                  <a:latin typeface="Arial MT"/>
                  <a:cs typeface="Arial MT"/>
                </a:rPr>
                <a:t> </a:t>
              </a:r>
              <a:r>
                <a:rPr sz="1800" dirty="0">
                  <a:latin typeface="Arial MT"/>
                  <a:cs typeface="Arial MT"/>
                </a:rPr>
                <a:t>*(*start_routine)</a:t>
              </a:r>
              <a:r>
                <a:rPr sz="1800" spc="-15" dirty="0">
                  <a:latin typeface="Arial MT"/>
                  <a:cs typeface="Arial MT"/>
                </a:rPr>
                <a:t> </a:t>
              </a:r>
              <a:r>
                <a:rPr sz="1800" dirty="0">
                  <a:latin typeface="Arial MT"/>
                  <a:cs typeface="Arial MT"/>
                </a:rPr>
                <a:t>(void</a:t>
              </a:r>
              <a:r>
                <a:rPr sz="1800" spc="-15" dirty="0">
                  <a:latin typeface="Arial MT"/>
                  <a:cs typeface="Arial MT"/>
                </a:rPr>
                <a:t> </a:t>
              </a:r>
              <a:r>
                <a:rPr sz="1800" spc="-25" dirty="0">
                  <a:latin typeface="Arial MT"/>
                  <a:cs typeface="Arial MT"/>
                </a:rPr>
                <a:t>*),</a:t>
              </a:r>
              <a:endParaRPr sz="1800">
                <a:latin typeface="Arial MT"/>
                <a:cs typeface="Arial MT"/>
              </a:endParaRPr>
            </a:p>
          </p:txBody>
        </p:sp>
        <p:grpSp>
          <p:nvGrpSpPr>
            <p:cNvPr id="19" name="object 19"/>
            <p:cNvGrpSpPr/>
            <p:nvPr/>
          </p:nvGrpSpPr>
          <p:grpSpPr>
            <a:xfrm>
              <a:off x="2302849" y="4284171"/>
              <a:ext cx="1169035" cy="274320"/>
              <a:chOff x="2302849" y="4284171"/>
              <a:chExt cx="1169035" cy="274320"/>
            </a:xfrm>
          </p:grpSpPr>
          <p:sp>
            <p:nvSpPr>
              <p:cNvPr id="20" name="object 20"/>
              <p:cNvSpPr/>
              <p:nvPr/>
            </p:nvSpPr>
            <p:spPr>
              <a:xfrm>
                <a:off x="2302849" y="4284171"/>
                <a:ext cx="127635" cy="274320"/>
              </a:xfrm>
              <a:custGeom>
                <a:avLst/>
                <a:gdLst/>
                <a:ahLst/>
                <a:cxnLst/>
                <a:rect l="l" t="t" r="r" b="b"/>
                <a:pathLst>
                  <a:path w="127635" h="274320">
                    <a:moveTo>
                      <a:pt x="127024" y="274319"/>
                    </a:moveTo>
                    <a:lnTo>
                      <a:pt x="0" y="274319"/>
                    </a:lnTo>
                    <a:lnTo>
                      <a:pt x="0" y="0"/>
                    </a:lnTo>
                    <a:lnTo>
                      <a:pt x="127024" y="0"/>
                    </a:lnTo>
                    <a:lnTo>
                      <a:pt x="127024" y="274319"/>
                    </a:lnTo>
                    <a:close/>
                  </a:path>
                </a:pathLst>
              </a:custGeom>
              <a:solidFill>
                <a:srgbClr val="F6F6F6"/>
              </a:solidFill>
            </p:spPr>
            <p:txBody>
              <a:bodyPr wrap="square" lIns="0" tIns="0" rIns="0" bIns="0" rtlCol="0"/>
              <a:lstStyle/>
              <a:p>
                <a:endParaRPr/>
              </a:p>
            </p:txBody>
          </p:sp>
          <p:sp>
            <p:nvSpPr>
              <p:cNvPr id="21" name="object 21"/>
              <p:cNvSpPr/>
              <p:nvPr/>
            </p:nvSpPr>
            <p:spPr>
              <a:xfrm>
                <a:off x="2429874" y="4284171"/>
                <a:ext cx="978535" cy="274320"/>
              </a:xfrm>
              <a:custGeom>
                <a:avLst/>
                <a:gdLst/>
                <a:ahLst/>
                <a:cxnLst/>
                <a:rect l="l" t="t" r="r" b="b"/>
                <a:pathLst>
                  <a:path w="978535" h="274320">
                    <a:moveTo>
                      <a:pt x="978358" y="274319"/>
                    </a:moveTo>
                    <a:lnTo>
                      <a:pt x="0" y="274319"/>
                    </a:lnTo>
                    <a:lnTo>
                      <a:pt x="0" y="0"/>
                    </a:lnTo>
                    <a:lnTo>
                      <a:pt x="978358" y="0"/>
                    </a:lnTo>
                    <a:lnTo>
                      <a:pt x="978358" y="274319"/>
                    </a:lnTo>
                    <a:close/>
                  </a:path>
                </a:pathLst>
              </a:custGeom>
              <a:solidFill>
                <a:srgbClr val="EAD1DC"/>
              </a:solidFill>
            </p:spPr>
            <p:txBody>
              <a:bodyPr wrap="square" lIns="0" tIns="0" rIns="0" bIns="0" rtlCol="0"/>
              <a:lstStyle/>
              <a:p>
                <a:endParaRPr/>
              </a:p>
            </p:txBody>
          </p:sp>
          <p:sp>
            <p:nvSpPr>
              <p:cNvPr id="22" name="object 22"/>
              <p:cNvSpPr/>
              <p:nvPr/>
            </p:nvSpPr>
            <p:spPr>
              <a:xfrm>
                <a:off x="3408233" y="4284171"/>
                <a:ext cx="64135" cy="274320"/>
              </a:xfrm>
              <a:custGeom>
                <a:avLst/>
                <a:gdLst/>
                <a:ahLst/>
                <a:cxnLst/>
                <a:rect l="l" t="t" r="r" b="b"/>
                <a:pathLst>
                  <a:path w="64135" h="274320">
                    <a:moveTo>
                      <a:pt x="63512" y="274319"/>
                    </a:moveTo>
                    <a:lnTo>
                      <a:pt x="0" y="274319"/>
                    </a:lnTo>
                    <a:lnTo>
                      <a:pt x="0" y="0"/>
                    </a:lnTo>
                    <a:lnTo>
                      <a:pt x="63512" y="0"/>
                    </a:lnTo>
                    <a:lnTo>
                      <a:pt x="63512" y="274319"/>
                    </a:lnTo>
                    <a:close/>
                  </a:path>
                </a:pathLst>
              </a:custGeom>
              <a:solidFill>
                <a:srgbClr val="F6F6F6"/>
              </a:solidFill>
            </p:spPr>
            <p:txBody>
              <a:bodyPr wrap="square" lIns="0" tIns="0" rIns="0" bIns="0" rtlCol="0"/>
              <a:lstStyle/>
              <a:p>
                <a:endParaRPr/>
              </a:p>
            </p:txBody>
          </p:sp>
        </p:grpSp>
        <p:sp>
          <p:nvSpPr>
            <p:cNvPr id="23" name="object 23"/>
            <p:cNvSpPr txBox="1"/>
            <p:nvPr/>
          </p:nvSpPr>
          <p:spPr>
            <a:xfrm>
              <a:off x="2417174" y="4262327"/>
              <a:ext cx="10674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void</a:t>
              </a:r>
              <a:r>
                <a:rPr sz="1800" spc="-20" dirty="0">
                  <a:latin typeface="Arial MT"/>
                  <a:cs typeface="Arial MT"/>
                </a:rPr>
                <a:t> </a:t>
              </a:r>
              <a:r>
                <a:rPr sz="1800" spc="-10" dirty="0">
                  <a:latin typeface="Arial MT"/>
                  <a:cs typeface="Arial MT"/>
                </a:rPr>
                <a:t>*arg);</a:t>
              </a:r>
              <a:endParaRPr sz="1800">
                <a:latin typeface="Arial MT"/>
                <a:cs typeface="Arial MT"/>
              </a:endParaRPr>
            </a:p>
          </p:txBody>
        </p:sp>
      </p:grpSp>
      <p:sp>
        <p:nvSpPr>
          <p:cNvPr id="31" name="object 31">
            <a:extLst>
              <a:ext uri="{C183D7F6-B498-43B3-948B-1728B52AA6E4}">
                <adec:decorative xmlns:adec="http://schemas.microsoft.com/office/drawing/2017/decorative" val="1"/>
              </a:ext>
            </a:extLst>
          </p:cNvPr>
          <p:cNvSpPr txBox="1"/>
          <p:nvPr/>
        </p:nvSpPr>
        <p:spPr>
          <a:xfrm>
            <a:off x="6003925" y="3276600"/>
            <a:ext cx="1920875" cy="274320"/>
          </a:xfrm>
          <a:prstGeom prst="rect">
            <a:avLst/>
          </a:prstGeom>
          <a:solidFill>
            <a:srgbClr val="D0E0E3"/>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25" name="object 25">
            <a:extLst>
              <a:ext uri="{C183D7F6-B498-43B3-948B-1728B52AA6E4}">
                <adec:decorative xmlns:adec="http://schemas.microsoft.com/office/drawing/2017/decorative" val="1"/>
              </a:ext>
            </a:extLst>
          </p:cNvPr>
          <p:cNvSpPr txBox="1"/>
          <p:nvPr/>
        </p:nvSpPr>
        <p:spPr>
          <a:xfrm>
            <a:off x="8153400" y="1756475"/>
            <a:ext cx="2195195" cy="274320"/>
          </a:xfrm>
          <a:prstGeom prst="rect">
            <a:avLst/>
          </a:prstGeom>
          <a:solidFill>
            <a:srgbClr val="CEE1F3"/>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35" name="object 35"/>
          <p:cNvSpPr txBox="1"/>
          <p:nvPr/>
        </p:nvSpPr>
        <p:spPr>
          <a:xfrm>
            <a:off x="6019800" y="1738729"/>
            <a:ext cx="5726430" cy="4532587"/>
          </a:xfrm>
          <a:prstGeom prst="rect">
            <a:avLst/>
          </a:prstGeom>
        </p:spPr>
        <p:txBody>
          <a:bodyPr vert="horz" wrap="square" lIns="0" tIns="12700" rIns="0" bIns="0" rtlCol="0">
            <a:spAutoFit/>
          </a:bodyPr>
          <a:lstStyle/>
          <a:p>
            <a:pPr marL="12700" marR="5080">
              <a:lnSpc>
                <a:spcPct val="114000"/>
              </a:lnSpc>
              <a:spcBef>
                <a:spcPts val="100"/>
              </a:spcBef>
              <a:spcAft>
                <a:spcPts val="1800"/>
              </a:spcAft>
            </a:pPr>
            <a:r>
              <a:rPr lang="en-US" sz="1800" dirty="0">
                <a:solidFill>
                  <a:srgbClr val="333333"/>
                </a:solidFill>
                <a:latin typeface="Arial MT"/>
                <a:cs typeface="Arial MT"/>
              </a:rPr>
              <a:t>The</a:t>
            </a:r>
            <a:r>
              <a:rPr lang="en-US" sz="1800" spc="-40" dirty="0">
                <a:solidFill>
                  <a:srgbClr val="333333"/>
                </a:solidFill>
                <a:latin typeface="Arial MT"/>
                <a:cs typeface="Arial MT"/>
              </a:rPr>
              <a:t> </a:t>
            </a:r>
            <a:r>
              <a:rPr lang="en-US" sz="1800" dirty="0">
                <a:solidFill>
                  <a:srgbClr val="333333"/>
                </a:solidFill>
                <a:latin typeface="Arial MT"/>
                <a:cs typeface="Arial MT"/>
              </a:rPr>
              <a:t>first</a:t>
            </a:r>
            <a:r>
              <a:rPr lang="en-US" sz="1800" spc="-35" dirty="0">
                <a:solidFill>
                  <a:srgbClr val="333333"/>
                </a:solidFill>
                <a:latin typeface="Arial MT"/>
                <a:cs typeface="Arial MT"/>
              </a:rPr>
              <a:t> </a:t>
            </a:r>
            <a:r>
              <a:rPr lang="en-US" sz="1800" dirty="0">
                <a:solidFill>
                  <a:srgbClr val="333333"/>
                </a:solidFill>
                <a:latin typeface="Arial MT"/>
                <a:cs typeface="Arial MT"/>
              </a:rPr>
              <a:t>argument</a:t>
            </a:r>
            <a:r>
              <a:rPr lang="en-US" sz="1800" spc="-35" dirty="0">
                <a:solidFill>
                  <a:srgbClr val="333333"/>
                </a:solidFill>
                <a:latin typeface="Arial MT"/>
                <a:cs typeface="Arial MT"/>
              </a:rPr>
              <a:t> </a:t>
            </a:r>
            <a:r>
              <a:rPr lang="en-US" sz="1800" spc="-25" dirty="0">
                <a:solidFill>
                  <a:srgbClr val="333333"/>
                </a:solidFill>
                <a:latin typeface="Arial MT"/>
                <a:cs typeface="Arial MT"/>
              </a:rPr>
              <a:t>in</a:t>
            </a:r>
            <a:r>
              <a:rPr lang="en-US" dirty="0">
                <a:latin typeface="Arial MT"/>
                <a:cs typeface="Arial MT"/>
              </a:rPr>
              <a:t> </a:t>
            </a:r>
            <a:r>
              <a:rPr lang="en-US" sz="1800" spc="-10" dirty="0" err="1">
                <a:solidFill>
                  <a:srgbClr val="333333"/>
                </a:solidFill>
                <a:latin typeface="Courier New"/>
                <a:cs typeface="Courier New"/>
              </a:rPr>
              <a:t>pthread_create</a:t>
            </a:r>
            <a:r>
              <a:rPr lang="en-US" sz="1800" spc="-10" dirty="0">
                <a:solidFill>
                  <a:srgbClr val="333333"/>
                </a:solidFill>
                <a:latin typeface="Courier New"/>
                <a:cs typeface="Courier New"/>
              </a:rPr>
              <a:t>() </a:t>
            </a:r>
            <a:r>
              <a:rPr lang="en-US" sz="1800" dirty="0">
                <a:solidFill>
                  <a:srgbClr val="333333"/>
                </a:solidFill>
                <a:latin typeface="Arial MT"/>
                <a:cs typeface="Arial MT"/>
              </a:rPr>
              <a:t>is</a:t>
            </a:r>
            <a:r>
              <a:rPr lang="en-US" sz="1800" spc="-20" dirty="0">
                <a:solidFill>
                  <a:srgbClr val="333333"/>
                </a:solidFill>
                <a:latin typeface="Arial MT"/>
                <a:cs typeface="Arial MT"/>
              </a:rPr>
              <a:t> </a:t>
            </a:r>
            <a:r>
              <a:rPr lang="en-US" sz="1800" dirty="0">
                <a:solidFill>
                  <a:srgbClr val="333333"/>
                </a:solidFill>
                <a:latin typeface="Arial MT"/>
                <a:cs typeface="Arial MT"/>
              </a:rPr>
              <a:t>a</a:t>
            </a:r>
            <a:r>
              <a:rPr lang="en-US" sz="1800" spc="-10" dirty="0">
                <a:solidFill>
                  <a:srgbClr val="333333"/>
                </a:solidFill>
                <a:latin typeface="Arial MT"/>
                <a:cs typeface="Arial MT"/>
              </a:rPr>
              <a:t> variable</a:t>
            </a:r>
            <a:r>
              <a:rPr lang="en-US" spc="-10" dirty="0">
                <a:solidFill>
                  <a:srgbClr val="333333"/>
                </a:solidFill>
                <a:latin typeface="Arial MT"/>
                <a:cs typeface="Arial MT"/>
              </a:rPr>
              <a:t> </a:t>
            </a:r>
            <a:r>
              <a:rPr lang="en-US" sz="1800" dirty="0">
                <a:solidFill>
                  <a:srgbClr val="333333"/>
                </a:solidFill>
                <a:latin typeface="Arial MT"/>
                <a:cs typeface="Arial MT"/>
              </a:rPr>
              <a:t>that</a:t>
            </a:r>
            <a:r>
              <a:rPr lang="en-US" sz="1800" spc="-30" dirty="0">
                <a:solidFill>
                  <a:srgbClr val="333333"/>
                </a:solidFill>
                <a:latin typeface="Arial MT"/>
                <a:cs typeface="Arial MT"/>
              </a:rPr>
              <a:t> </a:t>
            </a:r>
            <a:r>
              <a:rPr lang="en-US" sz="1800" dirty="0">
                <a:solidFill>
                  <a:srgbClr val="333333"/>
                </a:solidFill>
                <a:latin typeface="Arial MT"/>
                <a:cs typeface="Arial MT"/>
              </a:rPr>
              <a:t>holds</a:t>
            </a:r>
            <a:r>
              <a:rPr lang="en-US" sz="1800" spc="-20" dirty="0">
                <a:solidFill>
                  <a:srgbClr val="333333"/>
                </a:solidFill>
                <a:latin typeface="Arial MT"/>
                <a:cs typeface="Arial MT"/>
              </a:rPr>
              <a:t> </a:t>
            </a:r>
            <a:r>
              <a:rPr lang="en-US" sz="1800" dirty="0">
                <a:solidFill>
                  <a:srgbClr val="333333"/>
                </a:solidFill>
                <a:latin typeface="Arial MT"/>
                <a:cs typeface="Arial MT"/>
              </a:rPr>
              <a:t>the</a:t>
            </a:r>
            <a:r>
              <a:rPr lang="en-US" sz="1800" spc="-15" dirty="0">
                <a:solidFill>
                  <a:srgbClr val="333333"/>
                </a:solidFill>
                <a:latin typeface="Arial MT"/>
                <a:cs typeface="Arial MT"/>
              </a:rPr>
              <a:t> </a:t>
            </a:r>
            <a:r>
              <a:rPr lang="en-US" sz="1800" dirty="0">
                <a:solidFill>
                  <a:srgbClr val="333333"/>
                </a:solidFill>
                <a:latin typeface="Arial MT"/>
                <a:cs typeface="Arial MT"/>
              </a:rPr>
              <a:t>address</a:t>
            </a:r>
            <a:r>
              <a:rPr lang="en-US" sz="1800" spc="-20" dirty="0">
                <a:solidFill>
                  <a:srgbClr val="333333"/>
                </a:solidFill>
                <a:latin typeface="Arial MT"/>
                <a:cs typeface="Arial MT"/>
              </a:rPr>
              <a:t> </a:t>
            </a:r>
            <a:r>
              <a:rPr lang="en-US" sz="1800" dirty="0">
                <a:solidFill>
                  <a:srgbClr val="333333"/>
                </a:solidFill>
                <a:latin typeface="Arial MT"/>
                <a:cs typeface="Arial MT"/>
              </a:rPr>
              <a:t>that</a:t>
            </a:r>
            <a:r>
              <a:rPr lang="en-US" sz="1800" spc="-20" dirty="0">
                <a:solidFill>
                  <a:srgbClr val="333333"/>
                </a:solidFill>
                <a:latin typeface="Arial MT"/>
                <a:cs typeface="Arial MT"/>
              </a:rPr>
              <a:t> </a:t>
            </a:r>
            <a:r>
              <a:rPr lang="en-US" sz="1800" dirty="0">
                <a:solidFill>
                  <a:srgbClr val="333333"/>
                </a:solidFill>
                <a:latin typeface="Arial MT"/>
                <a:cs typeface="Arial MT"/>
              </a:rPr>
              <a:t>reference</a:t>
            </a:r>
            <a:r>
              <a:rPr lang="en-US" sz="1800" spc="-15" dirty="0">
                <a:solidFill>
                  <a:srgbClr val="333333"/>
                </a:solidFill>
                <a:latin typeface="Arial MT"/>
                <a:cs typeface="Arial MT"/>
              </a:rPr>
              <a:t> </a:t>
            </a:r>
            <a:r>
              <a:rPr lang="en-US" sz="1800" dirty="0">
                <a:solidFill>
                  <a:srgbClr val="333333"/>
                </a:solidFill>
                <a:latin typeface="Arial MT"/>
                <a:cs typeface="Arial MT"/>
              </a:rPr>
              <a:t>to</a:t>
            </a:r>
            <a:r>
              <a:rPr lang="en-US" sz="1800" spc="-20"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thread</a:t>
            </a:r>
            <a:r>
              <a:rPr lang="en-US" sz="1800" spc="-15" dirty="0">
                <a:solidFill>
                  <a:srgbClr val="333333"/>
                </a:solidFill>
                <a:latin typeface="Arial MT"/>
                <a:cs typeface="Arial MT"/>
              </a:rPr>
              <a:t> </a:t>
            </a:r>
            <a:r>
              <a:rPr lang="en-US" sz="1800" spc="-25" dirty="0">
                <a:solidFill>
                  <a:srgbClr val="333333"/>
                </a:solidFill>
                <a:latin typeface="Arial MT"/>
                <a:cs typeface="Arial MT"/>
              </a:rPr>
              <a:t>we </a:t>
            </a:r>
            <a:r>
              <a:rPr lang="en-US" dirty="0">
                <a:latin typeface="Arial MT"/>
                <a:cs typeface="Arial MT"/>
              </a:rPr>
              <a:t>c</a:t>
            </a:r>
            <a:r>
              <a:rPr lang="en-US" sz="1800" spc="-10" dirty="0">
                <a:solidFill>
                  <a:srgbClr val="333333"/>
                </a:solidFill>
                <a:latin typeface="Arial MT"/>
                <a:cs typeface="Arial MT"/>
              </a:rPr>
              <a:t>reate.</a:t>
            </a:r>
            <a:endParaRPr lang="en-US" sz="1800" dirty="0">
              <a:solidFill>
                <a:srgbClr val="333333"/>
              </a:solidFill>
              <a:latin typeface="Arial MT"/>
              <a:cs typeface="Arial MT"/>
            </a:endParaRPr>
          </a:p>
          <a:p>
            <a:pPr marL="12700" marR="5080">
              <a:lnSpc>
                <a:spcPct val="114000"/>
              </a:lnSpc>
              <a:spcBef>
                <a:spcPts val="100"/>
              </a:spcBef>
            </a:pPr>
            <a:r>
              <a:rPr lang="en-US" sz="1800" dirty="0">
                <a:solidFill>
                  <a:srgbClr val="333333"/>
                </a:solidFill>
                <a:latin typeface="Arial MT"/>
                <a:cs typeface="Arial MT"/>
              </a:rPr>
              <a:t>The</a:t>
            </a:r>
            <a:r>
              <a:rPr lang="en-US" sz="1800" spc="-35" dirty="0">
                <a:solidFill>
                  <a:srgbClr val="333333"/>
                </a:solidFill>
                <a:latin typeface="Arial MT"/>
                <a:cs typeface="Arial MT"/>
              </a:rPr>
              <a:t> </a:t>
            </a:r>
            <a:r>
              <a:rPr lang="en-US" sz="1800" dirty="0">
                <a:solidFill>
                  <a:srgbClr val="333333"/>
                </a:solidFill>
                <a:latin typeface="Arial MT"/>
                <a:cs typeface="Arial MT"/>
              </a:rPr>
              <a:t>second</a:t>
            </a:r>
            <a:r>
              <a:rPr lang="en-US" sz="1800" spc="-25" dirty="0">
                <a:solidFill>
                  <a:srgbClr val="333333"/>
                </a:solidFill>
                <a:latin typeface="Arial MT"/>
                <a:cs typeface="Arial MT"/>
              </a:rPr>
              <a:t> </a:t>
            </a:r>
            <a:r>
              <a:rPr lang="en-US" sz="1800" dirty="0">
                <a:solidFill>
                  <a:srgbClr val="333333"/>
                </a:solidFill>
                <a:latin typeface="Arial MT"/>
                <a:cs typeface="Arial MT"/>
              </a:rPr>
              <a:t>argument</a:t>
            </a:r>
            <a:r>
              <a:rPr lang="en-US" sz="1800" spc="-20" dirty="0">
                <a:solidFill>
                  <a:srgbClr val="333333"/>
                </a:solidFill>
                <a:latin typeface="Arial MT"/>
                <a:cs typeface="Arial MT"/>
              </a:rPr>
              <a:t> </a:t>
            </a:r>
            <a:r>
              <a:rPr lang="en-US" sz="1800" dirty="0">
                <a:solidFill>
                  <a:srgbClr val="333333"/>
                </a:solidFill>
                <a:latin typeface="Arial MT"/>
                <a:cs typeface="Arial MT"/>
              </a:rPr>
              <a:t>is</a:t>
            </a:r>
            <a:r>
              <a:rPr lang="en-US" sz="1800" spc="-25" dirty="0">
                <a:solidFill>
                  <a:srgbClr val="333333"/>
                </a:solidFill>
                <a:latin typeface="Arial MT"/>
                <a:cs typeface="Arial MT"/>
              </a:rPr>
              <a:t> </a:t>
            </a:r>
            <a:r>
              <a:rPr lang="en-US" sz="1800" dirty="0">
                <a:solidFill>
                  <a:srgbClr val="333333"/>
                </a:solidFill>
                <a:latin typeface="Arial MT"/>
                <a:cs typeface="Arial MT"/>
              </a:rPr>
              <a:t>which</a:t>
            </a:r>
            <a:r>
              <a:rPr lang="en-US" sz="1800" spc="-25" dirty="0">
                <a:solidFill>
                  <a:srgbClr val="333333"/>
                </a:solidFill>
                <a:latin typeface="Arial MT"/>
                <a:cs typeface="Arial MT"/>
              </a:rPr>
              <a:t> </a:t>
            </a:r>
            <a:r>
              <a:rPr lang="en-US" sz="1800" dirty="0">
                <a:solidFill>
                  <a:srgbClr val="333333"/>
                </a:solidFill>
                <a:latin typeface="Arial MT"/>
                <a:cs typeface="Arial MT"/>
              </a:rPr>
              <a:t>typed</a:t>
            </a:r>
            <a:r>
              <a:rPr lang="en-US" sz="1800" spc="-20" dirty="0">
                <a:solidFill>
                  <a:srgbClr val="333333"/>
                </a:solidFill>
                <a:latin typeface="Arial MT"/>
                <a:cs typeface="Arial MT"/>
              </a:rPr>
              <a:t> </a:t>
            </a:r>
            <a:r>
              <a:rPr lang="en-US" sz="1800" spc="-25" dirty="0">
                <a:solidFill>
                  <a:srgbClr val="333333"/>
                </a:solidFill>
                <a:latin typeface="Arial MT"/>
                <a:cs typeface="Arial MT"/>
              </a:rPr>
              <a:t>to</a:t>
            </a:r>
            <a:endParaRPr lang="en-US" sz="1800" spc="-10" dirty="0">
              <a:solidFill>
                <a:srgbClr val="333333"/>
              </a:solidFill>
              <a:latin typeface="Courier New"/>
              <a:cs typeface="Courier New"/>
            </a:endParaRPr>
          </a:p>
          <a:p>
            <a:pPr marL="12700" marR="5080">
              <a:lnSpc>
                <a:spcPct val="114000"/>
              </a:lnSpc>
              <a:spcBef>
                <a:spcPts val="100"/>
              </a:spcBef>
            </a:pPr>
            <a:r>
              <a:rPr lang="en-US" sz="1800" spc="-10" dirty="0" err="1">
                <a:solidFill>
                  <a:srgbClr val="333333"/>
                </a:solidFill>
                <a:latin typeface="Courier New"/>
                <a:cs typeface="Courier New"/>
              </a:rPr>
              <a:t>pthread_attr_t</a:t>
            </a:r>
            <a:r>
              <a:rPr lang="en-US" spc="-10" dirty="0">
                <a:latin typeface="Courier New"/>
                <a:cs typeface="Courier New"/>
              </a:rPr>
              <a:t> </a:t>
            </a:r>
            <a:r>
              <a:rPr lang="en-US" sz="1800" dirty="0">
                <a:solidFill>
                  <a:srgbClr val="333333"/>
                </a:solidFill>
                <a:latin typeface="Arial MT"/>
                <a:cs typeface="Arial MT"/>
              </a:rPr>
              <a:t>is</a:t>
            </a:r>
            <a:r>
              <a:rPr lang="en-US" sz="1800" spc="-25" dirty="0">
                <a:solidFill>
                  <a:srgbClr val="333333"/>
                </a:solidFill>
                <a:latin typeface="Arial MT"/>
                <a:cs typeface="Arial MT"/>
              </a:rPr>
              <a:t> </a:t>
            </a:r>
            <a:r>
              <a:rPr lang="en-US" sz="1800" dirty="0">
                <a:solidFill>
                  <a:srgbClr val="333333"/>
                </a:solidFill>
                <a:latin typeface="Arial MT"/>
                <a:cs typeface="Arial MT"/>
              </a:rPr>
              <a:t>a</a:t>
            </a:r>
            <a:r>
              <a:rPr lang="en-US" sz="1800" spc="-15" dirty="0">
                <a:solidFill>
                  <a:srgbClr val="333333"/>
                </a:solidFill>
                <a:latin typeface="Arial MT"/>
                <a:cs typeface="Arial MT"/>
              </a:rPr>
              <a:t> </a:t>
            </a:r>
            <a:r>
              <a:rPr lang="en-US" sz="1800" dirty="0">
                <a:solidFill>
                  <a:srgbClr val="333333"/>
                </a:solidFill>
                <a:latin typeface="Arial MT"/>
                <a:cs typeface="Arial MT"/>
              </a:rPr>
              <a:t>variable</a:t>
            </a:r>
            <a:r>
              <a:rPr lang="en-US" sz="1800" spc="-15" dirty="0">
                <a:solidFill>
                  <a:srgbClr val="333333"/>
                </a:solidFill>
                <a:latin typeface="Arial MT"/>
                <a:cs typeface="Arial MT"/>
              </a:rPr>
              <a:t> </a:t>
            </a:r>
            <a:r>
              <a:rPr lang="en-US" sz="1800" dirty="0">
                <a:solidFill>
                  <a:srgbClr val="333333"/>
                </a:solidFill>
                <a:latin typeface="Arial MT"/>
                <a:cs typeface="Arial MT"/>
              </a:rPr>
              <a:t>that</a:t>
            </a:r>
            <a:r>
              <a:rPr lang="en-US" sz="1800" spc="-15" dirty="0">
                <a:solidFill>
                  <a:srgbClr val="333333"/>
                </a:solidFill>
                <a:latin typeface="Arial MT"/>
                <a:cs typeface="Arial MT"/>
              </a:rPr>
              <a:t> </a:t>
            </a:r>
            <a:r>
              <a:rPr lang="en-US" sz="1800" dirty="0">
                <a:solidFill>
                  <a:srgbClr val="333333"/>
                </a:solidFill>
                <a:latin typeface="Arial MT"/>
                <a:cs typeface="Arial MT"/>
              </a:rPr>
              <a:t>let</a:t>
            </a:r>
            <a:r>
              <a:rPr lang="en-US" sz="1800" spc="-15" dirty="0">
                <a:solidFill>
                  <a:srgbClr val="333333"/>
                </a:solidFill>
                <a:latin typeface="Arial MT"/>
                <a:cs typeface="Arial MT"/>
              </a:rPr>
              <a:t> </a:t>
            </a:r>
            <a:r>
              <a:rPr lang="en-US" sz="1800" dirty="0">
                <a:solidFill>
                  <a:srgbClr val="333333"/>
                </a:solidFill>
                <a:latin typeface="Arial MT"/>
                <a:cs typeface="Arial MT"/>
              </a:rPr>
              <a:t>us</a:t>
            </a:r>
            <a:r>
              <a:rPr lang="en-US" sz="1800" spc="-15" dirty="0">
                <a:solidFill>
                  <a:srgbClr val="333333"/>
                </a:solidFill>
                <a:latin typeface="Arial MT"/>
                <a:cs typeface="Arial MT"/>
              </a:rPr>
              <a:t> </a:t>
            </a:r>
            <a:r>
              <a:rPr lang="en-US" sz="1800" dirty="0">
                <a:solidFill>
                  <a:srgbClr val="333333"/>
                </a:solidFill>
                <a:latin typeface="Arial MT"/>
                <a:cs typeface="Arial MT"/>
              </a:rPr>
              <a:t>address</a:t>
            </a:r>
            <a:r>
              <a:rPr lang="en-US" sz="1800" spc="-15" dirty="0">
                <a:solidFill>
                  <a:srgbClr val="333333"/>
                </a:solidFill>
                <a:latin typeface="Arial MT"/>
                <a:cs typeface="Arial MT"/>
              </a:rPr>
              <a:t> </a:t>
            </a:r>
            <a:r>
              <a:rPr lang="en-US" sz="1800" spc="-25" dirty="0">
                <a:solidFill>
                  <a:srgbClr val="333333"/>
                </a:solidFill>
                <a:latin typeface="Arial MT"/>
                <a:cs typeface="Arial MT"/>
              </a:rPr>
              <a:t>the</a:t>
            </a:r>
            <a:endParaRPr lang="en-US" sz="1800" dirty="0">
              <a:solidFill>
                <a:srgbClr val="333333"/>
              </a:solidFill>
              <a:latin typeface="Arial MT"/>
              <a:cs typeface="Arial MT"/>
            </a:endParaRPr>
          </a:p>
          <a:p>
            <a:pPr marL="12700" marR="5080">
              <a:lnSpc>
                <a:spcPct val="114000"/>
              </a:lnSpc>
              <a:spcBef>
                <a:spcPts val="100"/>
              </a:spcBef>
              <a:spcAft>
                <a:spcPts val="1800"/>
              </a:spcAft>
            </a:pPr>
            <a:r>
              <a:rPr lang="en-US" sz="1800" dirty="0">
                <a:solidFill>
                  <a:srgbClr val="333333"/>
                </a:solidFill>
                <a:latin typeface="Arial MT"/>
                <a:cs typeface="Arial MT"/>
              </a:rPr>
              <a:t>attributes</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15" dirty="0">
                <a:solidFill>
                  <a:srgbClr val="333333"/>
                </a:solidFill>
                <a:latin typeface="Arial MT"/>
                <a:cs typeface="Arial MT"/>
              </a:rPr>
              <a:t> </a:t>
            </a:r>
            <a:r>
              <a:rPr lang="en-US" sz="1800" dirty="0">
                <a:solidFill>
                  <a:srgbClr val="333333"/>
                </a:solidFill>
                <a:latin typeface="Arial MT"/>
                <a:cs typeface="Arial MT"/>
              </a:rPr>
              <a:t>the</a:t>
            </a:r>
            <a:r>
              <a:rPr lang="en-US" sz="1800" spc="-15" dirty="0">
                <a:solidFill>
                  <a:srgbClr val="333333"/>
                </a:solidFill>
                <a:latin typeface="Arial MT"/>
                <a:cs typeface="Arial MT"/>
              </a:rPr>
              <a:t> </a:t>
            </a:r>
            <a:r>
              <a:rPr lang="en-US" sz="1800" dirty="0">
                <a:solidFill>
                  <a:srgbClr val="333333"/>
                </a:solidFill>
                <a:latin typeface="Arial MT"/>
                <a:cs typeface="Arial MT"/>
              </a:rPr>
              <a:t>thread</a:t>
            </a:r>
            <a:r>
              <a:rPr lang="en-US" sz="1800" spc="-15" dirty="0">
                <a:solidFill>
                  <a:srgbClr val="333333"/>
                </a:solidFill>
                <a:latin typeface="Arial MT"/>
                <a:cs typeface="Arial MT"/>
              </a:rPr>
              <a:t> </a:t>
            </a:r>
            <a:r>
              <a:rPr lang="en-US" sz="1800" dirty="0">
                <a:solidFill>
                  <a:srgbClr val="333333"/>
                </a:solidFill>
                <a:latin typeface="Arial MT"/>
                <a:cs typeface="Arial MT"/>
              </a:rPr>
              <a:t>such</a:t>
            </a:r>
            <a:r>
              <a:rPr lang="en-US" sz="1800" spc="-15" dirty="0">
                <a:solidFill>
                  <a:srgbClr val="333333"/>
                </a:solidFill>
                <a:latin typeface="Arial MT"/>
                <a:cs typeface="Arial MT"/>
              </a:rPr>
              <a:t> </a:t>
            </a:r>
            <a:r>
              <a:rPr lang="en-US" sz="1800" dirty="0">
                <a:solidFill>
                  <a:srgbClr val="333333"/>
                </a:solidFill>
                <a:latin typeface="Arial MT"/>
                <a:cs typeface="Arial MT"/>
              </a:rPr>
              <a:t>as</a:t>
            </a:r>
            <a:r>
              <a:rPr lang="en-US" sz="1800" spc="-10" dirty="0">
                <a:solidFill>
                  <a:srgbClr val="333333"/>
                </a:solidFill>
                <a:latin typeface="Arial MT"/>
                <a:cs typeface="Arial MT"/>
              </a:rPr>
              <a:t> priority.</a:t>
            </a:r>
            <a:endParaRPr lang="en-US" sz="1800" dirty="0">
              <a:solidFill>
                <a:srgbClr val="333333"/>
              </a:solidFill>
              <a:latin typeface="Arial MT"/>
              <a:cs typeface="Arial MT"/>
            </a:endParaRPr>
          </a:p>
          <a:p>
            <a:pPr marL="12700" marR="5080">
              <a:lnSpc>
                <a:spcPct val="114000"/>
              </a:lnSpc>
              <a:spcBef>
                <a:spcPts val="100"/>
              </a:spcBef>
              <a:spcAft>
                <a:spcPts val="1800"/>
              </a:spcAft>
            </a:pPr>
            <a:r>
              <a:rPr sz="1800" dirty="0">
                <a:solidFill>
                  <a:srgbClr val="333333"/>
                </a:solidFill>
                <a:latin typeface="Arial MT"/>
                <a:cs typeface="Arial MT"/>
              </a:rPr>
              <a:t>The</a:t>
            </a:r>
            <a:r>
              <a:rPr sz="1800" spc="-25" dirty="0">
                <a:solidFill>
                  <a:srgbClr val="333333"/>
                </a:solidFill>
                <a:latin typeface="Arial MT"/>
                <a:cs typeface="Arial MT"/>
              </a:rPr>
              <a:t> </a:t>
            </a:r>
            <a:r>
              <a:rPr sz="1800" dirty="0">
                <a:solidFill>
                  <a:srgbClr val="333333"/>
                </a:solidFill>
                <a:latin typeface="Arial MT"/>
                <a:cs typeface="Arial MT"/>
              </a:rPr>
              <a:t>third</a:t>
            </a:r>
            <a:r>
              <a:rPr sz="1800" spc="-15" dirty="0">
                <a:solidFill>
                  <a:srgbClr val="333333"/>
                </a:solidFill>
                <a:latin typeface="Arial MT"/>
                <a:cs typeface="Arial MT"/>
              </a:rPr>
              <a:t> </a:t>
            </a:r>
            <a:r>
              <a:rPr sz="1800" dirty="0">
                <a:solidFill>
                  <a:srgbClr val="333333"/>
                </a:solidFill>
                <a:latin typeface="Arial MT"/>
                <a:cs typeface="Arial MT"/>
              </a:rPr>
              <a:t>argument</a:t>
            </a:r>
            <a:r>
              <a:rPr sz="1800" spc="-15" dirty="0">
                <a:solidFill>
                  <a:srgbClr val="333333"/>
                </a:solidFill>
                <a:latin typeface="Arial MT"/>
                <a:cs typeface="Arial MT"/>
              </a:rPr>
              <a:t> </a:t>
            </a:r>
            <a:r>
              <a:rPr sz="1800" dirty="0">
                <a:solidFill>
                  <a:srgbClr val="333333"/>
                </a:solidFill>
                <a:latin typeface="Arial MT"/>
                <a:cs typeface="Arial MT"/>
              </a:rPr>
              <a:t>we</a:t>
            </a:r>
            <a:r>
              <a:rPr sz="1800" spc="-15" dirty="0">
                <a:solidFill>
                  <a:srgbClr val="333333"/>
                </a:solidFill>
                <a:latin typeface="Arial MT"/>
                <a:cs typeface="Arial MT"/>
              </a:rPr>
              <a:t> </a:t>
            </a:r>
            <a:r>
              <a:rPr sz="1800" dirty="0">
                <a:solidFill>
                  <a:srgbClr val="333333"/>
                </a:solidFill>
                <a:latin typeface="Arial MT"/>
                <a:cs typeface="Arial MT"/>
              </a:rPr>
              <a:t>need</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supply</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this</a:t>
            </a:r>
            <a:r>
              <a:rPr sz="1800" spc="-15" dirty="0">
                <a:solidFill>
                  <a:srgbClr val="333333"/>
                </a:solidFill>
                <a:latin typeface="Arial MT"/>
                <a:cs typeface="Arial MT"/>
              </a:rPr>
              <a:t> </a:t>
            </a:r>
            <a:r>
              <a:rPr sz="1800" dirty="0">
                <a:solidFill>
                  <a:srgbClr val="333333"/>
                </a:solidFill>
                <a:latin typeface="Arial MT"/>
                <a:cs typeface="Arial MT"/>
              </a:rPr>
              <a:t>system</a:t>
            </a:r>
            <a:r>
              <a:rPr sz="1800" spc="-10" dirty="0">
                <a:solidFill>
                  <a:srgbClr val="333333"/>
                </a:solidFill>
                <a:latin typeface="Arial MT"/>
                <a:cs typeface="Arial MT"/>
              </a:rPr>
              <a:t> </a:t>
            </a:r>
            <a:r>
              <a:rPr sz="1800" spc="-20" dirty="0">
                <a:solidFill>
                  <a:srgbClr val="333333"/>
                </a:solidFill>
                <a:latin typeface="Arial MT"/>
                <a:cs typeface="Arial MT"/>
              </a:rPr>
              <a:t>call </a:t>
            </a:r>
            <a:r>
              <a:rPr sz="1800" dirty="0">
                <a:solidFill>
                  <a:srgbClr val="333333"/>
                </a:solidFill>
                <a:latin typeface="Arial MT"/>
                <a:cs typeface="Arial MT"/>
              </a:rPr>
              <a:t>is</a:t>
            </a:r>
            <a:r>
              <a:rPr sz="1800" spc="-25"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function</a:t>
            </a:r>
            <a:r>
              <a:rPr sz="1800" spc="-15" dirty="0">
                <a:solidFill>
                  <a:srgbClr val="333333"/>
                </a:solidFill>
                <a:latin typeface="Arial MT"/>
                <a:cs typeface="Arial MT"/>
              </a:rPr>
              <a:t> </a:t>
            </a:r>
            <a:r>
              <a:rPr sz="1800" dirty="0">
                <a:solidFill>
                  <a:srgbClr val="333333"/>
                </a:solidFill>
                <a:latin typeface="Arial MT"/>
                <a:cs typeface="Arial MT"/>
              </a:rPr>
              <a:t>pointer</a:t>
            </a:r>
            <a:r>
              <a:rPr sz="1800" spc="-20" dirty="0">
                <a:solidFill>
                  <a:srgbClr val="333333"/>
                </a:solidFill>
                <a:latin typeface="Arial MT"/>
                <a:cs typeface="Arial MT"/>
              </a:rPr>
              <a:t> </a:t>
            </a:r>
            <a:r>
              <a:rPr sz="1800" dirty="0">
                <a:solidFill>
                  <a:srgbClr val="333333"/>
                </a:solidFill>
                <a:latin typeface="Arial MT"/>
                <a:cs typeface="Arial MT"/>
              </a:rPr>
              <a:t>that</a:t>
            </a:r>
            <a:r>
              <a:rPr sz="1800" spc="-15" dirty="0">
                <a:solidFill>
                  <a:srgbClr val="333333"/>
                </a:solidFill>
                <a:latin typeface="Arial MT"/>
                <a:cs typeface="Arial MT"/>
              </a:rPr>
              <a:t> </a:t>
            </a:r>
            <a:r>
              <a:rPr sz="1800" dirty="0">
                <a:solidFill>
                  <a:srgbClr val="333333"/>
                </a:solidFill>
                <a:latin typeface="Arial MT"/>
                <a:cs typeface="Arial MT"/>
              </a:rPr>
              <a:t>let</a:t>
            </a:r>
            <a:r>
              <a:rPr sz="1800" spc="-20"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kernel</a:t>
            </a:r>
            <a:r>
              <a:rPr sz="1800" spc="-20" dirty="0">
                <a:solidFill>
                  <a:srgbClr val="333333"/>
                </a:solidFill>
                <a:latin typeface="Arial MT"/>
                <a:cs typeface="Arial MT"/>
              </a:rPr>
              <a:t> </a:t>
            </a:r>
            <a:r>
              <a:rPr sz="1800" dirty="0">
                <a:solidFill>
                  <a:srgbClr val="333333"/>
                </a:solidFill>
                <a:latin typeface="Arial MT"/>
                <a:cs typeface="Arial MT"/>
              </a:rPr>
              <a:t>knows</a:t>
            </a:r>
            <a:r>
              <a:rPr sz="1800" spc="-20" dirty="0">
                <a:solidFill>
                  <a:srgbClr val="333333"/>
                </a:solidFill>
                <a:latin typeface="Arial MT"/>
                <a:cs typeface="Arial MT"/>
              </a:rPr>
              <a:t> </a:t>
            </a:r>
            <a:r>
              <a:rPr sz="1800" dirty="0">
                <a:solidFill>
                  <a:srgbClr val="333333"/>
                </a:solidFill>
                <a:latin typeface="Arial MT"/>
                <a:cs typeface="Arial MT"/>
              </a:rPr>
              <a:t>where</a:t>
            </a:r>
            <a:r>
              <a:rPr sz="1800" spc="-15" dirty="0">
                <a:solidFill>
                  <a:srgbClr val="333333"/>
                </a:solidFill>
                <a:latin typeface="Arial MT"/>
                <a:cs typeface="Arial MT"/>
              </a:rPr>
              <a:t> </a:t>
            </a:r>
            <a:r>
              <a:rPr sz="1800" spc="-25" dirty="0">
                <a:solidFill>
                  <a:srgbClr val="333333"/>
                </a:solidFill>
                <a:latin typeface="Arial MT"/>
                <a:cs typeface="Arial MT"/>
              </a:rPr>
              <a:t>the </a:t>
            </a:r>
            <a:r>
              <a:rPr sz="1800" dirty="0">
                <a:solidFill>
                  <a:srgbClr val="333333"/>
                </a:solidFill>
                <a:latin typeface="Arial MT"/>
                <a:cs typeface="Arial MT"/>
              </a:rPr>
              <a:t>thread</a:t>
            </a:r>
            <a:r>
              <a:rPr sz="1800" spc="-40" dirty="0">
                <a:solidFill>
                  <a:srgbClr val="333333"/>
                </a:solidFill>
                <a:latin typeface="Arial MT"/>
                <a:cs typeface="Arial MT"/>
              </a:rPr>
              <a:t> </a:t>
            </a:r>
            <a:r>
              <a:rPr sz="1800" dirty="0">
                <a:solidFill>
                  <a:srgbClr val="333333"/>
                </a:solidFill>
                <a:latin typeface="Arial MT"/>
                <a:cs typeface="Arial MT"/>
              </a:rPr>
              <a:t>should</a:t>
            </a:r>
            <a:r>
              <a:rPr sz="1800" spc="-30" dirty="0">
                <a:solidFill>
                  <a:srgbClr val="333333"/>
                </a:solidFill>
                <a:latin typeface="Arial MT"/>
                <a:cs typeface="Arial MT"/>
              </a:rPr>
              <a:t> </a:t>
            </a:r>
            <a:r>
              <a:rPr sz="1800" dirty="0">
                <a:solidFill>
                  <a:srgbClr val="333333"/>
                </a:solidFill>
                <a:latin typeface="Arial MT"/>
                <a:cs typeface="Arial MT"/>
              </a:rPr>
              <a:t>begin</a:t>
            </a:r>
            <a:r>
              <a:rPr sz="1800" spc="-25" dirty="0">
                <a:solidFill>
                  <a:srgbClr val="333333"/>
                </a:solidFill>
                <a:latin typeface="Arial MT"/>
                <a:cs typeface="Arial MT"/>
              </a:rPr>
              <a:t> </a:t>
            </a:r>
            <a:r>
              <a:rPr sz="1800" spc="-10" dirty="0">
                <a:solidFill>
                  <a:srgbClr val="333333"/>
                </a:solidFill>
                <a:latin typeface="Arial MT"/>
                <a:cs typeface="Arial MT"/>
              </a:rPr>
              <a:t>from.</a:t>
            </a:r>
            <a:endParaRPr lang="en-US" sz="1800" spc="-10" dirty="0">
              <a:solidFill>
                <a:srgbClr val="333333"/>
              </a:solidFill>
              <a:latin typeface="Arial MT"/>
              <a:cs typeface="Arial MT"/>
            </a:endParaRPr>
          </a:p>
          <a:p>
            <a:pPr marL="12700" marR="5080">
              <a:lnSpc>
                <a:spcPct val="114000"/>
              </a:lnSpc>
              <a:spcBef>
                <a:spcPts val="100"/>
              </a:spcBef>
            </a:pPr>
            <a:r>
              <a:rPr lang="en-US" sz="1800" dirty="0">
                <a:solidFill>
                  <a:srgbClr val="333333"/>
                </a:solidFill>
                <a:latin typeface="Arial MT"/>
                <a:cs typeface="Arial MT"/>
              </a:rPr>
              <a:t>The</a:t>
            </a:r>
            <a:r>
              <a:rPr lang="en-US" sz="1800" spc="-30" dirty="0">
                <a:solidFill>
                  <a:srgbClr val="333333"/>
                </a:solidFill>
                <a:latin typeface="Arial MT"/>
                <a:cs typeface="Arial MT"/>
              </a:rPr>
              <a:t> </a:t>
            </a:r>
            <a:r>
              <a:rPr lang="en-US" sz="1800" dirty="0">
                <a:solidFill>
                  <a:srgbClr val="333333"/>
                </a:solidFill>
                <a:latin typeface="Arial MT"/>
                <a:cs typeface="Arial MT"/>
              </a:rPr>
              <a:t>fourth</a:t>
            </a:r>
            <a:r>
              <a:rPr lang="en-US" sz="1800" spc="-20" dirty="0">
                <a:solidFill>
                  <a:srgbClr val="333333"/>
                </a:solidFill>
                <a:latin typeface="Arial MT"/>
                <a:cs typeface="Arial MT"/>
              </a:rPr>
              <a:t> </a:t>
            </a:r>
            <a:r>
              <a:rPr lang="en-US" sz="1800" dirty="0">
                <a:solidFill>
                  <a:srgbClr val="333333"/>
                </a:solidFill>
                <a:latin typeface="Arial MT"/>
                <a:cs typeface="Arial MT"/>
              </a:rPr>
              <a:t>argument</a:t>
            </a:r>
            <a:r>
              <a:rPr lang="en-US" sz="1800" spc="-15" dirty="0">
                <a:solidFill>
                  <a:srgbClr val="333333"/>
                </a:solidFill>
                <a:latin typeface="Arial MT"/>
                <a:cs typeface="Arial MT"/>
              </a:rPr>
              <a:t> </a:t>
            </a:r>
            <a:r>
              <a:rPr lang="en-US" sz="1800" dirty="0">
                <a:solidFill>
                  <a:srgbClr val="333333"/>
                </a:solidFill>
                <a:latin typeface="Arial MT"/>
                <a:cs typeface="Arial MT"/>
              </a:rPr>
              <a:t>is</a:t>
            </a:r>
            <a:r>
              <a:rPr lang="en-US" sz="1800" spc="-20"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parameter</a:t>
            </a:r>
            <a:r>
              <a:rPr lang="en-US" sz="1800" spc="-15" dirty="0">
                <a:solidFill>
                  <a:srgbClr val="333333"/>
                </a:solidFill>
                <a:latin typeface="Arial MT"/>
                <a:cs typeface="Arial MT"/>
              </a:rPr>
              <a:t> </a:t>
            </a:r>
            <a:r>
              <a:rPr lang="en-US" sz="1800" dirty="0">
                <a:solidFill>
                  <a:srgbClr val="333333"/>
                </a:solidFill>
                <a:latin typeface="Arial MT"/>
                <a:cs typeface="Arial MT"/>
              </a:rPr>
              <a:t>we</a:t>
            </a:r>
            <a:r>
              <a:rPr lang="en-US" sz="1800" spc="-20" dirty="0">
                <a:solidFill>
                  <a:srgbClr val="333333"/>
                </a:solidFill>
                <a:latin typeface="Arial MT"/>
                <a:cs typeface="Arial MT"/>
              </a:rPr>
              <a:t> </a:t>
            </a:r>
            <a:r>
              <a:rPr lang="en-US" sz="1800" dirty="0">
                <a:solidFill>
                  <a:srgbClr val="333333"/>
                </a:solidFill>
                <a:latin typeface="Arial MT"/>
                <a:cs typeface="Arial MT"/>
              </a:rPr>
              <a:t>would</a:t>
            </a:r>
            <a:r>
              <a:rPr lang="en-US" sz="1800" spc="-20" dirty="0">
                <a:solidFill>
                  <a:srgbClr val="333333"/>
                </a:solidFill>
                <a:latin typeface="Arial MT"/>
                <a:cs typeface="Arial MT"/>
              </a:rPr>
              <a:t> </a:t>
            </a:r>
            <a:r>
              <a:rPr lang="en-US" sz="1800" dirty="0">
                <a:solidFill>
                  <a:srgbClr val="333333"/>
                </a:solidFill>
                <a:latin typeface="Arial MT"/>
                <a:cs typeface="Arial MT"/>
              </a:rPr>
              <a:t>like</a:t>
            </a:r>
            <a:r>
              <a:rPr lang="en-US" sz="1800" spc="-15" dirty="0">
                <a:solidFill>
                  <a:srgbClr val="333333"/>
                </a:solidFill>
                <a:latin typeface="Arial MT"/>
                <a:cs typeface="Arial MT"/>
              </a:rPr>
              <a:t> </a:t>
            </a:r>
            <a:r>
              <a:rPr lang="en-US" sz="1800" spc="-25" dirty="0">
                <a:solidFill>
                  <a:srgbClr val="333333"/>
                </a:solidFill>
                <a:latin typeface="Arial MT"/>
                <a:cs typeface="Arial MT"/>
              </a:rPr>
              <a:t>to </a:t>
            </a:r>
            <a:r>
              <a:rPr lang="en-US" sz="1800" dirty="0">
                <a:solidFill>
                  <a:srgbClr val="333333"/>
                </a:solidFill>
                <a:latin typeface="Arial MT"/>
                <a:cs typeface="Arial MT"/>
              </a:rPr>
              <a:t>pass</a:t>
            </a:r>
            <a:r>
              <a:rPr lang="en-US" sz="1800" spc="-30" dirty="0">
                <a:solidFill>
                  <a:srgbClr val="333333"/>
                </a:solidFill>
                <a:latin typeface="Arial MT"/>
                <a:cs typeface="Arial MT"/>
              </a:rPr>
              <a:t> </a:t>
            </a:r>
            <a:r>
              <a:rPr lang="en-US" sz="1800" dirty="0">
                <a:solidFill>
                  <a:srgbClr val="333333"/>
                </a:solidFill>
                <a:latin typeface="Arial MT"/>
                <a:cs typeface="Arial MT"/>
              </a:rPr>
              <a:t>to</a:t>
            </a:r>
            <a:r>
              <a:rPr lang="en-US" sz="1800" spc="-15" dirty="0">
                <a:solidFill>
                  <a:srgbClr val="333333"/>
                </a:solidFill>
                <a:latin typeface="Arial MT"/>
                <a:cs typeface="Arial MT"/>
              </a:rPr>
              <a:t> </a:t>
            </a:r>
            <a:r>
              <a:rPr lang="en-US" sz="1800" dirty="0">
                <a:solidFill>
                  <a:srgbClr val="333333"/>
                </a:solidFill>
                <a:latin typeface="Arial MT"/>
                <a:cs typeface="Arial MT"/>
              </a:rPr>
              <a:t>the</a:t>
            </a:r>
            <a:r>
              <a:rPr lang="en-US" sz="1800" spc="-15" dirty="0">
                <a:solidFill>
                  <a:srgbClr val="333333"/>
                </a:solidFill>
                <a:latin typeface="Arial MT"/>
                <a:cs typeface="Arial MT"/>
              </a:rPr>
              <a:t> </a:t>
            </a:r>
            <a:r>
              <a:rPr lang="en-US" sz="1800" dirty="0">
                <a:solidFill>
                  <a:srgbClr val="333333"/>
                </a:solidFill>
                <a:latin typeface="Arial MT"/>
                <a:cs typeface="Arial MT"/>
              </a:rPr>
              <a:t>function</a:t>
            </a:r>
            <a:r>
              <a:rPr lang="en-US" sz="1800" spc="-20" dirty="0">
                <a:solidFill>
                  <a:srgbClr val="333333"/>
                </a:solidFill>
                <a:latin typeface="Arial MT"/>
                <a:cs typeface="Arial MT"/>
              </a:rPr>
              <a:t> </a:t>
            </a:r>
            <a:r>
              <a:rPr lang="en-US" sz="1800" dirty="0">
                <a:solidFill>
                  <a:srgbClr val="333333"/>
                </a:solidFill>
                <a:latin typeface="Arial MT"/>
                <a:cs typeface="Arial MT"/>
              </a:rPr>
              <a:t>that</a:t>
            </a:r>
            <a:r>
              <a:rPr lang="en-US" sz="1800" spc="-15" dirty="0">
                <a:solidFill>
                  <a:srgbClr val="333333"/>
                </a:solidFill>
                <a:latin typeface="Arial MT"/>
                <a:cs typeface="Arial MT"/>
              </a:rPr>
              <a:t> </a:t>
            </a:r>
            <a:r>
              <a:rPr lang="en-US" sz="1800" dirty="0">
                <a:solidFill>
                  <a:srgbClr val="333333"/>
                </a:solidFill>
                <a:latin typeface="Arial MT"/>
                <a:cs typeface="Arial MT"/>
              </a:rPr>
              <a:t>we</a:t>
            </a:r>
            <a:r>
              <a:rPr lang="en-US" sz="1800" spc="-15" dirty="0">
                <a:solidFill>
                  <a:srgbClr val="333333"/>
                </a:solidFill>
                <a:latin typeface="Arial MT"/>
                <a:cs typeface="Arial MT"/>
              </a:rPr>
              <a:t> </a:t>
            </a:r>
            <a:r>
              <a:rPr lang="en-US" sz="1800" dirty="0">
                <a:solidFill>
                  <a:srgbClr val="333333"/>
                </a:solidFill>
                <a:latin typeface="Arial MT"/>
                <a:cs typeface="Arial MT"/>
              </a:rPr>
              <a:t>are</a:t>
            </a:r>
            <a:r>
              <a:rPr lang="en-US" sz="1800" spc="-20" dirty="0">
                <a:solidFill>
                  <a:srgbClr val="333333"/>
                </a:solidFill>
                <a:latin typeface="Arial MT"/>
                <a:cs typeface="Arial MT"/>
              </a:rPr>
              <a:t> </a:t>
            </a:r>
            <a:r>
              <a:rPr lang="en-US" sz="1800" dirty="0">
                <a:solidFill>
                  <a:srgbClr val="333333"/>
                </a:solidFill>
                <a:latin typeface="Arial MT"/>
                <a:cs typeface="Arial MT"/>
              </a:rPr>
              <a:t>going</a:t>
            </a:r>
            <a:r>
              <a:rPr lang="en-US" sz="1800" spc="-15" dirty="0">
                <a:solidFill>
                  <a:srgbClr val="333333"/>
                </a:solidFill>
                <a:latin typeface="Arial MT"/>
                <a:cs typeface="Arial MT"/>
              </a:rPr>
              <a:t> </a:t>
            </a:r>
            <a:r>
              <a:rPr lang="en-US" sz="1800" dirty="0">
                <a:solidFill>
                  <a:srgbClr val="333333"/>
                </a:solidFill>
                <a:latin typeface="Arial MT"/>
                <a:cs typeface="Arial MT"/>
              </a:rPr>
              <a:t>call</a:t>
            </a:r>
            <a:r>
              <a:rPr lang="en-US" sz="1800" spc="-15" dirty="0">
                <a:solidFill>
                  <a:srgbClr val="333333"/>
                </a:solidFill>
                <a:latin typeface="Arial MT"/>
                <a:cs typeface="Arial MT"/>
              </a:rPr>
              <a:t> </a:t>
            </a:r>
            <a:r>
              <a:rPr lang="en-US" sz="1800" dirty="0">
                <a:solidFill>
                  <a:srgbClr val="333333"/>
                </a:solidFill>
                <a:latin typeface="Arial MT"/>
                <a:cs typeface="Arial MT"/>
              </a:rPr>
              <a:t>from</a:t>
            </a:r>
            <a:r>
              <a:rPr lang="en-US" sz="1800" spc="-15" dirty="0">
                <a:solidFill>
                  <a:srgbClr val="333333"/>
                </a:solidFill>
                <a:latin typeface="Arial MT"/>
                <a:cs typeface="Arial MT"/>
              </a:rPr>
              <a:t> </a:t>
            </a:r>
            <a:r>
              <a:rPr lang="en-US" sz="1800" spc="-20" dirty="0">
                <a:solidFill>
                  <a:srgbClr val="333333"/>
                </a:solidFill>
                <a:latin typeface="Arial MT"/>
                <a:cs typeface="Arial MT"/>
              </a:rPr>
              <a:t>this </a:t>
            </a:r>
            <a:r>
              <a:rPr lang="en-US" sz="1800" spc="-10" dirty="0">
                <a:solidFill>
                  <a:srgbClr val="333333"/>
                </a:solidFill>
                <a:latin typeface="Arial MT"/>
                <a:cs typeface="Arial MT"/>
              </a:rPr>
              <a:t>thread.</a:t>
            </a:r>
            <a:endParaRPr lang="en-US" sz="1800" dirty="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2794635" cy="406400"/>
          </a:xfrm>
          <a:prstGeom prst="rect">
            <a:avLst/>
          </a:prstGeom>
        </p:spPr>
        <p:txBody>
          <a:bodyPr vert="horz" wrap="square" lIns="0" tIns="12700" rIns="0" bIns="0" rtlCol="0">
            <a:spAutoFit/>
          </a:bodyPr>
          <a:lstStyle/>
          <a:p>
            <a:pPr marL="12700">
              <a:lnSpc>
                <a:spcPct val="100000"/>
              </a:lnSpc>
              <a:spcBef>
                <a:spcPts val="100"/>
              </a:spcBef>
            </a:pPr>
            <a:r>
              <a:rPr spc="-10" dirty="0"/>
              <a:t>Multithreading</a:t>
            </a:r>
            <a:r>
              <a:rPr spc="-70" dirty="0"/>
              <a:t> </a:t>
            </a:r>
            <a:r>
              <a:rPr dirty="0"/>
              <a:t>in</a:t>
            </a:r>
            <a:r>
              <a:rPr spc="-65" dirty="0"/>
              <a:t> </a:t>
            </a:r>
            <a:r>
              <a:rPr spc="-50" dirty="0"/>
              <a:t>C</a:t>
            </a:r>
          </a:p>
        </p:txBody>
      </p:sp>
      <p:sp>
        <p:nvSpPr>
          <p:cNvPr id="3" name="object 3"/>
          <p:cNvSpPr txBox="1"/>
          <p:nvPr/>
        </p:nvSpPr>
        <p:spPr>
          <a:xfrm>
            <a:off x="410375" y="1797963"/>
            <a:ext cx="17672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F2044"/>
                </a:solidFill>
                <a:latin typeface="Georgia"/>
                <a:cs typeface="Georgia"/>
              </a:rPr>
              <a:t>Creating</a:t>
            </a:r>
            <a:r>
              <a:rPr sz="1800" spc="-110" dirty="0">
                <a:solidFill>
                  <a:srgbClr val="0F2044"/>
                </a:solidFill>
                <a:latin typeface="Georgia"/>
                <a:cs typeface="Georgia"/>
              </a:rPr>
              <a:t> </a:t>
            </a:r>
            <a:r>
              <a:rPr sz="1800" spc="-10" dirty="0">
                <a:solidFill>
                  <a:srgbClr val="0F2044"/>
                </a:solidFill>
                <a:latin typeface="Georgia"/>
                <a:cs typeface="Georgia"/>
              </a:rPr>
              <a:t>Threads</a:t>
            </a:r>
            <a:endParaRPr sz="1800" dirty="0">
              <a:latin typeface="Georgia"/>
              <a:cs typeface="Georgia"/>
            </a:endParaRPr>
          </a:p>
        </p:txBody>
      </p:sp>
      <p:sp>
        <p:nvSpPr>
          <p:cNvPr id="5" name="object 5">
            <a:extLst>
              <a:ext uri="{C183D7F6-B498-43B3-948B-1728B52AA6E4}">
                <adec:decorative xmlns:adec="http://schemas.microsoft.com/office/drawing/2017/decorative" val="1"/>
              </a:ext>
            </a:extLst>
          </p:cNvPr>
          <p:cNvSpPr txBox="1"/>
          <p:nvPr/>
        </p:nvSpPr>
        <p:spPr>
          <a:xfrm>
            <a:off x="1081406" y="2392680"/>
            <a:ext cx="823594"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8" name="object 8"/>
          <p:cNvSpPr txBox="1"/>
          <p:nvPr/>
        </p:nvSpPr>
        <p:spPr>
          <a:xfrm>
            <a:off x="410375" y="2362200"/>
            <a:ext cx="2794635" cy="4032451"/>
          </a:xfrm>
          <a:prstGeom prst="rect">
            <a:avLst/>
          </a:prstGeom>
        </p:spPr>
        <p:txBody>
          <a:bodyPr vert="horz" wrap="square" lIns="0" tIns="12700" rIns="0" bIns="0" rtlCol="0">
            <a:spAutoFit/>
          </a:bodyPr>
          <a:lstStyle/>
          <a:p>
            <a:pPr marL="12700" marR="5080">
              <a:lnSpc>
                <a:spcPct val="114000"/>
              </a:lnSpc>
              <a:spcBef>
                <a:spcPts val="100"/>
              </a:spcBef>
            </a:pPr>
            <a:r>
              <a:rPr lang="en-US" sz="1800" spc="-10" dirty="0">
                <a:solidFill>
                  <a:srgbClr val="333333"/>
                </a:solidFill>
                <a:latin typeface="Arial MT"/>
                <a:cs typeface="Arial MT"/>
              </a:rPr>
              <a:t>Unlike </a:t>
            </a:r>
            <a:r>
              <a:rPr lang="en-US" sz="1800" spc="-10" dirty="0">
                <a:solidFill>
                  <a:srgbClr val="333333"/>
                </a:solidFill>
                <a:latin typeface="Courier New"/>
                <a:cs typeface="Courier New"/>
              </a:rPr>
              <a:t>fork()</a:t>
            </a:r>
            <a:r>
              <a:rPr lang="en-US" sz="1800" spc="-10" dirty="0">
                <a:solidFill>
                  <a:srgbClr val="333333"/>
                </a:solidFill>
                <a:latin typeface="Arial MT"/>
                <a:cs typeface="Arial MT"/>
              </a:rPr>
              <a:t> which</a:t>
            </a:r>
            <a:endParaRPr lang="en-US" sz="1800" dirty="0">
              <a:latin typeface="Arial MT"/>
              <a:cs typeface="Arial MT"/>
            </a:endParaRPr>
          </a:p>
          <a:p>
            <a:pPr marL="12700" marR="5080">
              <a:lnSpc>
                <a:spcPct val="114000"/>
              </a:lnSpc>
              <a:spcBef>
                <a:spcPts val="100"/>
              </a:spcBef>
              <a:spcAft>
                <a:spcPts val="1800"/>
              </a:spcAft>
            </a:pPr>
            <a:r>
              <a:rPr sz="1800" dirty="0">
                <a:solidFill>
                  <a:srgbClr val="333333"/>
                </a:solidFill>
                <a:latin typeface="Arial MT"/>
                <a:cs typeface="Arial MT"/>
              </a:rPr>
              <a:t>returns</a:t>
            </a:r>
            <a:r>
              <a:rPr sz="1800" spc="-10" dirty="0">
                <a:solidFill>
                  <a:srgbClr val="333333"/>
                </a:solidFill>
                <a:latin typeface="Arial MT"/>
                <a:cs typeface="Arial MT"/>
              </a:rPr>
              <a:t> </a:t>
            </a:r>
            <a:r>
              <a:rPr sz="1800" dirty="0">
                <a:solidFill>
                  <a:srgbClr val="333333"/>
                </a:solidFill>
                <a:latin typeface="Arial MT"/>
                <a:cs typeface="Arial MT"/>
              </a:rPr>
              <a:t>an</a:t>
            </a:r>
            <a:r>
              <a:rPr sz="1800" spc="-5" dirty="0">
                <a:solidFill>
                  <a:srgbClr val="333333"/>
                </a:solidFill>
                <a:latin typeface="Arial MT"/>
                <a:cs typeface="Arial MT"/>
              </a:rPr>
              <a:t> </a:t>
            </a:r>
            <a:r>
              <a:rPr sz="1800" spc="-10" dirty="0">
                <a:solidFill>
                  <a:srgbClr val="333333"/>
                </a:solidFill>
                <a:latin typeface="Arial MT"/>
                <a:cs typeface="Arial MT"/>
              </a:rPr>
              <a:t>entirely </a:t>
            </a:r>
            <a:r>
              <a:rPr sz="1800" dirty="0">
                <a:solidFill>
                  <a:srgbClr val="333333"/>
                </a:solidFill>
                <a:latin typeface="Arial MT"/>
                <a:cs typeface="Arial MT"/>
              </a:rPr>
              <a:t>independent</a:t>
            </a:r>
            <a:r>
              <a:rPr sz="1800" spc="-35" dirty="0">
                <a:solidFill>
                  <a:srgbClr val="333333"/>
                </a:solidFill>
                <a:latin typeface="Arial MT"/>
                <a:cs typeface="Arial MT"/>
              </a:rPr>
              <a:t> </a:t>
            </a:r>
            <a:r>
              <a:rPr sz="1800" dirty="0">
                <a:solidFill>
                  <a:srgbClr val="333333"/>
                </a:solidFill>
                <a:latin typeface="Arial MT"/>
                <a:cs typeface="Arial MT"/>
              </a:rPr>
              <a:t>copy</a:t>
            </a:r>
            <a:r>
              <a:rPr sz="1800" spc="-25" dirty="0">
                <a:solidFill>
                  <a:srgbClr val="333333"/>
                </a:solidFill>
                <a:latin typeface="Arial MT"/>
                <a:cs typeface="Arial MT"/>
              </a:rPr>
              <a:t> </a:t>
            </a:r>
            <a:r>
              <a:rPr sz="1800" dirty="0">
                <a:solidFill>
                  <a:srgbClr val="333333"/>
                </a:solidFill>
                <a:latin typeface="Arial MT"/>
                <a:cs typeface="Arial MT"/>
              </a:rPr>
              <a:t>of</a:t>
            </a:r>
            <a:r>
              <a:rPr sz="1800" spc="-20" dirty="0">
                <a:solidFill>
                  <a:srgbClr val="333333"/>
                </a:solidFill>
                <a:latin typeface="Arial MT"/>
                <a:cs typeface="Arial MT"/>
              </a:rPr>
              <a:t> </a:t>
            </a:r>
            <a:r>
              <a:rPr sz="1800" spc="-25" dirty="0">
                <a:solidFill>
                  <a:srgbClr val="333333"/>
                </a:solidFill>
                <a:latin typeface="Arial MT"/>
                <a:cs typeface="Arial MT"/>
              </a:rPr>
              <a:t>the </a:t>
            </a:r>
            <a:r>
              <a:rPr sz="1800" dirty="0">
                <a:solidFill>
                  <a:srgbClr val="333333"/>
                </a:solidFill>
                <a:latin typeface="Arial MT"/>
                <a:cs typeface="Arial MT"/>
              </a:rPr>
              <a:t>process,</a:t>
            </a:r>
            <a:r>
              <a:rPr sz="1800" spc="-25"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spc="-10" dirty="0">
                <a:solidFill>
                  <a:srgbClr val="333333"/>
                </a:solidFill>
                <a:latin typeface="Arial MT"/>
                <a:cs typeface="Arial MT"/>
              </a:rPr>
              <a:t>thread </a:t>
            </a:r>
            <a:r>
              <a:rPr sz="1800" dirty="0">
                <a:solidFill>
                  <a:srgbClr val="333333"/>
                </a:solidFill>
                <a:latin typeface="Arial MT"/>
                <a:cs typeface="Arial MT"/>
              </a:rPr>
              <a:t>shares</a:t>
            </a:r>
            <a:r>
              <a:rPr sz="1800" spc="-20" dirty="0">
                <a:solidFill>
                  <a:srgbClr val="333333"/>
                </a:solidFill>
                <a:latin typeface="Arial MT"/>
                <a:cs typeface="Arial MT"/>
              </a:rPr>
              <a:t> </a:t>
            </a:r>
            <a:r>
              <a:rPr sz="1800" dirty="0">
                <a:solidFill>
                  <a:srgbClr val="333333"/>
                </a:solidFill>
                <a:latin typeface="Arial MT"/>
                <a:cs typeface="Arial MT"/>
              </a:rPr>
              <a:t>the</a:t>
            </a:r>
            <a:r>
              <a:rPr sz="1800" spc="-10" dirty="0">
                <a:solidFill>
                  <a:srgbClr val="333333"/>
                </a:solidFill>
                <a:latin typeface="Arial MT"/>
                <a:cs typeface="Arial MT"/>
              </a:rPr>
              <a:t> address </a:t>
            </a:r>
            <a:r>
              <a:rPr sz="1800" dirty="0">
                <a:solidFill>
                  <a:srgbClr val="333333"/>
                </a:solidFill>
                <a:latin typeface="Arial MT"/>
                <a:cs typeface="Arial MT"/>
              </a:rPr>
              <a:t>space</a:t>
            </a:r>
            <a:r>
              <a:rPr sz="1800" spc="-35" dirty="0">
                <a:solidFill>
                  <a:srgbClr val="333333"/>
                </a:solidFill>
                <a:latin typeface="Arial MT"/>
                <a:cs typeface="Arial MT"/>
              </a:rPr>
              <a:t> </a:t>
            </a:r>
            <a:r>
              <a:rPr sz="1800" dirty="0">
                <a:solidFill>
                  <a:srgbClr val="333333"/>
                </a:solidFill>
                <a:latin typeface="Arial MT"/>
                <a:cs typeface="Arial MT"/>
              </a:rPr>
              <a:t>within</a:t>
            </a:r>
            <a:r>
              <a:rPr sz="1800" spc="-25" dirty="0">
                <a:solidFill>
                  <a:srgbClr val="333333"/>
                </a:solidFill>
                <a:latin typeface="Arial MT"/>
                <a:cs typeface="Arial MT"/>
              </a:rPr>
              <a:t> </a:t>
            </a:r>
            <a:r>
              <a:rPr sz="1800" dirty="0">
                <a:solidFill>
                  <a:srgbClr val="333333"/>
                </a:solidFill>
                <a:latin typeface="Arial MT"/>
                <a:cs typeface="Arial MT"/>
              </a:rPr>
              <a:t>the</a:t>
            </a:r>
            <a:r>
              <a:rPr sz="1800" spc="-20" dirty="0">
                <a:solidFill>
                  <a:srgbClr val="333333"/>
                </a:solidFill>
                <a:latin typeface="Arial MT"/>
                <a:cs typeface="Arial MT"/>
              </a:rPr>
              <a:t> same </a:t>
            </a:r>
            <a:r>
              <a:rPr sz="1800" spc="-10" dirty="0">
                <a:solidFill>
                  <a:srgbClr val="333333"/>
                </a:solidFill>
                <a:latin typeface="Arial MT"/>
                <a:cs typeface="Arial MT"/>
              </a:rPr>
              <a:t>process.</a:t>
            </a:r>
            <a:endParaRPr lang="en-US" sz="1800" spc="-10" dirty="0">
              <a:solidFill>
                <a:srgbClr val="333333"/>
              </a:solidFill>
              <a:latin typeface="Arial MT"/>
              <a:cs typeface="Arial MT"/>
            </a:endParaRPr>
          </a:p>
          <a:p>
            <a:pPr marL="12700" marR="5080">
              <a:lnSpc>
                <a:spcPct val="114000"/>
              </a:lnSpc>
              <a:spcBef>
                <a:spcPts val="100"/>
              </a:spcBef>
            </a:pPr>
            <a:r>
              <a:rPr lang="en-US" sz="1800" dirty="0">
                <a:solidFill>
                  <a:srgbClr val="333333"/>
                </a:solidFill>
                <a:latin typeface="Arial MT"/>
                <a:cs typeface="Arial MT"/>
              </a:rPr>
              <a:t>This</a:t>
            </a:r>
            <a:r>
              <a:rPr lang="en-US" sz="1800" spc="-20" dirty="0">
                <a:solidFill>
                  <a:srgbClr val="333333"/>
                </a:solidFill>
                <a:latin typeface="Arial MT"/>
                <a:cs typeface="Arial MT"/>
              </a:rPr>
              <a:t> </a:t>
            </a:r>
            <a:r>
              <a:rPr lang="en-US" sz="1800" dirty="0">
                <a:solidFill>
                  <a:srgbClr val="333333"/>
                </a:solidFill>
                <a:latin typeface="Arial MT"/>
                <a:cs typeface="Arial MT"/>
              </a:rPr>
              <a:t>feature</a:t>
            </a:r>
            <a:r>
              <a:rPr lang="en-US" sz="1800" spc="-20" dirty="0">
                <a:solidFill>
                  <a:srgbClr val="333333"/>
                </a:solidFill>
                <a:latin typeface="Arial MT"/>
                <a:cs typeface="Arial MT"/>
              </a:rPr>
              <a:t> </a:t>
            </a:r>
            <a:r>
              <a:rPr lang="en-US" sz="1800" spc="-10" dirty="0">
                <a:solidFill>
                  <a:srgbClr val="333333"/>
                </a:solidFill>
                <a:latin typeface="Arial MT"/>
                <a:cs typeface="Arial MT"/>
              </a:rPr>
              <a:t>allows </a:t>
            </a:r>
            <a:r>
              <a:rPr lang="en-US" sz="1800" dirty="0">
                <a:solidFill>
                  <a:srgbClr val="333333"/>
                </a:solidFill>
                <a:latin typeface="Arial MT"/>
                <a:cs typeface="Arial MT"/>
              </a:rPr>
              <a:t>threads</a:t>
            </a:r>
            <a:r>
              <a:rPr lang="en-US" sz="1800" spc="-10" dirty="0">
                <a:solidFill>
                  <a:srgbClr val="333333"/>
                </a:solidFill>
                <a:latin typeface="Arial MT"/>
                <a:cs typeface="Arial MT"/>
              </a:rPr>
              <a:t> </a:t>
            </a:r>
            <a:r>
              <a:rPr lang="en-US" sz="1800" dirty="0">
                <a:solidFill>
                  <a:srgbClr val="333333"/>
                </a:solidFill>
                <a:latin typeface="Arial MT"/>
                <a:cs typeface="Arial MT"/>
              </a:rPr>
              <a:t>to</a:t>
            </a:r>
            <a:r>
              <a:rPr lang="en-US" sz="1800" spc="-5" dirty="0">
                <a:solidFill>
                  <a:srgbClr val="333333"/>
                </a:solidFill>
                <a:latin typeface="Arial MT"/>
                <a:cs typeface="Arial MT"/>
              </a:rPr>
              <a:t> </a:t>
            </a:r>
            <a:r>
              <a:rPr lang="en-US" sz="1800" dirty="0">
                <a:solidFill>
                  <a:srgbClr val="333333"/>
                </a:solidFill>
                <a:latin typeface="Arial MT"/>
                <a:cs typeface="Arial MT"/>
              </a:rPr>
              <a:t>access</a:t>
            </a:r>
            <a:r>
              <a:rPr lang="en-US" sz="1800" spc="-5" dirty="0">
                <a:solidFill>
                  <a:srgbClr val="333333"/>
                </a:solidFill>
                <a:latin typeface="Arial MT"/>
                <a:cs typeface="Arial MT"/>
              </a:rPr>
              <a:t> </a:t>
            </a:r>
            <a:r>
              <a:rPr lang="en-US" sz="1800" spc="-25" dirty="0">
                <a:solidFill>
                  <a:srgbClr val="333333"/>
                </a:solidFill>
                <a:latin typeface="Arial MT"/>
                <a:cs typeface="Arial MT"/>
              </a:rPr>
              <a:t>the </a:t>
            </a:r>
            <a:r>
              <a:rPr lang="en-US" sz="1800" dirty="0">
                <a:solidFill>
                  <a:srgbClr val="333333"/>
                </a:solidFill>
                <a:latin typeface="Arial MT"/>
                <a:cs typeface="Arial MT"/>
              </a:rPr>
              <a:t>same</a:t>
            </a:r>
            <a:r>
              <a:rPr lang="en-US" sz="1800" spc="-20" dirty="0">
                <a:solidFill>
                  <a:srgbClr val="333333"/>
                </a:solidFill>
                <a:latin typeface="Arial MT"/>
                <a:cs typeface="Arial MT"/>
              </a:rPr>
              <a:t> </a:t>
            </a:r>
            <a:r>
              <a:rPr lang="en-US" sz="1800" dirty="0">
                <a:solidFill>
                  <a:srgbClr val="333333"/>
                </a:solidFill>
                <a:latin typeface="Arial MT"/>
                <a:cs typeface="Arial MT"/>
              </a:rPr>
              <a:t>data</a:t>
            </a:r>
            <a:r>
              <a:rPr lang="en-US" sz="1800" spc="-20" dirty="0">
                <a:solidFill>
                  <a:srgbClr val="333333"/>
                </a:solidFill>
                <a:latin typeface="Arial MT"/>
                <a:cs typeface="Arial MT"/>
              </a:rPr>
              <a:t> </a:t>
            </a:r>
            <a:r>
              <a:rPr lang="en-US" sz="1800" spc="-10" dirty="0">
                <a:solidFill>
                  <a:srgbClr val="333333"/>
                </a:solidFill>
                <a:latin typeface="Arial MT"/>
                <a:cs typeface="Arial MT"/>
              </a:rPr>
              <a:t>structures </a:t>
            </a:r>
            <a:r>
              <a:rPr lang="en-US" sz="1800" dirty="0">
                <a:solidFill>
                  <a:srgbClr val="333333"/>
                </a:solidFill>
                <a:latin typeface="Arial MT"/>
                <a:cs typeface="Arial MT"/>
              </a:rPr>
              <a:t>and</a:t>
            </a:r>
            <a:r>
              <a:rPr lang="en-US" sz="1800" spc="-35" dirty="0">
                <a:solidFill>
                  <a:srgbClr val="333333"/>
                </a:solidFill>
                <a:latin typeface="Arial MT"/>
                <a:cs typeface="Arial MT"/>
              </a:rPr>
              <a:t> </a:t>
            </a:r>
            <a:r>
              <a:rPr lang="en-US" sz="1800" dirty="0">
                <a:solidFill>
                  <a:srgbClr val="333333"/>
                </a:solidFill>
                <a:latin typeface="Arial MT"/>
                <a:cs typeface="Arial MT"/>
              </a:rPr>
              <a:t>variables,</a:t>
            </a:r>
            <a:r>
              <a:rPr lang="en-US" sz="1800" spc="-30" dirty="0">
                <a:solidFill>
                  <a:srgbClr val="333333"/>
                </a:solidFill>
                <a:latin typeface="Arial MT"/>
                <a:cs typeface="Arial MT"/>
              </a:rPr>
              <a:t> </a:t>
            </a:r>
            <a:r>
              <a:rPr lang="en-US" sz="1800" spc="-20" dirty="0">
                <a:solidFill>
                  <a:srgbClr val="333333"/>
                </a:solidFill>
                <a:latin typeface="Arial MT"/>
                <a:cs typeface="Arial MT"/>
              </a:rPr>
              <a:t>hence </a:t>
            </a:r>
            <a:r>
              <a:rPr lang="en-US" sz="1800" dirty="0">
                <a:solidFill>
                  <a:srgbClr val="333333"/>
                </a:solidFill>
                <a:latin typeface="Arial MT"/>
                <a:cs typeface="Arial MT"/>
              </a:rPr>
              <a:t>facilitates</a:t>
            </a:r>
            <a:r>
              <a:rPr lang="en-US" sz="1800" spc="-5" dirty="0">
                <a:solidFill>
                  <a:srgbClr val="333333"/>
                </a:solidFill>
                <a:latin typeface="Arial MT"/>
                <a:cs typeface="Arial MT"/>
              </a:rPr>
              <a:t> </a:t>
            </a:r>
            <a:r>
              <a:rPr lang="en-US" sz="1800" spc="-25" dirty="0">
                <a:solidFill>
                  <a:srgbClr val="333333"/>
                </a:solidFill>
                <a:latin typeface="Arial MT"/>
                <a:cs typeface="Arial MT"/>
              </a:rPr>
              <a:t>the </a:t>
            </a:r>
            <a:r>
              <a:rPr lang="en-US" sz="1800" dirty="0">
                <a:solidFill>
                  <a:srgbClr val="333333"/>
                </a:solidFill>
                <a:latin typeface="Arial MT"/>
                <a:cs typeface="Arial MT"/>
              </a:rPr>
              <a:t>communication</a:t>
            </a:r>
            <a:r>
              <a:rPr lang="en-US" sz="1800" spc="-65" dirty="0">
                <a:solidFill>
                  <a:srgbClr val="333333"/>
                </a:solidFill>
                <a:latin typeface="Arial MT"/>
                <a:cs typeface="Arial MT"/>
              </a:rPr>
              <a:t> </a:t>
            </a:r>
            <a:r>
              <a:rPr lang="en-US" sz="1800" spc="-10" dirty="0">
                <a:solidFill>
                  <a:srgbClr val="333333"/>
                </a:solidFill>
                <a:latin typeface="Arial MT"/>
                <a:cs typeface="Arial MT"/>
              </a:rPr>
              <a:t>between threads.</a:t>
            </a:r>
            <a:endParaRPr lang="en-US" sz="1800" dirty="0">
              <a:latin typeface="Arial MT"/>
              <a:cs typeface="Arial MT"/>
            </a:endParaRPr>
          </a:p>
        </p:txBody>
      </p:sp>
      <p:pic>
        <p:nvPicPr>
          <p:cNvPr id="10" name="object 10" descr="A simplified process address space stack showing multiple independent thread stacks at the top growing downward, with a shared heap and program data at the bottom growing upward."/>
          <p:cNvPicPr/>
          <p:nvPr/>
        </p:nvPicPr>
        <p:blipFill>
          <a:blip r:embed="rId3" cstate="print"/>
          <a:stretch>
            <a:fillRect/>
          </a:stretch>
        </p:blipFill>
        <p:spPr>
          <a:xfrm>
            <a:off x="3371851" y="2126741"/>
            <a:ext cx="4171949" cy="3533774"/>
          </a:xfrm>
          <a:prstGeom prst="rect">
            <a:avLst/>
          </a:prstGeom>
        </p:spPr>
      </p:pic>
      <p:sp>
        <p:nvSpPr>
          <p:cNvPr id="11" name="object 11">
            <a:extLst>
              <a:ext uri="{C183D7F6-B498-43B3-948B-1728B52AA6E4}">
                <adec:decorative xmlns:adec="http://schemas.microsoft.com/office/drawing/2017/decorative" val="1"/>
              </a:ext>
            </a:extLst>
          </p:cNvPr>
          <p:cNvSpPr txBox="1"/>
          <p:nvPr/>
        </p:nvSpPr>
        <p:spPr>
          <a:xfrm>
            <a:off x="3344751" y="5881745"/>
            <a:ext cx="235013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https://comp3511.github.io/</a:t>
            </a:r>
            <a:endParaRPr sz="1000" dirty="0">
              <a:latin typeface="Arial MT"/>
              <a:cs typeface="Arial MT"/>
            </a:endParaRPr>
          </a:p>
        </p:txBody>
      </p:sp>
      <p:pic>
        <p:nvPicPr>
          <p:cNvPr id="12" name="object 12" descr="A detailed mapping of thread stacks to specific routines and variables within a shared user address space, alongside shared process attributes like PID, files, and sockets."/>
          <p:cNvPicPr/>
          <p:nvPr/>
        </p:nvPicPr>
        <p:blipFill>
          <a:blip r:embed="rId4" cstate="print"/>
          <a:stretch>
            <a:fillRect/>
          </a:stretch>
        </p:blipFill>
        <p:spPr>
          <a:xfrm>
            <a:off x="7740775" y="2036815"/>
            <a:ext cx="4276724" cy="3733799"/>
          </a:xfrm>
          <a:prstGeom prst="rect">
            <a:avLst/>
          </a:prstGeom>
        </p:spPr>
      </p:pic>
      <p:sp>
        <p:nvSpPr>
          <p:cNvPr id="13" name="object 13">
            <a:extLst>
              <a:ext uri="{C183D7F6-B498-43B3-948B-1728B52AA6E4}">
                <adec:decorative xmlns:adec="http://schemas.microsoft.com/office/drawing/2017/decorative" val="1"/>
              </a:ext>
            </a:extLst>
          </p:cNvPr>
          <p:cNvSpPr txBox="1"/>
          <p:nvPr/>
        </p:nvSpPr>
        <p:spPr>
          <a:xfrm>
            <a:off x="8688375" y="5980320"/>
            <a:ext cx="218821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https://my.eng.utah.edu/</a:t>
            </a:r>
            <a:endParaRPr sz="1000" dirty="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Creating</a:t>
            </a:r>
            <a:r>
              <a:rPr sz="1800" spc="-110" dirty="0"/>
              <a:t> </a:t>
            </a:r>
            <a:r>
              <a:rPr sz="1800" spc="-10" dirty="0"/>
              <a:t>Threads</a:t>
            </a:r>
            <a:endParaRPr sz="1800"/>
          </a:p>
        </p:txBody>
      </p:sp>
      <p:sp>
        <p:nvSpPr>
          <p:cNvPr id="4" name="object 4"/>
          <p:cNvSpPr txBox="1"/>
          <p:nvPr/>
        </p:nvSpPr>
        <p:spPr>
          <a:xfrm>
            <a:off x="469050" y="2646858"/>
            <a:ext cx="4054475" cy="2233930"/>
          </a:xfrm>
          <a:prstGeom prst="rect">
            <a:avLst/>
          </a:prstGeom>
        </p:spPr>
        <p:txBody>
          <a:bodyPr vert="horz" wrap="square" lIns="0" tIns="12700" rIns="0" bIns="0" rtlCol="0">
            <a:spAutoFit/>
          </a:bodyPr>
          <a:lstStyle/>
          <a:p>
            <a:pPr marL="12700" marR="5080">
              <a:lnSpc>
                <a:spcPct val="114999"/>
              </a:lnSpc>
              <a:spcBef>
                <a:spcPts val="100"/>
              </a:spcBef>
            </a:pPr>
            <a:r>
              <a:rPr sz="1800" dirty="0">
                <a:latin typeface="Arial MT"/>
                <a:cs typeface="Arial MT"/>
              </a:rPr>
              <a:t>The</a:t>
            </a:r>
            <a:r>
              <a:rPr sz="1800" spc="-5" dirty="0">
                <a:latin typeface="Arial MT"/>
                <a:cs typeface="Arial MT"/>
              </a:rPr>
              <a:t> </a:t>
            </a:r>
            <a:r>
              <a:rPr sz="1800" b="1" spc="-10" dirty="0">
                <a:solidFill>
                  <a:srgbClr val="188037"/>
                </a:solidFill>
                <a:latin typeface="Courier New"/>
                <a:cs typeface="Courier New"/>
              </a:rPr>
              <a:t>pthread_create</a:t>
            </a:r>
            <a:r>
              <a:rPr sz="1800" b="1" spc="-570" dirty="0">
                <a:solidFill>
                  <a:srgbClr val="188037"/>
                </a:solidFill>
                <a:latin typeface="Courier New"/>
                <a:cs typeface="Courier New"/>
              </a:rPr>
              <a:t> </a:t>
            </a:r>
            <a:r>
              <a:rPr sz="1800" dirty="0">
                <a:latin typeface="Arial MT"/>
                <a:cs typeface="Arial MT"/>
              </a:rPr>
              <a:t>function is</a:t>
            </a:r>
            <a:r>
              <a:rPr sz="1800" spc="5" dirty="0">
                <a:latin typeface="Arial MT"/>
                <a:cs typeface="Arial MT"/>
              </a:rPr>
              <a:t> </a:t>
            </a:r>
            <a:r>
              <a:rPr sz="1800" spc="-20" dirty="0">
                <a:latin typeface="Arial MT"/>
                <a:cs typeface="Arial MT"/>
              </a:rPr>
              <a:t>used </a:t>
            </a:r>
            <a:r>
              <a:rPr sz="1800" dirty="0">
                <a:latin typeface="Arial MT"/>
                <a:cs typeface="Arial MT"/>
              </a:rPr>
              <a:t>to</a:t>
            </a:r>
            <a:r>
              <a:rPr sz="1800" spc="-15" dirty="0">
                <a:latin typeface="Arial MT"/>
                <a:cs typeface="Arial MT"/>
              </a:rPr>
              <a:t> </a:t>
            </a:r>
            <a:r>
              <a:rPr sz="1800" dirty="0">
                <a:latin typeface="Arial MT"/>
                <a:cs typeface="Arial MT"/>
              </a:rPr>
              <a:t>start</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new</a:t>
            </a:r>
            <a:r>
              <a:rPr sz="1800" spc="-15"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It</a:t>
            </a:r>
            <a:r>
              <a:rPr sz="1800" spc="-15" dirty="0">
                <a:latin typeface="Arial MT"/>
                <a:cs typeface="Arial MT"/>
              </a:rPr>
              <a:t> </a:t>
            </a:r>
            <a:r>
              <a:rPr sz="1800" dirty="0">
                <a:latin typeface="Arial MT"/>
                <a:cs typeface="Arial MT"/>
              </a:rPr>
              <a:t>requires</a:t>
            </a:r>
            <a:r>
              <a:rPr sz="1800" spc="-15" dirty="0">
                <a:latin typeface="Arial MT"/>
                <a:cs typeface="Arial MT"/>
              </a:rPr>
              <a:t> </a:t>
            </a:r>
            <a:r>
              <a:rPr sz="1800" spc="-50" dirty="0">
                <a:latin typeface="Arial MT"/>
                <a:cs typeface="Arial MT"/>
              </a:rPr>
              <a:t>a </a:t>
            </a:r>
            <a:r>
              <a:rPr sz="1800" dirty="0">
                <a:latin typeface="Arial MT"/>
                <a:cs typeface="Arial MT"/>
              </a:rPr>
              <a:t>pointer</a:t>
            </a:r>
            <a:r>
              <a:rPr sz="1800" spc="-15"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ID,</a:t>
            </a:r>
            <a:r>
              <a:rPr sz="1800" spc="-15" dirty="0">
                <a:latin typeface="Arial MT"/>
                <a:cs typeface="Arial MT"/>
              </a:rPr>
              <a:t> </a:t>
            </a:r>
            <a:r>
              <a:rPr sz="1800" spc="-10" dirty="0">
                <a:latin typeface="Arial MT"/>
                <a:cs typeface="Arial MT"/>
              </a:rPr>
              <a:t>thread </a:t>
            </a:r>
            <a:r>
              <a:rPr sz="1800" dirty="0">
                <a:latin typeface="Arial MT"/>
                <a:cs typeface="Arial MT"/>
              </a:rPr>
              <a:t>attributes</a:t>
            </a:r>
            <a:r>
              <a:rPr sz="1800" spc="-5" dirty="0">
                <a:latin typeface="Arial MT"/>
                <a:cs typeface="Arial MT"/>
              </a:rPr>
              <a:t> </a:t>
            </a:r>
            <a:r>
              <a:rPr sz="1800" dirty="0">
                <a:latin typeface="Arial MT"/>
                <a:cs typeface="Arial MT"/>
              </a:rPr>
              <a:t>(can</a:t>
            </a:r>
            <a:r>
              <a:rPr sz="1800" spc="-5" dirty="0">
                <a:latin typeface="Arial MT"/>
                <a:cs typeface="Arial MT"/>
              </a:rPr>
              <a:t> </a:t>
            </a:r>
            <a:r>
              <a:rPr sz="1800" dirty="0">
                <a:latin typeface="Arial MT"/>
                <a:cs typeface="Arial MT"/>
              </a:rPr>
              <a:t>be </a:t>
            </a:r>
            <a:r>
              <a:rPr sz="1800" b="1" spc="-10" dirty="0">
                <a:solidFill>
                  <a:srgbClr val="188037"/>
                </a:solidFill>
                <a:latin typeface="Courier New"/>
                <a:cs typeface="Courier New"/>
              </a:rPr>
              <a:t>NULL</a:t>
            </a:r>
            <a:r>
              <a:rPr sz="1800" b="1" spc="-585" dirty="0">
                <a:solidFill>
                  <a:srgbClr val="188037"/>
                </a:solidFill>
                <a:latin typeface="Courier New"/>
                <a:cs typeface="Courier New"/>
              </a:rPr>
              <a:t> </a:t>
            </a:r>
            <a:r>
              <a:rPr sz="1800" dirty="0">
                <a:latin typeface="Arial MT"/>
                <a:cs typeface="Arial MT"/>
              </a:rPr>
              <a:t>for </a:t>
            </a:r>
            <a:r>
              <a:rPr sz="1800" spc="-10" dirty="0">
                <a:latin typeface="Arial MT"/>
                <a:cs typeface="Arial MT"/>
              </a:rPr>
              <a:t>default </a:t>
            </a:r>
            <a:r>
              <a:rPr sz="1800" dirty="0">
                <a:latin typeface="Arial MT"/>
                <a:cs typeface="Arial MT"/>
              </a:rPr>
              <a:t>attributes),</a:t>
            </a:r>
            <a:r>
              <a:rPr sz="1800" spc="-3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function</a:t>
            </a:r>
            <a:r>
              <a:rPr sz="1800" spc="-25" dirty="0">
                <a:latin typeface="Arial MT"/>
                <a:cs typeface="Arial MT"/>
              </a:rPr>
              <a:t> </a:t>
            </a:r>
            <a:r>
              <a:rPr sz="1800" dirty="0">
                <a:latin typeface="Arial MT"/>
                <a:cs typeface="Arial MT"/>
              </a:rPr>
              <a:t>pointer</a:t>
            </a:r>
            <a:r>
              <a:rPr sz="1800" spc="-25" dirty="0">
                <a:latin typeface="Arial MT"/>
                <a:cs typeface="Arial MT"/>
              </a:rPr>
              <a:t> </a:t>
            </a:r>
            <a:r>
              <a:rPr sz="1800" dirty="0">
                <a:latin typeface="Arial MT"/>
                <a:cs typeface="Arial MT"/>
              </a:rPr>
              <a:t>to</a:t>
            </a:r>
            <a:r>
              <a:rPr sz="1800" spc="-20" dirty="0">
                <a:latin typeface="Arial MT"/>
                <a:cs typeface="Arial MT"/>
              </a:rPr>
              <a:t> </a:t>
            </a:r>
            <a:r>
              <a:rPr sz="1800" spc="-25" dirty="0">
                <a:latin typeface="Arial MT"/>
                <a:cs typeface="Arial MT"/>
              </a:rPr>
              <a:t>the </a:t>
            </a:r>
            <a:r>
              <a:rPr sz="1800" dirty="0">
                <a:latin typeface="Arial MT"/>
                <a:cs typeface="Arial MT"/>
              </a:rPr>
              <a:t>thread</a:t>
            </a:r>
            <a:r>
              <a:rPr sz="1800" spc="-20" dirty="0">
                <a:latin typeface="Arial MT"/>
                <a:cs typeface="Arial MT"/>
              </a:rPr>
              <a:t> </a:t>
            </a:r>
            <a:r>
              <a:rPr sz="1800" dirty="0">
                <a:latin typeface="Arial MT"/>
                <a:cs typeface="Arial MT"/>
              </a:rPr>
              <a:t>routine,</a:t>
            </a:r>
            <a:r>
              <a:rPr sz="1800" spc="-15"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parameter</a:t>
            </a:r>
            <a:r>
              <a:rPr sz="1800" spc="-15" dirty="0">
                <a:latin typeface="Arial MT"/>
                <a:cs typeface="Arial MT"/>
              </a:rPr>
              <a:t> </a:t>
            </a:r>
            <a:r>
              <a:rPr sz="1800" dirty="0">
                <a:latin typeface="Arial MT"/>
                <a:cs typeface="Arial MT"/>
              </a:rPr>
              <a:t>for</a:t>
            </a:r>
            <a:r>
              <a:rPr sz="1800" spc="-15" dirty="0">
                <a:latin typeface="Arial MT"/>
                <a:cs typeface="Arial MT"/>
              </a:rPr>
              <a:t> </a:t>
            </a:r>
            <a:r>
              <a:rPr sz="1800" spc="-25" dirty="0">
                <a:latin typeface="Arial MT"/>
                <a:cs typeface="Arial MT"/>
              </a:rPr>
              <a:t>the </a:t>
            </a:r>
            <a:r>
              <a:rPr sz="1800" dirty="0">
                <a:latin typeface="Arial MT"/>
                <a:cs typeface="Arial MT"/>
              </a:rPr>
              <a:t>thread</a:t>
            </a:r>
            <a:r>
              <a:rPr sz="1800" spc="-30" dirty="0">
                <a:latin typeface="Arial MT"/>
                <a:cs typeface="Arial MT"/>
              </a:rPr>
              <a:t> </a:t>
            </a:r>
            <a:r>
              <a:rPr sz="1800" spc="-10" dirty="0">
                <a:latin typeface="Arial MT"/>
                <a:cs typeface="Arial MT"/>
              </a:rPr>
              <a:t>function.</a:t>
            </a:r>
            <a:endParaRPr sz="1800" dirty="0">
              <a:latin typeface="Arial MT"/>
              <a:cs typeface="Arial MT"/>
            </a:endParaRPr>
          </a:p>
        </p:txBody>
      </p:sp>
      <p:pic>
        <p:nvPicPr>
          <p:cNvPr id="2" name="object 2" descr="A code snippet in C demonstrating the use of the pthread library to create, execute, and join a single worker thread that prints a passed integer."/>
          <p:cNvPicPr/>
          <p:nvPr/>
        </p:nvPicPr>
        <p:blipFill>
          <a:blip r:embed="rId3" cstate="print"/>
          <a:stretch>
            <a:fillRect/>
          </a:stretch>
        </p:blipFill>
        <p:spPr>
          <a:xfrm>
            <a:off x="5429125" y="967577"/>
            <a:ext cx="6590325" cy="565992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0375" y="1442973"/>
            <a:ext cx="2794635" cy="674544"/>
          </a:xfrm>
          <a:prstGeom prst="rect">
            <a:avLst/>
          </a:prstGeom>
        </p:spPr>
        <p:txBody>
          <a:bodyPr vert="horz" wrap="square" lIns="0" tIns="12700" rIns="0" bIns="0" rtlCol="0">
            <a:spAutoFit/>
          </a:bodyPr>
          <a:lstStyle/>
          <a:p>
            <a:pPr marL="12700">
              <a:spcBef>
                <a:spcPts val="100"/>
              </a:spcBef>
            </a:pPr>
            <a:r>
              <a:rPr spc="-10" dirty="0"/>
              <a:t>Multithreading</a:t>
            </a:r>
            <a:r>
              <a:rPr spc="-70" dirty="0"/>
              <a:t> </a:t>
            </a:r>
            <a:r>
              <a:rPr dirty="0"/>
              <a:t>in</a:t>
            </a:r>
            <a:r>
              <a:rPr spc="-65" dirty="0"/>
              <a:t> </a:t>
            </a:r>
            <a:r>
              <a:rPr spc="-50" dirty="0"/>
              <a:t>C</a:t>
            </a:r>
            <a:br>
              <a:rPr lang="en-US" spc="-50" dirty="0"/>
            </a:br>
            <a:r>
              <a:rPr lang="en-US" sz="1800" dirty="0"/>
              <a:t>Creating</a:t>
            </a:r>
            <a:r>
              <a:rPr lang="en-US" sz="1800" spc="-110" dirty="0"/>
              <a:t> </a:t>
            </a:r>
            <a:r>
              <a:rPr lang="en-US" sz="1800" spc="-10" dirty="0"/>
              <a:t>Threads</a:t>
            </a:r>
            <a:endParaRPr spc="-50" dirty="0"/>
          </a:p>
        </p:txBody>
      </p:sp>
      <p:sp>
        <p:nvSpPr>
          <p:cNvPr id="4" name="object 4"/>
          <p:cNvSpPr txBox="1"/>
          <p:nvPr/>
        </p:nvSpPr>
        <p:spPr>
          <a:xfrm>
            <a:off x="334175" y="2362200"/>
            <a:ext cx="4847425" cy="3758273"/>
          </a:xfrm>
          <a:prstGeom prst="rect">
            <a:avLst/>
          </a:prstGeom>
        </p:spPr>
        <p:txBody>
          <a:bodyPr vert="horz" wrap="square" lIns="0" tIns="12700" rIns="0" bIns="0" rtlCol="0">
            <a:spAutoFit/>
          </a:bodyPr>
          <a:lstStyle/>
          <a:p>
            <a:pPr marL="371475" marR="5080" indent="-359410">
              <a:lnSpc>
                <a:spcPct val="114999"/>
              </a:lnSpc>
              <a:spcBef>
                <a:spcPts val="1400"/>
              </a:spcBef>
              <a:spcAft>
                <a:spcPts val="1800"/>
              </a:spcAft>
              <a:buClr>
                <a:srgbClr val="000000"/>
              </a:buClr>
              <a:buFont typeface="Arial MT"/>
              <a:buChar char="●"/>
              <a:tabLst>
                <a:tab pos="371475" algn="l"/>
              </a:tabLst>
            </a:pPr>
            <a:r>
              <a:rPr sz="1700" b="1" spc="-20" dirty="0" err="1">
                <a:solidFill>
                  <a:srgbClr val="188037"/>
                </a:solidFill>
                <a:latin typeface="Courier New"/>
                <a:cs typeface="Courier New"/>
              </a:rPr>
              <a:t>pthread_create</a:t>
            </a:r>
            <a:r>
              <a:rPr sz="1700" b="1" spc="-540" dirty="0">
                <a:solidFill>
                  <a:srgbClr val="188037"/>
                </a:solidFill>
                <a:latin typeface="Courier New"/>
                <a:cs typeface="Courier New"/>
              </a:rPr>
              <a:t> </a:t>
            </a:r>
            <a:r>
              <a:rPr sz="1700" dirty="0">
                <a:latin typeface="Arial MT"/>
                <a:cs typeface="Arial MT"/>
              </a:rPr>
              <a:t>initializes</a:t>
            </a:r>
            <a:r>
              <a:rPr sz="1700" spc="10" dirty="0">
                <a:latin typeface="Arial MT"/>
                <a:cs typeface="Arial MT"/>
              </a:rPr>
              <a:t> </a:t>
            </a:r>
            <a:r>
              <a:rPr sz="1700" b="1" spc="-20" dirty="0">
                <a:solidFill>
                  <a:srgbClr val="188037"/>
                </a:solidFill>
                <a:latin typeface="Courier New"/>
                <a:cs typeface="Courier New"/>
              </a:rPr>
              <a:t>thread_id</a:t>
            </a:r>
            <a:r>
              <a:rPr sz="1700" b="1" spc="-535" dirty="0">
                <a:solidFill>
                  <a:srgbClr val="188037"/>
                </a:solidFill>
                <a:latin typeface="Courier New"/>
                <a:cs typeface="Courier New"/>
              </a:rPr>
              <a:t> </a:t>
            </a:r>
            <a:r>
              <a:rPr sz="1700" spc="-20" dirty="0">
                <a:latin typeface="Arial MT"/>
                <a:cs typeface="Arial MT"/>
              </a:rPr>
              <a:t>with </a:t>
            </a:r>
            <a:r>
              <a:rPr sz="1700" dirty="0">
                <a:latin typeface="Arial MT"/>
                <a:cs typeface="Arial MT"/>
              </a:rPr>
              <a:t>a</a:t>
            </a:r>
            <a:r>
              <a:rPr sz="1700" spc="-60" dirty="0">
                <a:latin typeface="Arial MT"/>
                <a:cs typeface="Arial MT"/>
              </a:rPr>
              <a:t> </a:t>
            </a:r>
            <a:r>
              <a:rPr sz="1700" dirty="0">
                <a:latin typeface="Arial MT"/>
                <a:cs typeface="Arial MT"/>
              </a:rPr>
              <a:t>new</a:t>
            </a:r>
            <a:r>
              <a:rPr sz="1700" spc="-60" dirty="0">
                <a:latin typeface="Arial MT"/>
                <a:cs typeface="Arial MT"/>
              </a:rPr>
              <a:t> </a:t>
            </a:r>
            <a:r>
              <a:rPr sz="1700" dirty="0">
                <a:latin typeface="Arial MT"/>
                <a:cs typeface="Arial MT"/>
              </a:rPr>
              <a:t>thread</a:t>
            </a:r>
            <a:r>
              <a:rPr sz="1700" spc="-55" dirty="0">
                <a:latin typeface="Arial MT"/>
                <a:cs typeface="Arial MT"/>
              </a:rPr>
              <a:t> </a:t>
            </a:r>
            <a:r>
              <a:rPr sz="1700" dirty="0">
                <a:latin typeface="Arial MT"/>
                <a:cs typeface="Arial MT"/>
              </a:rPr>
              <a:t>running</a:t>
            </a:r>
            <a:r>
              <a:rPr sz="1700" spc="-55" dirty="0">
                <a:latin typeface="Arial MT"/>
                <a:cs typeface="Arial MT"/>
              </a:rPr>
              <a:t> </a:t>
            </a:r>
            <a:r>
              <a:rPr sz="1700" b="1" spc="-10" dirty="0">
                <a:solidFill>
                  <a:srgbClr val="188037"/>
                </a:solidFill>
                <a:latin typeface="Courier New"/>
                <a:cs typeface="Courier New"/>
              </a:rPr>
              <a:t>thread_function</a:t>
            </a:r>
            <a:r>
              <a:rPr sz="1700" spc="-10" dirty="0">
                <a:latin typeface="Arial MT"/>
                <a:cs typeface="Arial MT"/>
              </a:rPr>
              <a:t>. </a:t>
            </a:r>
            <a:r>
              <a:rPr sz="1700" dirty="0">
                <a:latin typeface="Arial MT"/>
                <a:cs typeface="Arial MT"/>
              </a:rPr>
              <a:t>The</a:t>
            </a:r>
            <a:r>
              <a:rPr sz="1700" spc="-60" dirty="0">
                <a:latin typeface="Arial MT"/>
                <a:cs typeface="Arial MT"/>
              </a:rPr>
              <a:t> </a:t>
            </a:r>
            <a:r>
              <a:rPr sz="1700" dirty="0">
                <a:latin typeface="Arial MT"/>
                <a:cs typeface="Arial MT"/>
              </a:rPr>
              <a:t>fourth</a:t>
            </a:r>
            <a:r>
              <a:rPr sz="1700" spc="-55" dirty="0">
                <a:latin typeface="Arial MT"/>
                <a:cs typeface="Arial MT"/>
              </a:rPr>
              <a:t> </a:t>
            </a:r>
            <a:r>
              <a:rPr sz="1700" dirty="0">
                <a:latin typeface="Arial MT"/>
                <a:cs typeface="Arial MT"/>
              </a:rPr>
              <a:t>argument</a:t>
            </a:r>
            <a:r>
              <a:rPr sz="1700" spc="-60" dirty="0">
                <a:latin typeface="Arial MT"/>
                <a:cs typeface="Arial MT"/>
              </a:rPr>
              <a:t> </a:t>
            </a:r>
            <a:r>
              <a:rPr sz="1700" dirty="0">
                <a:latin typeface="Arial MT"/>
                <a:cs typeface="Arial MT"/>
              </a:rPr>
              <a:t>is</a:t>
            </a:r>
            <a:r>
              <a:rPr sz="1700" spc="-55" dirty="0">
                <a:latin typeface="Arial MT"/>
                <a:cs typeface="Arial MT"/>
              </a:rPr>
              <a:t> </a:t>
            </a:r>
            <a:r>
              <a:rPr sz="1700" dirty="0">
                <a:latin typeface="Arial MT"/>
                <a:cs typeface="Arial MT"/>
              </a:rPr>
              <a:t>passed</a:t>
            </a:r>
            <a:r>
              <a:rPr sz="1700" spc="-55" dirty="0">
                <a:latin typeface="Arial MT"/>
                <a:cs typeface="Arial MT"/>
              </a:rPr>
              <a:t> </a:t>
            </a:r>
            <a:r>
              <a:rPr sz="1700" dirty="0">
                <a:latin typeface="Arial MT"/>
                <a:cs typeface="Arial MT"/>
              </a:rPr>
              <a:t>as</a:t>
            </a:r>
            <a:r>
              <a:rPr sz="1700" spc="-45" dirty="0">
                <a:latin typeface="Arial MT"/>
                <a:cs typeface="Arial MT"/>
              </a:rPr>
              <a:t> </a:t>
            </a:r>
            <a:r>
              <a:rPr sz="1700" b="1" dirty="0">
                <a:solidFill>
                  <a:srgbClr val="188037"/>
                </a:solidFill>
                <a:latin typeface="Courier New"/>
                <a:cs typeface="Courier New"/>
              </a:rPr>
              <a:t>arg</a:t>
            </a:r>
            <a:r>
              <a:rPr sz="1700" dirty="0">
                <a:latin typeface="Arial MT"/>
                <a:cs typeface="Arial MT"/>
              </a:rPr>
              <a:t>,</a:t>
            </a:r>
            <a:r>
              <a:rPr sz="1700" spc="-55" dirty="0">
                <a:latin typeface="Arial MT"/>
                <a:cs typeface="Arial MT"/>
              </a:rPr>
              <a:t> </a:t>
            </a:r>
            <a:r>
              <a:rPr sz="1700" spc="-10" dirty="0">
                <a:latin typeface="Arial MT"/>
                <a:cs typeface="Arial MT"/>
              </a:rPr>
              <a:t>which </a:t>
            </a:r>
            <a:r>
              <a:rPr sz="1700" b="1" spc="-20" dirty="0">
                <a:solidFill>
                  <a:srgbClr val="188037"/>
                </a:solidFill>
                <a:latin typeface="Courier New"/>
                <a:cs typeface="Courier New"/>
              </a:rPr>
              <a:t>thread_function</a:t>
            </a:r>
            <a:r>
              <a:rPr sz="1700" b="1" spc="-555" dirty="0">
                <a:solidFill>
                  <a:srgbClr val="188037"/>
                </a:solidFill>
                <a:latin typeface="Courier New"/>
                <a:cs typeface="Courier New"/>
              </a:rPr>
              <a:t> </a:t>
            </a:r>
            <a:r>
              <a:rPr sz="1700" dirty="0">
                <a:latin typeface="Arial MT"/>
                <a:cs typeface="Arial MT"/>
              </a:rPr>
              <a:t>will</a:t>
            </a:r>
            <a:r>
              <a:rPr sz="1700" spc="-35" dirty="0">
                <a:latin typeface="Arial MT"/>
                <a:cs typeface="Arial MT"/>
              </a:rPr>
              <a:t> </a:t>
            </a:r>
            <a:r>
              <a:rPr sz="1700" dirty="0">
                <a:latin typeface="Arial MT"/>
                <a:cs typeface="Arial MT"/>
              </a:rPr>
              <a:t>interpret</a:t>
            </a:r>
            <a:r>
              <a:rPr sz="1700" spc="-20" dirty="0">
                <a:latin typeface="Arial MT"/>
                <a:cs typeface="Arial MT"/>
              </a:rPr>
              <a:t> </a:t>
            </a:r>
            <a:r>
              <a:rPr sz="1700" dirty="0">
                <a:latin typeface="Arial MT"/>
                <a:cs typeface="Arial MT"/>
              </a:rPr>
              <a:t>as</a:t>
            </a:r>
            <a:r>
              <a:rPr sz="1700" spc="-20" dirty="0">
                <a:latin typeface="Arial MT"/>
                <a:cs typeface="Arial MT"/>
              </a:rPr>
              <a:t> </a:t>
            </a:r>
            <a:r>
              <a:rPr sz="1700" spc="-25" dirty="0">
                <a:latin typeface="Arial MT"/>
                <a:cs typeface="Arial MT"/>
              </a:rPr>
              <a:t>an </a:t>
            </a:r>
            <a:r>
              <a:rPr sz="1700" spc="-10" dirty="0">
                <a:latin typeface="Arial MT"/>
                <a:cs typeface="Arial MT"/>
              </a:rPr>
              <a:t>integer.</a:t>
            </a:r>
            <a:endParaRPr sz="1700" dirty="0">
              <a:latin typeface="Arial MT"/>
              <a:cs typeface="Arial MT"/>
            </a:endParaRPr>
          </a:p>
          <a:p>
            <a:pPr marL="371475" marR="529590" indent="-359410" algn="just">
              <a:lnSpc>
                <a:spcPct val="114999"/>
              </a:lnSpc>
              <a:spcBef>
                <a:spcPts val="5"/>
              </a:spcBef>
              <a:spcAft>
                <a:spcPts val="1800"/>
              </a:spcAft>
              <a:buClr>
                <a:srgbClr val="000000"/>
              </a:buClr>
              <a:buFont typeface="Arial MT"/>
              <a:buChar char="●"/>
              <a:tabLst>
                <a:tab pos="371475" algn="l"/>
              </a:tabLst>
            </a:pPr>
            <a:r>
              <a:rPr sz="1700" b="1" spc="-45" dirty="0">
                <a:solidFill>
                  <a:srgbClr val="188037"/>
                </a:solidFill>
                <a:latin typeface="Courier New"/>
                <a:cs typeface="Courier New"/>
              </a:rPr>
              <a:t>pthread_exit</a:t>
            </a:r>
            <a:r>
              <a:rPr sz="1700" b="1" spc="-215" dirty="0">
                <a:solidFill>
                  <a:srgbClr val="188037"/>
                </a:solidFill>
                <a:latin typeface="Courier New"/>
                <a:cs typeface="Courier New"/>
              </a:rPr>
              <a:t> </a:t>
            </a:r>
            <a:r>
              <a:rPr sz="1700" dirty="0">
                <a:latin typeface="Arial MT"/>
                <a:cs typeface="Arial MT"/>
              </a:rPr>
              <a:t>is</a:t>
            </a:r>
            <a:r>
              <a:rPr sz="1700" spc="-114" dirty="0">
                <a:latin typeface="Arial MT"/>
                <a:cs typeface="Arial MT"/>
              </a:rPr>
              <a:t> </a:t>
            </a:r>
            <a:r>
              <a:rPr sz="1700" dirty="0">
                <a:latin typeface="Arial MT"/>
                <a:cs typeface="Arial MT"/>
              </a:rPr>
              <a:t>used</a:t>
            </a:r>
            <a:r>
              <a:rPr sz="1700" spc="-120" dirty="0">
                <a:latin typeface="Arial MT"/>
                <a:cs typeface="Arial MT"/>
              </a:rPr>
              <a:t> </a:t>
            </a:r>
            <a:r>
              <a:rPr sz="1700" dirty="0">
                <a:latin typeface="Arial MT"/>
                <a:cs typeface="Arial MT"/>
              </a:rPr>
              <a:t>to</a:t>
            </a:r>
            <a:r>
              <a:rPr sz="1700" spc="20" dirty="0">
                <a:latin typeface="Arial MT"/>
                <a:cs typeface="Arial MT"/>
              </a:rPr>
              <a:t> </a:t>
            </a:r>
            <a:r>
              <a:rPr sz="1700" dirty="0">
                <a:latin typeface="Arial MT"/>
                <a:cs typeface="Arial MT"/>
              </a:rPr>
              <a:t>terminate</a:t>
            </a:r>
            <a:r>
              <a:rPr sz="1700" spc="30" dirty="0">
                <a:latin typeface="Arial MT"/>
                <a:cs typeface="Arial MT"/>
              </a:rPr>
              <a:t> </a:t>
            </a:r>
            <a:r>
              <a:rPr sz="1700" spc="-25" dirty="0">
                <a:latin typeface="Arial MT"/>
                <a:cs typeface="Arial MT"/>
              </a:rPr>
              <a:t>the </a:t>
            </a:r>
            <a:r>
              <a:rPr sz="1700" dirty="0">
                <a:latin typeface="Arial MT"/>
                <a:cs typeface="Arial MT"/>
              </a:rPr>
              <a:t>thread.</a:t>
            </a:r>
            <a:r>
              <a:rPr sz="1700" spc="-90" dirty="0">
                <a:latin typeface="Arial MT"/>
                <a:cs typeface="Arial MT"/>
              </a:rPr>
              <a:t> </a:t>
            </a:r>
            <a:r>
              <a:rPr sz="1700" dirty="0">
                <a:latin typeface="Arial MT"/>
                <a:cs typeface="Arial MT"/>
              </a:rPr>
              <a:t>The</a:t>
            </a:r>
            <a:r>
              <a:rPr sz="1700" spc="-65" dirty="0">
                <a:latin typeface="Arial MT"/>
                <a:cs typeface="Arial MT"/>
              </a:rPr>
              <a:t> </a:t>
            </a:r>
            <a:r>
              <a:rPr sz="1700" dirty="0">
                <a:latin typeface="Arial MT"/>
                <a:cs typeface="Arial MT"/>
              </a:rPr>
              <a:t>thread</a:t>
            </a:r>
            <a:r>
              <a:rPr sz="1700" spc="-60" dirty="0">
                <a:latin typeface="Arial MT"/>
                <a:cs typeface="Arial MT"/>
              </a:rPr>
              <a:t> </a:t>
            </a:r>
            <a:r>
              <a:rPr sz="1700" dirty="0">
                <a:latin typeface="Arial MT"/>
                <a:cs typeface="Arial MT"/>
              </a:rPr>
              <a:t>could</a:t>
            </a:r>
            <a:r>
              <a:rPr sz="1700" spc="-60" dirty="0">
                <a:latin typeface="Arial MT"/>
                <a:cs typeface="Arial MT"/>
              </a:rPr>
              <a:t> </a:t>
            </a:r>
            <a:r>
              <a:rPr sz="1700" dirty="0">
                <a:latin typeface="Arial MT"/>
                <a:cs typeface="Arial MT"/>
              </a:rPr>
              <a:t>return</a:t>
            </a:r>
            <a:r>
              <a:rPr sz="1700" spc="-65" dirty="0">
                <a:latin typeface="Arial MT"/>
                <a:cs typeface="Arial MT"/>
              </a:rPr>
              <a:t> </a:t>
            </a:r>
            <a:r>
              <a:rPr sz="1700" dirty="0">
                <a:latin typeface="Arial MT"/>
                <a:cs typeface="Arial MT"/>
              </a:rPr>
              <a:t>a</a:t>
            </a:r>
            <a:r>
              <a:rPr sz="1700" spc="-60" dirty="0">
                <a:latin typeface="Arial MT"/>
                <a:cs typeface="Arial MT"/>
              </a:rPr>
              <a:t> </a:t>
            </a:r>
            <a:r>
              <a:rPr sz="1700" dirty="0">
                <a:latin typeface="Arial MT"/>
                <a:cs typeface="Arial MT"/>
              </a:rPr>
              <a:t>value</a:t>
            </a:r>
            <a:r>
              <a:rPr sz="1700" spc="-65" dirty="0">
                <a:latin typeface="Arial MT"/>
                <a:cs typeface="Arial MT"/>
              </a:rPr>
              <a:t> </a:t>
            </a:r>
            <a:r>
              <a:rPr sz="1700" spc="-25" dirty="0">
                <a:latin typeface="Arial MT"/>
                <a:cs typeface="Arial MT"/>
              </a:rPr>
              <a:t>if </a:t>
            </a:r>
            <a:r>
              <a:rPr sz="1700" spc="-10" dirty="0">
                <a:latin typeface="Arial MT"/>
                <a:cs typeface="Arial MT"/>
              </a:rPr>
              <a:t>required.</a:t>
            </a:r>
            <a:endParaRPr sz="1700" dirty="0">
              <a:latin typeface="Arial MT"/>
              <a:cs typeface="Arial MT"/>
            </a:endParaRPr>
          </a:p>
          <a:p>
            <a:pPr marL="371475" marR="43815" indent="-359410" algn="just">
              <a:lnSpc>
                <a:spcPct val="114999"/>
              </a:lnSpc>
              <a:buFont typeface="Arial MT"/>
              <a:buChar char="●"/>
              <a:tabLst>
                <a:tab pos="371475" algn="l"/>
              </a:tabLst>
            </a:pPr>
            <a:r>
              <a:rPr sz="1700" b="1" dirty="0">
                <a:latin typeface="Arial"/>
                <a:cs typeface="Arial"/>
              </a:rPr>
              <a:t>Key</a:t>
            </a:r>
            <a:r>
              <a:rPr sz="1700" b="1" spc="-40" dirty="0">
                <a:latin typeface="Arial"/>
                <a:cs typeface="Arial"/>
              </a:rPr>
              <a:t> </a:t>
            </a:r>
            <a:r>
              <a:rPr sz="1700" b="1" dirty="0">
                <a:latin typeface="Arial"/>
                <a:cs typeface="Arial"/>
              </a:rPr>
              <a:t>Concept:</a:t>
            </a:r>
            <a:r>
              <a:rPr sz="1700" b="1" spc="-40" dirty="0">
                <a:latin typeface="Arial"/>
                <a:cs typeface="Arial"/>
              </a:rPr>
              <a:t> </a:t>
            </a:r>
            <a:r>
              <a:rPr sz="1700" dirty="0">
                <a:latin typeface="Arial MT"/>
                <a:cs typeface="Arial MT"/>
              </a:rPr>
              <a:t>Each</a:t>
            </a:r>
            <a:r>
              <a:rPr sz="1700" spc="-40" dirty="0">
                <a:latin typeface="Arial MT"/>
                <a:cs typeface="Arial MT"/>
              </a:rPr>
              <a:t> </a:t>
            </a:r>
            <a:r>
              <a:rPr sz="1700" dirty="0">
                <a:latin typeface="Arial MT"/>
                <a:cs typeface="Arial MT"/>
              </a:rPr>
              <a:t>thread</a:t>
            </a:r>
            <a:r>
              <a:rPr sz="1700" spc="-40" dirty="0">
                <a:latin typeface="Arial MT"/>
                <a:cs typeface="Arial MT"/>
              </a:rPr>
              <a:t> </a:t>
            </a:r>
            <a:r>
              <a:rPr sz="1700" dirty="0">
                <a:latin typeface="Arial MT"/>
                <a:cs typeface="Arial MT"/>
              </a:rPr>
              <a:t>has</a:t>
            </a:r>
            <a:r>
              <a:rPr sz="1700" spc="-35" dirty="0">
                <a:latin typeface="Arial MT"/>
                <a:cs typeface="Arial MT"/>
              </a:rPr>
              <a:t> </a:t>
            </a:r>
            <a:r>
              <a:rPr sz="1700" dirty="0">
                <a:latin typeface="Arial MT"/>
                <a:cs typeface="Arial MT"/>
              </a:rPr>
              <a:t>its</a:t>
            </a:r>
            <a:r>
              <a:rPr sz="1700" spc="-40" dirty="0">
                <a:latin typeface="Arial MT"/>
                <a:cs typeface="Arial MT"/>
              </a:rPr>
              <a:t> </a:t>
            </a:r>
            <a:r>
              <a:rPr sz="1700" dirty="0">
                <a:latin typeface="Arial MT"/>
                <a:cs typeface="Arial MT"/>
              </a:rPr>
              <a:t>own</a:t>
            </a:r>
            <a:r>
              <a:rPr sz="1700" spc="-40" dirty="0">
                <a:latin typeface="Arial MT"/>
                <a:cs typeface="Arial MT"/>
              </a:rPr>
              <a:t> </a:t>
            </a:r>
            <a:r>
              <a:rPr sz="1700" spc="-10" dirty="0">
                <a:latin typeface="Arial MT"/>
                <a:cs typeface="Arial MT"/>
              </a:rPr>
              <a:t>stack, </a:t>
            </a:r>
            <a:r>
              <a:rPr sz="1700" dirty="0">
                <a:latin typeface="Arial MT"/>
                <a:cs typeface="Arial MT"/>
              </a:rPr>
              <a:t>allowing</a:t>
            </a:r>
            <a:r>
              <a:rPr sz="1700" spc="-70" dirty="0">
                <a:latin typeface="Arial MT"/>
                <a:cs typeface="Arial MT"/>
              </a:rPr>
              <a:t> </a:t>
            </a:r>
            <a:r>
              <a:rPr sz="1700" dirty="0">
                <a:latin typeface="Arial MT"/>
                <a:cs typeface="Arial MT"/>
              </a:rPr>
              <a:t>it</a:t>
            </a:r>
            <a:r>
              <a:rPr sz="1700" spc="-70" dirty="0">
                <a:latin typeface="Arial MT"/>
                <a:cs typeface="Arial MT"/>
              </a:rPr>
              <a:t> </a:t>
            </a:r>
            <a:r>
              <a:rPr sz="1700" dirty="0">
                <a:latin typeface="Arial MT"/>
                <a:cs typeface="Arial MT"/>
              </a:rPr>
              <a:t>to</a:t>
            </a:r>
            <a:r>
              <a:rPr sz="1700" spc="-70" dirty="0">
                <a:latin typeface="Arial MT"/>
                <a:cs typeface="Arial MT"/>
              </a:rPr>
              <a:t> </a:t>
            </a:r>
            <a:r>
              <a:rPr sz="1700" dirty="0">
                <a:latin typeface="Arial MT"/>
                <a:cs typeface="Arial MT"/>
              </a:rPr>
              <a:t>execute</a:t>
            </a:r>
            <a:r>
              <a:rPr sz="1700" spc="-70" dirty="0">
                <a:latin typeface="Arial MT"/>
                <a:cs typeface="Arial MT"/>
              </a:rPr>
              <a:t> </a:t>
            </a:r>
            <a:r>
              <a:rPr sz="1700" dirty="0">
                <a:latin typeface="Arial MT"/>
                <a:cs typeface="Arial MT"/>
              </a:rPr>
              <a:t>independently</a:t>
            </a:r>
            <a:r>
              <a:rPr sz="1700" spc="-70" dirty="0">
                <a:latin typeface="Arial MT"/>
                <a:cs typeface="Arial MT"/>
              </a:rPr>
              <a:t> </a:t>
            </a:r>
            <a:r>
              <a:rPr sz="1700" dirty="0">
                <a:latin typeface="Arial MT"/>
                <a:cs typeface="Arial MT"/>
              </a:rPr>
              <a:t>within</a:t>
            </a:r>
            <a:r>
              <a:rPr sz="1700" spc="-70" dirty="0">
                <a:latin typeface="Arial MT"/>
                <a:cs typeface="Arial MT"/>
              </a:rPr>
              <a:t> </a:t>
            </a:r>
            <a:r>
              <a:rPr sz="1700" spc="-25" dirty="0">
                <a:latin typeface="Arial MT"/>
                <a:cs typeface="Arial MT"/>
              </a:rPr>
              <a:t>the </a:t>
            </a:r>
            <a:r>
              <a:rPr sz="1700" dirty="0">
                <a:latin typeface="Arial MT"/>
                <a:cs typeface="Arial MT"/>
              </a:rPr>
              <a:t>same</a:t>
            </a:r>
            <a:r>
              <a:rPr sz="1700" spc="-45" dirty="0">
                <a:latin typeface="Arial MT"/>
                <a:cs typeface="Arial MT"/>
              </a:rPr>
              <a:t> </a:t>
            </a:r>
            <a:r>
              <a:rPr sz="1700" dirty="0">
                <a:latin typeface="Arial MT"/>
                <a:cs typeface="Arial MT"/>
              </a:rPr>
              <a:t>process</a:t>
            </a:r>
            <a:r>
              <a:rPr sz="1700" spc="-45" dirty="0">
                <a:latin typeface="Arial MT"/>
                <a:cs typeface="Arial MT"/>
              </a:rPr>
              <a:t> </a:t>
            </a:r>
            <a:r>
              <a:rPr sz="1700" dirty="0">
                <a:latin typeface="Arial MT"/>
                <a:cs typeface="Arial MT"/>
              </a:rPr>
              <a:t>memory</a:t>
            </a:r>
            <a:r>
              <a:rPr sz="1700" spc="-45" dirty="0">
                <a:latin typeface="Arial MT"/>
                <a:cs typeface="Arial MT"/>
              </a:rPr>
              <a:t> </a:t>
            </a:r>
            <a:r>
              <a:rPr sz="1700" spc="-10" dirty="0">
                <a:latin typeface="Arial MT"/>
                <a:cs typeface="Arial MT"/>
              </a:rPr>
              <a:t>space.</a:t>
            </a:r>
            <a:endParaRPr sz="1700" dirty="0">
              <a:latin typeface="Arial MT"/>
              <a:cs typeface="Arial MT"/>
            </a:endParaRPr>
          </a:p>
        </p:txBody>
      </p:sp>
      <p:pic>
        <p:nvPicPr>
          <p:cNvPr id="2" name="object 2">
            <a:extLst>
              <a:ext uri="{C183D7F6-B498-43B3-948B-1728B52AA6E4}">
                <adec:decorative xmlns:adec="http://schemas.microsoft.com/office/drawing/2017/decorative" val="1"/>
              </a:ext>
            </a:extLst>
          </p:cNvPr>
          <p:cNvPicPr/>
          <p:nvPr/>
        </p:nvPicPr>
        <p:blipFill>
          <a:blip r:embed="rId2" cstate="print"/>
          <a:stretch>
            <a:fillRect/>
          </a:stretch>
        </p:blipFill>
        <p:spPr>
          <a:xfrm>
            <a:off x="5429125" y="967577"/>
            <a:ext cx="6590325" cy="565992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73715-2600-903C-6541-7965E0A87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1C035-CB01-E185-B476-D0731BAC8289}"/>
              </a:ext>
            </a:extLst>
          </p:cNvPr>
          <p:cNvSpPr>
            <a:spLocks noGrp="1"/>
          </p:cNvSpPr>
          <p:nvPr>
            <p:ph type="title"/>
          </p:nvPr>
        </p:nvSpPr>
        <p:spPr>
          <a:xfrm>
            <a:off x="1066800" y="3352800"/>
            <a:ext cx="10134600" cy="553998"/>
          </a:xfrm>
        </p:spPr>
        <p:txBody>
          <a:bodyPr/>
          <a:lstStyle/>
          <a:p>
            <a:pPr algn="ctr"/>
            <a:r>
              <a:rPr lang="en-US" sz="3600" dirty="0"/>
              <a:t>Managing Thread Lifecycle</a:t>
            </a:r>
          </a:p>
        </p:txBody>
      </p:sp>
    </p:spTree>
    <p:extLst>
      <p:ext uri="{BB962C8B-B14F-4D97-AF65-F5344CB8AC3E}">
        <p14:creationId xmlns:p14="http://schemas.microsoft.com/office/powerpoint/2010/main" val="396958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35436"/>
            <a:ext cx="3521071"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Waiting</a:t>
            </a:r>
            <a:r>
              <a:rPr sz="1800" spc="-45" dirty="0"/>
              <a:t> </a:t>
            </a:r>
            <a:r>
              <a:rPr sz="1800" dirty="0"/>
              <a:t>for</a:t>
            </a:r>
            <a:r>
              <a:rPr sz="1800" spc="-40" dirty="0"/>
              <a:t> </a:t>
            </a:r>
            <a:r>
              <a:rPr sz="1800" dirty="0"/>
              <a:t>a</a:t>
            </a:r>
            <a:r>
              <a:rPr sz="1800" spc="-40" dirty="0"/>
              <a:t> </a:t>
            </a:r>
            <a:r>
              <a:rPr sz="1800" dirty="0"/>
              <a:t>Thread</a:t>
            </a:r>
            <a:r>
              <a:rPr sz="1800" spc="-40" dirty="0"/>
              <a:t> </a:t>
            </a:r>
            <a:r>
              <a:rPr sz="1800" dirty="0"/>
              <a:t>to</a:t>
            </a:r>
            <a:r>
              <a:rPr sz="1800" spc="-40" dirty="0"/>
              <a:t> </a:t>
            </a:r>
            <a:r>
              <a:rPr sz="1800" spc="-10" dirty="0"/>
              <a:t>Complete</a:t>
            </a:r>
            <a:endParaRPr sz="1800" dirty="0"/>
          </a:p>
        </p:txBody>
      </p:sp>
      <p:grpSp>
        <p:nvGrpSpPr>
          <p:cNvPr id="27" name="Group 26" descr="A basic C code example demonstrating a thread that prints a message and exits with NULL, while the main function waits using pthread_join.">
            <a:extLst>
              <a:ext uri="{FF2B5EF4-FFF2-40B4-BE49-F238E27FC236}">
                <a16:creationId xmlns:a16="http://schemas.microsoft.com/office/drawing/2014/main" id="{2C6DE267-E906-5B67-5DD5-B6660A01A8F7}"/>
              </a:ext>
            </a:extLst>
          </p:cNvPr>
          <p:cNvGrpSpPr/>
          <p:nvPr/>
        </p:nvGrpSpPr>
        <p:grpSpPr>
          <a:xfrm>
            <a:off x="474049" y="2425400"/>
            <a:ext cx="3457397" cy="1248156"/>
            <a:chOff x="474049" y="2425400"/>
            <a:chExt cx="3457397" cy="1248156"/>
          </a:xfrm>
        </p:grpSpPr>
        <p:sp>
          <p:nvSpPr>
            <p:cNvPr id="3" name="object 3"/>
            <p:cNvSpPr txBox="1"/>
            <p:nvPr/>
          </p:nvSpPr>
          <p:spPr>
            <a:xfrm>
              <a:off x="474049" y="2425400"/>
              <a:ext cx="1524000" cy="274320"/>
            </a:xfrm>
            <a:prstGeom prst="rect">
              <a:avLst/>
            </a:prstGeom>
            <a:solidFill>
              <a:srgbClr val="F6F6F6"/>
            </a:solidFill>
          </p:spPr>
          <p:txBody>
            <a:bodyPr vert="horz" wrap="square" lIns="0" tIns="0" rIns="0" bIns="0" rtlCol="0">
              <a:spAutoFit/>
            </a:bodyPr>
            <a:lstStyle/>
            <a:p>
              <a:pPr>
                <a:lnSpc>
                  <a:spcPts val="2090"/>
                </a:lnSpc>
              </a:pPr>
              <a:r>
                <a:rPr sz="1800" b="1" spc="-10" dirty="0">
                  <a:latin typeface="Arial"/>
                  <a:cs typeface="Arial"/>
                </a:rPr>
                <a:t>pthread_join()</a:t>
              </a:r>
              <a:endParaRPr sz="1800" dirty="0">
                <a:latin typeface="Arial"/>
                <a:cs typeface="Arial"/>
              </a:endParaRPr>
            </a:p>
          </p:txBody>
        </p:sp>
        <p:grpSp>
          <p:nvGrpSpPr>
            <p:cNvPr id="4" name="object 4"/>
            <p:cNvGrpSpPr/>
            <p:nvPr/>
          </p:nvGrpSpPr>
          <p:grpSpPr>
            <a:xfrm>
              <a:off x="2176941" y="2956768"/>
              <a:ext cx="1741805" cy="274320"/>
              <a:chOff x="2176941" y="2956768"/>
              <a:chExt cx="1741805" cy="274320"/>
            </a:xfrm>
          </p:grpSpPr>
          <p:sp>
            <p:nvSpPr>
              <p:cNvPr id="5" name="object 5"/>
              <p:cNvSpPr/>
              <p:nvPr/>
            </p:nvSpPr>
            <p:spPr>
              <a:xfrm>
                <a:off x="2176941" y="2956768"/>
                <a:ext cx="1677670" cy="274320"/>
              </a:xfrm>
              <a:custGeom>
                <a:avLst/>
                <a:gdLst/>
                <a:ahLst/>
                <a:cxnLst/>
                <a:rect l="l" t="t" r="r" b="b"/>
                <a:pathLst>
                  <a:path w="1677670" h="274319">
                    <a:moveTo>
                      <a:pt x="1677665" y="274320"/>
                    </a:moveTo>
                    <a:lnTo>
                      <a:pt x="0" y="274320"/>
                    </a:lnTo>
                    <a:lnTo>
                      <a:pt x="0" y="0"/>
                    </a:lnTo>
                    <a:lnTo>
                      <a:pt x="1677665" y="0"/>
                    </a:lnTo>
                    <a:lnTo>
                      <a:pt x="1677665" y="274320"/>
                    </a:lnTo>
                    <a:close/>
                  </a:path>
                </a:pathLst>
              </a:custGeom>
              <a:solidFill>
                <a:srgbClr val="C9DAF7"/>
              </a:solidFill>
            </p:spPr>
            <p:txBody>
              <a:bodyPr wrap="square" lIns="0" tIns="0" rIns="0" bIns="0" rtlCol="0"/>
              <a:lstStyle/>
              <a:p>
                <a:endParaRPr/>
              </a:p>
            </p:txBody>
          </p:sp>
          <p:sp>
            <p:nvSpPr>
              <p:cNvPr id="6" name="object 6"/>
              <p:cNvSpPr/>
              <p:nvPr/>
            </p:nvSpPr>
            <p:spPr>
              <a:xfrm>
                <a:off x="3854606" y="2956768"/>
                <a:ext cx="64135" cy="274320"/>
              </a:xfrm>
              <a:custGeom>
                <a:avLst/>
                <a:gdLst/>
                <a:ahLst/>
                <a:cxnLst/>
                <a:rect l="l" t="t" r="r" b="b"/>
                <a:pathLst>
                  <a:path w="64135" h="274319">
                    <a:moveTo>
                      <a:pt x="63512" y="274320"/>
                    </a:moveTo>
                    <a:lnTo>
                      <a:pt x="0" y="274320"/>
                    </a:lnTo>
                    <a:lnTo>
                      <a:pt x="0" y="0"/>
                    </a:lnTo>
                    <a:lnTo>
                      <a:pt x="63512" y="0"/>
                    </a:lnTo>
                    <a:lnTo>
                      <a:pt x="63512" y="274320"/>
                    </a:lnTo>
                    <a:close/>
                  </a:path>
                </a:pathLst>
              </a:custGeom>
              <a:solidFill>
                <a:srgbClr val="F6F6F6"/>
              </a:solidFill>
            </p:spPr>
            <p:txBody>
              <a:bodyPr wrap="square" lIns="0" tIns="0" rIns="0" bIns="0" rtlCol="0"/>
              <a:lstStyle/>
              <a:p>
                <a:endParaRPr/>
              </a:p>
            </p:txBody>
          </p:sp>
        </p:grpSp>
        <p:sp>
          <p:nvSpPr>
            <p:cNvPr id="7" name="object 7"/>
            <p:cNvSpPr txBox="1"/>
            <p:nvPr/>
          </p:nvSpPr>
          <p:spPr>
            <a:xfrm>
              <a:off x="474049" y="2956768"/>
              <a:ext cx="1703070" cy="274320"/>
            </a:xfrm>
            <a:prstGeom prst="rect">
              <a:avLst/>
            </a:prstGeom>
            <a:solidFill>
              <a:srgbClr val="F6F6F6"/>
            </a:solidFill>
          </p:spPr>
          <p:txBody>
            <a:bodyPr vert="horz" wrap="square" lIns="0" tIns="0" rIns="0" bIns="0" rtlCol="0">
              <a:spAutoFit/>
            </a:bodyPr>
            <a:lstStyle/>
            <a:p>
              <a:pPr>
                <a:lnSpc>
                  <a:spcPts val="2090"/>
                </a:lnSpc>
              </a:pPr>
              <a:r>
                <a:rPr sz="1800" dirty="0">
                  <a:latin typeface="Arial MT"/>
                  <a:cs typeface="Arial MT"/>
                </a:rPr>
                <a:t>int</a:t>
              </a:r>
              <a:r>
                <a:rPr sz="1800" spc="-40" dirty="0">
                  <a:latin typeface="Arial MT"/>
                  <a:cs typeface="Arial MT"/>
                </a:rPr>
                <a:t> </a:t>
              </a:r>
              <a:r>
                <a:rPr sz="1800" dirty="0">
                  <a:latin typeface="Arial MT"/>
                  <a:cs typeface="Arial MT"/>
                </a:rPr>
                <a:t>pthread_join</a:t>
              </a:r>
              <a:r>
                <a:rPr sz="1800" spc="-35" dirty="0">
                  <a:latin typeface="Arial MT"/>
                  <a:cs typeface="Arial MT"/>
                </a:rPr>
                <a:t> </a:t>
              </a:r>
              <a:r>
                <a:rPr sz="1800" spc="-50" dirty="0">
                  <a:latin typeface="Arial MT"/>
                  <a:cs typeface="Arial MT"/>
                </a:rPr>
                <a:t>(</a:t>
              </a:r>
              <a:endParaRPr sz="1800" dirty="0">
                <a:latin typeface="Arial MT"/>
                <a:cs typeface="Arial MT"/>
              </a:endParaRPr>
            </a:p>
          </p:txBody>
        </p:sp>
        <p:sp>
          <p:nvSpPr>
            <p:cNvPr id="8" name="object 8"/>
            <p:cNvSpPr txBox="1"/>
            <p:nvPr/>
          </p:nvSpPr>
          <p:spPr>
            <a:xfrm>
              <a:off x="2164241" y="2934924"/>
              <a:ext cx="17672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pthread_t</a:t>
              </a:r>
              <a:r>
                <a:rPr sz="1800" spc="-45" dirty="0">
                  <a:latin typeface="Arial MT"/>
                  <a:cs typeface="Arial MT"/>
                </a:rPr>
                <a:t> </a:t>
              </a:r>
              <a:r>
                <a:rPr sz="1800" spc="-10" dirty="0">
                  <a:latin typeface="Arial MT"/>
                  <a:cs typeface="Arial MT"/>
                </a:rPr>
                <a:t>thread,</a:t>
              </a:r>
              <a:endParaRPr sz="1800" dirty="0">
                <a:latin typeface="Arial MT"/>
                <a:cs typeface="Arial MT"/>
              </a:endParaRPr>
            </a:p>
          </p:txBody>
        </p:sp>
        <p:sp>
          <p:nvSpPr>
            <p:cNvPr id="9" name="object 9"/>
            <p:cNvSpPr/>
            <p:nvPr/>
          </p:nvSpPr>
          <p:spPr>
            <a:xfrm>
              <a:off x="1845649" y="3399236"/>
              <a:ext cx="318135" cy="274320"/>
            </a:xfrm>
            <a:custGeom>
              <a:avLst/>
              <a:gdLst/>
              <a:ahLst/>
              <a:cxnLst/>
              <a:rect l="l" t="t" r="r" b="b"/>
              <a:pathLst>
                <a:path w="318135" h="274320">
                  <a:moveTo>
                    <a:pt x="317561" y="274319"/>
                  </a:moveTo>
                  <a:lnTo>
                    <a:pt x="0" y="274319"/>
                  </a:lnTo>
                  <a:lnTo>
                    <a:pt x="0" y="0"/>
                  </a:lnTo>
                  <a:lnTo>
                    <a:pt x="317561" y="0"/>
                  </a:lnTo>
                  <a:lnTo>
                    <a:pt x="317561" y="274319"/>
                  </a:lnTo>
                  <a:close/>
                </a:path>
              </a:pathLst>
            </a:custGeom>
            <a:solidFill>
              <a:srgbClr val="F6F6F6"/>
            </a:solidFill>
          </p:spPr>
          <p:txBody>
            <a:bodyPr wrap="square" lIns="0" tIns="0" rIns="0" bIns="0" rtlCol="0"/>
            <a:lstStyle/>
            <a:p>
              <a:endParaRPr/>
            </a:p>
          </p:txBody>
        </p:sp>
        <p:sp>
          <p:nvSpPr>
            <p:cNvPr id="10" name="object 10"/>
            <p:cNvSpPr txBox="1"/>
            <p:nvPr/>
          </p:nvSpPr>
          <p:spPr>
            <a:xfrm>
              <a:off x="2163211" y="3399236"/>
              <a:ext cx="1601470" cy="274320"/>
            </a:xfrm>
            <a:prstGeom prst="rect">
              <a:avLst/>
            </a:prstGeom>
            <a:solidFill>
              <a:srgbClr val="FCE4CD"/>
            </a:solidFill>
          </p:spPr>
          <p:txBody>
            <a:bodyPr vert="horz" wrap="square" lIns="0" tIns="0" rIns="0" bIns="0" rtlCol="0">
              <a:spAutoFit/>
            </a:bodyPr>
            <a:lstStyle/>
            <a:p>
              <a:pPr>
                <a:lnSpc>
                  <a:spcPts val="2090"/>
                </a:lnSpc>
              </a:pPr>
              <a:r>
                <a:rPr sz="1800" dirty="0">
                  <a:latin typeface="Arial MT"/>
                  <a:cs typeface="Arial MT"/>
                </a:rPr>
                <a:t>void</a:t>
              </a:r>
              <a:r>
                <a:rPr sz="1800" spc="-20" dirty="0">
                  <a:latin typeface="Arial MT"/>
                  <a:cs typeface="Arial MT"/>
                </a:rPr>
                <a:t> </a:t>
              </a:r>
              <a:r>
                <a:rPr sz="1800" spc="-10" dirty="0">
                  <a:latin typeface="Arial MT"/>
                  <a:cs typeface="Arial MT"/>
                </a:rPr>
                <a:t>**value_ptr</a:t>
              </a:r>
              <a:endParaRPr sz="1800">
                <a:latin typeface="Arial MT"/>
                <a:cs typeface="Arial MT"/>
              </a:endParaRPr>
            </a:p>
          </p:txBody>
        </p:sp>
        <p:sp>
          <p:nvSpPr>
            <p:cNvPr id="11" name="object 11"/>
            <p:cNvSpPr txBox="1"/>
            <p:nvPr/>
          </p:nvSpPr>
          <p:spPr>
            <a:xfrm>
              <a:off x="3764416" y="3399236"/>
              <a:ext cx="139700" cy="274320"/>
            </a:xfrm>
            <a:prstGeom prst="rect">
              <a:avLst/>
            </a:prstGeom>
            <a:solidFill>
              <a:srgbClr val="F6F6F6"/>
            </a:solidFill>
          </p:spPr>
          <p:txBody>
            <a:bodyPr vert="horz" wrap="square" lIns="0" tIns="0" rIns="0" bIns="0" rtlCol="0">
              <a:spAutoFit/>
            </a:bodyPr>
            <a:lstStyle/>
            <a:p>
              <a:pPr>
                <a:lnSpc>
                  <a:spcPts val="2090"/>
                </a:lnSpc>
              </a:pPr>
              <a:r>
                <a:rPr sz="1800" spc="-25" dirty="0">
                  <a:latin typeface="Arial MT"/>
                  <a:cs typeface="Arial MT"/>
                </a:rPr>
                <a:t>);</a:t>
              </a:r>
              <a:endParaRPr sz="1800">
                <a:latin typeface="Arial MT"/>
                <a:cs typeface="Arial MT"/>
              </a:endParaRPr>
            </a:p>
          </p:txBody>
        </p:sp>
      </p:grpSp>
      <p:sp>
        <p:nvSpPr>
          <p:cNvPr id="12" name="object 12">
            <a:extLst>
              <a:ext uri="{C183D7F6-B498-43B3-948B-1728B52AA6E4}">
                <adec:decorative xmlns:adec="http://schemas.microsoft.com/office/drawing/2017/decorative" val="1"/>
              </a:ext>
            </a:extLst>
          </p:cNvPr>
          <p:cNvSpPr/>
          <p:nvPr/>
        </p:nvSpPr>
        <p:spPr>
          <a:xfrm>
            <a:off x="5424806" y="1783080"/>
            <a:ext cx="823594" cy="274320"/>
          </a:xfrm>
          <a:custGeom>
            <a:avLst/>
            <a:gdLst/>
            <a:ahLst/>
            <a:cxnLst/>
            <a:rect l="l" t="t" r="r" b="b"/>
            <a:pathLst>
              <a:path w="823595" h="274319">
                <a:moveTo>
                  <a:pt x="823093" y="274320"/>
                </a:moveTo>
                <a:lnTo>
                  <a:pt x="0" y="274320"/>
                </a:lnTo>
                <a:lnTo>
                  <a:pt x="0" y="0"/>
                </a:lnTo>
                <a:lnTo>
                  <a:pt x="823093" y="0"/>
                </a:lnTo>
                <a:lnTo>
                  <a:pt x="823093" y="274320"/>
                </a:lnTo>
                <a:close/>
              </a:path>
            </a:pathLst>
          </a:custGeom>
          <a:solidFill>
            <a:srgbClr val="F6F6F6"/>
          </a:solidFill>
        </p:spPr>
        <p:txBody>
          <a:bodyPr wrap="square" lIns="0" tIns="0" rIns="0" bIns="0" rtlCol="0"/>
          <a:lstStyle/>
          <a:p>
            <a:endParaRPr/>
          </a:p>
        </p:txBody>
      </p:sp>
      <p:sp>
        <p:nvSpPr>
          <p:cNvPr id="16" name="object 16">
            <a:extLst>
              <a:ext uri="{C183D7F6-B498-43B3-948B-1728B52AA6E4}">
                <adec:decorative xmlns:adec="http://schemas.microsoft.com/office/drawing/2017/decorative" val="1"/>
              </a:ext>
            </a:extLst>
          </p:cNvPr>
          <p:cNvSpPr/>
          <p:nvPr/>
        </p:nvSpPr>
        <p:spPr>
          <a:xfrm>
            <a:off x="4953000" y="2392680"/>
            <a:ext cx="1920875" cy="274320"/>
          </a:xfrm>
          <a:custGeom>
            <a:avLst/>
            <a:gdLst/>
            <a:ahLst/>
            <a:cxnLst/>
            <a:rect l="l" t="t" r="r" b="b"/>
            <a:pathLst>
              <a:path w="1920875" h="274319">
                <a:moveTo>
                  <a:pt x="1920552" y="274320"/>
                </a:moveTo>
                <a:lnTo>
                  <a:pt x="0" y="274320"/>
                </a:lnTo>
                <a:lnTo>
                  <a:pt x="0" y="0"/>
                </a:lnTo>
                <a:lnTo>
                  <a:pt x="1920552" y="0"/>
                </a:lnTo>
                <a:lnTo>
                  <a:pt x="1920552" y="274320"/>
                </a:lnTo>
                <a:close/>
              </a:path>
            </a:pathLst>
          </a:custGeom>
          <a:solidFill>
            <a:srgbClr val="F6F6F6"/>
          </a:solidFill>
        </p:spPr>
        <p:txBody>
          <a:bodyPr wrap="square" lIns="0" tIns="0" rIns="0" bIns="0" rtlCol="0"/>
          <a:lstStyle/>
          <a:p>
            <a:endParaRPr/>
          </a:p>
        </p:txBody>
      </p:sp>
      <p:sp>
        <p:nvSpPr>
          <p:cNvPr id="20" name="object 20">
            <a:extLst>
              <a:ext uri="{C183D7F6-B498-43B3-948B-1728B52AA6E4}">
                <adec:decorative xmlns:adec="http://schemas.microsoft.com/office/drawing/2017/decorative" val="1"/>
              </a:ext>
            </a:extLst>
          </p:cNvPr>
          <p:cNvSpPr txBox="1"/>
          <p:nvPr/>
        </p:nvSpPr>
        <p:spPr>
          <a:xfrm>
            <a:off x="4953000" y="4450080"/>
            <a:ext cx="192087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24" name="object 24">
            <a:extLst>
              <a:ext uri="{C183D7F6-B498-43B3-948B-1728B52AA6E4}">
                <adec:decorative xmlns:adec="http://schemas.microsoft.com/office/drawing/2017/decorative" val="1"/>
              </a:ext>
            </a:extLst>
          </p:cNvPr>
          <p:cNvSpPr txBox="1"/>
          <p:nvPr/>
        </p:nvSpPr>
        <p:spPr>
          <a:xfrm>
            <a:off x="5562600" y="50596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8" name="object 18"/>
          <p:cNvSpPr txBox="1"/>
          <p:nvPr/>
        </p:nvSpPr>
        <p:spPr>
          <a:xfrm>
            <a:off x="4973750" y="1728534"/>
            <a:ext cx="5694250" cy="4506939"/>
          </a:xfrm>
          <a:prstGeom prst="rect">
            <a:avLst/>
          </a:prstGeom>
        </p:spPr>
        <p:txBody>
          <a:bodyPr vert="horz" wrap="square" lIns="0" tIns="12700" rIns="0" bIns="0" rtlCol="0">
            <a:spAutoFit/>
          </a:bodyPr>
          <a:lstStyle/>
          <a:p>
            <a:pPr marL="12700">
              <a:lnSpc>
                <a:spcPct val="114000"/>
              </a:lnSpc>
              <a:spcBef>
                <a:spcPts val="100"/>
              </a:spcBef>
              <a:spcAft>
                <a:spcPts val="1800"/>
              </a:spcAft>
            </a:pPr>
            <a:r>
              <a:rPr lang="en-US" sz="1800" dirty="0">
                <a:solidFill>
                  <a:srgbClr val="333333"/>
                </a:solidFill>
                <a:latin typeface="Arial MT"/>
                <a:cs typeface="Arial MT"/>
              </a:rPr>
              <a:t>Like</a:t>
            </a:r>
            <a:r>
              <a:rPr lang="en-US" sz="1800" spc="-25" dirty="0">
                <a:solidFill>
                  <a:srgbClr val="333333"/>
                </a:solidFill>
                <a:latin typeface="Arial MT"/>
                <a:cs typeface="Arial MT"/>
              </a:rPr>
              <a:t> </a:t>
            </a:r>
            <a:r>
              <a:rPr lang="en-US" sz="1800" dirty="0">
                <a:solidFill>
                  <a:srgbClr val="333333"/>
                </a:solidFill>
                <a:latin typeface="Courier New"/>
                <a:cs typeface="Courier New"/>
              </a:rPr>
              <a:t>fork()</a:t>
            </a:r>
            <a:r>
              <a:rPr lang="en-US" sz="1800" dirty="0">
                <a:solidFill>
                  <a:srgbClr val="333333"/>
                </a:solidFill>
                <a:latin typeface="Arial MT"/>
                <a:cs typeface="Arial MT"/>
              </a:rPr>
              <a:t>,</a:t>
            </a:r>
            <a:r>
              <a:rPr lang="en-US" sz="1800" spc="-20" dirty="0">
                <a:solidFill>
                  <a:srgbClr val="333333"/>
                </a:solidFill>
                <a:latin typeface="Arial MT"/>
                <a:cs typeface="Arial MT"/>
              </a:rPr>
              <a:t> </a:t>
            </a:r>
            <a:r>
              <a:rPr lang="en-US" sz="1800" dirty="0">
                <a:solidFill>
                  <a:srgbClr val="333333"/>
                </a:solidFill>
                <a:latin typeface="Arial MT"/>
                <a:cs typeface="Arial MT"/>
              </a:rPr>
              <a:t>if</a:t>
            </a:r>
            <a:r>
              <a:rPr lang="en-US" sz="1800" spc="-15" dirty="0">
                <a:solidFill>
                  <a:srgbClr val="333333"/>
                </a:solidFill>
                <a:latin typeface="Arial MT"/>
                <a:cs typeface="Arial MT"/>
              </a:rPr>
              <a:t> </a:t>
            </a:r>
            <a:r>
              <a:rPr lang="en-US" sz="1800" dirty="0">
                <a:solidFill>
                  <a:srgbClr val="333333"/>
                </a:solidFill>
                <a:latin typeface="Arial MT"/>
                <a:cs typeface="Arial MT"/>
              </a:rPr>
              <a:t>we</a:t>
            </a:r>
            <a:r>
              <a:rPr lang="en-US" sz="1800" spc="-20" dirty="0">
                <a:solidFill>
                  <a:srgbClr val="333333"/>
                </a:solidFill>
                <a:latin typeface="Arial MT"/>
                <a:cs typeface="Arial MT"/>
              </a:rPr>
              <a:t> </a:t>
            </a:r>
            <a:r>
              <a:rPr lang="en-US" sz="1800" dirty="0">
                <a:solidFill>
                  <a:srgbClr val="333333"/>
                </a:solidFill>
                <a:latin typeface="Arial MT"/>
                <a:cs typeface="Arial MT"/>
              </a:rPr>
              <a:t>would</a:t>
            </a:r>
            <a:r>
              <a:rPr lang="en-US" sz="1800" spc="-15" dirty="0">
                <a:solidFill>
                  <a:srgbClr val="333333"/>
                </a:solidFill>
                <a:latin typeface="Arial MT"/>
                <a:cs typeface="Arial MT"/>
              </a:rPr>
              <a:t> </a:t>
            </a:r>
            <a:r>
              <a:rPr lang="en-US" sz="1800" dirty="0">
                <a:solidFill>
                  <a:srgbClr val="333333"/>
                </a:solidFill>
                <a:latin typeface="Arial MT"/>
                <a:cs typeface="Arial MT"/>
              </a:rPr>
              <a:t>like</a:t>
            </a:r>
            <a:r>
              <a:rPr lang="en-US" sz="1800" spc="-20" dirty="0">
                <a:solidFill>
                  <a:srgbClr val="333333"/>
                </a:solidFill>
                <a:latin typeface="Arial MT"/>
                <a:cs typeface="Arial MT"/>
              </a:rPr>
              <a:t> </a:t>
            </a:r>
            <a:r>
              <a:rPr lang="en-US" sz="1800" dirty="0">
                <a:solidFill>
                  <a:srgbClr val="333333"/>
                </a:solidFill>
                <a:latin typeface="Arial MT"/>
                <a:cs typeface="Arial MT"/>
              </a:rPr>
              <a:t>to</a:t>
            </a:r>
            <a:r>
              <a:rPr lang="en-US" sz="1800" spc="-15" dirty="0">
                <a:solidFill>
                  <a:srgbClr val="333333"/>
                </a:solidFill>
                <a:latin typeface="Arial MT"/>
                <a:cs typeface="Arial MT"/>
              </a:rPr>
              <a:t> </a:t>
            </a:r>
            <a:r>
              <a:rPr lang="en-US" sz="1800" dirty="0">
                <a:solidFill>
                  <a:srgbClr val="333333"/>
                </a:solidFill>
                <a:latin typeface="Arial MT"/>
                <a:cs typeface="Arial MT"/>
              </a:rPr>
              <a:t>wait</a:t>
            </a:r>
            <a:r>
              <a:rPr lang="en-US" sz="1800" spc="-20" dirty="0">
                <a:solidFill>
                  <a:srgbClr val="333333"/>
                </a:solidFill>
                <a:latin typeface="Arial MT"/>
                <a:cs typeface="Arial MT"/>
              </a:rPr>
              <a:t> </a:t>
            </a:r>
            <a:r>
              <a:rPr lang="en-US" sz="1800" dirty="0">
                <a:solidFill>
                  <a:srgbClr val="333333"/>
                </a:solidFill>
                <a:latin typeface="Arial MT"/>
                <a:cs typeface="Arial MT"/>
              </a:rPr>
              <a:t>for</a:t>
            </a:r>
            <a:r>
              <a:rPr lang="en-US" sz="1800" spc="-15"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thread</a:t>
            </a:r>
            <a:r>
              <a:rPr lang="en-US" sz="1800" spc="-15" dirty="0">
                <a:solidFill>
                  <a:srgbClr val="333333"/>
                </a:solidFill>
                <a:latin typeface="Arial MT"/>
                <a:cs typeface="Arial MT"/>
              </a:rPr>
              <a:t> </a:t>
            </a:r>
            <a:r>
              <a:rPr lang="en-US" sz="1800" spc="-25" dirty="0">
                <a:solidFill>
                  <a:srgbClr val="333333"/>
                </a:solidFill>
                <a:latin typeface="Arial MT"/>
                <a:cs typeface="Arial MT"/>
              </a:rPr>
              <a:t>to</a:t>
            </a:r>
            <a:r>
              <a:rPr lang="en-US" spc="-25" dirty="0">
                <a:latin typeface="Arial MT"/>
                <a:cs typeface="Arial MT"/>
              </a:rPr>
              <a:t> </a:t>
            </a:r>
            <a:r>
              <a:rPr lang="en-US" sz="1800" dirty="0">
                <a:solidFill>
                  <a:srgbClr val="333333"/>
                </a:solidFill>
                <a:latin typeface="Arial MT"/>
                <a:cs typeface="Arial MT"/>
              </a:rPr>
              <a:t>finish</a:t>
            </a:r>
            <a:r>
              <a:rPr lang="en-US" sz="1800" spc="-30" dirty="0">
                <a:solidFill>
                  <a:srgbClr val="333333"/>
                </a:solidFill>
                <a:latin typeface="Arial MT"/>
                <a:cs typeface="Arial MT"/>
              </a:rPr>
              <a:t> </a:t>
            </a:r>
            <a:r>
              <a:rPr lang="en-US" sz="1800" dirty="0">
                <a:solidFill>
                  <a:srgbClr val="333333"/>
                </a:solidFill>
                <a:latin typeface="Arial MT"/>
                <a:cs typeface="Arial MT"/>
              </a:rPr>
              <a:t>and</a:t>
            </a:r>
            <a:r>
              <a:rPr lang="en-US" sz="1800" spc="-15" dirty="0">
                <a:solidFill>
                  <a:srgbClr val="333333"/>
                </a:solidFill>
                <a:latin typeface="Arial MT"/>
                <a:cs typeface="Arial MT"/>
              </a:rPr>
              <a:t> </a:t>
            </a:r>
            <a:r>
              <a:rPr lang="en-US" sz="1800" dirty="0">
                <a:solidFill>
                  <a:srgbClr val="333333"/>
                </a:solidFill>
                <a:latin typeface="Arial MT"/>
                <a:cs typeface="Arial MT"/>
              </a:rPr>
              <a:t>get</a:t>
            </a:r>
            <a:r>
              <a:rPr lang="en-US" sz="1800" spc="-20" dirty="0">
                <a:solidFill>
                  <a:srgbClr val="333333"/>
                </a:solidFill>
                <a:latin typeface="Arial MT"/>
                <a:cs typeface="Arial MT"/>
              </a:rPr>
              <a:t> </a:t>
            </a:r>
            <a:r>
              <a:rPr lang="en-US" sz="1800" dirty="0">
                <a:solidFill>
                  <a:srgbClr val="333333"/>
                </a:solidFill>
                <a:latin typeface="Arial MT"/>
                <a:cs typeface="Arial MT"/>
              </a:rPr>
              <a:t>back</a:t>
            </a:r>
            <a:r>
              <a:rPr lang="en-US" sz="1800" spc="-15"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result,</a:t>
            </a:r>
            <a:r>
              <a:rPr lang="en-US" sz="1800" spc="-15" dirty="0">
                <a:solidFill>
                  <a:srgbClr val="333333"/>
                </a:solidFill>
                <a:latin typeface="Arial MT"/>
                <a:cs typeface="Arial MT"/>
              </a:rPr>
              <a:t> </a:t>
            </a:r>
            <a:r>
              <a:rPr lang="en-US" sz="1800" dirty="0">
                <a:solidFill>
                  <a:srgbClr val="333333"/>
                </a:solidFill>
                <a:latin typeface="Arial MT"/>
                <a:cs typeface="Arial MT"/>
              </a:rPr>
              <a:t>we</a:t>
            </a:r>
            <a:r>
              <a:rPr lang="en-US" sz="1800" spc="-20" dirty="0">
                <a:solidFill>
                  <a:srgbClr val="333333"/>
                </a:solidFill>
                <a:latin typeface="Arial MT"/>
                <a:cs typeface="Arial MT"/>
              </a:rPr>
              <a:t> </a:t>
            </a:r>
            <a:r>
              <a:rPr lang="en-US" sz="1800" dirty="0">
                <a:solidFill>
                  <a:srgbClr val="333333"/>
                </a:solidFill>
                <a:latin typeface="Arial MT"/>
                <a:cs typeface="Arial MT"/>
              </a:rPr>
              <a:t>can</a:t>
            </a:r>
            <a:r>
              <a:rPr lang="en-US" sz="1800" spc="-15" dirty="0">
                <a:solidFill>
                  <a:srgbClr val="333333"/>
                </a:solidFill>
                <a:latin typeface="Arial MT"/>
                <a:cs typeface="Arial MT"/>
              </a:rPr>
              <a:t> </a:t>
            </a:r>
            <a:r>
              <a:rPr lang="en-US" sz="1800" spc="-25" dirty="0">
                <a:solidFill>
                  <a:srgbClr val="333333"/>
                </a:solidFill>
                <a:latin typeface="Arial MT"/>
                <a:cs typeface="Arial MT"/>
              </a:rPr>
              <a:t>use</a:t>
            </a:r>
            <a:r>
              <a:rPr lang="en-US" dirty="0">
                <a:latin typeface="Arial MT"/>
                <a:cs typeface="Arial MT"/>
              </a:rPr>
              <a:t> </a:t>
            </a:r>
            <a:r>
              <a:rPr lang="en-US" sz="1800" spc="-10" dirty="0" err="1">
                <a:solidFill>
                  <a:srgbClr val="333333"/>
                </a:solidFill>
                <a:latin typeface="Courier New"/>
                <a:cs typeface="Courier New"/>
              </a:rPr>
              <a:t>pthread_join</a:t>
            </a:r>
            <a:r>
              <a:rPr lang="en-US" sz="1800" spc="-10" dirty="0">
                <a:solidFill>
                  <a:srgbClr val="333333"/>
                </a:solidFill>
                <a:latin typeface="Courier New"/>
                <a:cs typeface="Courier New"/>
              </a:rPr>
              <a:t>()</a:t>
            </a:r>
            <a:r>
              <a:rPr lang="en-US" sz="1800" spc="-10" dirty="0">
                <a:solidFill>
                  <a:srgbClr val="333333"/>
                </a:solidFill>
                <a:latin typeface="Arial MT"/>
                <a:cs typeface="Arial MT"/>
              </a:rPr>
              <a:t>.</a:t>
            </a:r>
            <a:endParaRPr lang="en-US" sz="1800" dirty="0">
              <a:latin typeface="Arial MT"/>
              <a:cs typeface="Arial MT"/>
            </a:endParaRPr>
          </a:p>
          <a:p>
            <a:pPr marL="12700" marR="5080">
              <a:lnSpc>
                <a:spcPct val="114000"/>
              </a:lnSpc>
              <a:spcBef>
                <a:spcPts val="100"/>
              </a:spcBef>
              <a:spcAft>
                <a:spcPts val="1800"/>
              </a:spcAft>
            </a:pPr>
            <a:r>
              <a:rPr sz="1800" dirty="0">
                <a:solidFill>
                  <a:srgbClr val="333333"/>
                </a:solidFill>
                <a:latin typeface="Arial MT"/>
                <a:cs typeface="Arial MT"/>
              </a:rPr>
              <a:t>It</a:t>
            </a:r>
            <a:r>
              <a:rPr sz="1800" spc="-35" dirty="0">
                <a:solidFill>
                  <a:srgbClr val="333333"/>
                </a:solidFill>
                <a:latin typeface="Arial MT"/>
                <a:cs typeface="Arial MT"/>
              </a:rPr>
              <a:t> </a:t>
            </a:r>
            <a:r>
              <a:rPr sz="1800" dirty="0">
                <a:solidFill>
                  <a:srgbClr val="333333"/>
                </a:solidFill>
                <a:latin typeface="Arial MT"/>
                <a:cs typeface="Arial MT"/>
              </a:rPr>
              <a:t>suspends</a:t>
            </a:r>
            <a:r>
              <a:rPr sz="1800" spc="-20" dirty="0">
                <a:solidFill>
                  <a:srgbClr val="333333"/>
                </a:solidFill>
                <a:latin typeface="Arial MT"/>
                <a:cs typeface="Arial MT"/>
              </a:rPr>
              <a:t> </a:t>
            </a:r>
            <a:r>
              <a:rPr sz="1800" dirty="0">
                <a:solidFill>
                  <a:srgbClr val="333333"/>
                </a:solidFill>
                <a:latin typeface="Arial MT"/>
                <a:cs typeface="Arial MT"/>
              </a:rPr>
              <a:t>the</a:t>
            </a:r>
            <a:r>
              <a:rPr sz="1800" spc="-20" dirty="0">
                <a:solidFill>
                  <a:srgbClr val="333333"/>
                </a:solidFill>
                <a:latin typeface="Arial MT"/>
                <a:cs typeface="Arial MT"/>
              </a:rPr>
              <a:t> </a:t>
            </a:r>
            <a:r>
              <a:rPr sz="1800" dirty="0">
                <a:solidFill>
                  <a:srgbClr val="333333"/>
                </a:solidFill>
                <a:latin typeface="Arial MT"/>
                <a:cs typeface="Arial MT"/>
              </a:rPr>
              <a:t>execution</a:t>
            </a:r>
            <a:r>
              <a:rPr sz="1800" spc="-20" dirty="0">
                <a:solidFill>
                  <a:srgbClr val="333333"/>
                </a:solidFill>
                <a:latin typeface="Arial MT"/>
                <a:cs typeface="Arial MT"/>
              </a:rPr>
              <a:t> </a:t>
            </a:r>
            <a:r>
              <a:rPr sz="1800" dirty="0">
                <a:solidFill>
                  <a:srgbClr val="333333"/>
                </a:solidFill>
                <a:latin typeface="Arial MT"/>
                <a:cs typeface="Arial MT"/>
              </a:rPr>
              <a:t>of</a:t>
            </a:r>
            <a:r>
              <a:rPr sz="1800" spc="-25" dirty="0">
                <a:solidFill>
                  <a:srgbClr val="333333"/>
                </a:solidFill>
                <a:latin typeface="Arial MT"/>
                <a:cs typeface="Arial MT"/>
              </a:rPr>
              <a:t> </a:t>
            </a:r>
            <a:r>
              <a:rPr sz="1800" dirty="0">
                <a:solidFill>
                  <a:srgbClr val="333333"/>
                </a:solidFill>
                <a:latin typeface="Arial MT"/>
                <a:cs typeface="Arial MT"/>
              </a:rPr>
              <a:t>the</a:t>
            </a:r>
            <a:r>
              <a:rPr sz="1800" spc="-20" dirty="0">
                <a:solidFill>
                  <a:srgbClr val="333333"/>
                </a:solidFill>
                <a:latin typeface="Arial MT"/>
                <a:cs typeface="Arial MT"/>
              </a:rPr>
              <a:t> </a:t>
            </a:r>
            <a:r>
              <a:rPr sz="1800" dirty="0">
                <a:solidFill>
                  <a:srgbClr val="333333"/>
                </a:solidFill>
                <a:latin typeface="Arial MT"/>
                <a:cs typeface="Arial MT"/>
              </a:rPr>
              <a:t>calling</a:t>
            </a:r>
            <a:r>
              <a:rPr sz="1800" spc="-20" dirty="0">
                <a:solidFill>
                  <a:srgbClr val="333333"/>
                </a:solidFill>
                <a:latin typeface="Arial MT"/>
                <a:cs typeface="Arial MT"/>
              </a:rPr>
              <a:t> </a:t>
            </a:r>
            <a:r>
              <a:rPr sz="1800" dirty="0">
                <a:solidFill>
                  <a:srgbClr val="333333"/>
                </a:solidFill>
                <a:latin typeface="Arial MT"/>
                <a:cs typeface="Arial MT"/>
              </a:rPr>
              <a:t>thread</a:t>
            </a:r>
            <a:r>
              <a:rPr sz="1800" spc="-20" dirty="0">
                <a:solidFill>
                  <a:srgbClr val="333333"/>
                </a:solidFill>
                <a:latin typeface="Arial MT"/>
                <a:cs typeface="Arial MT"/>
              </a:rPr>
              <a:t> </a:t>
            </a:r>
            <a:r>
              <a:rPr sz="1800" dirty="0">
                <a:solidFill>
                  <a:srgbClr val="333333"/>
                </a:solidFill>
                <a:latin typeface="Arial MT"/>
                <a:cs typeface="Arial MT"/>
              </a:rPr>
              <a:t>until</a:t>
            </a:r>
            <a:r>
              <a:rPr sz="1800" spc="-20" dirty="0">
                <a:solidFill>
                  <a:srgbClr val="333333"/>
                </a:solidFill>
                <a:latin typeface="Arial MT"/>
                <a:cs typeface="Arial MT"/>
              </a:rPr>
              <a:t> </a:t>
            </a:r>
            <a:r>
              <a:rPr sz="1800" spc="-25" dirty="0">
                <a:solidFill>
                  <a:srgbClr val="333333"/>
                </a:solidFill>
                <a:latin typeface="Arial MT"/>
                <a:cs typeface="Arial MT"/>
              </a:rPr>
              <a:t>the</a:t>
            </a:r>
            <a:r>
              <a:rPr lang="en-US" sz="1800" spc="-25" dirty="0">
                <a:solidFill>
                  <a:srgbClr val="333333"/>
                </a:solidFill>
                <a:latin typeface="Arial MT"/>
                <a:cs typeface="Arial MT"/>
              </a:rPr>
              <a:t> </a:t>
            </a:r>
            <a:r>
              <a:rPr sz="1800" dirty="0">
                <a:solidFill>
                  <a:srgbClr val="333333"/>
                </a:solidFill>
                <a:latin typeface="Arial MT"/>
                <a:cs typeface="Arial MT"/>
              </a:rPr>
              <a:t>target</a:t>
            </a:r>
            <a:r>
              <a:rPr sz="1800" spc="-35" dirty="0">
                <a:solidFill>
                  <a:srgbClr val="333333"/>
                </a:solidFill>
                <a:latin typeface="Arial MT"/>
                <a:cs typeface="Arial MT"/>
              </a:rPr>
              <a:t> </a:t>
            </a:r>
            <a:r>
              <a:rPr sz="1800" dirty="0">
                <a:solidFill>
                  <a:srgbClr val="333333"/>
                </a:solidFill>
                <a:latin typeface="Arial MT"/>
                <a:cs typeface="Arial MT"/>
              </a:rPr>
              <a:t>thread</a:t>
            </a:r>
            <a:r>
              <a:rPr sz="1800" spc="-20" dirty="0">
                <a:solidFill>
                  <a:srgbClr val="333333"/>
                </a:solidFill>
                <a:latin typeface="Arial MT"/>
                <a:cs typeface="Arial MT"/>
              </a:rPr>
              <a:t> </a:t>
            </a:r>
            <a:r>
              <a:rPr sz="1800" dirty="0">
                <a:solidFill>
                  <a:srgbClr val="333333"/>
                </a:solidFill>
                <a:latin typeface="Arial MT"/>
                <a:cs typeface="Arial MT"/>
              </a:rPr>
              <a:t>terminates</a:t>
            </a:r>
            <a:r>
              <a:rPr sz="1800" spc="-20" dirty="0">
                <a:solidFill>
                  <a:srgbClr val="333333"/>
                </a:solidFill>
                <a:latin typeface="Arial MT"/>
                <a:cs typeface="Arial MT"/>
              </a:rPr>
              <a:t> </a:t>
            </a:r>
            <a:r>
              <a:rPr sz="1800" dirty="0">
                <a:solidFill>
                  <a:srgbClr val="333333"/>
                </a:solidFill>
                <a:latin typeface="Arial MT"/>
                <a:cs typeface="Arial MT"/>
              </a:rPr>
              <a:t>unless</a:t>
            </a:r>
            <a:r>
              <a:rPr sz="1800" spc="-20" dirty="0">
                <a:solidFill>
                  <a:srgbClr val="333333"/>
                </a:solidFill>
                <a:latin typeface="Arial MT"/>
                <a:cs typeface="Arial MT"/>
              </a:rPr>
              <a:t> </a:t>
            </a:r>
            <a:r>
              <a:rPr sz="1800" dirty="0">
                <a:solidFill>
                  <a:srgbClr val="333333"/>
                </a:solidFill>
                <a:latin typeface="Arial MT"/>
                <a:cs typeface="Arial MT"/>
              </a:rPr>
              <a:t>the</a:t>
            </a:r>
            <a:r>
              <a:rPr sz="1800" spc="-20" dirty="0">
                <a:solidFill>
                  <a:srgbClr val="333333"/>
                </a:solidFill>
                <a:latin typeface="Arial MT"/>
                <a:cs typeface="Arial MT"/>
              </a:rPr>
              <a:t> </a:t>
            </a:r>
            <a:r>
              <a:rPr sz="1800" dirty="0">
                <a:solidFill>
                  <a:srgbClr val="333333"/>
                </a:solidFill>
                <a:latin typeface="Arial MT"/>
                <a:cs typeface="Arial MT"/>
              </a:rPr>
              <a:t>target</a:t>
            </a:r>
            <a:r>
              <a:rPr sz="1800" spc="-20" dirty="0">
                <a:solidFill>
                  <a:srgbClr val="333333"/>
                </a:solidFill>
                <a:latin typeface="Arial MT"/>
                <a:cs typeface="Arial MT"/>
              </a:rPr>
              <a:t> </a:t>
            </a:r>
            <a:r>
              <a:rPr sz="1800" dirty="0">
                <a:solidFill>
                  <a:srgbClr val="333333"/>
                </a:solidFill>
                <a:latin typeface="Arial MT"/>
                <a:cs typeface="Arial MT"/>
              </a:rPr>
              <a:t>thread</a:t>
            </a:r>
            <a:r>
              <a:rPr sz="1800" spc="-20" dirty="0">
                <a:solidFill>
                  <a:srgbClr val="333333"/>
                </a:solidFill>
                <a:latin typeface="Arial MT"/>
                <a:cs typeface="Arial MT"/>
              </a:rPr>
              <a:t> </a:t>
            </a:r>
            <a:r>
              <a:rPr sz="1800" spc="-25" dirty="0">
                <a:solidFill>
                  <a:srgbClr val="333333"/>
                </a:solidFill>
                <a:latin typeface="Arial MT"/>
                <a:cs typeface="Arial MT"/>
              </a:rPr>
              <a:t>has</a:t>
            </a:r>
            <a:r>
              <a:rPr lang="en-US" sz="1800" spc="-25" dirty="0">
                <a:solidFill>
                  <a:srgbClr val="333333"/>
                </a:solidFill>
                <a:latin typeface="Arial MT"/>
                <a:cs typeface="Arial MT"/>
              </a:rPr>
              <a:t> </a:t>
            </a:r>
            <a:r>
              <a:rPr sz="1800" dirty="0">
                <a:solidFill>
                  <a:srgbClr val="333333"/>
                </a:solidFill>
                <a:latin typeface="Arial MT"/>
                <a:cs typeface="Arial MT"/>
              </a:rPr>
              <a:t>already</a:t>
            </a:r>
            <a:r>
              <a:rPr sz="1800" spc="-5" dirty="0">
                <a:solidFill>
                  <a:srgbClr val="333333"/>
                </a:solidFill>
                <a:latin typeface="Arial MT"/>
                <a:cs typeface="Arial MT"/>
              </a:rPr>
              <a:t> </a:t>
            </a:r>
            <a:r>
              <a:rPr sz="1800" spc="-10" dirty="0">
                <a:solidFill>
                  <a:srgbClr val="333333"/>
                </a:solidFill>
                <a:latin typeface="Arial MT"/>
                <a:cs typeface="Arial MT"/>
              </a:rPr>
              <a:t>terminated.</a:t>
            </a:r>
            <a:endParaRPr lang="en-US" sz="1800" spc="-10" dirty="0">
              <a:solidFill>
                <a:srgbClr val="333333"/>
              </a:solidFill>
              <a:latin typeface="Arial MT"/>
              <a:cs typeface="Arial MT"/>
            </a:endParaRPr>
          </a:p>
          <a:p>
            <a:pPr marL="12700" marR="5080">
              <a:lnSpc>
                <a:spcPct val="114000"/>
              </a:lnSpc>
              <a:spcBef>
                <a:spcPts val="100"/>
              </a:spcBef>
              <a:spcAft>
                <a:spcPts val="1800"/>
              </a:spcAft>
            </a:pPr>
            <a:r>
              <a:rPr lang="en-US" sz="1800" dirty="0">
                <a:solidFill>
                  <a:srgbClr val="333333"/>
                </a:solidFill>
                <a:latin typeface="Arial MT"/>
                <a:cs typeface="Arial MT"/>
              </a:rPr>
              <a:t>At</a:t>
            </a:r>
            <a:r>
              <a:rPr lang="en-US" sz="1800" spc="-35" dirty="0">
                <a:solidFill>
                  <a:srgbClr val="333333"/>
                </a:solidFill>
                <a:latin typeface="Arial MT"/>
                <a:cs typeface="Arial MT"/>
              </a:rPr>
              <a:t> </a:t>
            </a:r>
            <a:r>
              <a:rPr lang="en-US" sz="1800" dirty="0">
                <a:solidFill>
                  <a:srgbClr val="333333"/>
                </a:solidFill>
                <a:latin typeface="Arial MT"/>
                <a:cs typeface="Arial MT"/>
              </a:rPr>
              <a:t>this</a:t>
            </a:r>
            <a:r>
              <a:rPr lang="en-US" sz="1800" spc="-20" dirty="0">
                <a:solidFill>
                  <a:srgbClr val="333333"/>
                </a:solidFill>
                <a:latin typeface="Arial MT"/>
                <a:cs typeface="Arial MT"/>
              </a:rPr>
              <a:t> </a:t>
            </a:r>
            <a:r>
              <a:rPr lang="en-US" sz="1800" dirty="0">
                <a:solidFill>
                  <a:srgbClr val="333333"/>
                </a:solidFill>
                <a:latin typeface="Arial MT"/>
                <a:cs typeface="Arial MT"/>
              </a:rPr>
              <a:t>point,</a:t>
            </a:r>
            <a:r>
              <a:rPr lang="en-US" sz="1800" spc="-20"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second</a:t>
            </a:r>
            <a:r>
              <a:rPr lang="en-US" sz="1800" spc="-20" dirty="0">
                <a:solidFill>
                  <a:srgbClr val="333333"/>
                </a:solidFill>
                <a:latin typeface="Arial MT"/>
                <a:cs typeface="Arial MT"/>
              </a:rPr>
              <a:t> </a:t>
            </a:r>
            <a:r>
              <a:rPr lang="en-US" sz="1800" dirty="0">
                <a:solidFill>
                  <a:srgbClr val="333333"/>
                </a:solidFill>
                <a:latin typeface="Arial MT"/>
                <a:cs typeface="Arial MT"/>
              </a:rPr>
              <a:t>argument</a:t>
            </a:r>
            <a:r>
              <a:rPr lang="en-US" sz="1800" spc="-20" dirty="0">
                <a:solidFill>
                  <a:srgbClr val="333333"/>
                </a:solidFill>
                <a:latin typeface="Arial MT"/>
                <a:cs typeface="Arial MT"/>
              </a:rPr>
              <a:t> </a:t>
            </a:r>
            <a:r>
              <a:rPr lang="en-US" sz="1800" dirty="0">
                <a:solidFill>
                  <a:srgbClr val="333333"/>
                </a:solidFill>
                <a:latin typeface="Arial MT"/>
                <a:cs typeface="Arial MT"/>
              </a:rPr>
              <a:t>that</a:t>
            </a:r>
            <a:r>
              <a:rPr lang="en-US" sz="1800" spc="-20" dirty="0">
                <a:solidFill>
                  <a:srgbClr val="333333"/>
                </a:solidFill>
                <a:latin typeface="Arial MT"/>
                <a:cs typeface="Arial MT"/>
              </a:rPr>
              <a:t> </a:t>
            </a:r>
            <a:r>
              <a:rPr lang="en-US" sz="1800" dirty="0">
                <a:solidFill>
                  <a:srgbClr val="333333"/>
                </a:solidFill>
                <a:latin typeface="Arial MT"/>
                <a:cs typeface="Arial MT"/>
              </a:rPr>
              <a:t>is</a:t>
            </a:r>
            <a:r>
              <a:rPr lang="en-US" sz="1800" spc="-20" dirty="0">
                <a:solidFill>
                  <a:srgbClr val="333333"/>
                </a:solidFill>
                <a:latin typeface="Arial MT"/>
                <a:cs typeface="Arial MT"/>
              </a:rPr>
              <a:t> </a:t>
            </a:r>
            <a:r>
              <a:rPr lang="en-US" sz="1800" dirty="0">
                <a:solidFill>
                  <a:srgbClr val="333333"/>
                </a:solidFill>
                <a:latin typeface="Arial MT"/>
                <a:cs typeface="Arial MT"/>
              </a:rPr>
              <a:t>passed</a:t>
            </a:r>
            <a:r>
              <a:rPr lang="en-US" sz="1800" spc="-20" dirty="0">
                <a:solidFill>
                  <a:srgbClr val="333333"/>
                </a:solidFill>
                <a:latin typeface="Arial MT"/>
                <a:cs typeface="Arial MT"/>
              </a:rPr>
              <a:t> </a:t>
            </a:r>
            <a:r>
              <a:rPr lang="en-US" sz="1800" spc="-25" dirty="0">
                <a:solidFill>
                  <a:srgbClr val="333333"/>
                </a:solidFill>
                <a:latin typeface="Arial MT"/>
                <a:cs typeface="Arial MT"/>
              </a:rPr>
              <a:t>to </a:t>
            </a:r>
            <a:r>
              <a:rPr lang="en-US" sz="1800" spc="-10" dirty="0" err="1">
                <a:solidFill>
                  <a:srgbClr val="333333"/>
                </a:solidFill>
                <a:latin typeface="Courier New"/>
                <a:cs typeface="Courier New"/>
              </a:rPr>
              <a:t>pthread_join</a:t>
            </a:r>
            <a:r>
              <a:rPr lang="en-US" sz="1800" spc="-10" dirty="0">
                <a:solidFill>
                  <a:srgbClr val="333333"/>
                </a:solidFill>
                <a:latin typeface="Courier New"/>
                <a:cs typeface="Courier New"/>
              </a:rPr>
              <a:t>()</a:t>
            </a:r>
            <a:r>
              <a:rPr lang="en-US" sz="1800" dirty="0">
                <a:solidFill>
                  <a:srgbClr val="333333"/>
                </a:solidFill>
                <a:latin typeface="Arial MT"/>
                <a:cs typeface="Arial MT"/>
              </a:rPr>
              <a:t> will</a:t>
            </a:r>
            <a:r>
              <a:rPr lang="en-US" sz="1800" spc="-15" dirty="0">
                <a:solidFill>
                  <a:srgbClr val="333333"/>
                </a:solidFill>
                <a:latin typeface="Arial MT"/>
                <a:cs typeface="Arial MT"/>
              </a:rPr>
              <a:t> </a:t>
            </a:r>
            <a:r>
              <a:rPr lang="en-US" sz="1800" dirty="0">
                <a:solidFill>
                  <a:srgbClr val="333333"/>
                </a:solidFill>
                <a:latin typeface="Arial MT"/>
                <a:cs typeface="Arial MT"/>
              </a:rPr>
              <a:t>be</a:t>
            </a:r>
            <a:r>
              <a:rPr lang="en-US" sz="1800" spc="-15" dirty="0">
                <a:solidFill>
                  <a:srgbClr val="333333"/>
                </a:solidFill>
                <a:latin typeface="Arial MT"/>
                <a:cs typeface="Arial MT"/>
              </a:rPr>
              <a:t> </a:t>
            </a:r>
            <a:r>
              <a:rPr lang="en-US" sz="1800" dirty="0">
                <a:solidFill>
                  <a:srgbClr val="333333"/>
                </a:solidFill>
                <a:latin typeface="Arial MT"/>
                <a:cs typeface="Arial MT"/>
              </a:rPr>
              <a:t>set</a:t>
            </a:r>
            <a:r>
              <a:rPr lang="en-US" sz="1800" spc="-15" dirty="0">
                <a:solidFill>
                  <a:srgbClr val="333333"/>
                </a:solidFill>
                <a:latin typeface="Arial MT"/>
                <a:cs typeface="Arial MT"/>
              </a:rPr>
              <a:t> </a:t>
            </a:r>
            <a:r>
              <a:rPr lang="en-US" sz="1800" dirty="0">
                <a:solidFill>
                  <a:srgbClr val="333333"/>
                </a:solidFill>
                <a:latin typeface="Arial MT"/>
                <a:cs typeface="Arial MT"/>
              </a:rPr>
              <a:t>for</a:t>
            </a:r>
            <a:r>
              <a:rPr lang="en-US" sz="1800" spc="-15" dirty="0">
                <a:solidFill>
                  <a:srgbClr val="333333"/>
                </a:solidFill>
                <a:latin typeface="Arial MT"/>
                <a:cs typeface="Arial MT"/>
              </a:rPr>
              <a:t> </a:t>
            </a:r>
            <a:r>
              <a:rPr lang="en-US" sz="1800" dirty="0">
                <a:solidFill>
                  <a:srgbClr val="333333"/>
                </a:solidFill>
                <a:latin typeface="Arial MT"/>
                <a:cs typeface="Arial MT"/>
              </a:rPr>
              <a:t>whatever</a:t>
            </a:r>
            <a:r>
              <a:rPr lang="en-US" sz="1800" spc="-15" dirty="0">
                <a:solidFill>
                  <a:srgbClr val="333333"/>
                </a:solidFill>
                <a:latin typeface="Arial MT"/>
                <a:cs typeface="Arial MT"/>
              </a:rPr>
              <a:t> </a:t>
            </a:r>
            <a:r>
              <a:rPr lang="en-US" sz="1800" dirty="0">
                <a:solidFill>
                  <a:srgbClr val="333333"/>
                </a:solidFill>
                <a:latin typeface="Arial MT"/>
                <a:cs typeface="Arial MT"/>
              </a:rPr>
              <a:t>pointer</a:t>
            </a:r>
            <a:r>
              <a:rPr lang="en-US" sz="1800" spc="-10" dirty="0">
                <a:solidFill>
                  <a:srgbClr val="333333"/>
                </a:solidFill>
                <a:latin typeface="Arial MT"/>
                <a:cs typeface="Arial MT"/>
              </a:rPr>
              <a:t> value</a:t>
            </a:r>
            <a:r>
              <a:rPr lang="en-US" spc="-10" dirty="0">
                <a:latin typeface="Arial MT"/>
                <a:cs typeface="Arial MT"/>
              </a:rPr>
              <a:t> </a:t>
            </a:r>
            <a:r>
              <a:rPr lang="en-US" sz="1800" dirty="0">
                <a:solidFill>
                  <a:srgbClr val="333333"/>
                </a:solidFill>
                <a:latin typeface="Arial MT"/>
                <a:cs typeface="Arial MT"/>
              </a:rPr>
              <a:t>that</a:t>
            </a:r>
            <a:r>
              <a:rPr lang="en-US" sz="1800" spc="-35" dirty="0">
                <a:solidFill>
                  <a:srgbClr val="333333"/>
                </a:solidFill>
                <a:latin typeface="Arial MT"/>
                <a:cs typeface="Arial MT"/>
              </a:rPr>
              <a:t> </a:t>
            </a:r>
            <a:r>
              <a:rPr lang="en-US" sz="1800" dirty="0">
                <a:solidFill>
                  <a:srgbClr val="333333"/>
                </a:solidFill>
                <a:latin typeface="Arial MT"/>
                <a:cs typeface="Arial MT"/>
              </a:rPr>
              <a:t>is</a:t>
            </a:r>
            <a:r>
              <a:rPr lang="en-US" sz="1800" spc="-20" dirty="0">
                <a:solidFill>
                  <a:srgbClr val="333333"/>
                </a:solidFill>
                <a:latin typeface="Arial MT"/>
                <a:cs typeface="Arial MT"/>
              </a:rPr>
              <a:t> </a:t>
            </a:r>
            <a:r>
              <a:rPr lang="en-US" sz="1800" dirty="0">
                <a:solidFill>
                  <a:srgbClr val="333333"/>
                </a:solidFill>
                <a:latin typeface="Arial MT"/>
                <a:cs typeface="Arial MT"/>
              </a:rPr>
              <a:t>returned</a:t>
            </a:r>
            <a:r>
              <a:rPr lang="en-US" sz="1800" spc="-20" dirty="0">
                <a:solidFill>
                  <a:srgbClr val="333333"/>
                </a:solidFill>
                <a:latin typeface="Arial MT"/>
                <a:cs typeface="Arial MT"/>
              </a:rPr>
              <a:t> </a:t>
            </a:r>
            <a:r>
              <a:rPr lang="en-US" sz="1800" dirty="0">
                <a:solidFill>
                  <a:srgbClr val="333333"/>
                </a:solidFill>
                <a:latin typeface="Arial MT"/>
                <a:cs typeface="Arial MT"/>
              </a:rPr>
              <a:t>by</a:t>
            </a:r>
            <a:r>
              <a:rPr lang="en-US" sz="1800" spc="-20"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dirty="0">
                <a:solidFill>
                  <a:srgbClr val="333333"/>
                </a:solidFill>
                <a:latin typeface="Arial MT"/>
                <a:cs typeface="Arial MT"/>
              </a:rPr>
              <a:t>function</a:t>
            </a:r>
            <a:r>
              <a:rPr lang="en-US" sz="1800" spc="-20" dirty="0">
                <a:solidFill>
                  <a:srgbClr val="333333"/>
                </a:solidFill>
                <a:latin typeface="Arial MT"/>
                <a:cs typeface="Arial MT"/>
              </a:rPr>
              <a:t> </a:t>
            </a:r>
            <a:r>
              <a:rPr lang="en-US" sz="1800" dirty="0">
                <a:solidFill>
                  <a:srgbClr val="333333"/>
                </a:solidFill>
                <a:latin typeface="Arial MT"/>
                <a:cs typeface="Arial MT"/>
              </a:rPr>
              <a:t>we</a:t>
            </a:r>
            <a:r>
              <a:rPr lang="en-US" sz="1800" spc="-20" dirty="0">
                <a:solidFill>
                  <a:srgbClr val="333333"/>
                </a:solidFill>
                <a:latin typeface="Arial MT"/>
                <a:cs typeface="Arial MT"/>
              </a:rPr>
              <a:t> </a:t>
            </a:r>
            <a:r>
              <a:rPr lang="en-US" sz="1800" dirty="0">
                <a:solidFill>
                  <a:srgbClr val="333333"/>
                </a:solidFill>
                <a:latin typeface="Arial MT"/>
                <a:cs typeface="Arial MT"/>
              </a:rPr>
              <a:t>were</a:t>
            </a:r>
            <a:r>
              <a:rPr lang="en-US" sz="1800" spc="-20" dirty="0">
                <a:solidFill>
                  <a:srgbClr val="333333"/>
                </a:solidFill>
                <a:latin typeface="Arial MT"/>
                <a:cs typeface="Arial MT"/>
              </a:rPr>
              <a:t> </a:t>
            </a:r>
            <a:r>
              <a:rPr lang="en-US" sz="1800" spc="-10" dirty="0">
                <a:solidFill>
                  <a:srgbClr val="333333"/>
                </a:solidFill>
                <a:latin typeface="Arial MT"/>
                <a:cs typeface="Arial MT"/>
              </a:rPr>
              <a:t>calling </a:t>
            </a:r>
            <a:r>
              <a:rPr lang="en-US" sz="1800" spc="-20" dirty="0">
                <a:solidFill>
                  <a:srgbClr val="333333"/>
                </a:solidFill>
                <a:latin typeface="Arial MT"/>
                <a:cs typeface="Arial MT"/>
              </a:rPr>
              <a:t>when</a:t>
            </a:r>
            <a:r>
              <a:rPr lang="en-US" spc="-20" dirty="0">
                <a:solidFill>
                  <a:srgbClr val="333333"/>
                </a:solidFill>
                <a:latin typeface="Arial MT"/>
                <a:cs typeface="Arial MT"/>
              </a:rPr>
              <a:t> </a:t>
            </a:r>
            <a:r>
              <a:rPr lang="en-US" sz="1800" spc="-10" dirty="0" err="1">
                <a:solidFill>
                  <a:srgbClr val="333333"/>
                </a:solidFill>
                <a:latin typeface="Courier New"/>
                <a:cs typeface="Courier New"/>
              </a:rPr>
              <a:t>pthread_create</a:t>
            </a:r>
            <a:r>
              <a:rPr lang="en-US" sz="1800" spc="-10" dirty="0">
                <a:solidFill>
                  <a:srgbClr val="333333"/>
                </a:solidFill>
                <a:latin typeface="Courier New"/>
                <a:cs typeface="Courier New"/>
              </a:rPr>
              <a:t>()</a:t>
            </a:r>
            <a:r>
              <a:rPr lang="en-US" sz="1800" dirty="0">
                <a:solidFill>
                  <a:srgbClr val="333333"/>
                </a:solidFill>
                <a:latin typeface="Arial MT"/>
                <a:cs typeface="Arial MT"/>
              </a:rPr>
              <a:t>is</a:t>
            </a:r>
            <a:r>
              <a:rPr lang="en-US" sz="1800" spc="-5" dirty="0">
                <a:solidFill>
                  <a:srgbClr val="333333"/>
                </a:solidFill>
                <a:latin typeface="Arial MT"/>
                <a:cs typeface="Arial MT"/>
              </a:rPr>
              <a:t> </a:t>
            </a:r>
            <a:r>
              <a:rPr lang="en-US" sz="1800" spc="-10" dirty="0">
                <a:solidFill>
                  <a:srgbClr val="333333"/>
                </a:solidFill>
                <a:latin typeface="Arial MT"/>
                <a:cs typeface="Arial MT"/>
              </a:rPr>
              <a:t>called.</a:t>
            </a:r>
          </a:p>
          <a:p>
            <a:pPr marL="12700" marR="5080">
              <a:lnSpc>
                <a:spcPct val="114000"/>
              </a:lnSpc>
              <a:spcBef>
                <a:spcPts val="100"/>
              </a:spcBef>
            </a:pPr>
            <a:r>
              <a:rPr lang="en-US" sz="1800" dirty="0">
                <a:solidFill>
                  <a:srgbClr val="333333"/>
                </a:solidFill>
                <a:latin typeface="Arial MT"/>
                <a:cs typeface="Arial MT"/>
              </a:rPr>
              <a:t>If</a:t>
            </a:r>
            <a:r>
              <a:rPr lang="en-US" sz="1800" spc="-30" dirty="0">
                <a:solidFill>
                  <a:srgbClr val="333333"/>
                </a:solidFill>
                <a:latin typeface="Arial MT"/>
                <a:cs typeface="Arial MT"/>
              </a:rPr>
              <a:t> </a:t>
            </a:r>
            <a:r>
              <a:rPr lang="en-US" sz="1800" dirty="0">
                <a:solidFill>
                  <a:srgbClr val="333333"/>
                </a:solidFill>
                <a:latin typeface="Arial MT"/>
                <a:cs typeface="Arial MT"/>
              </a:rPr>
              <a:t>the</a:t>
            </a:r>
            <a:r>
              <a:rPr lang="en-US" sz="1800" spc="-15" dirty="0">
                <a:solidFill>
                  <a:srgbClr val="333333"/>
                </a:solidFill>
                <a:latin typeface="Arial MT"/>
                <a:cs typeface="Arial MT"/>
              </a:rPr>
              <a:t> </a:t>
            </a:r>
            <a:r>
              <a:rPr lang="en-US" sz="1800" dirty="0">
                <a:solidFill>
                  <a:srgbClr val="333333"/>
                </a:solidFill>
                <a:latin typeface="Arial MT"/>
                <a:cs typeface="Arial MT"/>
              </a:rPr>
              <a:t>join</a:t>
            </a:r>
            <a:r>
              <a:rPr lang="en-US" sz="1800" spc="-15" dirty="0">
                <a:solidFill>
                  <a:srgbClr val="333333"/>
                </a:solidFill>
                <a:latin typeface="Arial MT"/>
                <a:cs typeface="Arial MT"/>
              </a:rPr>
              <a:t> </a:t>
            </a:r>
            <a:r>
              <a:rPr lang="en-US" sz="1800" dirty="0">
                <a:solidFill>
                  <a:srgbClr val="333333"/>
                </a:solidFill>
                <a:latin typeface="Arial MT"/>
                <a:cs typeface="Arial MT"/>
              </a:rPr>
              <a:t>is</a:t>
            </a:r>
            <a:r>
              <a:rPr lang="en-US" sz="1800" spc="-15" dirty="0">
                <a:solidFill>
                  <a:srgbClr val="333333"/>
                </a:solidFill>
                <a:latin typeface="Arial MT"/>
                <a:cs typeface="Arial MT"/>
              </a:rPr>
              <a:t> </a:t>
            </a:r>
            <a:r>
              <a:rPr lang="en-US" sz="1800" dirty="0">
                <a:solidFill>
                  <a:srgbClr val="333333"/>
                </a:solidFill>
                <a:latin typeface="Arial MT"/>
                <a:cs typeface="Arial MT"/>
              </a:rPr>
              <a:t>successful,</a:t>
            </a:r>
            <a:r>
              <a:rPr lang="en-US" sz="1800" spc="-20" dirty="0">
                <a:solidFill>
                  <a:srgbClr val="333333"/>
                </a:solidFill>
                <a:latin typeface="Arial MT"/>
                <a:cs typeface="Arial MT"/>
              </a:rPr>
              <a:t> </a:t>
            </a:r>
            <a:r>
              <a:rPr lang="en-US" sz="1800" dirty="0">
                <a:solidFill>
                  <a:srgbClr val="333333"/>
                </a:solidFill>
                <a:latin typeface="Arial MT"/>
                <a:cs typeface="Arial MT"/>
              </a:rPr>
              <a:t>it</a:t>
            </a:r>
            <a:r>
              <a:rPr lang="en-US" sz="1800" spc="-15" dirty="0">
                <a:solidFill>
                  <a:srgbClr val="333333"/>
                </a:solidFill>
                <a:latin typeface="Arial MT"/>
                <a:cs typeface="Arial MT"/>
              </a:rPr>
              <a:t> </a:t>
            </a:r>
            <a:r>
              <a:rPr lang="en-US" sz="1800" dirty="0">
                <a:solidFill>
                  <a:srgbClr val="333333"/>
                </a:solidFill>
                <a:latin typeface="Arial MT"/>
                <a:cs typeface="Arial MT"/>
              </a:rPr>
              <a:t>returns</a:t>
            </a:r>
            <a:r>
              <a:rPr lang="en-US" sz="1800" spc="-15" dirty="0">
                <a:solidFill>
                  <a:srgbClr val="333333"/>
                </a:solidFill>
                <a:latin typeface="Arial MT"/>
                <a:cs typeface="Arial MT"/>
              </a:rPr>
              <a:t> </a:t>
            </a:r>
            <a:r>
              <a:rPr lang="en-US" sz="1800" dirty="0">
                <a:solidFill>
                  <a:srgbClr val="333333"/>
                </a:solidFill>
                <a:latin typeface="Arial MT"/>
                <a:cs typeface="Arial MT"/>
              </a:rPr>
              <a:t>zero</a:t>
            </a:r>
            <a:r>
              <a:rPr lang="en-US" sz="1800" spc="-15" dirty="0">
                <a:solidFill>
                  <a:srgbClr val="333333"/>
                </a:solidFill>
                <a:latin typeface="Arial MT"/>
                <a:cs typeface="Arial MT"/>
              </a:rPr>
              <a:t> </a:t>
            </a:r>
            <a:r>
              <a:rPr lang="en-US" sz="1800" dirty="0">
                <a:solidFill>
                  <a:srgbClr val="333333"/>
                </a:solidFill>
                <a:latin typeface="Arial MT"/>
                <a:cs typeface="Arial MT"/>
              </a:rPr>
              <a:t>by</a:t>
            </a:r>
            <a:r>
              <a:rPr lang="en-US" sz="1800" spc="-15" dirty="0">
                <a:solidFill>
                  <a:srgbClr val="333333"/>
                </a:solidFill>
                <a:latin typeface="Arial MT"/>
                <a:cs typeface="Arial MT"/>
              </a:rPr>
              <a:t> </a:t>
            </a:r>
            <a:r>
              <a:rPr lang="en-US" sz="1800" spc="-10" dirty="0">
                <a:solidFill>
                  <a:srgbClr val="333333"/>
                </a:solidFill>
                <a:latin typeface="Arial MT"/>
                <a:cs typeface="Arial MT"/>
              </a:rPr>
              <a:t>default, </a:t>
            </a:r>
            <a:r>
              <a:rPr lang="en-US" sz="1800" dirty="0">
                <a:solidFill>
                  <a:srgbClr val="333333"/>
                </a:solidFill>
                <a:latin typeface="Arial MT"/>
                <a:cs typeface="Arial MT"/>
              </a:rPr>
              <a:t>otherwise</a:t>
            </a:r>
            <a:r>
              <a:rPr lang="en-US" sz="1800" spc="-20" dirty="0">
                <a:solidFill>
                  <a:srgbClr val="333333"/>
                </a:solidFill>
                <a:latin typeface="Arial MT"/>
                <a:cs typeface="Arial MT"/>
              </a:rPr>
              <a:t> </a:t>
            </a:r>
            <a:r>
              <a:rPr lang="en-US" sz="1800" dirty="0">
                <a:solidFill>
                  <a:srgbClr val="333333"/>
                </a:solidFill>
                <a:latin typeface="Arial MT"/>
                <a:cs typeface="Arial MT"/>
              </a:rPr>
              <a:t>an</a:t>
            </a:r>
            <a:r>
              <a:rPr lang="en-US" sz="1800" spc="-20" dirty="0">
                <a:solidFill>
                  <a:srgbClr val="333333"/>
                </a:solidFill>
                <a:latin typeface="Arial MT"/>
                <a:cs typeface="Arial MT"/>
              </a:rPr>
              <a:t> </a:t>
            </a:r>
            <a:r>
              <a:rPr lang="en-US" sz="1800" dirty="0">
                <a:solidFill>
                  <a:srgbClr val="333333"/>
                </a:solidFill>
                <a:latin typeface="Arial MT"/>
                <a:cs typeface="Arial MT"/>
              </a:rPr>
              <a:t>error</a:t>
            </a:r>
            <a:r>
              <a:rPr lang="en-US" sz="1800" spc="-20" dirty="0">
                <a:solidFill>
                  <a:srgbClr val="333333"/>
                </a:solidFill>
                <a:latin typeface="Arial MT"/>
                <a:cs typeface="Arial MT"/>
              </a:rPr>
              <a:t> </a:t>
            </a:r>
            <a:r>
              <a:rPr lang="en-US" sz="1800" dirty="0">
                <a:solidFill>
                  <a:srgbClr val="333333"/>
                </a:solidFill>
                <a:latin typeface="Arial MT"/>
                <a:cs typeface="Arial MT"/>
              </a:rPr>
              <a:t>number</a:t>
            </a:r>
            <a:r>
              <a:rPr lang="en-US" sz="1800" spc="-20" dirty="0">
                <a:solidFill>
                  <a:srgbClr val="333333"/>
                </a:solidFill>
                <a:latin typeface="Arial MT"/>
                <a:cs typeface="Arial MT"/>
              </a:rPr>
              <a:t> </a:t>
            </a:r>
            <a:r>
              <a:rPr lang="en-US" sz="1800" dirty="0">
                <a:solidFill>
                  <a:srgbClr val="333333"/>
                </a:solidFill>
                <a:latin typeface="Arial MT"/>
                <a:cs typeface="Arial MT"/>
              </a:rPr>
              <a:t>will</a:t>
            </a:r>
            <a:r>
              <a:rPr lang="en-US" sz="1800" spc="-20" dirty="0">
                <a:solidFill>
                  <a:srgbClr val="333333"/>
                </a:solidFill>
                <a:latin typeface="Arial MT"/>
                <a:cs typeface="Arial MT"/>
              </a:rPr>
              <a:t> </a:t>
            </a:r>
            <a:r>
              <a:rPr lang="en-US" sz="1800" dirty="0">
                <a:solidFill>
                  <a:srgbClr val="333333"/>
                </a:solidFill>
                <a:latin typeface="Arial MT"/>
                <a:cs typeface="Arial MT"/>
              </a:rPr>
              <a:t>be</a:t>
            </a:r>
            <a:r>
              <a:rPr lang="en-US" sz="1800" spc="-20" dirty="0">
                <a:solidFill>
                  <a:srgbClr val="333333"/>
                </a:solidFill>
                <a:latin typeface="Arial MT"/>
                <a:cs typeface="Arial MT"/>
              </a:rPr>
              <a:t> </a:t>
            </a:r>
            <a:r>
              <a:rPr lang="en-US" sz="1800" spc="-10" dirty="0">
                <a:solidFill>
                  <a:srgbClr val="333333"/>
                </a:solidFill>
                <a:latin typeface="Arial MT"/>
                <a:cs typeface="Arial MT"/>
              </a:rPr>
              <a:t>return.</a:t>
            </a:r>
            <a:endParaRPr lang="en-US" sz="1800" dirty="0">
              <a:latin typeface="Arial MT"/>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2">
            <a:extLst>
              <a:ext uri="{FF2B5EF4-FFF2-40B4-BE49-F238E27FC236}">
                <a16:creationId xmlns:a16="http://schemas.microsoft.com/office/drawing/2014/main" id="{B73B0331-9D2D-3F66-0190-3B274EAE7AB2}"/>
              </a:ext>
            </a:extLst>
          </p:cNvPr>
          <p:cNvSpPr txBox="1">
            <a:spLocks noGrp="1"/>
          </p:cNvSpPr>
          <p:nvPr>
            <p:ph type="title"/>
          </p:nvPr>
        </p:nvSpPr>
        <p:spPr>
          <a:xfrm>
            <a:off x="410375" y="1435436"/>
            <a:ext cx="3521071"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Waiting</a:t>
            </a:r>
            <a:r>
              <a:rPr sz="1800" spc="-45" dirty="0"/>
              <a:t> </a:t>
            </a:r>
            <a:r>
              <a:rPr sz="1800" dirty="0"/>
              <a:t>for</a:t>
            </a:r>
            <a:r>
              <a:rPr sz="1800" spc="-40" dirty="0"/>
              <a:t> </a:t>
            </a:r>
            <a:r>
              <a:rPr sz="1800" dirty="0"/>
              <a:t>a</a:t>
            </a:r>
            <a:r>
              <a:rPr sz="1800" spc="-40" dirty="0"/>
              <a:t> </a:t>
            </a:r>
            <a:r>
              <a:rPr sz="1800" dirty="0"/>
              <a:t>Thread</a:t>
            </a:r>
            <a:r>
              <a:rPr sz="1800" spc="-40" dirty="0"/>
              <a:t> </a:t>
            </a:r>
            <a:r>
              <a:rPr sz="1800" dirty="0"/>
              <a:t>to</a:t>
            </a:r>
            <a:r>
              <a:rPr sz="1800" spc="-40" dirty="0"/>
              <a:t> </a:t>
            </a:r>
            <a:r>
              <a:rPr sz="1800" spc="-10" dirty="0"/>
              <a:t>Complete</a:t>
            </a:r>
            <a:endParaRPr sz="1800" dirty="0"/>
          </a:p>
        </p:txBody>
      </p:sp>
      <p:sp>
        <p:nvSpPr>
          <p:cNvPr id="13" name="object 13"/>
          <p:cNvSpPr txBox="1"/>
          <p:nvPr/>
        </p:nvSpPr>
        <p:spPr>
          <a:xfrm>
            <a:off x="457200" y="2367518"/>
            <a:ext cx="4230370" cy="3955506"/>
          </a:xfrm>
          <a:prstGeom prst="rect">
            <a:avLst/>
          </a:prstGeom>
        </p:spPr>
        <p:txBody>
          <a:bodyPr vert="horz" wrap="square" lIns="0" tIns="12700" rIns="0" bIns="0" rtlCol="0">
            <a:spAutoFit/>
          </a:bodyPr>
          <a:lstStyle/>
          <a:p>
            <a:pPr marR="5080">
              <a:lnSpc>
                <a:spcPct val="114000"/>
              </a:lnSpc>
              <a:spcBef>
                <a:spcPts val="2025"/>
              </a:spcBef>
            </a:pPr>
            <a:r>
              <a:rPr lang="en-US" sz="1800" b="1" dirty="0" err="1">
                <a:solidFill>
                  <a:srgbClr val="0F2044"/>
                </a:solidFill>
                <a:latin typeface="Arial"/>
                <a:cs typeface="Arial"/>
              </a:rPr>
              <a:t>pthread_join</a:t>
            </a:r>
            <a:r>
              <a:rPr lang="en-US" sz="1800" b="1" dirty="0">
                <a:solidFill>
                  <a:srgbClr val="0F2044"/>
                </a:solidFill>
                <a:latin typeface="Arial"/>
                <a:cs typeface="Arial"/>
              </a:rPr>
              <a:t>()</a:t>
            </a:r>
            <a:r>
              <a:rPr lang="en-US" sz="1800" b="1" spc="-35" dirty="0">
                <a:solidFill>
                  <a:srgbClr val="0F2044"/>
                </a:solidFill>
                <a:latin typeface="Arial"/>
                <a:cs typeface="Arial"/>
              </a:rPr>
              <a:t> </a:t>
            </a:r>
            <a:r>
              <a:rPr lang="en-US" sz="1800" dirty="0">
                <a:solidFill>
                  <a:srgbClr val="0F2044"/>
                </a:solidFill>
                <a:latin typeface="Arial MT"/>
                <a:cs typeface="Arial MT"/>
              </a:rPr>
              <a:t>is</a:t>
            </a:r>
            <a:r>
              <a:rPr lang="en-US" sz="1800" spc="-40" dirty="0">
                <a:solidFill>
                  <a:srgbClr val="0F2044"/>
                </a:solidFill>
                <a:latin typeface="Arial MT"/>
                <a:cs typeface="Arial MT"/>
              </a:rPr>
              <a:t> </a:t>
            </a:r>
            <a:r>
              <a:rPr lang="en-US" sz="1800" dirty="0">
                <a:solidFill>
                  <a:srgbClr val="0F2044"/>
                </a:solidFill>
                <a:latin typeface="Arial MT"/>
                <a:cs typeface="Arial MT"/>
              </a:rPr>
              <a:t>used</a:t>
            </a:r>
            <a:r>
              <a:rPr lang="en-US" sz="1800" spc="-30" dirty="0">
                <a:solidFill>
                  <a:srgbClr val="0F2044"/>
                </a:solidFill>
                <a:latin typeface="Arial MT"/>
                <a:cs typeface="Arial MT"/>
              </a:rPr>
              <a:t> </a:t>
            </a:r>
            <a:r>
              <a:rPr lang="en-US" sz="1800" dirty="0">
                <a:solidFill>
                  <a:srgbClr val="0F2044"/>
                </a:solidFill>
                <a:latin typeface="Arial MT"/>
                <a:cs typeface="Arial MT"/>
              </a:rPr>
              <a:t>to</a:t>
            </a:r>
            <a:r>
              <a:rPr lang="en-US" sz="1800" spc="-35" dirty="0">
                <a:solidFill>
                  <a:srgbClr val="0F2044"/>
                </a:solidFill>
                <a:latin typeface="Arial MT"/>
                <a:cs typeface="Arial MT"/>
              </a:rPr>
              <a:t> </a:t>
            </a:r>
            <a:r>
              <a:rPr lang="en-US" sz="1800" dirty="0">
                <a:solidFill>
                  <a:srgbClr val="0F2044"/>
                </a:solidFill>
                <a:latin typeface="Arial MT"/>
                <a:cs typeface="Arial MT"/>
              </a:rPr>
              <a:t>wait</a:t>
            </a:r>
            <a:r>
              <a:rPr lang="en-US" sz="1800" spc="-30" dirty="0">
                <a:solidFill>
                  <a:srgbClr val="0F2044"/>
                </a:solidFill>
                <a:latin typeface="Arial MT"/>
                <a:cs typeface="Arial MT"/>
              </a:rPr>
              <a:t> </a:t>
            </a:r>
            <a:r>
              <a:rPr lang="en-US" sz="1800" dirty="0">
                <a:solidFill>
                  <a:srgbClr val="0F2044"/>
                </a:solidFill>
                <a:latin typeface="Arial MT"/>
                <a:cs typeface="Arial MT"/>
              </a:rPr>
              <a:t>for</a:t>
            </a:r>
            <a:r>
              <a:rPr lang="en-US" sz="1800" spc="-35" dirty="0">
                <a:solidFill>
                  <a:srgbClr val="0F2044"/>
                </a:solidFill>
                <a:latin typeface="Arial MT"/>
                <a:cs typeface="Arial MT"/>
              </a:rPr>
              <a:t> </a:t>
            </a:r>
            <a:r>
              <a:rPr lang="en-US" sz="1800" spc="-50" dirty="0">
                <a:solidFill>
                  <a:srgbClr val="0F2044"/>
                </a:solidFill>
                <a:latin typeface="Arial MT"/>
                <a:cs typeface="Arial MT"/>
              </a:rPr>
              <a:t>a </a:t>
            </a:r>
            <a:r>
              <a:rPr lang="en-US" sz="1800" dirty="0">
                <a:solidFill>
                  <a:srgbClr val="0F2044"/>
                </a:solidFill>
                <a:latin typeface="Arial MT"/>
                <a:cs typeface="Arial MT"/>
              </a:rPr>
              <a:t>specific</a:t>
            </a:r>
            <a:r>
              <a:rPr lang="en-US" sz="1800" spc="-20" dirty="0">
                <a:solidFill>
                  <a:srgbClr val="0F2044"/>
                </a:solidFill>
                <a:latin typeface="Arial MT"/>
                <a:cs typeface="Arial MT"/>
              </a:rPr>
              <a:t> </a:t>
            </a:r>
            <a:r>
              <a:rPr lang="en-US" sz="1800" dirty="0">
                <a:solidFill>
                  <a:srgbClr val="0F2044"/>
                </a:solidFill>
                <a:latin typeface="Arial MT"/>
                <a:cs typeface="Arial MT"/>
              </a:rPr>
              <a:t>thread</a:t>
            </a:r>
            <a:r>
              <a:rPr lang="en-US" sz="1800" spc="-15" dirty="0">
                <a:solidFill>
                  <a:srgbClr val="0F2044"/>
                </a:solidFill>
                <a:latin typeface="Arial MT"/>
                <a:cs typeface="Arial MT"/>
              </a:rPr>
              <a:t> </a:t>
            </a:r>
            <a:r>
              <a:rPr lang="en-US" sz="1800" dirty="0">
                <a:solidFill>
                  <a:srgbClr val="0F2044"/>
                </a:solidFill>
                <a:latin typeface="Arial MT"/>
                <a:cs typeface="Arial MT"/>
              </a:rPr>
              <a:t>to</a:t>
            </a:r>
            <a:r>
              <a:rPr lang="en-US" sz="1800" spc="-15" dirty="0">
                <a:solidFill>
                  <a:srgbClr val="0F2044"/>
                </a:solidFill>
                <a:latin typeface="Arial MT"/>
                <a:cs typeface="Arial MT"/>
              </a:rPr>
              <a:t> </a:t>
            </a:r>
            <a:r>
              <a:rPr lang="en-US" sz="1800" dirty="0">
                <a:solidFill>
                  <a:srgbClr val="0F2044"/>
                </a:solidFill>
                <a:latin typeface="Arial MT"/>
                <a:cs typeface="Arial MT"/>
              </a:rPr>
              <a:t>finish</a:t>
            </a:r>
            <a:r>
              <a:rPr lang="en-US" sz="1800" spc="-15" dirty="0">
                <a:solidFill>
                  <a:srgbClr val="0F2044"/>
                </a:solidFill>
                <a:latin typeface="Arial MT"/>
                <a:cs typeface="Arial MT"/>
              </a:rPr>
              <a:t> </a:t>
            </a:r>
            <a:r>
              <a:rPr lang="en-US" sz="1800" dirty="0">
                <a:solidFill>
                  <a:srgbClr val="0F2044"/>
                </a:solidFill>
                <a:latin typeface="Arial MT"/>
                <a:cs typeface="Arial MT"/>
              </a:rPr>
              <a:t>its</a:t>
            </a:r>
            <a:r>
              <a:rPr lang="en-US" sz="1800" spc="-15" dirty="0">
                <a:solidFill>
                  <a:srgbClr val="0F2044"/>
                </a:solidFill>
                <a:latin typeface="Arial MT"/>
                <a:cs typeface="Arial MT"/>
              </a:rPr>
              <a:t> </a:t>
            </a:r>
            <a:r>
              <a:rPr lang="en-US" sz="1800" spc="-10" dirty="0">
                <a:solidFill>
                  <a:srgbClr val="0F2044"/>
                </a:solidFill>
                <a:latin typeface="Arial MT"/>
                <a:cs typeface="Arial MT"/>
              </a:rPr>
              <a:t>execution </a:t>
            </a:r>
            <a:r>
              <a:rPr lang="en-US" sz="1800" dirty="0">
                <a:solidFill>
                  <a:srgbClr val="0F2044"/>
                </a:solidFill>
                <a:latin typeface="Arial MT"/>
                <a:cs typeface="Arial MT"/>
              </a:rPr>
              <a:t>before</a:t>
            </a:r>
            <a:r>
              <a:rPr lang="en-US" sz="1800" spc="-35" dirty="0">
                <a:solidFill>
                  <a:srgbClr val="0F2044"/>
                </a:solidFill>
                <a:latin typeface="Arial MT"/>
                <a:cs typeface="Arial MT"/>
              </a:rPr>
              <a:t> </a:t>
            </a:r>
            <a:r>
              <a:rPr lang="en-US" sz="1800" dirty="0">
                <a:solidFill>
                  <a:srgbClr val="0F2044"/>
                </a:solidFill>
                <a:latin typeface="Arial MT"/>
                <a:cs typeface="Arial MT"/>
              </a:rPr>
              <a:t>continuing</a:t>
            </a:r>
            <a:r>
              <a:rPr lang="en-US" sz="1800" spc="-30" dirty="0">
                <a:solidFill>
                  <a:srgbClr val="0F2044"/>
                </a:solidFill>
                <a:latin typeface="Arial MT"/>
                <a:cs typeface="Arial MT"/>
              </a:rPr>
              <a:t> </a:t>
            </a:r>
            <a:r>
              <a:rPr lang="en-US" sz="1800" dirty="0">
                <a:solidFill>
                  <a:srgbClr val="0F2044"/>
                </a:solidFill>
                <a:latin typeface="Arial MT"/>
                <a:cs typeface="Arial MT"/>
              </a:rPr>
              <a:t>with</a:t>
            </a:r>
            <a:r>
              <a:rPr lang="en-US" sz="1800" spc="-35" dirty="0">
                <a:solidFill>
                  <a:srgbClr val="0F2044"/>
                </a:solidFill>
                <a:latin typeface="Arial MT"/>
                <a:cs typeface="Arial MT"/>
              </a:rPr>
              <a:t> </a:t>
            </a:r>
            <a:r>
              <a:rPr lang="en-US" sz="1800" dirty="0">
                <a:solidFill>
                  <a:srgbClr val="0F2044"/>
                </a:solidFill>
                <a:latin typeface="Arial MT"/>
                <a:cs typeface="Arial MT"/>
              </a:rPr>
              <a:t>the</a:t>
            </a:r>
            <a:r>
              <a:rPr lang="en-US" sz="1800" spc="-30" dirty="0">
                <a:solidFill>
                  <a:srgbClr val="0F2044"/>
                </a:solidFill>
                <a:latin typeface="Arial MT"/>
                <a:cs typeface="Arial MT"/>
              </a:rPr>
              <a:t> </a:t>
            </a:r>
            <a:r>
              <a:rPr lang="en-US" sz="1800" dirty="0">
                <a:solidFill>
                  <a:srgbClr val="0F2044"/>
                </a:solidFill>
                <a:latin typeface="Arial MT"/>
                <a:cs typeface="Arial MT"/>
              </a:rPr>
              <a:t>execution</a:t>
            </a:r>
            <a:r>
              <a:rPr lang="en-US" sz="1800" spc="-30" dirty="0">
                <a:solidFill>
                  <a:srgbClr val="0F2044"/>
                </a:solidFill>
                <a:latin typeface="Arial MT"/>
                <a:cs typeface="Arial MT"/>
              </a:rPr>
              <a:t> </a:t>
            </a:r>
            <a:r>
              <a:rPr lang="en-US" sz="1800" spc="-25" dirty="0">
                <a:solidFill>
                  <a:srgbClr val="0F2044"/>
                </a:solidFill>
                <a:latin typeface="Arial MT"/>
                <a:cs typeface="Arial MT"/>
              </a:rPr>
              <a:t>of </a:t>
            </a:r>
            <a:r>
              <a:rPr lang="en-US" sz="1800" dirty="0">
                <a:solidFill>
                  <a:srgbClr val="0F2044"/>
                </a:solidFill>
                <a:latin typeface="Arial MT"/>
                <a:cs typeface="Arial MT"/>
              </a:rPr>
              <a:t>the</a:t>
            </a:r>
            <a:r>
              <a:rPr lang="en-US" sz="1800" spc="-35" dirty="0">
                <a:solidFill>
                  <a:srgbClr val="0F2044"/>
                </a:solidFill>
                <a:latin typeface="Arial MT"/>
                <a:cs typeface="Arial MT"/>
              </a:rPr>
              <a:t> </a:t>
            </a:r>
            <a:r>
              <a:rPr lang="en-US" sz="1800" dirty="0">
                <a:solidFill>
                  <a:srgbClr val="0F2044"/>
                </a:solidFill>
                <a:latin typeface="Arial MT"/>
                <a:cs typeface="Arial MT"/>
              </a:rPr>
              <a:t>calling</a:t>
            </a:r>
            <a:r>
              <a:rPr lang="en-US" sz="1800" spc="-25" dirty="0">
                <a:solidFill>
                  <a:srgbClr val="0F2044"/>
                </a:solidFill>
                <a:latin typeface="Arial MT"/>
                <a:cs typeface="Arial MT"/>
              </a:rPr>
              <a:t> </a:t>
            </a:r>
            <a:r>
              <a:rPr lang="en-US" sz="1800" spc="-10" dirty="0">
                <a:solidFill>
                  <a:srgbClr val="0F2044"/>
                </a:solidFill>
                <a:latin typeface="Arial MT"/>
                <a:cs typeface="Arial MT"/>
              </a:rPr>
              <a:t>thread.</a:t>
            </a:r>
            <a:endParaRPr lang="en-US" sz="1800" dirty="0">
              <a:latin typeface="Arial MT"/>
              <a:cs typeface="Arial MT"/>
            </a:endParaRPr>
          </a:p>
          <a:p>
            <a:pPr>
              <a:lnSpc>
                <a:spcPct val="114000"/>
              </a:lnSpc>
              <a:spcBef>
                <a:spcPts val="85"/>
              </a:spcBef>
            </a:pPr>
            <a:endParaRPr lang="en-US" sz="1800" dirty="0">
              <a:latin typeface="Arial MT"/>
              <a:cs typeface="Arial MT"/>
            </a:endParaRPr>
          </a:p>
          <a:p>
            <a:pPr>
              <a:lnSpc>
                <a:spcPct val="114000"/>
              </a:lnSpc>
              <a:spcBef>
                <a:spcPts val="5"/>
              </a:spcBef>
              <a:spcAft>
                <a:spcPts val="1200"/>
              </a:spcAft>
            </a:pPr>
            <a:r>
              <a:rPr lang="en-US" sz="1800" dirty="0">
                <a:solidFill>
                  <a:srgbClr val="980000"/>
                </a:solidFill>
                <a:latin typeface="Arial MT"/>
                <a:cs typeface="Arial MT"/>
              </a:rPr>
              <a:t>If</a:t>
            </a:r>
            <a:r>
              <a:rPr lang="en-US" sz="1800" spc="-35" dirty="0">
                <a:solidFill>
                  <a:srgbClr val="980000"/>
                </a:solidFill>
                <a:latin typeface="Arial MT"/>
                <a:cs typeface="Arial MT"/>
              </a:rPr>
              <a:t> </a:t>
            </a:r>
            <a:r>
              <a:rPr lang="en-US" sz="1800" dirty="0">
                <a:solidFill>
                  <a:srgbClr val="980000"/>
                </a:solidFill>
                <a:latin typeface="Arial MT"/>
                <a:cs typeface="Arial MT"/>
              </a:rPr>
              <a:t>you</a:t>
            </a:r>
            <a:r>
              <a:rPr lang="en-US" sz="1800" spc="-20" dirty="0">
                <a:solidFill>
                  <a:srgbClr val="980000"/>
                </a:solidFill>
                <a:latin typeface="Arial MT"/>
                <a:cs typeface="Arial MT"/>
              </a:rPr>
              <a:t> </a:t>
            </a:r>
            <a:r>
              <a:rPr lang="en-US" sz="1800" dirty="0">
                <a:solidFill>
                  <a:srgbClr val="980000"/>
                </a:solidFill>
                <a:latin typeface="Arial MT"/>
                <a:cs typeface="Arial MT"/>
              </a:rPr>
              <a:t>don’t</a:t>
            </a:r>
            <a:r>
              <a:rPr lang="en-US" sz="1800" spc="-20" dirty="0">
                <a:solidFill>
                  <a:srgbClr val="980000"/>
                </a:solidFill>
                <a:latin typeface="Arial MT"/>
                <a:cs typeface="Arial MT"/>
              </a:rPr>
              <a:t> </a:t>
            </a:r>
            <a:r>
              <a:rPr lang="en-US" sz="1800" dirty="0">
                <a:solidFill>
                  <a:srgbClr val="980000"/>
                </a:solidFill>
                <a:latin typeface="Arial MT"/>
                <a:cs typeface="Arial MT"/>
              </a:rPr>
              <a:t>include </a:t>
            </a:r>
            <a:r>
              <a:rPr lang="en-US" sz="1800" b="1" spc="-10" dirty="0" err="1">
                <a:solidFill>
                  <a:srgbClr val="980000"/>
                </a:solidFill>
                <a:latin typeface="Arial"/>
                <a:cs typeface="Arial"/>
              </a:rPr>
              <a:t>pthread_join</a:t>
            </a:r>
            <a:r>
              <a:rPr lang="en-US" sz="1800" spc="-10" dirty="0">
                <a:solidFill>
                  <a:srgbClr val="980000"/>
                </a:solidFill>
                <a:latin typeface="Arial MT"/>
                <a:cs typeface="Arial MT"/>
              </a:rPr>
              <a:t>:</a:t>
            </a:r>
            <a:endParaRPr lang="en-US" sz="1800" dirty="0">
              <a:solidFill>
                <a:srgbClr val="0F2044"/>
              </a:solidFill>
              <a:latin typeface="Arial MT"/>
              <a:cs typeface="Arial MT"/>
            </a:endParaRPr>
          </a:p>
          <a:p>
            <a:pPr marL="12700" marR="5080">
              <a:lnSpc>
                <a:spcPct val="114000"/>
              </a:lnSpc>
              <a:spcBef>
                <a:spcPts val="100"/>
              </a:spcBef>
            </a:pPr>
            <a:r>
              <a:rPr sz="1800" dirty="0">
                <a:solidFill>
                  <a:srgbClr val="0F2044"/>
                </a:solidFill>
                <a:latin typeface="Arial MT"/>
                <a:cs typeface="Arial MT"/>
              </a:rPr>
              <a:t>The</a:t>
            </a:r>
            <a:r>
              <a:rPr sz="1800" spc="-30" dirty="0">
                <a:solidFill>
                  <a:srgbClr val="0F2044"/>
                </a:solidFill>
                <a:latin typeface="Arial MT"/>
                <a:cs typeface="Arial MT"/>
              </a:rPr>
              <a:t> </a:t>
            </a:r>
            <a:r>
              <a:rPr sz="1800" dirty="0">
                <a:solidFill>
                  <a:srgbClr val="0F2044"/>
                </a:solidFill>
                <a:latin typeface="Arial MT"/>
                <a:cs typeface="Arial MT"/>
              </a:rPr>
              <a:t>main</a:t>
            </a:r>
            <a:r>
              <a:rPr sz="1800" spc="-15" dirty="0">
                <a:solidFill>
                  <a:srgbClr val="0F2044"/>
                </a:solidFill>
                <a:latin typeface="Arial MT"/>
                <a:cs typeface="Arial MT"/>
              </a:rPr>
              <a:t> </a:t>
            </a:r>
            <a:r>
              <a:rPr sz="1800" dirty="0">
                <a:solidFill>
                  <a:srgbClr val="0F2044"/>
                </a:solidFill>
                <a:latin typeface="Arial MT"/>
                <a:cs typeface="Arial MT"/>
              </a:rPr>
              <a:t>thread</a:t>
            </a:r>
            <a:r>
              <a:rPr sz="1800" spc="-15" dirty="0">
                <a:solidFill>
                  <a:srgbClr val="0F2044"/>
                </a:solidFill>
                <a:latin typeface="Arial MT"/>
                <a:cs typeface="Arial MT"/>
              </a:rPr>
              <a:t> </a:t>
            </a:r>
            <a:r>
              <a:rPr sz="1800" dirty="0">
                <a:solidFill>
                  <a:srgbClr val="0F2044"/>
                </a:solidFill>
                <a:latin typeface="Arial MT"/>
                <a:cs typeface="Arial MT"/>
              </a:rPr>
              <a:t>(or</a:t>
            </a:r>
            <a:r>
              <a:rPr sz="1800" spc="-15" dirty="0">
                <a:solidFill>
                  <a:srgbClr val="0F2044"/>
                </a:solidFill>
                <a:latin typeface="Arial MT"/>
                <a:cs typeface="Arial MT"/>
              </a:rPr>
              <a:t> </a:t>
            </a:r>
            <a:r>
              <a:rPr sz="1800" dirty="0">
                <a:solidFill>
                  <a:srgbClr val="0F2044"/>
                </a:solidFill>
                <a:latin typeface="Arial MT"/>
                <a:cs typeface="Arial MT"/>
              </a:rPr>
              <a:t>any</a:t>
            </a:r>
            <a:r>
              <a:rPr sz="1800" spc="-15" dirty="0">
                <a:solidFill>
                  <a:srgbClr val="0F2044"/>
                </a:solidFill>
                <a:latin typeface="Arial MT"/>
                <a:cs typeface="Arial MT"/>
              </a:rPr>
              <a:t> </a:t>
            </a:r>
            <a:r>
              <a:rPr sz="1800" dirty="0">
                <a:solidFill>
                  <a:srgbClr val="0F2044"/>
                </a:solidFill>
                <a:latin typeface="Arial MT"/>
                <a:cs typeface="Arial MT"/>
              </a:rPr>
              <a:t>other</a:t>
            </a:r>
            <a:r>
              <a:rPr sz="1800" spc="-15" dirty="0">
                <a:solidFill>
                  <a:srgbClr val="0F2044"/>
                </a:solidFill>
                <a:latin typeface="Arial MT"/>
                <a:cs typeface="Arial MT"/>
              </a:rPr>
              <a:t> </a:t>
            </a:r>
            <a:r>
              <a:rPr sz="1800" dirty="0">
                <a:solidFill>
                  <a:srgbClr val="0F2044"/>
                </a:solidFill>
                <a:latin typeface="Arial MT"/>
                <a:cs typeface="Arial MT"/>
              </a:rPr>
              <a:t>thread</a:t>
            </a:r>
            <a:r>
              <a:rPr sz="1800" spc="-15" dirty="0">
                <a:solidFill>
                  <a:srgbClr val="0F2044"/>
                </a:solidFill>
                <a:latin typeface="Arial MT"/>
                <a:cs typeface="Arial MT"/>
              </a:rPr>
              <a:t> </a:t>
            </a:r>
            <a:r>
              <a:rPr sz="1800" spc="-20" dirty="0">
                <a:solidFill>
                  <a:srgbClr val="0F2044"/>
                </a:solidFill>
                <a:latin typeface="Arial MT"/>
                <a:cs typeface="Arial MT"/>
              </a:rPr>
              <a:t>that </a:t>
            </a:r>
            <a:r>
              <a:rPr sz="1800" dirty="0">
                <a:solidFill>
                  <a:srgbClr val="0F2044"/>
                </a:solidFill>
                <a:latin typeface="Arial MT"/>
                <a:cs typeface="Arial MT"/>
              </a:rPr>
              <a:t>spawned</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thread)</a:t>
            </a:r>
            <a:r>
              <a:rPr sz="1800" spc="-15" dirty="0">
                <a:solidFill>
                  <a:srgbClr val="0F2044"/>
                </a:solidFill>
                <a:latin typeface="Arial MT"/>
                <a:cs typeface="Arial MT"/>
              </a:rPr>
              <a:t> </a:t>
            </a:r>
            <a:r>
              <a:rPr sz="1800" dirty="0">
                <a:solidFill>
                  <a:srgbClr val="0F2044"/>
                </a:solidFill>
                <a:latin typeface="Arial MT"/>
                <a:cs typeface="Arial MT"/>
              </a:rPr>
              <a:t>may</a:t>
            </a:r>
            <a:r>
              <a:rPr sz="1800" spc="-15" dirty="0">
                <a:solidFill>
                  <a:srgbClr val="0F2044"/>
                </a:solidFill>
                <a:latin typeface="Arial MT"/>
                <a:cs typeface="Arial MT"/>
              </a:rPr>
              <a:t> </a:t>
            </a:r>
            <a:r>
              <a:rPr sz="1800" spc="-10" dirty="0">
                <a:solidFill>
                  <a:srgbClr val="0F2044"/>
                </a:solidFill>
                <a:latin typeface="Arial MT"/>
                <a:cs typeface="Arial MT"/>
              </a:rPr>
              <a:t>continue </a:t>
            </a:r>
            <a:r>
              <a:rPr sz="1800" dirty="0">
                <a:solidFill>
                  <a:srgbClr val="0F2044"/>
                </a:solidFill>
                <a:latin typeface="Arial MT"/>
                <a:cs typeface="Arial MT"/>
              </a:rPr>
              <a:t>execution</a:t>
            </a:r>
            <a:r>
              <a:rPr sz="1800" spc="-30" dirty="0">
                <a:solidFill>
                  <a:srgbClr val="0F2044"/>
                </a:solidFill>
                <a:latin typeface="Arial MT"/>
                <a:cs typeface="Arial MT"/>
              </a:rPr>
              <a:t> </a:t>
            </a:r>
            <a:r>
              <a:rPr sz="1800" dirty="0">
                <a:solidFill>
                  <a:srgbClr val="0F2044"/>
                </a:solidFill>
                <a:latin typeface="Arial MT"/>
                <a:cs typeface="Arial MT"/>
              </a:rPr>
              <a:t>regardless</a:t>
            </a:r>
            <a:r>
              <a:rPr sz="1800" spc="-15"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whether</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spc="-10" dirty="0">
                <a:solidFill>
                  <a:srgbClr val="0F2044"/>
                </a:solidFill>
                <a:latin typeface="Arial MT"/>
                <a:cs typeface="Arial MT"/>
              </a:rPr>
              <a:t>other </a:t>
            </a:r>
            <a:r>
              <a:rPr sz="1800" dirty="0">
                <a:solidFill>
                  <a:srgbClr val="0F2044"/>
                </a:solidFill>
                <a:latin typeface="Arial MT"/>
                <a:cs typeface="Arial MT"/>
              </a:rPr>
              <a:t>thread</a:t>
            </a:r>
            <a:r>
              <a:rPr sz="1800" spc="-35" dirty="0">
                <a:solidFill>
                  <a:srgbClr val="0F2044"/>
                </a:solidFill>
                <a:latin typeface="Arial MT"/>
                <a:cs typeface="Arial MT"/>
              </a:rPr>
              <a:t> </a:t>
            </a:r>
            <a:r>
              <a:rPr sz="1800" dirty="0">
                <a:solidFill>
                  <a:srgbClr val="0F2044"/>
                </a:solidFill>
                <a:latin typeface="Arial MT"/>
                <a:cs typeface="Arial MT"/>
              </a:rPr>
              <a:t>has</a:t>
            </a:r>
            <a:r>
              <a:rPr sz="1800" spc="-20" dirty="0">
                <a:solidFill>
                  <a:srgbClr val="0F2044"/>
                </a:solidFill>
                <a:latin typeface="Arial MT"/>
                <a:cs typeface="Arial MT"/>
              </a:rPr>
              <a:t> </a:t>
            </a:r>
            <a:r>
              <a:rPr sz="1800" dirty="0">
                <a:solidFill>
                  <a:srgbClr val="0F2044"/>
                </a:solidFill>
                <a:latin typeface="Arial MT"/>
                <a:cs typeface="Arial MT"/>
              </a:rPr>
              <a:t>finished.</a:t>
            </a:r>
            <a:r>
              <a:rPr sz="1800" spc="-50" dirty="0">
                <a:solidFill>
                  <a:srgbClr val="0F2044"/>
                </a:solidFill>
                <a:latin typeface="Arial MT"/>
                <a:cs typeface="Arial MT"/>
              </a:rPr>
              <a:t> </a:t>
            </a:r>
            <a:r>
              <a:rPr sz="1800" dirty="0">
                <a:solidFill>
                  <a:srgbClr val="0F2044"/>
                </a:solidFill>
                <a:latin typeface="Arial MT"/>
                <a:cs typeface="Arial MT"/>
              </a:rPr>
              <a:t>This</a:t>
            </a:r>
            <a:r>
              <a:rPr sz="1800" spc="-20" dirty="0">
                <a:solidFill>
                  <a:srgbClr val="0F2044"/>
                </a:solidFill>
                <a:latin typeface="Arial MT"/>
                <a:cs typeface="Arial MT"/>
              </a:rPr>
              <a:t> </a:t>
            </a:r>
            <a:r>
              <a:rPr sz="1800" dirty="0">
                <a:solidFill>
                  <a:srgbClr val="0F2044"/>
                </a:solidFill>
                <a:latin typeface="Arial MT"/>
                <a:cs typeface="Arial MT"/>
              </a:rPr>
              <a:t>can</a:t>
            </a:r>
            <a:r>
              <a:rPr sz="1800" spc="-20" dirty="0">
                <a:solidFill>
                  <a:srgbClr val="0F2044"/>
                </a:solidFill>
                <a:latin typeface="Arial MT"/>
                <a:cs typeface="Arial MT"/>
              </a:rPr>
              <a:t> </a:t>
            </a:r>
            <a:r>
              <a:rPr sz="1800" dirty="0">
                <a:solidFill>
                  <a:srgbClr val="0F2044"/>
                </a:solidFill>
                <a:latin typeface="Arial MT"/>
                <a:cs typeface="Arial MT"/>
              </a:rPr>
              <a:t>lead</a:t>
            </a:r>
            <a:r>
              <a:rPr sz="1800" spc="-20" dirty="0">
                <a:solidFill>
                  <a:srgbClr val="0F2044"/>
                </a:solidFill>
                <a:latin typeface="Arial MT"/>
                <a:cs typeface="Arial MT"/>
              </a:rPr>
              <a:t> </a:t>
            </a:r>
            <a:r>
              <a:rPr sz="1800" spc="-25" dirty="0">
                <a:solidFill>
                  <a:srgbClr val="0F2044"/>
                </a:solidFill>
                <a:latin typeface="Arial MT"/>
                <a:cs typeface="Arial MT"/>
              </a:rPr>
              <a:t>to </a:t>
            </a:r>
            <a:r>
              <a:rPr sz="1800" dirty="0">
                <a:solidFill>
                  <a:srgbClr val="0F2044"/>
                </a:solidFill>
                <a:latin typeface="Arial MT"/>
                <a:cs typeface="Arial MT"/>
              </a:rPr>
              <a:t>potential</a:t>
            </a:r>
            <a:r>
              <a:rPr sz="1800" spc="-20" dirty="0">
                <a:solidFill>
                  <a:srgbClr val="0F2044"/>
                </a:solidFill>
                <a:latin typeface="Arial MT"/>
                <a:cs typeface="Arial MT"/>
              </a:rPr>
              <a:t> </a:t>
            </a:r>
            <a:r>
              <a:rPr sz="1800" dirty="0">
                <a:solidFill>
                  <a:srgbClr val="0F2044"/>
                </a:solidFill>
                <a:latin typeface="Arial MT"/>
                <a:cs typeface="Arial MT"/>
              </a:rPr>
              <a:t>issues</a:t>
            </a:r>
            <a:r>
              <a:rPr sz="1800" spc="-20" dirty="0">
                <a:solidFill>
                  <a:srgbClr val="0F2044"/>
                </a:solidFill>
                <a:latin typeface="Arial MT"/>
                <a:cs typeface="Arial MT"/>
              </a:rPr>
              <a:t> </a:t>
            </a:r>
            <a:r>
              <a:rPr sz="1800" dirty="0">
                <a:solidFill>
                  <a:srgbClr val="0F2044"/>
                </a:solidFill>
                <a:latin typeface="Arial MT"/>
                <a:cs typeface="Arial MT"/>
              </a:rPr>
              <a:t>such</a:t>
            </a:r>
            <a:r>
              <a:rPr sz="1800" spc="-20" dirty="0">
                <a:solidFill>
                  <a:srgbClr val="0F2044"/>
                </a:solidFill>
                <a:latin typeface="Arial MT"/>
                <a:cs typeface="Arial MT"/>
              </a:rPr>
              <a:t> </a:t>
            </a:r>
            <a:r>
              <a:rPr sz="1800" dirty="0">
                <a:solidFill>
                  <a:srgbClr val="0F2044"/>
                </a:solidFill>
                <a:latin typeface="Arial MT"/>
                <a:cs typeface="Arial MT"/>
              </a:rPr>
              <a:t>as</a:t>
            </a:r>
            <a:r>
              <a:rPr sz="1800" spc="-5" dirty="0">
                <a:solidFill>
                  <a:srgbClr val="0F2044"/>
                </a:solidFill>
                <a:latin typeface="Arial MT"/>
                <a:cs typeface="Arial MT"/>
              </a:rPr>
              <a:t> </a:t>
            </a:r>
            <a:r>
              <a:rPr sz="1800" b="1" spc="-10" dirty="0">
                <a:solidFill>
                  <a:srgbClr val="A00C30"/>
                </a:solidFill>
                <a:latin typeface="Arial"/>
                <a:cs typeface="Arial"/>
              </a:rPr>
              <a:t>Resource </a:t>
            </a:r>
            <a:r>
              <a:rPr sz="1800" b="1" dirty="0">
                <a:solidFill>
                  <a:srgbClr val="A00C30"/>
                </a:solidFill>
                <a:latin typeface="Arial"/>
                <a:cs typeface="Arial"/>
              </a:rPr>
              <a:t>Leakage</a:t>
            </a:r>
            <a:r>
              <a:rPr sz="1800" b="1" spc="-45" dirty="0">
                <a:solidFill>
                  <a:srgbClr val="A00C30"/>
                </a:solidFill>
                <a:latin typeface="Arial"/>
                <a:cs typeface="Arial"/>
              </a:rPr>
              <a:t> </a:t>
            </a:r>
            <a:r>
              <a:rPr sz="1800" dirty="0">
                <a:solidFill>
                  <a:srgbClr val="0F2044"/>
                </a:solidFill>
                <a:latin typeface="Arial MT"/>
                <a:cs typeface="Arial MT"/>
              </a:rPr>
              <a:t>and</a:t>
            </a:r>
            <a:r>
              <a:rPr sz="1800" spc="-35" dirty="0">
                <a:solidFill>
                  <a:srgbClr val="0F2044"/>
                </a:solidFill>
                <a:latin typeface="Arial MT"/>
                <a:cs typeface="Arial MT"/>
              </a:rPr>
              <a:t> </a:t>
            </a:r>
            <a:r>
              <a:rPr sz="1800" b="1" dirty="0">
                <a:solidFill>
                  <a:srgbClr val="A00C30"/>
                </a:solidFill>
                <a:latin typeface="Arial"/>
                <a:cs typeface="Arial"/>
              </a:rPr>
              <a:t>Unpredictable</a:t>
            </a:r>
            <a:r>
              <a:rPr sz="1800" b="1" spc="-35" dirty="0">
                <a:solidFill>
                  <a:srgbClr val="A00C30"/>
                </a:solidFill>
                <a:latin typeface="Arial"/>
                <a:cs typeface="Arial"/>
              </a:rPr>
              <a:t> </a:t>
            </a:r>
            <a:r>
              <a:rPr sz="1800" b="1" spc="-10" dirty="0">
                <a:solidFill>
                  <a:srgbClr val="A00C30"/>
                </a:solidFill>
                <a:latin typeface="Arial"/>
                <a:cs typeface="Arial"/>
              </a:rPr>
              <a:t>Behavior</a:t>
            </a:r>
            <a:endParaRPr sz="1800" dirty="0">
              <a:latin typeface="Arial"/>
              <a:cs typeface="Arial"/>
            </a:endParaRPr>
          </a:p>
        </p:txBody>
      </p:sp>
      <p:grpSp>
        <p:nvGrpSpPr>
          <p:cNvPr id="15" name="Group 14" descr="A flow diagram showing a master thread branching off to a worker thread via pthread_create and later synchronizing back using pthread_join.">
            <a:extLst>
              <a:ext uri="{FF2B5EF4-FFF2-40B4-BE49-F238E27FC236}">
                <a16:creationId xmlns:a16="http://schemas.microsoft.com/office/drawing/2014/main" id="{C9B7053E-1A7F-9383-944B-14F7EEA1B3E1}"/>
              </a:ext>
            </a:extLst>
          </p:cNvPr>
          <p:cNvGrpSpPr/>
          <p:nvPr/>
        </p:nvGrpSpPr>
        <p:grpSpPr>
          <a:xfrm>
            <a:off x="5233634" y="948387"/>
            <a:ext cx="3297554" cy="2895600"/>
            <a:chOff x="5233634" y="948387"/>
            <a:chExt cx="3297554" cy="2895600"/>
          </a:xfrm>
        </p:grpSpPr>
        <p:pic>
          <p:nvPicPr>
            <p:cNvPr id="5" name="object 5"/>
            <p:cNvPicPr/>
            <p:nvPr/>
          </p:nvPicPr>
          <p:blipFill>
            <a:blip r:embed="rId3" cstate="print"/>
            <a:stretch>
              <a:fillRect/>
            </a:stretch>
          </p:blipFill>
          <p:spPr>
            <a:xfrm>
              <a:off x="5238397" y="953150"/>
              <a:ext cx="3287927" cy="2886075"/>
            </a:xfrm>
            <a:prstGeom prst="rect">
              <a:avLst/>
            </a:prstGeom>
          </p:spPr>
        </p:pic>
        <p:sp>
          <p:nvSpPr>
            <p:cNvPr id="6" name="object 6"/>
            <p:cNvSpPr/>
            <p:nvPr/>
          </p:nvSpPr>
          <p:spPr>
            <a:xfrm>
              <a:off x="5233634" y="948387"/>
              <a:ext cx="3297554" cy="2895600"/>
            </a:xfrm>
            <a:custGeom>
              <a:avLst/>
              <a:gdLst/>
              <a:ahLst/>
              <a:cxnLst/>
              <a:rect l="l" t="t" r="r" b="b"/>
              <a:pathLst>
                <a:path w="3297554" h="2895600">
                  <a:moveTo>
                    <a:pt x="0" y="0"/>
                  </a:moveTo>
                  <a:lnTo>
                    <a:pt x="3297452" y="0"/>
                  </a:lnTo>
                  <a:lnTo>
                    <a:pt x="3297452" y="2895600"/>
                  </a:lnTo>
                  <a:lnTo>
                    <a:pt x="0" y="2895600"/>
                  </a:lnTo>
                  <a:lnTo>
                    <a:pt x="0" y="0"/>
                  </a:lnTo>
                  <a:close/>
                </a:path>
              </a:pathLst>
            </a:custGeom>
            <a:ln w="9524">
              <a:solidFill>
                <a:srgbClr val="000000"/>
              </a:solidFill>
            </a:ln>
          </p:spPr>
          <p:txBody>
            <a:bodyPr wrap="square" lIns="0" tIns="0" rIns="0" bIns="0" rtlCol="0"/>
            <a:lstStyle/>
            <a:p>
              <a:endParaRPr/>
            </a:p>
          </p:txBody>
        </p:sp>
      </p:grpSp>
      <p:sp>
        <p:nvSpPr>
          <p:cNvPr id="10" name="object 10">
            <a:extLst>
              <a:ext uri="{C183D7F6-B498-43B3-948B-1728B52AA6E4}">
                <adec:decorative xmlns:adec="http://schemas.microsoft.com/office/drawing/2017/decorative" val="1"/>
              </a:ext>
            </a:extLst>
          </p:cNvPr>
          <p:cNvSpPr txBox="1"/>
          <p:nvPr/>
        </p:nvSpPr>
        <p:spPr>
          <a:xfrm>
            <a:off x="5827987" y="3908185"/>
            <a:ext cx="177927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rPr>
              <a:t>https://bestshoperss.top/</a:t>
            </a:r>
            <a:endParaRPr sz="800" dirty="0">
              <a:latin typeface="Arial MT"/>
              <a:cs typeface="Arial MT"/>
            </a:endParaRPr>
          </a:p>
        </p:txBody>
      </p:sp>
      <p:grpSp>
        <p:nvGrpSpPr>
          <p:cNvPr id="14" name="Group 13" descr="A side-by-side comparison diagram illustrating the parallels between process creation (fork/waitpid) and thread creation (pthread_create/pthread_join).">
            <a:extLst>
              <a:ext uri="{FF2B5EF4-FFF2-40B4-BE49-F238E27FC236}">
                <a16:creationId xmlns:a16="http://schemas.microsoft.com/office/drawing/2014/main" id="{6B7B3018-393F-EC67-52D1-E385E64A4EF6}"/>
              </a:ext>
            </a:extLst>
          </p:cNvPr>
          <p:cNvGrpSpPr/>
          <p:nvPr/>
        </p:nvGrpSpPr>
        <p:grpSpPr>
          <a:xfrm>
            <a:off x="8668612" y="948378"/>
            <a:ext cx="3324225" cy="2895600"/>
            <a:chOff x="8668612" y="948378"/>
            <a:chExt cx="3324225" cy="2895600"/>
          </a:xfrm>
        </p:grpSpPr>
        <p:pic>
          <p:nvPicPr>
            <p:cNvPr id="3" name="object 3"/>
            <p:cNvPicPr/>
            <p:nvPr/>
          </p:nvPicPr>
          <p:blipFill>
            <a:blip r:embed="rId4" cstate="print"/>
            <a:stretch>
              <a:fillRect/>
            </a:stretch>
          </p:blipFill>
          <p:spPr>
            <a:xfrm>
              <a:off x="8673375" y="953141"/>
              <a:ext cx="3314699" cy="2886074"/>
            </a:xfrm>
            <a:prstGeom prst="rect">
              <a:avLst/>
            </a:prstGeom>
          </p:spPr>
        </p:pic>
        <p:sp>
          <p:nvSpPr>
            <p:cNvPr id="4" name="object 4"/>
            <p:cNvSpPr/>
            <p:nvPr/>
          </p:nvSpPr>
          <p:spPr>
            <a:xfrm>
              <a:off x="8668612" y="948378"/>
              <a:ext cx="3324225" cy="2895600"/>
            </a:xfrm>
            <a:custGeom>
              <a:avLst/>
              <a:gdLst/>
              <a:ahLst/>
              <a:cxnLst/>
              <a:rect l="l" t="t" r="r" b="b"/>
              <a:pathLst>
                <a:path w="3324225" h="2895600">
                  <a:moveTo>
                    <a:pt x="0" y="0"/>
                  </a:moveTo>
                  <a:lnTo>
                    <a:pt x="3324224" y="0"/>
                  </a:lnTo>
                  <a:lnTo>
                    <a:pt x="3324224" y="2895599"/>
                  </a:lnTo>
                  <a:lnTo>
                    <a:pt x="0" y="2895599"/>
                  </a:lnTo>
                  <a:lnTo>
                    <a:pt x="0" y="0"/>
                  </a:lnTo>
                  <a:close/>
                </a:path>
              </a:pathLst>
            </a:custGeom>
            <a:ln w="9524">
              <a:solidFill>
                <a:srgbClr val="0F2044"/>
              </a:solidFill>
            </a:ln>
          </p:spPr>
          <p:txBody>
            <a:bodyPr wrap="square" lIns="0" tIns="0" rIns="0" bIns="0" rtlCol="0"/>
            <a:lstStyle/>
            <a:p>
              <a:endParaRPr/>
            </a:p>
          </p:txBody>
        </p:sp>
      </p:grpSp>
      <p:sp>
        <p:nvSpPr>
          <p:cNvPr id="9" name="object 9">
            <a:extLst>
              <a:ext uri="{C183D7F6-B498-43B3-948B-1728B52AA6E4}">
                <adec:decorative xmlns:adec="http://schemas.microsoft.com/office/drawing/2017/decorative" val="1"/>
              </a:ext>
            </a:extLst>
          </p:cNvPr>
          <p:cNvSpPr txBox="1"/>
          <p:nvPr/>
        </p:nvSpPr>
        <p:spPr>
          <a:xfrm>
            <a:off x="9276350" y="3952761"/>
            <a:ext cx="171196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hlinkClick r:id="rId5"/>
              </a:rPr>
              <a:t>https://www.cs.fsu.edu/</a:t>
            </a:r>
            <a:endParaRPr sz="800" dirty="0">
              <a:latin typeface="Arial MT"/>
              <a:cs typeface="Arial MT"/>
            </a:endParaRPr>
          </a:p>
        </p:txBody>
      </p:sp>
      <p:pic>
        <p:nvPicPr>
          <p:cNvPr id="11" name="object 11" descr="A block diagram showing the lifecycle of worker threads being spawned by a master thread to &quot;DO WORK&quot; and exiting before being joined."/>
          <p:cNvPicPr/>
          <p:nvPr/>
        </p:nvPicPr>
        <p:blipFill>
          <a:blip r:embed="rId6" cstate="print"/>
          <a:stretch>
            <a:fillRect/>
          </a:stretch>
        </p:blipFill>
        <p:spPr>
          <a:xfrm>
            <a:off x="5238400" y="4236175"/>
            <a:ext cx="6740735" cy="2297574"/>
          </a:xfrm>
          <a:prstGeom prst="rect">
            <a:avLst/>
          </a:prstGeom>
        </p:spPr>
      </p:pic>
      <p:sp>
        <p:nvSpPr>
          <p:cNvPr id="12" name="object 12">
            <a:extLst>
              <a:ext uri="{C183D7F6-B498-43B3-948B-1728B52AA6E4}">
                <adec:decorative xmlns:adec="http://schemas.microsoft.com/office/drawing/2017/decorative" val="1"/>
              </a:ext>
            </a:extLst>
          </p:cNvPr>
          <p:cNvSpPr txBox="1"/>
          <p:nvPr/>
        </p:nvSpPr>
        <p:spPr>
          <a:xfrm>
            <a:off x="7558875" y="6572336"/>
            <a:ext cx="190246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Arial MT"/>
                <a:cs typeface="Arial MT"/>
              </a:rPr>
              <a:t>Image</a:t>
            </a:r>
            <a:r>
              <a:rPr sz="800" spc="-30" dirty="0">
                <a:latin typeface="Arial MT"/>
                <a:cs typeface="Arial MT"/>
              </a:rPr>
              <a:t> </a:t>
            </a:r>
            <a:r>
              <a:rPr sz="800" dirty="0">
                <a:latin typeface="Arial MT"/>
                <a:cs typeface="Arial MT"/>
              </a:rPr>
              <a:t>credit</a:t>
            </a:r>
            <a:r>
              <a:rPr sz="800" spc="-25" dirty="0">
                <a:latin typeface="Arial MT"/>
                <a:cs typeface="Arial MT"/>
              </a:rPr>
              <a:t> </a:t>
            </a:r>
            <a:r>
              <a:rPr sz="800" dirty="0">
                <a:latin typeface="Arial MT"/>
                <a:cs typeface="Arial MT"/>
              </a:rPr>
              <a:t>-</a:t>
            </a:r>
            <a:r>
              <a:rPr sz="800" spc="-25" dirty="0">
                <a:latin typeface="Arial MT"/>
                <a:cs typeface="Arial MT"/>
              </a:rPr>
              <a:t> </a:t>
            </a:r>
            <a:r>
              <a:rPr sz="800" spc="-10" dirty="0">
                <a:latin typeface="Arial MT"/>
                <a:cs typeface="Arial MT"/>
              </a:rPr>
              <a:t>https://hpc-tutorials.llnl.gov/</a:t>
            </a:r>
            <a:endParaRPr sz="800" dirty="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A C program demonstrating how to pass and return values in POSIX threads. The thread calculates the double of an integer using malloc for the result, which is then retrieved in the main function via pthread_join."/>
          <p:cNvPicPr/>
          <p:nvPr/>
        </p:nvPicPr>
        <p:blipFill>
          <a:blip r:embed="rId3" cstate="print"/>
          <a:stretch>
            <a:fillRect/>
          </a:stretch>
        </p:blipFill>
        <p:spPr>
          <a:xfrm>
            <a:off x="4811628" y="1101452"/>
            <a:ext cx="7253848" cy="5429698"/>
          </a:xfrm>
          <a:prstGeom prst="rect">
            <a:avLst/>
          </a:prstGeom>
        </p:spPr>
      </p:pic>
      <p:sp>
        <p:nvSpPr>
          <p:cNvPr id="3" name="object 3"/>
          <p:cNvSpPr txBox="1">
            <a:spLocks noGrp="1"/>
          </p:cNvSpPr>
          <p:nvPr>
            <p:ph type="title"/>
          </p:nvPr>
        </p:nvSpPr>
        <p:spPr>
          <a:xfrm>
            <a:off x="410375" y="1435436"/>
            <a:ext cx="3704425"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Waiting</a:t>
            </a:r>
            <a:r>
              <a:rPr sz="1800" spc="-45" dirty="0"/>
              <a:t> </a:t>
            </a:r>
            <a:r>
              <a:rPr sz="1800" dirty="0"/>
              <a:t>for</a:t>
            </a:r>
            <a:r>
              <a:rPr sz="1800" spc="-40" dirty="0"/>
              <a:t> </a:t>
            </a:r>
            <a:r>
              <a:rPr sz="1800" dirty="0"/>
              <a:t>a</a:t>
            </a:r>
            <a:r>
              <a:rPr sz="1800" spc="-40" dirty="0"/>
              <a:t> </a:t>
            </a:r>
            <a:r>
              <a:rPr sz="1800" dirty="0"/>
              <a:t>Thread</a:t>
            </a:r>
            <a:r>
              <a:rPr sz="1800" spc="-40" dirty="0"/>
              <a:t> </a:t>
            </a:r>
            <a:r>
              <a:rPr sz="1800" dirty="0"/>
              <a:t>to</a:t>
            </a:r>
            <a:r>
              <a:rPr sz="1800" spc="-40" dirty="0"/>
              <a:t> </a:t>
            </a:r>
            <a:r>
              <a:rPr sz="1800" spc="-10" dirty="0"/>
              <a:t>Complete</a:t>
            </a:r>
            <a:endParaRPr sz="1800" dirty="0"/>
          </a:p>
        </p:txBody>
      </p:sp>
      <p:sp>
        <p:nvSpPr>
          <p:cNvPr id="4" name="object 4"/>
          <p:cNvSpPr txBox="1"/>
          <p:nvPr/>
        </p:nvSpPr>
        <p:spPr>
          <a:xfrm>
            <a:off x="453650" y="2857358"/>
            <a:ext cx="4072890" cy="1602740"/>
          </a:xfrm>
          <a:prstGeom prst="rect">
            <a:avLst/>
          </a:prstGeom>
        </p:spPr>
        <p:txBody>
          <a:bodyPr vert="horz" wrap="square" lIns="0" tIns="12700" rIns="0" bIns="0" rtlCol="0">
            <a:spAutoFit/>
          </a:bodyPr>
          <a:lstStyle/>
          <a:p>
            <a:pPr marL="12700" marR="5080">
              <a:lnSpc>
                <a:spcPct val="114999"/>
              </a:lnSpc>
              <a:spcBef>
                <a:spcPts val="100"/>
              </a:spcBef>
            </a:pPr>
            <a:r>
              <a:rPr sz="1800" dirty="0">
                <a:latin typeface="Arial MT"/>
                <a:cs typeface="Arial MT"/>
              </a:rPr>
              <a:t>The</a:t>
            </a:r>
            <a:r>
              <a:rPr sz="1800" spc="-5" dirty="0">
                <a:latin typeface="Arial MT"/>
                <a:cs typeface="Arial MT"/>
              </a:rPr>
              <a:t> </a:t>
            </a:r>
            <a:r>
              <a:rPr sz="1800" b="1" spc="-10" dirty="0">
                <a:solidFill>
                  <a:srgbClr val="188037"/>
                </a:solidFill>
                <a:latin typeface="Courier New"/>
                <a:cs typeface="Courier New"/>
              </a:rPr>
              <a:t>pthread_join</a:t>
            </a:r>
            <a:r>
              <a:rPr sz="1800" b="1" spc="-575" dirty="0">
                <a:solidFill>
                  <a:srgbClr val="188037"/>
                </a:solidFill>
                <a:latin typeface="Courier New"/>
                <a:cs typeface="Courier New"/>
              </a:rPr>
              <a:t> </a:t>
            </a:r>
            <a:r>
              <a:rPr sz="1800" dirty="0">
                <a:latin typeface="Arial MT"/>
                <a:cs typeface="Arial MT"/>
              </a:rPr>
              <a:t>function allows </a:t>
            </a:r>
            <a:r>
              <a:rPr sz="1800" spc="-25" dirty="0">
                <a:latin typeface="Arial MT"/>
                <a:cs typeface="Arial MT"/>
              </a:rPr>
              <a:t>the </a:t>
            </a:r>
            <a:r>
              <a:rPr sz="1800" dirty="0">
                <a:latin typeface="Arial MT"/>
                <a:cs typeface="Arial MT"/>
              </a:rPr>
              <a:t>main</a:t>
            </a:r>
            <a:r>
              <a:rPr sz="1800" spc="-15" dirty="0">
                <a:latin typeface="Arial MT"/>
                <a:cs typeface="Arial MT"/>
              </a:rPr>
              <a:t> </a:t>
            </a:r>
            <a:r>
              <a:rPr sz="1800" dirty="0">
                <a:latin typeface="Arial MT"/>
                <a:cs typeface="Arial MT"/>
              </a:rPr>
              <a:t>thread</a:t>
            </a:r>
            <a:r>
              <a:rPr sz="1800" spc="-10" dirty="0">
                <a:latin typeface="Arial MT"/>
                <a:cs typeface="Arial MT"/>
              </a:rPr>
              <a:t> </a:t>
            </a:r>
            <a:r>
              <a:rPr sz="1800" dirty="0">
                <a:latin typeface="Arial MT"/>
                <a:cs typeface="Arial MT"/>
              </a:rPr>
              <a:t>(or</a:t>
            </a:r>
            <a:r>
              <a:rPr sz="1800" spc="-10" dirty="0">
                <a:latin typeface="Arial MT"/>
                <a:cs typeface="Arial MT"/>
              </a:rPr>
              <a:t> </a:t>
            </a:r>
            <a:r>
              <a:rPr sz="1800" dirty="0">
                <a:latin typeface="Arial MT"/>
                <a:cs typeface="Arial MT"/>
              </a:rPr>
              <a:t>any</a:t>
            </a:r>
            <a:r>
              <a:rPr sz="1800" spc="-15" dirty="0">
                <a:latin typeface="Arial MT"/>
                <a:cs typeface="Arial MT"/>
              </a:rPr>
              <a:t> </a:t>
            </a:r>
            <a:r>
              <a:rPr sz="1800" dirty="0">
                <a:latin typeface="Arial MT"/>
                <a:cs typeface="Arial MT"/>
              </a:rPr>
              <a:t>other</a:t>
            </a:r>
            <a:r>
              <a:rPr sz="1800" spc="-10" dirty="0">
                <a:latin typeface="Arial MT"/>
                <a:cs typeface="Arial MT"/>
              </a:rPr>
              <a:t> </a:t>
            </a:r>
            <a:r>
              <a:rPr sz="1800" dirty="0">
                <a:latin typeface="Arial MT"/>
                <a:cs typeface="Arial MT"/>
              </a:rPr>
              <a:t>thread)</a:t>
            </a:r>
            <a:r>
              <a:rPr sz="1800" spc="-10" dirty="0">
                <a:latin typeface="Arial MT"/>
                <a:cs typeface="Arial MT"/>
              </a:rPr>
              <a:t> </a:t>
            </a:r>
            <a:r>
              <a:rPr sz="1800" spc="-25" dirty="0">
                <a:latin typeface="Arial MT"/>
                <a:cs typeface="Arial MT"/>
              </a:rPr>
              <a:t>to</a:t>
            </a:r>
            <a:r>
              <a:rPr sz="1800" spc="500" dirty="0">
                <a:latin typeface="Arial MT"/>
                <a:cs typeface="Arial MT"/>
              </a:rPr>
              <a:t> </a:t>
            </a:r>
            <a:r>
              <a:rPr sz="1800" dirty="0">
                <a:latin typeface="Arial MT"/>
                <a:cs typeface="Arial MT"/>
              </a:rPr>
              <a:t>wait</a:t>
            </a:r>
            <a:r>
              <a:rPr sz="1800" spc="-30" dirty="0">
                <a:latin typeface="Arial MT"/>
                <a:cs typeface="Arial MT"/>
              </a:rPr>
              <a:t> </a:t>
            </a:r>
            <a:r>
              <a:rPr sz="1800" dirty="0">
                <a:latin typeface="Arial MT"/>
                <a:cs typeface="Arial MT"/>
              </a:rPr>
              <a:t>for</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specific</a:t>
            </a:r>
            <a:r>
              <a:rPr sz="1800" spc="-20"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complete</a:t>
            </a:r>
            <a:r>
              <a:rPr sz="1800" spc="-15" dirty="0">
                <a:latin typeface="Arial MT"/>
                <a:cs typeface="Arial MT"/>
              </a:rPr>
              <a:t> </a:t>
            </a:r>
            <a:r>
              <a:rPr sz="1800" spc="-25" dirty="0">
                <a:latin typeface="Arial MT"/>
                <a:cs typeface="Arial MT"/>
              </a:rPr>
              <a:t>its </a:t>
            </a:r>
            <a:r>
              <a:rPr sz="1800" dirty="0">
                <a:latin typeface="Arial MT"/>
                <a:cs typeface="Arial MT"/>
              </a:rPr>
              <a:t>execution,</a:t>
            </a:r>
            <a:r>
              <a:rPr sz="1800" spc="-35" dirty="0">
                <a:latin typeface="Arial MT"/>
                <a:cs typeface="Arial MT"/>
              </a:rPr>
              <a:t> </a:t>
            </a:r>
            <a:r>
              <a:rPr sz="1800" dirty="0">
                <a:latin typeface="Arial MT"/>
                <a:cs typeface="Arial MT"/>
              </a:rPr>
              <a:t>retrieve</a:t>
            </a:r>
            <a:r>
              <a:rPr sz="1800" spc="-3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return</a:t>
            </a:r>
            <a:r>
              <a:rPr sz="1800" spc="-35" dirty="0">
                <a:latin typeface="Arial MT"/>
                <a:cs typeface="Arial MT"/>
              </a:rPr>
              <a:t> </a:t>
            </a:r>
            <a:r>
              <a:rPr sz="1800" dirty="0">
                <a:latin typeface="Arial MT"/>
                <a:cs typeface="Arial MT"/>
              </a:rPr>
              <a:t>value,</a:t>
            </a:r>
            <a:r>
              <a:rPr sz="1800" spc="-30" dirty="0">
                <a:latin typeface="Arial MT"/>
                <a:cs typeface="Arial MT"/>
              </a:rPr>
              <a:t> </a:t>
            </a:r>
            <a:r>
              <a:rPr sz="1800" spc="-25" dirty="0">
                <a:latin typeface="Arial MT"/>
                <a:cs typeface="Arial MT"/>
              </a:rPr>
              <a:t>and </a:t>
            </a:r>
            <a:r>
              <a:rPr sz="1800" dirty="0">
                <a:latin typeface="Arial MT"/>
                <a:cs typeface="Arial MT"/>
              </a:rPr>
              <a:t>release</a:t>
            </a:r>
            <a:r>
              <a:rPr sz="1800" spc="-35" dirty="0">
                <a:latin typeface="Arial MT"/>
                <a:cs typeface="Arial MT"/>
              </a:rPr>
              <a:t> </a:t>
            </a:r>
            <a:r>
              <a:rPr sz="1800" spc="-10" dirty="0">
                <a:latin typeface="Arial MT"/>
                <a:cs typeface="Arial MT"/>
              </a:rPr>
              <a:t>resources.</a:t>
            </a:r>
            <a:endParaRPr sz="1800" dirty="0">
              <a:latin typeface="Arial MT"/>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3469FD6C-CB28-6060-94B6-6904528D7033}"/>
              </a:ext>
            </a:extLst>
          </p:cNvPr>
          <p:cNvSpPr txBox="1">
            <a:spLocks noGrp="1"/>
          </p:cNvSpPr>
          <p:nvPr>
            <p:ph type="title"/>
          </p:nvPr>
        </p:nvSpPr>
        <p:spPr>
          <a:xfrm>
            <a:off x="410375" y="1435436"/>
            <a:ext cx="3704425"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Waiting</a:t>
            </a:r>
            <a:r>
              <a:rPr sz="1800" spc="-45" dirty="0"/>
              <a:t> </a:t>
            </a:r>
            <a:r>
              <a:rPr sz="1800" dirty="0"/>
              <a:t>for</a:t>
            </a:r>
            <a:r>
              <a:rPr sz="1800" spc="-40" dirty="0"/>
              <a:t> </a:t>
            </a:r>
            <a:r>
              <a:rPr sz="1800" dirty="0"/>
              <a:t>a</a:t>
            </a:r>
            <a:r>
              <a:rPr sz="1800" spc="-40" dirty="0"/>
              <a:t> </a:t>
            </a:r>
            <a:r>
              <a:rPr sz="1800" dirty="0"/>
              <a:t>Thread</a:t>
            </a:r>
            <a:r>
              <a:rPr sz="1800" spc="-40" dirty="0"/>
              <a:t> </a:t>
            </a:r>
            <a:r>
              <a:rPr sz="1800" dirty="0"/>
              <a:t>to</a:t>
            </a:r>
            <a:r>
              <a:rPr sz="1800" spc="-40" dirty="0"/>
              <a:t> </a:t>
            </a:r>
            <a:r>
              <a:rPr sz="1800" spc="-10" dirty="0"/>
              <a:t>Complete</a:t>
            </a:r>
            <a:endParaRPr sz="1800" dirty="0"/>
          </a:p>
        </p:txBody>
      </p:sp>
      <p:sp>
        <p:nvSpPr>
          <p:cNvPr id="4" name="object 4"/>
          <p:cNvSpPr txBox="1"/>
          <p:nvPr/>
        </p:nvSpPr>
        <p:spPr>
          <a:xfrm>
            <a:off x="247105" y="2286000"/>
            <a:ext cx="4267200" cy="4015458"/>
          </a:xfrm>
          <a:prstGeom prst="rect">
            <a:avLst/>
          </a:prstGeom>
        </p:spPr>
        <p:txBody>
          <a:bodyPr vert="horz" wrap="square" lIns="0" tIns="0" rIns="0" bIns="0" rtlCol="0">
            <a:spAutoFit/>
          </a:bodyPr>
          <a:lstStyle/>
          <a:p>
            <a:pPr marL="371475" marR="5080" indent="-359410">
              <a:lnSpc>
                <a:spcPct val="114000"/>
              </a:lnSpc>
              <a:spcBef>
                <a:spcPts val="800"/>
              </a:spcBef>
              <a:spcAft>
                <a:spcPts val="1800"/>
              </a:spcAft>
              <a:buClr>
                <a:srgbClr val="000000"/>
              </a:buClr>
              <a:buFont typeface="Arial MT"/>
              <a:buChar char="●"/>
              <a:tabLst>
                <a:tab pos="371475" algn="l"/>
              </a:tabLst>
            </a:pPr>
            <a:r>
              <a:rPr sz="1700" b="1" spc="-20" dirty="0" err="1">
                <a:solidFill>
                  <a:srgbClr val="188037"/>
                </a:solidFill>
                <a:latin typeface="Courier New"/>
                <a:cs typeface="Courier New"/>
              </a:rPr>
              <a:t>pthread_join</a:t>
            </a:r>
            <a:r>
              <a:rPr sz="1700" b="1" spc="-545" dirty="0">
                <a:solidFill>
                  <a:srgbClr val="188037"/>
                </a:solidFill>
                <a:latin typeface="Courier New"/>
                <a:cs typeface="Courier New"/>
              </a:rPr>
              <a:t> </a:t>
            </a:r>
            <a:r>
              <a:rPr sz="1700" dirty="0">
                <a:latin typeface="Arial MT"/>
                <a:cs typeface="Arial MT"/>
              </a:rPr>
              <a:t>waits</a:t>
            </a:r>
            <a:r>
              <a:rPr sz="1700" spc="10" dirty="0">
                <a:latin typeface="Arial MT"/>
                <a:cs typeface="Arial MT"/>
              </a:rPr>
              <a:t> </a:t>
            </a:r>
            <a:r>
              <a:rPr sz="1700" dirty="0">
                <a:latin typeface="Arial MT"/>
                <a:cs typeface="Arial MT"/>
              </a:rPr>
              <a:t>for</a:t>
            </a:r>
            <a:r>
              <a:rPr sz="1700" spc="5" dirty="0">
                <a:latin typeface="Arial MT"/>
                <a:cs typeface="Arial MT"/>
              </a:rPr>
              <a:t> </a:t>
            </a:r>
            <a:r>
              <a:rPr sz="1700" b="1" spc="-20" dirty="0">
                <a:solidFill>
                  <a:srgbClr val="188037"/>
                </a:solidFill>
                <a:latin typeface="Courier New"/>
                <a:cs typeface="Courier New"/>
              </a:rPr>
              <a:t>thread_id</a:t>
            </a:r>
            <a:r>
              <a:rPr sz="1700" b="1" spc="-540" dirty="0">
                <a:solidFill>
                  <a:srgbClr val="188037"/>
                </a:solidFill>
                <a:latin typeface="Courier New"/>
                <a:cs typeface="Courier New"/>
              </a:rPr>
              <a:t> </a:t>
            </a:r>
            <a:r>
              <a:rPr sz="1700" spc="-25" dirty="0">
                <a:latin typeface="Arial MT"/>
                <a:cs typeface="Arial MT"/>
              </a:rPr>
              <a:t>to </a:t>
            </a:r>
            <a:r>
              <a:rPr sz="1700" spc="-10" dirty="0">
                <a:latin typeface="Arial MT"/>
                <a:cs typeface="Arial MT"/>
              </a:rPr>
              <a:t>complete,</a:t>
            </a:r>
            <a:r>
              <a:rPr sz="1700" spc="-65" dirty="0">
                <a:latin typeface="Arial MT"/>
                <a:cs typeface="Arial MT"/>
              </a:rPr>
              <a:t> </a:t>
            </a:r>
            <a:r>
              <a:rPr sz="1700" dirty="0">
                <a:latin typeface="Arial MT"/>
                <a:cs typeface="Arial MT"/>
              </a:rPr>
              <a:t>allowing</a:t>
            </a:r>
            <a:r>
              <a:rPr sz="1700" spc="-60" dirty="0">
                <a:latin typeface="Arial MT"/>
                <a:cs typeface="Arial MT"/>
              </a:rPr>
              <a:t> </a:t>
            </a:r>
            <a:r>
              <a:rPr sz="1700" dirty="0">
                <a:latin typeface="Arial MT"/>
                <a:cs typeface="Arial MT"/>
              </a:rPr>
              <a:t>the</a:t>
            </a:r>
            <a:r>
              <a:rPr sz="1700" spc="-60" dirty="0">
                <a:latin typeface="Arial MT"/>
                <a:cs typeface="Arial MT"/>
              </a:rPr>
              <a:t> </a:t>
            </a:r>
            <a:r>
              <a:rPr sz="1700" dirty="0">
                <a:latin typeface="Arial MT"/>
                <a:cs typeface="Arial MT"/>
              </a:rPr>
              <a:t>main</a:t>
            </a:r>
            <a:r>
              <a:rPr sz="1700" spc="-60" dirty="0">
                <a:latin typeface="Arial MT"/>
                <a:cs typeface="Arial MT"/>
              </a:rPr>
              <a:t> </a:t>
            </a:r>
            <a:r>
              <a:rPr sz="1700" dirty="0">
                <a:latin typeface="Arial MT"/>
                <a:cs typeface="Arial MT"/>
              </a:rPr>
              <a:t>thread</a:t>
            </a:r>
            <a:r>
              <a:rPr sz="1700" spc="-60" dirty="0">
                <a:latin typeface="Arial MT"/>
                <a:cs typeface="Arial MT"/>
              </a:rPr>
              <a:t> </a:t>
            </a:r>
            <a:r>
              <a:rPr sz="1700" spc="-25" dirty="0">
                <a:latin typeface="Arial MT"/>
                <a:cs typeface="Arial MT"/>
              </a:rPr>
              <a:t>to </a:t>
            </a:r>
            <a:r>
              <a:rPr sz="1700" dirty="0">
                <a:latin typeface="Arial MT"/>
                <a:cs typeface="Arial MT"/>
              </a:rPr>
              <a:t>retrieve</a:t>
            </a:r>
            <a:r>
              <a:rPr sz="1700" spc="-80" dirty="0">
                <a:latin typeface="Arial MT"/>
                <a:cs typeface="Arial MT"/>
              </a:rPr>
              <a:t> </a:t>
            </a:r>
            <a:r>
              <a:rPr sz="1700" dirty="0">
                <a:latin typeface="Arial MT"/>
                <a:cs typeface="Arial MT"/>
              </a:rPr>
              <a:t>the</a:t>
            </a:r>
            <a:r>
              <a:rPr sz="1700" spc="-75" dirty="0">
                <a:latin typeface="Arial MT"/>
                <a:cs typeface="Arial MT"/>
              </a:rPr>
              <a:t> </a:t>
            </a:r>
            <a:r>
              <a:rPr sz="1700" dirty="0">
                <a:latin typeface="Arial MT"/>
                <a:cs typeface="Arial MT"/>
              </a:rPr>
              <a:t>value</a:t>
            </a:r>
            <a:r>
              <a:rPr sz="1700" spc="-75" dirty="0">
                <a:latin typeface="Arial MT"/>
                <a:cs typeface="Arial MT"/>
              </a:rPr>
              <a:t> </a:t>
            </a:r>
            <a:r>
              <a:rPr sz="1700" dirty="0">
                <a:latin typeface="Arial MT"/>
                <a:cs typeface="Arial MT"/>
              </a:rPr>
              <a:t>returned</a:t>
            </a:r>
            <a:r>
              <a:rPr sz="1700" spc="-75" dirty="0">
                <a:latin typeface="Arial MT"/>
                <a:cs typeface="Arial MT"/>
              </a:rPr>
              <a:t> </a:t>
            </a:r>
            <a:r>
              <a:rPr sz="1700" spc="-25" dirty="0">
                <a:latin typeface="Arial MT"/>
                <a:cs typeface="Arial MT"/>
              </a:rPr>
              <a:t>by </a:t>
            </a:r>
            <a:r>
              <a:rPr sz="1700" b="1" spc="-10" dirty="0" err="1">
                <a:solidFill>
                  <a:srgbClr val="188037"/>
                </a:solidFill>
                <a:latin typeface="Courier New"/>
                <a:cs typeface="Courier New"/>
              </a:rPr>
              <a:t>pthread_exit</a:t>
            </a:r>
            <a:r>
              <a:rPr sz="1700" spc="-10" dirty="0">
                <a:latin typeface="Arial MT"/>
                <a:cs typeface="Arial MT"/>
              </a:rPr>
              <a:t>.</a:t>
            </a:r>
            <a:endParaRPr sz="1700" dirty="0">
              <a:latin typeface="Arial MT"/>
              <a:cs typeface="Arial MT"/>
            </a:endParaRPr>
          </a:p>
          <a:p>
            <a:pPr marL="371475" marR="106680" indent="-359410">
              <a:lnSpc>
                <a:spcPct val="114000"/>
              </a:lnSpc>
              <a:spcBef>
                <a:spcPts val="5"/>
              </a:spcBef>
              <a:spcAft>
                <a:spcPts val="1800"/>
              </a:spcAft>
              <a:buChar char="●"/>
              <a:tabLst>
                <a:tab pos="371475" algn="l"/>
              </a:tabLst>
            </a:pPr>
            <a:r>
              <a:rPr sz="1700" dirty="0">
                <a:latin typeface="Arial MT"/>
                <a:cs typeface="Arial MT"/>
              </a:rPr>
              <a:t>Memory</a:t>
            </a:r>
            <a:r>
              <a:rPr sz="1700" spc="-50" dirty="0">
                <a:latin typeface="Arial MT"/>
                <a:cs typeface="Arial MT"/>
              </a:rPr>
              <a:t> </a:t>
            </a:r>
            <a:r>
              <a:rPr sz="1700" dirty="0">
                <a:latin typeface="Arial MT"/>
                <a:cs typeface="Arial MT"/>
              </a:rPr>
              <a:t>is</a:t>
            </a:r>
            <a:r>
              <a:rPr sz="1700" spc="-45" dirty="0">
                <a:latin typeface="Arial MT"/>
                <a:cs typeface="Arial MT"/>
              </a:rPr>
              <a:t> </a:t>
            </a:r>
            <a:r>
              <a:rPr sz="1700" dirty="0">
                <a:latin typeface="Arial MT"/>
                <a:cs typeface="Arial MT"/>
              </a:rPr>
              <a:t>allocated</a:t>
            </a:r>
            <a:r>
              <a:rPr sz="1700" spc="-50" dirty="0">
                <a:latin typeface="Arial MT"/>
                <a:cs typeface="Arial MT"/>
              </a:rPr>
              <a:t> </a:t>
            </a:r>
            <a:r>
              <a:rPr sz="1700" dirty="0">
                <a:latin typeface="Arial MT"/>
                <a:cs typeface="Arial MT"/>
              </a:rPr>
              <a:t>inside</a:t>
            </a:r>
            <a:r>
              <a:rPr sz="1700" spc="-45" dirty="0">
                <a:latin typeface="Arial MT"/>
                <a:cs typeface="Arial MT"/>
              </a:rPr>
              <a:t> </a:t>
            </a:r>
            <a:r>
              <a:rPr sz="1700" dirty="0">
                <a:latin typeface="Arial MT"/>
                <a:cs typeface="Arial MT"/>
              </a:rPr>
              <a:t>the</a:t>
            </a:r>
            <a:r>
              <a:rPr sz="1700" spc="-50" dirty="0">
                <a:latin typeface="Arial MT"/>
                <a:cs typeface="Arial MT"/>
              </a:rPr>
              <a:t> </a:t>
            </a:r>
            <a:r>
              <a:rPr sz="1700" spc="-10" dirty="0">
                <a:latin typeface="Arial MT"/>
                <a:cs typeface="Arial MT"/>
              </a:rPr>
              <a:t>thread </a:t>
            </a:r>
            <a:r>
              <a:rPr sz="1700" dirty="0">
                <a:latin typeface="Arial MT"/>
                <a:cs typeface="Arial MT"/>
              </a:rPr>
              <a:t>function</a:t>
            </a:r>
            <a:r>
              <a:rPr sz="1700" spc="-65" dirty="0">
                <a:latin typeface="Arial MT"/>
                <a:cs typeface="Arial MT"/>
              </a:rPr>
              <a:t> </a:t>
            </a:r>
            <a:r>
              <a:rPr sz="1700" dirty="0">
                <a:latin typeface="Arial MT"/>
                <a:cs typeface="Arial MT"/>
              </a:rPr>
              <a:t>and</a:t>
            </a:r>
            <a:r>
              <a:rPr sz="1700" spc="-60" dirty="0">
                <a:latin typeface="Arial MT"/>
                <a:cs typeface="Arial MT"/>
              </a:rPr>
              <a:t> </a:t>
            </a:r>
            <a:r>
              <a:rPr sz="1700" dirty="0">
                <a:latin typeface="Arial MT"/>
                <a:cs typeface="Arial MT"/>
              </a:rPr>
              <a:t>freed</a:t>
            </a:r>
            <a:r>
              <a:rPr sz="1700" spc="-60" dirty="0">
                <a:latin typeface="Arial MT"/>
                <a:cs typeface="Arial MT"/>
              </a:rPr>
              <a:t> </a:t>
            </a:r>
            <a:r>
              <a:rPr sz="1700" dirty="0">
                <a:latin typeface="Arial MT"/>
                <a:cs typeface="Arial MT"/>
              </a:rPr>
              <a:t>in</a:t>
            </a:r>
            <a:r>
              <a:rPr sz="1700" spc="-55" dirty="0">
                <a:latin typeface="Arial MT"/>
                <a:cs typeface="Arial MT"/>
              </a:rPr>
              <a:t> </a:t>
            </a:r>
            <a:r>
              <a:rPr sz="1700" b="1" dirty="0">
                <a:solidFill>
                  <a:srgbClr val="188037"/>
                </a:solidFill>
                <a:latin typeface="Courier New"/>
                <a:cs typeface="Courier New"/>
              </a:rPr>
              <a:t>main</a:t>
            </a:r>
            <a:r>
              <a:rPr sz="1700" dirty="0">
                <a:latin typeface="Arial MT"/>
                <a:cs typeface="Arial MT"/>
              </a:rPr>
              <a:t>,</a:t>
            </a:r>
            <a:r>
              <a:rPr sz="1700" spc="-60" dirty="0">
                <a:latin typeface="Arial MT"/>
                <a:cs typeface="Arial MT"/>
              </a:rPr>
              <a:t> </a:t>
            </a:r>
            <a:r>
              <a:rPr sz="1700" spc="-10" dirty="0">
                <a:latin typeface="Arial MT"/>
                <a:cs typeface="Arial MT"/>
              </a:rPr>
              <a:t>showcasing </a:t>
            </a:r>
            <a:r>
              <a:rPr sz="1700" spc="-20" dirty="0">
                <a:latin typeface="Arial MT"/>
                <a:cs typeface="Arial MT"/>
              </a:rPr>
              <a:t>inter-</a:t>
            </a:r>
            <a:r>
              <a:rPr sz="1700" dirty="0">
                <a:latin typeface="Arial MT"/>
                <a:cs typeface="Arial MT"/>
              </a:rPr>
              <a:t>thread</a:t>
            </a:r>
            <a:r>
              <a:rPr sz="1700" spc="-30" dirty="0">
                <a:latin typeface="Arial MT"/>
                <a:cs typeface="Arial MT"/>
              </a:rPr>
              <a:t> </a:t>
            </a:r>
            <a:r>
              <a:rPr sz="1700" spc="-10" dirty="0">
                <a:latin typeface="Arial MT"/>
                <a:cs typeface="Arial MT"/>
              </a:rPr>
              <a:t>communication.</a:t>
            </a:r>
            <a:endParaRPr sz="1700" dirty="0">
              <a:latin typeface="Arial MT"/>
              <a:cs typeface="Arial MT"/>
            </a:endParaRPr>
          </a:p>
          <a:p>
            <a:pPr marL="371475" marR="270510" indent="-359410">
              <a:lnSpc>
                <a:spcPct val="114000"/>
              </a:lnSpc>
              <a:buFont typeface="Arial MT"/>
              <a:buChar char="●"/>
              <a:tabLst>
                <a:tab pos="371475" algn="l"/>
              </a:tabLst>
            </a:pPr>
            <a:r>
              <a:rPr sz="1700" b="1" dirty="0">
                <a:latin typeface="Arial"/>
                <a:cs typeface="Arial"/>
              </a:rPr>
              <a:t>Key</a:t>
            </a:r>
            <a:r>
              <a:rPr sz="1700" b="1" spc="-40" dirty="0">
                <a:latin typeface="Arial"/>
                <a:cs typeface="Arial"/>
              </a:rPr>
              <a:t> </a:t>
            </a:r>
            <a:r>
              <a:rPr sz="1700" b="1" dirty="0">
                <a:latin typeface="Arial"/>
                <a:cs typeface="Arial"/>
              </a:rPr>
              <a:t>Concept:</a:t>
            </a:r>
            <a:r>
              <a:rPr sz="1700" b="1" spc="-40" dirty="0">
                <a:latin typeface="Arial"/>
                <a:cs typeface="Arial"/>
              </a:rPr>
              <a:t> </a:t>
            </a:r>
            <a:r>
              <a:rPr sz="1700" dirty="0">
                <a:latin typeface="Arial MT"/>
                <a:cs typeface="Arial MT"/>
              </a:rPr>
              <a:t>Using</a:t>
            </a:r>
            <a:r>
              <a:rPr sz="1700" spc="-35" dirty="0">
                <a:latin typeface="Arial MT"/>
                <a:cs typeface="Arial MT"/>
              </a:rPr>
              <a:t> </a:t>
            </a:r>
            <a:r>
              <a:rPr sz="1700" b="1" spc="-10" dirty="0">
                <a:solidFill>
                  <a:srgbClr val="188037"/>
                </a:solidFill>
                <a:latin typeface="Courier New"/>
                <a:cs typeface="Courier New"/>
              </a:rPr>
              <a:t>pthread_join </a:t>
            </a:r>
            <a:r>
              <a:rPr sz="1700" dirty="0">
                <a:latin typeface="Arial MT"/>
                <a:cs typeface="Arial MT"/>
              </a:rPr>
              <a:t>ensures</a:t>
            </a:r>
            <a:r>
              <a:rPr sz="1700" spc="-60" dirty="0">
                <a:latin typeface="Arial MT"/>
                <a:cs typeface="Arial MT"/>
              </a:rPr>
              <a:t> </a:t>
            </a:r>
            <a:r>
              <a:rPr sz="1700" dirty="0">
                <a:latin typeface="Arial MT"/>
                <a:cs typeface="Arial MT"/>
              </a:rPr>
              <a:t>threads</a:t>
            </a:r>
            <a:r>
              <a:rPr sz="1700" spc="-55" dirty="0">
                <a:latin typeface="Arial MT"/>
                <a:cs typeface="Arial MT"/>
              </a:rPr>
              <a:t> </a:t>
            </a:r>
            <a:r>
              <a:rPr sz="1700" dirty="0">
                <a:latin typeface="Arial MT"/>
                <a:cs typeface="Arial MT"/>
              </a:rPr>
              <a:t>are</a:t>
            </a:r>
            <a:r>
              <a:rPr sz="1700" spc="-55" dirty="0">
                <a:latin typeface="Arial MT"/>
                <a:cs typeface="Arial MT"/>
              </a:rPr>
              <a:t> </a:t>
            </a:r>
            <a:r>
              <a:rPr sz="1700" spc="-10" dirty="0">
                <a:latin typeface="Arial MT"/>
                <a:cs typeface="Arial MT"/>
              </a:rPr>
              <a:t>properly synchronized,</a:t>
            </a:r>
            <a:r>
              <a:rPr sz="1700" spc="-75" dirty="0">
                <a:latin typeface="Arial MT"/>
                <a:cs typeface="Arial MT"/>
              </a:rPr>
              <a:t> </a:t>
            </a:r>
            <a:r>
              <a:rPr sz="1700" dirty="0">
                <a:latin typeface="Arial MT"/>
                <a:cs typeface="Arial MT"/>
              </a:rPr>
              <a:t>avoiding</a:t>
            </a:r>
            <a:r>
              <a:rPr sz="1700" spc="-70" dirty="0">
                <a:latin typeface="Arial MT"/>
                <a:cs typeface="Arial MT"/>
              </a:rPr>
              <a:t> </a:t>
            </a:r>
            <a:r>
              <a:rPr sz="1700" spc="-10" dirty="0">
                <a:latin typeface="Arial MT"/>
                <a:cs typeface="Arial MT"/>
              </a:rPr>
              <a:t>premature termination</a:t>
            </a:r>
            <a:r>
              <a:rPr sz="1700" spc="-50" dirty="0">
                <a:latin typeface="Arial MT"/>
                <a:cs typeface="Arial MT"/>
              </a:rPr>
              <a:t> </a:t>
            </a:r>
            <a:r>
              <a:rPr sz="1700" dirty="0">
                <a:latin typeface="Arial MT"/>
                <a:cs typeface="Arial MT"/>
              </a:rPr>
              <a:t>of</a:t>
            </a:r>
            <a:r>
              <a:rPr sz="1700" spc="-45" dirty="0">
                <a:latin typeface="Arial MT"/>
                <a:cs typeface="Arial MT"/>
              </a:rPr>
              <a:t> </a:t>
            </a:r>
            <a:r>
              <a:rPr sz="1700" dirty="0">
                <a:latin typeface="Arial MT"/>
                <a:cs typeface="Arial MT"/>
              </a:rPr>
              <a:t>the</a:t>
            </a:r>
            <a:r>
              <a:rPr sz="1700" spc="-45" dirty="0">
                <a:latin typeface="Arial MT"/>
                <a:cs typeface="Arial MT"/>
              </a:rPr>
              <a:t> </a:t>
            </a:r>
            <a:r>
              <a:rPr sz="1700" dirty="0">
                <a:latin typeface="Arial MT"/>
                <a:cs typeface="Arial MT"/>
              </a:rPr>
              <a:t>main</a:t>
            </a:r>
            <a:r>
              <a:rPr sz="1700" spc="-45" dirty="0">
                <a:latin typeface="Arial MT"/>
                <a:cs typeface="Arial MT"/>
              </a:rPr>
              <a:t> </a:t>
            </a:r>
            <a:r>
              <a:rPr sz="1700" dirty="0">
                <a:latin typeface="Arial MT"/>
                <a:cs typeface="Arial MT"/>
              </a:rPr>
              <a:t>thread</a:t>
            </a:r>
            <a:r>
              <a:rPr sz="1700" spc="-45" dirty="0">
                <a:latin typeface="Arial MT"/>
                <a:cs typeface="Arial MT"/>
              </a:rPr>
              <a:t> </a:t>
            </a:r>
            <a:r>
              <a:rPr sz="1700" spc="-10" dirty="0">
                <a:latin typeface="Arial MT"/>
                <a:cs typeface="Arial MT"/>
              </a:rPr>
              <a:t>before </a:t>
            </a:r>
            <a:r>
              <a:rPr sz="1700" dirty="0">
                <a:latin typeface="Arial MT"/>
                <a:cs typeface="Arial MT"/>
              </a:rPr>
              <a:t>child</a:t>
            </a:r>
            <a:r>
              <a:rPr sz="1700" spc="-65" dirty="0">
                <a:latin typeface="Arial MT"/>
                <a:cs typeface="Arial MT"/>
              </a:rPr>
              <a:t> </a:t>
            </a:r>
            <a:r>
              <a:rPr sz="1700" dirty="0">
                <a:latin typeface="Arial MT"/>
                <a:cs typeface="Arial MT"/>
              </a:rPr>
              <a:t>threads</a:t>
            </a:r>
            <a:r>
              <a:rPr sz="1700" spc="-60" dirty="0">
                <a:latin typeface="Arial MT"/>
                <a:cs typeface="Arial MT"/>
              </a:rPr>
              <a:t> </a:t>
            </a:r>
            <a:r>
              <a:rPr sz="1700" spc="-10" dirty="0">
                <a:latin typeface="Arial MT"/>
                <a:cs typeface="Arial MT"/>
              </a:rPr>
              <a:t>complete.</a:t>
            </a:r>
            <a:endParaRPr sz="1700" dirty="0">
              <a:latin typeface="Arial MT"/>
              <a:cs typeface="Arial MT"/>
            </a:endParaRPr>
          </a:p>
        </p:txBody>
      </p:sp>
      <p:pic>
        <p:nvPicPr>
          <p:cNvPr id="2" name="object 2">
            <a:extLst>
              <a:ext uri="{C183D7F6-B498-43B3-948B-1728B52AA6E4}">
                <adec:decorative xmlns:adec="http://schemas.microsoft.com/office/drawing/2017/decorative" val="1"/>
              </a:ext>
            </a:extLst>
          </p:cNvPr>
          <p:cNvPicPr/>
          <p:nvPr/>
        </p:nvPicPr>
        <p:blipFill>
          <a:blip r:embed="rId2" cstate="print"/>
          <a:stretch>
            <a:fillRect/>
          </a:stretch>
        </p:blipFill>
        <p:spPr>
          <a:xfrm>
            <a:off x="4811628" y="1101452"/>
            <a:ext cx="7253848" cy="54296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spc="-10" dirty="0"/>
              <a:t>Terminating</a:t>
            </a:r>
            <a:r>
              <a:rPr sz="1800" spc="-30" dirty="0"/>
              <a:t> </a:t>
            </a:r>
            <a:r>
              <a:rPr sz="1800" dirty="0"/>
              <a:t>a</a:t>
            </a:r>
            <a:r>
              <a:rPr sz="1800" spc="-30" dirty="0"/>
              <a:t> </a:t>
            </a:r>
            <a:r>
              <a:rPr sz="1800" spc="-10" dirty="0"/>
              <a:t>Thread</a:t>
            </a:r>
            <a:endParaRPr sz="1800" dirty="0"/>
          </a:p>
        </p:txBody>
      </p:sp>
      <p:sp>
        <p:nvSpPr>
          <p:cNvPr id="5" name="object 5"/>
          <p:cNvSpPr txBox="1"/>
          <p:nvPr/>
        </p:nvSpPr>
        <p:spPr>
          <a:xfrm>
            <a:off x="410375" y="2344756"/>
            <a:ext cx="4381500" cy="3921843"/>
          </a:xfrm>
          <a:prstGeom prst="rect">
            <a:avLst/>
          </a:prstGeom>
        </p:spPr>
        <p:txBody>
          <a:bodyPr vert="horz" wrap="square" lIns="0" tIns="12700" rIns="0" bIns="0" rtlCol="0">
            <a:spAutoFit/>
          </a:bodyPr>
          <a:lstStyle/>
          <a:p>
            <a:pPr marL="12700" marR="5080">
              <a:lnSpc>
                <a:spcPct val="114000"/>
              </a:lnSpc>
              <a:spcBef>
                <a:spcPts val="100"/>
              </a:spcBef>
              <a:spcAft>
                <a:spcPts val="1800"/>
              </a:spcAft>
            </a:pPr>
            <a:r>
              <a:rPr sz="1800" dirty="0">
                <a:solidFill>
                  <a:srgbClr val="0F2044"/>
                </a:solidFill>
                <a:latin typeface="Arial MT"/>
                <a:cs typeface="Arial MT"/>
              </a:rPr>
              <a:t>Sometimes</a:t>
            </a:r>
            <a:r>
              <a:rPr sz="1800" spc="-25" dirty="0">
                <a:solidFill>
                  <a:srgbClr val="0F2044"/>
                </a:solidFill>
                <a:latin typeface="Arial MT"/>
                <a:cs typeface="Arial MT"/>
              </a:rPr>
              <a:t> </a:t>
            </a:r>
            <a:r>
              <a:rPr sz="1800" dirty="0">
                <a:solidFill>
                  <a:srgbClr val="0F2044"/>
                </a:solidFill>
                <a:latin typeface="Arial MT"/>
                <a:cs typeface="Arial MT"/>
              </a:rPr>
              <a:t>you</a:t>
            </a:r>
            <a:r>
              <a:rPr sz="1800" spc="-10" dirty="0">
                <a:solidFill>
                  <a:srgbClr val="0F2044"/>
                </a:solidFill>
                <a:latin typeface="Arial MT"/>
                <a:cs typeface="Arial MT"/>
              </a:rPr>
              <a:t> </a:t>
            </a:r>
            <a:r>
              <a:rPr sz="1800" dirty="0">
                <a:solidFill>
                  <a:srgbClr val="0F2044"/>
                </a:solidFill>
                <a:latin typeface="Arial MT"/>
                <a:cs typeface="Arial MT"/>
              </a:rPr>
              <a:t>specifically</a:t>
            </a:r>
            <a:r>
              <a:rPr sz="1800" spc="-15" dirty="0">
                <a:solidFill>
                  <a:srgbClr val="0F2044"/>
                </a:solidFill>
                <a:latin typeface="Arial MT"/>
                <a:cs typeface="Arial MT"/>
              </a:rPr>
              <a:t> </a:t>
            </a:r>
            <a:r>
              <a:rPr sz="1800" dirty="0">
                <a:solidFill>
                  <a:srgbClr val="0F2044"/>
                </a:solidFill>
                <a:latin typeface="Arial MT"/>
                <a:cs typeface="Arial MT"/>
              </a:rPr>
              <a:t>want</a:t>
            </a:r>
            <a:r>
              <a:rPr sz="1800" spc="-10"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wait</a:t>
            </a:r>
            <a:r>
              <a:rPr sz="1800" spc="-10" dirty="0">
                <a:solidFill>
                  <a:srgbClr val="0F2044"/>
                </a:solidFill>
                <a:latin typeface="Arial MT"/>
                <a:cs typeface="Arial MT"/>
              </a:rPr>
              <a:t> </a:t>
            </a:r>
            <a:r>
              <a:rPr sz="1800" spc="-25" dirty="0">
                <a:solidFill>
                  <a:srgbClr val="0F2044"/>
                </a:solidFill>
                <a:latin typeface="Arial MT"/>
                <a:cs typeface="Arial MT"/>
              </a:rPr>
              <a:t>for </a:t>
            </a:r>
            <a:r>
              <a:rPr sz="1800" dirty="0">
                <a:solidFill>
                  <a:srgbClr val="0F2044"/>
                </a:solidFill>
                <a:latin typeface="Arial MT"/>
                <a:cs typeface="Arial MT"/>
              </a:rPr>
              <a:t>a</a:t>
            </a:r>
            <a:r>
              <a:rPr sz="1800" spc="-30" dirty="0">
                <a:solidFill>
                  <a:srgbClr val="0F2044"/>
                </a:solidFill>
                <a:latin typeface="Arial MT"/>
                <a:cs typeface="Arial MT"/>
              </a:rPr>
              <a:t> </a:t>
            </a:r>
            <a:r>
              <a:rPr sz="1800" dirty="0">
                <a:solidFill>
                  <a:srgbClr val="0F2044"/>
                </a:solidFill>
                <a:latin typeface="Arial MT"/>
                <a:cs typeface="Arial MT"/>
              </a:rPr>
              <a:t>thread</a:t>
            </a:r>
            <a:r>
              <a:rPr sz="1800" spc="-20" dirty="0">
                <a:solidFill>
                  <a:srgbClr val="0F2044"/>
                </a:solidFill>
                <a:latin typeface="Arial MT"/>
                <a:cs typeface="Arial MT"/>
              </a:rPr>
              <a:t> </a:t>
            </a:r>
            <a:r>
              <a:rPr sz="1800" dirty="0">
                <a:solidFill>
                  <a:srgbClr val="0F2044"/>
                </a:solidFill>
                <a:latin typeface="Arial MT"/>
                <a:cs typeface="Arial MT"/>
              </a:rPr>
              <a:t>to</a:t>
            </a:r>
            <a:r>
              <a:rPr sz="1800" spc="-20" dirty="0">
                <a:solidFill>
                  <a:srgbClr val="0F2044"/>
                </a:solidFill>
                <a:latin typeface="Arial MT"/>
                <a:cs typeface="Arial MT"/>
              </a:rPr>
              <a:t> </a:t>
            </a:r>
            <a:r>
              <a:rPr sz="1800" dirty="0">
                <a:solidFill>
                  <a:srgbClr val="0F2044"/>
                </a:solidFill>
                <a:latin typeface="Arial MT"/>
                <a:cs typeface="Arial MT"/>
              </a:rPr>
              <a:t>exit.</a:t>
            </a:r>
            <a:r>
              <a:rPr sz="1800" spc="-20" dirty="0">
                <a:solidFill>
                  <a:srgbClr val="0F2044"/>
                </a:solidFill>
                <a:latin typeface="Arial MT"/>
                <a:cs typeface="Arial MT"/>
              </a:rPr>
              <a:t> </a:t>
            </a:r>
            <a:r>
              <a:rPr sz="1800" dirty="0">
                <a:solidFill>
                  <a:srgbClr val="0F2044"/>
                </a:solidFill>
                <a:latin typeface="Arial MT"/>
                <a:cs typeface="Arial MT"/>
              </a:rPr>
              <a:t>Perhaps</a:t>
            </a:r>
            <a:r>
              <a:rPr sz="1800" spc="-20" dirty="0">
                <a:solidFill>
                  <a:srgbClr val="0F2044"/>
                </a:solidFill>
                <a:latin typeface="Arial MT"/>
                <a:cs typeface="Arial MT"/>
              </a:rPr>
              <a:t> </a:t>
            </a:r>
            <a:r>
              <a:rPr sz="1800" dirty="0">
                <a:solidFill>
                  <a:srgbClr val="0F2044"/>
                </a:solidFill>
                <a:latin typeface="Arial MT"/>
                <a:cs typeface="Arial MT"/>
              </a:rPr>
              <a:t>you’ve</a:t>
            </a:r>
            <a:r>
              <a:rPr sz="1800" spc="-20" dirty="0">
                <a:solidFill>
                  <a:srgbClr val="0F2044"/>
                </a:solidFill>
                <a:latin typeface="Arial MT"/>
                <a:cs typeface="Arial MT"/>
              </a:rPr>
              <a:t> </a:t>
            </a:r>
            <a:r>
              <a:rPr sz="1800" dirty="0">
                <a:solidFill>
                  <a:srgbClr val="0F2044"/>
                </a:solidFill>
                <a:latin typeface="Arial MT"/>
                <a:cs typeface="Arial MT"/>
              </a:rPr>
              <a:t>created</a:t>
            </a:r>
            <a:r>
              <a:rPr sz="1800" spc="-20" dirty="0">
                <a:solidFill>
                  <a:srgbClr val="0F2044"/>
                </a:solidFill>
                <a:latin typeface="Arial MT"/>
                <a:cs typeface="Arial MT"/>
              </a:rPr>
              <a:t> </a:t>
            </a:r>
            <a:r>
              <a:rPr sz="1800" spc="-25" dirty="0">
                <a:solidFill>
                  <a:srgbClr val="0F2044"/>
                </a:solidFill>
                <a:latin typeface="Arial MT"/>
                <a:cs typeface="Arial MT"/>
              </a:rPr>
              <a:t>20 </a:t>
            </a:r>
            <a:r>
              <a:rPr sz="1800" dirty="0">
                <a:solidFill>
                  <a:srgbClr val="0F2044"/>
                </a:solidFill>
                <a:latin typeface="Arial MT"/>
                <a:cs typeface="Arial MT"/>
              </a:rPr>
              <a:t>threads</a:t>
            </a:r>
            <a:r>
              <a:rPr sz="1800" spc="-20" dirty="0">
                <a:solidFill>
                  <a:srgbClr val="0F2044"/>
                </a:solidFill>
                <a:latin typeface="Arial MT"/>
                <a:cs typeface="Arial MT"/>
              </a:rPr>
              <a:t> </a:t>
            </a:r>
            <a:r>
              <a:rPr sz="1800" dirty="0">
                <a:solidFill>
                  <a:srgbClr val="0F2044"/>
                </a:solidFill>
                <a:latin typeface="Arial MT"/>
                <a:cs typeface="Arial MT"/>
              </a:rPr>
              <a:t>to</a:t>
            </a:r>
            <a:r>
              <a:rPr sz="1800" spc="-10" dirty="0">
                <a:solidFill>
                  <a:srgbClr val="0F2044"/>
                </a:solidFill>
                <a:latin typeface="Arial MT"/>
                <a:cs typeface="Arial MT"/>
              </a:rPr>
              <a:t> </a:t>
            </a:r>
            <a:r>
              <a:rPr sz="1800" dirty="0">
                <a:solidFill>
                  <a:srgbClr val="0F2044"/>
                </a:solidFill>
                <a:latin typeface="Arial MT"/>
                <a:cs typeface="Arial MT"/>
              </a:rPr>
              <a:t>do</a:t>
            </a:r>
            <a:r>
              <a:rPr sz="1800" spc="-5" dirty="0">
                <a:solidFill>
                  <a:srgbClr val="0F2044"/>
                </a:solidFill>
                <a:latin typeface="Arial MT"/>
                <a:cs typeface="Arial MT"/>
              </a:rPr>
              <a:t> </a:t>
            </a:r>
            <a:r>
              <a:rPr sz="1800" dirty="0">
                <a:solidFill>
                  <a:srgbClr val="0F2044"/>
                </a:solidFill>
                <a:latin typeface="Arial MT"/>
                <a:cs typeface="Arial MT"/>
              </a:rPr>
              <a:t>20</a:t>
            </a:r>
            <a:r>
              <a:rPr sz="1800" spc="-10" dirty="0">
                <a:solidFill>
                  <a:srgbClr val="0F2044"/>
                </a:solidFill>
                <a:latin typeface="Arial MT"/>
                <a:cs typeface="Arial MT"/>
              </a:rPr>
              <a:t> </a:t>
            </a:r>
            <a:r>
              <a:rPr sz="1800" dirty="0">
                <a:solidFill>
                  <a:srgbClr val="0F2044"/>
                </a:solidFill>
                <a:latin typeface="Arial MT"/>
                <a:cs typeface="Arial MT"/>
              </a:rPr>
              <a:t>pieces</a:t>
            </a:r>
            <a:r>
              <a:rPr sz="1800" spc="-10" dirty="0">
                <a:solidFill>
                  <a:srgbClr val="0F2044"/>
                </a:solidFill>
                <a:latin typeface="Arial MT"/>
                <a:cs typeface="Arial MT"/>
              </a:rPr>
              <a:t> </a:t>
            </a:r>
            <a:r>
              <a:rPr sz="1800" dirty="0">
                <a:solidFill>
                  <a:srgbClr val="0F2044"/>
                </a:solidFill>
                <a:latin typeface="Arial MT"/>
                <a:cs typeface="Arial MT"/>
              </a:rPr>
              <a:t>of</a:t>
            </a:r>
            <a:r>
              <a:rPr sz="1800" spc="-5" dirty="0">
                <a:solidFill>
                  <a:srgbClr val="0F2044"/>
                </a:solidFill>
                <a:latin typeface="Arial MT"/>
                <a:cs typeface="Arial MT"/>
              </a:rPr>
              <a:t> </a:t>
            </a:r>
            <a:r>
              <a:rPr sz="1800" dirty="0">
                <a:solidFill>
                  <a:srgbClr val="0F2044"/>
                </a:solidFill>
                <a:latin typeface="Arial MT"/>
                <a:cs typeface="Arial MT"/>
              </a:rPr>
              <a:t>a</a:t>
            </a:r>
            <a:r>
              <a:rPr sz="1800" spc="-10" dirty="0">
                <a:solidFill>
                  <a:srgbClr val="0F2044"/>
                </a:solidFill>
                <a:latin typeface="Arial MT"/>
                <a:cs typeface="Arial MT"/>
              </a:rPr>
              <a:t> </a:t>
            </a:r>
            <a:r>
              <a:rPr sz="1800" dirty="0">
                <a:solidFill>
                  <a:srgbClr val="0F2044"/>
                </a:solidFill>
                <a:latin typeface="Arial MT"/>
                <a:cs typeface="Arial MT"/>
              </a:rPr>
              <a:t>task</a:t>
            </a:r>
            <a:r>
              <a:rPr lang="en-US" sz="1800" dirty="0">
                <a:solidFill>
                  <a:srgbClr val="0F2044"/>
                </a:solidFill>
                <a:latin typeface="Arial MT"/>
                <a:cs typeface="Arial MT"/>
              </a:rPr>
              <a:t>,</a:t>
            </a:r>
            <a:r>
              <a:rPr sz="1800" spc="-10" dirty="0">
                <a:solidFill>
                  <a:srgbClr val="0F2044"/>
                </a:solidFill>
                <a:latin typeface="Arial MT"/>
                <a:cs typeface="Arial MT"/>
              </a:rPr>
              <a:t> </a:t>
            </a:r>
            <a:r>
              <a:rPr sz="1800" dirty="0">
                <a:solidFill>
                  <a:srgbClr val="0F2044"/>
                </a:solidFill>
                <a:latin typeface="Arial MT"/>
                <a:cs typeface="Arial MT"/>
              </a:rPr>
              <a:t>and</a:t>
            </a:r>
            <a:r>
              <a:rPr sz="1800" spc="-5" dirty="0">
                <a:solidFill>
                  <a:srgbClr val="0F2044"/>
                </a:solidFill>
                <a:latin typeface="Arial MT"/>
                <a:cs typeface="Arial MT"/>
              </a:rPr>
              <a:t> </a:t>
            </a:r>
            <a:r>
              <a:rPr sz="1800" spc="-25" dirty="0">
                <a:solidFill>
                  <a:srgbClr val="0F2044"/>
                </a:solidFill>
                <a:latin typeface="Arial MT"/>
                <a:cs typeface="Arial MT"/>
              </a:rPr>
              <a:t>you </a:t>
            </a:r>
            <a:r>
              <a:rPr sz="1800" dirty="0">
                <a:solidFill>
                  <a:srgbClr val="0F2044"/>
                </a:solidFill>
                <a:latin typeface="Arial MT"/>
                <a:cs typeface="Arial MT"/>
              </a:rPr>
              <a:t>can’t</a:t>
            </a:r>
            <a:r>
              <a:rPr sz="1800" spc="-25" dirty="0">
                <a:solidFill>
                  <a:srgbClr val="0F2044"/>
                </a:solidFill>
                <a:latin typeface="Arial MT"/>
                <a:cs typeface="Arial MT"/>
              </a:rPr>
              <a:t> </a:t>
            </a:r>
            <a:r>
              <a:rPr sz="1800" dirty="0">
                <a:solidFill>
                  <a:srgbClr val="0F2044"/>
                </a:solidFill>
                <a:latin typeface="Arial MT"/>
                <a:cs typeface="Arial MT"/>
              </a:rPr>
              <a:t>continue</a:t>
            </a:r>
            <a:r>
              <a:rPr sz="1800" spc="-20" dirty="0">
                <a:solidFill>
                  <a:srgbClr val="0F2044"/>
                </a:solidFill>
                <a:latin typeface="Arial MT"/>
                <a:cs typeface="Arial MT"/>
              </a:rPr>
              <a:t> </a:t>
            </a:r>
            <a:r>
              <a:rPr sz="1800" dirty="0">
                <a:solidFill>
                  <a:srgbClr val="0F2044"/>
                </a:solidFill>
                <a:latin typeface="Arial MT"/>
                <a:cs typeface="Arial MT"/>
              </a:rPr>
              <a:t>until</a:t>
            </a:r>
            <a:r>
              <a:rPr sz="1800" spc="-20" dirty="0">
                <a:solidFill>
                  <a:srgbClr val="0F2044"/>
                </a:solidFill>
                <a:latin typeface="Arial MT"/>
                <a:cs typeface="Arial MT"/>
              </a:rPr>
              <a:t> </a:t>
            </a:r>
            <a:r>
              <a:rPr sz="1800" dirty="0">
                <a:solidFill>
                  <a:srgbClr val="0F2044"/>
                </a:solidFill>
                <a:latin typeface="Arial MT"/>
                <a:cs typeface="Arial MT"/>
              </a:rPr>
              <a:t>they</a:t>
            </a:r>
            <a:r>
              <a:rPr sz="1800" spc="-20" dirty="0">
                <a:solidFill>
                  <a:srgbClr val="0F2044"/>
                </a:solidFill>
                <a:latin typeface="Arial MT"/>
                <a:cs typeface="Arial MT"/>
              </a:rPr>
              <a:t> </a:t>
            </a:r>
            <a:r>
              <a:rPr sz="1800" dirty="0">
                <a:solidFill>
                  <a:srgbClr val="0F2044"/>
                </a:solidFill>
                <a:latin typeface="Arial MT"/>
                <a:cs typeface="Arial MT"/>
              </a:rPr>
              <a:t>are</a:t>
            </a:r>
            <a:r>
              <a:rPr sz="1800" spc="-20" dirty="0">
                <a:solidFill>
                  <a:srgbClr val="0F2044"/>
                </a:solidFill>
                <a:latin typeface="Arial MT"/>
                <a:cs typeface="Arial MT"/>
              </a:rPr>
              <a:t> </a:t>
            </a:r>
            <a:r>
              <a:rPr sz="1800" dirty="0">
                <a:solidFill>
                  <a:srgbClr val="0F2044"/>
                </a:solidFill>
                <a:latin typeface="Arial MT"/>
                <a:cs typeface="Arial MT"/>
              </a:rPr>
              <a:t>all</a:t>
            </a:r>
            <a:r>
              <a:rPr sz="1800" spc="-20" dirty="0">
                <a:solidFill>
                  <a:srgbClr val="0F2044"/>
                </a:solidFill>
                <a:latin typeface="Arial MT"/>
                <a:cs typeface="Arial MT"/>
              </a:rPr>
              <a:t> </a:t>
            </a:r>
            <a:r>
              <a:rPr sz="1800" spc="-10" dirty="0">
                <a:solidFill>
                  <a:srgbClr val="0F2044"/>
                </a:solidFill>
                <a:latin typeface="Arial MT"/>
                <a:cs typeface="Arial MT"/>
              </a:rPr>
              <a:t>finished.</a:t>
            </a:r>
            <a:endParaRPr sz="1800" dirty="0">
              <a:latin typeface="Arial MT"/>
              <a:cs typeface="Arial MT"/>
            </a:endParaRPr>
          </a:p>
          <a:p>
            <a:pPr marL="12700" marR="412115">
              <a:lnSpc>
                <a:spcPct val="114000"/>
              </a:lnSpc>
              <a:spcAft>
                <a:spcPts val="1800"/>
              </a:spcAft>
            </a:pPr>
            <a:r>
              <a:rPr sz="1800" dirty="0">
                <a:solidFill>
                  <a:srgbClr val="0F2044"/>
                </a:solidFill>
                <a:latin typeface="Arial MT"/>
                <a:cs typeface="Arial MT"/>
              </a:rPr>
              <a:t>One</a:t>
            </a:r>
            <a:r>
              <a:rPr sz="1800" spc="-15" dirty="0">
                <a:solidFill>
                  <a:srgbClr val="0F2044"/>
                </a:solidFill>
                <a:latin typeface="Arial MT"/>
                <a:cs typeface="Arial MT"/>
              </a:rPr>
              <a:t> </a:t>
            </a:r>
            <a:r>
              <a:rPr sz="1800" dirty="0">
                <a:solidFill>
                  <a:srgbClr val="0F2044"/>
                </a:solidFill>
                <a:latin typeface="Arial MT"/>
                <a:cs typeface="Arial MT"/>
              </a:rPr>
              <a:t>way</a:t>
            </a:r>
            <a:r>
              <a:rPr sz="1800" spc="-15" dirty="0">
                <a:solidFill>
                  <a:srgbClr val="0F2044"/>
                </a:solidFill>
                <a:latin typeface="Arial MT"/>
                <a:cs typeface="Arial MT"/>
              </a:rPr>
              <a:t> </a:t>
            </a:r>
            <a:r>
              <a:rPr sz="1800" dirty="0">
                <a:solidFill>
                  <a:srgbClr val="0F2044"/>
                </a:solidFill>
                <a:latin typeface="Arial MT"/>
                <a:cs typeface="Arial MT"/>
              </a:rPr>
              <a:t>to</a:t>
            </a:r>
            <a:r>
              <a:rPr sz="1800" spc="-10" dirty="0">
                <a:solidFill>
                  <a:srgbClr val="0F2044"/>
                </a:solidFill>
                <a:latin typeface="Arial MT"/>
                <a:cs typeface="Arial MT"/>
              </a:rPr>
              <a:t> </a:t>
            </a:r>
            <a:r>
              <a:rPr sz="1800" dirty="0">
                <a:solidFill>
                  <a:srgbClr val="0F2044"/>
                </a:solidFill>
                <a:latin typeface="Arial MT"/>
                <a:cs typeface="Arial MT"/>
              </a:rPr>
              <a:t>do</a:t>
            </a:r>
            <a:r>
              <a:rPr sz="1800" spc="-15" dirty="0">
                <a:solidFill>
                  <a:srgbClr val="0F2044"/>
                </a:solidFill>
                <a:latin typeface="Arial MT"/>
                <a:cs typeface="Arial MT"/>
              </a:rPr>
              <a:t> </a:t>
            </a:r>
            <a:r>
              <a:rPr sz="1800" dirty="0">
                <a:solidFill>
                  <a:srgbClr val="0F2044"/>
                </a:solidFill>
                <a:latin typeface="Arial MT"/>
                <a:cs typeface="Arial MT"/>
              </a:rPr>
              <a:t>this,</a:t>
            </a:r>
            <a:r>
              <a:rPr sz="1800" spc="-10" dirty="0">
                <a:solidFill>
                  <a:srgbClr val="0F2044"/>
                </a:solidFill>
                <a:latin typeface="Arial MT"/>
                <a:cs typeface="Arial MT"/>
              </a:rPr>
              <a:t> </a:t>
            </a:r>
            <a:r>
              <a:rPr sz="1800" dirty="0">
                <a:solidFill>
                  <a:srgbClr val="0F2044"/>
                </a:solidFill>
                <a:latin typeface="Arial MT"/>
                <a:cs typeface="Arial MT"/>
              </a:rPr>
              <a:t>is</a:t>
            </a:r>
            <a:r>
              <a:rPr sz="1800" spc="-15" dirty="0">
                <a:solidFill>
                  <a:srgbClr val="0F2044"/>
                </a:solidFill>
                <a:latin typeface="Arial MT"/>
                <a:cs typeface="Arial MT"/>
              </a:rPr>
              <a:t> </a:t>
            </a:r>
            <a:r>
              <a:rPr sz="1800" dirty="0">
                <a:solidFill>
                  <a:srgbClr val="0F2044"/>
                </a:solidFill>
                <a:latin typeface="Arial MT"/>
                <a:cs typeface="Arial MT"/>
              </a:rPr>
              <a:t>to</a:t>
            </a:r>
            <a:r>
              <a:rPr sz="1800" spc="-10" dirty="0">
                <a:solidFill>
                  <a:srgbClr val="0F2044"/>
                </a:solidFill>
                <a:latin typeface="Arial MT"/>
                <a:cs typeface="Arial MT"/>
              </a:rPr>
              <a:t> </a:t>
            </a:r>
            <a:r>
              <a:rPr sz="1800" dirty="0">
                <a:solidFill>
                  <a:srgbClr val="0F2044"/>
                </a:solidFill>
                <a:latin typeface="Arial MT"/>
                <a:cs typeface="Arial MT"/>
              </a:rPr>
              <a:t>call</a:t>
            </a:r>
            <a:r>
              <a:rPr sz="1800" spc="-15" dirty="0">
                <a:solidFill>
                  <a:srgbClr val="0F2044"/>
                </a:solidFill>
                <a:latin typeface="Arial MT"/>
                <a:cs typeface="Arial MT"/>
              </a:rPr>
              <a:t> </a:t>
            </a:r>
            <a:r>
              <a:rPr sz="1800" dirty="0">
                <a:solidFill>
                  <a:srgbClr val="0F2044"/>
                </a:solidFill>
                <a:latin typeface="Arial MT"/>
                <a:cs typeface="Arial MT"/>
              </a:rPr>
              <a:t>the</a:t>
            </a:r>
            <a:r>
              <a:rPr sz="1800" spc="-10" dirty="0">
                <a:solidFill>
                  <a:srgbClr val="0F2044"/>
                </a:solidFill>
                <a:latin typeface="Arial MT"/>
                <a:cs typeface="Arial MT"/>
              </a:rPr>
              <a:t> </a:t>
            </a:r>
            <a:r>
              <a:rPr sz="1800" spc="-20" dirty="0">
                <a:solidFill>
                  <a:srgbClr val="0F2044"/>
                </a:solidFill>
                <a:latin typeface="Arial MT"/>
                <a:cs typeface="Arial MT"/>
              </a:rPr>
              <a:t>wait </a:t>
            </a:r>
            <a:r>
              <a:rPr sz="1800" dirty="0">
                <a:solidFill>
                  <a:srgbClr val="0F2044"/>
                </a:solidFill>
                <a:latin typeface="Arial MT"/>
                <a:cs typeface="Arial MT"/>
              </a:rPr>
              <a:t>(in</a:t>
            </a:r>
            <a:r>
              <a:rPr sz="1800" spc="-30" dirty="0">
                <a:solidFill>
                  <a:srgbClr val="0F2044"/>
                </a:solidFill>
                <a:latin typeface="Arial MT"/>
                <a:cs typeface="Arial MT"/>
              </a:rPr>
              <a:t> </a:t>
            </a:r>
            <a:r>
              <a:rPr sz="1800" dirty="0">
                <a:solidFill>
                  <a:srgbClr val="0F2044"/>
                </a:solidFill>
                <a:latin typeface="Arial MT"/>
                <a:cs typeface="Arial MT"/>
              </a:rPr>
              <a:t>POSIX,</a:t>
            </a:r>
            <a:r>
              <a:rPr sz="1800" spc="-20" dirty="0">
                <a:solidFill>
                  <a:srgbClr val="0F2044"/>
                </a:solidFill>
                <a:latin typeface="Arial MT"/>
                <a:cs typeface="Arial MT"/>
              </a:rPr>
              <a:t> </a:t>
            </a:r>
            <a:r>
              <a:rPr sz="1800" dirty="0">
                <a:solidFill>
                  <a:srgbClr val="0F2044"/>
                </a:solidFill>
                <a:latin typeface="Arial MT"/>
                <a:cs typeface="Arial MT"/>
              </a:rPr>
              <a:t>join)</a:t>
            </a:r>
            <a:r>
              <a:rPr sz="1800" spc="-20" dirty="0">
                <a:solidFill>
                  <a:srgbClr val="0F2044"/>
                </a:solidFill>
                <a:latin typeface="Arial MT"/>
                <a:cs typeface="Arial MT"/>
              </a:rPr>
              <a:t> </a:t>
            </a:r>
            <a:r>
              <a:rPr sz="1800" dirty="0">
                <a:solidFill>
                  <a:srgbClr val="0F2044"/>
                </a:solidFill>
                <a:latin typeface="Arial MT"/>
                <a:cs typeface="Arial MT"/>
              </a:rPr>
              <a:t>function</a:t>
            </a:r>
            <a:r>
              <a:rPr sz="1800" spc="-15" dirty="0">
                <a:solidFill>
                  <a:srgbClr val="0F2044"/>
                </a:solidFill>
                <a:latin typeface="Arial MT"/>
                <a:cs typeface="Arial MT"/>
              </a:rPr>
              <a:t> </a:t>
            </a:r>
            <a:r>
              <a:rPr sz="1800" dirty="0">
                <a:solidFill>
                  <a:srgbClr val="0F2044"/>
                </a:solidFill>
                <a:latin typeface="Arial MT"/>
                <a:cs typeface="Arial MT"/>
              </a:rPr>
              <a:t>on</a:t>
            </a:r>
            <a:r>
              <a:rPr sz="1800" spc="-20" dirty="0">
                <a:solidFill>
                  <a:srgbClr val="0F2044"/>
                </a:solidFill>
                <a:latin typeface="Arial MT"/>
                <a:cs typeface="Arial MT"/>
              </a:rPr>
              <a:t> </a:t>
            </a:r>
            <a:r>
              <a:rPr sz="1800" dirty="0">
                <a:solidFill>
                  <a:srgbClr val="0F2044"/>
                </a:solidFill>
                <a:latin typeface="Arial MT"/>
                <a:cs typeface="Arial MT"/>
              </a:rPr>
              <a:t>each</a:t>
            </a:r>
            <a:r>
              <a:rPr sz="1800" spc="-20"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spc="-25" dirty="0">
                <a:solidFill>
                  <a:srgbClr val="0F2044"/>
                </a:solidFill>
                <a:latin typeface="Arial MT"/>
                <a:cs typeface="Arial MT"/>
              </a:rPr>
              <a:t>the </a:t>
            </a:r>
            <a:r>
              <a:rPr sz="1800" dirty="0">
                <a:solidFill>
                  <a:srgbClr val="0F2044"/>
                </a:solidFill>
                <a:latin typeface="Arial MT"/>
                <a:cs typeface="Arial MT"/>
              </a:rPr>
              <a:t>desired</a:t>
            </a:r>
            <a:r>
              <a:rPr sz="1800" spc="-35" dirty="0">
                <a:solidFill>
                  <a:srgbClr val="0F2044"/>
                </a:solidFill>
                <a:latin typeface="Arial MT"/>
                <a:cs typeface="Arial MT"/>
              </a:rPr>
              <a:t> </a:t>
            </a:r>
            <a:r>
              <a:rPr sz="1800" dirty="0">
                <a:solidFill>
                  <a:srgbClr val="0F2044"/>
                </a:solidFill>
                <a:latin typeface="Arial MT"/>
                <a:cs typeface="Arial MT"/>
              </a:rPr>
              <a:t>thread</a:t>
            </a:r>
            <a:r>
              <a:rPr sz="1800" spc="-30" dirty="0">
                <a:solidFill>
                  <a:srgbClr val="0F2044"/>
                </a:solidFill>
                <a:latin typeface="Arial MT"/>
                <a:cs typeface="Arial MT"/>
              </a:rPr>
              <a:t> </a:t>
            </a:r>
            <a:r>
              <a:rPr sz="1800" spc="-20" dirty="0">
                <a:solidFill>
                  <a:srgbClr val="0F2044"/>
                </a:solidFill>
                <a:latin typeface="Arial MT"/>
                <a:cs typeface="Arial MT"/>
              </a:rPr>
              <a:t>IDs.</a:t>
            </a:r>
            <a:endParaRPr lang="en-US" sz="1800" spc="-20" dirty="0">
              <a:solidFill>
                <a:srgbClr val="0F2044"/>
              </a:solidFill>
              <a:latin typeface="Arial MT"/>
              <a:cs typeface="Arial MT"/>
            </a:endParaRPr>
          </a:p>
          <a:p>
            <a:pPr marL="12700" marR="412115">
              <a:lnSpc>
                <a:spcPct val="114000"/>
              </a:lnSpc>
            </a:pPr>
            <a:r>
              <a:rPr lang="en-US" sz="1800" dirty="0">
                <a:solidFill>
                  <a:srgbClr val="0F2044"/>
                </a:solidFill>
                <a:latin typeface="Arial MT"/>
                <a:cs typeface="Arial MT"/>
              </a:rPr>
              <a:t>The</a:t>
            </a:r>
            <a:r>
              <a:rPr lang="en-US" sz="1800" spc="-30" dirty="0">
                <a:solidFill>
                  <a:srgbClr val="0F2044"/>
                </a:solidFill>
                <a:latin typeface="Arial MT"/>
                <a:cs typeface="Arial MT"/>
              </a:rPr>
              <a:t> </a:t>
            </a:r>
            <a:r>
              <a:rPr lang="en-US" sz="1800" dirty="0">
                <a:solidFill>
                  <a:srgbClr val="0F2044"/>
                </a:solidFill>
                <a:latin typeface="Arial MT"/>
                <a:cs typeface="Arial MT"/>
              </a:rPr>
              <a:t>caller</a:t>
            </a:r>
            <a:r>
              <a:rPr lang="en-US" sz="1800" spc="-20" dirty="0">
                <a:solidFill>
                  <a:srgbClr val="0F2044"/>
                </a:solidFill>
                <a:latin typeface="Arial MT"/>
                <a:cs typeface="Arial MT"/>
              </a:rPr>
              <a:t> </a:t>
            </a:r>
            <a:r>
              <a:rPr lang="en-US" sz="1800" dirty="0">
                <a:solidFill>
                  <a:srgbClr val="0F2044"/>
                </a:solidFill>
                <a:latin typeface="Arial MT"/>
                <a:cs typeface="Arial MT"/>
              </a:rPr>
              <a:t>will</a:t>
            </a:r>
            <a:r>
              <a:rPr lang="en-US" sz="1800" spc="-15" dirty="0">
                <a:solidFill>
                  <a:srgbClr val="0F2044"/>
                </a:solidFill>
                <a:latin typeface="Arial MT"/>
                <a:cs typeface="Arial MT"/>
              </a:rPr>
              <a:t> </a:t>
            </a:r>
            <a:r>
              <a:rPr lang="en-US" sz="1800" dirty="0">
                <a:solidFill>
                  <a:srgbClr val="0F2044"/>
                </a:solidFill>
                <a:latin typeface="Arial MT"/>
                <a:cs typeface="Arial MT"/>
              </a:rPr>
              <a:t>block</a:t>
            </a:r>
            <a:r>
              <a:rPr lang="en-US" sz="1800" spc="-20" dirty="0">
                <a:solidFill>
                  <a:srgbClr val="0F2044"/>
                </a:solidFill>
                <a:latin typeface="Arial MT"/>
                <a:cs typeface="Arial MT"/>
              </a:rPr>
              <a:t> </a:t>
            </a:r>
            <a:r>
              <a:rPr lang="en-US" sz="1800" dirty="0">
                <a:solidFill>
                  <a:srgbClr val="0F2044"/>
                </a:solidFill>
                <a:latin typeface="Arial MT"/>
                <a:cs typeface="Arial MT"/>
              </a:rPr>
              <a:t>until</a:t>
            </a:r>
            <a:r>
              <a:rPr lang="en-US" sz="1800" spc="-15" dirty="0">
                <a:solidFill>
                  <a:srgbClr val="0F2044"/>
                </a:solidFill>
                <a:latin typeface="Arial MT"/>
                <a:cs typeface="Arial MT"/>
              </a:rPr>
              <a:t> </a:t>
            </a:r>
            <a:r>
              <a:rPr lang="en-US" sz="1800" dirty="0">
                <a:solidFill>
                  <a:srgbClr val="0F2044"/>
                </a:solidFill>
                <a:latin typeface="Arial MT"/>
                <a:cs typeface="Arial MT"/>
              </a:rPr>
              <a:t>each</a:t>
            </a:r>
            <a:r>
              <a:rPr lang="en-US" sz="1800" spc="-20" dirty="0">
                <a:solidFill>
                  <a:srgbClr val="0F2044"/>
                </a:solidFill>
                <a:latin typeface="Arial MT"/>
                <a:cs typeface="Arial MT"/>
              </a:rPr>
              <a:t> </a:t>
            </a:r>
            <a:r>
              <a:rPr lang="en-US" sz="1800" dirty="0">
                <a:solidFill>
                  <a:srgbClr val="0F2044"/>
                </a:solidFill>
                <a:latin typeface="Arial MT"/>
                <a:cs typeface="Arial MT"/>
              </a:rPr>
              <a:t>of</a:t>
            </a:r>
            <a:r>
              <a:rPr lang="en-US" sz="1800" spc="-15" dirty="0">
                <a:solidFill>
                  <a:srgbClr val="0F2044"/>
                </a:solidFill>
                <a:latin typeface="Arial MT"/>
                <a:cs typeface="Arial MT"/>
              </a:rPr>
              <a:t> </a:t>
            </a:r>
            <a:r>
              <a:rPr lang="en-US" sz="1800" spc="-25" dirty="0">
                <a:solidFill>
                  <a:srgbClr val="0F2044"/>
                </a:solidFill>
                <a:latin typeface="Arial MT"/>
                <a:cs typeface="Arial MT"/>
              </a:rPr>
              <a:t>the </a:t>
            </a:r>
            <a:r>
              <a:rPr lang="en-US" sz="1800" dirty="0">
                <a:solidFill>
                  <a:srgbClr val="0F2044"/>
                </a:solidFill>
                <a:latin typeface="Arial MT"/>
                <a:cs typeface="Arial MT"/>
              </a:rPr>
              <a:t>specified</a:t>
            </a:r>
            <a:r>
              <a:rPr lang="en-US" sz="1800" spc="-30" dirty="0">
                <a:solidFill>
                  <a:srgbClr val="0F2044"/>
                </a:solidFill>
                <a:latin typeface="Arial MT"/>
                <a:cs typeface="Arial MT"/>
              </a:rPr>
              <a:t> </a:t>
            </a:r>
            <a:r>
              <a:rPr lang="en-US" sz="1800" dirty="0">
                <a:solidFill>
                  <a:srgbClr val="0F2044"/>
                </a:solidFill>
                <a:latin typeface="Arial MT"/>
                <a:cs typeface="Arial MT"/>
              </a:rPr>
              <a:t>threads</a:t>
            </a:r>
            <a:r>
              <a:rPr lang="en-US" sz="1800" spc="-20" dirty="0">
                <a:solidFill>
                  <a:srgbClr val="0F2044"/>
                </a:solidFill>
                <a:latin typeface="Arial MT"/>
                <a:cs typeface="Arial MT"/>
              </a:rPr>
              <a:t> </a:t>
            </a:r>
            <a:r>
              <a:rPr lang="en-US" sz="1800" dirty="0">
                <a:solidFill>
                  <a:srgbClr val="0F2044"/>
                </a:solidFill>
                <a:latin typeface="Arial MT"/>
                <a:cs typeface="Arial MT"/>
              </a:rPr>
              <a:t>has</a:t>
            </a:r>
            <a:r>
              <a:rPr lang="en-US" sz="1800" spc="-20" dirty="0">
                <a:solidFill>
                  <a:srgbClr val="0F2044"/>
                </a:solidFill>
                <a:latin typeface="Arial MT"/>
                <a:cs typeface="Arial MT"/>
              </a:rPr>
              <a:t> </a:t>
            </a:r>
            <a:r>
              <a:rPr lang="en-US" sz="1800" dirty="0">
                <a:solidFill>
                  <a:srgbClr val="0F2044"/>
                </a:solidFill>
                <a:latin typeface="Arial MT"/>
                <a:cs typeface="Arial MT"/>
              </a:rPr>
              <a:t>exited.</a:t>
            </a:r>
            <a:r>
              <a:rPr lang="en-US" sz="1800" spc="-50" dirty="0">
                <a:solidFill>
                  <a:srgbClr val="0F2044"/>
                </a:solidFill>
                <a:latin typeface="Arial MT"/>
                <a:cs typeface="Arial MT"/>
              </a:rPr>
              <a:t> </a:t>
            </a:r>
            <a:r>
              <a:rPr lang="en-US" sz="1800" dirty="0">
                <a:solidFill>
                  <a:srgbClr val="0F2044"/>
                </a:solidFill>
                <a:latin typeface="Arial MT"/>
                <a:cs typeface="Arial MT"/>
              </a:rPr>
              <a:t>The</a:t>
            </a:r>
            <a:r>
              <a:rPr lang="en-US" sz="1800" spc="-20" dirty="0">
                <a:solidFill>
                  <a:srgbClr val="0F2044"/>
                </a:solidFill>
                <a:latin typeface="Arial MT"/>
                <a:cs typeface="Arial MT"/>
              </a:rPr>
              <a:t> </a:t>
            </a:r>
            <a:r>
              <a:rPr lang="en-US" sz="1800" dirty="0">
                <a:solidFill>
                  <a:srgbClr val="0F2044"/>
                </a:solidFill>
                <a:latin typeface="Arial MT"/>
                <a:cs typeface="Arial MT"/>
              </a:rPr>
              <a:t>other</a:t>
            </a:r>
            <a:r>
              <a:rPr lang="en-US" sz="1800" spc="10" dirty="0">
                <a:solidFill>
                  <a:srgbClr val="0F2044"/>
                </a:solidFill>
                <a:latin typeface="Arial MT"/>
                <a:cs typeface="Arial MT"/>
              </a:rPr>
              <a:t> </a:t>
            </a:r>
            <a:r>
              <a:rPr lang="en-US" sz="1800" spc="-25" dirty="0">
                <a:solidFill>
                  <a:srgbClr val="0F2044"/>
                </a:solidFill>
                <a:latin typeface="Arial MT"/>
                <a:cs typeface="Arial MT"/>
              </a:rPr>
              <a:t>way </a:t>
            </a:r>
            <a:r>
              <a:rPr lang="en-US" sz="1800" dirty="0">
                <a:solidFill>
                  <a:srgbClr val="0F2044"/>
                </a:solidFill>
                <a:latin typeface="Arial MT"/>
                <a:cs typeface="Arial MT"/>
              </a:rPr>
              <a:t>is</a:t>
            </a:r>
            <a:r>
              <a:rPr lang="en-US" sz="1800" spc="-35" dirty="0">
                <a:solidFill>
                  <a:srgbClr val="0F2044"/>
                </a:solidFill>
                <a:latin typeface="Arial MT"/>
                <a:cs typeface="Arial MT"/>
              </a:rPr>
              <a:t> </a:t>
            </a:r>
            <a:r>
              <a:rPr lang="en-US" sz="1800" dirty="0">
                <a:solidFill>
                  <a:srgbClr val="0F2044"/>
                </a:solidFill>
                <a:latin typeface="Arial MT"/>
                <a:cs typeface="Arial MT"/>
              </a:rPr>
              <a:t>to</a:t>
            </a:r>
            <a:r>
              <a:rPr lang="en-US" sz="1800" spc="-30" dirty="0">
                <a:solidFill>
                  <a:srgbClr val="0F2044"/>
                </a:solidFill>
                <a:latin typeface="Arial MT"/>
                <a:cs typeface="Arial MT"/>
              </a:rPr>
              <a:t> </a:t>
            </a:r>
            <a:r>
              <a:rPr lang="en-US" sz="1800" dirty="0">
                <a:solidFill>
                  <a:srgbClr val="0F2044"/>
                </a:solidFill>
                <a:latin typeface="Arial MT"/>
                <a:cs typeface="Arial MT"/>
              </a:rPr>
              <a:t>use</a:t>
            </a:r>
            <a:r>
              <a:rPr lang="en-US" sz="1800" spc="-30" dirty="0">
                <a:solidFill>
                  <a:srgbClr val="0F2044"/>
                </a:solidFill>
                <a:latin typeface="Arial MT"/>
                <a:cs typeface="Arial MT"/>
              </a:rPr>
              <a:t> </a:t>
            </a:r>
            <a:r>
              <a:rPr lang="en-US" sz="1800" dirty="0">
                <a:solidFill>
                  <a:srgbClr val="0F2044"/>
                </a:solidFill>
                <a:latin typeface="Arial MT"/>
                <a:cs typeface="Arial MT"/>
              </a:rPr>
              <a:t>normal</a:t>
            </a:r>
            <a:r>
              <a:rPr lang="en-US" sz="1800" spc="-30" dirty="0">
                <a:solidFill>
                  <a:srgbClr val="0F2044"/>
                </a:solidFill>
                <a:latin typeface="Arial MT"/>
                <a:cs typeface="Arial MT"/>
              </a:rPr>
              <a:t> </a:t>
            </a:r>
            <a:r>
              <a:rPr lang="en-US" sz="1800" dirty="0">
                <a:solidFill>
                  <a:srgbClr val="0F2044"/>
                </a:solidFill>
                <a:latin typeface="Arial MT"/>
                <a:cs typeface="Arial MT"/>
              </a:rPr>
              <a:t>synchronization</a:t>
            </a:r>
            <a:r>
              <a:rPr lang="en-US" sz="1800" spc="-30" dirty="0">
                <a:solidFill>
                  <a:srgbClr val="0F2044"/>
                </a:solidFill>
                <a:latin typeface="Arial MT"/>
                <a:cs typeface="Arial MT"/>
              </a:rPr>
              <a:t> </a:t>
            </a:r>
            <a:r>
              <a:rPr lang="en-US" sz="1800" spc="-10" dirty="0">
                <a:solidFill>
                  <a:srgbClr val="0F2044"/>
                </a:solidFill>
                <a:latin typeface="Arial MT"/>
                <a:cs typeface="Arial MT"/>
              </a:rPr>
              <a:t>functions.</a:t>
            </a:r>
            <a:endParaRPr lang="en-US" sz="1800" dirty="0">
              <a:latin typeface="Arial MT"/>
              <a:cs typeface="Arial MT"/>
            </a:endParaRPr>
          </a:p>
        </p:txBody>
      </p:sp>
      <p:grpSp>
        <p:nvGrpSpPr>
          <p:cNvPr id="10" name="Group 9" descr="A timeline diagram comparing two threads, T1 and T5, where T1 enters a &quot;sleeping&quot; state while waiting for T5 to finish and call pthread_exit.">
            <a:extLst>
              <a:ext uri="{FF2B5EF4-FFF2-40B4-BE49-F238E27FC236}">
                <a16:creationId xmlns:a16="http://schemas.microsoft.com/office/drawing/2014/main" id="{204F26DC-4AB1-348A-0528-F8AAAA93AE1D}"/>
              </a:ext>
            </a:extLst>
          </p:cNvPr>
          <p:cNvGrpSpPr/>
          <p:nvPr/>
        </p:nvGrpSpPr>
        <p:grpSpPr>
          <a:xfrm>
            <a:off x="5062475" y="2324599"/>
            <a:ext cx="6851875" cy="2554924"/>
            <a:chOff x="5062475" y="2324599"/>
            <a:chExt cx="6851875" cy="2554924"/>
          </a:xfrm>
        </p:grpSpPr>
        <p:pic>
          <p:nvPicPr>
            <p:cNvPr id="3" name="object 3"/>
            <p:cNvPicPr/>
            <p:nvPr/>
          </p:nvPicPr>
          <p:blipFill>
            <a:blip r:embed="rId3" cstate="print"/>
            <a:stretch>
              <a:fillRect/>
            </a:stretch>
          </p:blipFill>
          <p:spPr>
            <a:xfrm>
              <a:off x="5062475" y="2324599"/>
              <a:ext cx="6851875" cy="2554924"/>
            </a:xfrm>
            <a:prstGeom prst="rect">
              <a:avLst/>
            </a:prstGeom>
          </p:spPr>
        </p:pic>
        <p:cxnSp>
          <p:nvCxnSpPr>
            <p:cNvPr id="8" name="Straight Arrow Connector 7">
              <a:extLst>
                <a:ext uri="{FF2B5EF4-FFF2-40B4-BE49-F238E27FC236}">
                  <a16:creationId xmlns:a16="http://schemas.microsoft.com/office/drawing/2014/main" id="{0A870B7C-9F05-EBD8-74DB-EB5AB89B1B87}"/>
                </a:ext>
              </a:extLst>
            </p:cNvPr>
            <p:cNvCxnSpPr/>
            <p:nvPr/>
          </p:nvCxnSpPr>
          <p:spPr>
            <a:xfrm>
              <a:off x="6215380" y="2908300"/>
              <a:ext cx="0" cy="533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F078918-949C-C438-74C3-951A3C13881A}"/>
                </a:ext>
              </a:extLst>
            </p:cNvPr>
            <p:cNvCxnSpPr/>
            <p:nvPr/>
          </p:nvCxnSpPr>
          <p:spPr>
            <a:xfrm>
              <a:off x="9801860" y="2702560"/>
              <a:ext cx="0" cy="53340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grpSp>
      <p:sp>
        <p:nvSpPr>
          <p:cNvPr id="4" name="object 4">
            <a:extLst>
              <a:ext uri="{C183D7F6-B498-43B3-948B-1728B52AA6E4}">
                <adec:decorative xmlns:adec="http://schemas.microsoft.com/office/drawing/2017/decorative" val="1"/>
              </a:ext>
            </a:extLst>
          </p:cNvPr>
          <p:cNvSpPr txBox="1"/>
          <p:nvPr/>
        </p:nvSpPr>
        <p:spPr>
          <a:xfrm>
            <a:off x="7359525" y="5145320"/>
            <a:ext cx="235013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https://comp3511.github.io/</a:t>
            </a:r>
            <a:endParaRPr sz="1000" dirty="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spc="-10" dirty="0"/>
              <a:t>Terminating</a:t>
            </a:r>
            <a:r>
              <a:rPr sz="1800" spc="-30" dirty="0"/>
              <a:t> </a:t>
            </a:r>
            <a:r>
              <a:rPr sz="1800" dirty="0"/>
              <a:t>a</a:t>
            </a:r>
            <a:r>
              <a:rPr sz="1800" spc="-30" dirty="0"/>
              <a:t> </a:t>
            </a:r>
            <a:r>
              <a:rPr sz="1800" spc="-10" dirty="0"/>
              <a:t>Thread</a:t>
            </a:r>
            <a:endParaRPr sz="1800"/>
          </a:p>
        </p:txBody>
      </p:sp>
      <p:grpSp>
        <p:nvGrpSpPr>
          <p:cNvPr id="25" name="Group 24" descr="The syntax definition of the pthread_exit function, showing its single void *value_ptr parameter used to return a status.">
            <a:extLst>
              <a:ext uri="{FF2B5EF4-FFF2-40B4-BE49-F238E27FC236}">
                <a16:creationId xmlns:a16="http://schemas.microsoft.com/office/drawing/2014/main" id="{A7F8902B-FFF1-28F2-1CE0-7FD6FC4AF73F}"/>
              </a:ext>
            </a:extLst>
          </p:cNvPr>
          <p:cNvGrpSpPr/>
          <p:nvPr/>
        </p:nvGrpSpPr>
        <p:grpSpPr>
          <a:xfrm>
            <a:off x="474049" y="2694475"/>
            <a:ext cx="3532647" cy="805688"/>
            <a:chOff x="474049" y="2694475"/>
            <a:chExt cx="3532647" cy="805688"/>
          </a:xfrm>
        </p:grpSpPr>
        <p:sp>
          <p:nvSpPr>
            <p:cNvPr id="3" name="object 3"/>
            <p:cNvSpPr txBox="1"/>
            <p:nvPr/>
          </p:nvSpPr>
          <p:spPr>
            <a:xfrm>
              <a:off x="474049" y="2694475"/>
              <a:ext cx="1511935" cy="274320"/>
            </a:xfrm>
            <a:prstGeom prst="rect">
              <a:avLst/>
            </a:prstGeom>
            <a:solidFill>
              <a:srgbClr val="F6F6F6"/>
            </a:solidFill>
          </p:spPr>
          <p:txBody>
            <a:bodyPr vert="horz" wrap="square" lIns="0" tIns="0" rIns="0" bIns="0" rtlCol="0">
              <a:spAutoFit/>
            </a:bodyPr>
            <a:lstStyle/>
            <a:p>
              <a:pPr>
                <a:lnSpc>
                  <a:spcPts val="2090"/>
                </a:lnSpc>
              </a:pPr>
              <a:r>
                <a:rPr sz="1800" b="1" spc="-10" dirty="0">
                  <a:latin typeface="Arial"/>
                  <a:cs typeface="Arial"/>
                </a:rPr>
                <a:t>pthread_exit()</a:t>
              </a:r>
              <a:endParaRPr sz="1800" dirty="0">
                <a:latin typeface="Arial"/>
                <a:cs typeface="Arial"/>
              </a:endParaRPr>
            </a:p>
          </p:txBody>
        </p:sp>
        <p:sp>
          <p:nvSpPr>
            <p:cNvPr id="4" name="object 4"/>
            <p:cNvSpPr txBox="1"/>
            <p:nvPr/>
          </p:nvSpPr>
          <p:spPr>
            <a:xfrm>
              <a:off x="474049" y="3225843"/>
              <a:ext cx="1880870" cy="274320"/>
            </a:xfrm>
            <a:prstGeom prst="rect">
              <a:avLst/>
            </a:prstGeom>
            <a:solidFill>
              <a:srgbClr val="F6F6F6"/>
            </a:solidFill>
          </p:spPr>
          <p:txBody>
            <a:bodyPr vert="horz" wrap="square" lIns="0" tIns="0" rIns="0" bIns="0" rtlCol="0">
              <a:spAutoFit/>
            </a:bodyPr>
            <a:lstStyle/>
            <a:p>
              <a:pPr>
                <a:lnSpc>
                  <a:spcPts val="2090"/>
                </a:lnSpc>
              </a:pPr>
              <a:r>
                <a:rPr sz="1800" dirty="0">
                  <a:latin typeface="Arial MT"/>
                  <a:cs typeface="Arial MT"/>
                </a:rPr>
                <a:t>void</a:t>
              </a:r>
              <a:r>
                <a:rPr sz="1800" spc="-40" dirty="0">
                  <a:latin typeface="Arial MT"/>
                  <a:cs typeface="Arial MT"/>
                </a:rPr>
                <a:t> </a:t>
              </a:r>
              <a:r>
                <a:rPr sz="1800" dirty="0">
                  <a:latin typeface="Arial MT"/>
                  <a:cs typeface="Arial MT"/>
                </a:rPr>
                <a:t>pthread_exit</a:t>
              </a:r>
              <a:r>
                <a:rPr sz="1800" spc="-40" dirty="0">
                  <a:latin typeface="Arial MT"/>
                  <a:cs typeface="Arial MT"/>
                </a:rPr>
                <a:t> </a:t>
              </a:r>
              <a:r>
                <a:rPr sz="1800" spc="-50" dirty="0">
                  <a:latin typeface="Arial MT"/>
                  <a:cs typeface="Arial MT"/>
                </a:rPr>
                <a:t>(</a:t>
              </a:r>
              <a:endParaRPr sz="1800" dirty="0">
                <a:latin typeface="Arial MT"/>
                <a:cs typeface="Arial MT"/>
              </a:endParaRPr>
            </a:p>
          </p:txBody>
        </p:sp>
        <p:sp>
          <p:nvSpPr>
            <p:cNvPr id="5" name="object 5"/>
            <p:cNvSpPr txBox="1"/>
            <p:nvPr/>
          </p:nvSpPr>
          <p:spPr>
            <a:xfrm>
              <a:off x="2354753" y="3225843"/>
              <a:ext cx="1512570" cy="274320"/>
            </a:xfrm>
            <a:prstGeom prst="rect">
              <a:avLst/>
            </a:prstGeom>
            <a:solidFill>
              <a:srgbClr val="D9EAD3"/>
            </a:solidFill>
          </p:spPr>
          <p:txBody>
            <a:bodyPr vert="horz" wrap="square" lIns="0" tIns="0" rIns="0" bIns="0" rtlCol="0">
              <a:spAutoFit/>
            </a:bodyPr>
            <a:lstStyle/>
            <a:p>
              <a:pPr>
                <a:lnSpc>
                  <a:spcPts val="2090"/>
                </a:lnSpc>
              </a:pPr>
              <a:r>
                <a:rPr sz="1800" dirty="0">
                  <a:latin typeface="Arial MT"/>
                  <a:cs typeface="Arial MT"/>
                </a:rPr>
                <a:t>void</a:t>
              </a:r>
              <a:r>
                <a:rPr sz="1800" spc="-20" dirty="0">
                  <a:latin typeface="Arial MT"/>
                  <a:cs typeface="Arial MT"/>
                </a:rPr>
                <a:t> </a:t>
              </a:r>
              <a:r>
                <a:rPr sz="1800" spc="-10" dirty="0">
                  <a:latin typeface="Arial MT"/>
                  <a:cs typeface="Arial MT"/>
                </a:rPr>
                <a:t>*value_ptr</a:t>
              </a:r>
              <a:endParaRPr sz="1800">
                <a:latin typeface="Arial MT"/>
                <a:cs typeface="Arial MT"/>
              </a:endParaRPr>
            </a:p>
          </p:txBody>
        </p:sp>
        <p:sp>
          <p:nvSpPr>
            <p:cNvPr id="6" name="object 6"/>
            <p:cNvSpPr txBox="1"/>
            <p:nvPr/>
          </p:nvSpPr>
          <p:spPr>
            <a:xfrm>
              <a:off x="3866996" y="3225843"/>
              <a:ext cx="139700" cy="274320"/>
            </a:xfrm>
            <a:prstGeom prst="rect">
              <a:avLst/>
            </a:prstGeom>
            <a:solidFill>
              <a:srgbClr val="F6F6F6"/>
            </a:solidFill>
          </p:spPr>
          <p:txBody>
            <a:bodyPr vert="horz" wrap="square" lIns="0" tIns="0" rIns="0" bIns="0" rtlCol="0">
              <a:spAutoFit/>
            </a:bodyPr>
            <a:lstStyle/>
            <a:p>
              <a:pPr>
                <a:lnSpc>
                  <a:spcPts val="2090"/>
                </a:lnSpc>
              </a:pPr>
              <a:r>
                <a:rPr sz="1800" spc="-25" dirty="0">
                  <a:latin typeface="Arial MT"/>
                  <a:cs typeface="Arial MT"/>
                </a:rPr>
                <a:t>);</a:t>
              </a:r>
              <a:endParaRPr sz="1800">
                <a:latin typeface="Arial MT"/>
                <a:cs typeface="Arial MT"/>
              </a:endParaRPr>
            </a:p>
          </p:txBody>
        </p:sp>
      </p:grpSp>
      <p:pic>
        <p:nvPicPr>
          <p:cNvPr id="24" name="object 24">
            <a:extLst>
              <a:ext uri="{C183D7F6-B498-43B3-948B-1728B52AA6E4}">
                <adec:decorative xmlns:adec="http://schemas.microsoft.com/office/drawing/2017/decorative" val="1"/>
              </a:ext>
            </a:extLst>
          </p:cNvPr>
          <p:cNvPicPr/>
          <p:nvPr/>
        </p:nvPicPr>
        <p:blipFill>
          <a:blip r:embed="rId3" cstate="print"/>
          <a:stretch>
            <a:fillRect/>
          </a:stretch>
        </p:blipFill>
        <p:spPr>
          <a:xfrm>
            <a:off x="299195" y="3925955"/>
            <a:ext cx="5154540" cy="1773730"/>
          </a:xfrm>
          <a:prstGeom prst="rect">
            <a:avLst/>
          </a:prstGeom>
        </p:spPr>
      </p:pic>
      <p:sp>
        <p:nvSpPr>
          <p:cNvPr id="8" name="object 8">
            <a:extLst>
              <a:ext uri="{C183D7F6-B498-43B3-948B-1728B52AA6E4}">
                <adec:decorative xmlns:adec="http://schemas.microsoft.com/office/drawing/2017/decorative" val="1"/>
              </a:ext>
            </a:extLst>
          </p:cNvPr>
          <p:cNvSpPr txBox="1"/>
          <p:nvPr/>
        </p:nvSpPr>
        <p:spPr>
          <a:xfrm>
            <a:off x="6477000" y="1554480"/>
            <a:ext cx="192087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4" name="object 14">
            <a:extLst>
              <a:ext uri="{C183D7F6-B498-43B3-948B-1728B52AA6E4}">
                <adec:decorative xmlns:adec="http://schemas.microsoft.com/office/drawing/2017/decorative" val="1"/>
              </a:ext>
            </a:extLst>
          </p:cNvPr>
          <p:cNvSpPr txBox="1"/>
          <p:nvPr/>
        </p:nvSpPr>
        <p:spPr>
          <a:xfrm>
            <a:off x="6019800" y="33832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6" name="object 16">
            <a:extLst>
              <a:ext uri="{C183D7F6-B498-43B3-948B-1728B52AA6E4}">
                <adec:decorative xmlns:adec="http://schemas.microsoft.com/office/drawing/2017/decorative" val="1"/>
              </a:ext>
            </a:extLst>
          </p:cNvPr>
          <p:cNvSpPr txBox="1"/>
          <p:nvPr/>
        </p:nvSpPr>
        <p:spPr>
          <a:xfrm>
            <a:off x="7772400" y="3916680"/>
            <a:ext cx="192087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20" name="object 20">
            <a:extLst>
              <a:ext uri="{C183D7F6-B498-43B3-948B-1728B52AA6E4}">
                <adec:decorative xmlns:adec="http://schemas.microsoft.com/office/drawing/2017/decorative" val="1"/>
              </a:ext>
            </a:extLst>
          </p:cNvPr>
          <p:cNvSpPr txBox="1"/>
          <p:nvPr/>
        </p:nvSpPr>
        <p:spPr>
          <a:xfrm>
            <a:off x="6461125" y="5410200"/>
            <a:ext cx="192087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3" name="object 13"/>
          <p:cNvSpPr txBox="1"/>
          <p:nvPr/>
        </p:nvSpPr>
        <p:spPr>
          <a:xfrm>
            <a:off x="5678649" y="1524000"/>
            <a:ext cx="5978170" cy="4506939"/>
          </a:xfrm>
          <a:prstGeom prst="rect">
            <a:avLst/>
          </a:prstGeom>
        </p:spPr>
        <p:txBody>
          <a:bodyPr vert="horz" wrap="square" lIns="0" tIns="12700" rIns="0" bIns="0" rtlCol="0">
            <a:spAutoFit/>
          </a:bodyPr>
          <a:lstStyle/>
          <a:p>
            <a:pPr marL="379095" marR="5080" indent="-367030">
              <a:lnSpc>
                <a:spcPct val="114000"/>
              </a:lnSpc>
              <a:spcBef>
                <a:spcPts val="100"/>
              </a:spcBef>
              <a:spcAft>
                <a:spcPts val="1800"/>
              </a:spcAft>
              <a:buFontTx/>
              <a:buChar char="●"/>
              <a:tabLst>
                <a:tab pos="379095" algn="l"/>
              </a:tabLst>
            </a:pPr>
            <a:r>
              <a:rPr lang="en-US" sz="1800" spc="-25" dirty="0">
                <a:solidFill>
                  <a:srgbClr val="333333"/>
                </a:solidFill>
                <a:latin typeface="Arial MT"/>
                <a:cs typeface="Arial MT"/>
              </a:rPr>
              <a:t>The </a:t>
            </a:r>
            <a:r>
              <a:rPr lang="en-US" sz="1800" spc="-10" dirty="0" err="1">
                <a:solidFill>
                  <a:srgbClr val="333333"/>
                </a:solidFill>
                <a:latin typeface="Courier New"/>
                <a:cs typeface="Courier New"/>
              </a:rPr>
              <a:t>pthread_exit</a:t>
            </a:r>
            <a:r>
              <a:rPr lang="en-US" sz="1800" spc="-10" dirty="0">
                <a:solidFill>
                  <a:srgbClr val="333333"/>
                </a:solidFill>
                <a:latin typeface="Courier New"/>
                <a:cs typeface="Courier New"/>
              </a:rPr>
              <a:t>()</a:t>
            </a:r>
            <a:r>
              <a:rPr lang="en-US" spc="-10" dirty="0">
                <a:solidFill>
                  <a:srgbClr val="333333"/>
                </a:solidFill>
                <a:latin typeface="Courier New"/>
                <a:cs typeface="Courier New"/>
              </a:rPr>
              <a:t> </a:t>
            </a:r>
            <a:r>
              <a:rPr lang="en-US" sz="1800" dirty="0">
                <a:solidFill>
                  <a:srgbClr val="333333"/>
                </a:solidFill>
                <a:latin typeface="Arial MT"/>
                <a:cs typeface="Arial MT"/>
              </a:rPr>
              <a:t>function</a:t>
            </a:r>
            <a:r>
              <a:rPr lang="en-US" sz="1800" spc="-30" dirty="0">
                <a:solidFill>
                  <a:srgbClr val="333333"/>
                </a:solidFill>
                <a:latin typeface="Arial MT"/>
                <a:cs typeface="Arial MT"/>
              </a:rPr>
              <a:t> </a:t>
            </a:r>
            <a:r>
              <a:rPr lang="en-US" sz="1800" dirty="0">
                <a:solidFill>
                  <a:srgbClr val="333333"/>
                </a:solidFill>
                <a:latin typeface="Arial MT"/>
                <a:cs typeface="Arial MT"/>
              </a:rPr>
              <a:t>terminates</a:t>
            </a:r>
            <a:r>
              <a:rPr lang="en-US" sz="1800" spc="-20"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spc="-10" dirty="0">
                <a:solidFill>
                  <a:srgbClr val="333333"/>
                </a:solidFill>
                <a:latin typeface="Arial MT"/>
                <a:cs typeface="Arial MT"/>
              </a:rPr>
              <a:t>calling</a:t>
            </a:r>
            <a:r>
              <a:rPr lang="en-US" spc="-10" dirty="0">
                <a:latin typeface="Arial MT"/>
                <a:cs typeface="Arial MT"/>
              </a:rPr>
              <a:t> </a:t>
            </a:r>
            <a:r>
              <a:rPr lang="en-US" sz="1800" dirty="0">
                <a:solidFill>
                  <a:srgbClr val="333333"/>
                </a:solidFill>
                <a:latin typeface="Arial MT"/>
                <a:cs typeface="Arial MT"/>
              </a:rPr>
              <a:t>thread,</a:t>
            </a:r>
            <a:r>
              <a:rPr lang="en-US" sz="1800" spc="-30" dirty="0">
                <a:solidFill>
                  <a:srgbClr val="333333"/>
                </a:solidFill>
                <a:latin typeface="Arial MT"/>
                <a:cs typeface="Arial MT"/>
              </a:rPr>
              <a:t> </a:t>
            </a:r>
            <a:r>
              <a:rPr lang="en-US" sz="1800" dirty="0">
                <a:solidFill>
                  <a:srgbClr val="333333"/>
                </a:solidFill>
                <a:latin typeface="Arial MT"/>
                <a:cs typeface="Arial MT"/>
              </a:rPr>
              <a:t>making</a:t>
            </a:r>
            <a:r>
              <a:rPr lang="en-US" sz="1800" spc="-20" dirty="0">
                <a:solidFill>
                  <a:srgbClr val="333333"/>
                </a:solidFill>
                <a:latin typeface="Arial MT"/>
                <a:cs typeface="Arial MT"/>
              </a:rPr>
              <a:t> </a:t>
            </a:r>
            <a:r>
              <a:rPr lang="en-US" sz="1800" dirty="0">
                <a:solidFill>
                  <a:srgbClr val="333333"/>
                </a:solidFill>
                <a:latin typeface="Arial MT"/>
                <a:cs typeface="Arial MT"/>
              </a:rPr>
              <a:t>its</a:t>
            </a:r>
            <a:r>
              <a:rPr lang="en-US" sz="1800" spc="-20" dirty="0">
                <a:solidFill>
                  <a:srgbClr val="333333"/>
                </a:solidFill>
                <a:latin typeface="Arial MT"/>
                <a:cs typeface="Arial MT"/>
              </a:rPr>
              <a:t> </a:t>
            </a:r>
            <a:r>
              <a:rPr lang="en-US" sz="1800" dirty="0">
                <a:solidFill>
                  <a:srgbClr val="333333"/>
                </a:solidFill>
                <a:latin typeface="Arial MT"/>
                <a:cs typeface="Arial MT"/>
              </a:rPr>
              <a:t>exit</a:t>
            </a:r>
            <a:r>
              <a:rPr lang="en-US" sz="1800" spc="-20" dirty="0">
                <a:solidFill>
                  <a:srgbClr val="333333"/>
                </a:solidFill>
                <a:latin typeface="Arial MT"/>
                <a:cs typeface="Arial MT"/>
              </a:rPr>
              <a:t> </a:t>
            </a:r>
            <a:r>
              <a:rPr lang="en-US" sz="1800" dirty="0">
                <a:solidFill>
                  <a:srgbClr val="333333"/>
                </a:solidFill>
                <a:latin typeface="Arial MT"/>
                <a:cs typeface="Arial MT"/>
              </a:rPr>
              <a:t>status</a:t>
            </a:r>
            <a:r>
              <a:rPr lang="en-US" sz="1800" spc="-20" dirty="0">
                <a:solidFill>
                  <a:srgbClr val="333333"/>
                </a:solidFill>
                <a:latin typeface="Arial MT"/>
                <a:cs typeface="Arial MT"/>
              </a:rPr>
              <a:t> </a:t>
            </a:r>
            <a:r>
              <a:rPr lang="en-US" sz="1800" dirty="0">
                <a:solidFill>
                  <a:srgbClr val="333333"/>
                </a:solidFill>
                <a:latin typeface="Arial MT"/>
                <a:cs typeface="Arial MT"/>
              </a:rPr>
              <a:t>available</a:t>
            </a:r>
            <a:r>
              <a:rPr lang="en-US" sz="1800" spc="-20" dirty="0">
                <a:solidFill>
                  <a:srgbClr val="333333"/>
                </a:solidFill>
                <a:latin typeface="Arial MT"/>
                <a:cs typeface="Arial MT"/>
              </a:rPr>
              <a:t> </a:t>
            </a:r>
            <a:r>
              <a:rPr lang="en-US" sz="1800" dirty="0">
                <a:solidFill>
                  <a:srgbClr val="333333"/>
                </a:solidFill>
                <a:latin typeface="Arial MT"/>
                <a:cs typeface="Arial MT"/>
              </a:rPr>
              <a:t>to</a:t>
            </a:r>
            <a:r>
              <a:rPr lang="en-US" sz="1800" spc="-20" dirty="0">
                <a:solidFill>
                  <a:srgbClr val="333333"/>
                </a:solidFill>
                <a:latin typeface="Arial MT"/>
                <a:cs typeface="Arial MT"/>
              </a:rPr>
              <a:t> </a:t>
            </a:r>
            <a:r>
              <a:rPr lang="en-US" sz="1800" dirty="0">
                <a:solidFill>
                  <a:srgbClr val="333333"/>
                </a:solidFill>
                <a:latin typeface="Arial MT"/>
                <a:cs typeface="Arial MT"/>
              </a:rPr>
              <a:t>any</a:t>
            </a:r>
            <a:r>
              <a:rPr lang="en-US" sz="1800" spc="-15" dirty="0">
                <a:solidFill>
                  <a:srgbClr val="333333"/>
                </a:solidFill>
                <a:latin typeface="Arial MT"/>
                <a:cs typeface="Arial MT"/>
              </a:rPr>
              <a:t> </a:t>
            </a:r>
            <a:r>
              <a:rPr lang="en-US" sz="1800" spc="-10" dirty="0">
                <a:solidFill>
                  <a:srgbClr val="333333"/>
                </a:solidFill>
                <a:latin typeface="Arial MT"/>
                <a:cs typeface="Arial MT"/>
              </a:rPr>
              <a:t>waiting</a:t>
            </a:r>
            <a:r>
              <a:rPr lang="en-US" dirty="0">
                <a:latin typeface="Arial MT"/>
                <a:cs typeface="Arial MT"/>
              </a:rPr>
              <a:t> </a:t>
            </a:r>
            <a:r>
              <a:rPr lang="en-US" sz="1800" spc="-10" dirty="0">
                <a:solidFill>
                  <a:srgbClr val="333333"/>
                </a:solidFill>
                <a:latin typeface="Arial MT"/>
                <a:cs typeface="Arial MT"/>
              </a:rPr>
              <a:t>threads.</a:t>
            </a:r>
          </a:p>
          <a:p>
            <a:pPr marL="379095" marR="5080" indent="-367030">
              <a:lnSpc>
                <a:spcPct val="114000"/>
              </a:lnSpc>
              <a:spcBef>
                <a:spcPts val="100"/>
              </a:spcBef>
              <a:spcAft>
                <a:spcPts val="1800"/>
              </a:spcAft>
              <a:buFontTx/>
              <a:buChar char="●"/>
              <a:tabLst>
                <a:tab pos="379095" algn="l"/>
              </a:tabLst>
            </a:pPr>
            <a:r>
              <a:rPr sz="1800" spc="-10" dirty="0">
                <a:solidFill>
                  <a:srgbClr val="333333"/>
                </a:solidFill>
                <a:latin typeface="Arial MT"/>
                <a:cs typeface="Arial MT"/>
              </a:rPr>
              <a:t>Normally,</a:t>
            </a:r>
            <a:r>
              <a:rPr sz="1800" spc="-35" dirty="0">
                <a:solidFill>
                  <a:srgbClr val="333333"/>
                </a:solidFill>
                <a:latin typeface="Arial MT"/>
                <a:cs typeface="Arial MT"/>
              </a:rPr>
              <a:t> </a:t>
            </a:r>
            <a:r>
              <a:rPr sz="1800" dirty="0">
                <a:solidFill>
                  <a:srgbClr val="333333"/>
                </a:solidFill>
                <a:latin typeface="Arial MT"/>
                <a:cs typeface="Arial MT"/>
              </a:rPr>
              <a:t>a</a:t>
            </a:r>
            <a:r>
              <a:rPr sz="1800" spc="-20" dirty="0">
                <a:solidFill>
                  <a:srgbClr val="333333"/>
                </a:solidFill>
                <a:latin typeface="Arial MT"/>
                <a:cs typeface="Arial MT"/>
              </a:rPr>
              <a:t> </a:t>
            </a:r>
            <a:r>
              <a:rPr sz="1800" dirty="0">
                <a:solidFill>
                  <a:srgbClr val="333333"/>
                </a:solidFill>
                <a:latin typeface="Arial MT"/>
                <a:cs typeface="Arial MT"/>
              </a:rPr>
              <a:t>thread</a:t>
            </a:r>
            <a:r>
              <a:rPr sz="1800" spc="-20" dirty="0">
                <a:solidFill>
                  <a:srgbClr val="333333"/>
                </a:solidFill>
                <a:latin typeface="Arial MT"/>
                <a:cs typeface="Arial MT"/>
              </a:rPr>
              <a:t> </a:t>
            </a:r>
            <a:r>
              <a:rPr sz="1800" dirty="0">
                <a:solidFill>
                  <a:srgbClr val="333333"/>
                </a:solidFill>
                <a:latin typeface="Arial MT"/>
                <a:cs typeface="Arial MT"/>
              </a:rPr>
              <a:t>terminates</a:t>
            </a:r>
            <a:r>
              <a:rPr sz="1800" spc="-20" dirty="0">
                <a:solidFill>
                  <a:srgbClr val="333333"/>
                </a:solidFill>
                <a:latin typeface="Arial MT"/>
                <a:cs typeface="Arial MT"/>
              </a:rPr>
              <a:t> </a:t>
            </a:r>
            <a:r>
              <a:rPr sz="1800" dirty="0">
                <a:solidFill>
                  <a:srgbClr val="333333"/>
                </a:solidFill>
                <a:latin typeface="Arial MT"/>
                <a:cs typeface="Arial MT"/>
              </a:rPr>
              <a:t>by</a:t>
            </a:r>
            <a:r>
              <a:rPr sz="1800" spc="-20" dirty="0">
                <a:solidFill>
                  <a:srgbClr val="333333"/>
                </a:solidFill>
                <a:latin typeface="Arial MT"/>
                <a:cs typeface="Arial MT"/>
              </a:rPr>
              <a:t> </a:t>
            </a:r>
            <a:r>
              <a:rPr sz="1800" dirty="0">
                <a:solidFill>
                  <a:srgbClr val="333333"/>
                </a:solidFill>
                <a:latin typeface="Arial MT"/>
                <a:cs typeface="Arial MT"/>
              </a:rPr>
              <a:t>returning</a:t>
            </a:r>
            <a:r>
              <a:rPr sz="1800" spc="-20" dirty="0">
                <a:solidFill>
                  <a:srgbClr val="333333"/>
                </a:solidFill>
                <a:latin typeface="Arial MT"/>
                <a:cs typeface="Arial MT"/>
              </a:rPr>
              <a:t> </a:t>
            </a:r>
            <a:r>
              <a:rPr sz="1800" dirty="0">
                <a:solidFill>
                  <a:srgbClr val="333333"/>
                </a:solidFill>
                <a:latin typeface="Arial MT"/>
                <a:cs typeface="Arial MT"/>
              </a:rPr>
              <a:t>from</a:t>
            </a:r>
            <a:r>
              <a:rPr sz="1800" spc="-20" dirty="0">
                <a:solidFill>
                  <a:srgbClr val="333333"/>
                </a:solidFill>
                <a:latin typeface="Arial MT"/>
                <a:cs typeface="Arial MT"/>
              </a:rPr>
              <a:t> </a:t>
            </a:r>
            <a:r>
              <a:rPr sz="1800" spc="-25" dirty="0">
                <a:solidFill>
                  <a:srgbClr val="333333"/>
                </a:solidFill>
                <a:latin typeface="Arial MT"/>
                <a:cs typeface="Arial MT"/>
              </a:rPr>
              <a:t>the</a:t>
            </a:r>
            <a:r>
              <a:rPr lang="en-US" sz="1800" spc="-25" dirty="0">
                <a:solidFill>
                  <a:srgbClr val="333333"/>
                </a:solidFill>
                <a:latin typeface="Arial MT"/>
                <a:cs typeface="Arial MT"/>
              </a:rPr>
              <a:t> </a:t>
            </a:r>
            <a:r>
              <a:rPr sz="1800" dirty="0">
                <a:solidFill>
                  <a:srgbClr val="333333"/>
                </a:solidFill>
                <a:latin typeface="Arial MT"/>
                <a:cs typeface="Arial MT"/>
              </a:rPr>
              <a:t>start</a:t>
            </a:r>
            <a:r>
              <a:rPr sz="1800" spc="-35" dirty="0">
                <a:solidFill>
                  <a:srgbClr val="333333"/>
                </a:solidFill>
                <a:latin typeface="Arial MT"/>
                <a:cs typeface="Arial MT"/>
              </a:rPr>
              <a:t> </a:t>
            </a:r>
            <a:r>
              <a:rPr sz="1800" dirty="0">
                <a:solidFill>
                  <a:srgbClr val="333333"/>
                </a:solidFill>
                <a:latin typeface="Arial MT"/>
                <a:cs typeface="Arial MT"/>
              </a:rPr>
              <a:t>routine</a:t>
            </a:r>
            <a:r>
              <a:rPr sz="1800" spc="-25" dirty="0">
                <a:solidFill>
                  <a:srgbClr val="333333"/>
                </a:solidFill>
                <a:latin typeface="Arial MT"/>
                <a:cs typeface="Arial MT"/>
              </a:rPr>
              <a:t> </a:t>
            </a:r>
            <a:r>
              <a:rPr sz="1800" dirty="0">
                <a:solidFill>
                  <a:srgbClr val="333333"/>
                </a:solidFill>
                <a:latin typeface="Arial MT"/>
                <a:cs typeface="Arial MT"/>
              </a:rPr>
              <a:t>that</a:t>
            </a:r>
            <a:r>
              <a:rPr sz="1800" spc="-20" dirty="0">
                <a:solidFill>
                  <a:srgbClr val="333333"/>
                </a:solidFill>
                <a:latin typeface="Arial MT"/>
                <a:cs typeface="Arial MT"/>
              </a:rPr>
              <a:t> </a:t>
            </a:r>
            <a:r>
              <a:rPr sz="1800" dirty="0">
                <a:solidFill>
                  <a:srgbClr val="333333"/>
                </a:solidFill>
                <a:latin typeface="Arial MT"/>
                <a:cs typeface="Arial MT"/>
              </a:rPr>
              <a:t>was</a:t>
            </a:r>
            <a:r>
              <a:rPr sz="1800" spc="-25" dirty="0">
                <a:solidFill>
                  <a:srgbClr val="333333"/>
                </a:solidFill>
                <a:latin typeface="Arial MT"/>
                <a:cs typeface="Arial MT"/>
              </a:rPr>
              <a:t> </a:t>
            </a:r>
            <a:r>
              <a:rPr sz="1800" dirty="0">
                <a:solidFill>
                  <a:srgbClr val="333333"/>
                </a:solidFill>
                <a:latin typeface="Arial MT"/>
                <a:cs typeface="Arial MT"/>
              </a:rPr>
              <a:t>specified</a:t>
            </a:r>
            <a:r>
              <a:rPr sz="1800" spc="-25" dirty="0">
                <a:solidFill>
                  <a:srgbClr val="333333"/>
                </a:solidFill>
                <a:latin typeface="Arial MT"/>
                <a:cs typeface="Arial MT"/>
              </a:rPr>
              <a:t> </a:t>
            </a:r>
            <a:r>
              <a:rPr sz="1800" dirty="0">
                <a:solidFill>
                  <a:srgbClr val="333333"/>
                </a:solidFill>
                <a:latin typeface="Arial MT"/>
                <a:cs typeface="Arial MT"/>
              </a:rPr>
              <a:t>in</a:t>
            </a:r>
            <a:r>
              <a:rPr sz="1800" spc="-20" dirty="0">
                <a:solidFill>
                  <a:srgbClr val="333333"/>
                </a:solidFill>
                <a:latin typeface="Arial MT"/>
                <a:cs typeface="Arial MT"/>
              </a:rPr>
              <a:t> </a:t>
            </a:r>
            <a:r>
              <a:rPr sz="1800" spc="-25" dirty="0">
                <a:solidFill>
                  <a:srgbClr val="333333"/>
                </a:solidFill>
                <a:latin typeface="Arial MT"/>
                <a:cs typeface="Arial MT"/>
              </a:rPr>
              <a:t>the</a:t>
            </a:r>
            <a:r>
              <a:rPr lang="en-US" sz="1800" spc="-25" dirty="0">
                <a:solidFill>
                  <a:srgbClr val="333333"/>
                </a:solidFill>
                <a:latin typeface="Arial MT"/>
                <a:cs typeface="Arial MT"/>
              </a:rPr>
              <a:t> </a:t>
            </a:r>
            <a:r>
              <a:rPr lang="en-US" sz="1800" spc="-10" dirty="0" err="1">
                <a:solidFill>
                  <a:srgbClr val="333333"/>
                </a:solidFill>
                <a:latin typeface="Courier New"/>
                <a:cs typeface="Courier New"/>
              </a:rPr>
              <a:t>pthread_create</a:t>
            </a:r>
            <a:r>
              <a:rPr lang="en-US" sz="1800" spc="-10" dirty="0">
                <a:solidFill>
                  <a:srgbClr val="333333"/>
                </a:solidFill>
                <a:latin typeface="Courier New"/>
                <a:cs typeface="Courier New"/>
              </a:rPr>
              <a:t>()</a:t>
            </a:r>
            <a:r>
              <a:rPr lang="en-US" sz="1800" dirty="0">
                <a:solidFill>
                  <a:srgbClr val="333333"/>
                </a:solidFill>
                <a:latin typeface="Arial MT"/>
                <a:cs typeface="Arial MT"/>
              </a:rPr>
              <a:t> call</a:t>
            </a:r>
            <a:r>
              <a:rPr lang="en-US" sz="1800" spc="-30" dirty="0">
                <a:solidFill>
                  <a:srgbClr val="333333"/>
                </a:solidFill>
                <a:latin typeface="Arial MT"/>
                <a:cs typeface="Arial MT"/>
              </a:rPr>
              <a:t> </a:t>
            </a:r>
            <a:r>
              <a:rPr lang="en-US" sz="1800" dirty="0">
                <a:solidFill>
                  <a:srgbClr val="333333"/>
                </a:solidFill>
                <a:latin typeface="Arial MT"/>
                <a:cs typeface="Arial MT"/>
              </a:rPr>
              <a:t>which</a:t>
            </a:r>
            <a:r>
              <a:rPr lang="en-US" sz="1800" spc="-25" dirty="0">
                <a:solidFill>
                  <a:srgbClr val="333333"/>
                </a:solidFill>
                <a:latin typeface="Arial MT"/>
                <a:cs typeface="Arial MT"/>
              </a:rPr>
              <a:t> </a:t>
            </a:r>
            <a:r>
              <a:rPr lang="en-US" sz="1800" dirty="0">
                <a:solidFill>
                  <a:srgbClr val="333333"/>
                </a:solidFill>
                <a:latin typeface="Arial MT"/>
                <a:cs typeface="Arial MT"/>
              </a:rPr>
              <a:t>started</a:t>
            </a:r>
            <a:r>
              <a:rPr lang="en-US" sz="1800" spc="-25" dirty="0">
                <a:solidFill>
                  <a:srgbClr val="333333"/>
                </a:solidFill>
                <a:latin typeface="Arial MT"/>
                <a:cs typeface="Arial MT"/>
              </a:rPr>
              <a:t> it.</a:t>
            </a:r>
          </a:p>
          <a:p>
            <a:pPr marL="379095" marR="5080" indent="-367030">
              <a:lnSpc>
                <a:spcPct val="114000"/>
              </a:lnSpc>
              <a:spcBef>
                <a:spcPts val="100"/>
              </a:spcBef>
              <a:spcAft>
                <a:spcPts val="1800"/>
              </a:spcAft>
              <a:buFontTx/>
              <a:buChar char="●"/>
              <a:tabLst>
                <a:tab pos="379095" algn="l"/>
              </a:tabLst>
            </a:pPr>
            <a:r>
              <a:rPr lang="en-US" sz="1800" dirty="0">
                <a:solidFill>
                  <a:srgbClr val="333333"/>
                </a:solidFill>
                <a:latin typeface="Arial MT"/>
                <a:cs typeface="Arial MT"/>
              </a:rPr>
              <a:t>An</a:t>
            </a:r>
            <a:r>
              <a:rPr lang="en-US" sz="1800" spc="-25" dirty="0">
                <a:solidFill>
                  <a:srgbClr val="333333"/>
                </a:solidFill>
                <a:latin typeface="Arial MT"/>
                <a:cs typeface="Arial MT"/>
              </a:rPr>
              <a:t> </a:t>
            </a:r>
            <a:r>
              <a:rPr lang="en-US" sz="1800" dirty="0">
                <a:solidFill>
                  <a:srgbClr val="333333"/>
                </a:solidFill>
                <a:latin typeface="Arial MT"/>
                <a:cs typeface="Arial MT"/>
              </a:rPr>
              <a:t>implicit</a:t>
            </a:r>
            <a:r>
              <a:rPr lang="en-US" sz="1800" spc="-25" dirty="0">
                <a:solidFill>
                  <a:srgbClr val="333333"/>
                </a:solidFill>
                <a:latin typeface="Arial MT"/>
                <a:cs typeface="Arial MT"/>
              </a:rPr>
              <a:t> </a:t>
            </a:r>
            <a:r>
              <a:rPr lang="en-US" sz="1800" dirty="0">
                <a:solidFill>
                  <a:srgbClr val="333333"/>
                </a:solidFill>
                <a:latin typeface="Arial MT"/>
                <a:cs typeface="Arial MT"/>
              </a:rPr>
              <a:t>call</a:t>
            </a:r>
            <a:r>
              <a:rPr lang="en-US" sz="1800" spc="-20" dirty="0">
                <a:solidFill>
                  <a:srgbClr val="333333"/>
                </a:solidFill>
                <a:latin typeface="Arial MT"/>
                <a:cs typeface="Arial MT"/>
              </a:rPr>
              <a:t> </a:t>
            </a:r>
            <a:r>
              <a:rPr lang="en-US" sz="1800" spc="-25" dirty="0">
                <a:solidFill>
                  <a:srgbClr val="333333"/>
                </a:solidFill>
                <a:latin typeface="Arial MT"/>
                <a:cs typeface="Arial MT"/>
              </a:rPr>
              <a:t>to</a:t>
            </a:r>
            <a:r>
              <a:rPr lang="en-US" spc="-25" dirty="0">
                <a:solidFill>
                  <a:srgbClr val="333333"/>
                </a:solidFill>
                <a:latin typeface="Arial MT"/>
                <a:cs typeface="Arial MT"/>
              </a:rPr>
              <a:t> </a:t>
            </a:r>
            <a:r>
              <a:rPr lang="en-US" sz="1800" spc="-10" dirty="0" err="1">
                <a:solidFill>
                  <a:srgbClr val="333333"/>
                </a:solidFill>
                <a:latin typeface="Courier New"/>
                <a:cs typeface="Courier New"/>
              </a:rPr>
              <a:t>pthread_exit</a:t>
            </a:r>
            <a:r>
              <a:rPr lang="en-US" sz="1800" spc="-10" dirty="0">
                <a:solidFill>
                  <a:srgbClr val="333333"/>
                </a:solidFill>
                <a:latin typeface="Courier New"/>
                <a:cs typeface="Courier New"/>
              </a:rPr>
              <a:t>()</a:t>
            </a:r>
            <a:r>
              <a:rPr lang="en-US" sz="1800" dirty="0">
                <a:solidFill>
                  <a:srgbClr val="333333"/>
                </a:solidFill>
                <a:latin typeface="Arial MT"/>
                <a:cs typeface="Arial MT"/>
              </a:rPr>
              <a:t>occurs</a:t>
            </a:r>
            <a:r>
              <a:rPr lang="en-US" sz="1800" spc="-25" dirty="0">
                <a:solidFill>
                  <a:srgbClr val="333333"/>
                </a:solidFill>
                <a:latin typeface="Arial MT"/>
                <a:cs typeface="Arial MT"/>
              </a:rPr>
              <a:t> </a:t>
            </a:r>
            <a:r>
              <a:rPr lang="en-US" sz="1800" dirty="0">
                <a:solidFill>
                  <a:srgbClr val="333333"/>
                </a:solidFill>
                <a:latin typeface="Arial MT"/>
                <a:cs typeface="Arial MT"/>
              </a:rPr>
              <a:t>when</a:t>
            </a:r>
            <a:r>
              <a:rPr lang="en-US" sz="1800" spc="-10" dirty="0">
                <a:solidFill>
                  <a:srgbClr val="333333"/>
                </a:solidFill>
                <a:latin typeface="Arial MT"/>
                <a:cs typeface="Arial MT"/>
              </a:rPr>
              <a:t> </a:t>
            </a:r>
            <a:r>
              <a:rPr lang="en-US" sz="1800" spc="-25" dirty="0">
                <a:solidFill>
                  <a:srgbClr val="333333"/>
                </a:solidFill>
                <a:latin typeface="Arial MT"/>
                <a:cs typeface="Arial MT"/>
              </a:rPr>
              <a:t>any </a:t>
            </a:r>
            <a:r>
              <a:rPr lang="en-US" sz="1800" dirty="0">
                <a:solidFill>
                  <a:srgbClr val="333333"/>
                </a:solidFill>
                <a:latin typeface="Arial MT"/>
                <a:cs typeface="Arial MT"/>
              </a:rPr>
              <a:t>thread</a:t>
            </a:r>
            <a:r>
              <a:rPr lang="en-US" sz="1800" spc="-25" dirty="0">
                <a:solidFill>
                  <a:srgbClr val="333333"/>
                </a:solidFill>
                <a:latin typeface="Arial MT"/>
                <a:cs typeface="Arial MT"/>
              </a:rPr>
              <a:t> </a:t>
            </a:r>
            <a:r>
              <a:rPr lang="en-US" sz="1800" dirty="0">
                <a:solidFill>
                  <a:srgbClr val="333333"/>
                </a:solidFill>
                <a:latin typeface="Arial MT"/>
                <a:cs typeface="Arial MT"/>
              </a:rPr>
              <a:t>returns</a:t>
            </a:r>
            <a:r>
              <a:rPr lang="en-US" sz="1800" spc="-25" dirty="0">
                <a:solidFill>
                  <a:srgbClr val="333333"/>
                </a:solidFill>
                <a:latin typeface="Arial MT"/>
                <a:cs typeface="Arial MT"/>
              </a:rPr>
              <a:t> </a:t>
            </a:r>
            <a:r>
              <a:rPr lang="en-US" sz="1800" dirty="0">
                <a:solidFill>
                  <a:srgbClr val="333333"/>
                </a:solidFill>
                <a:latin typeface="Arial MT"/>
                <a:cs typeface="Arial MT"/>
              </a:rPr>
              <a:t>from</a:t>
            </a:r>
            <a:r>
              <a:rPr lang="en-US" sz="1800" spc="-25" dirty="0">
                <a:solidFill>
                  <a:srgbClr val="333333"/>
                </a:solidFill>
                <a:latin typeface="Arial MT"/>
                <a:cs typeface="Arial MT"/>
              </a:rPr>
              <a:t> </a:t>
            </a:r>
            <a:r>
              <a:rPr lang="en-US" sz="1800" dirty="0">
                <a:solidFill>
                  <a:srgbClr val="333333"/>
                </a:solidFill>
                <a:latin typeface="Arial MT"/>
                <a:cs typeface="Arial MT"/>
              </a:rPr>
              <a:t>its</a:t>
            </a:r>
            <a:r>
              <a:rPr lang="en-US" sz="1800" spc="-25" dirty="0">
                <a:solidFill>
                  <a:srgbClr val="333333"/>
                </a:solidFill>
                <a:latin typeface="Arial MT"/>
                <a:cs typeface="Arial MT"/>
              </a:rPr>
              <a:t> </a:t>
            </a:r>
            <a:r>
              <a:rPr lang="en-US" sz="1800" dirty="0">
                <a:solidFill>
                  <a:srgbClr val="333333"/>
                </a:solidFill>
                <a:latin typeface="Arial MT"/>
                <a:cs typeface="Arial MT"/>
              </a:rPr>
              <a:t>start</a:t>
            </a:r>
            <a:r>
              <a:rPr lang="en-US" sz="1800" spc="-20" dirty="0">
                <a:solidFill>
                  <a:srgbClr val="333333"/>
                </a:solidFill>
                <a:latin typeface="Arial MT"/>
                <a:cs typeface="Arial MT"/>
              </a:rPr>
              <a:t> </a:t>
            </a:r>
            <a:r>
              <a:rPr lang="en-US" sz="1800" dirty="0">
                <a:solidFill>
                  <a:srgbClr val="333333"/>
                </a:solidFill>
                <a:latin typeface="Arial MT"/>
                <a:cs typeface="Arial MT"/>
              </a:rPr>
              <a:t>routine.</a:t>
            </a:r>
            <a:r>
              <a:rPr lang="en-US" sz="1800" spc="-25" dirty="0">
                <a:solidFill>
                  <a:srgbClr val="333333"/>
                </a:solidFill>
                <a:latin typeface="Arial MT"/>
                <a:cs typeface="Arial MT"/>
              </a:rPr>
              <a:t> </a:t>
            </a:r>
            <a:r>
              <a:rPr lang="en-US" sz="1800" dirty="0">
                <a:solidFill>
                  <a:srgbClr val="333333"/>
                </a:solidFill>
                <a:latin typeface="Arial MT"/>
                <a:cs typeface="Arial MT"/>
              </a:rPr>
              <a:t>(With</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spc="-10" dirty="0">
                <a:solidFill>
                  <a:srgbClr val="333333"/>
                </a:solidFill>
                <a:latin typeface="Arial MT"/>
                <a:cs typeface="Arial MT"/>
              </a:rPr>
              <a:t>exception </a:t>
            </a:r>
            <a:r>
              <a:rPr lang="en-US" sz="1800" dirty="0">
                <a:solidFill>
                  <a:srgbClr val="333333"/>
                </a:solidFill>
                <a:latin typeface="Arial MT"/>
                <a:cs typeface="Arial MT"/>
              </a:rPr>
              <a:t>of</a:t>
            </a:r>
            <a:r>
              <a:rPr lang="en-US" sz="1800" spc="-35" dirty="0">
                <a:solidFill>
                  <a:srgbClr val="333333"/>
                </a:solidFill>
                <a:latin typeface="Arial MT"/>
                <a:cs typeface="Arial MT"/>
              </a:rPr>
              <a:t> </a:t>
            </a:r>
            <a:r>
              <a:rPr lang="en-US" sz="1800" dirty="0">
                <a:solidFill>
                  <a:srgbClr val="333333"/>
                </a:solidFill>
                <a:latin typeface="Arial MT"/>
                <a:cs typeface="Arial MT"/>
              </a:rPr>
              <a:t>the</a:t>
            </a:r>
            <a:r>
              <a:rPr lang="en-US" sz="1800" spc="-20" dirty="0">
                <a:solidFill>
                  <a:srgbClr val="333333"/>
                </a:solidFill>
                <a:latin typeface="Arial MT"/>
                <a:cs typeface="Arial MT"/>
              </a:rPr>
              <a:t> </a:t>
            </a:r>
            <a:r>
              <a:rPr lang="en-US" sz="1800" dirty="0">
                <a:solidFill>
                  <a:srgbClr val="333333"/>
                </a:solidFill>
                <a:latin typeface="Arial MT"/>
                <a:cs typeface="Arial MT"/>
              </a:rPr>
              <a:t>initial</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20" dirty="0">
                <a:solidFill>
                  <a:srgbClr val="333333"/>
                </a:solidFill>
                <a:latin typeface="Arial MT"/>
                <a:cs typeface="Arial MT"/>
              </a:rPr>
              <a:t> </a:t>
            </a:r>
            <a:r>
              <a:rPr lang="en-US" sz="1800" dirty="0">
                <a:solidFill>
                  <a:srgbClr val="333333"/>
                </a:solidFill>
                <a:latin typeface="Arial MT"/>
                <a:cs typeface="Arial MT"/>
              </a:rPr>
              <a:t>at</a:t>
            </a:r>
            <a:r>
              <a:rPr lang="en-US" sz="1800" spc="-20" dirty="0">
                <a:solidFill>
                  <a:srgbClr val="333333"/>
                </a:solidFill>
                <a:latin typeface="Arial MT"/>
                <a:cs typeface="Arial MT"/>
              </a:rPr>
              <a:t> </a:t>
            </a:r>
            <a:r>
              <a:rPr lang="en-US" sz="1800" dirty="0">
                <a:solidFill>
                  <a:srgbClr val="333333"/>
                </a:solidFill>
                <a:latin typeface="Arial MT"/>
                <a:cs typeface="Arial MT"/>
              </a:rPr>
              <a:t>which</a:t>
            </a:r>
            <a:r>
              <a:rPr lang="en-US" sz="1800" spc="-25" dirty="0">
                <a:solidFill>
                  <a:srgbClr val="333333"/>
                </a:solidFill>
                <a:latin typeface="Arial MT"/>
                <a:cs typeface="Arial MT"/>
              </a:rPr>
              <a:t> </a:t>
            </a:r>
            <a:r>
              <a:rPr lang="en-US" sz="1800" dirty="0">
                <a:solidFill>
                  <a:srgbClr val="333333"/>
                </a:solidFill>
                <a:latin typeface="Arial MT"/>
                <a:cs typeface="Arial MT"/>
              </a:rPr>
              <a:t>time</a:t>
            </a:r>
            <a:r>
              <a:rPr lang="en-US" sz="1800" spc="-20" dirty="0">
                <a:solidFill>
                  <a:srgbClr val="333333"/>
                </a:solidFill>
                <a:latin typeface="Arial MT"/>
                <a:cs typeface="Arial MT"/>
              </a:rPr>
              <a:t> </a:t>
            </a:r>
            <a:r>
              <a:rPr lang="en-US" sz="1800" dirty="0">
                <a:solidFill>
                  <a:srgbClr val="333333"/>
                </a:solidFill>
                <a:latin typeface="Arial MT"/>
                <a:cs typeface="Arial MT"/>
              </a:rPr>
              <a:t>an</a:t>
            </a:r>
            <a:r>
              <a:rPr lang="en-US" sz="1800" spc="-25" dirty="0">
                <a:solidFill>
                  <a:srgbClr val="333333"/>
                </a:solidFill>
                <a:latin typeface="Arial MT"/>
                <a:cs typeface="Arial MT"/>
              </a:rPr>
              <a:t> </a:t>
            </a:r>
            <a:r>
              <a:rPr lang="en-US" sz="1800" dirty="0">
                <a:solidFill>
                  <a:srgbClr val="333333"/>
                </a:solidFill>
                <a:latin typeface="Arial MT"/>
                <a:cs typeface="Arial MT"/>
              </a:rPr>
              <a:t>implicit</a:t>
            </a:r>
            <a:r>
              <a:rPr lang="en-US" sz="1800" spc="-20" dirty="0">
                <a:solidFill>
                  <a:srgbClr val="333333"/>
                </a:solidFill>
                <a:latin typeface="Arial MT"/>
                <a:cs typeface="Arial MT"/>
              </a:rPr>
              <a:t> </a:t>
            </a:r>
            <a:r>
              <a:rPr lang="en-US" sz="1800" dirty="0">
                <a:solidFill>
                  <a:srgbClr val="333333"/>
                </a:solidFill>
                <a:latin typeface="Arial MT"/>
                <a:cs typeface="Arial MT"/>
              </a:rPr>
              <a:t>call</a:t>
            </a:r>
            <a:r>
              <a:rPr lang="en-US" sz="1800" spc="-20" dirty="0">
                <a:solidFill>
                  <a:srgbClr val="333333"/>
                </a:solidFill>
                <a:latin typeface="Arial MT"/>
                <a:cs typeface="Arial MT"/>
              </a:rPr>
              <a:t> </a:t>
            </a:r>
            <a:r>
              <a:rPr lang="en-US" sz="1800" spc="-25" dirty="0">
                <a:solidFill>
                  <a:srgbClr val="333333"/>
                </a:solidFill>
                <a:latin typeface="Arial MT"/>
                <a:cs typeface="Arial MT"/>
              </a:rPr>
              <a:t>to</a:t>
            </a:r>
            <a:r>
              <a:rPr lang="en-US" spc="500" dirty="0">
                <a:solidFill>
                  <a:srgbClr val="333333"/>
                </a:solidFill>
                <a:latin typeface="Arial MT"/>
                <a:cs typeface="Arial MT"/>
              </a:rPr>
              <a:t> </a:t>
            </a:r>
            <a:r>
              <a:rPr lang="en-US" sz="1800" dirty="0">
                <a:solidFill>
                  <a:srgbClr val="333333"/>
                </a:solidFill>
                <a:latin typeface="Arial MT"/>
                <a:cs typeface="Arial MT"/>
              </a:rPr>
              <a:t>exit()</a:t>
            </a:r>
            <a:r>
              <a:rPr lang="en-US" sz="1800" spc="-50" dirty="0">
                <a:solidFill>
                  <a:srgbClr val="333333"/>
                </a:solidFill>
                <a:latin typeface="Arial MT"/>
                <a:cs typeface="Arial MT"/>
              </a:rPr>
              <a:t> </a:t>
            </a:r>
            <a:r>
              <a:rPr lang="en-US" sz="1800" spc="-10" dirty="0">
                <a:solidFill>
                  <a:srgbClr val="333333"/>
                </a:solidFill>
                <a:latin typeface="Arial MT"/>
                <a:cs typeface="Arial MT"/>
              </a:rPr>
              <a:t>occurs).</a:t>
            </a:r>
          </a:p>
          <a:p>
            <a:pPr marL="379095" marR="5080" indent="-367030">
              <a:lnSpc>
                <a:spcPct val="114000"/>
              </a:lnSpc>
              <a:spcBef>
                <a:spcPts val="100"/>
              </a:spcBef>
              <a:buFontTx/>
              <a:buChar char="●"/>
              <a:tabLst>
                <a:tab pos="379095" algn="l"/>
              </a:tabLst>
            </a:pPr>
            <a:r>
              <a:rPr lang="en-US" sz="1800" spc="-25" dirty="0">
                <a:solidFill>
                  <a:srgbClr val="333333"/>
                </a:solidFill>
                <a:latin typeface="Arial MT"/>
                <a:cs typeface="Arial MT"/>
              </a:rPr>
              <a:t>The</a:t>
            </a:r>
            <a:r>
              <a:rPr lang="en-US" spc="-25" dirty="0">
                <a:solidFill>
                  <a:srgbClr val="333333"/>
                </a:solidFill>
                <a:latin typeface="Arial MT"/>
                <a:cs typeface="Arial MT"/>
              </a:rPr>
              <a:t> </a:t>
            </a:r>
            <a:r>
              <a:rPr lang="en-US" sz="1800" spc="-10" dirty="0" err="1">
                <a:solidFill>
                  <a:srgbClr val="333333"/>
                </a:solidFill>
                <a:latin typeface="Courier New"/>
                <a:cs typeface="Courier New"/>
              </a:rPr>
              <a:t>pthread_exit</a:t>
            </a:r>
            <a:r>
              <a:rPr lang="en-US" sz="1800" spc="-10" dirty="0">
                <a:solidFill>
                  <a:srgbClr val="333333"/>
                </a:solidFill>
                <a:latin typeface="Courier New"/>
                <a:cs typeface="Courier New"/>
              </a:rPr>
              <a:t>()</a:t>
            </a:r>
            <a:r>
              <a:rPr lang="en-US" spc="-10" dirty="0">
                <a:latin typeface="Courier New"/>
                <a:cs typeface="Courier New"/>
              </a:rPr>
              <a:t> </a:t>
            </a:r>
            <a:r>
              <a:rPr lang="en-US" sz="1800" dirty="0">
                <a:solidFill>
                  <a:srgbClr val="333333"/>
                </a:solidFill>
                <a:latin typeface="Arial MT"/>
                <a:cs typeface="Arial MT"/>
              </a:rPr>
              <a:t>function</a:t>
            </a:r>
            <a:r>
              <a:rPr lang="en-US" sz="1800" spc="-30" dirty="0">
                <a:solidFill>
                  <a:srgbClr val="333333"/>
                </a:solidFill>
                <a:latin typeface="Arial MT"/>
                <a:cs typeface="Arial MT"/>
              </a:rPr>
              <a:t> </a:t>
            </a:r>
            <a:r>
              <a:rPr lang="en-US" sz="1800" dirty="0">
                <a:solidFill>
                  <a:srgbClr val="333333"/>
                </a:solidFill>
                <a:latin typeface="Arial MT"/>
                <a:cs typeface="Arial MT"/>
              </a:rPr>
              <a:t>provides</a:t>
            </a:r>
            <a:r>
              <a:rPr lang="en-US" sz="1800" spc="-20" dirty="0">
                <a:solidFill>
                  <a:srgbClr val="333333"/>
                </a:solidFill>
                <a:latin typeface="Arial MT"/>
                <a:cs typeface="Arial MT"/>
              </a:rPr>
              <a:t> </a:t>
            </a:r>
            <a:r>
              <a:rPr lang="en-US" sz="1800" dirty="0">
                <a:solidFill>
                  <a:srgbClr val="333333"/>
                </a:solidFill>
                <a:latin typeface="Arial MT"/>
                <a:cs typeface="Arial MT"/>
              </a:rPr>
              <a:t>an</a:t>
            </a:r>
            <a:r>
              <a:rPr lang="en-US" sz="1800" spc="-15" dirty="0">
                <a:solidFill>
                  <a:srgbClr val="333333"/>
                </a:solidFill>
                <a:latin typeface="Arial MT"/>
                <a:cs typeface="Arial MT"/>
              </a:rPr>
              <a:t> </a:t>
            </a:r>
            <a:r>
              <a:rPr lang="en-US" sz="1800" spc="-10" dirty="0">
                <a:solidFill>
                  <a:srgbClr val="333333"/>
                </a:solidFill>
                <a:latin typeface="Arial MT"/>
                <a:cs typeface="Arial MT"/>
              </a:rPr>
              <a:t>interface </a:t>
            </a:r>
            <a:r>
              <a:rPr lang="en-US" sz="1800" dirty="0">
                <a:solidFill>
                  <a:srgbClr val="333333"/>
                </a:solidFill>
                <a:latin typeface="Arial MT"/>
                <a:cs typeface="Arial MT"/>
              </a:rPr>
              <a:t>similar</a:t>
            </a:r>
            <a:r>
              <a:rPr lang="en-US" sz="1800" spc="-25" dirty="0">
                <a:solidFill>
                  <a:srgbClr val="333333"/>
                </a:solidFill>
                <a:latin typeface="Arial MT"/>
                <a:cs typeface="Arial MT"/>
              </a:rPr>
              <a:t> </a:t>
            </a:r>
            <a:r>
              <a:rPr lang="en-US" sz="1800" dirty="0">
                <a:solidFill>
                  <a:srgbClr val="333333"/>
                </a:solidFill>
                <a:latin typeface="Arial MT"/>
                <a:cs typeface="Arial MT"/>
              </a:rPr>
              <a:t>to</a:t>
            </a:r>
            <a:r>
              <a:rPr lang="en-US" sz="1800" spc="-15" dirty="0">
                <a:solidFill>
                  <a:srgbClr val="333333"/>
                </a:solidFill>
                <a:latin typeface="Arial MT"/>
                <a:cs typeface="Arial MT"/>
              </a:rPr>
              <a:t> </a:t>
            </a:r>
            <a:r>
              <a:rPr lang="en-US" sz="1800" dirty="0">
                <a:solidFill>
                  <a:srgbClr val="333333"/>
                </a:solidFill>
                <a:latin typeface="Arial MT"/>
                <a:cs typeface="Arial MT"/>
              </a:rPr>
              <a:t>exit()</a:t>
            </a:r>
            <a:r>
              <a:rPr lang="en-US" sz="1800" spc="-15" dirty="0">
                <a:solidFill>
                  <a:srgbClr val="333333"/>
                </a:solidFill>
                <a:latin typeface="Arial MT"/>
                <a:cs typeface="Arial MT"/>
              </a:rPr>
              <a:t> </a:t>
            </a:r>
            <a:r>
              <a:rPr lang="en-US" sz="1800" dirty="0">
                <a:solidFill>
                  <a:srgbClr val="333333"/>
                </a:solidFill>
                <a:latin typeface="Arial MT"/>
                <a:cs typeface="Arial MT"/>
              </a:rPr>
              <a:t>but</a:t>
            </a:r>
            <a:r>
              <a:rPr lang="en-US" sz="1800" spc="-15" dirty="0">
                <a:solidFill>
                  <a:srgbClr val="333333"/>
                </a:solidFill>
                <a:latin typeface="Arial MT"/>
                <a:cs typeface="Arial MT"/>
              </a:rPr>
              <a:t> </a:t>
            </a:r>
            <a:r>
              <a:rPr lang="en-US" sz="1800" dirty="0">
                <a:solidFill>
                  <a:srgbClr val="333333"/>
                </a:solidFill>
                <a:latin typeface="Arial MT"/>
                <a:cs typeface="Arial MT"/>
              </a:rPr>
              <a:t>on</a:t>
            </a:r>
            <a:r>
              <a:rPr lang="en-US" sz="1800" spc="-15" dirty="0">
                <a:solidFill>
                  <a:srgbClr val="333333"/>
                </a:solidFill>
                <a:latin typeface="Arial MT"/>
                <a:cs typeface="Arial MT"/>
              </a:rPr>
              <a:t> </a:t>
            </a:r>
            <a:r>
              <a:rPr lang="en-US" sz="1800" dirty="0">
                <a:solidFill>
                  <a:srgbClr val="333333"/>
                </a:solidFill>
                <a:latin typeface="Arial MT"/>
                <a:cs typeface="Arial MT"/>
              </a:rPr>
              <a:t>a</a:t>
            </a:r>
            <a:r>
              <a:rPr lang="en-US" sz="1800" spc="-20" dirty="0">
                <a:solidFill>
                  <a:srgbClr val="333333"/>
                </a:solidFill>
                <a:latin typeface="Arial MT"/>
                <a:cs typeface="Arial MT"/>
              </a:rPr>
              <a:t> </a:t>
            </a:r>
            <a:r>
              <a:rPr lang="en-US" sz="1800" spc="-10" dirty="0">
                <a:solidFill>
                  <a:srgbClr val="333333"/>
                </a:solidFill>
                <a:latin typeface="Arial MT"/>
                <a:cs typeface="Arial MT"/>
              </a:rPr>
              <a:t>per-</a:t>
            </a:r>
            <a:r>
              <a:rPr lang="en-US" sz="1800" dirty="0">
                <a:solidFill>
                  <a:srgbClr val="333333"/>
                </a:solidFill>
                <a:latin typeface="Arial MT"/>
                <a:cs typeface="Arial MT"/>
              </a:rPr>
              <a:t>thread</a:t>
            </a:r>
            <a:r>
              <a:rPr lang="en-US" sz="1800" spc="-15" dirty="0">
                <a:solidFill>
                  <a:srgbClr val="333333"/>
                </a:solidFill>
                <a:latin typeface="Arial MT"/>
                <a:cs typeface="Arial MT"/>
              </a:rPr>
              <a:t> </a:t>
            </a:r>
            <a:r>
              <a:rPr lang="en-US" sz="1800" spc="-10" dirty="0">
                <a:solidFill>
                  <a:srgbClr val="333333"/>
                </a:solidFill>
                <a:latin typeface="Arial MT"/>
                <a:cs typeface="Arial MT"/>
              </a:rPr>
              <a:t>basis.</a:t>
            </a:r>
            <a:endParaRPr lang="en-US" sz="1800" dirty="0">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spc="-10" dirty="0"/>
              <a:t>Terminating</a:t>
            </a:r>
            <a:r>
              <a:rPr sz="1800" spc="-30" dirty="0"/>
              <a:t> </a:t>
            </a:r>
            <a:r>
              <a:rPr sz="1800" dirty="0"/>
              <a:t>a</a:t>
            </a:r>
            <a:r>
              <a:rPr sz="1800" spc="-30" dirty="0"/>
              <a:t> </a:t>
            </a:r>
            <a:r>
              <a:rPr sz="1800" spc="-10" dirty="0"/>
              <a:t>Thread</a:t>
            </a:r>
            <a:endParaRPr sz="1800" dirty="0"/>
          </a:p>
        </p:txBody>
      </p:sp>
      <p:sp>
        <p:nvSpPr>
          <p:cNvPr id="3" name="object 3"/>
          <p:cNvSpPr txBox="1"/>
          <p:nvPr/>
        </p:nvSpPr>
        <p:spPr>
          <a:xfrm>
            <a:off x="475375" y="3130283"/>
            <a:ext cx="4025265" cy="1287780"/>
          </a:xfrm>
          <a:prstGeom prst="rect">
            <a:avLst/>
          </a:prstGeom>
        </p:spPr>
        <p:txBody>
          <a:bodyPr vert="horz" wrap="square" lIns="0" tIns="12700" rIns="0" bIns="0" rtlCol="0">
            <a:spAutoFit/>
          </a:bodyPr>
          <a:lstStyle/>
          <a:p>
            <a:pPr marL="12700" marR="5080">
              <a:lnSpc>
                <a:spcPct val="114999"/>
              </a:lnSpc>
              <a:spcBef>
                <a:spcPts val="100"/>
              </a:spcBef>
            </a:pPr>
            <a:r>
              <a:rPr sz="1800" dirty="0">
                <a:latin typeface="Arial MT"/>
                <a:cs typeface="Arial MT"/>
              </a:rPr>
              <a:t>The</a:t>
            </a:r>
            <a:r>
              <a:rPr sz="1800" spc="25" dirty="0">
                <a:latin typeface="Arial MT"/>
                <a:cs typeface="Arial MT"/>
              </a:rPr>
              <a:t> </a:t>
            </a:r>
            <a:r>
              <a:rPr sz="1800" b="1" spc="-10" dirty="0">
                <a:solidFill>
                  <a:srgbClr val="188037"/>
                </a:solidFill>
                <a:latin typeface="Courier New"/>
                <a:cs typeface="Courier New"/>
              </a:rPr>
              <a:t>pthread_exit</a:t>
            </a:r>
            <a:r>
              <a:rPr sz="1800" b="1" spc="-550" dirty="0">
                <a:solidFill>
                  <a:srgbClr val="188037"/>
                </a:solidFill>
                <a:latin typeface="Courier New"/>
                <a:cs typeface="Courier New"/>
              </a:rPr>
              <a:t> </a:t>
            </a:r>
            <a:r>
              <a:rPr sz="1800" spc="-10" dirty="0">
                <a:latin typeface="Arial MT"/>
                <a:cs typeface="Arial MT"/>
              </a:rPr>
              <a:t>function </a:t>
            </a:r>
            <a:r>
              <a:rPr sz="1800" dirty="0">
                <a:latin typeface="Arial MT"/>
                <a:cs typeface="Arial MT"/>
              </a:rPr>
              <a:t>terminates</a:t>
            </a:r>
            <a:r>
              <a:rPr sz="1800" spc="-30"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calling</a:t>
            </a:r>
            <a:r>
              <a:rPr sz="1800" spc="-25" dirty="0">
                <a:latin typeface="Arial MT"/>
                <a:cs typeface="Arial MT"/>
              </a:rPr>
              <a:t> </a:t>
            </a:r>
            <a:r>
              <a:rPr sz="1800" dirty="0">
                <a:latin typeface="Arial MT"/>
                <a:cs typeface="Arial MT"/>
              </a:rPr>
              <a:t>thread,</a:t>
            </a:r>
            <a:r>
              <a:rPr sz="1800" spc="-25" dirty="0">
                <a:latin typeface="Arial MT"/>
                <a:cs typeface="Arial MT"/>
              </a:rPr>
              <a:t> </a:t>
            </a:r>
            <a:r>
              <a:rPr sz="1800" dirty="0">
                <a:latin typeface="Arial MT"/>
                <a:cs typeface="Arial MT"/>
              </a:rPr>
              <a:t>allowing</a:t>
            </a:r>
            <a:r>
              <a:rPr sz="1800" spc="-25" dirty="0">
                <a:latin typeface="Arial MT"/>
                <a:cs typeface="Arial MT"/>
              </a:rPr>
              <a:t> it </a:t>
            </a:r>
            <a:r>
              <a:rPr sz="1800" dirty="0">
                <a:latin typeface="Arial MT"/>
                <a:cs typeface="Arial MT"/>
              </a:rPr>
              <a:t>to</a:t>
            </a:r>
            <a:r>
              <a:rPr sz="1800" spc="-15" dirty="0">
                <a:latin typeface="Arial MT"/>
                <a:cs typeface="Arial MT"/>
              </a:rPr>
              <a:t> </a:t>
            </a:r>
            <a:r>
              <a:rPr sz="1800" dirty="0">
                <a:latin typeface="Arial MT"/>
                <a:cs typeface="Arial MT"/>
              </a:rPr>
              <a:t>optionally</a:t>
            </a:r>
            <a:r>
              <a:rPr sz="1800" spc="-15" dirty="0">
                <a:latin typeface="Arial MT"/>
                <a:cs typeface="Arial MT"/>
              </a:rPr>
              <a:t> </a:t>
            </a:r>
            <a:r>
              <a:rPr sz="1800" dirty="0">
                <a:latin typeface="Arial MT"/>
                <a:cs typeface="Arial MT"/>
              </a:rPr>
              <a:t>return</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value</a:t>
            </a:r>
            <a:r>
              <a:rPr sz="1800" spc="-15" dirty="0">
                <a:latin typeface="Arial MT"/>
                <a:cs typeface="Arial MT"/>
              </a:rPr>
              <a:t> </a:t>
            </a:r>
            <a:r>
              <a:rPr sz="1800" dirty="0">
                <a:latin typeface="Arial MT"/>
                <a:cs typeface="Arial MT"/>
              </a:rPr>
              <a:t>to</a:t>
            </a:r>
            <a:r>
              <a:rPr sz="1800" spc="-10" dirty="0">
                <a:latin typeface="Arial MT"/>
                <a:cs typeface="Arial MT"/>
              </a:rPr>
              <a:t> </a:t>
            </a:r>
            <a:r>
              <a:rPr sz="1800" spc="-25" dirty="0">
                <a:latin typeface="Arial MT"/>
                <a:cs typeface="Arial MT"/>
              </a:rPr>
              <a:t>any </a:t>
            </a:r>
            <a:r>
              <a:rPr sz="1800" dirty="0">
                <a:latin typeface="Arial MT"/>
                <a:cs typeface="Arial MT"/>
              </a:rPr>
              <a:t>thread</a:t>
            </a:r>
            <a:r>
              <a:rPr sz="1800" spc="-40" dirty="0">
                <a:latin typeface="Arial MT"/>
                <a:cs typeface="Arial MT"/>
              </a:rPr>
              <a:t> </a:t>
            </a:r>
            <a:r>
              <a:rPr sz="1800" dirty="0">
                <a:latin typeface="Arial MT"/>
                <a:cs typeface="Arial MT"/>
              </a:rPr>
              <a:t>waiting</a:t>
            </a:r>
            <a:r>
              <a:rPr sz="1800" spc="-30" dirty="0">
                <a:latin typeface="Arial MT"/>
                <a:cs typeface="Arial MT"/>
              </a:rPr>
              <a:t> </a:t>
            </a:r>
            <a:r>
              <a:rPr sz="1800" dirty="0">
                <a:latin typeface="Arial MT"/>
                <a:cs typeface="Arial MT"/>
              </a:rPr>
              <a:t>with</a:t>
            </a:r>
            <a:r>
              <a:rPr sz="1800" spc="-15" dirty="0">
                <a:latin typeface="Arial MT"/>
                <a:cs typeface="Arial MT"/>
              </a:rPr>
              <a:t> </a:t>
            </a:r>
            <a:r>
              <a:rPr sz="1800" b="1" spc="-10" dirty="0">
                <a:solidFill>
                  <a:srgbClr val="188037"/>
                </a:solidFill>
                <a:latin typeface="Courier New"/>
                <a:cs typeface="Courier New"/>
              </a:rPr>
              <a:t>pthread_join</a:t>
            </a:r>
            <a:r>
              <a:rPr sz="1800" spc="-10" dirty="0">
                <a:latin typeface="Arial MT"/>
                <a:cs typeface="Arial MT"/>
              </a:rPr>
              <a:t>.</a:t>
            </a:r>
            <a:endParaRPr sz="1800" dirty="0">
              <a:latin typeface="Arial MT"/>
              <a:cs typeface="Arial MT"/>
            </a:endParaRPr>
          </a:p>
        </p:txBody>
      </p:sp>
      <p:pic>
        <p:nvPicPr>
          <p:cNvPr id="4" name="object 4" descr="A basic C program showing the standard lifecycle of a thread. It includes creating a thread with pthread_create, terminating it with pthread_exit(NULL), and waiting for its completion in the main function using pthread_join."/>
          <p:cNvPicPr/>
          <p:nvPr/>
        </p:nvPicPr>
        <p:blipFill>
          <a:blip r:embed="rId3" cstate="print"/>
          <a:stretch>
            <a:fillRect/>
          </a:stretch>
        </p:blipFill>
        <p:spPr>
          <a:xfrm>
            <a:off x="4687975" y="1726450"/>
            <a:ext cx="7351626" cy="389202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10375" y="2294255"/>
            <a:ext cx="3937000" cy="4028282"/>
          </a:xfrm>
          <a:prstGeom prst="rect">
            <a:avLst/>
          </a:prstGeom>
        </p:spPr>
        <p:txBody>
          <a:bodyPr vert="horz" wrap="square" lIns="0" tIns="12700" rIns="0" bIns="0" rtlCol="0">
            <a:spAutoFit/>
          </a:bodyPr>
          <a:lstStyle/>
          <a:p>
            <a:pPr marL="469900" marR="5080" indent="-359410">
              <a:lnSpc>
                <a:spcPct val="114000"/>
              </a:lnSpc>
              <a:spcBef>
                <a:spcPts val="1330"/>
              </a:spcBef>
              <a:spcAft>
                <a:spcPts val="1800"/>
              </a:spcAft>
              <a:buClr>
                <a:srgbClr val="000000"/>
              </a:buClr>
              <a:buFont typeface="Arial MT"/>
              <a:buChar char="●"/>
              <a:tabLst>
                <a:tab pos="469900" algn="l"/>
              </a:tabLst>
            </a:pPr>
            <a:r>
              <a:rPr sz="1700" b="1" spc="-20" dirty="0" err="1">
                <a:solidFill>
                  <a:srgbClr val="188037"/>
                </a:solidFill>
                <a:latin typeface="Courier New"/>
                <a:cs typeface="Courier New"/>
              </a:rPr>
              <a:t>pthread_exit</a:t>
            </a:r>
            <a:r>
              <a:rPr sz="1700" b="1" spc="-555" dirty="0">
                <a:solidFill>
                  <a:srgbClr val="188037"/>
                </a:solidFill>
                <a:latin typeface="Courier New"/>
                <a:cs typeface="Courier New"/>
              </a:rPr>
              <a:t> </a:t>
            </a:r>
            <a:r>
              <a:rPr sz="1700" dirty="0">
                <a:latin typeface="Arial MT"/>
                <a:cs typeface="Arial MT"/>
              </a:rPr>
              <a:t>is</a:t>
            </a:r>
            <a:r>
              <a:rPr sz="1700" spc="-30" dirty="0">
                <a:latin typeface="Arial MT"/>
                <a:cs typeface="Arial MT"/>
              </a:rPr>
              <a:t> </a:t>
            </a:r>
            <a:r>
              <a:rPr sz="1700" dirty="0">
                <a:latin typeface="Arial MT"/>
                <a:cs typeface="Arial MT"/>
              </a:rPr>
              <a:t>used</a:t>
            </a:r>
            <a:r>
              <a:rPr sz="1700" spc="-15" dirty="0">
                <a:latin typeface="Arial MT"/>
                <a:cs typeface="Arial MT"/>
              </a:rPr>
              <a:t> </a:t>
            </a:r>
            <a:r>
              <a:rPr sz="1700" dirty="0">
                <a:latin typeface="Arial MT"/>
                <a:cs typeface="Arial MT"/>
              </a:rPr>
              <a:t>to</a:t>
            </a:r>
            <a:r>
              <a:rPr sz="1700" spc="-15" dirty="0">
                <a:latin typeface="Arial MT"/>
                <a:cs typeface="Arial MT"/>
              </a:rPr>
              <a:t> </a:t>
            </a:r>
            <a:r>
              <a:rPr sz="1700" dirty="0">
                <a:latin typeface="Arial MT"/>
                <a:cs typeface="Arial MT"/>
              </a:rPr>
              <a:t>exit</a:t>
            </a:r>
            <a:r>
              <a:rPr sz="1700" spc="-15" dirty="0">
                <a:latin typeface="Arial MT"/>
                <a:cs typeface="Arial MT"/>
              </a:rPr>
              <a:t> </a:t>
            </a:r>
            <a:r>
              <a:rPr sz="1700" spc="-25" dirty="0">
                <a:latin typeface="Arial MT"/>
                <a:cs typeface="Arial MT"/>
              </a:rPr>
              <a:t>the </a:t>
            </a:r>
            <a:r>
              <a:rPr sz="1700" dirty="0">
                <a:latin typeface="Arial MT"/>
                <a:cs typeface="Arial MT"/>
              </a:rPr>
              <a:t>thread,</a:t>
            </a:r>
            <a:r>
              <a:rPr sz="1700" spc="-70" dirty="0">
                <a:latin typeface="Arial MT"/>
                <a:cs typeface="Arial MT"/>
              </a:rPr>
              <a:t> </a:t>
            </a:r>
            <a:r>
              <a:rPr sz="1700" dirty="0">
                <a:latin typeface="Arial MT"/>
                <a:cs typeface="Arial MT"/>
              </a:rPr>
              <a:t>and</a:t>
            </a:r>
            <a:r>
              <a:rPr sz="1700" spc="-65" dirty="0">
                <a:latin typeface="Arial MT"/>
                <a:cs typeface="Arial MT"/>
              </a:rPr>
              <a:t> </a:t>
            </a:r>
            <a:r>
              <a:rPr sz="1700" dirty="0">
                <a:latin typeface="Arial MT"/>
                <a:cs typeface="Arial MT"/>
              </a:rPr>
              <a:t>any</a:t>
            </a:r>
            <a:r>
              <a:rPr sz="1700" spc="-65" dirty="0">
                <a:latin typeface="Arial MT"/>
                <a:cs typeface="Arial MT"/>
              </a:rPr>
              <a:t> </a:t>
            </a:r>
            <a:r>
              <a:rPr sz="1700" dirty="0">
                <a:latin typeface="Arial MT"/>
                <a:cs typeface="Arial MT"/>
              </a:rPr>
              <a:t>cleanup</a:t>
            </a:r>
            <a:r>
              <a:rPr sz="1700" spc="-65" dirty="0">
                <a:latin typeface="Arial MT"/>
                <a:cs typeface="Arial MT"/>
              </a:rPr>
              <a:t> </a:t>
            </a:r>
            <a:r>
              <a:rPr sz="1700" dirty="0">
                <a:latin typeface="Arial MT"/>
                <a:cs typeface="Arial MT"/>
              </a:rPr>
              <a:t>handlers</a:t>
            </a:r>
            <a:r>
              <a:rPr sz="1700" spc="-65" dirty="0">
                <a:latin typeface="Arial MT"/>
                <a:cs typeface="Arial MT"/>
              </a:rPr>
              <a:t> </a:t>
            </a:r>
            <a:r>
              <a:rPr sz="1700" spc="-25" dirty="0">
                <a:latin typeface="Arial MT"/>
                <a:cs typeface="Arial MT"/>
              </a:rPr>
              <a:t>or </a:t>
            </a:r>
            <a:r>
              <a:rPr sz="1700" dirty="0">
                <a:latin typeface="Arial MT"/>
                <a:cs typeface="Arial MT"/>
              </a:rPr>
              <a:t>resources</a:t>
            </a:r>
            <a:r>
              <a:rPr sz="1700" spc="-60" dirty="0">
                <a:latin typeface="Arial MT"/>
                <a:cs typeface="Arial MT"/>
              </a:rPr>
              <a:t> </a:t>
            </a:r>
            <a:r>
              <a:rPr sz="1700" dirty="0">
                <a:latin typeface="Arial MT"/>
                <a:cs typeface="Arial MT"/>
              </a:rPr>
              <a:t>are</a:t>
            </a:r>
            <a:r>
              <a:rPr sz="1700" spc="-60" dirty="0">
                <a:latin typeface="Arial MT"/>
                <a:cs typeface="Arial MT"/>
              </a:rPr>
              <a:t> </a:t>
            </a:r>
            <a:r>
              <a:rPr sz="1700" dirty="0">
                <a:latin typeface="Arial MT"/>
                <a:cs typeface="Arial MT"/>
              </a:rPr>
              <a:t>freed.</a:t>
            </a:r>
            <a:r>
              <a:rPr sz="1700" spc="-55" dirty="0">
                <a:latin typeface="Arial MT"/>
                <a:cs typeface="Arial MT"/>
              </a:rPr>
              <a:t> </a:t>
            </a:r>
            <a:r>
              <a:rPr sz="1700" dirty="0">
                <a:latin typeface="Arial MT"/>
                <a:cs typeface="Arial MT"/>
              </a:rPr>
              <a:t>Here,</a:t>
            </a:r>
            <a:r>
              <a:rPr sz="1700" spc="-60" dirty="0">
                <a:latin typeface="Arial MT"/>
                <a:cs typeface="Arial MT"/>
              </a:rPr>
              <a:t> </a:t>
            </a:r>
            <a:r>
              <a:rPr sz="1700" dirty="0">
                <a:latin typeface="Arial MT"/>
                <a:cs typeface="Arial MT"/>
              </a:rPr>
              <a:t>no</a:t>
            </a:r>
            <a:r>
              <a:rPr sz="1700" spc="-55" dirty="0">
                <a:latin typeface="Arial MT"/>
                <a:cs typeface="Arial MT"/>
              </a:rPr>
              <a:t> </a:t>
            </a:r>
            <a:r>
              <a:rPr sz="1700" spc="-10" dirty="0">
                <a:latin typeface="Arial MT"/>
                <a:cs typeface="Arial MT"/>
              </a:rPr>
              <a:t>value </a:t>
            </a:r>
            <a:r>
              <a:rPr sz="1700" dirty="0">
                <a:latin typeface="Arial MT"/>
                <a:cs typeface="Arial MT"/>
              </a:rPr>
              <a:t>is</a:t>
            </a:r>
            <a:r>
              <a:rPr sz="1700" spc="-45" dirty="0">
                <a:latin typeface="Arial MT"/>
                <a:cs typeface="Arial MT"/>
              </a:rPr>
              <a:t> </a:t>
            </a:r>
            <a:r>
              <a:rPr sz="1700" dirty="0">
                <a:latin typeface="Arial MT"/>
                <a:cs typeface="Arial MT"/>
              </a:rPr>
              <a:t>passed</a:t>
            </a:r>
            <a:r>
              <a:rPr sz="1700" spc="-40" dirty="0">
                <a:latin typeface="Arial MT"/>
                <a:cs typeface="Arial MT"/>
              </a:rPr>
              <a:t> </a:t>
            </a:r>
            <a:r>
              <a:rPr sz="1700" dirty="0">
                <a:latin typeface="Arial MT"/>
                <a:cs typeface="Arial MT"/>
              </a:rPr>
              <a:t>back</a:t>
            </a:r>
            <a:r>
              <a:rPr sz="1700" spc="-45" dirty="0">
                <a:latin typeface="Arial MT"/>
                <a:cs typeface="Arial MT"/>
              </a:rPr>
              <a:t> </a:t>
            </a:r>
            <a:r>
              <a:rPr sz="1700" dirty="0">
                <a:latin typeface="Arial MT"/>
                <a:cs typeface="Arial MT"/>
              </a:rPr>
              <a:t>to</a:t>
            </a:r>
            <a:r>
              <a:rPr sz="1700" spc="-40" dirty="0">
                <a:latin typeface="Arial MT"/>
                <a:cs typeface="Arial MT"/>
              </a:rPr>
              <a:t> </a:t>
            </a:r>
            <a:r>
              <a:rPr sz="1700" dirty="0">
                <a:latin typeface="Arial MT"/>
                <a:cs typeface="Arial MT"/>
              </a:rPr>
              <a:t>the</a:t>
            </a:r>
            <a:r>
              <a:rPr sz="1700" spc="-40" dirty="0">
                <a:latin typeface="Arial MT"/>
                <a:cs typeface="Arial MT"/>
              </a:rPr>
              <a:t> </a:t>
            </a:r>
            <a:r>
              <a:rPr sz="1700" dirty="0">
                <a:latin typeface="Arial MT"/>
                <a:cs typeface="Arial MT"/>
              </a:rPr>
              <a:t>main</a:t>
            </a:r>
            <a:r>
              <a:rPr sz="1700" spc="-45" dirty="0">
                <a:latin typeface="Arial MT"/>
                <a:cs typeface="Arial MT"/>
              </a:rPr>
              <a:t> </a:t>
            </a:r>
            <a:r>
              <a:rPr sz="1700" spc="-10" dirty="0">
                <a:latin typeface="Arial MT"/>
                <a:cs typeface="Arial MT"/>
              </a:rPr>
              <a:t>thread.</a:t>
            </a:r>
            <a:endParaRPr sz="1700" dirty="0">
              <a:latin typeface="Arial MT"/>
              <a:cs typeface="Arial MT"/>
            </a:endParaRPr>
          </a:p>
          <a:p>
            <a:pPr marL="469900" marR="74295" indent="-359410" algn="just">
              <a:lnSpc>
                <a:spcPct val="114000"/>
              </a:lnSpc>
              <a:spcAft>
                <a:spcPts val="1800"/>
              </a:spcAft>
              <a:buChar char="●"/>
              <a:tabLst>
                <a:tab pos="469900" algn="l"/>
              </a:tabLst>
            </a:pPr>
            <a:r>
              <a:rPr sz="1700" dirty="0">
                <a:latin typeface="Arial MT"/>
                <a:cs typeface="Arial MT"/>
              </a:rPr>
              <a:t>The</a:t>
            </a:r>
            <a:r>
              <a:rPr sz="1700" spc="-65" dirty="0">
                <a:latin typeface="Arial MT"/>
                <a:cs typeface="Arial MT"/>
              </a:rPr>
              <a:t> </a:t>
            </a:r>
            <a:r>
              <a:rPr sz="1700" dirty="0">
                <a:latin typeface="Arial MT"/>
                <a:cs typeface="Arial MT"/>
              </a:rPr>
              <a:t>thread</a:t>
            </a:r>
            <a:r>
              <a:rPr sz="1700" spc="-65" dirty="0">
                <a:latin typeface="Arial MT"/>
                <a:cs typeface="Arial MT"/>
              </a:rPr>
              <a:t> </a:t>
            </a:r>
            <a:r>
              <a:rPr sz="1700" dirty="0">
                <a:latin typeface="Arial MT"/>
                <a:cs typeface="Arial MT"/>
              </a:rPr>
              <a:t>returns</a:t>
            </a:r>
            <a:r>
              <a:rPr sz="1700" spc="-60" dirty="0">
                <a:latin typeface="Arial MT"/>
                <a:cs typeface="Arial MT"/>
              </a:rPr>
              <a:t> </a:t>
            </a:r>
            <a:r>
              <a:rPr sz="1700" b="1" dirty="0">
                <a:solidFill>
                  <a:srgbClr val="188037"/>
                </a:solidFill>
                <a:latin typeface="Courier New"/>
                <a:cs typeface="Courier New"/>
              </a:rPr>
              <a:t>NULL</a:t>
            </a:r>
            <a:r>
              <a:rPr sz="1700" dirty="0">
                <a:latin typeface="Arial MT"/>
                <a:cs typeface="Arial MT"/>
              </a:rPr>
              <a:t>,</a:t>
            </a:r>
            <a:r>
              <a:rPr sz="1700" spc="-65" dirty="0">
                <a:latin typeface="Arial MT"/>
                <a:cs typeface="Arial MT"/>
              </a:rPr>
              <a:t> </a:t>
            </a:r>
            <a:r>
              <a:rPr sz="1700" spc="-10" dirty="0">
                <a:latin typeface="Arial MT"/>
                <a:cs typeface="Arial MT"/>
              </a:rPr>
              <a:t>indicating </a:t>
            </a:r>
            <a:r>
              <a:rPr sz="1700" dirty="0">
                <a:latin typeface="Arial MT"/>
                <a:cs typeface="Arial MT"/>
              </a:rPr>
              <a:t>it</a:t>
            </a:r>
            <a:r>
              <a:rPr sz="1700" spc="-70" dirty="0">
                <a:latin typeface="Arial MT"/>
                <a:cs typeface="Arial MT"/>
              </a:rPr>
              <a:t> </a:t>
            </a:r>
            <a:r>
              <a:rPr sz="1700" dirty="0">
                <a:latin typeface="Arial MT"/>
                <a:cs typeface="Arial MT"/>
              </a:rPr>
              <a:t>has</a:t>
            </a:r>
            <a:r>
              <a:rPr sz="1700" spc="-70" dirty="0">
                <a:latin typeface="Arial MT"/>
                <a:cs typeface="Arial MT"/>
              </a:rPr>
              <a:t> </a:t>
            </a:r>
            <a:r>
              <a:rPr sz="1700" dirty="0">
                <a:latin typeface="Arial MT"/>
                <a:cs typeface="Arial MT"/>
              </a:rPr>
              <a:t>finished</a:t>
            </a:r>
            <a:r>
              <a:rPr sz="1700" spc="-70" dirty="0">
                <a:latin typeface="Arial MT"/>
                <a:cs typeface="Arial MT"/>
              </a:rPr>
              <a:t> </a:t>
            </a:r>
            <a:r>
              <a:rPr sz="1700" dirty="0">
                <a:latin typeface="Arial MT"/>
                <a:cs typeface="Arial MT"/>
              </a:rPr>
              <a:t>executing</a:t>
            </a:r>
            <a:r>
              <a:rPr sz="1700" spc="-70" dirty="0">
                <a:latin typeface="Arial MT"/>
                <a:cs typeface="Arial MT"/>
              </a:rPr>
              <a:t> </a:t>
            </a:r>
            <a:r>
              <a:rPr sz="1700" dirty="0">
                <a:latin typeface="Arial MT"/>
                <a:cs typeface="Arial MT"/>
              </a:rPr>
              <a:t>without</a:t>
            </a:r>
            <a:r>
              <a:rPr sz="1700" spc="-70" dirty="0">
                <a:latin typeface="Arial MT"/>
                <a:cs typeface="Arial MT"/>
              </a:rPr>
              <a:t> </a:t>
            </a:r>
            <a:r>
              <a:rPr sz="1700" spc="-25" dirty="0">
                <a:latin typeface="Arial MT"/>
                <a:cs typeface="Arial MT"/>
              </a:rPr>
              <a:t>an </a:t>
            </a:r>
            <a:r>
              <a:rPr sz="1700" spc="-10" dirty="0">
                <a:latin typeface="Arial MT"/>
                <a:cs typeface="Arial MT"/>
              </a:rPr>
              <a:t>output.</a:t>
            </a:r>
            <a:endParaRPr sz="1700" dirty="0">
              <a:latin typeface="Arial MT"/>
              <a:cs typeface="Arial MT"/>
            </a:endParaRPr>
          </a:p>
          <a:p>
            <a:pPr marL="469900" marR="52069" indent="-359410">
              <a:lnSpc>
                <a:spcPct val="114000"/>
              </a:lnSpc>
              <a:buFont typeface="Arial MT"/>
              <a:buChar char="●"/>
              <a:tabLst>
                <a:tab pos="469900" algn="l"/>
              </a:tabLst>
            </a:pPr>
            <a:r>
              <a:rPr sz="1700" b="1" dirty="0">
                <a:latin typeface="Arial"/>
                <a:cs typeface="Arial"/>
              </a:rPr>
              <a:t>Key</a:t>
            </a:r>
            <a:r>
              <a:rPr sz="1700" b="1" spc="-50" dirty="0">
                <a:latin typeface="Arial"/>
                <a:cs typeface="Arial"/>
              </a:rPr>
              <a:t> </a:t>
            </a:r>
            <a:r>
              <a:rPr sz="1700" b="1" dirty="0">
                <a:latin typeface="Arial"/>
                <a:cs typeface="Arial"/>
              </a:rPr>
              <a:t>Concept:</a:t>
            </a:r>
            <a:r>
              <a:rPr sz="1700" b="1" spc="-45" dirty="0">
                <a:latin typeface="Arial"/>
                <a:cs typeface="Arial"/>
              </a:rPr>
              <a:t> </a:t>
            </a:r>
            <a:r>
              <a:rPr sz="1700" dirty="0">
                <a:latin typeface="Arial MT"/>
                <a:cs typeface="Arial MT"/>
              </a:rPr>
              <a:t>Each</a:t>
            </a:r>
            <a:r>
              <a:rPr sz="1700" spc="-50" dirty="0">
                <a:latin typeface="Arial MT"/>
                <a:cs typeface="Arial MT"/>
              </a:rPr>
              <a:t> </a:t>
            </a:r>
            <a:r>
              <a:rPr sz="1700" dirty="0">
                <a:latin typeface="Arial MT"/>
                <a:cs typeface="Arial MT"/>
              </a:rPr>
              <a:t>thread</a:t>
            </a:r>
            <a:r>
              <a:rPr sz="1700" spc="-45" dirty="0">
                <a:latin typeface="Arial MT"/>
                <a:cs typeface="Arial MT"/>
              </a:rPr>
              <a:t> </a:t>
            </a:r>
            <a:r>
              <a:rPr sz="1700" spc="-10" dirty="0">
                <a:latin typeface="Arial MT"/>
                <a:cs typeface="Arial MT"/>
              </a:rPr>
              <a:t>should </a:t>
            </a:r>
            <a:r>
              <a:rPr sz="1700" dirty="0">
                <a:latin typeface="Arial MT"/>
                <a:cs typeface="Arial MT"/>
              </a:rPr>
              <a:t>generally</a:t>
            </a:r>
            <a:r>
              <a:rPr sz="1700" spc="-20" dirty="0">
                <a:latin typeface="Arial MT"/>
                <a:cs typeface="Arial MT"/>
              </a:rPr>
              <a:t> </a:t>
            </a:r>
            <a:r>
              <a:rPr sz="1700" dirty="0">
                <a:latin typeface="Arial MT"/>
                <a:cs typeface="Arial MT"/>
              </a:rPr>
              <a:t>call</a:t>
            </a:r>
            <a:r>
              <a:rPr sz="1700" spc="-15" dirty="0">
                <a:latin typeface="Arial MT"/>
                <a:cs typeface="Arial MT"/>
              </a:rPr>
              <a:t> </a:t>
            </a:r>
            <a:r>
              <a:rPr sz="1700" b="1" spc="-20" dirty="0">
                <a:solidFill>
                  <a:srgbClr val="188037"/>
                </a:solidFill>
                <a:latin typeface="Courier New"/>
                <a:cs typeface="Courier New"/>
              </a:rPr>
              <a:t>pthread_exit</a:t>
            </a:r>
            <a:r>
              <a:rPr sz="1700" b="1" spc="-555" dirty="0">
                <a:solidFill>
                  <a:srgbClr val="188037"/>
                </a:solidFill>
                <a:latin typeface="Courier New"/>
                <a:cs typeface="Courier New"/>
              </a:rPr>
              <a:t> </a:t>
            </a:r>
            <a:r>
              <a:rPr sz="1700" spc="-25" dirty="0">
                <a:latin typeface="Arial MT"/>
                <a:cs typeface="Arial MT"/>
              </a:rPr>
              <a:t>or </a:t>
            </a:r>
            <a:r>
              <a:rPr sz="1700" dirty="0">
                <a:latin typeface="Arial MT"/>
                <a:cs typeface="Arial MT"/>
              </a:rPr>
              <a:t>allow</a:t>
            </a:r>
            <a:r>
              <a:rPr sz="1700" spc="-60" dirty="0">
                <a:latin typeface="Arial MT"/>
                <a:cs typeface="Arial MT"/>
              </a:rPr>
              <a:t> </a:t>
            </a:r>
            <a:r>
              <a:rPr sz="1700" dirty="0">
                <a:latin typeface="Arial MT"/>
                <a:cs typeface="Arial MT"/>
              </a:rPr>
              <a:t>the</a:t>
            </a:r>
            <a:r>
              <a:rPr sz="1700" spc="-55" dirty="0">
                <a:latin typeface="Arial MT"/>
                <a:cs typeface="Arial MT"/>
              </a:rPr>
              <a:t> </a:t>
            </a:r>
            <a:r>
              <a:rPr sz="1700" dirty="0">
                <a:latin typeface="Arial MT"/>
                <a:cs typeface="Arial MT"/>
              </a:rPr>
              <a:t>function</a:t>
            </a:r>
            <a:r>
              <a:rPr sz="1700" spc="-55" dirty="0">
                <a:latin typeface="Arial MT"/>
                <a:cs typeface="Arial MT"/>
              </a:rPr>
              <a:t> </a:t>
            </a:r>
            <a:r>
              <a:rPr sz="1700" dirty="0">
                <a:latin typeface="Arial MT"/>
                <a:cs typeface="Arial MT"/>
              </a:rPr>
              <a:t>to</a:t>
            </a:r>
            <a:r>
              <a:rPr sz="1700" spc="-55" dirty="0">
                <a:latin typeface="Arial MT"/>
                <a:cs typeface="Arial MT"/>
              </a:rPr>
              <a:t> </a:t>
            </a:r>
            <a:r>
              <a:rPr sz="1700" dirty="0">
                <a:latin typeface="Arial MT"/>
                <a:cs typeface="Arial MT"/>
              </a:rPr>
              <a:t>reach</a:t>
            </a:r>
            <a:r>
              <a:rPr sz="1700" spc="-55" dirty="0">
                <a:latin typeface="Arial MT"/>
                <a:cs typeface="Arial MT"/>
              </a:rPr>
              <a:t> </a:t>
            </a:r>
            <a:r>
              <a:rPr sz="1700" dirty="0">
                <a:latin typeface="Arial MT"/>
                <a:cs typeface="Arial MT"/>
              </a:rPr>
              <a:t>the</a:t>
            </a:r>
            <a:r>
              <a:rPr sz="1700" spc="-55" dirty="0">
                <a:latin typeface="Arial MT"/>
                <a:cs typeface="Arial MT"/>
              </a:rPr>
              <a:t> </a:t>
            </a:r>
            <a:r>
              <a:rPr sz="1700" spc="-20" dirty="0">
                <a:latin typeface="Arial MT"/>
                <a:cs typeface="Arial MT"/>
              </a:rPr>
              <a:t>end, </a:t>
            </a:r>
            <a:r>
              <a:rPr sz="1700" dirty="0">
                <a:latin typeface="Arial MT"/>
                <a:cs typeface="Arial MT"/>
              </a:rPr>
              <a:t>as</a:t>
            </a:r>
            <a:r>
              <a:rPr sz="1700" spc="-40" dirty="0">
                <a:latin typeface="Arial MT"/>
                <a:cs typeface="Arial MT"/>
              </a:rPr>
              <a:t> </a:t>
            </a:r>
            <a:r>
              <a:rPr sz="1700" spc="-10" dirty="0">
                <a:latin typeface="Arial MT"/>
                <a:cs typeface="Arial MT"/>
              </a:rPr>
              <a:t>terminating</a:t>
            </a:r>
            <a:r>
              <a:rPr sz="1700" spc="-35" dirty="0">
                <a:latin typeface="Arial MT"/>
                <a:cs typeface="Arial MT"/>
              </a:rPr>
              <a:t> </a:t>
            </a:r>
            <a:r>
              <a:rPr sz="1700" dirty="0">
                <a:latin typeface="Arial MT"/>
                <a:cs typeface="Arial MT"/>
              </a:rPr>
              <a:t>a</a:t>
            </a:r>
            <a:r>
              <a:rPr sz="1700" spc="-35" dirty="0">
                <a:latin typeface="Arial MT"/>
                <a:cs typeface="Arial MT"/>
              </a:rPr>
              <a:t> </a:t>
            </a:r>
            <a:r>
              <a:rPr sz="1700" dirty="0">
                <a:latin typeface="Arial MT"/>
                <a:cs typeface="Arial MT"/>
              </a:rPr>
              <a:t>thread</a:t>
            </a:r>
            <a:r>
              <a:rPr sz="1700" spc="-40" dirty="0">
                <a:latin typeface="Arial MT"/>
                <a:cs typeface="Arial MT"/>
              </a:rPr>
              <a:t> </a:t>
            </a:r>
            <a:r>
              <a:rPr sz="1700" spc="-10" dirty="0">
                <a:latin typeface="Arial MT"/>
                <a:cs typeface="Arial MT"/>
              </a:rPr>
              <a:t>prematurely </a:t>
            </a:r>
            <a:r>
              <a:rPr sz="1700" dirty="0">
                <a:latin typeface="Arial MT"/>
                <a:cs typeface="Arial MT"/>
              </a:rPr>
              <a:t>can</a:t>
            </a:r>
            <a:r>
              <a:rPr sz="1700" spc="-60" dirty="0">
                <a:latin typeface="Arial MT"/>
                <a:cs typeface="Arial MT"/>
              </a:rPr>
              <a:t> </a:t>
            </a:r>
            <a:r>
              <a:rPr sz="1700" dirty="0">
                <a:latin typeface="Arial MT"/>
                <a:cs typeface="Arial MT"/>
              </a:rPr>
              <a:t>lead</a:t>
            </a:r>
            <a:r>
              <a:rPr sz="1700" spc="-55" dirty="0">
                <a:latin typeface="Arial MT"/>
                <a:cs typeface="Arial MT"/>
              </a:rPr>
              <a:t> </a:t>
            </a:r>
            <a:r>
              <a:rPr sz="1700" dirty="0">
                <a:latin typeface="Arial MT"/>
                <a:cs typeface="Arial MT"/>
              </a:rPr>
              <a:t>to</a:t>
            </a:r>
            <a:r>
              <a:rPr sz="1700" spc="-55" dirty="0">
                <a:latin typeface="Arial MT"/>
                <a:cs typeface="Arial MT"/>
              </a:rPr>
              <a:t> </a:t>
            </a:r>
            <a:r>
              <a:rPr sz="1700" dirty="0">
                <a:latin typeface="Arial MT"/>
                <a:cs typeface="Arial MT"/>
              </a:rPr>
              <a:t>resource</a:t>
            </a:r>
            <a:r>
              <a:rPr sz="1700" spc="-60" dirty="0">
                <a:latin typeface="Arial MT"/>
                <a:cs typeface="Arial MT"/>
              </a:rPr>
              <a:t> </a:t>
            </a:r>
            <a:r>
              <a:rPr sz="1700" spc="-10" dirty="0">
                <a:latin typeface="Arial MT"/>
                <a:cs typeface="Arial MT"/>
              </a:rPr>
              <a:t>leaks.</a:t>
            </a:r>
            <a:endParaRPr sz="17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4687975" y="1726450"/>
            <a:ext cx="7351626" cy="3892024"/>
          </a:xfrm>
          <a:prstGeom prst="rect">
            <a:avLst/>
          </a:prstGeom>
        </p:spPr>
      </p:pic>
      <p:sp>
        <p:nvSpPr>
          <p:cNvPr id="7" name="object 2">
            <a:extLst>
              <a:ext uri="{FF2B5EF4-FFF2-40B4-BE49-F238E27FC236}">
                <a16:creationId xmlns:a16="http://schemas.microsoft.com/office/drawing/2014/main" id="{5B6955EA-2A97-C4EB-61D2-1EFC62CDFB5C}"/>
              </a:ext>
            </a:extLst>
          </p:cNvPr>
          <p:cNvSpPr txBox="1">
            <a:spLocks noGrp="1"/>
          </p:cNvSpPr>
          <p:nvPr>
            <p:ph type="title"/>
          </p:nvPr>
        </p:nvSpPr>
        <p:spPr>
          <a:xfrm>
            <a:off x="410375" y="1435436"/>
            <a:ext cx="4480560"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spc="-10" dirty="0"/>
              <a:t>Terminating</a:t>
            </a:r>
            <a:r>
              <a:rPr sz="1800" spc="-30" dirty="0"/>
              <a:t> </a:t>
            </a:r>
            <a:r>
              <a:rPr sz="1800" dirty="0"/>
              <a:t>a</a:t>
            </a:r>
            <a:r>
              <a:rPr sz="1800" spc="-30" dirty="0"/>
              <a:t> </a:t>
            </a:r>
            <a:r>
              <a:rPr sz="1800" spc="-10" dirty="0"/>
              <a:t>Thread</a:t>
            </a:r>
            <a:endParaRPr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4" name="object 4">
            <a:extLs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7" name="object 7"/>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grpSp>
        <p:nvGrpSpPr>
          <p:cNvPr id="10" name="Group 9" descr="A reference table mapping thread &quot;Cancelability&quot; types (Disabled, Deferred, Asynchronous) to their corresponding POSIX state and type macros.">
            <a:extLst>
              <a:ext uri="{FF2B5EF4-FFF2-40B4-BE49-F238E27FC236}">
                <a16:creationId xmlns:a16="http://schemas.microsoft.com/office/drawing/2014/main" id="{2D169FE5-B0D9-8032-B4E6-8736AB69CDD3}"/>
              </a:ext>
            </a:extLst>
          </p:cNvPr>
          <p:cNvGrpSpPr/>
          <p:nvPr/>
        </p:nvGrpSpPr>
        <p:grpSpPr>
          <a:xfrm>
            <a:off x="512496" y="3238472"/>
            <a:ext cx="8795233" cy="2324128"/>
            <a:chOff x="512496" y="3186517"/>
            <a:chExt cx="8795233" cy="2324128"/>
          </a:xfrm>
        </p:grpSpPr>
        <p:pic>
          <p:nvPicPr>
            <p:cNvPr id="3" name="object 3"/>
            <p:cNvPicPr/>
            <p:nvPr/>
          </p:nvPicPr>
          <p:blipFill>
            <a:blip r:embed="rId3" cstate="print"/>
            <a:stretch>
              <a:fillRect/>
            </a:stretch>
          </p:blipFill>
          <p:spPr>
            <a:xfrm>
              <a:off x="512496" y="3186517"/>
              <a:ext cx="8795233" cy="2324128"/>
            </a:xfrm>
            <a:prstGeom prst="rect">
              <a:avLst/>
            </a:prstGeom>
          </p:spPr>
        </p:pic>
        <p:sp>
          <p:nvSpPr>
            <p:cNvPr id="8" name="object 8"/>
            <p:cNvSpPr txBox="1"/>
            <p:nvPr/>
          </p:nvSpPr>
          <p:spPr>
            <a:xfrm>
              <a:off x="2524349" y="4618125"/>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dirty="0">
                <a:latin typeface="Arial MT"/>
                <a:cs typeface="Arial MT"/>
              </a:endParaRPr>
            </a:p>
          </p:txBody>
        </p:sp>
        <p:sp>
          <p:nvSpPr>
            <p:cNvPr id="9" name="object 9"/>
            <p:cNvSpPr txBox="1"/>
            <p:nvPr/>
          </p:nvSpPr>
          <p:spPr>
            <a:xfrm>
              <a:off x="2524349" y="5070349"/>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16" name="object 4">
            <a:extLst>
              <a:ext uri="{FF2B5EF4-FFF2-40B4-BE49-F238E27FC236}">
                <a16:creationId xmlns:a16="http://schemas.microsoft.com/office/drawing/2014/main" id="{E5A26AAF-8E03-3BAC-5515-BA0FC7FE6C62}"/>
              </a:ex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7" name="object 7">
            <a:extLst>
              <a:ext uri="{FF2B5EF4-FFF2-40B4-BE49-F238E27FC236}">
                <a16:creationId xmlns:a16="http://schemas.microsoft.com/office/drawing/2014/main" id="{00DF7179-FFB6-D6F8-9B8F-CE2CA0C55D31}"/>
              </a:ext>
              <a:ext uri="{C183D7F6-B498-43B3-948B-1728B52AA6E4}">
                <adec:decorative xmlns:adec="http://schemas.microsoft.com/office/drawing/2017/decorative" val="1"/>
              </a:ext>
            </a:extLst>
          </p:cNvPr>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grpSp>
        <p:nvGrpSpPr>
          <p:cNvPr id="12" name="Group 11">
            <a:extLst>
              <a:ext uri="{FF2B5EF4-FFF2-40B4-BE49-F238E27FC236}">
                <a16:creationId xmlns:a16="http://schemas.microsoft.com/office/drawing/2014/main" id="{7DEAD6C5-691B-8CCC-AD93-31604A2AA9C4}"/>
              </a:ext>
              <a:ext uri="{C183D7F6-B498-43B3-948B-1728B52AA6E4}">
                <adec:decorative xmlns:adec="http://schemas.microsoft.com/office/drawing/2017/decorative" val="1"/>
              </a:ext>
            </a:extLst>
          </p:cNvPr>
          <p:cNvGrpSpPr/>
          <p:nvPr/>
        </p:nvGrpSpPr>
        <p:grpSpPr>
          <a:xfrm>
            <a:off x="512496" y="3238472"/>
            <a:ext cx="8795233" cy="2324128"/>
            <a:chOff x="512496" y="3186517"/>
            <a:chExt cx="8795233" cy="2324128"/>
          </a:xfrm>
        </p:grpSpPr>
        <p:pic>
          <p:nvPicPr>
            <p:cNvPr id="13" name="object 3">
              <a:extLst>
                <a:ext uri="{FF2B5EF4-FFF2-40B4-BE49-F238E27FC236}">
                  <a16:creationId xmlns:a16="http://schemas.microsoft.com/office/drawing/2014/main" id="{0DD52B31-A660-70A6-3659-19457F5A2D95}"/>
                </a:ext>
              </a:extLst>
            </p:cNvPr>
            <p:cNvPicPr/>
            <p:nvPr/>
          </p:nvPicPr>
          <p:blipFill>
            <a:blip r:embed="rId2" cstate="print"/>
            <a:stretch>
              <a:fillRect/>
            </a:stretch>
          </p:blipFill>
          <p:spPr>
            <a:xfrm>
              <a:off x="512496" y="3186517"/>
              <a:ext cx="8795233" cy="2324128"/>
            </a:xfrm>
            <a:prstGeom prst="rect">
              <a:avLst/>
            </a:prstGeom>
          </p:spPr>
        </p:pic>
        <p:sp>
          <p:nvSpPr>
            <p:cNvPr id="14" name="object 8">
              <a:extLst>
                <a:ext uri="{FF2B5EF4-FFF2-40B4-BE49-F238E27FC236}">
                  <a16:creationId xmlns:a16="http://schemas.microsoft.com/office/drawing/2014/main" id="{B59E1F6A-314B-2A5A-134A-B6C00B82D686}"/>
                </a:ext>
              </a:extLst>
            </p:cNvPr>
            <p:cNvSpPr txBox="1"/>
            <p:nvPr/>
          </p:nvSpPr>
          <p:spPr>
            <a:xfrm>
              <a:off x="2524349" y="4618125"/>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dirty="0">
                <a:latin typeface="Arial MT"/>
                <a:cs typeface="Arial MT"/>
              </a:endParaRPr>
            </a:p>
          </p:txBody>
        </p:sp>
        <p:sp>
          <p:nvSpPr>
            <p:cNvPr id="15" name="object 9">
              <a:extLst>
                <a:ext uri="{FF2B5EF4-FFF2-40B4-BE49-F238E27FC236}">
                  <a16:creationId xmlns:a16="http://schemas.microsoft.com/office/drawing/2014/main" id="{C9E14E20-EDCA-86F4-4114-DA59AADB5FF1}"/>
                </a:ext>
              </a:extLst>
            </p:cNvPr>
            <p:cNvSpPr txBox="1"/>
            <p:nvPr/>
          </p:nvSpPr>
          <p:spPr>
            <a:xfrm>
              <a:off x="2524349" y="5070349"/>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grpSp>
      <p:sp>
        <p:nvSpPr>
          <p:cNvPr id="8" name="object 8"/>
          <p:cNvSpPr txBox="1"/>
          <p:nvPr/>
        </p:nvSpPr>
        <p:spPr>
          <a:xfrm>
            <a:off x="5622749" y="3004374"/>
            <a:ext cx="5635625" cy="3090718"/>
          </a:xfrm>
          <a:prstGeom prst="rect">
            <a:avLst/>
          </a:prstGeom>
          <a:solidFill>
            <a:srgbClr val="C9DAF7"/>
          </a:solidFill>
        </p:spPr>
        <p:txBody>
          <a:bodyPr vert="horz" wrap="square" lIns="0" tIns="91440" rIns="0" bIns="91440" rtlCol="0">
            <a:spAutoFit/>
          </a:bodyPr>
          <a:lstStyle/>
          <a:p>
            <a:pPr marL="85725" marR="245110">
              <a:lnSpc>
                <a:spcPct val="114999"/>
              </a:lnSpc>
              <a:spcBef>
                <a:spcPts val="280"/>
              </a:spcBef>
            </a:pPr>
            <a:r>
              <a:rPr sz="1800" b="1" dirty="0">
                <a:latin typeface="Arial"/>
                <a:cs typeface="Arial"/>
              </a:rPr>
              <a:t>Cancelability</a:t>
            </a:r>
            <a:r>
              <a:rPr sz="1800" b="1" spc="-35" dirty="0">
                <a:latin typeface="Arial"/>
                <a:cs typeface="Arial"/>
              </a:rPr>
              <a:t> </a:t>
            </a:r>
            <a:r>
              <a:rPr sz="1800" b="1" dirty="0">
                <a:latin typeface="Arial"/>
                <a:cs typeface="Arial"/>
              </a:rPr>
              <a:t>State</a:t>
            </a:r>
            <a:r>
              <a:rPr sz="1800" dirty="0">
                <a:latin typeface="Arial MT"/>
                <a:cs typeface="Arial MT"/>
              </a:rPr>
              <a:t>:</a:t>
            </a:r>
            <a:r>
              <a:rPr sz="1800" spc="-20" dirty="0">
                <a:latin typeface="Arial MT"/>
                <a:cs typeface="Arial MT"/>
              </a:rPr>
              <a:t> </a:t>
            </a:r>
            <a:r>
              <a:rPr sz="1800" dirty="0">
                <a:latin typeface="Arial MT"/>
                <a:cs typeface="Arial MT"/>
              </a:rPr>
              <a:t>Determines</a:t>
            </a:r>
            <a:r>
              <a:rPr sz="1800" spc="-25" dirty="0">
                <a:latin typeface="Arial MT"/>
                <a:cs typeface="Arial MT"/>
              </a:rPr>
              <a:t> </a:t>
            </a:r>
            <a:r>
              <a:rPr sz="1800" dirty="0">
                <a:latin typeface="Arial MT"/>
                <a:cs typeface="Arial MT"/>
              </a:rPr>
              <a:t>whether</a:t>
            </a:r>
            <a:r>
              <a:rPr sz="1800" spc="-20" dirty="0">
                <a:latin typeface="Arial MT"/>
                <a:cs typeface="Arial MT"/>
              </a:rPr>
              <a:t> </a:t>
            </a:r>
            <a:r>
              <a:rPr sz="1800" dirty="0">
                <a:latin typeface="Arial MT"/>
                <a:cs typeface="Arial MT"/>
              </a:rPr>
              <a:t>the</a:t>
            </a:r>
            <a:r>
              <a:rPr sz="1800" spc="-20" dirty="0">
                <a:latin typeface="Arial MT"/>
                <a:cs typeface="Arial MT"/>
              </a:rPr>
              <a:t> </a:t>
            </a:r>
            <a:r>
              <a:rPr sz="1800" spc="-10" dirty="0">
                <a:latin typeface="Arial MT"/>
                <a:cs typeface="Arial MT"/>
              </a:rPr>
              <a:t>thread </a:t>
            </a:r>
            <a:r>
              <a:rPr sz="1800" dirty="0">
                <a:latin typeface="Arial MT"/>
                <a:cs typeface="Arial MT"/>
              </a:rPr>
              <a:t>can</a:t>
            </a:r>
            <a:r>
              <a:rPr sz="1800" spc="-20" dirty="0">
                <a:latin typeface="Arial MT"/>
                <a:cs typeface="Arial MT"/>
              </a:rPr>
              <a:t> </a:t>
            </a:r>
            <a:r>
              <a:rPr sz="1800" dirty="0">
                <a:latin typeface="Arial MT"/>
                <a:cs typeface="Arial MT"/>
              </a:rPr>
              <a:t>be</a:t>
            </a:r>
            <a:r>
              <a:rPr sz="1800" spc="-20" dirty="0">
                <a:latin typeface="Arial MT"/>
                <a:cs typeface="Arial MT"/>
              </a:rPr>
              <a:t> </a:t>
            </a:r>
            <a:r>
              <a:rPr sz="1800" dirty="0">
                <a:latin typeface="Arial MT"/>
                <a:cs typeface="Arial MT"/>
              </a:rPr>
              <a:t>cancelled</a:t>
            </a:r>
            <a:r>
              <a:rPr sz="1800" spc="-20" dirty="0">
                <a:latin typeface="Arial MT"/>
                <a:cs typeface="Arial MT"/>
              </a:rPr>
              <a:t> </a:t>
            </a:r>
            <a:r>
              <a:rPr sz="1800" dirty="0">
                <a:latin typeface="Arial MT"/>
                <a:cs typeface="Arial MT"/>
              </a:rPr>
              <a:t>or</a:t>
            </a:r>
            <a:r>
              <a:rPr sz="1800" spc="-15" dirty="0">
                <a:latin typeface="Arial MT"/>
                <a:cs typeface="Arial MT"/>
              </a:rPr>
              <a:t> </a:t>
            </a:r>
            <a:r>
              <a:rPr sz="1800" spc="-20" dirty="0">
                <a:latin typeface="Arial MT"/>
                <a:cs typeface="Arial MT"/>
              </a:rPr>
              <a:t>not.</a:t>
            </a:r>
            <a:endParaRPr sz="1800" dirty="0">
              <a:latin typeface="Arial MT"/>
              <a:cs typeface="Arial MT"/>
            </a:endParaRPr>
          </a:p>
          <a:p>
            <a:pPr marL="542925" marR="415290" indent="-367030">
              <a:lnSpc>
                <a:spcPct val="114999"/>
              </a:lnSpc>
              <a:spcBef>
                <a:spcPts val="1200"/>
              </a:spcBef>
              <a:spcAft>
                <a:spcPts val="1800"/>
              </a:spcAft>
              <a:buClr>
                <a:srgbClr val="000000"/>
              </a:buClr>
              <a:buFont typeface="Arial MT"/>
              <a:buChar char="●"/>
              <a:tabLst>
                <a:tab pos="542925" algn="l"/>
              </a:tabLst>
            </a:pPr>
            <a:r>
              <a:rPr sz="1800" b="1" dirty="0">
                <a:solidFill>
                  <a:srgbClr val="188037"/>
                </a:solidFill>
                <a:latin typeface="Courier New"/>
                <a:cs typeface="Courier New"/>
              </a:rPr>
              <a:t>PTHREAD_CANCEL_DISABLE</a:t>
            </a:r>
            <a:r>
              <a:rPr sz="1800" dirty="0">
                <a:latin typeface="Arial MT"/>
                <a:cs typeface="Arial MT"/>
              </a:rPr>
              <a:t>:</a:t>
            </a:r>
            <a:r>
              <a:rPr sz="1800" spc="-70" dirty="0">
                <a:latin typeface="Arial MT"/>
                <a:cs typeface="Arial MT"/>
              </a:rPr>
              <a:t> </a:t>
            </a:r>
            <a:br>
              <a:rPr lang="en-US" sz="1800" spc="-70" dirty="0">
                <a:latin typeface="Arial MT"/>
                <a:cs typeface="Arial MT"/>
              </a:rPr>
            </a:br>
            <a:r>
              <a:rPr sz="1800" dirty="0">
                <a:latin typeface="Arial MT"/>
                <a:cs typeface="Arial MT"/>
              </a:rPr>
              <a:t>Cancelability</a:t>
            </a:r>
            <a:r>
              <a:rPr sz="1800" spc="-55" dirty="0">
                <a:latin typeface="Arial MT"/>
                <a:cs typeface="Arial MT"/>
              </a:rPr>
              <a:t> </a:t>
            </a:r>
            <a:r>
              <a:rPr sz="1800" spc="-25" dirty="0">
                <a:latin typeface="Arial MT"/>
                <a:cs typeface="Arial MT"/>
              </a:rPr>
              <a:t>is </a:t>
            </a:r>
            <a:r>
              <a:rPr sz="1800" dirty="0">
                <a:latin typeface="Arial MT"/>
                <a:cs typeface="Arial MT"/>
              </a:rPr>
              <a:t>disabled,</a:t>
            </a:r>
            <a:r>
              <a:rPr sz="1800" spc="-35" dirty="0">
                <a:latin typeface="Arial MT"/>
                <a:cs typeface="Arial MT"/>
              </a:rPr>
              <a:t> </a:t>
            </a:r>
            <a:br>
              <a:rPr lang="en-US" sz="1800" spc="-35" dirty="0">
                <a:latin typeface="Arial MT"/>
                <a:cs typeface="Arial MT"/>
              </a:rPr>
            </a:br>
            <a:r>
              <a:rPr sz="1800" dirty="0">
                <a:latin typeface="Arial MT"/>
                <a:cs typeface="Arial MT"/>
              </a:rPr>
              <a:t>meaning</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thread</a:t>
            </a:r>
            <a:r>
              <a:rPr sz="1800" spc="-30" dirty="0">
                <a:latin typeface="Arial MT"/>
                <a:cs typeface="Arial MT"/>
              </a:rPr>
              <a:t> </a:t>
            </a:r>
            <a:r>
              <a:rPr sz="1800" dirty="0">
                <a:latin typeface="Arial MT"/>
                <a:cs typeface="Arial MT"/>
              </a:rPr>
              <a:t>cannot</a:t>
            </a:r>
            <a:r>
              <a:rPr sz="1800" spc="-30" dirty="0">
                <a:latin typeface="Arial MT"/>
                <a:cs typeface="Arial MT"/>
              </a:rPr>
              <a:t> </a:t>
            </a:r>
            <a:r>
              <a:rPr sz="1800" spc="-25" dirty="0">
                <a:latin typeface="Arial MT"/>
                <a:cs typeface="Arial MT"/>
              </a:rPr>
              <a:t>be </a:t>
            </a:r>
            <a:r>
              <a:rPr sz="1800" spc="-10" dirty="0">
                <a:latin typeface="Arial MT"/>
                <a:cs typeface="Arial MT"/>
              </a:rPr>
              <a:t>cancelled.</a:t>
            </a:r>
            <a:endParaRPr sz="1800" dirty="0">
              <a:latin typeface="Arial MT"/>
              <a:cs typeface="Arial MT"/>
            </a:endParaRPr>
          </a:p>
          <a:p>
            <a:pPr marL="542925" marR="336550" indent="-367030">
              <a:lnSpc>
                <a:spcPct val="114999"/>
              </a:lnSpc>
              <a:buClr>
                <a:srgbClr val="000000"/>
              </a:buClr>
              <a:buFont typeface="Arial MT"/>
              <a:buChar char="●"/>
              <a:tabLst>
                <a:tab pos="542925" algn="l"/>
              </a:tabLst>
            </a:pPr>
            <a:r>
              <a:rPr sz="1800" b="1" dirty="0">
                <a:solidFill>
                  <a:srgbClr val="188037"/>
                </a:solidFill>
                <a:latin typeface="Courier New"/>
                <a:cs typeface="Courier New"/>
              </a:rPr>
              <a:t>PTHREAD_CANCEL_ENABLE</a:t>
            </a:r>
            <a:r>
              <a:rPr sz="1800" dirty="0">
                <a:latin typeface="Arial MT"/>
                <a:cs typeface="Arial MT"/>
              </a:rPr>
              <a:t>:</a:t>
            </a:r>
            <a:r>
              <a:rPr sz="1800" spc="-65" dirty="0">
                <a:latin typeface="Arial MT"/>
                <a:cs typeface="Arial MT"/>
              </a:rPr>
              <a:t> </a:t>
            </a:r>
            <a:br>
              <a:rPr lang="en-US" sz="1800" spc="-65" dirty="0">
                <a:latin typeface="Arial MT"/>
                <a:cs typeface="Arial MT"/>
              </a:rPr>
            </a:br>
            <a:r>
              <a:rPr sz="1800" dirty="0">
                <a:latin typeface="Arial MT"/>
                <a:cs typeface="Arial MT"/>
              </a:rPr>
              <a:t>Cancelability</a:t>
            </a:r>
            <a:r>
              <a:rPr sz="1800" spc="-55" dirty="0">
                <a:latin typeface="Arial MT"/>
                <a:cs typeface="Arial MT"/>
              </a:rPr>
              <a:t> </a:t>
            </a:r>
            <a:r>
              <a:rPr sz="1800" spc="-25" dirty="0">
                <a:latin typeface="Arial MT"/>
                <a:cs typeface="Arial MT"/>
              </a:rPr>
              <a:t>is </a:t>
            </a:r>
            <a:r>
              <a:rPr sz="1800" dirty="0">
                <a:latin typeface="Arial MT"/>
                <a:cs typeface="Arial MT"/>
              </a:rPr>
              <a:t>enabled,</a:t>
            </a:r>
            <a:r>
              <a:rPr sz="1800" spc="-35" dirty="0">
                <a:latin typeface="Arial MT"/>
                <a:cs typeface="Arial MT"/>
              </a:rPr>
              <a:t> </a:t>
            </a:r>
            <a:br>
              <a:rPr lang="en-US" sz="1800" spc="-35" dirty="0">
                <a:latin typeface="Arial MT"/>
                <a:cs typeface="Arial MT"/>
              </a:rPr>
            </a:br>
            <a:r>
              <a:rPr sz="1800" dirty="0">
                <a:latin typeface="Arial MT"/>
                <a:cs typeface="Arial MT"/>
              </a:rPr>
              <a:t>meaning</a:t>
            </a:r>
            <a:r>
              <a:rPr sz="1800" spc="-25"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thread</a:t>
            </a:r>
            <a:r>
              <a:rPr sz="1800" spc="-25" dirty="0">
                <a:latin typeface="Arial MT"/>
                <a:cs typeface="Arial MT"/>
              </a:rPr>
              <a:t> </a:t>
            </a:r>
            <a:r>
              <a:rPr sz="1800" dirty="0">
                <a:latin typeface="Arial MT"/>
                <a:cs typeface="Arial MT"/>
              </a:rPr>
              <a:t>can</a:t>
            </a:r>
            <a:r>
              <a:rPr sz="1800" spc="-25" dirty="0">
                <a:latin typeface="Arial MT"/>
                <a:cs typeface="Arial MT"/>
              </a:rPr>
              <a:t> </a:t>
            </a:r>
            <a:r>
              <a:rPr sz="1800" dirty="0">
                <a:latin typeface="Arial MT"/>
                <a:cs typeface="Arial MT"/>
              </a:rPr>
              <a:t>be</a:t>
            </a:r>
            <a:r>
              <a:rPr sz="1800" spc="-20" dirty="0">
                <a:latin typeface="Arial MT"/>
                <a:cs typeface="Arial MT"/>
              </a:rPr>
              <a:t> </a:t>
            </a:r>
            <a:r>
              <a:rPr sz="1800" spc="-10" dirty="0">
                <a:latin typeface="Arial MT"/>
                <a:cs typeface="Arial MT"/>
              </a:rPr>
              <a:t>cancelled.</a:t>
            </a:r>
            <a:endParaRPr sz="1800" dirty="0">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9" name="object 4">
            <a:extLst>
              <a:ext uri="{FF2B5EF4-FFF2-40B4-BE49-F238E27FC236}">
                <a16:creationId xmlns:a16="http://schemas.microsoft.com/office/drawing/2014/main" id="{4A519F08-F9ED-CFE4-8114-3A0CCF583062}"/>
              </a:ex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0" name="object 7">
            <a:extLst>
              <a:ext uri="{FF2B5EF4-FFF2-40B4-BE49-F238E27FC236}">
                <a16:creationId xmlns:a16="http://schemas.microsoft.com/office/drawing/2014/main" id="{ECE792DB-E095-7511-D294-909D00DAB2A7}"/>
              </a:ext>
              <a:ext uri="{C183D7F6-B498-43B3-948B-1728B52AA6E4}">
                <adec:decorative xmlns:adec="http://schemas.microsoft.com/office/drawing/2017/decorative" val="1"/>
              </a:ext>
            </a:extLst>
          </p:cNvPr>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pic>
        <p:nvPicPr>
          <p:cNvPr id="3" name="object 3">
            <a:extLst>
              <a:ext uri="{C183D7F6-B498-43B3-948B-1728B52AA6E4}">
                <adec:decorative xmlns:adec="http://schemas.microsoft.com/office/drawing/2017/decorative" val="1"/>
              </a:ext>
            </a:extLst>
          </p:cNvPr>
          <p:cNvPicPr/>
          <p:nvPr/>
        </p:nvPicPr>
        <p:blipFill>
          <a:blip r:embed="rId2" cstate="print"/>
          <a:stretch>
            <a:fillRect/>
          </a:stretch>
        </p:blipFill>
        <p:spPr>
          <a:xfrm>
            <a:off x="512496" y="3238472"/>
            <a:ext cx="8795233" cy="2324128"/>
          </a:xfrm>
          <a:prstGeom prst="rect">
            <a:avLst/>
          </a:prstGeom>
        </p:spPr>
      </p:pic>
      <p:sp>
        <p:nvSpPr>
          <p:cNvPr id="8" name="object 8"/>
          <p:cNvSpPr txBox="1"/>
          <p:nvPr/>
        </p:nvSpPr>
        <p:spPr>
          <a:xfrm>
            <a:off x="302400" y="3095375"/>
            <a:ext cx="5159375" cy="3326423"/>
          </a:xfrm>
          <a:prstGeom prst="rect">
            <a:avLst/>
          </a:prstGeom>
          <a:solidFill>
            <a:srgbClr val="FCE4CD"/>
          </a:solidFill>
        </p:spPr>
        <p:txBody>
          <a:bodyPr vert="horz" wrap="square" lIns="0" tIns="43815" rIns="0" bIns="0" rtlCol="0">
            <a:spAutoFit/>
          </a:bodyPr>
          <a:lstStyle/>
          <a:p>
            <a:pPr marL="85725" marR="643890">
              <a:lnSpc>
                <a:spcPct val="114999"/>
              </a:lnSpc>
              <a:spcBef>
                <a:spcPts val="345"/>
              </a:spcBef>
            </a:pPr>
            <a:r>
              <a:rPr sz="1500" b="1" dirty="0">
                <a:latin typeface="Arial"/>
                <a:cs typeface="Arial"/>
              </a:rPr>
              <a:t>Cancelability</a:t>
            </a:r>
            <a:r>
              <a:rPr sz="1500" b="1" spc="-65" dirty="0">
                <a:latin typeface="Arial"/>
                <a:cs typeface="Arial"/>
              </a:rPr>
              <a:t> </a:t>
            </a:r>
            <a:r>
              <a:rPr sz="1500" b="1" spc="-10" dirty="0">
                <a:latin typeface="Arial"/>
                <a:cs typeface="Arial"/>
              </a:rPr>
              <a:t>Type</a:t>
            </a:r>
            <a:r>
              <a:rPr sz="1500" spc="-10" dirty="0">
                <a:latin typeface="Arial MT"/>
                <a:cs typeface="Arial MT"/>
              </a:rPr>
              <a:t>:</a:t>
            </a:r>
            <a:r>
              <a:rPr sz="1500" spc="-60" dirty="0">
                <a:latin typeface="Arial MT"/>
                <a:cs typeface="Arial MT"/>
              </a:rPr>
              <a:t> </a:t>
            </a:r>
            <a:r>
              <a:rPr sz="1500" dirty="0">
                <a:latin typeface="Arial MT"/>
                <a:cs typeface="Arial MT"/>
              </a:rPr>
              <a:t>Specifies</a:t>
            </a:r>
            <a:r>
              <a:rPr sz="1500" spc="-60" dirty="0">
                <a:latin typeface="Arial MT"/>
                <a:cs typeface="Arial MT"/>
              </a:rPr>
              <a:t> </a:t>
            </a:r>
            <a:r>
              <a:rPr sz="1500" dirty="0">
                <a:latin typeface="Arial MT"/>
                <a:cs typeface="Arial MT"/>
              </a:rPr>
              <a:t>when</a:t>
            </a:r>
            <a:r>
              <a:rPr sz="1500" spc="-60" dirty="0">
                <a:latin typeface="Arial MT"/>
                <a:cs typeface="Arial MT"/>
              </a:rPr>
              <a:t> </a:t>
            </a:r>
            <a:r>
              <a:rPr sz="1500" dirty="0">
                <a:latin typeface="Arial MT"/>
                <a:cs typeface="Arial MT"/>
              </a:rPr>
              <a:t>the</a:t>
            </a:r>
            <a:r>
              <a:rPr sz="1500" spc="-60" dirty="0">
                <a:latin typeface="Arial MT"/>
                <a:cs typeface="Arial MT"/>
              </a:rPr>
              <a:t> </a:t>
            </a:r>
            <a:r>
              <a:rPr sz="1500" spc="-10" dirty="0">
                <a:latin typeface="Arial MT"/>
                <a:cs typeface="Arial MT"/>
              </a:rPr>
              <a:t>cancellation </a:t>
            </a:r>
            <a:r>
              <a:rPr sz="1500" dirty="0">
                <a:latin typeface="Arial MT"/>
                <a:cs typeface="Arial MT"/>
              </a:rPr>
              <a:t>request</a:t>
            </a:r>
            <a:r>
              <a:rPr sz="1500" spc="-50" dirty="0">
                <a:latin typeface="Arial MT"/>
                <a:cs typeface="Arial MT"/>
              </a:rPr>
              <a:t> </a:t>
            </a:r>
            <a:r>
              <a:rPr sz="1500" dirty="0">
                <a:latin typeface="Arial MT"/>
                <a:cs typeface="Arial MT"/>
              </a:rPr>
              <a:t>takes</a:t>
            </a:r>
            <a:r>
              <a:rPr sz="1500" spc="-50" dirty="0">
                <a:latin typeface="Arial MT"/>
                <a:cs typeface="Arial MT"/>
              </a:rPr>
              <a:t> </a:t>
            </a:r>
            <a:r>
              <a:rPr sz="1500" dirty="0">
                <a:latin typeface="Arial MT"/>
                <a:cs typeface="Arial MT"/>
              </a:rPr>
              <a:t>effect</a:t>
            </a:r>
            <a:r>
              <a:rPr sz="1500" spc="-50" dirty="0">
                <a:latin typeface="Arial MT"/>
                <a:cs typeface="Arial MT"/>
              </a:rPr>
              <a:t> </a:t>
            </a:r>
            <a:r>
              <a:rPr sz="1500" dirty="0">
                <a:latin typeface="Arial MT"/>
                <a:cs typeface="Arial MT"/>
              </a:rPr>
              <a:t>if</a:t>
            </a:r>
            <a:r>
              <a:rPr sz="1500" spc="-50" dirty="0">
                <a:latin typeface="Arial MT"/>
                <a:cs typeface="Arial MT"/>
              </a:rPr>
              <a:t> </a:t>
            </a:r>
            <a:r>
              <a:rPr sz="1500" dirty="0">
                <a:latin typeface="Arial MT"/>
                <a:cs typeface="Arial MT"/>
              </a:rPr>
              <a:t>cancelability</a:t>
            </a:r>
            <a:r>
              <a:rPr sz="1500" spc="-45" dirty="0">
                <a:latin typeface="Arial MT"/>
                <a:cs typeface="Arial MT"/>
              </a:rPr>
              <a:t> </a:t>
            </a:r>
            <a:r>
              <a:rPr sz="1500" dirty="0">
                <a:latin typeface="Arial MT"/>
                <a:cs typeface="Arial MT"/>
              </a:rPr>
              <a:t>is</a:t>
            </a:r>
            <a:r>
              <a:rPr sz="1500" spc="-50" dirty="0">
                <a:latin typeface="Arial MT"/>
                <a:cs typeface="Arial MT"/>
              </a:rPr>
              <a:t> </a:t>
            </a:r>
            <a:r>
              <a:rPr sz="1500" spc="-10" dirty="0">
                <a:latin typeface="Arial MT"/>
                <a:cs typeface="Arial MT"/>
              </a:rPr>
              <a:t>enabled.</a:t>
            </a:r>
            <a:endParaRPr sz="1500" dirty="0">
              <a:latin typeface="Arial MT"/>
              <a:cs typeface="Arial MT"/>
            </a:endParaRPr>
          </a:p>
          <a:p>
            <a:pPr marL="539750" marR="309880" indent="-340995" algn="just">
              <a:lnSpc>
                <a:spcPct val="114999"/>
              </a:lnSpc>
              <a:spcBef>
                <a:spcPts val="1200"/>
              </a:spcBef>
              <a:spcAft>
                <a:spcPts val="1800"/>
              </a:spcAft>
              <a:buClr>
                <a:srgbClr val="000000"/>
              </a:buClr>
              <a:buFont typeface="Arial MT"/>
              <a:buChar char="●"/>
              <a:tabLst>
                <a:tab pos="542925" algn="l"/>
              </a:tabLst>
            </a:pPr>
            <a:r>
              <a:rPr sz="1500" b="1" spc="-10" dirty="0">
                <a:solidFill>
                  <a:srgbClr val="188037"/>
                </a:solidFill>
                <a:latin typeface="Courier New"/>
                <a:cs typeface="Courier New"/>
              </a:rPr>
              <a:t>PTHREAD_CANCEL_DEFERRED</a:t>
            </a:r>
            <a:r>
              <a:rPr sz="1500" spc="-10" dirty="0">
                <a:latin typeface="Arial MT"/>
                <a:cs typeface="Arial MT"/>
              </a:rPr>
              <a:t>:</a:t>
            </a:r>
            <a:r>
              <a:rPr sz="1500" spc="-25" dirty="0">
                <a:latin typeface="Arial MT"/>
                <a:cs typeface="Arial MT"/>
              </a:rPr>
              <a:t> </a:t>
            </a:r>
            <a:r>
              <a:rPr sz="1500" dirty="0">
                <a:latin typeface="Arial MT"/>
                <a:cs typeface="Arial MT"/>
              </a:rPr>
              <a:t>The</a:t>
            </a:r>
            <a:r>
              <a:rPr sz="1500" spc="10" dirty="0">
                <a:latin typeface="Arial MT"/>
                <a:cs typeface="Arial MT"/>
              </a:rPr>
              <a:t> </a:t>
            </a:r>
            <a:r>
              <a:rPr sz="1500" dirty="0">
                <a:latin typeface="Arial MT"/>
                <a:cs typeface="Arial MT"/>
              </a:rPr>
              <a:t>thread</a:t>
            </a:r>
            <a:r>
              <a:rPr sz="1500" spc="5" dirty="0">
                <a:latin typeface="Arial MT"/>
                <a:cs typeface="Arial MT"/>
              </a:rPr>
              <a:t> </a:t>
            </a:r>
            <a:r>
              <a:rPr sz="1500" spc="-10" dirty="0">
                <a:latin typeface="Arial MT"/>
                <a:cs typeface="Arial MT"/>
              </a:rPr>
              <a:t>checks 	</a:t>
            </a:r>
            <a:r>
              <a:rPr sz="1500" dirty="0">
                <a:latin typeface="Arial MT"/>
                <a:cs typeface="Arial MT"/>
              </a:rPr>
              <a:t>for</a:t>
            </a:r>
            <a:r>
              <a:rPr sz="1500" spc="-30" dirty="0">
                <a:latin typeface="Arial MT"/>
                <a:cs typeface="Arial MT"/>
              </a:rPr>
              <a:t> </a:t>
            </a:r>
            <a:r>
              <a:rPr sz="1500" spc="-10" dirty="0">
                <a:latin typeface="Arial MT"/>
                <a:cs typeface="Arial MT"/>
              </a:rPr>
              <a:t>cancellation</a:t>
            </a:r>
            <a:r>
              <a:rPr sz="1500" spc="-30" dirty="0">
                <a:latin typeface="Arial MT"/>
                <a:cs typeface="Arial MT"/>
              </a:rPr>
              <a:t> </a:t>
            </a:r>
            <a:r>
              <a:rPr sz="1500" dirty="0">
                <a:latin typeface="Arial MT"/>
                <a:cs typeface="Arial MT"/>
              </a:rPr>
              <a:t>only</a:t>
            </a:r>
            <a:r>
              <a:rPr sz="1500" spc="-25" dirty="0">
                <a:latin typeface="Arial MT"/>
                <a:cs typeface="Arial MT"/>
              </a:rPr>
              <a:t> </a:t>
            </a:r>
            <a:r>
              <a:rPr sz="1500" dirty="0">
                <a:latin typeface="Arial MT"/>
                <a:cs typeface="Arial MT"/>
              </a:rPr>
              <a:t>at</a:t>
            </a:r>
            <a:r>
              <a:rPr sz="1500" spc="-30" dirty="0">
                <a:latin typeface="Arial MT"/>
                <a:cs typeface="Arial MT"/>
              </a:rPr>
              <a:t> </a:t>
            </a:r>
            <a:r>
              <a:rPr sz="1500" dirty="0">
                <a:latin typeface="Arial MT"/>
                <a:cs typeface="Arial MT"/>
              </a:rPr>
              <a:t>certain</a:t>
            </a:r>
            <a:r>
              <a:rPr sz="1500" spc="-25" dirty="0">
                <a:latin typeface="Arial MT"/>
                <a:cs typeface="Arial MT"/>
              </a:rPr>
              <a:t> </a:t>
            </a:r>
            <a:r>
              <a:rPr sz="1500" spc="-10" dirty="0">
                <a:latin typeface="Arial MT"/>
                <a:cs typeface="Arial MT"/>
              </a:rPr>
              <a:t>"cancellation</a:t>
            </a:r>
            <a:r>
              <a:rPr sz="1500" spc="-30" dirty="0">
                <a:latin typeface="Arial MT"/>
                <a:cs typeface="Arial MT"/>
              </a:rPr>
              <a:t> </a:t>
            </a:r>
            <a:r>
              <a:rPr sz="1500" spc="-10" dirty="0">
                <a:latin typeface="Arial MT"/>
                <a:cs typeface="Arial MT"/>
              </a:rPr>
              <a:t>points" 	</a:t>
            </a:r>
            <a:r>
              <a:rPr sz="1500" dirty="0">
                <a:latin typeface="Arial MT"/>
                <a:cs typeface="Arial MT"/>
              </a:rPr>
              <a:t>(e.g.,</a:t>
            </a:r>
            <a:r>
              <a:rPr sz="1500" spc="-105" dirty="0">
                <a:latin typeface="Arial MT"/>
                <a:cs typeface="Arial MT"/>
              </a:rPr>
              <a:t> </a:t>
            </a:r>
            <a:r>
              <a:rPr sz="1500" b="1" dirty="0">
                <a:solidFill>
                  <a:srgbClr val="188037"/>
                </a:solidFill>
                <a:latin typeface="Courier New"/>
                <a:cs typeface="Courier New"/>
              </a:rPr>
              <a:t>sleep</a:t>
            </a:r>
            <a:r>
              <a:rPr sz="1500" b="1" dirty="0">
                <a:latin typeface="Arial MT"/>
                <a:cs typeface="Arial MT"/>
              </a:rPr>
              <a:t>,</a:t>
            </a:r>
            <a:r>
              <a:rPr sz="1500" b="1" spc="-105" dirty="0">
                <a:latin typeface="Arial MT"/>
                <a:cs typeface="Arial MT"/>
              </a:rPr>
              <a:t> </a:t>
            </a:r>
            <a:r>
              <a:rPr sz="1500" b="1" dirty="0">
                <a:solidFill>
                  <a:srgbClr val="188037"/>
                </a:solidFill>
                <a:latin typeface="Courier New"/>
                <a:cs typeface="Courier New"/>
              </a:rPr>
              <a:t>read</a:t>
            </a:r>
            <a:r>
              <a:rPr sz="1500" b="1" dirty="0">
                <a:latin typeface="Arial MT"/>
                <a:cs typeface="Arial MT"/>
              </a:rPr>
              <a:t>,</a:t>
            </a:r>
            <a:r>
              <a:rPr sz="1500" b="1" spc="-40" dirty="0">
                <a:latin typeface="Arial MT"/>
                <a:cs typeface="Arial MT"/>
              </a:rPr>
              <a:t> </a:t>
            </a:r>
            <a:r>
              <a:rPr sz="1500" b="1" spc="-75" dirty="0">
                <a:solidFill>
                  <a:srgbClr val="188037"/>
                </a:solidFill>
                <a:latin typeface="Courier New"/>
                <a:cs typeface="Courier New"/>
              </a:rPr>
              <a:t>write</a:t>
            </a:r>
            <a:r>
              <a:rPr sz="1500" b="1" spc="-150" dirty="0">
                <a:solidFill>
                  <a:srgbClr val="188037"/>
                </a:solidFill>
                <a:latin typeface="Courier New"/>
                <a:cs typeface="Courier New"/>
              </a:rPr>
              <a:t> </a:t>
            </a:r>
            <a:r>
              <a:rPr sz="1500" dirty="0">
                <a:latin typeface="Arial MT"/>
                <a:cs typeface="Arial MT"/>
              </a:rPr>
              <a:t>calls).</a:t>
            </a:r>
            <a:r>
              <a:rPr sz="1500" spc="-10" dirty="0">
                <a:latin typeface="Arial MT"/>
                <a:cs typeface="Arial MT"/>
              </a:rPr>
              <a:t> </a:t>
            </a:r>
            <a:r>
              <a:rPr sz="1500" dirty="0">
                <a:latin typeface="Arial MT"/>
                <a:cs typeface="Arial MT"/>
              </a:rPr>
              <a:t>This</a:t>
            </a:r>
            <a:r>
              <a:rPr sz="1500" spc="15" dirty="0">
                <a:latin typeface="Arial MT"/>
                <a:cs typeface="Arial MT"/>
              </a:rPr>
              <a:t> </a:t>
            </a:r>
            <a:r>
              <a:rPr sz="1500" dirty="0">
                <a:latin typeface="Arial MT"/>
                <a:cs typeface="Arial MT"/>
              </a:rPr>
              <a:t>is</a:t>
            </a:r>
            <a:r>
              <a:rPr sz="1500" spc="15" dirty="0">
                <a:latin typeface="Arial MT"/>
                <a:cs typeface="Arial MT"/>
              </a:rPr>
              <a:t> </a:t>
            </a:r>
            <a:r>
              <a:rPr sz="1500" dirty="0">
                <a:latin typeface="Arial MT"/>
                <a:cs typeface="Arial MT"/>
              </a:rPr>
              <a:t>safer</a:t>
            </a:r>
            <a:r>
              <a:rPr sz="1500" spc="15" dirty="0">
                <a:latin typeface="Arial MT"/>
                <a:cs typeface="Arial MT"/>
              </a:rPr>
              <a:t> </a:t>
            </a:r>
            <a:r>
              <a:rPr sz="1500" spc="-25" dirty="0">
                <a:latin typeface="Arial MT"/>
                <a:cs typeface="Arial MT"/>
              </a:rPr>
              <a:t>and 	</a:t>
            </a:r>
            <a:r>
              <a:rPr sz="1500" dirty="0">
                <a:latin typeface="Arial MT"/>
                <a:cs typeface="Arial MT"/>
              </a:rPr>
              <a:t>allows</a:t>
            </a:r>
            <a:r>
              <a:rPr sz="1500" spc="-35" dirty="0">
                <a:latin typeface="Arial MT"/>
                <a:cs typeface="Arial MT"/>
              </a:rPr>
              <a:t> </a:t>
            </a:r>
            <a:r>
              <a:rPr sz="1500" dirty="0">
                <a:latin typeface="Arial MT"/>
                <a:cs typeface="Arial MT"/>
              </a:rPr>
              <a:t>for</a:t>
            </a:r>
            <a:r>
              <a:rPr sz="1500" spc="-30" dirty="0">
                <a:latin typeface="Arial MT"/>
                <a:cs typeface="Arial MT"/>
              </a:rPr>
              <a:t> </a:t>
            </a:r>
            <a:r>
              <a:rPr sz="1500" dirty="0">
                <a:latin typeface="Arial MT"/>
                <a:cs typeface="Arial MT"/>
              </a:rPr>
              <a:t>more</a:t>
            </a:r>
            <a:r>
              <a:rPr sz="1500" spc="-30" dirty="0">
                <a:latin typeface="Arial MT"/>
                <a:cs typeface="Arial MT"/>
              </a:rPr>
              <a:t> </a:t>
            </a:r>
            <a:r>
              <a:rPr sz="1500" spc="-10" dirty="0">
                <a:latin typeface="Arial MT"/>
                <a:cs typeface="Arial MT"/>
              </a:rPr>
              <a:t>controlled</a:t>
            </a:r>
            <a:r>
              <a:rPr sz="1500" spc="-30" dirty="0">
                <a:latin typeface="Arial MT"/>
                <a:cs typeface="Arial MT"/>
              </a:rPr>
              <a:t> </a:t>
            </a:r>
            <a:r>
              <a:rPr sz="1500" spc="-10" dirty="0">
                <a:latin typeface="Arial MT"/>
                <a:cs typeface="Arial MT"/>
              </a:rPr>
              <a:t>cancellation.</a:t>
            </a:r>
            <a:endParaRPr sz="1500" dirty="0">
              <a:latin typeface="Arial MT"/>
              <a:cs typeface="Arial MT"/>
            </a:endParaRPr>
          </a:p>
          <a:p>
            <a:pPr marL="542925" marR="138430" indent="-344170">
              <a:lnSpc>
                <a:spcPct val="114999"/>
              </a:lnSpc>
              <a:buClr>
                <a:srgbClr val="000000"/>
              </a:buClr>
              <a:buFont typeface="Arial MT"/>
              <a:buChar char="●"/>
              <a:tabLst>
                <a:tab pos="542925" algn="l"/>
              </a:tabLst>
            </a:pPr>
            <a:r>
              <a:rPr sz="1500" b="1" spc="-10" dirty="0">
                <a:solidFill>
                  <a:srgbClr val="188037"/>
                </a:solidFill>
                <a:latin typeface="Courier New"/>
                <a:cs typeface="Courier New"/>
              </a:rPr>
              <a:t>PTHREAD_CANCEL_ASYNCHRONOUS</a:t>
            </a:r>
            <a:r>
              <a:rPr sz="1500" spc="-10" dirty="0">
                <a:latin typeface="Arial MT"/>
                <a:cs typeface="Arial MT"/>
              </a:rPr>
              <a:t>:</a:t>
            </a:r>
            <a:r>
              <a:rPr sz="1500" spc="-15" dirty="0">
                <a:latin typeface="Arial MT"/>
                <a:cs typeface="Arial MT"/>
              </a:rPr>
              <a:t> </a:t>
            </a:r>
            <a:r>
              <a:rPr sz="1500" dirty="0">
                <a:latin typeface="Arial MT"/>
                <a:cs typeface="Arial MT"/>
              </a:rPr>
              <a:t>The</a:t>
            </a:r>
            <a:r>
              <a:rPr sz="1500" spc="10" dirty="0">
                <a:latin typeface="Arial MT"/>
                <a:cs typeface="Arial MT"/>
              </a:rPr>
              <a:t> </a:t>
            </a:r>
            <a:r>
              <a:rPr sz="1500" dirty="0">
                <a:latin typeface="Arial MT"/>
                <a:cs typeface="Arial MT"/>
              </a:rPr>
              <a:t>thread</a:t>
            </a:r>
            <a:r>
              <a:rPr sz="1500" spc="15" dirty="0">
                <a:latin typeface="Arial MT"/>
                <a:cs typeface="Arial MT"/>
              </a:rPr>
              <a:t> </a:t>
            </a:r>
            <a:r>
              <a:rPr sz="1500" spc="-25" dirty="0">
                <a:latin typeface="Arial MT"/>
                <a:cs typeface="Arial MT"/>
              </a:rPr>
              <a:t>can </a:t>
            </a:r>
            <a:r>
              <a:rPr sz="1500" dirty="0">
                <a:latin typeface="Arial MT"/>
                <a:cs typeface="Arial MT"/>
              </a:rPr>
              <a:t>be</a:t>
            </a:r>
            <a:r>
              <a:rPr sz="1500" spc="-50" dirty="0">
                <a:latin typeface="Arial MT"/>
                <a:cs typeface="Arial MT"/>
              </a:rPr>
              <a:t> </a:t>
            </a:r>
            <a:r>
              <a:rPr sz="1500" spc="-10" dirty="0">
                <a:latin typeface="Arial MT"/>
                <a:cs typeface="Arial MT"/>
              </a:rPr>
              <a:t>cancelled</a:t>
            </a:r>
            <a:r>
              <a:rPr sz="1500" spc="-45" dirty="0">
                <a:latin typeface="Arial MT"/>
                <a:cs typeface="Arial MT"/>
              </a:rPr>
              <a:t> </a:t>
            </a:r>
            <a:r>
              <a:rPr sz="1500" spc="-10" dirty="0">
                <a:latin typeface="Arial MT"/>
                <a:cs typeface="Arial MT"/>
              </a:rPr>
              <a:t>immediately,</a:t>
            </a:r>
            <a:r>
              <a:rPr sz="1500" spc="-50" dirty="0">
                <a:latin typeface="Arial MT"/>
                <a:cs typeface="Arial MT"/>
              </a:rPr>
              <a:t> </a:t>
            </a:r>
            <a:r>
              <a:rPr sz="1500" dirty="0">
                <a:latin typeface="Arial MT"/>
                <a:cs typeface="Arial MT"/>
              </a:rPr>
              <a:t>without</a:t>
            </a:r>
            <a:r>
              <a:rPr sz="1500" spc="-45" dirty="0">
                <a:latin typeface="Arial MT"/>
                <a:cs typeface="Arial MT"/>
              </a:rPr>
              <a:t> </a:t>
            </a:r>
            <a:r>
              <a:rPr sz="1500" dirty="0">
                <a:latin typeface="Arial MT"/>
                <a:cs typeface="Arial MT"/>
              </a:rPr>
              <a:t>waiting</a:t>
            </a:r>
            <a:r>
              <a:rPr sz="1500" spc="-50" dirty="0">
                <a:latin typeface="Arial MT"/>
                <a:cs typeface="Arial MT"/>
              </a:rPr>
              <a:t> </a:t>
            </a:r>
            <a:r>
              <a:rPr sz="1500" dirty="0">
                <a:latin typeface="Arial MT"/>
                <a:cs typeface="Arial MT"/>
              </a:rPr>
              <a:t>for</a:t>
            </a:r>
            <a:r>
              <a:rPr sz="1500" spc="-45" dirty="0">
                <a:latin typeface="Arial MT"/>
                <a:cs typeface="Arial MT"/>
              </a:rPr>
              <a:t> </a:t>
            </a:r>
            <a:r>
              <a:rPr sz="1500" spc="-50" dirty="0">
                <a:latin typeface="Arial MT"/>
                <a:cs typeface="Arial MT"/>
              </a:rPr>
              <a:t>a </a:t>
            </a:r>
            <a:r>
              <a:rPr sz="1500" spc="-10" dirty="0">
                <a:latin typeface="Arial MT"/>
                <a:cs typeface="Arial MT"/>
              </a:rPr>
              <a:t>cancellation</a:t>
            </a:r>
            <a:r>
              <a:rPr sz="1500" spc="-40" dirty="0">
                <a:latin typeface="Arial MT"/>
                <a:cs typeface="Arial MT"/>
              </a:rPr>
              <a:t> </a:t>
            </a:r>
            <a:r>
              <a:rPr sz="1500" dirty="0">
                <a:latin typeface="Arial MT"/>
                <a:cs typeface="Arial MT"/>
              </a:rPr>
              <a:t>point.</a:t>
            </a:r>
            <a:r>
              <a:rPr sz="1500" spc="-60" dirty="0">
                <a:latin typeface="Arial MT"/>
                <a:cs typeface="Arial MT"/>
              </a:rPr>
              <a:t> </a:t>
            </a:r>
            <a:r>
              <a:rPr sz="1500" dirty="0">
                <a:latin typeface="Arial MT"/>
                <a:cs typeface="Arial MT"/>
              </a:rPr>
              <a:t>This</a:t>
            </a:r>
            <a:r>
              <a:rPr sz="1500" spc="-35" dirty="0">
                <a:latin typeface="Arial MT"/>
                <a:cs typeface="Arial MT"/>
              </a:rPr>
              <a:t> </a:t>
            </a:r>
            <a:r>
              <a:rPr sz="1500" dirty="0">
                <a:latin typeface="Arial MT"/>
                <a:cs typeface="Arial MT"/>
              </a:rPr>
              <a:t>can</a:t>
            </a:r>
            <a:r>
              <a:rPr sz="1500" spc="-35" dirty="0">
                <a:latin typeface="Arial MT"/>
                <a:cs typeface="Arial MT"/>
              </a:rPr>
              <a:t> </a:t>
            </a:r>
            <a:r>
              <a:rPr sz="1500" dirty="0">
                <a:latin typeface="Arial MT"/>
                <a:cs typeface="Arial MT"/>
              </a:rPr>
              <a:t>be</a:t>
            </a:r>
            <a:r>
              <a:rPr sz="1500" spc="-40" dirty="0">
                <a:latin typeface="Arial MT"/>
                <a:cs typeface="Arial MT"/>
              </a:rPr>
              <a:t> </a:t>
            </a:r>
            <a:r>
              <a:rPr sz="1500" dirty="0">
                <a:latin typeface="Arial MT"/>
                <a:cs typeface="Arial MT"/>
              </a:rPr>
              <a:t>risky</a:t>
            </a:r>
            <a:r>
              <a:rPr sz="1500" spc="-35" dirty="0">
                <a:latin typeface="Arial MT"/>
                <a:cs typeface="Arial MT"/>
              </a:rPr>
              <a:t> </a:t>
            </a:r>
            <a:r>
              <a:rPr sz="1500" dirty="0">
                <a:latin typeface="Arial MT"/>
                <a:cs typeface="Arial MT"/>
              </a:rPr>
              <a:t>since</a:t>
            </a:r>
            <a:r>
              <a:rPr sz="1500" spc="-35" dirty="0">
                <a:latin typeface="Arial MT"/>
                <a:cs typeface="Arial MT"/>
              </a:rPr>
              <a:t> </a:t>
            </a:r>
            <a:r>
              <a:rPr sz="1500" dirty="0">
                <a:latin typeface="Arial MT"/>
                <a:cs typeface="Arial MT"/>
              </a:rPr>
              <a:t>it</a:t>
            </a:r>
            <a:r>
              <a:rPr sz="1500" spc="-40" dirty="0">
                <a:latin typeface="Arial MT"/>
                <a:cs typeface="Arial MT"/>
              </a:rPr>
              <a:t> </a:t>
            </a:r>
            <a:r>
              <a:rPr sz="1500" spc="-25" dirty="0">
                <a:latin typeface="Arial MT"/>
                <a:cs typeface="Arial MT"/>
              </a:rPr>
              <a:t>may </a:t>
            </a:r>
            <a:r>
              <a:rPr sz="1500" dirty="0">
                <a:latin typeface="Arial MT"/>
                <a:cs typeface="Arial MT"/>
              </a:rPr>
              <a:t>interrupt</a:t>
            </a:r>
            <a:r>
              <a:rPr sz="1500" spc="-50" dirty="0">
                <a:latin typeface="Arial MT"/>
                <a:cs typeface="Arial MT"/>
              </a:rPr>
              <a:t> </a:t>
            </a:r>
            <a:r>
              <a:rPr sz="1500" dirty="0">
                <a:latin typeface="Arial MT"/>
                <a:cs typeface="Arial MT"/>
              </a:rPr>
              <a:t>the</a:t>
            </a:r>
            <a:r>
              <a:rPr sz="1500" spc="-45" dirty="0">
                <a:latin typeface="Arial MT"/>
                <a:cs typeface="Arial MT"/>
              </a:rPr>
              <a:t> </a:t>
            </a:r>
            <a:r>
              <a:rPr sz="1500" dirty="0">
                <a:latin typeface="Arial MT"/>
                <a:cs typeface="Arial MT"/>
              </a:rPr>
              <a:t>thread</a:t>
            </a:r>
            <a:r>
              <a:rPr sz="1500" spc="-50" dirty="0">
                <a:latin typeface="Arial MT"/>
                <a:cs typeface="Arial MT"/>
              </a:rPr>
              <a:t> </a:t>
            </a:r>
            <a:r>
              <a:rPr sz="1500" dirty="0">
                <a:latin typeface="Arial MT"/>
                <a:cs typeface="Arial MT"/>
              </a:rPr>
              <a:t>at</a:t>
            </a:r>
            <a:r>
              <a:rPr sz="1500" spc="-45" dirty="0">
                <a:latin typeface="Arial MT"/>
                <a:cs typeface="Arial MT"/>
              </a:rPr>
              <a:t> </a:t>
            </a:r>
            <a:r>
              <a:rPr sz="1500" dirty="0">
                <a:latin typeface="Arial MT"/>
                <a:cs typeface="Arial MT"/>
              </a:rPr>
              <a:t>any</a:t>
            </a:r>
            <a:r>
              <a:rPr sz="1500" spc="-50" dirty="0">
                <a:latin typeface="Arial MT"/>
                <a:cs typeface="Arial MT"/>
              </a:rPr>
              <a:t> </a:t>
            </a:r>
            <a:r>
              <a:rPr sz="1500" dirty="0">
                <a:latin typeface="Arial MT"/>
                <a:cs typeface="Arial MT"/>
              </a:rPr>
              <a:t>time,</a:t>
            </a:r>
            <a:r>
              <a:rPr sz="1500" spc="-45" dirty="0">
                <a:latin typeface="Arial MT"/>
                <a:cs typeface="Arial MT"/>
              </a:rPr>
              <a:t> </a:t>
            </a:r>
            <a:r>
              <a:rPr sz="1500" dirty="0">
                <a:latin typeface="Arial MT"/>
                <a:cs typeface="Arial MT"/>
              </a:rPr>
              <a:t>possibly</a:t>
            </a:r>
            <a:r>
              <a:rPr sz="1500" spc="-50" dirty="0">
                <a:latin typeface="Arial MT"/>
                <a:cs typeface="Arial MT"/>
              </a:rPr>
              <a:t> </a:t>
            </a:r>
            <a:r>
              <a:rPr sz="1500" spc="-10" dirty="0">
                <a:latin typeface="Arial MT"/>
                <a:cs typeface="Arial MT"/>
              </a:rPr>
              <a:t>leaving </a:t>
            </a:r>
            <a:r>
              <a:rPr sz="1500" dirty="0">
                <a:latin typeface="Arial MT"/>
                <a:cs typeface="Arial MT"/>
              </a:rPr>
              <a:t>resources</a:t>
            </a:r>
            <a:r>
              <a:rPr sz="1500" spc="-35" dirty="0">
                <a:latin typeface="Arial MT"/>
                <a:cs typeface="Arial MT"/>
              </a:rPr>
              <a:t> </a:t>
            </a:r>
            <a:r>
              <a:rPr sz="1500" dirty="0">
                <a:latin typeface="Arial MT"/>
                <a:cs typeface="Arial MT"/>
              </a:rPr>
              <a:t>in</a:t>
            </a:r>
            <a:r>
              <a:rPr sz="1500" spc="-35" dirty="0">
                <a:latin typeface="Arial MT"/>
                <a:cs typeface="Arial MT"/>
              </a:rPr>
              <a:t> </a:t>
            </a:r>
            <a:r>
              <a:rPr sz="1500" dirty="0">
                <a:latin typeface="Arial MT"/>
                <a:cs typeface="Arial MT"/>
              </a:rPr>
              <a:t>an</a:t>
            </a:r>
            <a:r>
              <a:rPr sz="1500" spc="-35" dirty="0">
                <a:latin typeface="Arial MT"/>
                <a:cs typeface="Arial MT"/>
              </a:rPr>
              <a:t> </a:t>
            </a:r>
            <a:r>
              <a:rPr sz="1500" spc="-10" dirty="0">
                <a:latin typeface="Arial MT"/>
                <a:cs typeface="Arial MT"/>
              </a:rPr>
              <a:t>inconsistent</a:t>
            </a:r>
            <a:r>
              <a:rPr sz="1500" spc="-35" dirty="0">
                <a:latin typeface="Arial MT"/>
                <a:cs typeface="Arial MT"/>
              </a:rPr>
              <a:t> </a:t>
            </a:r>
            <a:r>
              <a:rPr sz="1500" spc="-10" dirty="0">
                <a:latin typeface="Arial MT"/>
                <a:cs typeface="Arial MT"/>
              </a:rPr>
              <a:t>state.</a:t>
            </a:r>
            <a:endParaRPr sz="1500" dirty="0">
              <a:latin typeface="Arial MT"/>
              <a:cs typeface="Arial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15" name="object 4">
            <a:extLst>
              <a:ext uri="{FF2B5EF4-FFF2-40B4-BE49-F238E27FC236}">
                <a16:creationId xmlns:a16="http://schemas.microsoft.com/office/drawing/2014/main" id="{D531E52C-38F0-C0AD-5E39-E16F6FB328DD}"/>
              </a:ex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6" name="object 7">
            <a:extLst>
              <a:ext uri="{FF2B5EF4-FFF2-40B4-BE49-F238E27FC236}">
                <a16:creationId xmlns:a16="http://schemas.microsoft.com/office/drawing/2014/main" id="{ED1B23C9-E51D-4701-E97A-2F4FC5BC657A}"/>
              </a:ext>
              <a:ext uri="{C183D7F6-B498-43B3-948B-1728B52AA6E4}">
                <adec:decorative xmlns:adec="http://schemas.microsoft.com/office/drawing/2017/decorative" val="1"/>
              </a:ext>
            </a:extLst>
          </p:cNvPr>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grpSp>
        <p:nvGrpSpPr>
          <p:cNvPr id="17" name="Group 16">
            <a:extLst>
              <a:ext uri="{FF2B5EF4-FFF2-40B4-BE49-F238E27FC236}">
                <a16:creationId xmlns:a16="http://schemas.microsoft.com/office/drawing/2014/main" id="{84701667-4365-1E39-78FE-0B3C8C0B4450}"/>
              </a:ext>
              <a:ext uri="{C183D7F6-B498-43B3-948B-1728B52AA6E4}">
                <adec:decorative xmlns:adec="http://schemas.microsoft.com/office/drawing/2017/decorative" val="1"/>
              </a:ext>
            </a:extLst>
          </p:cNvPr>
          <p:cNvGrpSpPr/>
          <p:nvPr/>
        </p:nvGrpSpPr>
        <p:grpSpPr>
          <a:xfrm>
            <a:off x="512496" y="3238472"/>
            <a:ext cx="8795233" cy="2324128"/>
            <a:chOff x="512496" y="3186517"/>
            <a:chExt cx="8795233" cy="2324128"/>
          </a:xfrm>
        </p:grpSpPr>
        <p:pic>
          <p:nvPicPr>
            <p:cNvPr id="3" name="object 3">
              <a:extLst>
                <a:ext uri="{C183D7F6-B498-43B3-948B-1728B52AA6E4}">
                  <adec:decorative xmlns:adec="http://schemas.microsoft.com/office/drawing/2017/decorative" val="1"/>
                </a:ext>
              </a:extLst>
            </p:cNvPr>
            <p:cNvPicPr/>
            <p:nvPr/>
          </p:nvPicPr>
          <p:blipFill>
            <a:blip r:embed="rId2" cstate="print"/>
            <a:stretch>
              <a:fillRect/>
            </a:stretch>
          </p:blipFill>
          <p:spPr>
            <a:xfrm>
              <a:off x="512496" y="3186517"/>
              <a:ext cx="8795233" cy="2324128"/>
            </a:xfrm>
            <a:prstGeom prst="rect">
              <a:avLst/>
            </a:prstGeom>
          </p:spPr>
        </p:pic>
        <p:sp>
          <p:nvSpPr>
            <p:cNvPr id="13" name="object 13"/>
            <p:cNvSpPr txBox="1"/>
            <p:nvPr/>
          </p:nvSpPr>
          <p:spPr>
            <a:xfrm>
              <a:off x="2524349" y="4618125"/>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sp>
          <p:nvSpPr>
            <p:cNvPr id="14" name="object 14"/>
            <p:cNvSpPr txBox="1"/>
            <p:nvPr/>
          </p:nvSpPr>
          <p:spPr>
            <a:xfrm>
              <a:off x="2524349" y="5070349"/>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grpSp>
      <p:grpSp>
        <p:nvGrpSpPr>
          <p:cNvPr id="9" name="object 9">
            <a:extLst>
              <a:ext uri="{C183D7F6-B498-43B3-948B-1728B52AA6E4}">
                <adec:decorative xmlns:adec="http://schemas.microsoft.com/office/drawing/2017/decorative" val="1"/>
              </a:ext>
            </a:extLst>
          </p:cNvPr>
          <p:cNvGrpSpPr/>
          <p:nvPr/>
        </p:nvGrpSpPr>
        <p:grpSpPr>
          <a:xfrm>
            <a:off x="9508287" y="3121660"/>
            <a:ext cx="1101725" cy="916940"/>
            <a:chOff x="9508287" y="3037262"/>
            <a:chExt cx="1101725" cy="916940"/>
          </a:xfrm>
        </p:grpSpPr>
        <p:sp>
          <p:nvSpPr>
            <p:cNvPr id="10" name="object 10"/>
            <p:cNvSpPr/>
            <p:nvPr/>
          </p:nvSpPr>
          <p:spPr>
            <a:xfrm>
              <a:off x="9513050" y="3042024"/>
              <a:ext cx="1092200" cy="907415"/>
            </a:xfrm>
            <a:custGeom>
              <a:avLst/>
              <a:gdLst/>
              <a:ahLst/>
              <a:cxnLst/>
              <a:rect l="l" t="t" r="r" b="b"/>
              <a:pathLst>
                <a:path w="1092200" h="907414">
                  <a:moveTo>
                    <a:pt x="978299" y="907199"/>
                  </a:moveTo>
                  <a:lnTo>
                    <a:pt x="0" y="907199"/>
                  </a:lnTo>
                  <a:lnTo>
                    <a:pt x="0" y="680399"/>
                  </a:lnTo>
                  <a:lnTo>
                    <a:pt x="751499" y="680399"/>
                  </a:lnTo>
                  <a:lnTo>
                    <a:pt x="751499" y="226799"/>
                  </a:lnTo>
                  <a:lnTo>
                    <a:pt x="638099" y="226799"/>
                  </a:lnTo>
                  <a:lnTo>
                    <a:pt x="864899" y="0"/>
                  </a:lnTo>
                  <a:lnTo>
                    <a:pt x="1091699" y="226799"/>
                  </a:lnTo>
                  <a:lnTo>
                    <a:pt x="978299" y="226799"/>
                  </a:lnTo>
                  <a:lnTo>
                    <a:pt x="978299" y="907199"/>
                  </a:lnTo>
                  <a:close/>
                </a:path>
              </a:pathLst>
            </a:custGeom>
            <a:solidFill>
              <a:srgbClr val="CEE1F3"/>
            </a:solidFill>
          </p:spPr>
          <p:txBody>
            <a:bodyPr wrap="square" lIns="0" tIns="0" rIns="0" bIns="0" rtlCol="0"/>
            <a:lstStyle/>
            <a:p>
              <a:endParaRPr/>
            </a:p>
          </p:txBody>
        </p:sp>
        <p:sp>
          <p:nvSpPr>
            <p:cNvPr id="11" name="object 11"/>
            <p:cNvSpPr/>
            <p:nvPr/>
          </p:nvSpPr>
          <p:spPr>
            <a:xfrm>
              <a:off x="9513050" y="3042024"/>
              <a:ext cx="1092200" cy="907415"/>
            </a:xfrm>
            <a:custGeom>
              <a:avLst/>
              <a:gdLst/>
              <a:ahLst/>
              <a:cxnLst/>
              <a:rect l="l" t="t" r="r" b="b"/>
              <a:pathLst>
                <a:path w="1092200" h="907414">
                  <a:moveTo>
                    <a:pt x="0" y="680399"/>
                  </a:moveTo>
                  <a:lnTo>
                    <a:pt x="751499" y="680399"/>
                  </a:lnTo>
                  <a:lnTo>
                    <a:pt x="751499" y="226799"/>
                  </a:lnTo>
                  <a:lnTo>
                    <a:pt x="638099" y="226799"/>
                  </a:lnTo>
                  <a:lnTo>
                    <a:pt x="864899" y="0"/>
                  </a:lnTo>
                  <a:lnTo>
                    <a:pt x="1091699" y="226799"/>
                  </a:lnTo>
                  <a:lnTo>
                    <a:pt x="978299" y="226799"/>
                  </a:lnTo>
                  <a:lnTo>
                    <a:pt x="978299" y="907199"/>
                  </a:lnTo>
                  <a:lnTo>
                    <a:pt x="0" y="907199"/>
                  </a:lnTo>
                  <a:lnTo>
                    <a:pt x="0" y="680399"/>
                  </a:lnTo>
                  <a:close/>
                </a:path>
              </a:pathLst>
            </a:custGeom>
            <a:ln w="9524">
              <a:solidFill>
                <a:srgbClr val="0F2044"/>
              </a:solidFill>
            </a:ln>
          </p:spPr>
          <p:txBody>
            <a:bodyPr wrap="square" lIns="0" tIns="0" rIns="0" bIns="0" rtlCol="0"/>
            <a:lstStyle/>
            <a:p>
              <a:endParaRPr/>
            </a:p>
          </p:txBody>
        </p:sp>
      </p:grpSp>
      <p:sp>
        <p:nvSpPr>
          <p:cNvPr id="12" name="object 12"/>
          <p:cNvSpPr txBox="1"/>
          <p:nvPr/>
        </p:nvSpPr>
        <p:spPr>
          <a:xfrm>
            <a:off x="7898500" y="1524000"/>
            <a:ext cx="4149090" cy="1421479"/>
          </a:xfrm>
          <a:prstGeom prst="rect">
            <a:avLst/>
          </a:prstGeom>
          <a:solidFill>
            <a:srgbClr val="D9D1E9"/>
          </a:solidFill>
          <a:ln w="12700">
            <a:solidFill>
              <a:schemeClr val="dk1">
                <a:shade val="95000"/>
                <a:satMod val="105000"/>
              </a:schemeClr>
            </a:solidFill>
          </a:ln>
        </p:spPr>
        <p:txBody>
          <a:bodyPr vert="horz" wrap="square" lIns="0" tIns="91440" rIns="0" bIns="91440" rtlCol="0">
            <a:spAutoFit/>
          </a:bodyPr>
          <a:lstStyle/>
          <a:p>
            <a:pPr marL="85725" marR="173990">
              <a:lnSpc>
                <a:spcPct val="114000"/>
              </a:lnSpc>
              <a:spcBef>
                <a:spcPts val="600"/>
              </a:spcBef>
            </a:pPr>
            <a:r>
              <a:rPr sz="1800" dirty="0">
                <a:solidFill>
                  <a:srgbClr val="0F2044"/>
                </a:solidFill>
                <a:latin typeface="Arial MT"/>
                <a:cs typeface="Arial MT"/>
              </a:rPr>
              <a:t>Cancelling</a:t>
            </a:r>
            <a:r>
              <a:rPr sz="1800" spc="-35" dirty="0">
                <a:solidFill>
                  <a:srgbClr val="0F2044"/>
                </a:solidFill>
                <a:latin typeface="Arial MT"/>
                <a:cs typeface="Arial MT"/>
              </a:rPr>
              <a:t> </a:t>
            </a:r>
            <a:r>
              <a:rPr sz="1800" dirty="0">
                <a:solidFill>
                  <a:srgbClr val="0F2044"/>
                </a:solidFill>
                <a:latin typeface="Arial MT"/>
                <a:cs typeface="Arial MT"/>
              </a:rPr>
              <a:t>this</a:t>
            </a:r>
            <a:r>
              <a:rPr sz="1800" spc="-20" dirty="0">
                <a:solidFill>
                  <a:srgbClr val="0F2044"/>
                </a:solidFill>
                <a:latin typeface="Arial MT"/>
                <a:cs typeface="Arial MT"/>
              </a:rPr>
              <a:t> </a:t>
            </a:r>
            <a:r>
              <a:rPr sz="1800" dirty="0">
                <a:solidFill>
                  <a:srgbClr val="0F2044"/>
                </a:solidFill>
                <a:latin typeface="Arial MT"/>
                <a:cs typeface="Arial MT"/>
              </a:rPr>
              <a:t>thread</a:t>
            </a:r>
            <a:r>
              <a:rPr sz="1800" spc="-25" dirty="0">
                <a:solidFill>
                  <a:srgbClr val="0F2044"/>
                </a:solidFill>
                <a:latin typeface="Arial MT"/>
                <a:cs typeface="Arial MT"/>
              </a:rPr>
              <a:t> </a:t>
            </a:r>
            <a:r>
              <a:rPr sz="1800" dirty="0">
                <a:solidFill>
                  <a:srgbClr val="0F2044"/>
                </a:solidFill>
                <a:latin typeface="Arial MT"/>
                <a:cs typeface="Arial MT"/>
              </a:rPr>
              <a:t>is</a:t>
            </a:r>
            <a:r>
              <a:rPr sz="1800" spc="-20" dirty="0">
                <a:solidFill>
                  <a:srgbClr val="0F2044"/>
                </a:solidFill>
                <a:latin typeface="Arial MT"/>
                <a:cs typeface="Arial MT"/>
              </a:rPr>
              <a:t> </a:t>
            </a:r>
            <a:r>
              <a:rPr sz="1800" spc="-10" dirty="0">
                <a:solidFill>
                  <a:srgbClr val="0F2044"/>
                </a:solidFill>
                <a:latin typeface="Arial MT"/>
                <a:cs typeface="Arial MT"/>
              </a:rPr>
              <a:t>disabled. </a:t>
            </a:r>
            <a:r>
              <a:rPr sz="1800" dirty="0">
                <a:solidFill>
                  <a:srgbClr val="0F2044"/>
                </a:solidFill>
                <a:latin typeface="Arial MT"/>
                <a:cs typeface="Arial MT"/>
              </a:rPr>
              <a:t>Even</a:t>
            </a:r>
            <a:r>
              <a:rPr sz="1800" spc="-30" dirty="0">
                <a:solidFill>
                  <a:srgbClr val="0F2044"/>
                </a:solidFill>
                <a:latin typeface="Arial MT"/>
                <a:cs typeface="Arial MT"/>
              </a:rPr>
              <a:t> </a:t>
            </a:r>
            <a:r>
              <a:rPr sz="1800" dirty="0">
                <a:solidFill>
                  <a:srgbClr val="0F2044"/>
                </a:solidFill>
                <a:latin typeface="Arial MT"/>
                <a:cs typeface="Arial MT"/>
              </a:rPr>
              <a:t>if</a:t>
            </a:r>
            <a:r>
              <a:rPr sz="1800" spc="-20" dirty="0">
                <a:solidFill>
                  <a:srgbClr val="0F2044"/>
                </a:solidFill>
                <a:latin typeface="Arial MT"/>
                <a:cs typeface="Arial MT"/>
              </a:rPr>
              <a:t> </a:t>
            </a:r>
            <a:r>
              <a:rPr sz="1800" dirty="0">
                <a:solidFill>
                  <a:srgbClr val="0F2044"/>
                </a:solidFill>
                <a:latin typeface="Arial MT"/>
                <a:cs typeface="Arial MT"/>
              </a:rPr>
              <a:t>a</a:t>
            </a:r>
            <a:r>
              <a:rPr sz="1800" spc="-20" dirty="0">
                <a:solidFill>
                  <a:srgbClr val="0F2044"/>
                </a:solidFill>
                <a:latin typeface="Arial MT"/>
                <a:cs typeface="Arial MT"/>
              </a:rPr>
              <a:t> </a:t>
            </a:r>
            <a:r>
              <a:rPr sz="1800" dirty="0">
                <a:solidFill>
                  <a:srgbClr val="0F2044"/>
                </a:solidFill>
                <a:latin typeface="Arial MT"/>
                <a:cs typeface="Arial MT"/>
              </a:rPr>
              <a:t>cancel</a:t>
            </a:r>
            <a:r>
              <a:rPr sz="1800" spc="-15" dirty="0">
                <a:solidFill>
                  <a:srgbClr val="0F2044"/>
                </a:solidFill>
                <a:latin typeface="Arial MT"/>
                <a:cs typeface="Arial MT"/>
              </a:rPr>
              <a:t> </a:t>
            </a:r>
            <a:r>
              <a:rPr sz="1800" dirty="0">
                <a:solidFill>
                  <a:srgbClr val="0F2044"/>
                </a:solidFill>
                <a:latin typeface="Arial MT"/>
                <a:cs typeface="Arial MT"/>
              </a:rPr>
              <a:t>request</a:t>
            </a:r>
            <a:r>
              <a:rPr sz="1800" spc="-20" dirty="0">
                <a:solidFill>
                  <a:srgbClr val="0F2044"/>
                </a:solidFill>
                <a:latin typeface="Arial MT"/>
                <a:cs typeface="Arial MT"/>
              </a:rPr>
              <a:t> </a:t>
            </a:r>
            <a:r>
              <a:rPr sz="1800" dirty="0">
                <a:solidFill>
                  <a:srgbClr val="0F2044"/>
                </a:solidFill>
                <a:latin typeface="Arial MT"/>
                <a:cs typeface="Arial MT"/>
              </a:rPr>
              <a:t>is</a:t>
            </a:r>
            <a:r>
              <a:rPr sz="1800" spc="-20" dirty="0">
                <a:solidFill>
                  <a:srgbClr val="0F2044"/>
                </a:solidFill>
                <a:latin typeface="Arial MT"/>
                <a:cs typeface="Arial MT"/>
              </a:rPr>
              <a:t> </a:t>
            </a:r>
            <a:r>
              <a:rPr sz="1800" dirty="0">
                <a:solidFill>
                  <a:srgbClr val="0F2044"/>
                </a:solidFill>
                <a:latin typeface="Arial MT"/>
                <a:cs typeface="Arial MT"/>
              </a:rPr>
              <a:t>sent,</a:t>
            </a:r>
            <a:r>
              <a:rPr sz="1800" spc="-15" dirty="0">
                <a:solidFill>
                  <a:srgbClr val="0F2044"/>
                </a:solidFill>
                <a:latin typeface="Arial MT"/>
                <a:cs typeface="Arial MT"/>
              </a:rPr>
              <a:t> </a:t>
            </a:r>
            <a:r>
              <a:rPr sz="1800" spc="-25" dirty="0">
                <a:solidFill>
                  <a:srgbClr val="0F2044"/>
                </a:solidFill>
                <a:latin typeface="Arial MT"/>
                <a:cs typeface="Arial MT"/>
              </a:rPr>
              <a:t>it </a:t>
            </a:r>
            <a:r>
              <a:rPr sz="1800" dirty="0">
                <a:solidFill>
                  <a:srgbClr val="0F2044"/>
                </a:solidFill>
                <a:latin typeface="Arial MT"/>
                <a:cs typeface="Arial MT"/>
              </a:rPr>
              <a:t>won’t</a:t>
            </a:r>
            <a:r>
              <a:rPr sz="1800" spc="-45" dirty="0">
                <a:solidFill>
                  <a:srgbClr val="0F2044"/>
                </a:solidFill>
                <a:latin typeface="Arial MT"/>
                <a:cs typeface="Arial MT"/>
              </a:rPr>
              <a:t> </a:t>
            </a:r>
            <a:r>
              <a:rPr sz="1800" dirty="0">
                <a:solidFill>
                  <a:srgbClr val="0F2044"/>
                </a:solidFill>
                <a:latin typeface="Arial MT"/>
                <a:cs typeface="Arial MT"/>
              </a:rPr>
              <a:t>take</a:t>
            </a:r>
            <a:r>
              <a:rPr sz="1800" spc="-35" dirty="0">
                <a:solidFill>
                  <a:srgbClr val="0F2044"/>
                </a:solidFill>
                <a:latin typeface="Arial MT"/>
                <a:cs typeface="Arial MT"/>
              </a:rPr>
              <a:t> </a:t>
            </a:r>
            <a:r>
              <a:rPr sz="1800" dirty="0">
                <a:solidFill>
                  <a:srgbClr val="0F2044"/>
                </a:solidFill>
                <a:latin typeface="Arial MT"/>
                <a:cs typeface="Arial MT"/>
              </a:rPr>
              <a:t>effect</a:t>
            </a:r>
            <a:r>
              <a:rPr sz="1800" spc="-35" dirty="0">
                <a:solidFill>
                  <a:srgbClr val="0F2044"/>
                </a:solidFill>
                <a:latin typeface="Arial MT"/>
                <a:cs typeface="Arial MT"/>
              </a:rPr>
              <a:t> </a:t>
            </a:r>
            <a:r>
              <a:rPr sz="1800" dirty="0">
                <a:solidFill>
                  <a:srgbClr val="0F2044"/>
                </a:solidFill>
                <a:latin typeface="Arial MT"/>
                <a:cs typeface="Arial MT"/>
              </a:rPr>
              <a:t>because</a:t>
            </a:r>
            <a:r>
              <a:rPr sz="1800" spc="-35" dirty="0">
                <a:solidFill>
                  <a:srgbClr val="0F2044"/>
                </a:solidFill>
                <a:latin typeface="Arial MT"/>
                <a:cs typeface="Arial MT"/>
              </a:rPr>
              <a:t> </a:t>
            </a:r>
            <a:r>
              <a:rPr sz="1800" spc="-10" dirty="0">
                <a:solidFill>
                  <a:srgbClr val="0F2044"/>
                </a:solidFill>
                <a:latin typeface="Arial MT"/>
                <a:cs typeface="Arial MT"/>
              </a:rPr>
              <a:t>cancelability </a:t>
            </a:r>
            <a:r>
              <a:rPr sz="1800" dirty="0">
                <a:solidFill>
                  <a:srgbClr val="0F2044"/>
                </a:solidFill>
                <a:latin typeface="Arial MT"/>
                <a:cs typeface="Arial MT"/>
              </a:rPr>
              <a:t>is</a:t>
            </a:r>
            <a:r>
              <a:rPr sz="1800" spc="-25" dirty="0">
                <a:solidFill>
                  <a:srgbClr val="0F2044"/>
                </a:solidFill>
                <a:latin typeface="Arial MT"/>
                <a:cs typeface="Arial MT"/>
              </a:rPr>
              <a:t> </a:t>
            </a:r>
            <a:r>
              <a:rPr sz="1800" spc="-10" dirty="0">
                <a:solidFill>
                  <a:srgbClr val="0F2044"/>
                </a:solidFill>
                <a:latin typeface="Arial MT"/>
                <a:cs typeface="Arial MT"/>
              </a:rPr>
              <a:t>disabled.</a:t>
            </a:r>
            <a:endParaRPr sz="1800" dirty="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21" name="object 4">
            <a:extLst>
              <a:ext uri="{FF2B5EF4-FFF2-40B4-BE49-F238E27FC236}">
                <a16:creationId xmlns:a16="http://schemas.microsoft.com/office/drawing/2014/main" id="{53A12596-DB25-A217-AA6F-F1DBB012130A}"/>
              </a:ex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22" name="object 7">
            <a:extLst>
              <a:ext uri="{FF2B5EF4-FFF2-40B4-BE49-F238E27FC236}">
                <a16:creationId xmlns:a16="http://schemas.microsoft.com/office/drawing/2014/main" id="{9CDB6E25-3DCD-4AF9-EEEC-418EDE5E485D}"/>
              </a:ext>
              <a:ext uri="{C183D7F6-B498-43B3-948B-1728B52AA6E4}">
                <adec:decorative xmlns:adec="http://schemas.microsoft.com/office/drawing/2017/decorative" val="1"/>
              </a:ext>
            </a:extLst>
          </p:cNvPr>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grpSp>
        <p:nvGrpSpPr>
          <p:cNvPr id="23" name="Group 22">
            <a:extLst>
              <a:ext uri="{FF2B5EF4-FFF2-40B4-BE49-F238E27FC236}">
                <a16:creationId xmlns:a16="http://schemas.microsoft.com/office/drawing/2014/main" id="{C81B38E4-2D15-98BF-0AC2-F82AB7754453}"/>
              </a:ext>
              <a:ext uri="{C183D7F6-B498-43B3-948B-1728B52AA6E4}">
                <adec:decorative xmlns:adec="http://schemas.microsoft.com/office/drawing/2017/decorative" val="1"/>
              </a:ext>
            </a:extLst>
          </p:cNvPr>
          <p:cNvGrpSpPr/>
          <p:nvPr/>
        </p:nvGrpSpPr>
        <p:grpSpPr>
          <a:xfrm>
            <a:off x="512496" y="3238472"/>
            <a:ext cx="8795233" cy="2324128"/>
            <a:chOff x="512496" y="3186517"/>
            <a:chExt cx="8795233" cy="2324128"/>
          </a:xfrm>
        </p:grpSpPr>
        <p:pic>
          <p:nvPicPr>
            <p:cNvPr id="24" name="object 3">
              <a:extLst>
                <a:ext uri="{FF2B5EF4-FFF2-40B4-BE49-F238E27FC236}">
                  <a16:creationId xmlns:a16="http://schemas.microsoft.com/office/drawing/2014/main" id="{284ADFD5-5CF5-6DC7-E269-2D49F1F10825}"/>
                </a:ext>
                <a:ext uri="{C183D7F6-B498-43B3-948B-1728B52AA6E4}">
                  <adec:decorative xmlns:adec="http://schemas.microsoft.com/office/drawing/2017/decorative" val="1"/>
                </a:ext>
              </a:extLst>
            </p:cNvPr>
            <p:cNvPicPr/>
            <p:nvPr/>
          </p:nvPicPr>
          <p:blipFill>
            <a:blip r:embed="rId2" cstate="print"/>
            <a:stretch>
              <a:fillRect/>
            </a:stretch>
          </p:blipFill>
          <p:spPr>
            <a:xfrm>
              <a:off x="512496" y="3186517"/>
              <a:ext cx="8795233" cy="2324128"/>
            </a:xfrm>
            <a:prstGeom prst="rect">
              <a:avLst/>
            </a:prstGeom>
          </p:spPr>
        </p:pic>
        <p:sp>
          <p:nvSpPr>
            <p:cNvPr id="25" name="object 13">
              <a:extLst>
                <a:ext uri="{FF2B5EF4-FFF2-40B4-BE49-F238E27FC236}">
                  <a16:creationId xmlns:a16="http://schemas.microsoft.com/office/drawing/2014/main" id="{A5C57320-7347-484D-8682-0CF54846912C}"/>
                </a:ext>
              </a:extLst>
            </p:cNvPr>
            <p:cNvSpPr txBox="1"/>
            <p:nvPr/>
          </p:nvSpPr>
          <p:spPr>
            <a:xfrm>
              <a:off x="2524349" y="4618125"/>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sp>
          <p:nvSpPr>
            <p:cNvPr id="26" name="object 14">
              <a:extLst>
                <a:ext uri="{FF2B5EF4-FFF2-40B4-BE49-F238E27FC236}">
                  <a16:creationId xmlns:a16="http://schemas.microsoft.com/office/drawing/2014/main" id="{E0B015F8-AD73-5837-2A0F-89521315AF19}"/>
                </a:ext>
              </a:extLst>
            </p:cNvPr>
            <p:cNvSpPr txBox="1"/>
            <p:nvPr/>
          </p:nvSpPr>
          <p:spPr>
            <a:xfrm>
              <a:off x="2524349" y="5070349"/>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grpSp>
      <p:grpSp>
        <p:nvGrpSpPr>
          <p:cNvPr id="9" name="object 9">
            <a:extLst>
              <a:ext uri="{C183D7F6-B498-43B3-948B-1728B52AA6E4}">
                <adec:decorative xmlns:adec="http://schemas.microsoft.com/office/drawing/2017/decorative" val="1"/>
              </a:ext>
            </a:extLst>
          </p:cNvPr>
          <p:cNvGrpSpPr/>
          <p:nvPr/>
        </p:nvGrpSpPr>
        <p:grpSpPr>
          <a:xfrm>
            <a:off x="9476587" y="3124200"/>
            <a:ext cx="1101725" cy="1402080"/>
            <a:chOff x="9476587" y="3090612"/>
            <a:chExt cx="1101725" cy="1402080"/>
          </a:xfrm>
        </p:grpSpPr>
        <p:sp>
          <p:nvSpPr>
            <p:cNvPr id="10" name="object 10"/>
            <p:cNvSpPr/>
            <p:nvPr/>
          </p:nvSpPr>
          <p:spPr>
            <a:xfrm>
              <a:off x="9481349" y="3095375"/>
              <a:ext cx="1092200" cy="1392555"/>
            </a:xfrm>
            <a:custGeom>
              <a:avLst/>
              <a:gdLst/>
              <a:ahLst/>
              <a:cxnLst/>
              <a:rect l="l" t="t" r="r" b="b"/>
              <a:pathLst>
                <a:path w="1092200" h="1392554">
                  <a:moveTo>
                    <a:pt x="955237" y="1391999"/>
                  </a:moveTo>
                  <a:lnTo>
                    <a:pt x="0" y="1391999"/>
                  </a:lnTo>
                  <a:lnTo>
                    <a:pt x="0" y="1119074"/>
                  </a:lnTo>
                  <a:lnTo>
                    <a:pt x="682312" y="1119074"/>
                  </a:lnTo>
                  <a:lnTo>
                    <a:pt x="682312" y="272924"/>
                  </a:lnTo>
                  <a:lnTo>
                    <a:pt x="545849" y="272924"/>
                  </a:lnTo>
                  <a:lnTo>
                    <a:pt x="818774" y="0"/>
                  </a:lnTo>
                  <a:lnTo>
                    <a:pt x="1091699" y="272924"/>
                  </a:lnTo>
                  <a:lnTo>
                    <a:pt x="955237" y="272924"/>
                  </a:lnTo>
                  <a:lnTo>
                    <a:pt x="955237" y="1391999"/>
                  </a:lnTo>
                  <a:close/>
                </a:path>
              </a:pathLst>
            </a:custGeom>
            <a:solidFill>
              <a:srgbClr val="CEE1F3"/>
            </a:solidFill>
          </p:spPr>
          <p:txBody>
            <a:bodyPr wrap="square" lIns="0" tIns="0" rIns="0" bIns="0" rtlCol="0"/>
            <a:lstStyle/>
            <a:p>
              <a:endParaRPr/>
            </a:p>
          </p:txBody>
        </p:sp>
        <p:sp>
          <p:nvSpPr>
            <p:cNvPr id="11" name="object 11"/>
            <p:cNvSpPr/>
            <p:nvPr/>
          </p:nvSpPr>
          <p:spPr>
            <a:xfrm>
              <a:off x="9481349" y="3095375"/>
              <a:ext cx="1092200" cy="1392555"/>
            </a:xfrm>
            <a:custGeom>
              <a:avLst/>
              <a:gdLst/>
              <a:ahLst/>
              <a:cxnLst/>
              <a:rect l="l" t="t" r="r" b="b"/>
              <a:pathLst>
                <a:path w="1092200" h="1392554">
                  <a:moveTo>
                    <a:pt x="0" y="1119074"/>
                  </a:moveTo>
                  <a:lnTo>
                    <a:pt x="682312" y="1119074"/>
                  </a:lnTo>
                  <a:lnTo>
                    <a:pt x="682312" y="272924"/>
                  </a:lnTo>
                  <a:lnTo>
                    <a:pt x="545849" y="272924"/>
                  </a:lnTo>
                  <a:lnTo>
                    <a:pt x="818774" y="0"/>
                  </a:lnTo>
                  <a:lnTo>
                    <a:pt x="1091699" y="272924"/>
                  </a:lnTo>
                  <a:lnTo>
                    <a:pt x="955237" y="272924"/>
                  </a:lnTo>
                  <a:lnTo>
                    <a:pt x="955237" y="1391999"/>
                  </a:lnTo>
                  <a:lnTo>
                    <a:pt x="0" y="1391999"/>
                  </a:lnTo>
                  <a:lnTo>
                    <a:pt x="0" y="1119074"/>
                  </a:lnTo>
                  <a:close/>
                </a:path>
              </a:pathLst>
            </a:custGeom>
            <a:ln w="9524">
              <a:solidFill>
                <a:srgbClr val="0F2044"/>
              </a:solidFill>
            </a:ln>
          </p:spPr>
          <p:txBody>
            <a:bodyPr wrap="square" lIns="0" tIns="0" rIns="0" bIns="0" rtlCol="0"/>
            <a:lstStyle/>
            <a:p>
              <a:endParaRPr/>
            </a:p>
          </p:txBody>
        </p:sp>
      </p:grpSp>
      <p:sp>
        <p:nvSpPr>
          <p:cNvPr id="12" name="object 12"/>
          <p:cNvSpPr txBox="1"/>
          <p:nvPr/>
        </p:nvSpPr>
        <p:spPr>
          <a:xfrm>
            <a:off x="7898500" y="1900725"/>
            <a:ext cx="4149090" cy="1016000"/>
          </a:xfrm>
          <a:prstGeom prst="rect">
            <a:avLst/>
          </a:prstGeom>
          <a:solidFill>
            <a:srgbClr val="D9EAD3"/>
          </a:solidFill>
          <a:ln w="12700">
            <a:solidFill>
              <a:schemeClr val="dk1">
                <a:shade val="95000"/>
                <a:satMod val="105000"/>
              </a:schemeClr>
            </a:solidFill>
          </a:ln>
        </p:spPr>
        <p:txBody>
          <a:bodyPr vert="horz" wrap="square" lIns="0" tIns="76200" rIns="0" bIns="0" rtlCol="0">
            <a:spAutoFit/>
          </a:bodyPr>
          <a:lstStyle/>
          <a:p>
            <a:pPr marL="85725" marR="193675">
              <a:lnSpc>
                <a:spcPct val="100000"/>
              </a:lnSpc>
              <a:spcBef>
                <a:spcPts val="600"/>
              </a:spcBef>
            </a:pPr>
            <a:r>
              <a:rPr sz="1800" dirty="0">
                <a:solidFill>
                  <a:srgbClr val="0F2044"/>
                </a:solidFill>
                <a:latin typeface="Arial MT"/>
                <a:cs typeface="Arial MT"/>
              </a:rPr>
              <a:t>Cancelling</a:t>
            </a:r>
            <a:r>
              <a:rPr sz="1800" spc="-30" dirty="0">
                <a:solidFill>
                  <a:srgbClr val="0F2044"/>
                </a:solidFill>
                <a:latin typeface="Arial MT"/>
                <a:cs typeface="Arial MT"/>
              </a:rPr>
              <a:t> </a:t>
            </a:r>
            <a:r>
              <a:rPr sz="1800" dirty="0">
                <a:solidFill>
                  <a:srgbClr val="0F2044"/>
                </a:solidFill>
                <a:latin typeface="Arial MT"/>
                <a:cs typeface="Arial MT"/>
              </a:rPr>
              <a:t>this</a:t>
            </a:r>
            <a:r>
              <a:rPr sz="1800" spc="-25" dirty="0">
                <a:solidFill>
                  <a:srgbClr val="0F2044"/>
                </a:solidFill>
                <a:latin typeface="Arial MT"/>
                <a:cs typeface="Arial MT"/>
              </a:rPr>
              <a:t> </a:t>
            </a:r>
            <a:r>
              <a:rPr sz="1800" dirty="0">
                <a:solidFill>
                  <a:srgbClr val="0F2044"/>
                </a:solidFill>
                <a:latin typeface="Arial MT"/>
                <a:cs typeface="Arial MT"/>
              </a:rPr>
              <a:t>thread</a:t>
            </a:r>
            <a:r>
              <a:rPr sz="1800" spc="-30" dirty="0">
                <a:solidFill>
                  <a:srgbClr val="0F2044"/>
                </a:solidFill>
                <a:latin typeface="Arial MT"/>
                <a:cs typeface="Arial MT"/>
              </a:rPr>
              <a:t> </a:t>
            </a:r>
            <a:r>
              <a:rPr sz="1800" dirty="0">
                <a:solidFill>
                  <a:srgbClr val="0F2044"/>
                </a:solidFill>
                <a:latin typeface="Arial MT"/>
                <a:cs typeface="Arial MT"/>
              </a:rPr>
              <a:t>is</a:t>
            </a:r>
            <a:r>
              <a:rPr sz="1800" spc="-25" dirty="0">
                <a:solidFill>
                  <a:srgbClr val="0F2044"/>
                </a:solidFill>
                <a:latin typeface="Arial MT"/>
                <a:cs typeface="Arial MT"/>
              </a:rPr>
              <a:t> </a:t>
            </a:r>
            <a:r>
              <a:rPr sz="1800" dirty="0">
                <a:solidFill>
                  <a:srgbClr val="0F2044"/>
                </a:solidFill>
                <a:latin typeface="Arial MT"/>
                <a:cs typeface="Arial MT"/>
              </a:rPr>
              <a:t>disabled,</a:t>
            </a:r>
            <a:r>
              <a:rPr sz="1800" spc="-25" dirty="0">
                <a:solidFill>
                  <a:srgbClr val="0F2044"/>
                </a:solidFill>
                <a:latin typeface="Arial MT"/>
                <a:cs typeface="Arial MT"/>
              </a:rPr>
              <a:t> so </a:t>
            </a:r>
            <a:r>
              <a:rPr sz="1800" dirty="0">
                <a:solidFill>
                  <a:srgbClr val="0F2044"/>
                </a:solidFill>
                <a:latin typeface="Arial MT"/>
                <a:cs typeface="Arial MT"/>
              </a:rPr>
              <a:t>no</a:t>
            </a:r>
            <a:r>
              <a:rPr sz="1800" spc="-40" dirty="0">
                <a:solidFill>
                  <a:srgbClr val="0F2044"/>
                </a:solidFill>
                <a:latin typeface="Arial MT"/>
                <a:cs typeface="Arial MT"/>
              </a:rPr>
              <a:t> </a:t>
            </a:r>
            <a:r>
              <a:rPr sz="1800" dirty="0">
                <a:solidFill>
                  <a:srgbClr val="0F2044"/>
                </a:solidFill>
                <a:latin typeface="Arial MT"/>
                <a:cs typeface="Arial MT"/>
              </a:rPr>
              <a:t>cancellation</a:t>
            </a:r>
            <a:r>
              <a:rPr sz="1800" spc="-35" dirty="0">
                <a:solidFill>
                  <a:srgbClr val="0F2044"/>
                </a:solidFill>
                <a:latin typeface="Arial MT"/>
                <a:cs typeface="Arial MT"/>
              </a:rPr>
              <a:t> </a:t>
            </a:r>
            <a:r>
              <a:rPr sz="1800" dirty="0">
                <a:solidFill>
                  <a:srgbClr val="0F2044"/>
                </a:solidFill>
                <a:latin typeface="Arial MT"/>
                <a:cs typeface="Arial MT"/>
              </a:rPr>
              <a:t>will</a:t>
            </a:r>
            <a:r>
              <a:rPr sz="1800" spc="-35" dirty="0">
                <a:solidFill>
                  <a:srgbClr val="0F2044"/>
                </a:solidFill>
                <a:latin typeface="Arial MT"/>
                <a:cs typeface="Arial MT"/>
              </a:rPr>
              <a:t> </a:t>
            </a:r>
            <a:r>
              <a:rPr sz="1800" dirty="0">
                <a:solidFill>
                  <a:srgbClr val="0F2044"/>
                </a:solidFill>
                <a:latin typeface="Arial MT"/>
                <a:cs typeface="Arial MT"/>
              </a:rPr>
              <a:t>happen</a:t>
            </a:r>
            <a:r>
              <a:rPr sz="1800" spc="-35" dirty="0">
                <a:solidFill>
                  <a:srgbClr val="0F2044"/>
                </a:solidFill>
                <a:latin typeface="Arial MT"/>
                <a:cs typeface="Arial MT"/>
              </a:rPr>
              <a:t> </a:t>
            </a:r>
            <a:r>
              <a:rPr sz="1800" spc="-10" dirty="0">
                <a:solidFill>
                  <a:srgbClr val="0F2044"/>
                </a:solidFill>
                <a:latin typeface="Arial MT"/>
                <a:cs typeface="Arial MT"/>
              </a:rPr>
              <a:t>regardless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the</a:t>
            </a:r>
            <a:r>
              <a:rPr sz="1800" spc="-10" dirty="0">
                <a:solidFill>
                  <a:srgbClr val="0F2044"/>
                </a:solidFill>
                <a:latin typeface="Arial MT"/>
                <a:cs typeface="Arial MT"/>
              </a:rPr>
              <a:t> type.</a:t>
            </a:r>
            <a:endParaRPr sz="180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15" name="object 4">
            <a:extLst>
              <a:ext uri="{FF2B5EF4-FFF2-40B4-BE49-F238E27FC236}">
                <a16:creationId xmlns:a16="http://schemas.microsoft.com/office/drawing/2014/main" id="{6D5E8E75-159E-6145-4989-D1D0FAE8308D}"/>
              </a:ex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6" name="object 7">
            <a:extLst>
              <a:ext uri="{FF2B5EF4-FFF2-40B4-BE49-F238E27FC236}">
                <a16:creationId xmlns:a16="http://schemas.microsoft.com/office/drawing/2014/main" id="{6E324FEE-77E8-F7D1-CDA2-197C24349BB2}"/>
              </a:ext>
              <a:ext uri="{C183D7F6-B498-43B3-948B-1728B52AA6E4}">
                <adec:decorative xmlns:adec="http://schemas.microsoft.com/office/drawing/2017/decorative" val="1"/>
              </a:ext>
            </a:extLst>
          </p:cNvPr>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grpSp>
        <p:nvGrpSpPr>
          <p:cNvPr id="17" name="Group 16">
            <a:extLst>
              <a:ext uri="{FF2B5EF4-FFF2-40B4-BE49-F238E27FC236}">
                <a16:creationId xmlns:a16="http://schemas.microsoft.com/office/drawing/2014/main" id="{B78368F6-AAC6-74D4-D272-1C6F393364C3}"/>
              </a:ext>
              <a:ext uri="{C183D7F6-B498-43B3-948B-1728B52AA6E4}">
                <adec:decorative xmlns:adec="http://schemas.microsoft.com/office/drawing/2017/decorative" val="1"/>
              </a:ext>
            </a:extLst>
          </p:cNvPr>
          <p:cNvGrpSpPr/>
          <p:nvPr/>
        </p:nvGrpSpPr>
        <p:grpSpPr>
          <a:xfrm>
            <a:off x="512496" y="3238472"/>
            <a:ext cx="8795233" cy="2324128"/>
            <a:chOff x="512496" y="3186517"/>
            <a:chExt cx="8795233" cy="2324128"/>
          </a:xfrm>
        </p:grpSpPr>
        <p:pic>
          <p:nvPicPr>
            <p:cNvPr id="18" name="object 3">
              <a:extLst>
                <a:ext uri="{FF2B5EF4-FFF2-40B4-BE49-F238E27FC236}">
                  <a16:creationId xmlns:a16="http://schemas.microsoft.com/office/drawing/2014/main" id="{4813B45F-85AE-7794-AA17-6EDD8A855A62}"/>
                </a:ext>
                <a:ext uri="{C183D7F6-B498-43B3-948B-1728B52AA6E4}">
                  <adec:decorative xmlns:adec="http://schemas.microsoft.com/office/drawing/2017/decorative" val="1"/>
                </a:ext>
              </a:extLst>
            </p:cNvPr>
            <p:cNvPicPr/>
            <p:nvPr/>
          </p:nvPicPr>
          <p:blipFill>
            <a:blip r:embed="rId2" cstate="print"/>
            <a:stretch>
              <a:fillRect/>
            </a:stretch>
          </p:blipFill>
          <p:spPr>
            <a:xfrm>
              <a:off x="512496" y="3186517"/>
              <a:ext cx="8795233" cy="2324128"/>
            </a:xfrm>
            <a:prstGeom prst="rect">
              <a:avLst/>
            </a:prstGeom>
          </p:spPr>
        </p:pic>
        <p:sp>
          <p:nvSpPr>
            <p:cNvPr id="19" name="object 13">
              <a:extLst>
                <a:ext uri="{FF2B5EF4-FFF2-40B4-BE49-F238E27FC236}">
                  <a16:creationId xmlns:a16="http://schemas.microsoft.com/office/drawing/2014/main" id="{9698305D-81E4-2E30-FDC1-5B144964CF85}"/>
                </a:ext>
              </a:extLst>
            </p:cNvPr>
            <p:cNvSpPr txBox="1"/>
            <p:nvPr/>
          </p:nvSpPr>
          <p:spPr>
            <a:xfrm>
              <a:off x="2524349" y="4618125"/>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sp>
          <p:nvSpPr>
            <p:cNvPr id="20" name="object 14">
              <a:extLst>
                <a:ext uri="{FF2B5EF4-FFF2-40B4-BE49-F238E27FC236}">
                  <a16:creationId xmlns:a16="http://schemas.microsoft.com/office/drawing/2014/main" id="{AF3A46BD-5590-9A1A-7919-3917490D517C}"/>
                </a:ext>
              </a:extLst>
            </p:cNvPr>
            <p:cNvSpPr txBox="1"/>
            <p:nvPr/>
          </p:nvSpPr>
          <p:spPr>
            <a:xfrm>
              <a:off x="2524349" y="5070349"/>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grpSp>
      <p:grpSp>
        <p:nvGrpSpPr>
          <p:cNvPr id="9" name="object 9">
            <a:extLst>
              <a:ext uri="{C183D7F6-B498-43B3-948B-1728B52AA6E4}">
                <adec:decorative xmlns:adec="http://schemas.microsoft.com/office/drawing/2017/decorative" val="1"/>
              </a:ext>
            </a:extLst>
          </p:cNvPr>
          <p:cNvGrpSpPr/>
          <p:nvPr/>
        </p:nvGrpSpPr>
        <p:grpSpPr>
          <a:xfrm>
            <a:off x="9476587" y="3550920"/>
            <a:ext cx="1101725" cy="1402080"/>
            <a:chOff x="9476587" y="3471612"/>
            <a:chExt cx="1101725" cy="1402080"/>
          </a:xfrm>
        </p:grpSpPr>
        <p:sp>
          <p:nvSpPr>
            <p:cNvPr id="10" name="object 10"/>
            <p:cNvSpPr/>
            <p:nvPr/>
          </p:nvSpPr>
          <p:spPr>
            <a:xfrm>
              <a:off x="9481349" y="3476375"/>
              <a:ext cx="1092200" cy="1392555"/>
            </a:xfrm>
            <a:custGeom>
              <a:avLst/>
              <a:gdLst/>
              <a:ahLst/>
              <a:cxnLst/>
              <a:rect l="l" t="t" r="r" b="b"/>
              <a:pathLst>
                <a:path w="1092200" h="1392554">
                  <a:moveTo>
                    <a:pt x="955237" y="1391999"/>
                  </a:moveTo>
                  <a:lnTo>
                    <a:pt x="0" y="1391999"/>
                  </a:lnTo>
                  <a:lnTo>
                    <a:pt x="0" y="1119074"/>
                  </a:lnTo>
                  <a:lnTo>
                    <a:pt x="682312" y="1119074"/>
                  </a:lnTo>
                  <a:lnTo>
                    <a:pt x="682312" y="272924"/>
                  </a:lnTo>
                  <a:lnTo>
                    <a:pt x="545849" y="272924"/>
                  </a:lnTo>
                  <a:lnTo>
                    <a:pt x="818774" y="0"/>
                  </a:lnTo>
                  <a:lnTo>
                    <a:pt x="1091699" y="272924"/>
                  </a:lnTo>
                  <a:lnTo>
                    <a:pt x="955237" y="272924"/>
                  </a:lnTo>
                  <a:lnTo>
                    <a:pt x="955237" y="1391999"/>
                  </a:lnTo>
                  <a:close/>
                </a:path>
              </a:pathLst>
            </a:custGeom>
            <a:solidFill>
              <a:srgbClr val="CEE1F3"/>
            </a:solidFill>
          </p:spPr>
          <p:txBody>
            <a:bodyPr wrap="square" lIns="0" tIns="0" rIns="0" bIns="0" rtlCol="0"/>
            <a:lstStyle/>
            <a:p>
              <a:endParaRPr/>
            </a:p>
          </p:txBody>
        </p:sp>
        <p:sp>
          <p:nvSpPr>
            <p:cNvPr id="11" name="object 11"/>
            <p:cNvSpPr/>
            <p:nvPr/>
          </p:nvSpPr>
          <p:spPr>
            <a:xfrm>
              <a:off x="9481349" y="3476375"/>
              <a:ext cx="1092200" cy="1392555"/>
            </a:xfrm>
            <a:custGeom>
              <a:avLst/>
              <a:gdLst/>
              <a:ahLst/>
              <a:cxnLst/>
              <a:rect l="l" t="t" r="r" b="b"/>
              <a:pathLst>
                <a:path w="1092200" h="1392554">
                  <a:moveTo>
                    <a:pt x="0" y="1119074"/>
                  </a:moveTo>
                  <a:lnTo>
                    <a:pt x="682312" y="1119074"/>
                  </a:lnTo>
                  <a:lnTo>
                    <a:pt x="682312" y="272924"/>
                  </a:lnTo>
                  <a:lnTo>
                    <a:pt x="545849" y="272924"/>
                  </a:lnTo>
                  <a:lnTo>
                    <a:pt x="818774" y="0"/>
                  </a:lnTo>
                  <a:lnTo>
                    <a:pt x="1091699" y="272924"/>
                  </a:lnTo>
                  <a:lnTo>
                    <a:pt x="955237" y="272924"/>
                  </a:lnTo>
                  <a:lnTo>
                    <a:pt x="955237" y="1391999"/>
                  </a:lnTo>
                  <a:lnTo>
                    <a:pt x="0" y="1391999"/>
                  </a:lnTo>
                  <a:lnTo>
                    <a:pt x="0" y="1119074"/>
                  </a:lnTo>
                  <a:close/>
                </a:path>
              </a:pathLst>
            </a:custGeom>
            <a:ln w="9524">
              <a:solidFill>
                <a:srgbClr val="0F2044"/>
              </a:solidFill>
            </a:ln>
          </p:spPr>
          <p:txBody>
            <a:bodyPr wrap="square" lIns="0" tIns="0" rIns="0" bIns="0" rtlCol="0"/>
            <a:lstStyle/>
            <a:p>
              <a:endParaRPr/>
            </a:p>
          </p:txBody>
        </p:sp>
      </p:grpSp>
      <p:sp>
        <p:nvSpPr>
          <p:cNvPr id="12" name="object 12"/>
          <p:cNvSpPr txBox="1"/>
          <p:nvPr/>
        </p:nvSpPr>
        <p:spPr>
          <a:xfrm>
            <a:off x="7898500" y="1752600"/>
            <a:ext cx="4149090" cy="1421479"/>
          </a:xfrm>
          <a:prstGeom prst="rect">
            <a:avLst/>
          </a:prstGeom>
          <a:solidFill>
            <a:srgbClr val="FCE4CD"/>
          </a:solidFill>
          <a:ln w="12700">
            <a:solidFill>
              <a:schemeClr val="dk1">
                <a:shade val="95000"/>
                <a:satMod val="105000"/>
              </a:schemeClr>
            </a:solidFill>
          </a:ln>
        </p:spPr>
        <p:txBody>
          <a:bodyPr vert="horz" wrap="square" lIns="0" tIns="91440" rIns="0" bIns="91440" rtlCol="0">
            <a:spAutoFit/>
          </a:bodyPr>
          <a:lstStyle/>
          <a:p>
            <a:pPr marL="85725" marR="80010">
              <a:lnSpc>
                <a:spcPct val="114000"/>
              </a:lnSpc>
              <a:spcBef>
                <a:spcPts val="600"/>
              </a:spcBef>
            </a:pPr>
            <a:r>
              <a:rPr sz="1800" dirty="0">
                <a:solidFill>
                  <a:srgbClr val="0F2044"/>
                </a:solidFill>
                <a:latin typeface="Arial MT"/>
                <a:cs typeface="Arial MT"/>
              </a:rPr>
              <a:t>The</a:t>
            </a:r>
            <a:r>
              <a:rPr sz="1800" spc="-35" dirty="0">
                <a:solidFill>
                  <a:srgbClr val="0F2044"/>
                </a:solidFill>
                <a:latin typeface="Arial MT"/>
                <a:cs typeface="Arial MT"/>
              </a:rPr>
              <a:t> </a:t>
            </a:r>
            <a:r>
              <a:rPr sz="1800" dirty="0">
                <a:solidFill>
                  <a:srgbClr val="0F2044"/>
                </a:solidFill>
                <a:latin typeface="Arial MT"/>
                <a:cs typeface="Arial MT"/>
              </a:rPr>
              <a:t>thread</a:t>
            </a:r>
            <a:r>
              <a:rPr sz="1800" spc="-20" dirty="0">
                <a:solidFill>
                  <a:srgbClr val="0F2044"/>
                </a:solidFill>
                <a:latin typeface="Arial MT"/>
                <a:cs typeface="Arial MT"/>
              </a:rPr>
              <a:t> </a:t>
            </a:r>
            <a:r>
              <a:rPr sz="1800" dirty="0">
                <a:solidFill>
                  <a:srgbClr val="0F2044"/>
                </a:solidFill>
                <a:latin typeface="Arial MT"/>
                <a:cs typeface="Arial MT"/>
              </a:rPr>
              <a:t>can</a:t>
            </a:r>
            <a:r>
              <a:rPr sz="1800" spc="-25" dirty="0">
                <a:solidFill>
                  <a:srgbClr val="0F2044"/>
                </a:solidFill>
                <a:latin typeface="Arial MT"/>
                <a:cs typeface="Arial MT"/>
              </a:rPr>
              <a:t> </a:t>
            </a:r>
            <a:r>
              <a:rPr sz="1800" dirty="0">
                <a:solidFill>
                  <a:srgbClr val="0F2044"/>
                </a:solidFill>
                <a:latin typeface="Arial MT"/>
                <a:cs typeface="Arial MT"/>
              </a:rPr>
              <a:t>be</a:t>
            </a:r>
            <a:r>
              <a:rPr sz="1800" spc="-20" dirty="0">
                <a:solidFill>
                  <a:srgbClr val="0F2044"/>
                </a:solidFill>
                <a:latin typeface="Arial MT"/>
                <a:cs typeface="Arial MT"/>
              </a:rPr>
              <a:t> </a:t>
            </a:r>
            <a:r>
              <a:rPr sz="1800" dirty="0">
                <a:solidFill>
                  <a:srgbClr val="0F2044"/>
                </a:solidFill>
                <a:latin typeface="Arial MT"/>
                <a:cs typeface="Arial MT"/>
              </a:rPr>
              <a:t>cancelled,</a:t>
            </a:r>
            <a:r>
              <a:rPr sz="1800" spc="-25" dirty="0">
                <a:solidFill>
                  <a:srgbClr val="0F2044"/>
                </a:solidFill>
                <a:latin typeface="Arial MT"/>
                <a:cs typeface="Arial MT"/>
              </a:rPr>
              <a:t> </a:t>
            </a:r>
            <a:r>
              <a:rPr sz="1800" dirty="0">
                <a:solidFill>
                  <a:srgbClr val="0F2044"/>
                </a:solidFill>
                <a:latin typeface="Arial MT"/>
                <a:cs typeface="Arial MT"/>
              </a:rPr>
              <a:t>but</a:t>
            </a:r>
            <a:r>
              <a:rPr sz="1800" spc="-20" dirty="0">
                <a:solidFill>
                  <a:srgbClr val="0F2044"/>
                </a:solidFill>
                <a:latin typeface="Arial MT"/>
                <a:cs typeface="Arial MT"/>
              </a:rPr>
              <a:t> </a:t>
            </a:r>
            <a:r>
              <a:rPr sz="1800" spc="-25" dirty="0">
                <a:solidFill>
                  <a:srgbClr val="0F2044"/>
                </a:solidFill>
                <a:latin typeface="Arial MT"/>
                <a:cs typeface="Arial MT"/>
              </a:rPr>
              <a:t>the </a:t>
            </a:r>
            <a:r>
              <a:rPr sz="1800" dirty="0">
                <a:solidFill>
                  <a:srgbClr val="0F2044"/>
                </a:solidFill>
                <a:latin typeface="Arial MT"/>
                <a:cs typeface="Arial MT"/>
              </a:rPr>
              <a:t>cancellation</a:t>
            </a:r>
            <a:r>
              <a:rPr sz="1800" spc="-30" dirty="0">
                <a:solidFill>
                  <a:srgbClr val="0F2044"/>
                </a:solidFill>
                <a:latin typeface="Arial MT"/>
                <a:cs typeface="Arial MT"/>
              </a:rPr>
              <a:t> </a:t>
            </a:r>
            <a:r>
              <a:rPr sz="1800" dirty="0">
                <a:solidFill>
                  <a:srgbClr val="0F2044"/>
                </a:solidFill>
                <a:latin typeface="Arial MT"/>
                <a:cs typeface="Arial MT"/>
              </a:rPr>
              <a:t>will</a:t>
            </a:r>
            <a:r>
              <a:rPr sz="1800" spc="-30" dirty="0">
                <a:solidFill>
                  <a:srgbClr val="0F2044"/>
                </a:solidFill>
                <a:latin typeface="Arial MT"/>
                <a:cs typeface="Arial MT"/>
              </a:rPr>
              <a:t> </a:t>
            </a:r>
            <a:r>
              <a:rPr sz="1800" dirty="0">
                <a:solidFill>
                  <a:srgbClr val="0F2044"/>
                </a:solidFill>
                <a:latin typeface="Arial MT"/>
                <a:cs typeface="Arial MT"/>
              </a:rPr>
              <a:t>only</a:t>
            </a:r>
            <a:r>
              <a:rPr sz="1800" spc="-30" dirty="0">
                <a:solidFill>
                  <a:srgbClr val="0F2044"/>
                </a:solidFill>
                <a:latin typeface="Arial MT"/>
                <a:cs typeface="Arial MT"/>
              </a:rPr>
              <a:t> </a:t>
            </a:r>
            <a:r>
              <a:rPr sz="1800" dirty="0">
                <a:solidFill>
                  <a:srgbClr val="0F2044"/>
                </a:solidFill>
                <a:latin typeface="Arial MT"/>
                <a:cs typeface="Arial MT"/>
              </a:rPr>
              <a:t>happen</a:t>
            </a:r>
            <a:r>
              <a:rPr sz="1800" spc="-30" dirty="0">
                <a:solidFill>
                  <a:srgbClr val="0F2044"/>
                </a:solidFill>
                <a:latin typeface="Arial MT"/>
                <a:cs typeface="Arial MT"/>
              </a:rPr>
              <a:t> </a:t>
            </a:r>
            <a:r>
              <a:rPr sz="1800" dirty="0">
                <a:solidFill>
                  <a:srgbClr val="0F2044"/>
                </a:solidFill>
                <a:latin typeface="Arial MT"/>
                <a:cs typeface="Arial MT"/>
              </a:rPr>
              <a:t>at</a:t>
            </a:r>
            <a:r>
              <a:rPr sz="1800" spc="-30" dirty="0">
                <a:solidFill>
                  <a:srgbClr val="0F2044"/>
                </a:solidFill>
                <a:latin typeface="Arial MT"/>
                <a:cs typeface="Arial MT"/>
              </a:rPr>
              <a:t> </a:t>
            </a:r>
            <a:r>
              <a:rPr sz="1800" spc="-10" dirty="0">
                <a:solidFill>
                  <a:srgbClr val="0F2044"/>
                </a:solidFill>
                <a:latin typeface="Arial MT"/>
                <a:cs typeface="Arial MT"/>
              </a:rPr>
              <a:t>specific </a:t>
            </a:r>
            <a:r>
              <a:rPr sz="1800" dirty="0">
                <a:solidFill>
                  <a:srgbClr val="0F2044"/>
                </a:solidFill>
                <a:latin typeface="Arial MT"/>
                <a:cs typeface="Arial MT"/>
              </a:rPr>
              <a:t>cancellation</a:t>
            </a:r>
            <a:r>
              <a:rPr sz="1800" spc="-35" dirty="0">
                <a:solidFill>
                  <a:srgbClr val="0F2044"/>
                </a:solidFill>
                <a:latin typeface="Arial MT"/>
                <a:cs typeface="Arial MT"/>
              </a:rPr>
              <a:t> </a:t>
            </a:r>
            <a:r>
              <a:rPr sz="1800" dirty="0">
                <a:solidFill>
                  <a:srgbClr val="0F2044"/>
                </a:solidFill>
                <a:latin typeface="Arial MT"/>
                <a:cs typeface="Arial MT"/>
              </a:rPr>
              <a:t>points</a:t>
            </a:r>
            <a:r>
              <a:rPr sz="1800" spc="-30" dirty="0">
                <a:solidFill>
                  <a:srgbClr val="0F2044"/>
                </a:solidFill>
                <a:latin typeface="Arial MT"/>
                <a:cs typeface="Arial MT"/>
              </a:rPr>
              <a:t> </a:t>
            </a:r>
            <a:r>
              <a:rPr sz="1800" dirty="0">
                <a:solidFill>
                  <a:srgbClr val="0F2044"/>
                </a:solidFill>
                <a:latin typeface="Arial MT"/>
                <a:cs typeface="Arial MT"/>
              </a:rPr>
              <a:t>(e.g.,</a:t>
            </a:r>
            <a:r>
              <a:rPr sz="1800" spc="-30" dirty="0">
                <a:solidFill>
                  <a:srgbClr val="0F2044"/>
                </a:solidFill>
                <a:latin typeface="Arial MT"/>
                <a:cs typeface="Arial MT"/>
              </a:rPr>
              <a:t> </a:t>
            </a:r>
            <a:r>
              <a:rPr sz="1800" spc="-10" dirty="0">
                <a:solidFill>
                  <a:srgbClr val="0F2044"/>
                </a:solidFill>
                <a:latin typeface="Arial MT"/>
                <a:cs typeface="Arial MT"/>
              </a:rPr>
              <a:t>certain </a:t>
            </a:r>
            <a:r>
              <a:rPr sz="1800" dirty="0">
                <a:solidFill>
                  <a:srgbClr val="0F2044"/>
                </a:solidFill>
                <a:latin typeface="Arial MT"/>
                <a:cs typeface="Arial MT"/>
              </a:rPr>
              <a:t>blocking</a:t>
            </a:r>
            <a:r>
              <a:rPr sz="1800" spc="-40" dirty="0">
                <a:solidFill>
                  <a:srgbClr val="0F2044"/>
                </a:solidFill>
                <a:latin typeface="Arial MT"/>
                <a:cs typeface="Arial MT"/>
              </a:rPr>
              <a:t> </a:t>
            </a:r>
            <a:r>
              <a:rPr sz="1800" spc="-10" dirty="0">
                <a:solidFill>
                  <a:srgbClr val="0F2044"/>
                </a:solidFill>
                <a:latin typeface="Arial MT"/>
                <a:cs typeface="Arial MT"/>
              </a:rPr>
              <a:t>calls).</a:t>
            </a:r>
            <a:endParaRPr sz="1800" dirty="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a:p>
        </p:txBody>
      </p:sp>
      <p:sp>
        <p:nvSpPr>
          <p:cNvPr id="15" name="object 4">
            <a:extLst>
              <a:ext uri="{FF2B5EF4-FFF2-40B4-BE49-F238E27FC236}">
                <a16:creationId xmlns:a16="http://schemas.microsoft.com/office/drawing/2014/main" id="{22698E85-20A5-DD09-E105-D4BFB2FCE034}"/>
              </a:ext>
              <a:ext uri="{C183D7F6-B498-43B3-948B-1728B52AA6E4}">
                <adec:decorative xmlns:adec="http://schemas.microsoft.com/office/drawing/2017/decorative" val="1"/>
              </a:ext>
            </a:extLst>
          </p:cNvPr>
          <p:cNvSpPr txBox="1"/>
          <p:nvPr/>
        </p:nvSpPr>
        <p:spPr>
          <a:xfrm>
            <a:off x="548005" y="2316480"/>
            <a:ext cx="2195195" cy="274320"/>
          </a:xfrm>
          <a:prstGeom prst="rect">
            <a:avLst/>
          </a:prstGeom>
          <a:solidFill>
            <a:srgbClr val="F6F6F6"/>
          </a:solidFill>
        </p:spPr>
        <p:txBody>
          <a:bodyPr vert="horz" wrap="square" lIns="0" tIns="0" rIns="0" bIns="0" rtlCol="0">
            <a:spAutoFit/>
          </a:bodyPr>
          <a:lstStyle/>
          <a:p>
            <a:pPr>
              <a:lnSpc>
                <a:spcPts val="2090"/>
              </a:lnSpc>
            </a:pPr>
            <a:endParaRPr sz="1800" dirty="0">
              <a:latin typeface="Courier New"/>
              <a:cs typeface="Courier New"/>
            </a:endParaRPr>
          </a:p>
        </p:txBody>
      </p:sp>
      <p:sp>
        <p:nvSpPr>
          <p:cNvPr id="16" name="object 7">
            <a:extLst>
              <a:ext uri="{FF2B5EF4-FFF2-40B4-BE49-F238E27FC236}">
                <a16:creationId xmlns:a16="http://schemas.microsoft.com/office/drawing/2014/main" id="{FBA9E902-5AE3-955C-B7B7-07B0F32CBD0E}"/>
              </a:ext>
              <a:ext uri="{C183D7F6-B498-43B3-948B-1728B52AA6E4}">
                <adec:decorative xmlns:adec="http://schemas.microsoft.com/office/drawing/2017/decorative" val="1"/>
              </a:ext>
            </a:extLst>
          </p:cNvPr>
          <p:cNvSpPr txBox="1"/>
          <p:nvPr/>
        </p:nvSpPr>
        <p:spPr>
          <a:xfrm>
            <a:off x="542565" y="2286000"/>
            <a:ext cx="8296635" cy="630878"/>
          </a:xfrm>
          <a:prstGeom prst="rect">
            <a:avLst/>
          </a:prstGeom>
        </p:spPr>
        <p:txBody>
          <a:bodyPr vert="horz" wrap="square" lIns="0" tIns="12700" rIns="0" bIns="0" rtlCol="0">
            <a:spAutoFit/>
          </a:bodyPr>
          <a:lstStyle/>
          <a:p>
            <a:pPr marL="12700">
              <a:lnSpc>
                <a:spcPct val="114000"/>
              </a:lnSpc>
              <a:spcBef>
                <a:spcPts val="100"/>
              </a:spcBef>
            </a:pPr>
            <a:r>
              <a:rPr lang="en-US" sz="1800" spc="-10" dirty="0" err="1">
                <a:solidFill>
                  <a:srgbClr val="333333"/>
                </a:solidFill>
                <a:latin typeface="Courier New"/>
                <a:cs typeface="Courier New"/>
              </a:rPr>
              <a:t>pthread_cancel</a:t>
            </a:r>
            <a:r>
              <a:rPr lang="en-US" sz="1800" spc="-10" dirty="0">
                <a:solidFill>
                  <a:srgbClr val="333333"/>
                </a:solidFill>
                <a:latin typeface="Courier New"/>
                <a:cs typeface="Courier New"/>
              </a:rPr>
              <a:t>() </a:t>
            </a:r>
            <a:r>
              <a:rPr lang="en-US" sz="1800" dirty="0">
                <a:solidFill>
                  <a:srgbClr val="333333"/>
                </a:solidFill>
                <a:latin typeface="Arial MT"/>
                <a:cs typeface="Arial MT"/>
              </a:rPr>
              <a:t>requests</a:t>
            </a:r>
            <a:r>
              <a:rPr lang="en-US" sz="1800" spc="-35" dirty="0">
                <a:solidFill>
                  <a:srgbClr val="333333"/>
                </a:solidFill>
                <a:latin typeface="Arial MT"/>
                <a:cs typeface="Arial MT"/>
              </a:rPr>
              <a:t> </a:t>
            </a:r>
            <a:r>
              <a:rPr lang="en-US" sz="1800" dirty="0">
                <a:solidFill>
                  <a:srgbClr val="333333"/>
                </a:solidFill>
                <a:latin typeface="Arial MT"/>
                <a:cs typeface="Arial MT"/>
              </a:rPr>
              <a:t>cancelation</a:t>
            </a:r>
            <a:r>
              <a:rPr lang="en-US" sz="1800" spc="-25" dirty="0">
                <a:solidFill>
                  <a:srgbClr val="333333"/>
                </a:solidFill>
                <a:latin typeface="Arial MT"/>
                <a:cs typeface="Arial MT"/>
              </a:rPr>
              <a:t> </a:t>
            </a:r>
            <a:r>
              <a:rPr lang="en-US" sz="1800" dirty="0">
                <a:solidFill>
                  <a:srgbClr val="333333"/>
                </a:solidFill>
                <a:latin typeface="Arial MT"/>
                <a:cs typeface="Arial MT"/>
              </a:rPr>
              <a:t>of</a:t>
            </a:r>
            <a:r>
              <a:rPr lang="en-US" sz="1800" spc="-25"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5" dirty="0">
                <a:solidFill>
                  <a:srgbClr val="333333"/>
                </a:solidFill>
                <a:latin typeface="Arial MT"/>
                <a:cs typeface="Arial MT"/>
              </a:rPr>
              <a:t> </a:t>
            </a:r>
            <a:r>
              <a:rPr lang="en-US" sz="1800" dirty="0">
                <a:solidFill>
                  <a:srgbClr val="333333"/>
                </a:solidFill>
                <a:latin typeface="Arial MT"/>
                <a:cs typeface="Arial MT"/>
              </a:rPr>
              <a:t>thread.</a:t>
            </a:r>
            <a:r>
              <a:rPr lang="en-US" sz="1800" spc="-60" dirty="0">
                <a:solidFill>
                  <a:srgbClr val="333333"/>
                </a:solidFill>
                <a:latin typeface="Arial MT"/>
                <a:cs typeface="Arial MT"/>
              </a:rPr>
              <a:t> </a:t>
            </a:r>
            <a:r>
              <a:rPr lang="en-US" sz="1800" dirty="0">
                <a:solidFill>
                  <a:srgbClr val="333333"/>
                </a:solidFill>
                <a:latin typeface="Arial MT"/>
                <a:cs typeface="Arial MT"/>
              </a:rPr>
              <a:t>The</a:t>
            </a:r>
            <a:r>
              <a:rPr lang="en-US" sz="1800" spc="-25" dirty="0">
                <a:solidFill>
                  <a:srgbClr val="333333"/>
                </a:solidFill>
                <a:latin typeface="Arial MT"/>
                <a:cs typeface="Arial MT"/>
              </a:rPr>
              <a:t> </a:t>
            </a:r>
            <a:r>
              <a:rPr lang="en-US" sz="1800" dirty="0">
                <a:solidFill>
                  <a:srgbClr val="333333"/>
                </a:solidFill>
                <a:latin typeface="Arial MT"/>
                <a:cs typeface="Arial MT"/>
              </a:rPr>
              <a:t>target</a:t>
            </a:r>
            <a:r>
              <a:rPr lang="en-US" sz="1800" spc="-20" dirty="0">
                <a:solidFill>
                  <a:srgbClr val="333333"/>
                </a:solidFill>
                <a:latin typeface="Arial MT"/>
                <a:cs typeface="Arial MT"/>
              </a:rPr>
              <a:t> </a:t>
            </a:r>
            <a:r>
              <a:rPr lang="en-US" sz="1800" spc="-10" dirty="0">
                <a:solidFill>
                  <a:srgbClr val="333333"/>
                </a:solidFill>
                <a:latin typeface="Arial MT"/>
                <a:cs typeface="Arial MT"/>
              </a:rPr>
              <a:t>thread</a:t>
            </a:r>
            <a:endParaRPr lang="en-US" sz="1800" dirty="0">
              <a:latin typeface="Arial MT"/>
              <a:cs typeface="Arial MT"/>
            </a:endParaRPr>
          </a:p>
          <a:p>
            <a:pPr marL="12700">
              <a:lnSpc>
                <a:spcPct val="114000"/>
              </a:lnSpc>
              <a:spcBef>
                <a:spcPts val="100"/>
              </a:spcBef>
            </a:pPr>
            <a:r>
              <a:rPr sz="1800" dirty="0">
                <a:solidFill>
                  <a:srgbClr val="333333"/>
                </a:solidFill>
                <a:latin typeface="Arial MT"/>
                <a:cs typeface="Arial MT"/>
              </a:rPr>
              <a:t>will</a:t>
            </a:r>
            <a:r>
              <a:rPr sz="1800" spc="-30" dirty="0">
                <a:solidFill>
                  <a:srgbClr val="333333"/>
                </a:solidFill>
                <a:latin typeface="Arial MT"/>
                <a:cs typeface="Arial MT"/>
              </a:rPr>
              <a:t> </a:t>
            </a:r>
            <a:r>
              <a:rPr sz="1800" dirty="0">
                <a:solidFill>
                  <a:srgbClr val="333333"/>
                </a:solidFill>
                <a:latin typeface="Arial MT"/>
                <a:cs typeface="Arial MT"/>
              </a:rPr>
              <a:t>be</a:t>
            </a:r>
            <a:r>
              <a:rPr sz="1800" spc="-15" dirty="0">
                <a:solidFill>
                  <a:srgbClr val="333333"/>
                </a:solidFill>
                <a:latin typeface="Arial MT"/>
                <a:cs typeface="Arial MT"/>
              </a:rPr>
              <a:t> </a:t>
            </a:r>
            <a:r>
              <a:rPr sz="1800" dirty="0">
                <a:solidFill>
                  <a:srgbClr val="333333"/>
                </a:solidFill>
                <a:latin typeface="Arial MT"/>
                <a:cs typeface="Arial MT"/>
              </a:rPr>
              <a:t>cancel</a:t>
            </a:r>
            <a:r>
              <a:rPr sz="1800" spc="-15" dirty="0">
                <a:solidFill>
                  <a:srgbClr val="333333"/>
                </a:solidFill>
                <a:latin typeface="Arial MT"/>
                <a:cs typeface="Arial MT"/>
              </a:rPr>
              <a:t> </a:t>
            </a:r>
            <a:r>
              <a:rPr sz="1800" dirty="0">
                <a:solidFill>
                  <a:srgbClr val="333333"/>
                </a:solidFill>
                <a:latin typeface="Arial MT"/>
                <a:cs typeface="Arial MT"/>
              </a:rPr>
              <a:t>according</a:t>
            </a:r>
            <a:r>
              <a:rPr sz="1800" spc="-15" dirty="0">
                <a:solidFill>
                  <a:srgbClr val="333333"/>
                </a:solidFill>
                <a:latin typeface="Arial MT"/>
                <a:cs typeface="Arial MT"/>
              </a:rPr>
              <a:t> </a:t>
            </a:r>
            <a:r>
              <a:rPr sz="1800" dirty="0">
                <a:solidFill>
                  <a:srgbClr val="333333"/>
                </a:solidFill>
                <a:latin typeface="Arial MT"/>
                <a:cs typeface="Arial MT"/>
              </a:rPr>
              <a:t>to</a:t>
            </a:r>
            <a:r>
              <a:rPr sz="1800" spc="-15" dirty="0">
                <a:solidFill>
                  <a:srgbClr val="333333"/>
                </a:solidFill>
                <a:latin typeface="Arial MT"/>
                <a:cs typeface="Arial MT"/>
              </a:rPr>
              <a:t> </a:t>
            </a:r>
            <a:r>
              <a:rPr sz="1800" dirty="0">
                <a:solidFill>
                  <a:srgbClr val="333333"/>
                </a:solidFill>
                <a:latin typeface="Arial MT"/>
                <a:cs typeface="Arial MT"/>
              </a:rPr>
              <a:t>its</a:t>
            </a:r>
            <a:r>
              <a:rPr sz="1800" spc="-15" dirty="0">
                <a:solidFill>
                  <a:srgbClr val="333333"/>
                </a:solidFill>
                <a:latin typeface="Arial MT"/>
                <a:cs typeface="Arial MT"/>
              </a:rPr>
              <a:t> </a:t>
            </a:r>
            <a:r>
              <a:rPr sz="1800" dirty="0">
                <a:solidFill>
                  <a:srgbClr val="333333"/>
                </a:solidFill>
                <a:latin typeface="Arial MT"/>
                <a:cs typeface="Arial MT"/>
              </a:rPr>
              <a:t>cancelability</a:t>
            </a:r>
            <a:r>
              <a:rPr sz="1800" spc="-15" dirty="0">
                <a:solidFill>
                  <a:srgbClr val="333333"/>
                </a:solidFill>
                <a:latin typeface="Arial MT"/>
                <a:cs typeface="Arial MT"/>
              </a:rPr>
              <a:t> </a:t>
            </a:r>
            <a:r>
              <a:rPr sz="1800" spc="-10" dirty="0">
                <a:solidFill>
                  <a:srgbClr val="333333"/>
                </a:solidFill>
                <a:latin typeface="Arial MT"/>
                <a:cs typeface="Arial MT"/>
              </a:rPr>
              <a:t>state.</a:t>
            </a:r>
            <a:r>
              <a:rPr sz="1800" spc="-114" dirty="0">
                <a:solidFill>
                  <a:srgbClr val="333333"/>
                </a:solidFill>
                <a:latin typeface="Arial MT"/>
                <a:cs typeface="Arial MT"/>
              </a:rPr>
              <a:t> </a:t>
            </a:r>
            <a:r>
              <a:rPr sz="1800" dirty="0">
                <a:solidFill>
                  <a:srgbClr val="333333"/>
                </a:solidFill>
                <a:latin typeface="Arial MT"/>
                <a:cs typeface="Arial MT"/>
              </a:rPr>
              <a:t>As</a:t>
            </a:r>
            <a:r>
              <a:rPr sz="1800" spc="-15" dirty="0">
                <a:solidFill>
                  <a:srgbClr val="333333"/>
                </a:solidFill>
                <a:latin typeface="Arial MT"/>
                <a:cs typeface="Arial MT"/>
              </a:rPr>
              <a:t> </a:t>
            </a:r>
            <a:r>
              <a:rPr sz="1800" dirty="0">
                <a:solidFill>
                  <a:srgbClr val="333333"/>
                </a:solidFill>
                <a:latin typeface="Arial MT"/>
                <a:cs typeface="Arial MT"/>
              </a:rPr>
              <a:t>shown</a:t>
            </a:r>
            <a:r>
              <a:rPr sz="1800" spc="-15" dirty="0">
                <a:solidFill>
                  <a:srgbClr val="333333"/>
                </a:solidFill>
                <a:latin typeface="Arial MT"/>
                <a:cs typeface="Arial MT"/>
              </a:rPr>
              <a:t> </a:t>
            </a:r>
            <a:r>
              <a:rPr sz="1800" dirty="0">
                <a:solidFill>
                  <a:srgbClr val="333333"/>
                </a:solidFill>
                <a:latin typeface="Arial MT"/>
                <a:cs typeface="Arial MT"/>
              </a:rPr>
              <a:t>in</a:t>
            </a:r>
            <a:r>
              <a:rPr sz="1800" spc="-15" dirty="0">
                <a:solidFill>
                  <a:srgbClr val="333333"/>
                </a:solidFill>
                <a:latin typeface="Arial MT"/>
                <a:cs typeface="Arial MT"/>
              </a:rPr>
              <a:t> </a:t>
            </a:r>
            <a:r>
              <a:rPr sz="1800" dirty="0">
                <a:solidFill>
                  <a:srgbClr val="333333"/>
                </a:solidFill>
                <a:latin typeface="Arial MT"/>
                <a:cs typeface="Arial MT"/>
              </a:rPr>
              <a:t>the</a:t>
            </a:r>
            <a:r>
              <a:rPr sz="1800" spc="-15" dirty="0">
                <a:solidFill>
                  <a:srgbClr val="333333"/>
                </a:solidFill>
                <a:latin typeface="Arial MT"/>
                <a:cs typeface="Arial MT"/>
              </a:rPr>
              <a:t> </a:t>
            </a:r>
            <a:r>
              <a:rPr sz="1800" dirty="0">
                <a:solidFill>
                  <a:srgbClr val="333333"/>
                </a:solidFill>
                <a:latin typeface="Arial MT"/>
                <a:cs typeface="Arial MT"/>
              </a:rPr>
              <a:t>table</a:t>
            </a:r>
            <a:r>
              <a:rPr sz="1800" spc="-15" dirty="0">
                <a:solidFill>
                  <a:srgbClr val="333333"/>
                </a:solidFill>
                <a:latin typeface="Arial MT"/>
                <a:cs typeface="Arial MT"/>
              </a:rPr>
              <a:t> </a:t>
            </a:r>
            <a:r>
              <a:rPr sz="1800" spc="-10" dirty="0">
                <a:solidFill>
                  <a:srgbClr val="333333"/>
                </a:solidFill>
                <a:latin typeface="Arial MT"/>
                <a:cs typeface="Arial MT"/>
              </a:rPr>
              <a:t>below:</a:t>
            </a:r>
            <a:endParaRPr sz="1800" dirty="0">
              <a:latin typeface="Arial MT"/>
              <a:cs typeface="Arial MT"/>
            </a:endParaRPr>
          </a:p>
        </p:txBody>
      </p:sp>
      <p:grpSp>
        <p:nvGrpSpPr>
          <p:cNvPr id="17" name="Group 16">
            <a:extLst>
              <a:ext uri="{FF2B5EF4-FFF2-40B4-BE49-F238E27FC236}">
                <a16:creationId xmlns:a16="http://schemas.microsoft.com/office/drawing/2014/main" id="{18BB9FE3-4171-B164-FABE-C429E077C9DF}"/>
              </a:ext>
              <a:ext uri="{C183D7F6-B498-43B3-948B-1728B52AA6E4}">
                <adec:decorative xmlns:adec="http://schemas.microsoft.com/office/drawing/2017/decorative" val="1"/>
              </a:ext>
            </a:extLst>
          </p:cNvPr>
          <p:cNvGrpSpPr/>
          <p:nvPr/>
        </p:nvGrpSpPr>
        <p:grpSpPr>
          <a:xfrm>
            <a:off x="512496" y="3238472"/>
            <a:ext cx="8795233" cy="2324128"/>
            <a:chOff x="512496" y="3186517"/>
            <a:chExt cx="8795233" cy="2324128"/>
          </a:xfrm>
        </p:grpSpPr>
        <p:pic>
          <p:nvPicPr>
            <p:cNvPr id="18" name="object 3">
              <a:extLst>
                <a:ext uri="{FF2B5EF4-FFF2-40B4-BE49-F238E27FC236}">
                  <a16:creationId xmlns:a16="http://schemas.microsoft.com/office/drawing/2014/main" id="{B05D4703-ABEA-FCB3-A8D9-61A6659B944C}"/>
                </a:ext>
                <a:ext uri="{C183D7F6-B498-43B3-948B-1728B52AA6E4}">
                  <adec:decorative xmlns:adec="http://schemas.microsoft.com/office/drawing/2017/decorative" val="1"/>
                </a:ext>
              </a:extLst>
            </p:cNvPr>
            <p:cNvPicPr/>
            <p:nvPr/>
          </p:nvPicPr>
          <p:blipFill>
            <a:blip r:embed="rId2" cstate="print"/>
            <a:stretch>
              <a:fillRect/>
            </a:stretch>
          </p:blipFill>
          <p:spPr>
            <a:xfrm>
              <a:off x="512496" y="3186517"/>
              <a:ext cx="8795233" cy="2324128"/>
            </a:xfrm>
            <a:prstGeom prst="rect">
              <a:avLst/>
            </a:prstGeom>
          </p:spPr>
        </p:pic>
        <p:sp>
          <p:nvSpPr>
            <p:cNvPr id="19" name="object 13">
              <a:extLst>
                <a:ext uri="{FF2B5EF4-FFF2-40B4-BE49-F238E27FC236}">
                  <a16:creationId xmlns:a16="http://schemas.microsoft.com/office/drawing/2014/main" id="{F3301689-D316-A80A-354E-5486C7CC99CA}"/>
                </a:ext>
              </a:extLst>
            </p:cNvPr>
            <p:cNvSpPr txBox="1"/>
            <p:nvPr/>
          </p:nvSpPr>
          <p:spPr>
            <a:xfrm>
              <a:off x="2524349" y="4618125"/>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sp>
          <p:nvSpPr>
            <p:cNvPr id="20" name="object 14">
              <a:extLst>
                <a:ext uri="{FF2B5EF4-FFF2-40B4-BE49-F238E27FC236}">
                  <a16:creationId xmlns:a16="http://schemas.microsoft.com/office/drawing/2014/main" id="{9D52EADF-B212-A628-381A-16C4DF589ED9}"/>
                </a:ext>
              </a:extLst>
            </p:cNvPr>
            <p:cNvSpPr txBox="1"/>
            <p:nvPr/>
          </p:nvSpPr>
          <p:spPr>
            <a:xfrm>
              <a:off x="2524349" y="5070349"/>
              <a:ext cx="2683510" cy="385445"/>
            </a:xfrm>
            <a:prstGeom prst="rect">
              <a:avLst/>
            </a:prstGeom>
            <a:solidFill>
              <a:srgbClr val="F3F3F3"/>
            </a:solidFill>
          </p:spPr>
          <p:txBody>
            <a:bodyPr vert="horz" wrap="square" lIns="0" tIns="78740" rIns="0" bIns="0" rtlCol="0">
              <a:spAutoFit/>
            </a:bodyPr>
            <a:lstStyle/>
            <a:p>
              <a:pPr marL="85725">
                <a:lnSpc>
                  <a:spcPct val="100000"/>
                </a:lnSpc>
                <a:spcBef>
                  <a:spcPts val="620"/>
                </a:spcBef>
              </a:pPr>
              <a:r>
                <a:rPr sz="1300" spc="-10" dirty="0">
                  <a:solidFill>
                    <a:srgbClr val="0F2044"/>
                  </a:solidFill>
                  <a:latin typeface="Arial MT"/>
                  <a:cs typeface="Arial MT"/>
                </a:rPr>
                <a:t>PTHREAD_CANCEL_ENABLE</a:t>
              </a:r>
              <a:endParaRPr sz="1300">
                <a:latin typeface="Arial MT"/>
                <a:cs typeface="Arial MT"/>
              </a:endParaRPr>
            </a:p>
          </p:txBody>
        </p:sp>
      </p:grpSp>
      <p:grpSp>
        <p:nvGrpSpPr>
          <p:cNvPr id="9" name="object 9">
            <a:extLst>
              <a:ext uri="{C183D7F6-B498-43B3-948B-1728B52AA6E4}">
                <adec:decorative xmlns:adec="http://schemas.microsoft.com/office/drawing/2017/decorative" val="1"/>
              </a:ext>
            </a:extLst>
          </p:cNvPr>
          <p:cNvGrpSpPr/>
          <p:nvPr/>
        </p:nvGrpSpPr>
        <p:grpSpPr>
          <a:xfrm>
            <a:off x="9476587" y="3352800"/>
            <a:ext cx="1117600" cy="2082164"/>
            <a:chOff x="9476587" y="3290962"/>
            <a:chExt cx="1117600" cy="2082164"/>
          </a:xfrm>
        </p:grpSpPr>
        <p:sp>
          <p:nvSpPr>
            <p:cNvPr id="10" name="object 10"/>
            <p:cNvSpPr/>
            <p:nvPr/>
          </p:nvSpPr>
          <p:spPr>
            <a:xfrm>
              <a:off x="9481349" y="3295724"/>
              <a:ext cx="1108075" cy="2072639"/>
            </a:xfrm>
            <a:custGeom>
              <a:avLst/>
              <a:gdLst/>
              <a:ahLst/>
              <a:cxnLst/>
              <a:rect l="l" t="t" r="r" b="b"/>
              <a:pathLst>
                <a:path w="1108075" h="2072639">
                  <a:moveTo>
                    <a:pt x="973799" y="2072399"/>
                  </a:moveTo>
                  <a:lnTo>
                    <a:pt x="0" y="2072399"/>
                  </a:lnTo>
                  <a:lnTo>
                    <a:pt x="0" y="1795424"/>
                  </a:lnTo>
                  <a:lnTo>
                    <a:pt x="696824" y="1795424"/>
                  </a:lnTo>
                  <a:lnTo>
                    <a:pt x="696824" y="276974"/>
                  </a:lnTo>
                  <a:lnTo>
                    <a:pt x="562724" y="276974"/>
                  </a:lnTo>
                  <a:lnTo>
                    <a:pt x="835312" y="0"/>
                  </a:lnTo>
                  <a:lnTo>
                    <a:pt x="1107899" y="276974"/>
                  </a:lnTo>
                  <a:lnTo>
                    <a:pt x="973799" y="276974"/>
                  </a:lnTo>
                  <a:lnTo>
                    <a:pt x="973799" y="2072399"/>
                  </a:lnTo>
                  <a:close/>
                </a:path>
              </a:pathLst>
            </a:custGeom>
            <a:solidFill>
              <a:srgbClr val="CEE1F3"/>
            </a:solidFill>
          </p:spPr>
          <p:txBody>
            <a:bodyPr wrap="square" lIns="0" tIns="0" rIns="0" bIns="0" rtlCol="0"/>
            <a:lstStyle/>
            <a:p>
              <a:endParaRPr/>
            </a:p>
          </p:txBody>
        </p:sp>
        <p:sp>
          <p:nvSpPr>
            <p:cNvPr id="11" name="object 11"/>
            <p:cNvSpPr/>
            <p:nvPr/>
          </p:nvSpPr>
          <p:spPr>
            <a:xfrm>
              <a:off x="9481349" y="3295724"/>
              <a:ext cx="1108075" cy="2072639"/>
            </a:xfrm>
            <a:custGeom>
              <a:avLst/>
              <a:gdLst/>
              <a:ahLst/>
              <a:cxnLst/>
              <a:rect l="l" t="t" r="r" b="b"/>
              <a:pathLst>
                <a:path w="1108075" h="2072639">
                  <a:moveTo>
                    <a:pt x="0" y="1795424"/>
                  </a:moveTo>
                  <a:lnTo>
                    <a:pt x="696824" y="1795424"/>
                  </a:lnTo>
                  <a:lnTo>
                    <a:pt x="696824" y="276974"/>
                  </a:lnTo>
                  <a:lnTo>
                    <a:pt x="562724" y="276974"/>
                  </a:lnTo>
                  <a:lnTo>
                    <a:pt x="835312" y="0"/>
                  </a:lnTo>
                  <a:lnTo>
                    <a:pt x="1107899" y="276974"/>
                  </a:lnTo>
                  <a:lnTo>
                    <a:pt x="973799" y="276974"/>
                  </a:lnTo>
                  <a:lnTo>
                    <a:pt x="973799" y="2072399"/>
                  </a:lnTo>
                  <a:lnTo>
                    <a:pt x="0" y="2072399"/>
                  </a:lnTo>
                  <a:lnTo>
                    <a:pt x="0" y="1795424"/>
                  </a:lnTo>
                  <a:close/>
                </a:path>
              </a:pathLst>
            </a:custGeom>
            <a:ln w="9524">
              <a:solidFill>
                <a:srgbClr val="0F2044"/>
              </a:solidFill>
            </a:ln>
          </p:spPr>
          <p:txBody>
            <a:bodyPr wrap="square" lIns="0" tIns="0" rIns="0" bIns="0" rtlCol="0"/>
            <a:lstStyle/>
            <a:p>
              <a:endParaRPr/>
            </a:p>
          </p:txBody>
        </p:sp>
      </p:grpSp>
      <p:sp>
        <p:nvSpPr>
          <p:cNvPr id="12" name="object 12"/>
          <p:cNvSpPr txBox="1"/>
          <p:nvPr/>
        </p:nvSpPr>
        <p:spPr>
          <a:xfrm>
            <a:off x="7898500" y="1447800"/>
            <a:ext cx="4149090" cy="1737270"/>
          </a:xfrm>
          <a:prstGeom prst="rect">
            <a:avLst/>
          </a:prstGeom>
          <a:solidFill>
            <a:srgbClr val="EAD1DC"/>
          </a:solidFill>
          <a:ln w="12700">
            <a:solidFill>
              <a:schemeClr val="dk1">
                <a:shade val="95000"/>
                <a:satMod val="105000"/>
              </a:schemeClr>
            </a:solidFill>
          </a:ln>
        </p:spPr>
        <p:txBody>
          <a:bodyPr vert="horz" wrap="square" lIns="0" tIns="91440" rIns="0" bIns="91440" rtlCol="0">
            <a:spAutoFit/>
          </a:bodyPr>
          <a:lstStyle/>
          <a:p>
            <a:pPr marL="85725" marR="81280">
              <a:lnSpc>
                <a:spcPct val="114000"/>
              </a:lnSpc>
              <a:spcBef>
                <a:spcPts val="600"/>
              </a:spcBef>
            </a:pP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thread</a:t>
            </a:r>
            <a:r>
              <a:rPr sz="1800" spc="-15" dirty="0">
                <a:solidFill>
                  <a:srgbClr val="0F2044"/>
                </a:solidFill>
                <a:latin typeface="Arial MT"/>
                <a:cs typeface="Arial MT"/>
              </a:rPr>
              <a:t> </a:t>
            </a:r>
            <a:r>
              <a:rPr sz="1800" dirty="0">
                <a:solidFill>
                  <a:srgbClr val="0F2044"/>
                </a:solidFill>
                <a:latin typeface="Arial MT"/>
                <a:cs typeface="Arial MT"/>
              </a:rPr>
              <a:t>can</a:t>
            </a:r>
            <a:r>
              <a:rPr sz="1800" spc="-20" dirty="0">
                <a:solidFill>
                  <a:srgbClr val="0F2044"/>
                </a:solidFill>
                <a:latin typeface="Arial MT"/>
                <a:cs typeface="Arial MT"/>
              </a:rPr>
              <a:t> </a:t>
            </a:r>
            <a:r>
              <a:rPr sz="1800" dirty="0">
                <a:solidFill>
                  <a:srgbClr val="0F2044"/>
                </a:solidFill>
                <a:latin typeface="Arial MT"/>
                <a:cs typeface="Arial MT"/>
              </a:rPr>
              <a:t>be</a:t>
            </a:r>
            <a:r>
              <a:rPr sz="1800" spc="-15" dirty="0">
                <a:solidFill>
                  <a:srgbClr val="0F2044"/>
                </a:solidFill>
                <a:latin typeface="Arial MT"/>
                <a:cs typeface="Arial MT"/>
              </a:rPr>
              <a:t> </a:t>
            </a:r>
            <a:r>
              <a:rPr sz="1800" spc="-10" dirty="0">
                <a:solidFill>
                  <a:srgbClr val="0F2044"/>
                </a:solidFill>
                <a:latin typeface="Arial MT"/>
                <a:cs typeface="Arial MT"/>
              </a:rPr>
              <a:t>cancelled immediately,</a:t>
            </a:r>
            <a:r>
              <a:rPr sz="1800" spc="-35" dirty="0">
                <a:solidFill>
                  <a:srgbClr val="0F2044"/>
                </a:solidFill>
                <a:latin typeface="Arial MT"/>
                <a:cs typeface="Arial MT"/>
              </a:rPr>
              <a:t> </a:t>
            </a:r>
            <a:r>
              <a:rPr sz="1800" dirty="0">
                <a:solidFill>
                  <a:srgbClr val="0F2044"/>
                </a:solidFill>
                <a:latin typeface="Arial MT"/>
                <a:cs typeface="Arial MT"/>
              </a:rPr>
              <a:t>allowing</a:t>
            </a:r>
            <a:r>
              <a:rPr sz="1800" spc="-25" dirty="0">
                <a:solidFill>
                  <a:srgbClr val="0F2044"/>
                </a:solidFill>
                <a:latin typeface="Arial MT"/>
                <a:cs typeface="Arial MT"/>
              </a:rPr>
              <a:t> </a:t>
            </a:r>
            <a:r>
              <a:rPr sz="1800" dirty="0">
                <a:solidFill>
                  <a:srgbClr val="0F2044"/>
                </a:solidFill>
                <a:latin typeface="Arial MT"/>
                <a:cs typeface="Arial MT"/>
              </a:rPr>
              <a:t>an</a:t>
            </a:r>
            <a:r>
              <a:rPr sz="1800" spc="-20" dirty="0">
                <a:solidFill>
                  <a:srgbClr val="0F2044"/>
                </a:solidFill>
                <a:latin typeface="Arial MT"/>
                <a:cs typeface="Arial MT"/>
              </a:rPr>
              <a:t> </a:t>
            </a:r>
            <a:r>
              <a:rPr sz="1800" spc="-10" dirty="0">
                <a:solidFill>
                  <a:srgbClr val="0F2044"/>
                </a:solidFill>
                <a:latin typeface="Arial MT"/>
                <a:cs typeface="Arial MT"/>
              </a:rPr>
              <a:t>immediate </a:t>
            </a:r>
            <a:r>
              <a:rPr sz="1800" dirty="0">
                <a:solidFill>
                  <a:srgbClr val="0F2044"/>
                </a:solidFill>
                <a:latin typeface="Arial MT"/>
                <a:cs typeface="Arial MT"/>
              </a:rPr>
              <a:t>response</a:t>
            </a:r>
            <a:r>
              <a:rPr sz="1800" spc="-35" dirty="0">
                <a:solidFill>
                  <a:srgbClr val="0F2044"/>
                </a:solidFill>
                <a:latin typeface="Arial MT"/>
                <a:cs typeface="Arial MT"/>
              </a:rPr>
              <a:t> </a:t>
            </a:r>
            <a:r>
              <a:rPr sz="1800" dirty="0">
                <a:solidFill>
                  <a:srgbClr val="0F2044"/>
                </a:solidFill>
                <a:latin typeface="Arial MT"/>
                <a:cs typeface="Arial MT"/>
              </a:rPr>
              <a:t>to</a:t>
            </a:r>
            <a:r>
              <a:rPr sz="1800" spc="-30" dirty="0">
                <a:solidFill>
                  <a:srgbClr val="0F2044"/>
                </a:solidFill>
                <a:latin typeface="Arial MT"/>
                <a:cs typeface="Arial MT"/>
              </a:rPr>
              <a:t> </a:t>
            </a:r>
            <a:r>
              <a:rPr sz="1800" dirty="0">
                <a:solidFill>
                  <a:srgbClr val="0F2044"/>
                </a:solidFill>
                <a:latin typeface="Arial MT"/>
                <a:cs typeface="Arial MT"/>
              </a:rPr>
              <a:t>a</a:t>
            </a:r>
            <a:r>
              <a:rPr sz="1800" spc="-30" dirty="0">
                <a:solidFill>
                  <a:srgbClr val="0F2044"/>
                </a:solidFill>
                <a:latin typeface="Arial MT"/>
                <a:cs typeface="Arial MT"/>
              </a:rPr>
              <a:t> </a:t>
            </a:r>
            <a:r>
              <a:rPr sz="1800" dirty="0">
                <a:solidFill>
                  <a:srgbClr val="0F2044"/>
                </a:solidFill>
                <a:latin typeface="Arial MT"/>
                <a:cs typeface="Arial MT"/>
              </a:rPr>
              <a:t>cancellation</a:t>
            </a:r>
            <a:r>
              <a:rPr sz="1800" spc="-30" dirty="0">
                <a:solidFill>
                  <a:srgbClr val="0F2044"/>
                </a:solidFill>
                <a:latin typeface="Arial MT"/>
                <a:cs typeface="Arial MT"/>
              </a:rPr>
              <a:t> </a:t>
            </a:r>
            <a:r>
              <a:rPr sz="1800" dirty="0">
                <a:solidFill>
                  <a:srgbClr val="0F2044"/>
                </a:solidFill>
                <a:latin typeface="Arial MT"/>
                <a:cs typeface="Arial MT"/>
              </a:rPr>
              <a:t>request,</a:t>
            </a:r>
            <a:r>
              <a:rPr sz="1800" spc="-30" dirty="0">
                <a:solidFill>
                  <a:srgbClr val="0F2044"/>
                </a:solidFill>
                <a:latin typeface="Arial MT"/>
                <a:cs typeface="Arial MT"/>
              </a:rPr>
              <a:t> </a:t>
            </a:r>
            <a:r>
              <a:rPr sz="1800" spc="-25" dirty="0">
                <a:solidFill>
                  <a:srgbClr val="0F2044"/>
                </a:solidFill>
                <a:latin typeface="Arial MT"/>
                <a:cs typeface="Arial MT"/>
              </a:rPr>
              <a:t>but </a:t>
            </a:r>
            <a:r>
              <a:rPr sz="1800" dirty="0">
                <a:solidFill>
                  <a:srgbClr val="0F2044"/>
                </a:solidFill>
                <a:latin typeface="Arial MT"/>
                <a:cs typeface="Arial MT"/>
              </a:rPr>
              <a:t>this</a:t>
            </a:r>
            <a:r>
              <a:rPr sz="1800" spc="-30" dirty="0">
                <a:solidFill>
                  <a:srgbClr val="0F2044"/>
                </a:solidFill>
                <a:latin typeface="Arial MT"/>
                <a:cs typeface="Arial MT"/>
              </a:rPr>
              <a:t> </a:t>
            </a:r>
            <a:r>
              <a:rPr sz="1800" dirty="0">
                <a:solidFill>
                  <a:srgbClr val="0F2044"/>
                </a:solidFill>
                <a:latin typeface="Arial MT"/>
                <a:cs typeface="Arial MT"/>
              </a:rPr>
              <a:t>approach</a:t>
            </a:r>
            <a:r>
              <a:rPr sz="1800" spc="-15" dirty="0">
                <a:solidFill>
                  <a:srgbClr val="0F2044"/>
                </a:solidFill>
                <a:latin typeface="Arial MT"/>
                <a:cs typeface="Arial MT"/>
              </a:rPr>
              <a:t> </a:t>
            </a:r>
            <a:r>
              <a:rPr sz="1800" dirty="0">
                <a:solidFill>
                  <a:srgbClr val="0F2044"/>
                </a:solidFill>
                <a:latin typeface="Arial MT"/>
                <a:cs typeface="Arial MT"/>
              </a:rPr>
              <a:t>can</a:t>
            </a:r>
            <a:r>
              <a:rPr sz="1800" spc="-15" dirty="0">
                <a:solidFill>
                  <a:srgbClr val="0F2044"/>
                </a:solidFill>
                <a:latin typeface="Arial MT"/>
                <a:cs typeface="Arial MT"/>
              </a:rPr>
              <a:t> </a:t>
            </a:r>
            <a:r>
              <a:rPr sz="1800" dirty="0">
                <a:solidFill>
                  <a:srgbClr val="0F2044"/>
                </a:solidFill>
                <a:latin typeface="Arial MT"/>
                <a:cs typeface="Arial MT"/>
              </a:rPr>
              <a:t>be</a:t>
            </a:r>
            <a:r>
              <a:rPr sz="1800" spc="-20" dirty="0">
                <a:solidFill>
                  <a:srgbClr val="0F2044"/>
                </a:solidFill>
                <a:latin typeface="Arial MT"/>
                <a:cs typeface="Arial MT"/>
              </a:rPr>
              <a:t> </a:t>
            </a:r>
            <a:r>
              <a:rPr sz="1800" dirty="0">
                <a:solidFill>
                  <a:srgbClr val="0F2044"/>
                </a:solidFill>
                <a:latin typeface="Arial MT"/>
                <a:cs typeface="Arial MT"/>
              </a:rPr>
              <a:t>unsafe</a:t>
            </a:r>
            <a:r>
              <a:rPr sz="1800" spc="-15" dirty="0">
                <a:solidFill>
                  <a:srgbClr val="0F2044"/>
                </a:solidFill>
                <a:latin typeface="Arial MT"/>
                <a:cs typeface="Arial MT"/>
              </a:rPr>
              <a:t> </a:t>
            </a:r>
            <a:r>
              <a:rPr sz="1800" dirty="0">
                <a:solidFill>
                  <a:srgbClr val="0F2044"/>
                </a:solidFill>
                <a:latin typeface="Arial MT"/>
                <a:cs typeface="Arial MT"/>
              </a:rPr>
              <a:t>as</a:t>
            </a:r>
            <a:r>
              <a:rPr sz="1800" spc="-15" dirty="0">
                <a:solidFill>
                  <a:srgbClr val="0F2044"/>
                </a:solidFill>
                <a:latin typeface="Arial MT"/>
                <a:cs typeface="Arial MT"/>
              </a:rPr>
              <a:t> </a:t>
            </a:r>
            <a:r>
              <a:rPr sz="1800" dirty="0">
                <a:solidFill>
                  <a:srgbClr val="0F2044"/>
                </a:solidFill>
                <a:latin typeface="Arial MT"/>
                <a:cs typeface="Arial MT"/>
              </a:rPr>
              <a:t>it</a:t>
            </a:r>
            <a:r>
              <a:rPr sz="1800" spc="-15" dirty="0">
                <a:solidFill>
                  <a:srgbClr val="0F2044"/>
                </a:solidFill>
                <a:latin typeface="Arial MT"/>
                <a:cs typeface="Arial MT"/>
              </a:rPr>
              <a:t> </a:t>
            </a:r>
            <a:r>
              <a:rPr sz="1800" spc="-10" dirty="0">
                <a:solidFill>
                  <a:srgbClr val="0F2044"/>
                </a:solidFill>
                <a:latin typeface="Arial MT"/>
                <a:cs typeface="Arial MT"/>
              </a:rPr>
              <a:t>might </a:t>
            </a:r>
            <a:r>
              <a:rPr sz="1800" dirty="0">
                <a:solidFill>
                  <a:srgbClr val="0F2044"/>
                </a:solidFill>
                <a:latin typeface="Arial MT"/>
                <a:cs typeface="Arial MT"/>
              </a:rPr>
              <a:t>interrupt</a:t>
            </a:r>
            <a:r>
              <a:rPr sz="1800" spc="-45" dirty="0">
                <a:solidFill>
                  <a:srgbClr val="0F2044"/>
                </a:solidFill>
                <a:latin typeface="Arial MT"/>
                <a:cs typeface="Arial MT"/>
              </a:rPr>
              <a:t> </a:t>
            </a:r>
            <a:r>
              <a:rPr sz="1800" dirty="0">
                <a:solidFill>
                  <a:srgbClr val="0F2044"/>
                </a:solidFill>
                <a:latin typeface="Arial MT"/>
                <a:cs typeface="Arial MT"/>
              </a:rPr>
              <a:t>critical</a:t>
            </a:r>
            <a:r>
              <a:rPr sz="1800" spc="-35" dirty="0">
                <a:solidFill>
                  <a:srgbClr val="0F2044"/>
                </a:solidFill>
                <a:latin typeface="Arial MT"/>
                <a:cs typeface="Arial MT"/>
              </a:rPr>
              <a:t> </a:t>
            </a:r>
            <a:r>
              <a:rPr sz="1800" dirty="0">
                <a:solidFill>
                  <a:srgbClr val="0F2044"/>
                </a:solidFill>
                <a:latin typeface="Arial MT"/>
                <a:cs typeface="Arial MT"/>
              </a:rPr>
              <a:t>code</a:t>
            </a:r>
            <a:r>
              <a:rPr sz="1800" spc="-35" dirty="0">
                <a:solidFill>
                  <a:srgbClr val="0F2044"/>
                </a:solidFill>
                <a:latin typeface="Arial MT"/>
                <a:cs typeface="Arial MT"/>
              </a:rPr>
              <a:t> </a:t>
            </a:r>
            <a:r>
              <a:rPr sz="1800" spc="-10" dirty="0">
                <a:solidFill>
                  <a:srgbClr val="0F2044"/>
                </a:solidFill>
                <a:latin typeface="Arial MT"/>
                <a:cs typeface="Arial MT"/>
              </a:rPr>
              <a:t>execution.</a:t>
            </a:r>
            <a:endParaRPr sz="1800" dirty="0">
              <a:latin typeface="Arial MT"/>
              <a:cs typeface="Arial M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0375" y="1435436"/>
            <a:ext cx="3552025"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dirty="0"/>
          </a:p>
        </p:txBody>
      </p:sp>
      <p:sp>
        <p:nvSpPr>
          <p:cNvPr id="4" name="object 4"/>
          <p:cNvSpPr txBox="1"/>
          <p:nvPr/>
        </p:nvSpPr>
        <p:spPr>
          <a:xfrm>
            <a:off x="475375" y="3130283"/>
            <a:ext cx="3328035" cy="1602740"/>
          </a:xfrm>
          <a:prstGeom prst="rect">
            <a:avLst/>
          </a:prstGeom>
        </p:spPr>
        <p:txBody>
          <a:bodyPr vert="horz" wrap="square" lIns="0" tIns="12700" rIns="0" bIns="0" rtlCol="0">
            <a:spAutoFit/>
          </a:bodyPr>
          <a:lstStyle/>
          <a:p>
            <a:pPr marL="12700" marR="5080">
              <a:lnSpc>
                <a:spcPct val="114999"/>
              </a:lnSpc>
              <a:spcBef>
                <a:spcPts val="100"/>
              </a:spcBef>
            </a:pPr>
            <a:r>
              <a:rPr sz="1800" dirty="0">
                <a:latin typeface="Arial MT"/>
                <a:cs typeface="Arial MT"/>
              </a:rPr>
              <a:t>The</a:t>
            </a:r>
            <a:r>
              <a:rPr sz="1800" spc="20" dirty="0">
                <a:latin typeface="Arial MT"/>
                <a:cs typeface="Arial MT"/>
              </a:rPr>
              <a:t> </a:t>
            </a:r>
            <a:r>
              <a:rPr sz="1800" b="1" spc="-10" dirty="0">
                <a:solidFill>
                  <a:srgbClr val="188037"/>
                </a:solidFill>
                <a:latin typeface="Courier New"/>
                <a:cs typeface="Courier New"/>
              </a:rPr>
              <a:t>pthread_cancel</a:t>
            </a:r>
            <a:r>
              <a:rPr sz="1800" b="1" spc="-545" dirty="0">
                <a:solidFill>
                  <a:srgbClr val="188037"/>
                </a:solidFill>
                <a:latin typeface="Courier New"/>
                <a:cs typeface="Courier New"/>
              </a:rPr>
              <a:t> </a:t>
            </a:r>
            <a:r>
              <a:rPr sz="1800" spc="-10" dirty="0">
                <a:latin typeface="Arial MT"/>
                <a:cs typeface="Arial MT"/>
              </a:rPr>
              <a:t>function </a:t>
            </a:r>
            <a:r>
              <a:rPr sz="1800" dirty="0">
                <a:latin typeface="Arial MT"/>
                <a:cs typeface="Arial MT"/>
              </a:rPr>
              <a:t>allows</a:t>
            </a:r>
            <a:r>
              <a:rPr sz="1800" spc="-15" dirty="0">
                <a:latin typeface="Arial MT"/>
                <a:cs typeface="Arial MT"/>
              </a:rPr>
              <a:t> </a:t>
            </a:r>
            <a:r>
              <a:rPr sz="1800" dirty="0">
                <a:latin typeface="Arial MT"/>
                <a:cs typeface="Arial MT"/>
              </a:rPr>
              <a:t>one</a:t>
            </a:r>
            <a:r>
              <a:rPr sz="1800" spc="-15"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to</a:t>
            </a:r>
            <a:r>
              <a:rPr sz="1800" spc="-15" dirty="0">
                <a:latin typeface="Arial MT"/>
                <a:cs typeface="Arial MT"/>
              </a:rPr>
              <a:t> </a:t>
            </a:r>
            <a:r>
              <a:rPr sz="1800" spc="-10" dirty="0">
                <a:latin typeface="Arial MT"/>
                <a:cs typeface="Arial MT"/>
              </a:rPr>
              <a:t>request </a:t>
            </a:r>
            <a:r>
              <a:rPr sz="1800" dirty="0">
                <a:latin typeface="Arial MT"/>
                <a:cs typeface="Arial MT"/>
              </a:rPr>
              <a:t>cancellation</a:t>
            </a:r>
            <a:r>
              <a:rPr sz="1800" spc="-3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another</a:t>
            </a:r>
            <a:r>
              <a:rPr sz="1800" spc="-25" dirty="0">
                <a:latin typeface="Arial MT"/>
                <a:cs typeface="Arial MT"/>
              </a:rPr>
              <a:t> </a:t>
            </a:r>
            <a:r>
              <a:rPr sz="1800" spc="-10" dirty="0">
                <a:latin typeface="Arial MT"/>
                <a:cs typeface="Arial MT"/>
              </a:rPr>
              <a:t>thread, </a:t>
            </a:r>
            <a:r>
              <a:rPr sz="1800" dirty="0">
                <a:latin typeface="Arial MT"/>
                <a:cs typeface="Arial MT"/>
              </a:rPr>
              <a:t>typically</a:t>
            </a:r>
            <a:r>
              <a:rPr sz="1800" spc="-20" dirty="0">
                <a:latin typeface="Arial MT"/>
                <a:cs typeface="Arial MT"/>
              </a:rPr>
              <a:t> </a:t>
            </a:r>
            <a:r>
              <a:rPr sz="1800" dirty="0">
                <a:latin typeface="Arial MT"/>
                <a:cs typeface="Arial MT"/>
              </a:rPr>
              <a:t>used</a:t>
            </a:r>
            <a:r>
              <a:rPr sz="1800" spc="-10" dirty="0">
                <a:latin typeface="Arial MT"/>
                <a:cs typeface="Arial MT"/>
              </a:rPr>
              <a:t> </a:t>
            </a:r>
            <a:r>
              <a:rPr sz="1800" dirty="0">
                <a:latin typeface="Arial MT"/>
                <a:cs typeface="Arial MT"/>
              </a:rPr>
              <a:t>for</a:t>
            </a:r>
            <a:r>
              <a:rPr sz="1800" spc="-10" dirty="0">
                <a:latin typeface="Arial MT"/>
                <a:cs typeface="Arial MT"/>
              </a:rPr>
              <a:t> long-</a:t>
            </a:r>
            <a:r>
              <a:rPr sz="1800" dirty="0">
                <a:latin typeface="Arial MT"/>
                <a:cs typeface="Arial MT"/>
              </a:rPr>
              <a:t>running</a:t>
            </a:r>
            <a:r>
              <a:rPr sz="1800" spc="-10" dirty="0">
                <a:latin typeface="Arial MT"/>
                <a:cs typeface="Arial MT"/>
              </a:rPr>
              <a:t> </a:t>
            </a:r>
            <a:r>
              <a:rPr sz="1800" spc="-25" dirty="0">
                <a:latin typeface="Arial MT"/>
                <a:cs typeface="Arial MT"/>
              </a:rPr>
              <a:t>or </a:t>
            </a:r>
            <a:r>
              <a:rPr sz="1800" dirty="0">
                <a:latin typeface="Arial MT"/>
                <a:cs typeface="Arial MT"/>
              </a:rPr>
              <a:t>blocking</a:t>
            </a:r>
            <a:r>
              <a:rPr sz="1800" spc="-40" dirty="0">
                <a:latin typeface="Arial MT"/>
                <a:cs typeface="Arial MT"/>
              </a:rPr>
              <a:t> </a:t>
            </a:r>
            <a:r>
              <a:rPr sz="1800" spc="-10" dirty="0">
                <a:latin typeface="Arial MT"/>
                <a:cs typeface="Arial MT"/>
              </a:rPr>
              <a:t>operations.</a:t>
            </a:r>
            <a:endParaRPr sz="1800" dirty="0">
              <a:latin typeface="Arial MT"/>
              <a:cs typeface="Arial MT"/>
            </a:endParaRPr>
          </a:p>
        </p:txBody>
      </p:sp>
      <p:pic>
        <p:nvPicPr>
          <p:cNvPr id="2" name="object 2" descr="A C program illustrating thread cancellation. The main function uses sleep(2) to let a thread run briefly before calling pthread_cancel to terminate it prematurely, followed by pthread_join to clean up."/>
          <p:cNvPicPr/>
          <p:nvPr/>
        </p:nvPicPr>
        <p:blipFill>
          <a:blip r:embed="rId3" cstate="print"/>
          <a:stretch>
            <a:fillRect/>
          </a:stretch>
        </p:blipFill>
        <p:spPr>
          <a:xfrm>
            <a:off x="4305599" y="1132227"/>
            <a:ext cx="7700625" cy="534512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E7CAB09A-58FC-9984-6ECB-1E3D91B1928C}"/>
              </a:ext>
            </a:extLst>
          </p:cNvPr>
          <p:cNvSpPr txBox="1">
            <a:spLocks noGrp="1"/>
          </p:cNvSpPr>
          <p:nvPr>
            <p:ph type="title"/>
          </p:nvPr>
        </p:nvSpPr>
        <p:spPr>
          <a:xfrm>
            <a:off x="410375" y="1435436"/>
            <a:ext cx="3552025" cy="662857"/>
          </a:xfrm>
          <a:prstGeom prst="rect">
            <a:avLst/>
          </a:prstGeom>
        </p:spPr>
        <p:txBody>
          <a:bodyPr vert="horz" wrap="square" lIns="0" tIns="12700" rIns="0" bIns="0" rtlCol="0">
            <a:spAutoFit/>
          </a:bodyPr>
          <a:lstStyle/>
          <a:p>
            <a:pPr marL="12700">
              <a:lnSpc>
                <a:spcPts val="2900"/>
              </a:lnSpc>
              <a:spcBef>
                <a:spcPts val="100"/>
              </a:spcBef>
            </a:pPr>
            <a:r>
              <a:rPr spc="-10" dirty="0"/>
              <a:t>Multithreading</a:t>
            </a:r>
            <a:r>
              <a:rPr spc="-70" dirty="0"/>
              <a:t> </a:t>
            </a:r>
            <a:r>
              <a:rPr dirty="0"/>
              <a:t>in</a:t>
            </a:r>
            <a:r>
              <a:rPr spc="-65" dirty="0"/>
              <a:t> </a:t>
            </a:r>
            <a:r>
              <a:rPr spc="-50" dirty="0"/>
              <a:t>C</a:t>
            </a:r>
          </a:p>
          <a:p>
            <a:pPr marL="12700">
              <a:lnSpc>
                <a:spcPts val="2060"/>
              </a:lnSpc>
            </a:pPr>
            <a:r>
              <a:rPr sz="1800" dirty="0"/>
              <a:t>Stopping</a:t>
            </a:r>
            <a:r>
              <a:rPr sz="1800" spc="-30" dirty="0"/>
              <a:t> </a:t>
            </a:r>
            <a:r>
              <a:rPr sz="1800" dirty="0"/>
              <a:t>a</a:t>
            </a:r>
            <a:r>
              <a:rPr sz="1800" spc="-25" dirty="0"/>
              <a:t> </a:t>
            </a:r>
            <a:r>
              <a:rPr sz="1800" spc="-10" dirty="0"/>
              <a:t>Thread</a:t>
            </a:r>
            <a:endParaRPr sz="1800" dirty="0"/>
          </a:p>
        </p:txBody>
      </p:sp>
      <p:sp>
        <p:nvSpPr>
          <p:cNvPr id="4" name="object 4"/>
          <p:cNvSpPr txBox="1"/>
          <p:nvPr/>
        </p:nvSpPr>
        <p:spPr>
          <a:xfrm>
            <a:off x="304800" y="2238542"/>
            <a:ext cx="3704425" cy="4143955"/>
          </a:xfrm>
          <a:prstGeom prst="rect">
            <a:avLst/>
          </a:prstGeom>
        </p:spPr>
        <p:txBody>
          <a:bodyPr vert="horz" wrap="square" lIns="0" tIns="12700" rIns="0" bIns="0" rtlCol="0">
            <a:spAutoFit/>
          </a:bodyPr>
          <a:lstStyle/>
          <a:p>
            <a:pPr marL="379095" marR="64135" indent="-359410">
              <a:lnSpc>
                <a:spcPct val="114999"/>
              </a:lnSpc>
              <a:spcBef>
                <a:spcPts val="1145"/>
              </a:spcBef>
              <a:spcAft>
                <a:spcPts val="1800"/>
              </a:spcAft>
              <a:buClr>
                <a:srgbClr val="000000"/>
              </a:buClr>
              <a:buFont typeface="Arial MT"/>
              <a:buChar char="●"/>
              <a:tabLst>
                <a:tab pos="379095" algn="l"/>
              </a:tabLst>
            </a:pPr>
            <a:r>
              <a:rPr sz="1700" b="1" spc="-20" dirty="0" err="1">
                <a:solidFill>
                  <a:srgbClr val="188037"/>
                </a:solidFill>
                <a:latin typeface="Courier New"/>
                <a:cs typeface="Courier New"/>
              </a:rPr>
              <a:t>pthread_cancel</a:t>
            </a:r>
            <a:r>
              <a:rPr sz="1700" b="1" spc="-545" dirty="0">
                <a:solidFill>
                  <a:srgbClr val="188037"/>
                </a:solidFill>
                <a:latin typeface="Courier New"/>
                <a:cs typeface="Courier New"/>
              </a:rPr>
              <a:t> </a:t>
            </a:r>
            <a:r>
              <a:rPr sz="1700" dirty="0">
                <a:latin typeface="Arial MT"/>
                <a:cs typeface="Arial MT"/>
              </a:rPr>
              <a:t>sends</a:t>
            </a:r>
            <a:r>
              <a:rPr sz="1700" spc="10" dirty="0">
                <a:latin typeface="Arial MT"/>
                <a:cs typeface="Arial MT"/>
              </a:rPr>
              <a:t> </a:t>
            </a:r>
            <a:r>
              <a:rPr sz="1700" spc="-50" dirty="0">
                <a:latin typeface="Arial MT"/>
                <a:cs typeface="Arial MT"/>
              </a:rPr>
              <a:t>a </a:t>
            </a:r>
            <a:r>
              <a:rPr sz="1700" spc="-10" dirty="0">
                <a:latin typeface="Arial MT"/>
                <a:cs typeface="Arial MT"/>
              </a:rPr>
              <a:t>cancellation</a:t>
            </a:r>
            <a:r>
              <a:rPr sz="1700" spc="-60" dirty="0">
                <a:latin typeface="Arial MT"/>
                <a:cs typeface="Arial MT"/>
              </a:rPr>
              <a:t> </a:t>
            </a:r>
            <a:r>
              <a:rPr sz="1700" dirty="0">
                <a:latin typeface="Arial MT"/>
                <a:cs typeface="Arial MT"/>
              </a:rPr>
              <a:t>request,</a:t>
            </a:r>
            <a:r>
              <a:rPr sz="1700" spc="-55" dirty="0">
                <a:latin typeface="Arial MT"/>
                <a:cs typeface="Arial MT"/>
              </a:rPr>
              <a:t> </a:t>
            </a:r>
            <a:r>
              <a:rPr sz="1700" dirty="0">
                <a:latin typeface="Arial MT"/>
                <a:cs typeface="Arial MT"/>
              </a:rPr>
              <a:t>but</a:t>
            </a:r>
            <a:r>
              <a:rPr sz="1700" spc="-60" dirty="0">
                <a:latin typeface="Arial MT"/>
                <a:cs typeface="Arial MT"/>
              </a:rPr>
              <a:t> </a:t>
            </a:r>
            <a:r>
              <a:rPr sz="1700" spc="-25" dirty="0">
                <a:latin typeface="Arial MT"/>
                <a:cs typeface="Arial MT"/>
              </a:rPr>
              <a:t>the </a:t>
            </a:r>
            <a:r>
              <a:rPr sz="1700" spc="-10" dirty="0">
                <a:latin typeface="Arial MT"/>
                <a:cs typeface="Arial MT"/>
              </a:rPr>
              <a:t>thread’s</a:t>
            </a:r>
            <a:r>
              <a:rPr sz="1700" spc="-65" dirty="0">
                <a:latin typeface="Arial MT"/>
                <a:cs typeface="Arial MT"/>
              </a:rPr>
              <a:t> </a:t>
            </a:r>
            <a:r>
              <a:rPr sz="1700" dirty="0">
                <a:latin typeface="Arial MT"/>
                <a:cs typeface="Arial MT"/>
              </a:rPr>
              <a:t>response</a:t>
            </a:r>
            <a:r>
              <a:rPr sz="1700" spc="-65" dirty="0">
                <a:latin typeface="Arial MT"/>
                <a:cs typeface="Arial MT"/>
              </a:rPr>
              <a:t> </a:t>
            </a:r>
            <a:r>
              <a:rPr sz="1700" dirty="0">
                <a:latin typeface="Arial MT"/>
                <a:cs typeface="Arial MT"/>
              </a:rPr>
              <a:t>depends</a:t>
            </a:r>
            <a:r>
              <a:rPr sz="1700" spc="-60" dirty="0">
                <a:latin typeface="Arial MT"/>
                <a:cs typeface="Arial MT"/>
              </a:rPr>
              <a:t> </a:t>
            </a:r>
            <a:r>
              <a:rPr sz="1700" dirty="0">
                <a:latin typeface="Arial MT"/>
                <a:cs typeface="Arial MT"/>
              </a:rPr>
              <a:t>on</a:t>
            </a:r>
            <a:r>
              <a:rPr sz="1700" spc="-65" dirty="0">
                <a:latin typeface="Arial MT"/>
                <a:cs typeface="Arial MT"/>
              </a:rPr>
              <a:t> </a:t>
            </a:r>
            <a:r>
              <a:rPr sz="1700" spc="-25" dirty="0">
                <a:latin typeface="Arial MT"/>
                <a:cs typeface="Arial MT"/>
              </a:rPr>
              <a:t>its </a:t>
            </a:r>
            <a:r>
              <a:rPr sz="1700" spc="-10" dirty="0">
                <a:latin typeface="Arial MT"/>
                <a:cs typeface="Arial MT"/>
              </a:rPr>
              <a:t>cancellation</a:t>
            </a:r>
            <a:r>
              <a:rPr sz="1700" spc="-30" dirty="0">
                <a:latin typeface="Arial MT"/>
                <a:cs typeface="Arial MT"/>
              </a:rPr>
              <a:t> </a:t>
            </a:r>
            <a:r>
              <a:rPr sz="1700" spc="-10" dirty="0">
                <a:latin typeface="Arial MT"/>
                <a:cs typeface="Arial MT"/>
              </a:rPr>
              <a:t>state.</a:t>
            </a:r>
            <a:endParaRPr sz="1700" dirty="0">
              <a:latin typeface="Arial MT"/>
              <a:cs typeface="Arial MT"/>
            </a:endParaRPr>
          </a:p>
          <a:p>
            <a:pPr marL="379095" marR="5080" indent="-359410">
              <a:lnSpc>
                <a:spcPct val="114999"/>
              </a:lnSpc>
              <a:spcBef>
                <a:spcPts val="5"/>
              </a:spcBef>
              <a:buFont typeface="Arial MT"/>
              <a:buChar char="●"/>
              <a:tabLst>
                <a:tab pos="379095" algn="l"/>
              </a:tabLst>
            </a:pPr>
            <a:r>
              <a:rPr sz="1700" b="1" dirty="0">
                <a:latin typeface="Arial"/>
                <a:cs typeface="Arial"/>
              </a:rPr>
              <a:t>Key</a:t>
            </a:r>
            <a:r>
              <a:rPr sz="1700" b="1" spc="-55" dirty="0">
                <a:latin typeface="Arial"/>
                <a:cs typeface="Arial"/>
              </a:rPr>
              <a:t> </a:t>
            </a:r>
            <a:r>
              <a:rPr sz="1700" b="1" dirty="0">
                <a:latin typeface="Arial"/>
                <a:cs typeface="Arial"/>
              </a:rPr>
              <a:t>Concept:</a:t>
            </a:r>
            <a:r>
              <a:rPr sz="1700" b="1" spc="-75" dirty="0">
                <a:latin typeface="Arial"/>
                <a:cs typeface="Arial"/>
              </a:rPr>
              <a:t> </a:t>
            </a:r>
            <a:r>
              <a:rPr sz="1700" dirty="0">
                <a:latin typeface="Arial MT"/>
                <a:cs typeface="Arial MT"/>
              </a:rPr>
              <a:t>Threads</a:t>
            </a:r>
            <a:r>
              <a:rPr sz="1700" spc="-50" dirty="0">
                <a:latin typeface="Arial MT"/>
                <a:cs typeface="Arial MT"/>
              </a:rPr>
              <a:t> </a:t>
            </a:r>
            <a:r>
              <a:rPr sz="1700" dirty="0">
                <a:latin typeface="Arial MT"/>
                <a:cs typeface="Arial MT"/>
              </a:rPr>
              <a:t>should</a:t>
            </a:r>
            <a:r>
              <a:rPr sz="1700" spc="-50" dirty="0">
                <a:latin typeface="Arial MT"/>
                <a:cs typeface="Arial MT"/>
              </a:rPr>
              <a:t> </a:t>
            </a:r>
            <a:r>
              <a:rPr sz="1700" spc="-25" dirty="0">
                <a:latin typeface="Arial MT"/>
                <a:cs typeface="Arial MT"/>
              </a:rPr>
              <a:t>be </a:t>
            </a:r>
            <a:r>
              <a:rPr sz="1700" dirty="0">
                <a:latin typeface="Arial MT"/>
                <a:cs typeface="Arial MT"/>
              </a:rPr>
              <a:t>designed</a:t>
            </a:r>
            <a:r>
              <a:rPr sz="1700" spc="-75" dirty="0">
                <a:latin typeface="Arial MT"/>
                <a:cs typeface="Arial MT"/>
              </a:rPr>
              <a:t> </a:t>
            </a:r>
            <a:r>
              <a:rPr sz="1700" dirty="0">
                <a:latin typeface="Arial MT"/>
                <a:cs typeface="Arial MT"/>
              </a:rPr>
              <a:t>to</a:t>
            </a:r>
            <a:r>
              <a:rPr sz="1700" spc="-70" dirty="0">
                <a:latin typeface="Arial MT"/>
                <a:cs typeface="Arial MT"/>
              </a:rPr>
              <a:t> </a:t>
            </a:r>
            <a:r>
              <a:rPr sz="1700" dirty="0">
                <a:latin typeface="Arial MT"/>
                <a:cs typeface="Arial MT"/>
              </a:rPr>
              <a:t>handle</a:t>
            </a:r>
            <a:r>
              <a:rPr sz="1700" spc="-70" dirty="0">
                <a:latin typeface="Arial MT"/>
                <a:cs typeface="Arial MT"/>
              </a:rPr>
              <a:t> </a:t>
            </a:r>
            <a:r>
              <a:rPr sz="1700" spc="-10" dirty="0">
                <a:latin typeface="Arial MT"/>
                <a:cs typeface="Arial MT"/>
              </a:rPr>
              <a:t>cancellations safely,</a:t>
            </a:r>
            <a:r>
              <a:rPr sz="1700" spc="-75" dirty="0">
                <a:latin typeface="Arial MT"/>
                <a:cs typeface="Arial MT"/>
              </a:rPr>
              <a:t> </a:t>
            </a:r>
            <a:r>
              <a:rPr sz="1700" dirty="0">
                <a:latin typeface="Arial MT"/>
                <a:cs typeface="Arial MT"/>
              </a:rPr>
              <a:t>particularly</a:t>
            </a:r>
            <a:r>
              <a:rPr sz="1700" spc="-70" dirty="0">
                <a:latin typeface="Arial MT"/>
                <a:cs typeface="Arial MT"/>
              </a:rPr>
              <a:t> </a:t>
            </a:r>
            <a:r>
              <a:rPr sz="1700" dirty="0">
                <a:latin typeface="Arial MT"/>
                <a:cs typeface="Arial MT"/>
              </a:rPr>
              <a:t>by</a:t>
            </a:r>
            <a:r>
              <a:rPr sz="1700" spc="-75" dirty="0">
                <a:latin typeface="Arial MT"/>
                <a:cs typeface="Arial MT"/>
              </a:rPr>
              <a:t> </a:t>
            </a:r>
            <a:r>
              <a:rPr sz="1700" spc="-10" dirty="0">
                <a:latin typeface="Arial MT"/>
                <a:cs typeface="Arial MT"/>
              </a:rPr>
              <a:t>using </a:t>
            </a:r>
            <a:r>
              <a:rPr sz="1700" b="1" dirty="0">
                <a:latin typeface="Arial"/>
                <a:cs typeface="Arial"/>
              </a:rPr>
              <a:t>cleanup</a:t>
            </a:r>
            <a:r>
              <a:rPr sz="1700" b="1" spc="-80" dirty="0">
                <a:latin typeface="Arial"/>
                <a:cs typeface="Arial"/>
              </a:rPr>
              <a:t> </a:t>
            </a:r>
            <a:r>
              <a:rPr sz="1700" b="1" dirty="0">
                <a:latin typeface="Arial"/>
                <a:cs typeface="Arial"/>
              </a:rPr>
              <a:t>handlers</a:t>
            </a:r>
            <a:r>
              <a:rPr sz="1700" b="1" spc="-70" dirty="0">
                <a:latin typeface="Arial"/>
                <a:cs typeface="Arial"/>
              </a:rPr>
              <a:t> </a:t>
            </a:r>
            <a:r>
              <a:rPr sz="1700" dirty="0">
                <a:latin typeface="Arial MT"/>
                <a:cs typeface="Arial MT"/>
              </a:rPr>
              <a:t>to</a:t>
            </a:r>
            <a:r>
              <a:rPr sz="1700" spc="-75" dirty="0">
                <a:latin typeface="Arial MT"/>
                <a:cs typeface="Arial MT"/>
              </a:rPr>
              <a:t> </a:t>
            </a:r>
            <a:r>
              <a:rPr sz="1700" spc="-20" dirty="0">
                <a:latin typeface="Arial MT"/>
                <a:cs typeface="Arial MT"/>
              </a:rPr>
              <a:t>free </a:t>
            </a:r>
            <a:r>
              <a:rPr sz="1700" dirty="0">
                <a:latin typeface="Arial MT"/>
                <a:cs typeface="Arial MT"/>
              </a:rPr>
              <a:t>resources</a:t>
            </a:r>
            <a:r>
              <a:rPr sz="1700" spc="-60" dirty="0">
                <a:latin typeface="Arial MT"/>
                <a:cs typeface="Arial MT"/>
              </a:rPr>
              <a:t> </a:t>
            </a:r>
            <a:r>
              <a:rPr sz="1700" dirty="0">
                <a:latin typeface="Arial MT"/>
                <a:cs typeface="Arial MT"/>
              </a:rPr>
              <a:t>or</a:t>
            </a:r>
            <a:r>
              <a:rPr sz="1700" spc="-60" dirty="0">
                <a:latin typeface="Arial MT"/>
                <a:cs typeface="Arial MT"/>
              </a:rPr>
              <a:t> </a:t>
            </a:r>
            <a:r>
              <a:rPr sz="1700" dirty="0">
                <a:latin typeface="Arial MT"/>
                <a:cs typeface="Arial MT"/>
              </a:rPr>
              <a:t>save</a:t>
            </a:r>
            <a:r>
              <a:rPr sz="1700" spc="-60" dirty="0">
                <a:latin typeface="Arial MT"/>
                <a:cs typeface="Arial MT"/>
              </a:rPr>
              <a:t> </a:t>
            </a:r>
            <a:r>
              <a:rPr sz="1700" dirty="0">
                <a:latin typeface="Arial MT"/>
                <a:cs typeface="Arial MT"/>
              </a:rPr>
              <a:t>state.</a:t>
            </a:r>
            <a:r>
              <a:rPr sz="1700" spc="-85" dirty="0">
                <a:latin typeface="Arial MT"/>
                <a:cs typeface="Arial MT"/>
              </a:rPr>
              <a:t> </a:t>
            </a:r>
            <a:r>
              <a:rPr sz="1700" spc="-45" dirty="0">
                <a:latin typeface="Arial MT"/>
                <a:cs typeface="Arial MT"/>
              </a:rPr>
              <a:t>You</a:t>
            </a:r>
            <a:r>
              <a:rPr sz="1700" spc="-60" dirty="0">
                <a:latin typeface="Arial MT"/>
                <a:cs typeface="Arial MT"/>
              </a:rPr>
              <a:t> </a:t>
            </a:r>
            <a:r>
              <a:rPr sz="1700" spc="-25" dirty="0">
                <a:latin typeface="Arial MT"/>
                <a:cs typeface="Arial MT"/>
              </a:rPr>
              <a:t>can </a:t>
            </a:r>
            <a:r>
              <a:rPr sz="1700" dirty="0">
                <a:latin typeface="Arial MT"/>
                <a:cs typeface="Arial MT"/>
              </a:rPr>
              <a:t>set</a:t>
            </a:r>
            <a:r>
              <a:rPr sz="1700" spc="-60" dirty="0">
                <a:latin typeface="Arial MT"/>
                <a:cs typeface="Arial MT"/>
              </a:rPr>
              <a:t> </a:t>
            </a:r>
            <a:r>
              <a:rPr sz="1700" dirty="0">
                <a:latin typeface="Arial MT"/>
                <a:cs typeface="Arial MT"/>
              </a:rPr>
              <a:t>the</a:t>
            </a:r>
            <a:r>
              <a:rPr sz="1700" spc="-55" dirty="0">
                <a:latin typeface="Arial MT"/>
                <a:cs typeface="Arial MT"/>
              </a:rPr>
              <a:t> </a:t>
            </a:r>
            <a:r>
              <a:rPr sz="1700" dirty="0">
                <a:latin typeface="Arial MT"/>
                <a:cs typeface="Arial MT"/>
              </a:rPr>
              <a:t>thread</a:t>
            </a:r>
            <a:r>
              <a:rPr sz="1700" spc="-55" dirty="0">
                <a:latin typeface="Arial MT"/>
                <a:cs typeface="Arial MT"/>
              </a:rPr>
              <a:t> </a:t>
            </a:r>
            <a:r>
              <a:rPr sz="1700" dirty="0">
                <a:latin typeface="Arial MT"/>
                <a:cs typeface="Arial MT"/>
              </a:rPr>
              <a:t>to</a:t>
            </a:r>
            <a:r>
              <a:rPr sz="1700" spc="-55" dirty="0">
                <a:latin typeface="Arial MT"/>
                <a:cs typeface="Arial MT"/>
              </a:rPr>
              <a:t> </a:t>
            </a:r>
            <a:r>
              <a:rPr sz="1700" dirty="0">
                <a:latin typeface="Arial MT"/>
                <a:cs typeface="Arial MT"/>
              </a:rPr>
              <a:t>respond</a:t>
            </a:r>
            <a:r>
              <a:rPr sz="1700" spc="-55" dirty="0">
                <a:latin typeface="Arial MT"/>
                <a:cs typeface="Arial MT"/>
              </a:rPr>
              <a:t> </a:t>
            </a:r>
            <a:r>
              <a:rPr sz="1700" spc="-25" dirty="0">
                <a:latin typeface="Arial MT"/>
                <a:cs typeface="Arial MT"/>
              </a:rPr>
              <a:t>to </a:t>
            </a:r>
            <a:r>
              <a:rPr sz="1700" spc="-10" dirty="0">
                <a:latin typeface="Arial MT"/>
                <a:cs typeface="Arial MT"/>
              </a:rPr>
              <a:t>cancellation</a:t>
            </a:r>
            <a:r>
              <a:rPr sz="1700" spc="-50" dirty="0">
                <a:latin typeface="Arial MT"/>
                <a:cs typeface="Arial MT"/>
              </a:rPr>
              <a:t> </a:t>
            </a:r>
            <a:r>
              <a:rPr sz="1700" dirty="0">
                <a:latin typeface="Arial MT"/>
                <a:cs typeface="Arial MT"/>
              </a:rPr>
              <a:t>immediately</a:t>
            </a:r>
            <a:r>
              <a:rPr sz="1700" spc="-50" dirty="0">
                <a:latin typeface="Arial MT"/>
                <a:cs typeface="Arial MT"/>
              </a:rPr>
              <a:t> </a:t>
            </a:r>
            <a:r>
              <a:rPr sz="1700" dirty="0">
                <a:latin typeface="Arial MT"/>
                <a:cs typeface="Arial MT"/>
              </a:rPr>
              <a:t>or</a:t>
            </a:r>
            <a:r>
              <a:rPr sz="1700" spc="-50" dirty="0">
                <a:latin typeface="Arial MT"/>
                <a:cs typeface="Arial MT"/>
              </a:rPr>
              <a:t> </a:t>
            </a:r>
            <a:r>
              <a:rPr sz="1700" spc="-20" dirty="0">
                <a:latin typeface="Arial MT"/>
                <a:cs typeface="Arial MT"/>
              </a:rPr>
              <a:t>only</a:t>
            </a:r>
            <a:r>
              <a:rPr sz="1700" dirty="0">
                <a:latin typeface="Arial MT"/>
                <a:cs typeface="Arial MT"/>
              </a:rPr>
              <a:t> at</a:t>
            </a:r>
            <a:r>
              <a:rPr sz="1700" spc="-50" dirty="0">
                <a:latin typeface="Arial MT"/>
                <a:cs typeface="Arial MT"/>
              </a:rPr>
              <a:t> </a:t>
            </a:r>
            <a:r>
              <a:rPr sz="1700" dirty="0">
                <a:latin typeface="Arial MT"/>
                <a:cs typeface="Arial MT"/>
              </a:rPr>
              <a:t>defined</a:t>
            </a:r>
            <a:r>
              <a:rPr sz="1700" spc="-50" dirty="0">
                <a:latin typeface="Arial MT"/>
                <a:cs typeface="Arial MT"/>
              </a:rPr>
              <a:t> </a:t>
            </a:r>
            <a:r>
              <a:rPr sz="1700" spc="-10" dirty="0">
                <a:latin typeface="Arial MT"/>
                <a:cs typeface="Arial MT"/>
              </a:rPr>
              <a:t>"cancellation</a:t>
            </a:r>
            <a:r>
              <a:rPr sz="1700" spc="-50" dirty="0">
                <a:latin typeface="Arial MT"/>
                <a:cs typeface="Arial MT"/>
              </a:rPr>
              <a:t> </a:t>
            </a:r>
            <a:r>
              <a:rPr sz="1700" spc="-10" dirty="0">
                <a:latin typeface="Arial MT"/>
                <a:cs typeface="Arial MT"/>
              </a:rPr>
              <a:t>points" </a:t>
            </a:r>
            <a:r>
              <a:rPr sz="1700" dirty="0">
                <a:latin typeface="Arial MT"/>
                <a:cs typeface="Arial MT"/>
              </a:rPr>
              <a:t>(like</a:t>
            </a:r>
            <a:r>
              <a:rPr sz="1700" spc="-55" dirty="0">
                <a:latin typeface="Arial MT"/>
                <a:cs typeface="Arial MT"/>
              </a:rPr>
              <a:t> </a:t>
            </a:r>
            <a:r>
              <a:rPr sz="1700" b="1" dirty="0">
                <a:solidFill>
                  <a:srgbClr val="188037"/>
                </a:solidFill>
                <a:latin typeface="Courier New"/>
                <a:cs typeface="Courier New"/>
              </a:rPr>
              <a:t>sleep</a:t>
            </a:r>
            <a:r>
              <a:rPr sz="1700" b="1" dirty="0">
                <a:latin typeface="Arial MT"/>
                <a:cs typeface="Arial MT"/>
              </a:rPr>
              <a:t>,</a:t>
            </a:r>
            <a:r>
              <a:rPr sz="1700" b="1" spc="-50" dirty="0">
                <a:latin typeface="Arial MT"/>
                <a:cs typeface="Arial MT"/>
              </a:rPr>
              <a:t> </a:t>
            </a:r>
            <a:r>
              <a:rPr sz="1700" b="1" dirty="0">
                <a:solidFill>
                  <a:srgbClr val="188037"/>
                </a:solidFill>
                <a:latin typeface="Courier New"/>
                <a:cs typeface="Courier New"/>
              </a:rPr>
              <a:t>read</a:t>
            </a:r>
            <a:r>
              <a:rPr sz="1700" dirty="0">
                <a:latin typeface="Arial MT"/>
                <a:cs typeface="Arial MT"/>
              </a:rPr>
              <a:t>,</a:t>
            </a:r>
            <a:r>
              <a:rPr sz="1700" spc="-50" dirty="0">
                <a:latin typeface="Arial MT"/>
                <a:cs typeface="Arial MT"/>
              </a:rPr>
              <a:t> </a:t>
            </a:r>
            <a:r>
              <a:rPr sz="1700" dirty="0">
                <a:latin typeface="Arial MT"/>
                <a:cs typeface="Arial MT"/>
              </a:rPr>
              <a:t>or</a:t>
            </a:r>
            <a:r>
              <a:rPr sz="1700" spc="-45" dirty="0">
                <a:latin typeface="Arial MT"/>
                <a:cs typeface="Arial MT"/>
              </a:rPr>
              <a:t> </a:t>
            </a:r>
            <a:r>
              <a:rPr sz="1700" b="1" spc="-10" dirty="0">
                <a:solidFill>
                  <a:srgbClr val="188037"/>
                </a:solidFill>
                <a:latin typeface="Courier New"/>
                <a:cs typeface="Courier New"/>
              </a:rPr>
              <a:t>write</a:t>
            </a:r>
            <a:r>
              <a:rPr lang="en-US" sz="1700" b="1" spc="-10" dirty="0">
                <a:solidFill>
                  <a:srgbClr val="188037"/>
                </a:solidFill>
                <a:latin typeface="Arial" panose="020B0604020202020204" pitchFamily="34" charset="0"/>
                <a:cs typeface="Arial" panose="020B0604020202020204" pitchFamily="34" charset="0"/>
              </a:rPr>
              <a:t> </a:t>
            </a:r>
            <a:r>
              <a:rPr sz="1700" spc="-10" dirty="0">
                <a:latin typeface="Arial MT"/>
                <a:cs typeface="Arial MT"/>
              </a:rPr>
              <a:t>calls).</a:t>
            </a:r>
            <a:endParaRPr sz="1700" dirty="0">
              <a:latin typeface="Arial MT"/>
              <a:cs typeface="Arial MT"/>
            </a:endParaRPr>
          </a:p>
        </p:txBody>
      </p:sp>
      <p:pic>
        <p:nvPicPr>
          <p:cNvPr id="2" name="object 2">
            <a:extLst>
              <a:ext uri="{C183D7F6-B498-43B3-948B-1728B52AA6E4}">
                <adec:decorative xmlns:adec="http://schemas.microsoft.com/office/drawing/2017/decorative" val="1"/>
              </a:ext>
            </a:extLst>
          </p:cNvPr>
          <p:cNvPicPr/>
          <p:nvPr/>
        </p:nvPicPr>
        <p:blipFill>
          <a:blip r:embed="rId2" cstate="print"/>
          <a:stretch>
            <a:fillRect/>
          </a:stretch>
        </p:blipFill>
        <p:spPr>
          <a:xfrm>
            <a:off x="4305599" y="1132227"/>
            <a:ext cx="7700625" cy="534512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82281"/>
            <a:ext cx="4480560" cy="384721"/>
          </a:xfrm>
          <a:prstGeom prst="rect">
            <a:avLst/>
          </a:prstGeom>
        </p:spPr>
        <p:txBody>
          <a:bodyPr vert="horz" wrap="square" lIns="0" tIns="0" rIns="0" bIns="0" rtlCol="0">
            <a:spAutoFit/>
          </a:bodyPr>
          <a:lstStyle/>
          <a:p>
            <a:pPr marL="12700">
              <a:lnSpc>
                <a:spcPct val="100000"/>
              </a:lnSpc>
              <a:spcBef>
                <a:spcPts val="100"/>
              </a:spcBef>
            </a:pPr>
            <a:r>
              <a:rPr spc="-10" dirty="0"/>
              <a:t>pthread_cancel</a:t>
            </a:r>
            <a:r>
              <a:rPr spc="-60" dirty="0"/>
              <a:t> </a:t>
            </a:r>
            <a:r>
              <a:rPr dirty="0"/>
              <a:t>vs</a:t>
            </a:r>
            <a:r>
              <a:rPr spc="-55" dirty="0"/>
              <a:t> </a:t>
            </a:r>
            <a:r>
              <a:rPr spc="-10" dirty="0"/>
              <a:t>pthread_exit</a:t>
            </a:r>
          </a:p>
        </p:txBody>
      </p:sp>
      <p:sp>
        <p:nvSpPr>
          <p:cNvPr id="3" name="object 3"/>
          <p:cNvSpPr txBox="1"/>
          <p:nvPr/>
        </p:nvSpPr>
        <p:spPr>
          <a:xfrm>
            <a:off x="471975" y="1828800"/>
            <a:ext cx="11358245" cy="4817729"/>
          </a:xfrm>
          <a:prstGeom prst="rect">
            <a:avLst/>
          </a:prstGeom>
        </p:spPr>
        <p:txBody>
          <a:bodyPr vert="horz" wrap="square" lIns="0" tIns="12700" rIns="0" bIns="0" rtlCol="0">
            <a:spAutoFit/>
          </a:bodyPr>
          <a:lstStyle/>
          <a:p>
            <a:pPr marL="12700">
              <a:lnSpc>
                <a:spcPct val="114000"/>
              </a:lnSpc>
              <a:spcBef>
                <a:spcPts val="100"/>
              </a:spcBef>
            </a:pPr>
            <a:r>
              <a:rPr sz="2000" b="1" spc="-10" dirty="0">
                <a:solidFill>
                  <a:srgbClr val="188037"/>
                </a:solidFill>
                <a:latin typeface="Courier New"/>
                <a:cs typeface="Courier New"/>
              </a:rPr>
              <a:t>pthread_exit</a:t>
            </a:r>
            <a:endParaRPr sz="2000" dirty="0">
              <a:latin typeface="Courier New"/>
              <a:cs typeface="Courier New"/>
            </a:endParaRPr>
          </a:p>
          <a:p>
            <a:pPr marL="469265" indent="-351155">
              <a:lnSpc>
                <a:spcPct val="114000"/>
              </a:lnSpc>
              <a:spcBef>
                <a:spcPts val="600"/>
              </a:spcBef>
              <a:spcAft>
                <a:spcPts val="600"/>
              </a:spcAft>
              <a:buFont typeface="Arial MT"/>
              <a:buChar char="●"/>
              <a:tabLst>
                <a:tab pos="469265" algn="l"/>
              </a:tabLst>
            </a:pPr>
            <a:r>
              <a:rPr sz="1600" b="1" dirty="0">
                <a:latin typeface="Arial"/>
                <a:cs typeface="Arial"/>
              </a:rPr>
              <a:t>Purpose</a:t>
            </a:r>
            <a:r>
              <a:rPr sz="1600" dirty="0">
                <a:latin typeface="Arial MT"/>
                <a:cs typeface="Arial MT"/>
              </a:rPr>
              <a:t>:</a:t>
            </a:r>
            <a:r>
              <a:rPr sz="1600" spc="-35" dirty="0">
                <a:latin typeface="Arial MT"/>
                <a:cs typeface="Arial MT"/>
              </a:rPr>
              <a:t> </a:t>
            </a:r>
            <a:r>
              <a:rPr sz="1600" dirty="0">
                <a:latin typeface="Arial MT"/>
                <a:cs typeface="Arial MT"/>
              </a:rPr>
              <a:t>Used</a:t>
            </a:r>
            <a:r>
              <a:rPr sz="1600" spc="-35" dirty="0">
                <a:latin typeface="Arial MT"/>
                <a:cs typeface="Arial MT"/>
              </a:rPr>
              <a:t> </a:t>
            </a:r>
            <a:r>
              <a:rPr sz="1600" dirty="0">
                <a:latin typeface="Arial MT"/>
                <a:cs typeface="Arial MT"/>
              </a:rPr>
              <a:t>by</a:t>
            </a:r>
            <a:r>
              <a:rPr sz="1600" spc="-35" dirty="0">
                <a:latin typeface="Arial MT"/>
                <a:cs typeface="Arial MT"/>
              </a:rPr>
              <a:t> </a:t>
            </a:r>
            <a:r>
              <a:rPr sz="1600" dirty="0">
                <a:latin typeface="Arial MT"/>
                <a:cs typeface="Arial MT"/>
              </a:rPr>
              <a:t>the</a:t>
            </a:r>
            <a:r>
              <a:rPr sz="1600" spc="-30" dirty="0">
                <a:latin typeface="Arial MT"/>
                <a:cs typeface="Arial MT"/>
              </a:rPr>
              <a:t> </a:t>
            </a:r>
            <a:r>
              <a:rPr sz="1600" b="1" dirty="0">
                <a:latin typeface="Arial"/>
                <a:cs typeface="Arial"/>
              </a:rPr>
              <a:t>thread</a:t>
            </a:r>
            <a:r>
              <a:rPr sz="1600" b="1" spc="-30" dirty="0">
                <a:latin typeface="Arial"/>
                <a:cs typeface="Arial"/>
              </a:rPr>
              <a:t> </a:t>
            </a:r>
            <a:r>
              <a:rPr sz="1600" b="1" dirty="0">
                <a:latin typeface="Arial"/>
                <a:cs typeface="Arial"/>
              </a:rPr>
              <a:t>itself</a:t>
            </a:r>
            <a:r>
              <a:rPr sz="1600" b="1" spc="-25" dirty="0">
                <a:latin typeface="Arial"/>
                <a:cs typeface="Arial"/>
              </a:rPr>
              <a:t> </a:t>
            </a:r>
            <a:r>
              <a:rPr sz="1600" dirty="0">
                <a:latin typeface="Arial MT"/>
                <a:cs typeface="Arial MT"/>
              </a:rPr>
              <a:t>to</a:t>
            </a:r>
            <a:r>
              <a:rPr sz="1600" spc="-35" dirty="0">
                <a:latin typeface="Arial MT"/>
                <a:cs typeface="Arial MT"/>
              </a:rPr>
              <a:t> </a:t>
            </a:r>
            <a:r>
              <a:rPr sz="1600" dirty="0">
                <a:latin typeface="Arial MT"/>
                <a:cs typeface="Arial MT"/>
              </a:rPr>
              <a:t>terminate</a:t>
            </a:r>
            <a:r>
              <a:rPr sz="1600" spc="-35" dirty="0">
                <a:latin typeface="Arial MT"/>
                <a:cs typeface="Arial MT"/>
              </a:rPr>
              <a:t> </a:t>
            </a:r>
            <a:r>
              <a:rPr sz="1600" dirty="0">
                <a:latin typeface="Arial MT"/>
                <a:cs typeface="Arial MT"/>
              </a:rPr>
              <a:t>its</a:t>
            </a:r>
            <a:r>
              <a:rPr sz="1600" spc="-35" dirty="0">
                <a:latin typeface="Arial MT"/>
                <a:cs typeface="Arial MT"/>
              </a:rPr>
              <a:t> </a:t>
            </a:r>
            <a:r>
              <a:rPr sz="1600" dirty="0">
                <a:latin typeface="Arial MT"/>
                <a:cs typeface="Arial MT"/>
              </a:rPr>
              <a:t>own</a:t>
            </a:r>
            <a:r>
              <a:rPr sz="1600" spc="-30" dirty="0">
                <a:latin typeface="Arial MT"/>
                <a:cs typeface="Arial MT"/>
              </a:rPr>
              <a:t> </a:t>
            </a:r>
            <a:r>
              <a:rPr sz="1600" spc="-10" dirty="0">
                <a:latin typeface="Arial MT"/>
                <a:cs typeface="Arial MT"/>
              </a:rPr>
              <a:t>execution.</a:t>
            </a:r>
            <a:endParaRPr sz="1600" dirty="0">
              <a:latin typeface="Arial MT"/>
              <a:cs typeface="Arial MT"/>
            </a:endParaRPr>
          </a:p>
          <a:p>
            <a:pPr marL="469900" marR="172085" indent="-351790">
              <a:lnSpc>
                <a:spcPct val="114000"/>
              </a:lnSpc>
              <a:spcAft>
                <a:spcPts val="600"/>
              </a:spcAft>
              <a:buFont typeface="Arial MT"/>
              <a:buChar char="●"/>
              <a:tabLst>
                <a:tab pos="469900" algn="l"/>
              </a:tabLst>
            </a:pPr>
            <a:r>
              <a:rPr sz="1600" b="1" spc="-10" dirty="0">
                <a:latin typeface="Arial"/>
                <a:cs typeface="Arial"/>
              </a:rPr>
              <a:t>Usage</a:t>
            </a:r>
            <a:r>
              <a:rPr sz="1600" spc="-10" dirty="0">
                <a:latin typeface="Arial MT"/>
                <a:cs typeface="Arial MT"/>
              </a:rPr>
              <a:t>:</a:t>
            </a:r>
            <a:r>
              <a:rPr sz="1600" spc="-105" dirty="0">
                <a:latin typeface="Arial MT"/>
                <a:cs typeface="Arial MT"/>
              </a:rPr>
              <a:t> </a:t>
            </a:r>
            <a:r>
              <a:rPr sz="1600" dirty="0">
                <a:latin typeface="Arial MT"/>
                <a:cs typeface="Arial MT"/>
              </a:rPr>
              <a:t>A</a:t>
            </a:r>
            <a:r>
              <a:rPr sz="1600" spc="-110" dirty="0">
                <a:latin typeface="Arial MT"/>
                <a:cs typeface="Arial MT"/>
              </a:rPr>
              <a:t> </a:t>
            </a:r>
            <a:r>
              <a:rPr sz="1600" dirty="0">
                <a:latin typeface="Arial MT"/>
                <a:cs typeface="Arial MT"/>
              </a:rPr>
              <a:t>thread</a:t>
            </a:r>
            <a:r>
              <a:rPr sz="1600" spc="-30" dirty="0">
                <a:latin typeface="Arial MT"/>
                <a:cs typeface="Arial MT"/>
              </a:rPr>
              <a:t> </a:t>
            </a:r>
            <a:r>
              <a:rPr sz="1600" dirty="0">
                <a:latin typeface="Arial MT"/>
                <a:cs typeface="Arial MT"/>
              </a:rPr>
              <a:t>calls</a:t>
            </a:r>
            <a:r>
              <a:rPr sz="1600" spc="-10" dirty="0">
                <a:latin typeface="Arial MT"/>
                <a:cs typeface="Arial MT"/>
              </a:rPr>
              <a:t> </a:t>
            </a:r>
            <a:r>
              <a:rPr sz="1600" b="1" spc="-20" dirty="0">
                <a:solidFill>
                  <a:srgbClr val="188037"/>
                </a:solidFill>
                <a:latin typeface="Courier New"/>
                <a:cs typeface="Courier New"/>
              </a:rPr>
              <a:t>pthread_exit</a:t>
            </a:r>
            <a:r>
              <a:rPr sz="1600" b="1" spc="-520" dirty="0">
                <a:solidFill>
                  <a:srgbClr val="188037"/>
                </a:solidFill>
                <a:latin typeface="Courier New"/>
                <a:cs typeface="Courier New"/>
              </a:rPr>
              <a:t> </a:t>
            </a:r>
            <a:r>
              <a:rPr sz="1600" dirty="0">
                <a:latin typeface="Arial MT"/>
                <a:cs typeface="Arial MT"/>
              </a:rPr>
              <a:t>when</a:t>
            </a:r>
            <a:r>
              <a:rPr sz="1600" spc="-20" dirty="0">
                <a:latin typeface="Arial MT"/>
                <a:cs typeface="Arial MT"/>
              </a:rPr>
              <a:t> </a:t>
            </a:r>
            <a:r>
              <a:rPr sz="1600" dirty="0">
                <a:latin typeface="Arial MT"/>
                <a:cs typeface="Arial MT"/>
              </a:rPr>
              <a:t>it</a:t>
            </a:r>
            <a:r>
              <a:rPr sz="1600" spc="-20" dirty="0">
                <a:latin typeface="Arial MT"/>
                <a:cs typeface="Arial MT"/>
              </a:rPr>
              <a:t> </a:t>
            </a:r>
            <a:r>
              <a:rPr sz="1600" dirty="0">
                <a:latin typeface="Arial MT"/>
                <a:cs typeface="Arial MT"/>
              </a:rPr>
              <a:t>wants</a:t>
            </a:r>
            <a:r>
              <a:rPr sz="1600" spc="-15" dirty="0">
                <a:latin typeface="Arial MT"/>
                <a:cs typeface="Arial MT"/>
              </a:rPr>
              <a:t> </a:t>
            </a:r>
            <a:r>
              <a:rPr sz="1600" dirty="0">
                <a:latin typeface="Arial MT"/>
                <a:cs typeface="Arial MT"/>
              </a:rPr>
              <a:t>to</a:t>
            </a:r>
            <a:r>
              <a:rPr sz="1600" spc="-20" dirty="0">
                <a:latin typeface="Arial MT"/>
                <a:cs typeface="Arial MT"/>
              </a:rPr>
              <a:t> </a:t>
            </a:r>
            <a:r>
              <a:rPr sz="1600" dirty="0">
                <a:latin typeface="Arial MT"/>
                <a:cs typeface="Arial MT"/>
              </a:rPr>
              <a:t>end,</a:t>
            </a:r>
            <a:r>
              <a:rPr sz="1600" spc="-20" dirty="0">
                <a:latin typeface="Arial MT"/>
                <a:cs typeface="Arial MT"/>
              </a:rPr>
              <a:t> </a:t>
            </a:r>
            <a:r>
              <a:rPr sz="1600" dirty="0">
                <a:latin typeface="Arial MT"/>
                <a:cs typeface="Arial MT"/>
              </a:rPr>
              <a:t>either</a:t>
            </a:r>
            <a:r>
              <a:rPr sz="1600" spc="-20" dirty="0">
                <a:latin typeface="Arial MT"/>
                <a:cs typeface="Arial MT"/>
              </a:rPr>
              <a:t> </a:t>
            </a:r>
            <a:r>
              <a:rPr sz="1600" dirty="0">
                <a:latin typeface="Arial MT"/>
                <a:cs typeface="Arial MT"/>
              </a:rPr>
              <a:t>with</a:t>
            </a:r>
            <a:r>
              <a:rPr sz="1600" spc="-15" dirty="0">
                <a:latin typeface="Arial MT"/>
                <a:cs typeface="Arial MT"/>
              </a:rPr>
              <a:t> </a:t>
            </a:r>
            <a:r>
              <a:rPr sz="1600" dirty="0">
                <a:latin typeface="Arial MT"/>
                <a:cs typeface="Arial MT"/>
              </a:rPr>
              <a:t>a</a:t>
            </a:r>
            <a:r>
              <a:rPr sz="1600" spc="-20" dirty="0">
                <a:latin typeface="Arial MT"/>
                <a:cs typeface="Arial MT"/>
              </a:rPr>
              <a:t> </a:t>
            </a:r>
            <a:r>
              <a:rPr sz="1600" dirty="0">
                <a:latin typeface="Arial MT"/>
                <a:cs typeface="Arial MT"/>
              </a:rPr>
              <a:t>return</a:t>
            </a:r>
            <a:r>
              <a:rPr sz="1600" spc="-20" dirty="0">
                <a:latin typeface="Arial MT"/>
                <a:cs typeface="Arial MT"/>
              </a:rPr>
              <a:t> </a:t>
            </a:r>
            <a:r>
              <a:rPr sz="1600" dirty="0">
                <a:latin typeface="Arial MT"/>
                <a:cs typeface="Arial MT"/>
              </a:rPr>
              <a:t>value</a:t>
            </a:r>
            <a:r>
              <a:rPr sz="1600" spc="-20" dirty="0">
                <a:latin typeface="Arial MT"/>
                <a:cs typeface="Arial MT"/>
              </a:rPr>
              <a:t> </a:t>
            </a:r>
            <a:br>
              <a:rPr lang="en-US" sz="1600" spc="-20" dirty="0">
                <a:latin typeface="Arial MT"/>
                <a:cs typeface="Arial MT"/>
              </a:rPr>
            </a:br>
            <a:r>
              <a:rPr sz="1600" dirty="0">
                <a:latin typeface="Arial MT"/>
                <a:cs typeface="Arial MT"/>
              </a:rPr>
              <a:t>(which</a:t>
            </a:r>
            <a:r>
              <a:rPr sz="1600" spc="-15" dirty="0">
                <a:latin typeface="Arial MT"/>
                <a:cs typeface="Arial MT"/>
              </a:rPr>
              <a:t> </a:t>
            </a:r>
            <a:r>
              <a:rPr sz="1600" dirty="0">
                <a:latin typeface="Arial MT"/>
                <a:cs typeface="Arial MT"/>
              </a:rPr>
              <a:t>other</a:t>
            </a:r>
            <a:r>
              <a:rPr sz="1600" spc="-20" dirty="0">
                <a:latin typeface="Arial MT"/>
                <a:cs typeface="Arial MT"/>
              </a:rPr>
              <a:t> </a:t>
            </a:r>
            <a:r>
              <a:rPr sz="1600" dirty="0">
                <a:latin typeface="Arial MT"/>
                <a:cs typeface="Arial MT"/>
              </a:rPr>
              <a:t>threads</a:t>
            </a:r>
            <a:r>
              <a:rPr sz="1600" spc="-20" dirty="0">
                <a:latin typeface="Arial MT"/>
                <a:cs typeface="Arial MT"/>
              </a:rPr>
              <a:t> </a:t>
            </a:r>
            <a:r>
              <a:rPr sz="1600" dirty="0">
                <a:latin typeface="Arial MT"/>
                <a:cs typeface="Arial MT"/>
              </a:rPr>
              <a:t>can</a:t>
            </a:r>
            <a:r>
              <a:rPr sz="1600" spc="-15" dirty="0">
                <a:latin typeface="Arial MT"/>
                <a:cs typeface="Arial MT"/>
              </a:rPr>
              <a:t> </a:t>
            </a:r>
            <a:r>
              <a:rPr sz="1600" spc="-10" dirty="0">
                <a:latin typeface="Arial MT"/>
                <a:cs typeface="Arial MT"/>
              </a:rPr>
              <a:t>retrieve </a:t>
            </a:r>
            <a:r>
              <a:rPr sz="1600" dirty="0">
                <a:latin typeface="Arial MT"/>
                <a:cs typeface="Arial MT"/>
              </a:rPr>
              <a:t>via</a:t>
            </a:r>
            <a:r>
              <a:rPr sz="1600" spc="-35" dirty="0">
                <a:latin typeface="Arial MT"/>
                <a:cs typeface="Arial MT"/>
              </a:rPr>
              <a:t> </a:t>
            </a:r>
            <a:r>
              <a:rPr sz="1600" b="1" spc="-10" dirty="0">
                <a:solidFill>
                  <a:srgbClr val="188037"/>
                </a:solidFill>
                <a:latin typeface="Courier New"/>
                <a:cs typeface="Courier New"/>
              </a:rPr>
              <a:t>pthread_join</a:t>
            </a:r>
            <a:r>
              <a:rPr sz="1600" spc="-10" dirty="0">
                <a:latin typeface="Arial MT"/>
                <a:cs typeface="Arial MT"/>
              </a:rPr>
              <a:t>)</a:t>
            </a:r>
            <a:r>
              <a:rPr sz="1600" spc="-30" dirty="0">
                <a:latin typeface="Arial MT"/>
                <a:cs typeface="Arial MT"/>
              </a:rPr>
              <a:t> </a:t>
            </a:r>
            <a:r>
              <a:rPr sz="1600" dirty="0">
                <a:latin typeface="Arial MT"/>
                <a:cs typeface="Arial MT"/>
              </a:rPr>
              <a:t>or</a:t>
            </a:r>
            <a:r>
              <a:rPr sz="1600" spc="-30" dirty="0">
                <a:latin typeface="Arial MT"/>
                <a:cs typeface="Arial MT"/>
              </a:rPr>
              <a:t> </a:t>
            </a:r>
            <a:r>
              <a:rPr sz="1600" dirty="0">
                <a:latin typeface="Arial MT"/>
                <a:cs typeface="Arial MT"/>
              </a:rPr>
              <a:t>without</a:t>
            </a:r>
            <a:r>
              <a:rPr sz="1600" spc="-35" dirty="0">
                <a:latin typeface="Arial MT"/>
                <a:cs typeface="Arial MT"/>
              </a:rPr>
              <a:t> </a:t>
            </a:r>
            <a:r>
              <a:rPr sz="1600" spc="-20" dirty="0">
                <a:latin typeface="Arial MT"/>
                <a:cs typeface="Arial MT"/>
              </a:rPr>
              <a:t>one.</a:t>
            </a:r>
            <a:endParaRPr sz="1600" dirty="0">
              <a:latin typeface="Arial MT"/>
              <a:cs typeface="Arial MT"/>
            </a:endParaRPr>
          </a:p>
          <a:p>
            <a:pPr marL="469900" marR="554355" indent="-351790">
              <a:lnSpc>
                <a:spcPct val="114000"/>
              </a:lnSpc>
              <a:spcAft>
                <a:spcPts val="600"/>
              </a:spcAft>
              <a:buFont typeface="Arial MT"/>
              <a:buChar char="●"/>
              <a:tabLst>
                <a:tab pos="469900" algn="l"/>
              </a:tabLst>
            </a:pPr>
            <a:r>
              <a:rPr sz="1600" b="1" dirty="0">
                <a:latin typeface="Arial"/>
                <a:cs typeface="Arial"/>
              </a:rPr>
              <a:t>Cleanup</a:t>
            </a:r>
            <a:r>
              <a:rPr sz="1600" dirty="0">
                <a:latin typeface="Arial MT"/>
                <a:cs typeface="Arial MT"/>
              </a:rPr>
              <a:t>:</a:t>
            </a:r>
            <a:r>
              <a:rPr sz="1600" spc="-35" dirty="0">
                <a:latin typeface="Arial MT"/>
                <a:cs typeface="Arial MT"/>
              </a:rPr>
              <a:t> </a:t>
            </a:r>
            <a:r>
              <a:rPr sz="1600" dirty="0">
                <a:latin typeface="Arial MT"/>
                <a:cs typeface="Arial MT"/>
              </a:rPr>
              <a:t>Ensures</a:t>
            </a:r>
            <a:r>
              <a:rPr sz="1600" spc="-35" dirty="0">
                <a:latin typeface="Arial MT"/>
                <a:cs typeface="Arial MT"/>
              </a:rPr>
              <a:t> </a:t>
            </a:r>
            <a:r>
              <a:rPr sz="1600" dirty="0">
                <a:latin typeface="Arial MT"/>
                <a:cs typeface="Arial MT"/>
              </a:rPr>
              <a:t>that</a:t>
            </a:r>
            <a:r>
              <a:rPr sz="1600" spc="-35" dirty="0">
                <a:latin typeface="Arial MT"/>
                <a:cs typeface="Arial MT"/>
              </a:rPr>
              <a:t> </a:t>
            </a:r>
            <a:r>
              <a:rPr sz="1600" dirty="0">
                <a:latin typeface="Arial MT"/>
                <a:cs typeface="Arial MT"/>
              </a:rPr>
              <a:t>the</a:t>
            </a:r>
            <a:r>
              <a:rPr sz="1600" spc="-30" dirty="0">
                <a:latin typeface="Arial MT"/>
                <a:cs typeface="Arial MT"/>
              </a:rPr>
              <a:t> </a:t>
            </a:r>
            <a:r>
              <a:rPr sz="1600" dirty="0">
                <a:latin typeface="Arial MT"/>
                <a:cs typeface="Arial MT"/>
              </a:rPr>
              <a:t>thread</a:t>
            </a:r>
            <a:r>
              <a:rPr sz="1600" spc="-35" dirty="0">
                <a:latin typeface="Arial MT"/>
                <a:cs typeface="Arial MT"/>
              </a:rPr>
              <a:t> </a:t>
            </a:r>
            <a:r>
              <a:rPr sz="1600" dirty="0">
                <a:latin typeface="Arial MT"/>
                <a:cs typeface="Arial MT"/>
              </a:rPr>
              <a:t>terminates</a:t>
            </a:r>
            <a:r>
              <a:rPr sz="1600" spc="-35" dirty="0">
                <a:latin typeface="Arial MT"/>
                <a:cs typeface="Arial MT"/>
              </a:rPr>
              <a:t> </a:t>
            </a:r>
            <a:r>
              <a:rPr sz="1600" spc="-10" dirty="0">
                <a:latin typeface="Arial MT"/>
                <a:cs typeface="Arial MT"/>
              </a:rPr>
              <a:t>gracefully,</a:t>
            </a:r>
            <a:r>
              <a:rPr sz="1600" spc="-30" dirty="0">
                <a:latin typeface="Arial MT"/>
                <a:cs typeface="Arial MT"/>
              </a:rPr>
              <a:t> </a:t>
            </a:r>
            <a:br>
              <a:rPr lang="en-US" sz="1600" spc="-30" dirty="0">
                <a:latin typeface="Arial MT"/>
                <a:cs typeface="Arial MT"/>
              </a:rPr>
            </a:br>
            <a:r>
              <a:rPr sz="1600" dirty="0">
                <a:latin typeface="Arial MT"/>
                <a:cs typeface="Arial MT"/>
              </a:rPr>
              <a:t>releasing</a:t>
            </a:r>
            <a:r>
              <a:rPr sz="1600" spc="-35" dirty="0">
                <a:latin typeface="Arial MT"/>
                <a:cs typeface="Arial MT"/>
              </a:rPr>
              <a:t> </a:t>
            </a:r>
            <a:r>
              <a:rPr sz="1600" dirty="0">
                <a:latin typeface="Arial MT"/>
                <a:cs typeface="Arial MT"/>
              </a:rPr>
              <a:t>its</a:t>
            </a:r>
            <a:r>
              <a:rPr sz="1600" spc="-35" dirty="0">
                <a:latin typeface="Arial MT"/>
                <a:cs typeface="Arial MT"/>
              </a:rPr>
              <a:t> </a:t>
            </a:r>
            <a:r>
              <a:rPr sz="1600" dirty="0">
                <a:latin typeface="Arial MT"/>
                <a:cs typeface="Arial MT"/>
              </a:rPr>
              <a:t>resources</a:t>
            </a:r>
            <a:r>
              <a:rPr sz="1600" spc="-30" dirty="0">
                <a:latin typeface="Arial MT"/>
                <a:cs typeface="Arial MT"/>
              </a:rPr>
              <a:t> </a:t>
            </a:r>
            <a:r>
              <a:rPr sz="1600" dirty="0">
                <a:latin typeface="Arial MT"/>
                <a:cs typeface="Arial MT"/>
              </a:rPr>
              <a:t>and</a:t>
            </a:r>
            <a:r>
              <a:rPr sz="1600" spc="-35" dirty="0">
                <a:latin typeface="Arial MT"/>
                <a:cs typeface="Arial MT"/>
              </a:rPr>
              <a:t> </a:t>
            </a:r>
            <a:r>
              <a:rPr sz="1600" dirty="0">
                <a:latin typeface="Arial MT"/>
                <a:cs typeface="Arial MT"/>
              </a:rPr>
              <a:t>running</a:t>
            </a:r>
            <a:r>
              <a:rPr sz="1600" spc="-35" dirty="0">
                <a:latin typeface="Arial MT"/>
                <a:cs typeface="Arial MT"/>
              </a:rPr>
              <a:t> </a:t>
            </a:r>
            <a:r>
              <a:rPr sz="1600" dirty="0">
                <a:latin typeface="Arial MT"/>
                <a:cs typeface="Arial MT"/>
              </a:rPr>
              <a:t>any</a:t>
            </a:r>
            <a:r>
              <a:rPr sz="1600" spc="-30" dirty="0">
                <a:latin typeface="Arial MT"/>
                <a:cs typeface="Arial MT"/>
              </a:rPr>
              <a:t> </a:t>
            </a:r>
            <a:r>
              <a:rPr sz="1600" dirty="0">
                <a:latin typeface="Arial MT"/>
                <a:cs typeface="Arial MT"/>
              </a:rPr>
              <a:t>registered</a:t>
            </a:r>
            <a:r>
              <a:rPr sz="1600" spc="-35" dirty="0">
                <a:latin typeface="Arial MT"/>
                <a:cs typeface="Arial MT"/>
              </a:rPr>
              <a:t> </a:t>
            </a:r>
            <a:r>
              <a:rPr sz="1600" spc="-10" dirty="0">
                <a:latin typeface="Arial MT"/>
                <a:cs typeface="Arial MT"/>
              </a:rPr>
              <a:t>cleanup handlers.</a:t>
            </a:r>
            <a:endParaRPr sz="1600" dirty="0">
              <a:latin typeface="Arial MT"/>
              <a:cs typeface="Arial MT"/>
            </a:endParaRPr>
          </a:p>
          <a:p>
            <a:pPr marL="469265" indent="-351155">
              <a:lnSpc>
                <a:spcPct val="114000"/>
              </a:lnSpc>
              <a:spcBef>
                <a:spcPts val="290"/>
              </a:spcBef>
              <a:spcAft>
                <a:spcPts val="2400"/>
              </a:spcAft>
              <a:buFont typeface="Arial MT"/>
              <a:buChar char="●"/>
              <a:tabLst>
                <a:tab pos="469265" algn="l"/>
              </a:tabLst>
            </a:pPr>
            <a:r>
              <a:rPr sz="1600" b="1" spc="-20" dirty="0">
                <a:latin typeface="Arial"/>
                <a:cs typeface="Arial"/>
              </a:rPr>
              <a:t>Typical</a:t>
            </a:r>
            <a:r>
              <a:rPr sz="1600" b="1" spc="-15" dirty="0">
                <a:latin typeface="Arial"/>
                <a:cs typeface="Arial"/>
              </a:rPr>
              <a:t> </a:t>
            </a:r>
            <a:r>
              <a:rPr sz="1600" b="1" spc="-10" dirty="0">
                <a:latin typeface="Arial"/>
                <a:cs typeface="Arial"/>
              </a:rPr>
              <a:t>Scenario</a:t>
            </a:r>
            <a:r>
              <a:rPr sz="1600" spc="-10" dirty="0">
                <a:latin typeface="Arial MT"/>
                <a:cs typeface="Arial MT"/>
              </a:rPr>
              <a:t>:</a:t>
            </a:r>
            <a:r>
              <a:rPr sz="1600" spc="-100" dirty="0">
                <a:latin typeface="Arial MT"/>
                <a:cs typeface="Arial MT"/>
              </a:rPr>
              <a:t> </a:t>
            </a:r>
            <a:r>
              <a:rPr sz="1600" dirty="0">
                <a:latin typeface="Arial MT"/>
                <a:cs typeface="Arial MT"/>
              </a:rPr>
              <a:t>A</a:t>
            </a:r>
            <a:r>
              <a:rPr sz="1600" spc="-100" dirty="0">
                <a:latin typeface="Arial MT"/>
                <a:cs typeface="Arial MT"/>
              </a:rPr>
              <a:t> </a:t>
            </a:r>
            <a:r>
              <a:rPr sz="1600" dirty="0">
                <a:latin typeface="Arial MT"/>
                <a:cs typeface="Arial MT"/>
              </a:rPr>
              <a:t>thread</a:t>
            </a:r>
            <a:r>
              <a:rPr sz="1600" spc="-5" dirty="0">
                <a:latin typeface="Arial MT"/>
                <a:cs typeface="Arial MT"/>
              </a:rPr>
              <a:t> </a:t>
            </a:r>
            <a:r>
              <a:rPr sz="1600" dirty="0">
                <a:latin typeface="Arial MT"/>
                <a:cs typeface="Arial MT"/>
              </a:rPr>
              <a:t>completes</a:t>
            </a:r>
            <a:r>
              <a:rPr sz="1600" spc="-10" dirty="0">
                <a:latin typeface="Arial MT"/>
                <a:cs typeface="Arial MT"/>
              </a:rPr>
              <a:t> </a:t>
            </a:r>
            <a:r>
              <a:rPr sz="1600" dirty="0">
                <a:latin typeface="Arial MT"/>
                <a:cs typeface="Arial MT"/>
              </a:rPr>
              <a:t>its</a:t>
            </a:r>
            <a:r>
              <a:rPr sz="1600" spc="-10" dirty="0">
                <a:latin typeface="Arial MT"/>
                <a:cs typeface="Arial MT"/>
              </a:rPr>
              <a:t> </a:t>
            </a:r>
            <a:r>
              <a:rPr sz="1600" dirty="0">
                <a:latin typeface="Arial MT"/>
                <a:cs typeface="Arial MT"/>
              </a:rPr>
              <a:t>task</a:t>
            </a:r>
            <a:r>
              <a:rPr sz="1600" spc="-10" dirty="0">
                <a:latin typeface="Arial MT"/>
                <a:cs typeface="Arial MT"/>
              </a:rPr>
              <a:t> </a:t>
            </a:r>
            <a:r>
              <a:rPr sz="1600" dirty="0">
                <a:latin typeface="Arial MT"/>
                <a:cs typeface="Arial MT"/>
              </a:rPr>
              <a:t>and</a:t>
            </a:r>
            <a:r>
              <a:rPr sz="1600" spc="-10" dirty="0">
                <a:latin typeface="Arial MT"/>
                <a:cs typeface="Arial MT"/>
              </a:rPr>
              <a:t> </a:t>
            </a:r>
            <a:r>
              <a:rPr sz="1600" dirty="0">
                <a:latin typeface="Arial MT"/>
                <a:cs typeface="Arial MT"/>
              </a:rPr>
              <a:t>calls </a:t>
            </a:r>
            <a:r>
              <a:rPr sz="1600" b="1" spc="-20" dirty="0">
                <a:solidFill>
                  <a:srgbClr val="188037"/>
                </a:solidFill>
                <a:latin typeface="Courier New"/>
                <a:cs typeface="Courier New"/>
              </a:rPr>
              <a:t>pthread_exit</a:t>
            </a:r>
            <a:r>
              <a:rPr sz="1600" b="1" spc="-520" dirty="0">
                <a:solidFill>
                  <a:srgbClr val="188037"/>
                </a:solidFill>
                <a:latin typeface="Courier New"/>
                <a:cs typeface="Courier New"/>
              </a:rPr>
              <a:t> </a:t>
            </a:r>
            <a:r>
              <a:rPr sz="1600" dirty="0">
                <a:latin typeface="Arial MT"/>
                <a:cs typeface="Arial MT"/>
              </a:rPr>
              <a:t>to</a:t>
            </a:r>
            <a:r>
              <a:rPr sz="1600" spc="-5" dirty="0">
                <a:latin typeface="Arial MT"/>
                <a:cs typeface="Arial MT"/>
              </a:rPr>
              <a:t> </a:t>
            </a:r>
            <a:r>
              <a:rPr sz="1600" dirty="0">
                <a:latin typeface="Arial MT"/>
                <a:cs typeface="Arial MT"/>
              </a:rPr>
              <a:t>end</a:t>
            </a:r>
            <a:r>
              <a:rPr sz="1600" spc="-10" dirty="0">
                <a:latin typeface="Arial MT"/>
                <a:cs typeface="Arial MT"/>
              </a:rPr>
              <a:t> normally.</a:t>
            </a:r>
            <a:endParaRPr sz="1600" dirty="0">
              <a:latin typeface="Arial MT"/>
              <a:cs typeface="Arial MT"/>
            </a:endParaRPr>
          </a:p>
          <a:p>
            <a:pPr marL="12700">
              <a:lnSpc>
                <a:spcPct val="114000"/>
              </a:lnSpc>
            </a:pPr>
            <a:r>
              <a:rPr sz="2000" b="1" spc="-10" dirty="0">
                <a:solidFill>
                  <a:srgbClr val="188037"/>
                </a:solidFill>
                <a:latin typeface="Courier New"/>
                <a:cs typeface="Courier New"/>
              </a:rPr>
              <a:t>pthread_cancel</a:t>
            </a:r>
            <a:endParaRPr sz="2000" dirty="0">
              <a:latin typeface="Courier New"/>
              <a:cs typeface="Courier New"/>
            </a:endParaRPr>
          </a:p>
          <a:p>
            <a:pPr marL="469265" indent="-351155">
              <a:lnSpc>
                <a:spcPct val="114000"/>
              </a:lnSpc>
              <a:spcBef>
                <a:spcPts val="600"/>
              </a:spcBef>
              <a:spcAft>
                <a:spcPts val="600"/>
              </a:spcAft>
              <a:buFont typeface="Arial MT"/>
              <a:buChar char="●"/>
              <a:tabLst>
                <a:tab pos="469265" algn="l"/>
              </a:tabLst>
            </a:pPr>
            <a:r>
              <a:rPr sz="1600" b="1" dirty="0">
                <a:latin typeface="Arial"/>
                <a:cs typeface="Arial"/>
              </a:rPr>
              <a:t>Purpose</a:t>
            </a:r>
            <a:r>
              <a:rPr sz="1600" dirty="0">
                <a:latin typeface="Arial MT"/>
                <a:cs typeface="Arial MT"/>
              </a:rPr>
              <a:t>:</a:t>
            </a:r>
            <a:r>
              <a:rPr sz="1600" spc="-35" dirty="0">
                <a:latin typeface="Arial MT"/>
                <a:cs typeface="Arial MT"/>
              </a:rPr>
              <a:t> </a:t>
            </a:r>
            <a:r>
              <a:rPr sz="1600" dirty="0">
                <a:latin typeface="Arial MT"/>
                <a:cs typeface="Arial MT"/>
              </a:rPr>
              <a:t>Used</a:t>
            </a:r>
            <a:r>
              <a:rPr sz="1600" spc="-35" dirty="0">
                <a:latin typeface="Arial MT"/>
                <a:cs typeface="Arial MT"/>
              </a:rPr>
              <a:t> </a:t>
            </a:r>
            <a:r>
              <a:rPr sz="1600" dirty="0">
                <a:latin typeface="Arial MT"/>
                <a:cs typeface="Arial MT"/>
              </a:rPr>
              <a:t>by</a:t>
            </a:r>
            <a:r>
              <a:rPr sz="1600" spc="-35" dirty="0">
                <a:latin typeface="Arial MT"/>
                <a:cs typeface="Arial MT"/>
              </a:rPr>
              <a:t> </a:t>
            </a:r>
            <a:r>
              <a:rPr sz="1600" dirty="0">
                <a:latin typeface="Arial MT"/>
                <a:cs typeface="Arial MT"/>
              </a:rPr>
              <a:t>a</a:t>
            </a:r>
            <a:r>
              <a:rPr sz="1600" spc="-30" dirty="0">
                <a:latin typeface="Arial MT"/>
                <a:cs typeface="Arial MT"/>
              </a:rPr>
              <a:t> </a:t>
            </a:r>
            <a:r>
              <a:rPr sz="1600" b="1" dirty="0">
                <a:latin typeface="Arial"/>
                <a:cs typeface="Arial"/>
              </a:rPr>
              <a:t>different</a:t>
            </a:r>
            <a:r>
              <a:rPr sz="1600" b="1" spc="-35" dirty="0">
                <a:latin typeface="Arial"/>
                <a:cs typeface="Arial"/>
              </a:rPr>
              <a:t> </a:t>
            </a:r>
            <a:r>
              <a:rPr sz="1600" b="1" dirty="0">
                <a:latin typeface="Arial"/>
                <a:cs typeface="Arial"/>
              </a:rPr>
              <a:t>thread</a:t>
            </a:r>
            <a:r>
              <a:rPr sz="1600" b="1" spc="-30" dirty="0">
                <a:latin typeface="Arial"/>
                <a:cs typeface="Arial"/>
              </a:rPr>
              <a:t> </a:t>
            </a:r>
            <a:r>
              <a:rPr sz="1600" dirty="0">
                <a:latin typeface="Arial MT"/>
                <a:cs typeface="Arial MT"/>
              </a:rPr>
              <a:t>to</a:t>
            </a:r>
            <a:r>
              <a:rPr sz="1600" spc="-30" dirty="0">
                <a:latin typeface="Arial MT"/>
                <a:cs typeface="Arial MT"/>
              </a:rPr>
              <a:t> </a:t>
            </a:r>
            <a:r>
              <a:rPr sz="1600" dirty="0">
                <a:latin typeface="Arial MT"/>
                <a:cs typeface="Arial MT"/>
              </a:rPr>
              <a:t>request</a:t>
            </a:r>
            <a:r>
              <a:rPr sz="1600" spc="-35" dirty="0">
                <a:latin typeface="Arial MT"/>
                <a:cs typeface="Arial MT"/>
              </a:rPr>
              <a:t> </a:t>
            </a:r>
            <a:r>
              <a:rPr sz="1600" dirty="0">
                <a:latin typeface="Arial MT"/>
                <a:cs typeface="Arial MT"/>
              </a:rPr>
              <a:t>the</a:t>
            </a:r>
            <a:r>
              <a:rPr sz="1600" spc="-35" dirty="0">
                <a:latin typeface="Arial MT"/>
                <a:cs typeface="Arial MT"/>
              </a:rPr>
              <a:t> </a:t>
            </a:r>
            <a:r>
              <a:rPr sz="1600" dirty="0">
                <a:latin typeface="Arial MT"/>
                <a:cs typeface="Arial MT"/>
              </a:rPr>
              <a:t>termination</a:t>
            </a:r>
            <a:r>
              <a:rPr sz="1600" spc="-35" dirty="0">
                <a:latin typeface="Arial MT"/>
                <a:cs typeface="Arial MT"/>
              </a:rPr>
              <a:t> </a:t>
            </a:r>
            <a:r>
              <a:rPr sz="1600" dirty="0">
                <a:latin typeface="Arial MT"/>
                <a:cs typeface="Arial MT"/>
              </a:rPr>
              <a:t>of</a:t>
            </a:r>
            <a:r>
              <a:rPr sz="1600" spc="-35" dirty="0">
                <a:latin typeface="Arial MT"/>
                <a:cs typeface="Arial MT"/>
              </a:rPr>
              <a:t> </a:t>
            </a:r>
            <a:r>
              <a:rPr sz="1600" dirty="0">
                <a:latin typeface="Arial MT"/>
                <a:cs typeface="Arial MT"/>
              </a:rPr>
              <a:t>another</a:t>
            </a:r>
            <a:r>
              <a:rPr sz="1600" spc="-35" dirty="0">
                <a:latin typeface="Arial MT"/>
                <a:cs typeface="Arial MT"/>
              </a:rPr>
              <a:t> </a:t>
            </a:r>
            <a:r>
              <a:rPr sz="1600" spc="-10" dirty="0">
                <a:latin typeface="Arial MT"/>
                <a:cs typeface="Arial MT"/>
              </a:rPr>
              <a:t>thread.</a:t>
            </a:r>
            <a:endParaRPr sz="1600" dirty="0">
              <a:latin typeface="Arial MT"/>
              <a:cs typeface="Arial MT"/>
            </a:endParaRPr>
          </a:p>
          <a:p>
            <a:pPr marL="469265" indent="-351155">
              <a:lnSpc>
                <a:spcPct val="114000"/>
              </a:lnSpc>
              <a:spcBef>
                <a:spcPts val="290"/>
              </a:spcBef>
              <a:spcAft>
                <a:spcPts val="600"/>
              </a:spcAft>
              <a:buFont typeface="Arial MT"/>
              <a:buChar char="●"/>
              <a:tabLst>
                <a:tab pos="469265" algn="l"/>
              </a:tabLst>
            </a:pPr>
            <a:r>
              <a:rPr sz="1600" b="1" dirty="0">
                <a:latin typeface="Arial"/>
                <a:cs typeface="Arial"/>
              </a:rPr>
              <a:t>Usage</a:t>
            </a:r>
            <a:r>
              <a:rPr sz="1600" dirty="0">
                <a:latin typeface="Arial MT"/>
                <a:cs typeface="Arial MT"/>
              </a:rPr>
              <a:t>:</a:t>
            </a:r>
            <a:r>
              <a:rPr sz="1600" spc="-30" dirty="0">
                <a:latin typeface="Arial MT"/>
                <a:cs typeface="Arial MT"/>
              </a:rPr>
              <a:t> </a:t>
            </a:r>
            <a:r>
              <a:rPr sz="1600" dirty="0">
                <a:latin typeface="Arial MT"/>
                <a:cs typeface="Arial MT"/>
              </a:rPr>
              <a:t>One</a:t>
            </a:r>
            <a:r>
              <a:rPr sz="1600" spc="-15" dirty="0">
                <a:latin typeface="Arial MT"/>
                <a:cs typeface="Arial MT"/>
              </a:rPr>
              <a:t> </a:t>
            </a:r>
            <a:r>
              <a:rPr sz="1600" dirty="0">
                <a:latin typeface="Arial MT"/>
                <a:cs typeface="Arial MT"/>
              </a:rPr>
              <a:t>thread</a:t>
            </a:r>
            <a:r>
              <a:rPr sz="1600" spc="-20" dirty="0">
                <a:latin typeface="Arial MT"/>
                <a:cs typeface="Arial MT"/>
              </a:rPr>
              <a:t> </a:t>
            </a:r>
            <a:r>
              <a:rPr sz="1600" dirty="0">
                <a:latin typeface="Arial MT"/>
                <a:cs typeface="Arial MT"/>
              </a:rPr>
              <a:t>calls</a:t>
            </a:r>
            <a:r>
              <a:rPr sz="1600" spc="-10" dirty="0">
                <a:latin typeface="Arial MT"/>
                <a:cs typeface="Arial MT"/>
              </a:rPr>
              <a:t> </a:t>
            </a:r>
            <a:r>
              <a:rPr sz="1600" b="1" spc="-20" dirty="0">
                <a:solidFill>
                  <a:srgbClr val="188037"/>
                </a:solidFill>
                <a:latin typeface="Courier New"/>
                <a:cs typeface="Courier New"/>
              </a:rPr>
              <a:t>pthread_cancel</a:t>
            </a:r>
            <a:r>
              <a:rPr sz="1600" b="1" spc="-520" dirty="0">
                <a:solidFill>
                  <a:srgbClr val="188037"/>
                </a:solidFill>
                <a:latin typeface="Courier New"/>
                <a:cs typeface="Courier New"/>
              </a:rPr>
              <a:t> </a:t>
            </a:r>
            <a:r>
              <a:rPr sz="1600" dirty="0">
                <a:latin typeface="Arial MT"/>
                <a:cs typeface="Arial MT"/>
              </a:rPr>
              <a:t>on</a:t>
            </a:r>
            <a:r>
              <a:rPr sz="1600" spc="-15" dirty="0">
                <a:latin typeface="Arial MT"/>
                <a:cs typeface="Arial MT"/>
              </a:rPr>
              <a:t> </a:t>
            </a:r>
            <a:r>
              <a:rPr sz="1600" dirty="0">
                <a:latin typeface="Arial MT"/>
                <a:cs typeface="Arial MT"/>
              </a:rPr>
              <a:t>another</a:t>
            </a:r>
            <a:r>
              <a:rPr sz="1600" spc="-20" dirty="0">
                <a:latin typeface="Arial MT"/>
                <a:cs typeface="Arial MT"/>
              </a:rPr>
              <a:t> </a:t>
            </a:r>
            <a:r>
              <a:rPr sz="1600" dirty="0">
                <a:latin typeface="Arial MT"/>
                <a:cs typeface="Arial MT"/>
              </a:rPr>
              <a:t>thread's</a:t>
            </a:r>
            <a:r>
              <a:rPr sz="1600" spc="-15" dirty="0">
                <a:latin typeface="Arial MT"/>
                <a:cs typeface="Arial MT"/>
              </a:rPr>
              <a:t> </a:t>
            </a:r>
            <a:r>
              <a:rPr sz="1600" dirty="0">
                <a:latin typeface="Arial MT"/>
                <a:cs typeface="Arial MT"/>
              </a:rPr>
              <a:t>ID</a:t>
            </a:r>
            <a:r>
              <a:rPr sz="1600" spc="-15" dirty="0">
                <a:latin typeface="Arial MT"/>
                <a:cs typeface="Arial MT"/>
              </a:rPr>
              <a:t> </a:t>
            </a:r>
            <a:r>
              <a:rPr sz="1600" dirty="0">
                <a:latin typeface="Arial MT"/>
                <a:cs typeface="Arial MT"/>
              </a:rPr>
              <a:t>to</a:t>
            </a:r>
            <a:r>
              <a:rPr sz="1600" spc="-20" dirty="0">
                <a:latin typeface="Arial MT"/>
                <a:cs typeface="Arial MT"/>
              </a:rPr>
              <a:t> </a:t>
            </a:r>
            <a:r>
              <a:rPr sz="1600" dirty="0">
                <a:latin typeface="Arial MT"/>
                <a:cs typeface="Arial MT"/>
              </a:rPr>
              <a:t>ask</a:t>
            </a:r>
            <a:r>
              <a:rPr sz="1600" spc="-15" dirty="0">
                <a:latin typeface="Arial MT"/>
                <a:cs typeface="Arial MT"/>
              </a:rPr>
              <a:t> </a:t>
            </a:r>
            <a:r>
              <a:rPr sz="1600" dirty="0">
                <a:latin typeface="Arial MT"/>
                <a:cs typeface="Arial MT"/>
              </a:rPr>
              <a:t>it</a:t>
            </a:r>
            <a:r>
              <a:rPr sz="1600" spc="-15" dirty="0">
                <a:latin typeface="Arial MT"/>
                <a:cs typeface="Arial MT"/>
              </a:rPr>
              <a:t> </a:t>
            </a:r>
            <a:r>
              <a:rPr sz="1600" dirty="0">
                <a:latin typeface="Arial MT"/>
                <a:cs typeface="Arial MT"/>
              </a:rPr>
              <a:t>to</a:t>
            </a:r>
            <a:r>
              <a:rPr sz="1600" spc="-15" dirty="0">
                <a:latin typeface="Arial MT"/>
                <a:cs typeface="Arial MT"/>
              </a:rPr>
              <a:t> </a:t>
            </a:r>
            <a:r>
              <a:rPr sz="1600" dirty="0">
                <a:latin typeface="Arial MT"/>
                <a:cs typeface="Arial MT"/>
              </a:rPr>
              <a:t>stop</a:t>
            </a:r>
            <a:r>
              <a:rPr sz="1600" spc="-20" dirty="0">
                <a:latin typeface="Arial MT"/>
                <a:cs typeface="Arial MT"/>
              </a:rPr>
              <a:t> </a:t>
            </a:r>
            <a:r>
              <a:rPr sz="1600" spc="-10" dirty="0">
                <a:latin typeface="Arial MT"/>
                <a:cs typeface="Arial MT"/>
              </a:rPr>
              <a:t>running.</a:t>
            </a:r>
            <a:endParaRPr sz="1600" dirty="0">
              <a:latin typeface="Arial MT"/>
              <a:cs typeface="Arial MT"/>
            </a:endParaRPr>
          </a:p>
          <a:p>
            <a:pPr marL="469900" marR="5080" indent="-351790">
              <a:lnSpc>
                <a:spcPct val="114000"/>
              </a:lnSpc>
              <a:spcAft>
                <a:spcPts val="600"/>
              </a:spcAft>
              <a:buFont typeface="Arial MT"/>
              <a:buChar char="●"/>
              <a:tabLst>
                <a:tab pos="469900" algn="l"/>
              </a:tabLst>
            </a:pPr>
            <a:r>
              <a:rPr sz="1600" b="1" dirty="0">
                <a:latin typeface="Arial"/>
                <a:cs typeface="Arial"/>
              </a:rPr>
              <a:t>Asynchronous</a:t>
            </a:r>
            <a:r>
              <a:rPr sz="1600" b="1" spc="-35" dirty="0">
                <a:latin typeface="Arial"/>
                <a:cs typeface="Arial"/>
              </a:rPr>
              <a:t> </a:t>
            </a:r>
            <a:r>
              <a:rPr sz="1600" b="1" dirty="0">
                <a:latin typeface="Arial"/>
                <a:cs typeface="Arial"/>
              </a:rPr>
              <a:t>or</a:t>
            </a:r>
            <a:r>
              <a:rPr sz="1600" b="1" spc="-35" dirty="0">
                <a:latin typeface="Arial"/>
                <a:cs typeface="Arial"/>
              </a:rPr>
              <a:t> </a:t>
            </a:r>
            <a:r>
              <a:rPr sz="1600" b="1" dirty="0">
                <a:latin typeface="Arial"/>
                <a:cs typeface="Arial"/>
              </a:rPr>
              <a:t>Deferred</a:t>
            </a:r>
            <a:r>
              <a:rPr sz="1600" dirty="0">
                <a:latin typeface="Arial MT"/>
                <a:cs typeface="Arial MT"/>
              </a:rPr>
              <a:t>:</a:t>
            </a:r>
            <a:r>
              <a:rPr sz="1600" spc="-60" dirty="0">
                <a:latin typeface="Arial MT"/>
                <a:cs typeface="Arial MT"/>
              </a:rPr>
              <a:t> </a:t>
            </a:r>
            <a:r>
              <a:rPr sz="1600" dirty="0">
                <a:latin typeface="Arial MT"/>
                <a:cs typeface="Arial MT"/>
              </a:rPr>
              <a:t>The</a:t>
            </a:r>
            <a:r>
              <a:rPr sz="1600" spc="-35" dirty="0">
                <a:latin typeface="Arial MT"/>
                <a:cs typeface="Arial MT"/>
              </a:rPr>
              <a:t> </a:t>
            </a:r>
            <a:r>
              <a:rPr sz="1600" dirty="0">
                <a:latin typeface="Arial MT"/>
                <a:cs typeface="Arial MT"/>
              </a:rPr>
              <a:t>target</a:t>
            </a:r>
            <a:r>
              <a:rPr sz="1600" spc="-30" dirty="0">
                <a:latin typeface="Arial MT"/>
                <a:cs typeface="Arial MT"/>
              </a:rPr>
              <a:t> </a:t>
            </a:r>
            <a:r>
              <a:rPr sz="1600" dirty="0">
                <a:latin typeface="Arial MT"/>
                <a:cs typeface="Arial MT"/>
              </a:rPr>
              <a:t>thread</a:t>
            </a:r>
            <a:r>
              <a:rPr sz="1600" spc="-35" dirty="0">
                <a:latin typeface="Arial MT"/>
                <a:cs typeface="Arial MT"/>
              </a:rPr>
              <a:t> </a:t>
            </a:r>
            <a:r>
              <a:rPr sz="1600" dirty="0">
                <a:latin typeface="Arial MT"/>
                <a:cs typeface="Arial MT"/>
              </a:rPr>
              <a:t>can</a:t>
            </a:r>
            <a:r>
              <a:rPr sz="1600" spc="-30" dirty="0">
                <a:latin typeface="Arial MT"/>
                <a:cs typeface="Arial MT"/>
              </a:rPr>
              <a:t> </a:t>
            </a:r>
            <a:r>
              <a:rPr sz="1600" dirty="0">
                <a:latin typeface="Arial MT"/>
                <a:cs typeface="Arial MT"/>
              </a:rPr>
              <a:t>be</a:t>
            </a:r>
            <a:r>
              <a:rPr sz="1600" spc="-35" dirty="0">
                <a:latin typeface="Arial MT"/>
                <a:cs typeface="Arial MT"/>
              </a:rPr>
              <a:t> </a:t>
            </a:r>
            <a:r>
              <a:rPr sz="1600" dirty="0">
                <a:latin typeface="Arial MT"/>
                <a:cs typeface="Arial MT"/>
              </a:rPr>
              <a:t>set</a:t>
            </a:r>
            <a:r>
              <a:rPr sz="1600" spc="-35" dirty="0">
                <a:latin typeface="Arial MT"/>
                <a:cs typeface="Arial MT"/>
              </a:rPr>
              <a:t> </a:t>
            </a:r>
            <a:r>
              <a:rPr sz="1600" dirty="0">
                <a:latin typeface="Arial MT"/>
                <a:cs typeface="Arial MT"/>
              </a:rPr>
              <a:t>to</a:t>
            </a:r>
            <a:r>
              <a:rPr sz="1600" spc="-30" dirty="0">
                <a:latin typeface="Arial MT"/>
                <a:cs typeface="Arial MT"/>
              </a:rPr>
              <a:t> </a:t>
            </a:r>
            <a:r>
              <a:rPr sz="1600" dirty="0">
                <a:latin typeface="Arial MT"/>
                <a:cs typeface="Arial MT"/>
              </a:rPr>
              <a:t>respond</a:t>
            </a:r>
            <a:r>
              <a:rPr sz="1600" spc="-35" dirty="0">
                <a:latin typeface="Arial MT"/>
                <a:cs typeface="Arial MT"/>
              </a:rPr>
              <a:t> </a:t>
            </a:r>
            <a:r>
              <a:rPr sz="1600" dirty="0">
                <a:latin typeface="Arial MT"/>
                <a:cs typeface="Arial MT"/>
              </a:rPr>
              <a:t>immediately</a:t>
            </a:r>
            <a:r>
              <a:rPr sz="1600" spc="-35" dirty="0">
                <a:latin typeface="Arial MT"/>
                <a:cs typeface="Arial MT"/>
              </a:rPr>
              <a:t> </a:t>
            </a:r>
            <a:r>
              <a:rPr sz="1600" spc="-10" dirty="0">
                <a:latin typeface="Arial MT"/>
                <a:cs typeface="Arial MT"/>
              </a:rPr>
              <a:t>(</a:t>
            </a:r>
            <a:r>
              <a:rPr sz="1600" b="1" spc="-10" dirty="0">
                <a:solidFill>
                  <a:srgbClr val="188037"/>
                </a:solidFill>
                <a:latin typeface="Courier New"/>
                <a:cs typeface="Courier New"/>
              </a:rPr>
              <a:t>PTHREAD_CANCEL_ASYNCHRONOUS</a:t>
            </a:r>
            <a:r>
              <a:rPr sz="1600" spc="-10" dirty="0">
                <a:latin typeface="Arial MT"/>
                <a:cs typeface="Arial MT"/>
              </a:rPr>
              <a:t>) </a:t>
            </a:r>
            <a:r>
              <a:rPr sz="1600" dirty="0">
                <a:latin typeface="Arial MT"/>
                <a:cs typeface="Arial MT"/>
              </a:rPr>
              <a:t>or</a:t>
            </a:r>
            <a:r>
              <a:rPr sz="1600" spc="-35" dirty="0">
                <a:latin typeface="Arial MT"/>
                <a:cs typeface="Arial MT"/>
              </a:rPr>
              <a:t> </a:t>
            </a:r>
            <a:r>
              <a:rPr sz="1600" dirty="0">
                <a:latin typeface="Arial MT"/>
                <a:cs typeface="Arial MT"/>
              </a:rPr>
              <a:t>wait</a:t>
            </a:r>
            <a:r>
              <a:rPr sz="1600" spc="-35" dirty="0">
                <a:latin typeface="Arial MT"/>
                <a:cs typeface="Arial MT"/>
              </a:rPr>
              <a:t> </a:t>
            </a:r>
            <a:r>
              <a:rPr sz="1600" dirty="0">
                <a:latin typeface="Arial MT"/>
                <a:cs typeface="Arial MT"/>
              </a:rPr>
              <a:t>until</a:t>
            </a:r>
            <a:r>
              <a:rPr sz="1600" spc="-30" dirty="0">
                <a:latin typeface="Arial MT"/>
                <a:cs typeface="Arial MT"/>
              </a:rPr>
              <a:t> </a:t>
            </a:r>
            <a:r>
              <a:rPr sz="1600" dirty="0">
                <a:latin typeface="Arial MT"/>
                <a:cs typeface="Arial MT"/>
              </a:rPr>
              <a:t>a</a:t>
            </a:r>
            <a:r>
              <a:rPr sz="1600" spc="-35" dirty="0">
                <a:latin typeface="Arial MT"/>
                <a:cs typeface="Arial MT"/>
              </a:rPr>
              <a:t> </a:t>
            </a:r>
            <a:r>
              <a:rPr sz="1600" dirty="0">
                <a:latin typeface="Arial MT"/>
                <a:cs typeface="Arial MT"/>
              </a:rPr>
              <a:t>“cancellation</a:t>
            </a:r>
            <a:r>
              <a:rPr sz="1600" spc="-30" dirty="0">
                <a:latin typeface="Arial MT"/>
                <a:cs typeface="Arial MT"/>
              </a:rPr>
              <a:t> </a:t>
            </a:r>
            <a:r>
              <a:rPr sz="1600" dirty="0">
                <a:latin typeface="Arial MT"/>
                <a:cs typeface="Arial MT"/>
              </a:rPr>
              <a:t>point”</a:t>
            </a:r>
            <a:r>
              <a:rPr sz="1600" spc="-35" dirty="0">
                <a:latin typeface="Arial MT"/>
                <a:cs typeface="Arial MT"/>
              </a:rPr>
              <a:t> </a:t>
            </a:r>
            <a:r>
              <a:rPr sz="1600" spc="-10" dirty="0">
                <a:latin typeface="Arial MT"/>
                <a:cs typeface="Arial MT"/>
              </a:rPr>
              <a:t>(</a:t>
            </a:r>
            <a:r>
              <a:rPr sz="1600" b="1" spc="-10" dirty="0">
                <a:solidFill>
                  <a:srgbClr val="188037"/>
                </a:solidFill>
                <a:latin typeface="Courier New"/>
                <a:cs typeface="Courier New"/>
              </a:rPr>
              <a:t>PTHREAD_CANCEL_DEFERRED</a:t>
            </a:r>
            <a:r>
              <a:rPr sz="1600" spc="-10" dirty="0">
                <a:latin typeface="Arial MT"/>
                <a:cs typeface="Arial MT"/>
              </a:rPr>
              <a:t>),</a:t>
            </a:r>
            <a:r>
              <a:rPr sz="1600" spc="-30" dirty="0">
                <a:latin typeface="Arial MT"/>
                <a:cs typeface="Arial MT"/>
              </a:rPr>
              <a:t> </a:t>
            </a:r>
            <a:r>
              <a:rPr sz="1600" dirty="0">
                <a:latin typeface="Arial MT"/>
                <a:cs typeface="Arial MT"/>
              </a:rPr>
              <a:t>allowing</a:t>
            </a:r>
            <a:r>
              <a:rPr sz="1600" spc="-35" dirty="0">
                <a:latin typeface="Arial MT"/>
                <a:cs typeface="Arial MT"/>
              </a:rPr>
              <a:t> </a:t>
            </a:r>
            <a:r>
              <a:rPr sz="1600" dirty="0">
                <a:latin typeface="Arial MT"/>
                <a:cs typeface="Arial MT"/>
              </a:rPr>
              <a:t>it</a:t>
            </a:r>
            <a:r>
              <a:rPr sz="1600" spc="-30" dirty="0">
                <a:latin typeface="Arial MT"/>
                <a:cs typeface="Arial MT"/>
              </a:rPr>
              <a:t> </a:t>
            </a:r>
            <a:r>
              <a:rPr sz="1600" dirty="0">
                <a:latin typeface="Arial MT"/>
                <a:cs typeface="Arial MT"/>
              </a:rPr>
              <a:t>to</a:t>
            </a:r>
            <a:r>
              <a:rPr sz="1600" spc="-35" dirty="0">
                <a:latin typeface="Arial MT"/>
                <a:cs typeface="Arial MT"/>
              </a:rPr>
              <a:t> </a:t>
            </a:r>
            <a:r>
              <a:rPr sz="1600" dirty="0">
                <a:latin typeface="Arial MT"/>
                <a:cs typeface="Arial MT"/>
              </a:rPr>
              <a:t>clean</a:t>
            </a:r>
            <a:r>
              <a:rPr sz="1600" spc="-30" dirty="0">
                <a:latin typeface="Arial MT"/>
                <a:cs typeface="Arial MT"/>
              </a:rPr>
              <a:t> </a:t>
            </a:r>
            <a:r>
              <a:rPr sz="1600" dirty="0">
                <a:latin typeface="Arial MT"/>
                <a:cs typeface="Arial MT"/>
              </a:rPr>
              <a:t>up</a:t>
            </a:r>
            <a:r>
              <a:rPr sz="1600" spc="-35" dirty="0">
                <a:latin typeface="Arial MT"/>
                <a:cs typeface="Arial MT"/>
              </a:rPr>
              <a:t> </a:t>
            </a:r>
            <a:r>
              <a:rPr sz="1600" dirty="0">
                <a:latin typeface="Arial MT"/>
                <a:cs typeface="Arial MT"/>
              </a:rPr>
              <a:t>before</a:t>
            </a:r>
            <a:r>
              <a:rPr sz="1600" spc="-30" dirty="0">
                <a:latin typeface="Arial MT"/>
                <a:cs typeface="Arial MT"/>
              </a:rPr>
              <a:t> </a:t>
            </a:r>
            <a:r>
              <a:rPr sz="1600" spc="-10" dirty="0">
                <a:latin typeface="Arial MT"/>
                <a:cs typeface="Arial MT"/>
              </a:rPr>
              <a:t>termination.</a:t>
            </a:r>
            <a:endParaRPr sz="1600" dirty="0">
              <a:latin typeface="Arial MT"/>
              <a:cs typeface="Arial MT"/>
            </a:endParaRPr>
          </a:p>
          <a:p>
            <a:pPr marL="469265" indent="-351155">
              <a:lnSpc>
                <a:spcPct val="114000"/>
              </a:lnSpc>
              <a:spcBef>
                <a:spcPts val="285"/>
              </a:spcBef>
              <a:buFont typeface="Arial MT"/>
              <a:buChar char="●"/>
              <a:tabLst>
                <a:tab pos="469265" algn="l"/>
              </a:tabLst>
            </a:pPr>
            <a:r>
              <a:rPr sz="1600" b="1" spc="-20" dirty="0">
                <a:latin typeface="Arial"/>
                <a:cs typeface="Arial"/>
              </a:rPr>
              <a:t>Typical</a:t>
            </a:r>
            <a:r>
              <a:rPr sz="1600" b="1" spc="-30" dirty="0">
                <a:latin typeface="Arial"/>
                <a:cs typeface="Arial"/>
              </a:rPr>
              <a:t> </a:t>
            </a:r>
            <a:r>
              <a:rPr sz="1600" b="1" dirty="0">
                <a:latin typeface="Arial"/>
                <a:cs typeface="Arial"/>
              </a:rPr>
              <a:t>Scenario</a:t>
            </a:r>
            <a:r>
              <a:rPr sz="1600" dirty="0">
                <a:latin typeface="Arial MT"/>
                <a:cs typeface="Arial MT"/>
              </a:rPr>
              <a:t>:</a:t>
            </a:r>
            <a:r>
              <a:rPr sz="1600" spc="-30" dirty="0">
                <a:latin typeface="Arial MT"/>
                <a:cs typeface="Arial MT"/>
              </a:rPr>
              <a:t> </a:t>
            </a:r>
            <a:r>
              <a:rPr sz="1600" dirty="0">
                <a:latin typeface="Arial MT"/>
                <a:cs typeface="Arial MT"/>
              </a:rPr>
              <a:t>One</a:t>
            </a:r>
            <a:r>
              <a:rPr sz="1600" spc="-30" dirty="0">
                <a:latin typeface="Arial MT"/>
                <a:cs typeface="Arial MT"/>
              </a:rPr>
              <a:t> </a:t>
            </a:r>
            <a:r>
              <a:rPr sz="1600" dirty="0">
                <a:latin typeface="Arial MT"/>
                <a:cs typeface="Arial MT"/>
              </a:rPr>
              <a:t>thread</a:t>
            </a:r>
            <a:r>
              <a:rPr sz="1600" spc="-30" dirty="0">
                <a:latin typeface="Arial MT"/>
                <a:cs typeface="Arial MT"/>
              </a:rPr>
              <a:t> </a:t>
            </a:r>
            <a:r>
              <a:rPr sz="1600" dirty="0">
                <a:latin typeface="Arial MT"/>
                <a:cs typeface="Arial MT"/>
              </a:rPr>
              <a:t>needs</a:t>
            </a:r>
            <a:r>
              <a:rPr sz="1600" spc="-30" dirty="0">
                <a:latin typeface="Arial MT"/>
                <a:cs typeface="Arial MT"/>
              </a:rPr>
              <a:t> </a:t>
            </a:r>
            <a:r>
              <a:rPr sz="1600" dirty="0">
                <a:latin typeface="Arial MT"/>
                <a:cs typeface="Arial MT"/>
              </a:rPr>
              <a:t>to</a:t>
            </a:r>
            <a:r>
              <a:rPr sz="1600" spc="-30" dirty="0">
                <a:latin typeface="Arial MT"/>
                <a:cs typeface="Arial MT"/>
              </a:rPr>
              <a:t> </a:t>
            </a:r>
            <a:r>
              <a:rPr sz="1600" dirty="0">
                <a:latin typeface="Arial MT"/>
                <a:cs typeface="Arial MT"/>
              </a:rPr>
              <a:t>stop</a:t>
            </a:r>
            <a:r>
              <a:rPr sz="1600" spc="-25" dirty="0">
                <a:latin typeface="Arial MT"/>
                <a:cs typeface="Arial MT"/>
              </a:rPr>
              <a:t> </a:t>
            </a:r>
            <a:r>
              <a:rPr sz="1600" dirty="0">
                <a:latin typeface="Arial MT"/>
                <a:cs typeface="Arial MT"/>
              </a:rPr>
              <a:t>another</a:t>
            </a:r>
            <a:r>
              <a:rPr sz="1600" spc="-30" dirty="0">
                <a:latin typeface="Arial MT"/>
                <a:cs typeface="Arial MT"/>
              </a:rPr>
              <a:t> </a:t>
            </a:r>
            <a:r>
              <a:rPr sz="1600" dirty="0">
                <a:latin typeface="Arial MT"/>
                <a:cs typeface="Arial MT"/>
              </a:rPr>
              <a:t>thread</a:t>
            </a:r>
            <a:r>
              <a:rPr sz="1600" spc="-30" dirty="0">
                <a:latin typeface="Arial MT"/>
                <a:cs typeface="Arial MT"/>
              </a:rPr>
              <a:t> </a:t>
            </a:r>
            <a:r>
              <a:rPr sz="1600" dirty="0">
                <a:latin typeface="Arial MT"/>
                <a:cs typeface="Arial MT"/>
              </a:rPr>
              <a:t>because</a:t>
            </a:r>
            <a:r>
              <a:rPr sz="1600" spc="-30" dirty="0">
                <a:latin typeface="Arial MT"/>
                <a:cs typeface="Arial MT"/>
              </a:rPr>
              <a:t> </a:t>
            </a:r>
            <a:r>
              <a:rPr sz="1600" dirty="0">
                <a:latin typeface="Arial MT"/>
                <a:cs typeface="Arial MT"/>
              </a:rPr>
              <a:t>the</a:t>
            </a:r>
            <a:r>
              <a:rPr sz="1600" spc="-30" dirty="0">
                <a:latin typeface="Arial MT"/>
                <a:cs typeface="Arial MT"/>
              </a:rPr>
              <a:t> </a:t>
            </a:r>
            <a:r>
              <a:rPr sz="1600" dirty="0">
                <a:latin typeface="Arial MT"/>
                <a:cs typeface="Arial MT"/>
              </a:rPr>
              <a:t>task</a:t>
            </a:r>
            <a:r>
              <a:rPr sz="1600" spc="-30" dirty="0">
                <a:latin typeface="Arial MT"/>
                <a:cs typeface="Arial MT"/>
              </a:rPr>
              <a:t> </a:t>
            </a:r>
            <a:r>
              <a:rPr sz="1600" dirty="0">
                <a:latin typeface="Arial MT"/>
                <a:cs typeface="Arial MT"/>
              </a:rPr>
              <a:t>it</a:t>
            </a:r>
            <a:r>
              <a:rPr sz="1600" spc="-30" dirty="0">
                <a:latin typeface="Arial MT"/>
                <a:cs typeface="Arial MT"/>
              </a:rPr>
              <a:t> </a:t>
            </a:r>
            <a:r>
              <a:rPr sz="1600" dirty="0">
                <a:latin typeface="Arial MT"/>
                <a:cs typeface="Arial MT"/>
              </a:rPr>
              <a:t>was</a:t>
            </a:r>
            <a:r>
              <a:rPr sz="1600" spc="-25" dirty="0">
                <a:latin typeface="Arial MT"/>
                <a:cs typeface="Arial MT"/>
              </a:rPr>
              <a:t> </a:t>
            </a:r>
            <a:r>
              <a:rPr sz="1600" dirty="0">
                <a:latin typeface="Arial MT"/>
                <a:cs typeface="Arial MT"/>
              </a:rPr>
              <a:t>doing</a:t>
            </a:r>
            <a:r>
              <a:rPr sz="1600" spc="-30" dirty="0">
                <a:latin typeface="Arial MT"/>
                <a:cs typeface="Arial MT"/>
              </a:rPr>
              <a:t> </a:t>
            </a:r>
            <a:r>
              <a:rPr sz="1600" dirty="0">
                <a:latin typeface="Arial MT"/>
                <a:cs typeface="Arial MT"/>
              </a:rPr>
              <a:t>is</a:t>
            </a:r>
            <a:r>
              <a:rPr sz="1600" spc="-30" dirty="0">
                <a:latin typeface="Arial MT"/>
                <a:cs typeface="Arial MT"/>
              </a:rPr>
              <a:t> </a:t>
            </a:r>
            <a:r>
              <a:rPr sz="1600" dirty="0">
                <a:latin typeface="Arial MT"/>
                <a:cs typeface="Arial MT"/>
              </a:rPr>
              <a:t>no</a:t>
            </a:r>
            <a:r>
              <a:rPr sz="1600" spc="-30" dirty="0">
                <a:latin typeface="Arial MT"/>
                <a:cs typeface="Arial MT"/>
              </a:rPr>
              <a:t> </a:t>
            </a:r>
            <a:r>
              <a:rPr sz="1600" dirty="0">
                <a:latin typeface="Arial MT"/>
                <a:cs typeface="Arial MT"/>
              </a:rPr>
              <a:t>longer</a:t>
            </a:r>
            <a:r>
              <a:rPr sz="1600" spc="-30" dirty="0">
                <a:latin typeface="Arial MT"/>
                <a:cs typeface="Arial MT"/>
              </a:rPr>
              <a:t> </a:t>
            </a:r>
            <a:r>
              <a:rPr sz="1600" spc="-10" dirty="0">
                <a:latin typeface="Arial MT"/>
                <a:cs typeface="Arial MT"/>
              </a:rPr>
              <a:t>needed.</a:t>
            </a:r>
            <a:endParaRPr sz="1600" dirty="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emplate/>
  <TotalTime>239</TotalTime>
  <Words>3714</Words>
  <Application>Microsoft Office PowerPoint</Application>
  <PresentationFormat>Widescreen</PresentationFormat>
  <Paragraphs>382</Paragraphs>
  <Slides>36</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Arial</vt:lpstr>
      <vt:lpstr>Arial MT</vt:lpstr>
      <vt:lpstr>Courier New</vt:lpstr>
      <vt:lpstr>Georgia</vt:lpstr>
      <vt:lpstr>Office Theme</vt:lpstr>
      <vt:lpstr>CSC 362: System Programming</vt:lpstr>
      <vt:lpstr>Status Check</vt:lpstr>
      <vt:lpstr>Processes vs. Threads</vt:lpstr>
      <vt:lpstr>Why Processes are not Ideal?</vt:lpstr>
      <vt:lpstr>The thread is now the unit of “CPU Scheduling” A process is just a container for threads</vt:lpstr>
      <vt:lpstr>Multi-threaded Programming Thread vs Process</vt:lpstr>
      <vt:lpstr>Multi-threaded Programming Thread vs Process</vt:lpstr>
      <vt:lpstr>Multi-threaded Programming Thread vs Process</vt:lpstr>
      <vt:lpstr>Multi-threaded Programming</vt:lpstr>
      <vt:lpstr>Multi-threaded Programming</vt:lpstr>
      <vt:lpstr>Pthreads in C</vt:lpstr>
      <vt:lpstr>POSIX Thread Libraries pthread family of functions</vt:lpstr>
      <vt:lpstr>POSIX Thread Libraries</vt:lpstr>
      <vt:lpstr>Multithreading in C Creating Threads</vt:lpstr>
      <vt:lpstr>Multithreading in C</vt:lpstr>
      <vt:lpstr>Multithreading in C Creating Threads</vt:lpstr>
      <vt:lpstr>Multithreading in C Creating Threads</vt:lpstr>
      <vt:lpstr>Managing Thread Lifecycle</vt:lpstr>
      <vt:lpstr>Multithreading in C Waiting for a Thread to Complete</vt:lpstr>
      <vt:lpstr>Multithreading in C Waiting for a Thread to Complete</vt:lpstr>
      <vt:lpstr>Multithreading in C Waiting for a Thread to Complete</vt:lpstr>
      <vt:lpstr>Multithreading in C Waiting for a Thread to Complete</vt:lpstr>
      <vt:lpstr>Multithreading in C Terminating a Thread</vt:lpstr>
      <vt:lpstr>Multithreading in C Terminating a Thread</vt:lpstr>
      <vt:lpstr>Multithreading in C Terminating a Thread</vt:lpstr>
      <vt:lpstr>Multithreading in C Terminating a Thread</vt:lpstr>
      <vt:lpstr>Multithreading in C Stopping a Thread</vt:lpstr>
      <vt:lpstr>Multithreading in C Stopping a Thread</vt:lpstr>
      <vt:lpstr>Multithreading in C Stopping a Thread</vt:lpstr>
      <vt:lpstr>Multithreading in C Stopping a Thread</vt:lpstr>
      <vt:lpstr>Multithreading in C Stopping a Thread</vt:lpstr>
      <vt:lpstr>Multithreading in C Stopping a Thread</vt:lpstr>
      <vt:lpstr>Multithreading in C Stopping a Thread</vt:lpstr>
      <vt:lpstr>Multithreading in C Stopping a Thread</vt:lpstr>
      <vt:lpstr>Multithreading in C Stopping a Thread</vt:lpstr>
      <vt:lpstr>pthread_cancel vs pthread_exit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CSC362 - Lecture 17.pptx</dc:title>
  <cp:lastModifiedBy>Richard Johnson</cp:lastModifiedBy>
  <cp:revision>122</cp:revision>
  <dcterms:created xsi:type="dcterms:W3CDTF">2026-01-14T01:01:11Z</dcterms:created>
  <dcterms:modified xsi:type="dcterms:W3CDTF">2026-03-30T13:28:48Z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2026-01-14T00:00:00Z</vt:filetime>
  </property>
  <property fmtid="{D5CDD505-2E9C-101B-9397-08002B2CF9AE}" pid="3" name="Creator">
    <vt:lpwstr>Google</vt:lpwstr>
  </property>
  <property fmtid="{D5CDD505-2E9C-101B-9397-08002B2CF9AE}" pid="4" name="LastSaved">
    <vt:filetime>2026-01-14T00:00:00Z</vt:filetime>
  </property>
</Properties>
</file>