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161" autoAdjust="0"/>
  </p:normalViewPr>
  <p:slideViewPr>
    <p:cSldViewPr>
      <p:cViewPr varScale="1">
        <p:scale>
          <a:sx n="58" d="100"/>
          <a:sy n="58" d="100"/>
        </p:scale>
        <p:origin x="1546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9B4FC9-9D09-4B01-84B5-7164305BF390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270BA-B53D-4952-9831-39EBF9263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54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270BA-B53D-4952-9831-39EBF9263E0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52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My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Zsh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an open-source, community-driven framework designed to help you manage your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Zsh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configuration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provides a collection of pre-built scripts, sensible defaults, and a modular architecture for themes and plugins.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Benefits: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Ease of Setup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provides a streamlined way to configure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Zsh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without needing deep knowledge of shell scripting.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 easily change your terminal's appearance using over 150 built-in themes.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Productivity Plugins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includes over 300 optional plugins for tools like Git, macOS, Docker, and Node.js.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Auto-Updates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built-in tool helps you keep your configuration and plugins up to date with the latest community improvements.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Git Plugin Features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you were just working with Git,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 plugin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one of the most popular features. It provides functions and nearly 200 aliases to speed up your workflow: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Alias - Full Git Command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git status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git pull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git push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 - git add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gcmsg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git commit –m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git checkout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270BA-B53D-4952-9831-39EBF9263E0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212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Quick Tips:</a:t>
            </a:r>
          </a:p>
          <a:p>
            <a:r>
              <a:rPr lang="en-US" b="1" dirty="0"/>
              <a:t>Comments:</a:t>
            </a:r>
            <a:r>
              <a:rPr lang="en-US" dirty="0"/>
              <a:t> Use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</a:t>
            </a:r>
            <a:r>
              <a:rPr lang="en-US" dirty="0"/>
              <a:t> to document what your code does.</a:t>
            </a:r>
          </a:p>
          <a:p>
            <a:r>
              <a:rPr lang="en-US" b="1" dirty="0"/>
              <a:t>Variables:</a:t>
            </a:r>
            <a:r>
              <a:rPr lang="en-US" dirty="0"/>
              <a:t> Define them without spaces: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NAME=“Alice"</a:t>
            </a:r>
            <a:r>
              <a:rPr lang="en-US" dirty="0"/>
              <a:t>.</a:t>
            </a:r>
          </a:p>
          <a:p>
            <a:r>
              <a:rPr lang="en-US" b="1" dirty="0"/>
              <a:t>Exit Codes:</a:t>
            </a:r>
            <a:r>
              <a:rPr lang="en-US" dirty="0"/>
              <a:t> Use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exit 0</a:t>
            </a:r>
            <a:r>
              <a:rPr lang="en-US" dirty="0"/>
              <a:t> at the end to signal that the script finished successfully.</a:t>
            </a:r>
          </a:p>
          <a:p>
            <a:endParaRPr lang="en-US" dirty="0"/>
          </a:p>
          <a:p>
            <a:r>
              <a:rPr lang="en-US" b="1" dirty="0"/>
              <a:t>$</a:t>
            </a:r>
            <a:r>
              <a:rPr lang="en-US" dirty="0"/>
              <a:t> symbol is primarily used for </a:t>
            </a:r>
            <a:r>
              <a:rPr lang="en-US" b="1" dirty="0"/>
              <a:t>Expansion</a:t>
            </a:r>
            <a:r>
              <a:rPr lang="en-US" dirty="0"/>
              <a:t>. </a:t>
            </a:r>
          </a:p>
          <a:p>
            <a:r>
              <a:rPr lang="en-US" dirty="0"/>
              <a:t>It tells the shell to look at what follows and replace it with a specific value.</a:t>
            </a:r>
          </a:p>
          <a:p>
            <a:endParaRPr lang="en-US" dirty="0"/>
          </a:p>
          <a:p>
            <a:r>
              <a:rPr lang="en-US" b="1" dirty="0"/>
              <a:t>Setting: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NAME="Alice"</a:t>
            </a:r>
            <a:endParaRPr lang="en-US" dirty="0"/>
          </a:p>
          <a:p>
            <a:r>
              <a:rPr lang="en-US" b="1" dirty="0"/>
              <a:t>Accessing: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echo $NAME</a:t>
            </a:r>
            <a:r>
              <a:rPr lang="en-US" dirty="0"/>
              <a:t> (Outputs: Alice)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270BA-B53D-4952-9831-39EBF9263E0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76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F204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F204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89749" y="2170725"/>
            <a:ext cx="2706370" cy="406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725700" y="2170725"/>
            <a:ext cx="3902709" cy="406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33945"/>
            <a:ext cx="12192000" cy="100905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0375" y="1689861"/>
            <a:ext cx="5414645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1917" y="2198920"/>
            <a:ext cx="10708165" cy="3881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F204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2183" y="2702546"/>
            <a:ext cx="866203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CSC</a:t>
            </a:r>
            <a:r>
              <a:rPr sz="4900" spc="-85" dirty="0"/>
              <a:t> </a:t>
            </a:r>
            <a:r>
              <a:rPr sz="4900" dirty="0"/>
              <a:t>362:</a:t>
            </a:r>
            <a:r>
              <a:rPr sz="4900" spc="-85" dirty="0"/>
              <a:t> </a:t>
            </a:r>
            <a:r>
              <a:rPr sz="4900" dirty="0"/>
              <a:t>System</a:t>
            </a:r>
            <a:r>
              <a:rPr sz="4900" spc="-90" dirty="0"/>
              <a:t> </a:t>
            </a:r>
            <a:r>
              <a:rPr sz="4900" spc="-10" dirty="0"/>
              <a:t>Programming</a:t>
            </a:r>
            <a:endParaRPr sz="4900"/>
          </a:p>
        </p:txBody>
      </p:sp>
      <p:sp>
        <p:nvSpPr>
          <p:cNvPr id="3" name="object 3"/>
          <p:cNvSpPr txBox="1"/>
          <p:nvPr/>
        </p:nvSpPr>
        <p:spPr>
          <a:xfrm>
            <a:off x="1762184" y="3585985"/>
            <a:ext cx="866203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F2044"/>
                </a:solidFill>
                <a:latin typeface="Arial MT"/>
                <a:cs typeface="Arial MT"/>
              </a:rPr>
              <a:t>Linux Environment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62183" y="4259898"/>
            <a:ext cx="8910456" cy="533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1600" dirty="0"/>
              <a:t>Original slides by: Amitabha Dey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1600" dirty="0"/>
              <a:t>Adapted by: Dr. Richard Johnson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03401" y="5437645"/>
            <a:ext cx="57823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617855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Department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Computer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Science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University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North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Carolina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at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Greensboro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18174" y="4145624"/>
            <a:ext cx="9054465" cy="31115"/>
          </a:xfrm>
          <a:custGeom>
            <a:avLst/>
            <a:gdLst/>
            <a:ahLst/>
            <a:cxnLst/>
            <a:rect l="l" t="t" r="r" b="b"/>
            <a:pathLst>
              <a:path w="9054465" h="31114">
                <a:moveTo>
                  <a:pt x="0" y="0"/>
                </a:moveTo>
                <a:lnTo>
                  <a:pt x="9053999" y="30899"/>
                </a:lnTo>
              </a:path>
            </a:pathLst>
          </a:custGeom>
          <a:ln w="9524">
            <a:solidFill>
              <a:srgbClr val="0F20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35436"/>
            <a:ext cx="1834514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Status</a:t>
            </a:r>
            <a:r>
              <a:rPr spc="-30" dirty="0"/>
              <a:t> </a:t>
            </a:r>
            <a:r>
              <a:rPr spc="-10" dirty="0"/>
              <a:t>Check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1325" y="2041316"/>
            <a:ext cx="5215890" cy="4154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04495">
              <a:lnSpc>
                <a:spcPct val="100000"/>
              </a:lnSpc>
              <a:spcBef>
                <a:spcPts val="100"/>
              </a:spcBef>
              <a:buChar char="●"/>
              <a:tabLst>
                <a:tab pos="46926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Run</a:t>
            </a:r>
            <a:r>
              <a:rPr sz="23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C/C++</a:t>
            </a:r>
            <a:r>
              <a:rPr sz="23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code</a:t>
            </a:r>
            <a:r>
              <a:rPr sz="23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23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2044"/>
                </a:solidFill>
                <a:latin typeface="Arial MT"/>
                <a:cs typeface="Arial MT"/>
              </a:rPr>
              <a:t>VScode</a:t>
            </a:r>
            <a:endParaRPr sz="2300" dirty="0">
              <a:latin typeface="Arial MT"/>
              <a:cs typeface="Arial MT"/>
            </a:endParaRPr>
          </a:p>
          <a:p>
            <a:pPr marL="469265" indent="-40449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Preprocessor</a:t>
            </a:r>
            <a:r>
              <a:rPr sz="23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2044"/>
                </a:solidFill>
                <a:latin typeface="Arial MT"/>
                <a:cs typeface="Arial MT"/>
              </a:rPr>
              <a:t>directives</a:t>
            </a:r>
            <a:endParaRPr sz="2300" dirty="0">
              <a:latin typeface="Arial MT"/>
              <a:cs typeface="Arial MT"/>
            </a:endParaRPr>
          </a:p>
          <a:p>
            <a:pPr marL="469265" indent="-40449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Source</a:t>
            </a:r>
            <a:r>
              <a:rPr sz="23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code</a:t>
            </a:r>
            <a:r>
              <a:rPr sz="23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compilation</a:t>
            </a:r>
            <a:r>
              <a:rPr sz="23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2044"/>
                </a:solidFill>
                <a:latin typeface="Arial MT"/>
                <a:cs typeface="Arial MT"/>
              </a:rPr>
              <a:t>process</a:t>
            </a:r>
            <a:endParaRPr sz="2300" dirty="0">
              <a:latin typeface="Arial MT"/>
              <a:cs typeface="Arial MT"/>
            </a:endParaRPr>
          </a:p>
          <a:p>
            <a:pPr marL="469265" indent="-40449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C:</a:t>
            </a:r>
            <a:r>
              <a:rPr sz="23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Control</a:t>
            </a:r>
            <a:r>
              <a:rPr sz="23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2044"/>
                </a:solidFill>
                <a:latin typeface="Arial MT"/>
                <a:cs typeface="Arial MT"/>
              </a:rPr>
              <a:t>Structures</a:t>
            </a:r>
            <a:endParaRPr sz="2300" dirty="0">
              <a:latin typeface="Arial MT"/>
              <a:cs typeface="Arial MT"/>
            </a:endParaRPr>
          </a:p>
          <a:p>
            <a:pPr marL="469265" indent="-40449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More</a:t>
            </a:r>
            <a:r>
              <a:rPr sz="23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C:</a:t>
            </a:r>
            <a:r>
              <a:rPr sz="23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Continue,</a:t>
            </a:r>
            <a:r>
              <a:rPr sz="23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extern,</a:t>
            </a:r>
            <a:r>
              <a:rPr sz="23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sizeof,</a:t>
            </a:r>
            <a:r>
              <a:rPr sz="2300" spc="-25" dirty="0">
                <a:solidFill>
                  <a:srgbClr val="0F2044"/>
                </a:solidFill>
                <a:latin typeface="Arial MT"/>
                <a:cs typeface="Arial MT"/>
              </a:rPr>
              <a:t> etc</a:t>
            </a:r>
            <a:endParaRPr sz="23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Clr>
                <a:srgbClr val="0F2044"/>
              </a:buClr>
              <a:buFont typeface="Arial MT"/>
              <a:buChar char="●"/>
            </a:pPr>
            <a:endParaRPr sz="23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What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we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will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cover</a:t>
            </a:r>
            <a:r>
              <a:rPr sz="2500" spc="-30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spc="-20" dirty="0">
                <a:solidFill>
                  <a:srgbClr val="0F2044"/>
                </a:solidFill>
                <a:latin typeface="Georgia"/>
                <a:cs typeface="Georgia"/>
              </a:rPr>
              <a:t>today</a:t>
            </a:r>
            <a:endParaRPr sz="2500" dirty="0">
              <a:latin typeface="Georgia"/>
              <a:cs typeface="Georgia"/>
            </a:endParaRPr>
          </a:p>
          <a:p>
            <a:pPr marL="469265" indent="-404495">
              <a:lnSpc>
                <a:spcPct val="100000"/>
              </a:lnSpc>
              <a:spcBef>
                <a:spcPts val="1520"/>
              </a:spcBef>
              <a:buChar char="●"/>
              <a:tabLst>
                <a:tab pos="469265" algn="l"/>
              </a:tabLst>
            </a:pPr>
            <a:r>
              <a:rPr sz="2300" spc="-25" dirty="0">
                <a:solidFill>
                  <a:srgbClr val="0F2044"/>
                </a:solidFill>
                <a:latin typeface="Arial MT"/>
                <a:cs typeface="Arial MT"/>
              </a:rPr>
              <a:t>Terminal</a:t>
            </a:r>
            <a:r>
              <a:rPr sz="2300" spc="-9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2044"/>
                </a:solidFill>
                <a:latin typeface="Arial MT"/>
                <a:cs typeface="Arial MT"/>
              </a:rPr>
              <a:t>Commands</a:t>
            </a:r>
            <a:endParaRPr sz="2300" dirty="0">
              <a:latin typeface="Arial MT"/>
              <a:cs typeface="Arial MT"/>
            </a:endParaRPr>
          </a:p>
          <a:p>
            <a:pPr marL="926465" lvl="1" indent="-404495">
              <a:lnSpc>
                <a:spcPct val="100000"/>
              </a:lnSpc>
              <a:buChar char="○"/>
              <a:tabLst>
                <a:tab pos="92646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Basic</a:t>
            </a:r>
            <a:r>
              <a:rPr sz="23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Navigation</a:t>
            </a:r>
            <a:r>
              <a:rPr sz="23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2044"/>
                </a:solidFill>
                <a:latin typeface="Arial MT"/>
                <a:cs typeface="Arial MT"/>
              </a:rPr>
              <a:t>Commands</a:t>
            </a:r>
            <a:endParaRPr sz="2300" dirty="0">
              <a:latin typeface="Arial MT"/>
              <a:cs typeface="Arial MT"/>
            </a:endParaRPr>
          </a:p>
          <a:p>
            <a:pPr marL="926465" lvl="1" indent="-404495">
              <a:lnSpc>
                <a:spcPct val="100000"/>
              </a:lnSpc>
              <a:buChar char="○"/>
              <a:tabLst>
                <a:tab pos="92646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File</a:t>
            </a:r>
            <a:r>
              <a:rPr sz="23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Manipulation</a:t>
            </a:r>
            <a:r>
              <a:rPr sz="23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2044"/>
                </a:solidFill>
                <a:latin typeface="Arial MT"/>
                <a:cs typeface="Arial MT"/>
              </a:rPr>
              <a:t>Commands</a:t>
            </a:r>
            <a:endParaRPr sz="2300" dirty="0">
              <a:latin typeface="Arial MT"/>
              <a:cs typeface="Arial MT"/>
            </a:endParaRPr>
          </a:p>
          <a:p>
            <a:pPr marL="926465" lvl="1" indent="-404495">
              <a:lnSpc>
                <a:spcPct val="100000"/>
              </a:lnSpc>
              <a:buChar char="○"/>
              <a:tabLst>
                <a:tab pos="92646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Environment</a:t>
            </a:r>
            <a:r>
              <a:rPr sz="23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2044"/>
                </a:solidFill>
                <a:latin typeface="Arial MT"/>
                <a:cs typeface="Arial MT"/>
              </a:rPr>
              <a:t>Variables</a:t>
            </a:r>
            <a:endParaRPr sz="2300" dirty="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2518" y="2216065"/>
            <a:ext cx="3208348" cy="27438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42973"/>
            <a:ext cx="4028440" cy="674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/>
              <a:t>Understanding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Terminal</a:t>
            </a:r>
            <a:br>
              <a:rPr lang="en-US" spc="-10" dirty="0"/>
            </a:br>
            <a:r>
              <a:rPr lang="en-US" sz="1800" dirty="0"/>
              <a:t>GUI</a:t>
            </a:r>
            <a:r>
              <a:rPr lang="en-US" sz="1800" spc="-25" dirty="0"/>
              <a:t> </a:t>
            </a:r>
            <a:r>
              <a:rPr lang="en-US" sz="1800" dirty="0"/>
              <a:t>vs</a:t>
            </a:r>
            <a:r>
              <a:rPr lang="en-US" sz="1800" spc="-20" dirty="0"/>
              <a:t> </a:t>
            </a:r>
            <a:r>
              <a:rPr lang="en-US" sz="1800" spc="-25" dirty="0"/>
              <a:t>CLI</a:t>
            </a:r>
            <a:endParaRPr sz="18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10374" y="1797963"/>
            <a:ext cx="9267026" cy="43893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20000"/>
              </a:lnSpc>
              <a:spcBef>
                <a:spcPts val="100"/>
              </a:spcBef>
            </a:pPr>
            <a:endParaRPr lang="en-US" sz="1800" dirty="0">
              <a:latin typeface="Georgia"/>
              <a:cs typeface="Georgia"/>
            </a:endParaRPr>
          </a:p>
          <a:p>
            <a:pPr marL="12700">
              <a:lnSpc>
                <a:spcPct val="120000"/>
              </a:lnSpc>
              <a:spcBef>
                <a:spcPts val="1275"/>
              </a:spcBef>
            </a:pPr>
            <a:r>
              <a:rPr sz="2000" dirty="0">
                <a:solidFill>
                  <a:srgbClr val="980000"/>
                </a:solidFill>
                <a:latin typeface="Arial MT"/>
                <a:cs typeface="Arial MT"/>
              </a:rPr>
              <a:t>GUI</a:t>
            </a:r>
            <a:r>
              <a:rPr sz="20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980000"/>
                </a:solidFill>
                <a:latin typeface="Arial MT"/>
                <a:cs typeface="Arial MT"/>
              </a:rPr>
              <a:t>(Graphical</a:t>
            </a:r>
            <a:r>
              <a:rPr sz="20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980000"/>
                </a:solidFill>
                <a:latin typeface="Arial MT"/>
                <a:cs typeface="Arial MT"/>
              </a:rPr>
              <a:t>User</a:t>
            </a:r>
            <a:r>
              <a:rPr sz="20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980000"/>
                </a:solidFill>
                <a:latin typeface="Arial MT"/>
                <a:cs typeface="Arial MT"/>
              </a:rPr>
              <a:t>Interface)</a:t>
            </a:r>
            <a:endParaRPr sz="2000" dirty="0">
              <a:latin typeface="Arial MT"/>
              <a:cs typeface="Arial MT"/>
            </a:endParaRPr>
          </a:p>
          <a:p>
            <a:pPr marL="469900" marR="716280" indent="-367030">
              <a:lnSpc>
                <a:spcPct val="120000"/>
              </a:lnSpc>
              <a:buChar char="●"/>
              <a:tabLst>
                <a:tab pos="469900" algn="l"/>
              </a:tabLst>
            </a:pP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Visual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Interface: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Users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interact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with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system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through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graphical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elements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like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windows,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icons,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menus.</a:t>
            </a:r>
            <a:endParaRPr sz="2000" dirty="0">
              <a:latin typeface="Arial MT"/>
              <a:cs typeface="Arial MT"/>
            </a:endParaRPr>
          </a:p>
          <a:p>
            <a:pPr marL="469265" indent="-366395">
              <a:lnSpc>
                <a:spcPct val="120000"/>
              </a:lnSpc>
              <a:buChar char="●"/>
              <a:tabLst>
                <a:tab pos="469265" algn="l"/>
              </a:tabLst>
            </a:pP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User-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Friendly: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Easier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learn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use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beginners.</a:t>
            </a:r>
            <a:endParaRPr sz="2000" dirty="0">
              <a:latin typeface="Arial MT"/>
              <a:cs typeface="Arial MT"/>
            </a:endParaRPr>
          </a:p>
          <a:p>
            <a:pPr marL="469900" marR="287020" indent="-367030">
              <a:lnSpc>
                <a:spcPct val="120000"/>
              </a:lnSpc>
              <a:spcAft>
                <a:spcPts val="600"/>
              </a:spcAft>
              <a:buChar char="●"/>
              <a:tabLst>
                <a:tab pos="469900" algn="l"/>
              </a:tabLst>
            </a:pP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Limited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Control:</a:t>
            </a:r>
            <a:r>
              <a:rPr sz="20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Typically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offers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less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granular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control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compared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the 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CLI.</a:t>
            </a:r>
            <a:endParaRPr sz="2000" dirty="0">
              <a:latin typeface="Arial MT"/>
              <a:cs typeface="Arial MT"/>
            </a:endParaRPr>
          </a:p>
          <a:p>
            <a:pPr marL="12700">
              <a:lnSpc>
                <a:spcPct val="120000"/>
              </a:lnSpc>
              <a:spcBef>
                <a:spcPts val="1080"/>
              </a:spcBef>
            </a:pPr>
            <a:r>
              <a:rPr sz="2000" dirty="0">
                <a:solidFill>
                  <a:srgbClr val="980000"/>
                </a:solidFill>
                <a:latin typeface="Arial MT"/>
                <a:cs typeface="Arial MT"/>
              </a:rPr>
              <a:t>CLI</a:t>
            </a:r>
            <a:r>
              <a:rPr sz="20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980000"/>
                </a:solidFill>
                <a:latin typeface="Arial MT"/>
                <a:cs typeface="Arial MT"/>
              </a:rPr>
              <a:t>(Command</a:t>
            </a:r>
            <a:r>
              <a:rPr sz="20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980000"/>
                </a:solidFill>
                <a:latin typeface="Arial MT"/>
                <a:cs typeface="Arial MT"/>
              </a:rPr>
              <a:t>Line</a:t>
            </a:r>
            <a:r>
              <a:rPr sz="20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980000"/>
                </a:solidFill>
                <a:latin typeface="Arial MT"/>
                <a:cs typeface="Arial MT"/>
              </a:rPr>
              <a:t>Interface)</a:t>
            </a:r>
            <a:endParaRPr sz="2000" dirty="0">
              <a:latin typeface="Arial MT"/>
              <a:cs typeface="Arial MT"/>
            </a:endParaRPr>
          </a:p>
          <a:p>
            <a:pPr marL="469265" indent="-366395">
              <a:lnSpc>
                <a:spcPct val="120000"/>
              </a:lnSpc>
              <a:buChar char="●"/>
              <a:tabLst>
                <a:tab pos="469265" algn="l"/>
              </a:tabLst>
            </a:pPr>
            <a:r>
              <a:rPr sz="2000" spc="-55" dirty="0">
                <a:solidFill>
                  <a:srgbClr val="0F2044"/>
                </a:solidFill>
                <a:latin typeface="Arial MT"/>
                <a:cs typeface="Arial MT"/>
              </a:rPr>
              <a:t>Text-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based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Input: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Users</a:t>
            </a:r>
            <a:r>
              <a:rPr sz="20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type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commands</a:t>
            </a:r>
            <a:r>
              <a:rPr sz="20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perform</a:t>
            </a:r>
            <a:r>
              <a:rPr sz="20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specific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tasks.</a:t>
            </a:r>
            <a:endParaRPr sz="2000" dirty="0">
              <a:latin typeface="Arial MT"/>
              <a:cs typeface="Arial MT"/>
            </a:endParaRPr>
          </a:p>
          <a:p>
            <a:pPr marL="469265" indent="-366395">
              <a:lnSpc>
                <a:spcPct val="120000"/>
              </a:lnSpc>
              <a:buChar char="●"/>
              <a:tabLst>
                <a:tab pos="469265" algn="l"/>
              </a:tabLst>
            </a:pP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Flexibility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Power: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Offers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more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control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flexibility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over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system.</a:t>
            </a:r>
            <a:endParaRPr sz="2000" dirty="0">
              <a:latin typeface="Arial MT"/>
              <a:cs typeface="Arial MT"/>
            </a:endParaRPr>
          </a:p>
          <a:p>
            <a:pPr marL="469265" indent="-366395">
              <a:lnSpc>
                <a:spcPct val="120000"/>
              </a:lnSpc>
              <a:buChar char="●"/>
              <a:tabLst>
                <a:tab pos="469265" algn="l"/>
              </a:tabLst>
            </a:pP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Scriptability:</a:t>
            </a:r>
            <a:r>
              <a:rPr sz="2000" spc="-1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Allows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automation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through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scripting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(e.g.,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Bash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scripts).</a:t>
            </a:r>
            <a:endParaRPr sz="2000" dirty="0">
              <a:latin typeface="Arial MT"/>
              <a:cs typeface="Arial MT"/>
            </a:endParaRPr>
          </a:p>
          <a:p>
            <a:pPr marL="469900" marR="283845" indent="-367030">
              <a:lnSpc>
                <a:spcPct val="120000"/>
              </a:lnSpc>
              <a:buChar char="●"/>
              <a:tabLst>
                <a:tab pos="469900" algn="l"/>
              </a:tabLst>
            </a:pP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Efficiency: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Often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faster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experienced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users,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especially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repetitive tasks.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01200" y="2117516"/>
            <a:ext cx="2514600" cy="36043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115952"/>
            <a:ext cx="4028440" cy="674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/>
              <a:t>Understanding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Terminal</a:t>
            </a:r>
            <a:br>
              <a:rPr lang="en-US" spc="-10" dirty="0"/>
            </a:br>
            <a:r>
              <a:rPr lang="en-US" sz="1800" dirty="0"/>
              <a:t>The</a:t>
            </a:r>
            <a:r>
              <a:rPr lang="en-US" sz="1800" spc="-55" dirty="0"/>
              <a:t> </a:t>
            </a:r>
            <a:r>
              <a:rPr lang="en-US" sz="1800" dirty="0"/>
              <a:t>shell</a:t>
            </a:r>
            <a:r>
              <a:rPr lang="en-US" sz="1800" spc="-50" dirty="0"/>
              <a:t> </a:t>
            </a:r>
            <a:r>
              <a:rPr lang="en-US" sz="1800" dirty="0"/>
              <a:t>(bash,</a:t>
            </a:r>
            <a:r>
              <a:rPr lang="en-US" sz="1800" spc="-55" dirty="0"/>
              <a:t> </a:t>
            </a:r>
            <a:r>
              <a:rPr lang="en-US" sz="1800" dirty="0" err="1"/>
              <a:t>zsh</a:t>
            </a:r>
            <a:r>
              <a:rPr lang="en-US" sz="1800" dirty="0"/>
              <a:t>,</a:t>
            </a:r>
            <a:r>
              <a:rPr lang="en-US" sz="1800" spc="-50" dirty="0"/>
              <a:t> </a:t>
            </a:r>
            <a:r>
              <a:rPr lang="en-US" sz="1800" dirty="0" err="1"/>
              <a:t>cmd</a:t>
            </a:r>
            <a:r>
              <a:rPr lang="en-US" sz="1800" dirty="0"/>
              <a:t>,</a:t>
            </a:r>
            <a:r>
              <a:rPr lang="en-US" sz="1800" spc="-50" dirty="0"/>
              <a:t> </a:t>
            </a:r>
            <a:r>
              <a:rPr lang="en-US" sz="1800" spc="-20" dirty="0" err="1"/>
              <a:t>etc</a:t>
            </a:r>
            <a:r>
              <a:rPr lang="en-US" sz="1800" spc="-20" dirty="0"/>
              <a:t>)</a:t>
            </a:r>
            <a:endParaRPr sz="1800"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489749" y="1843704"/>
            <a:ext cx="3548851" cy="4813497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5"/>
              </a:spcBef>
            </a:pPr>
            <a:r>
              <a:rPr b="1" dirty="0">
                <a:solidFill>
                  <a:srgbClr val="A00C30"/>
                </a:solidFill>
                <a:latin typeface="Arial"/>
                <a:cs typeface="Arial"/>
              </a:rPr>
              <a:t>Bash</a:t>
            </a:r>
            <a:r>
              <a:rPr b="1" spc="-4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A00C30"/>
                </a:solidFill>
                <a:latin typeface="Arial"/>
                <a:cs typeface="Arial"/>
              </a:rPr>
              <a:t>(Bourne</a:t>
            </a:r>
            <a:r>
              <a:rPr b="1" spc="-7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A00C30"/>
                </a:solidFill>
                <a:latin typeface="Arial"/>
                <a:cs typeface="Arial"/>
              </a:rPr>
              <a:t>Again</a:t>
            </a:r>
            <a:r>
              <a:rPr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A00C30"/>
                </a:solidFill>
                <a:latin typeface="Arial"/>
                <a:cs typeface="Arial"/>
              </a:rPr>
              <a:t>Shell):</a:t>
            </a:r>
            <a:endParaRPr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dirty="0">
              <a:latin typeface="Arial"/>
              <a:cs typeface="Arial"/>
            </a:endParaRPr>
          </a:p>
          <a:p>
            <a:pPr marL="85725" marR="124460">
              <a:lnSpc>
                <a:spcPct val="100000"/>
              </a:lnSpc>
              <a:spcBef>
                <a:spcPts val="5"/>
              </a:spcBef>
            </a:pP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most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widely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used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shell,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especially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Linux</a:t>
            </a:r>
            <a:r>
              <a:rPr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distributions.</a:t>
            </a:r>
            <a:endParaRPr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dirty="0">
              <a:latin typeface="Arial MT"/>
              <a:cs typeface="Arial MT"/>
            </a:endParaRPr>
          </a:p>
          <a:p>
            <a:pPr marL="85725">
              <a:lnSpc>
                <a:spcPct val="100000"/>
              </a:lnSpc>
              <a:spcBef>
                <a:spcPts val="5"/>
              </a:spcBef>
            </a:pP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Features:</a:t>
            </a:r>
            <a:endParaRPr dirty="0">
              <a:latin typeface="Arial MT"/>
              <a:cs typeface="Arial MT"/>
            </a:endParaRPr>
          </a:p>
          <a:p>
            <a:pPr marL="542925" marR="328930" indent="-336550">
              <a:lnSpc>
                <a:spcPct val="100000"/>
              </a:lnSpc>
              <a:spcBef>
                <a:spcPts val="5"/>
              </a:spcBef>
              <a:buChar char="●"/>
              <a:tabLst>
                <a:tab pos="542925" algn="l"/>
              </a:tabLst>
            </a:pP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Scripting:</a:t>
            </a:r>
            <a:r>
              <a:rPr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Extensive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support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writing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shell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scripts.</a:t>
            </a:r>
            <a:endParaRPr dirty="0">
              <a:latin typeface="Arial MT"/>
              <a:cs typeface="Arial MT"/>
            </a:endParaRPr>
          </a:p>
          <a:p>
            <a:pPr marL="542925" marR="170815" indent="-336550">
              <a:lnSpc>
                <a:spcPct val="100000"/>
              </a:lnSpc>
              <a:buChar char="●"/>
              <a:tabLst>
                <a:tab pos="542925" algn="l"/>
              </a:tabLst>
            </a:pP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Command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History:</a:t>
            </a:r>
            <a:r>
              <a:rPr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Ability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recall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reuse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previous</a:t>
            </a:r>
            <a:r>
              <a:rPr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commands.</a:t>
            </a:r>
            <a:endParaRPr dirty="0">
              <a:latin typeface="Arial MT"/>
              <a:cs typeface="Arial MT"/>
            </a:endParaRPr>
          </a:p>
          <a:p>
            <a:pPr marL="542290" indent="-335915">
              <a:lnSpc>
                <a:spcPct val="100000"/>
              </a:lnSpc>
              <a:buChar char="●"/>
              <a:tabLst>
                <a:tab pos="542290" algn="l"/>
              </a:tabLst>
            </a:pPr>
            <a:r>
              <a:rPr spc="-40" dirty="0">
                <a:solidFill>
                  <a:srgbClr val="0F2044"/>
                </a:solidFill>
                <a:latin typeface="Arial MT"/>
                <a:cs typeface="Arial MT"/>
              </a:rPr>
              <a:t>Tab</a:t>
            </a:r>
            <a:r>
              <a:rPr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Completion:</a:t>
            </a:r>
            <a:endParaRPr dirty="0">
              <a:latin typeface="Arial MT"/>
              <a:cs typeface="Arial MT"/>
            </a:endParaRPr>
          </a:p>
          <a:p>
            <a:pPr marL="542925" marR="308610">
              <a:lnSpc>
                <a:spcPct val="100000"/>
              </a:lnSpc>
            </a:pP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Auto-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completion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file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names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 commands.</a:t>
            </a:r>
            <a:endParaRPr dirty="0">
              <a:latin typeface="Arial MT"/>
              <a:cs typeface="Arial MT"/>
            </a:endParaRPr>
          </a:p>
          <a:p>
            <a:pPr marL="542925" marR="220979" indent="-336550">
              <a:lnSpc>
                <a:spcPct val="100000"/>
              </a:lnSpc>
              <a:buChar char="●"/>
              <a:tabLst>
                <a:tab pos="542925" algn="l"/>
              </a:tabLst>
            </a:pP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Portability:</a:t>
            </a:r>
            <a:r>
              <a:rPr spc="-8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Available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on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most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UNIX-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like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 systems.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7172" y="1843704"/>
            <a:ext cx="3757656" cy="4813497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5"/>
              </a:spcBef>
            </a:pPr>
            <a:r>
              <a:rPr b="1" dirty="0">
                <a:solidFill>
                  <a:srgbClr val="A00C30"/>
                </a:solidFill>
                <a:latin typeface="Arial"/>
                <a:cs typeface="Arial"/>
              </a:rPr>
              <a:t>Zsh</a:t>
            </a:r>
            <a:r>
              <a:rPr b="1" spc="-1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A00C30"/>
                </a:solidFill>
                <a:latin typeface="Arial"/>
                <a:cs typeface="Arial"/>
              </a:rPr>
              <a:t>(Z</a:t>
            </a:r>
            <a:r>
              <a:rPr b="1" spc="-10" dirty="0">
                <a:solidFill>
                  <a:srgbClr val="A00C30"/>
                </a:solidFill>
                <a:latin typeface="Arial"/>
                <a:cs typeface="Arial"/>
              </a:rPr>
              <a:t> Shell)</a:t>
            </a:r>
            <a:endParaRPr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dirty="0">
              <a:latin typeface="Arial"/>
              <a:cs typeface="Arial"/>
            </a:endParaRPr>
          </a:p>
          <a:p>
            <a:pPr marL="85725" marR="449580">
              <a:lnSpc>
                <a:spcPct val="100000"/>
              </a:lnSpc>
              <a:spcBef>
                <a:spcPts val="5"/>
              </a:spcBef>
            </a:pP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An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extended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version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Bash</a:t>
            </a:r>
            <a:r>
              <a:rPr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with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more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features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 customization options.</a:t>
            </a:r>
            <a:endParaRPr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dirty="0">
              <a:latin typeface="Arial MT"/>
              <a:cs typeface="Arial MT"/>
            </a:endParaRPr>
          </a:p>
          <a:p>
            <a:pPr marL="85725">
              <a:lnSpc>
                <a:spcPct val="100000"/>
              </a:lnSpc>
              <a:spcBef>
                <a:spcPts val="5"/>
              </a:spcBef>
            </a:pP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Features:</a:t>
            </a:r>
            <a:endParaRPr dirty="0">
              <a:latin typeface="Arial MT"/>
              <a:cs typeface="Arial MT"/>
            </a:endParaRPr>
          </a:p>
          <a:p>
            <a:pPr marL="542925" marR="499745" indent="-336550">
              <a:lnSpc>
                <a:spcPct val="100000"/>
              </a:lnSpc>
              <a:spcBef>
                <a:spcPts val="5"/>
              </a:spcBef>
              <a:buChar char="●"/>
              <a:tabLst>
                <a:tab pos="542925" algn="l"/>
              </a:tabLst>
            </a:pP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Enhanced</a:t>
            </a:r>
            <a:r>
              <a:rPr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40" dirty="0">
                <a:solidFill>
                  <a:srgbClr val="0F2044"/>
                </a:solidFill>
                <a:latin typeface="Arial MT"/>
                <a:cs typeface="Arial MT"/>
              </a:rPr>
              <a:t>Tab</a:t>
            </a:r>
            <a:r>
              <a:rPr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Completion: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More</a:t>
            </a:r>
            <a:r>
              <a:rPr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advanced</a:t>
            </a:r>
            <a:r>
              <a:rPr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and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context-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aware</a:t>
            </a:r>
            <a:r>
              <a:rPr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than 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Bash.</a:t>
            </a:r>
            <a:endParaRPr dirty="0">
              <a:latin typeface="Arial MT"/>
              <a:cs typeface="Arial MT"/>
            </a:endParaRPr>
          </a:p>
          <a:p>
            <a:pPr marL="542925" marR="101600" indent="-336550">
              <a:lnSpc>
                <a:spcPct val="100000"/>
              </a:lnSpc>
              <a:buChar char="●"/>
              <a:tabLst>
                <a:tab pos="542925" algn="l"/>
              </a:tabLst>
            </a:pP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Theme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Plugin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Support: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Customizable</a:t>
            </a:r>
            <a:r>
              <a:rPr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with</a:t>
            </a:r>
            <a:r>
              <a:rPr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themes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(e.g.,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Oh-My-Zsh)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 plugins.</a:t>
            </a:r>
            <a:endParaRPr dirty="0">
              <a:latin typeface="Arial MT"/>
              <a:cs typeface="Arial MT"/>
            </a:endParaRPr>
          </a:p>
          <a:p>
            <a:pPr marL="542925" marR="80645" indent="-336550">
              <a:lnSpc>
                <a:spcPct val="100000"/>
              </a:lnSpc>
              <a:buChar char="●"/>
              <a:tabLst>
                <a:tab pos="542925" algn="l"/>
              </a:tabLst>
            </a:pP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Better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Scripting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Features: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Improved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handling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arrays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and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globbing.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53400" y="1012707"/>
            <a:ext cx="3886200" cy="564449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15"/>
              </a:spcBef>
            </a:pPr>
            <a:r>
              <a:rPr b="1" dirty="0">
                <a:solidFill>
                  <a:srgbClr val="A00C30"/>
                </a:solidFill>
                <a:latin typeface="Arial"/>
                <a:cs typeface="Arial"/>
              </a:rPr>
              <a:t>Command</a:t>
            </a:r>
            <a:r>
              <a:rPr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A00C30"/>
                </a:solidFill>
                <a:latin typeface="Arial"/>
                <a:cs typeface="Arial"/>
              </a:rPr>
              <a:t>Prompt</a:t>
            </a:r>
            <a:r>
              <a:rPr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A00C30"/>
                </a:solidFill>
                <a:latin typeface="Arial"/>
                <a:cs typeface="Arial"/>
              </a:rPr>
              <a:t>(cmd)</a:t>
            </a:r>
            <a:endParaRPr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dirty="0">
              <a:latin typeface="Arial"/>
              <a:cs typeface="Arial"/>
            </a:endParaRPr>
          </a:p>
          <a:p>
            <a:pPr marL="85090" marR="184785">
              <a:lnSpc>
                <a:spcPct val="100000"/>
              </a:lnSpc>
              <a:spcBef>
                <a:spcPts val="5"/>
              </a:spcBef>
            </a:pP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traditional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command-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line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interpreter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for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Windows,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available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since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early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versions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of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OS.</a:t>
            </a:r>
            <a:endParaRPr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dirty="0">
              <a:latin typeface="Arial MT"/>
              <a:cs typeface="Arial MT"/>
            </a:endParaRPr>
          </a:p>
          <a:p>
            <a:pPr marL="85090">
              <a:lnSpc>
                <a:spcPct val="100000"/>
              </a:lnSpc>
              <a:spcBef>
                <a:spcPts val="5"/>
              </a:spcBef>
            </a:pP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Features:</a:t>
            </a:r>
            <a:endParaRPr dirty="0">
              <a:latin typeface="Arial MT"/>
              <a:cs typeface="Arial MT"/>
            </a:endParaRPr>
          </a:p>
          <a:p>
            <a:pPr marL="542290" marR="448309" indent="-336550">
              <a:lnSpc>
                <a:spcPct val="100000"/>
              </a:lnSpc>
              <a:spcBef>
                <a:spcPts val="5"/>
              </a:spcBef>
              <a:buChar char="●"/>
              <a:tabLst>
                <a:tab pos="542290" algn="l"/>
              </a:tabLst>
            </a:pP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Basic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Shell: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Provides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 text-based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interface</a:t>
            </a:r>
            <a:r>
              <a:rPr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running</a:t>
            </a:r>
            <a:r>
              <a:rPr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batch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scripts,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executing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commands,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managing files.</a:t>
            </a:r>
            <a:endParaRPr dirty="0">
              <a:latin typeface="Arial MT"/>
              <a:cs typeface="Arial MT"/>
            </a:endParaRPr>
          </a:p>
          <a:p>
            <a:pPr marL="542290" marR="222250" indent="-336550">
              <a:lnSpc>
                <a:spcPct val="100000"/>
              </a:lnSpc>
              <a:buChar char="●"/>
              <a:tabLst>
                <a:tab pos="542290" algn="l"/>
              </a:tabLst>
            </a:pP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Compatibility:</a:t>
            </a:r>
            <a:r>
              <a:rPr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Limited</a:t>
            </a:r>
            <a:r>
              <a:rPr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features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compared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PowerShell,</a:t>
            </a:r>
            <a:r>
              <a:rPr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but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still</a:t>
            </a:r>
            <a:r>
              <a:rPr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widely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used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basic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 tasks.</a:t>
            </a:r>
            <a:endParaRPr dirty="0">
              <a:latin typeface="Arial MT"/>
              <a:cs typeface="Arial MT"/>
            </a:endParaRPr>
          </a:p>
          <a:p>
            <a:pPr marL="542290" marR="351155" indent="-336550">
              <a:lnSpc>
                <a:spcPct val="100000"/>
              </a:lnSpc>
              <a:buChar char="●"/>
              <a:tabLst>
                <a:tab pos="542290" algn="l"/>
              </a:tabLst>
            </a:pP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Simplicity: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Easier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basic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pc="-10" dirty="0">
                <a:solidFill>
                  <a:srgbClr val="0F2044"/>
                </a:solidFill>
                <a:latin typeface="Arial MT"/>
                <a:cs typeface="Arial MT"/>
              </a:rPr>
              <a:t>operations but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lacks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advanced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capabilities</a:t>
            </a:r>
            <a:r>
              <a:rPr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25" dirty="0">
                <a:solidFill>
                  <a:srgbClr val="0F2044"/>
                </a:solidFill>
                <a:latin typeface="Arial MT"/>
                <a:cs typeface="Arial MT"/>
              </a:rPr>
              <a:t>of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PowerShell.</a:t>
            </a:r>
            <a:endParaRPr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Enhance</a:t>
            </a:r>
            <a:r>
              <a:rPr spc="-90" dirty="0"/>
              <a:t> </a:t>
            </a:r>
            <a:r>
              <a:rPr dirty="0"/>
              <a:t>VS</a:t>
            </a:r>
            <a:r>
              <a:rPr spc="-90" dirty="0"/>
              <a:t> </a:t>
            </a:r>
            <a:r>
              <a:rPr dirty="0"/>
              <a:t>Code</a:t>
            </a:r>
            <a:r>
              <a:rPr spc="-90" dirty="0"/>
              <a:t> </a:t>
            </a:r>
            <a:r>
              <a:rPr dirty="0"/>
              <a:t>Terminal</a:t>
            </a:r>
            <a:r>
              <a:rPr spc="-90" dirty="0"/>
              <a:t> </a:t>
            </a:r>
            <a:r>
              <a:rPr spc="-10" dirty="0"/>
              <a:t>(Optional)</a:t>
            </a:r>
          </a:p>
        </p:txBody>
      </p:sp>
      <p:pic>
        <p:nvPicPr>
          <p:cNvPr id="3" name="object 3" descr="A command-line interface showing a directory being renamed using 'git mv', followed by a status update confirming the file move is staged for commit.&quot;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5750" y="2251600"/>
            <a:ext cx="6229974" cy="3333999"/>
          </a:xfrm>
          <a:prstGeom prst="rect">
            <a:avLst/>
          </a:prstGeom>
        </p:spPr>
      </p:pic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7075" y="2251591"/>
            <a:ext cx="5261475" cy="184203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24D9291-2639-AED4-9655-D5776EAC3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140498"/>
              </p:ext>
            </p:extLst>
          </p:nvPr>
        </p:nvGraphicFramePr>
        <p:xfrm>
          <a:off x="7797612" y="4343400"/>
          <a:ext cx="3200400" cy="218694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010653">
                  <a:extLst>
                    <a:ext uri="{9D8B030D-6E8A-4147-A177-3AD203B41FA5}">
                      <a16:colId xmlns:a16="http://schemas.microsoft.com/office/drawing/2014/main" val="3629727423"/>
                    </a:ext>
                  </a:extLst>
                </a:gridCol>
                <a:gridCol w="2189747">
                  <a:extLst>
                    <a:ext uri="{9D8B030D-6E8A-4147-A177-3AD203B41FA5}">
                      <a16:colId xmlns:a16="http://schemas.microsoft.com/office/drawing/2014/main" val="26835724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Alias 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u="none" strike="noStrike" dirty="0">
                          <a:effectLst/>
                        </a:rPr>
                        <a:t>Git Command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7620" marT="7620" marB="0" anchor="b"/>
                </a:tc>
                <a:extLst>
                  <a:ext uri="{0D108BD9-81ED-4DB2-BD59-A6C34878D82A}">
                    <a16:rowId xmlns:a16="http://schemas.microsoft.com/office/drawing/2014/main" val="42857797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 err="1">
                          <a:effectLst/>
                        </a:rPr>
                        <a:t>gst</a:t>
                      </a:r>
                      <a:r>
                        <a:rPr lang="en-US" sz="2000" u="none" strike="noStrike" dirty="0">
                          <a:effectLst/>
                        </a:rPr>
                        <a:t>  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git status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7620" marT="7620" marB="0" anchor="b"/>
                </a:tc>
                <a:extLst>
                  <a:ext uri="{0D108BD9-81ED-4DB2-BD59-A6C34878D82A}">
                    <a16:rowId xmlns:a16="http://schemas.microsoft.com/office/drawing/2014/main" val="14815934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 err="1">
                          <a:effectLst/>
                        </a:rPr>
                        <a:t>gl</a:t>
                      </a:r>
                      <a:r>
                        <a:rPr lang="en-US" sz="2000" u="none" strike="noStrike" dirty="0">
                          <a:effectLst/>
                        </a:rPr>
                        <a:t>   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git pull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7620" marT="7620" marB="0" anchor="b"/>
                </a:tc>
                <a:extLst>
                  <a:ext uri="{0D108BD9-81ED-4DB2-BD59-A6C34878D82A}">
                    <a16:rowId xmlns:a16="http://schemas.microsoft.com/office/drawing/2014/main" val="14654770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 err="1">
                          <a:effectLst/>
                        </a:rPr>
                        <a:t>gp</a:t>
                      </a:r>
                      <a:r>
                        <a:rPr lang="en-US" sz="2000" u="none" strike="noStrike" dirty="0">
                          <a:effectLst/>
                        </a:rPr>
                        <a:t>   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git push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7620" marT="7620" marB="0" anchor="b"/>
                </a:tc>
                <a:extLst>
                  <a:ext uri="{0D108BD9-81ED-4DB2-BD59-A6C34878D82A}">
                    <a16:rowId xmlns:a16="http://schemas.microsoft.com/office/drawing/2014/main" val="38137081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ga   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git add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7620" marT="7620" marB="0" anchor="b"/>
                </a:tc>
                <a:extLst>
                  <a:ext uri="{0D108BD9-81ED-4DB2-BD59-A6C34878D82A}">
                    <a16:rowId xmlns:a16="http://schemas.microsoft.com/office/drawing/2014/main" val="23521377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 err="1">
                          <a:effectLst/>
                        </a:rPr>
                        <a:t>gcmsg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git commit –m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7620" marT="7620" marB="0" anchor="b"/>
                </a:tc>
                <a:extLst>
                  <a:ext uri="{0D108BD9-81ED-4DB2-BD59-A6C34878D82A}">
                    <a16:rowId xmlns:a16="http://schemas.microsoft.com/office/drawing/2014/main" val="25164595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 err="1">
                          <a:effectLst/>
                        </a:rPr>
                        <a:t>gco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git checkout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R="7620" marT="7620" marB="0" anchor="b"/>
                </a:tc>
                <a:extLst>
                  <a:ext uri="{0D108BD9-81ED-4DB2-BD59-A6C34878D82A}">
                    <a16:rowId xmlns:a16="http://schemas.microsoft.com/office/drawing/2014/main" val="26903143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689861"/>
            <a:ext cx="759062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Enhance</a:t>
            </a:r>
            <a:r>
              <a:rPr spc="-90" dirty="0"/>
              <a:t> </a:t>
            </a:r>
            <a:r>
              <a:rPr dirty="0"/>
              <a:t>VS</a:t>
            </a:r>
            <a:r>
              <a:rPr spc="-90" dirty="0"/>
              <a:t> </a:t>
            </a:r>
            <a:r>
              <a:rPr dirty="0"/>
              <a:t>Code</a:t>
            </a:r>
            <a:r>
              <a:rPr spc="-90" dirty="0"/>
              <a:t> </a:t>
            </a:r>
            <a:r>
              <a:rPr dirty="0"/>
              <a:t>Terminal</a:t>
            </a:r>
            <a:r>
              <a:rPr spc="-90" dirty="0"/>
              <a:t> </a:t>
            </a:r>
            <a:r>
              <a:rPr spc="-10" dirty="0"/>
              <a:t>(Optional)</a:t>
            </a:r>
            <a:r>
              <a:rPr lang="en-US" spc="-10" dirty="0"/>
              <a:t> (cont.)</a:t>
            </a:r>
            <a:endParaRPr spc="-10" dirty="0"/>
          </a:p>
        </p:txBody>
      </p:sp>
      <p:pic>
        <p:nvPicPr>
          <p:cNvPr id="3" name="object 3" descr="A terminal window showing a colorful, segmented prompt with status icons for Git branch (master), battery life, time, and programming language versions (Node.js and Python), followed by the output of a 'git status' command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282325"/>
            <a:ext cx="9519442" cy="38898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spc="-80" dirty="0"/>
              <a:t> </a:t>
            </a:r>
            <a:r>
              <a:rPr spc="-10" dirty="0"/>
              <a:t>Navigation</a:t>
            </a:r>
            <a:r>
              <a:rPr spc="-75" dirty="0"/>
              <a:t> </a:t>
            </a:r>
            <a:r>
              <a:rPr spc="-10" dirty="0"/>
              <a:t>Commands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6017" y="2295769"/>
            <a:ext cx="10764520" cy="397487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94335" indent="-381635">
              <a:lnSpc>
                <a:spcPct val="120000"/>
              </a:lnSpc>
              <a:spcBef>
                <a:spcPts val="459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ls:</a:t>
            </a:r>
            <a:r>
              <a:rPr sz="20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Lists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contents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current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directory.</a:t>
            </a:r>
            <a:endParaRPr sz="2000" dirty="0">
              <a:latin typeface="Arial MT"/>
              <a:cs typeface="Arial MT"/>
            </a:endParaRPr>
          </a:p>
          <a:p>
            <a:pPr marL="394335" indent="-381635">
              <a:lnSpc>
                <a:spcPct val="120000"/>
              </a:lnSpc>
              <a:spcBef>
                <a:spcPts val="360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ls</a:t>
            </a:r>
            <a:r>
              <a:rPr sz="20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-l:</a:t>
            </a:r>
            <a:r>
              <a:rPr sz="20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Lists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contents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directory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detailed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(long)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format</a:t>
            </a:r>
            <a:endParaRPr sz="2000" dirty="0">
              <a:latin typeface="Arial MT"/>
              <a:cs typeface="Arial MT"/>
            </a:endParaRPr>
          </a:p>
          <a:p>
            <a:pPr marL="394335" marR="1727835" indent="-382270">
              <a:lnSpc>
                <a:spcPct val="120000"/>
              </a:lnSpc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ls</a:t>
            </a:r>
            <a:r>
              <a:rPr sz="20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-lh:</a:t>
            </a:r>
            <a:r>
              <a:rPr sz="20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Lists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directory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contents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long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format,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with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file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sizes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displayed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0F2044"/>
                </a:solidFill>
                <a:latin typeface="Arial MT"/>
                <a:cs typeface="Arial MT"/>
              </a:rPr>
              <a:t>a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human-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readable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format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(e.g.,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KB,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MB).</a:t>
            </a:r>
            <a:endParaRPr sz="2000" dirty="0">
              <a:latin typeface="Arial MT"/>
              <a:cs typeface="Arial MT"/>
            </a:endParaRPr>
          </a:p>
          <a:p>
            <a:pPr marL="394335" indent="-381635">
              <a:lnSpc>
                <a:spcPct val="120000"/>
              </a:lnSpc>
              <a:spcBef>
                <a:spcPts val="360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ls</a:t>
            </a:r>
            <a:r>
              <a:rPr sz="20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-lt:</a:t>
            </a:r>
            <a:r>
              <a:rPr sz="20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Lists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contents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long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format,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sorted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by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modification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time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(newest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first).</a:t>
            </a:r>
            <a:endParaRPr sz="2000" dirty="0">
              <a:latin typeface="Arial MT"/>
              <a:cs typeface="Arial MT"/>
            </a:endParaRPr>
          </a:p>
          <a:p>
            <a:pPr marL="394335" indent="-381635">
              <a:lnSpc>
                <a:spcPct val="120000"/>
              </a:lnSpc>
              <a:spcBef>
                <a:spcPts val="360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ls</a:t>
            </a:r>
            <a:r>
              <a:rPr sz="20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-lS:</a:t>
            </a:r>
            <a:r>
              <a:rPr sz="20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Lists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contents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long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format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with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file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sizes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shown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blocks,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sorted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by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file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size.</a:t>
            </a:r>
            <a:endParaRPr sz="2000" dirty="0">
              <a:latin typeface="Arial MT"/>
              <a:cs typeface="Arial MT"/>
            </a:endParaRPr>
          </a:p>
          <a:p>
            <a:pPr marL="394335" indent="-381635">
              <a:lnSpc>
                <a:spcPct val="120000"/>
              </a:lnSpc>
              <a:spcBef>
                <a:spcPts val="360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ls</a:t>
            </a:r>
            <a:r>
              <a:rPr sz="2000" b="1" spc="-4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-a:</a:t>
            </a:r>
            <a:r>
              <a:rPr sz="20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Lists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all</a:t>
            </a:r>
            <a:r>
              <a:rPr sz="20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contents,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including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hidden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files</a:t>
            </a:r>
            <a:r>
              <a:rPr sz="20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(those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starting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with</a:t>
            </a:r>
            <a:r>
              <a:rPr sz="20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dot).</a:t>
            </a:r>
            <a:endParaRPr sz="2000" dirty="0">
              <a:latin typeface="Arial MT"/>
              <a:cs typeface="Arial MT"/>
            </a:endParaRPr>
          </a:p>
          <a:p>
            <a:pPr marL="394335" indent="-381635">
              <a:lnSpc>
                <a:spcPct val="120000"/>
              </a:lnSpc>
              <a:spcBef>
                <a:spcPts val="360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pwd:</a:t>
            </a:r>
            <a:r>
              <a:rPr sz="20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Prints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current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working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directory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(shows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your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current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location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filesystem).</a:t>
            </a:r>
            <a:endParaRPr sz="2000" dirty="0">
              <a:latin typeface="Arial MT"/>
              <a:cs typeface="Arial MT"/>
            </a:endParaRPr>
          </a:p>
          <a:p>
            <a:pPr marL="394335" marR="5080" indent="-382270">
              <a:lnSpc>
                <a:spcPct val="120000"/>
              </a:lnSpc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which</a:t>
            </a:r>
            <a:r>
              <a:rPr sz="20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ls:</a:t>
            </a:r>
            <a:r>
              <a:rPr sz="2000" b="1" spc="-1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Shows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path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executable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file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ls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command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(useful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check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where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0F2044"/>
                </a:solidFill>
                <a:latin typeface="Arial MT"/>
                <a:cs typeface="Arial MT"/>
              </a:rPr>
              <a:t>a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command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is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located).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File</a:t>
            </a:r>
            <a:r>
              <a:rPr spc="-65" dirty="0"/>
              <a:t> </a:t>
            </a:r>
            <a:r>
              <a:rPr dirty="0"/>
              <a:t>Manipulation</a:t>
            </a:r>
            <a:r>
              <a:rPr spc="-60" dirty="0"/>
              <a:t> </a:t>
            </a:r>
            <a:r>
              <a:rPr spc="-10" dirty="0"/>
              <a:t>Commands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41917" y="2131310"/>
            <a:ext cx="10708165" cy="449809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425450" indent="-381635">
              <a:lnSpc>
                <a:spcPct val="120000"/>
              </a:lnSpc>
              <a:spcBef>
                <a:spcPts val="459"/>
              </a:spcBef>
              <a:buFont typeface="Arial MT"/>
              <a:buChar char="●"/>
              <a:tabLst>
                <a:tab pos="425450" algn="l"/>
              </a:tabLst>
            </a:pPr>
            <a:r>
              <a:rPr b="1" dirty="0">
                <a:latin typeface="Arial"/>
                <a:cs typeface="Arial"/>
              </a:rPr>
              <a:t>cd: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dirty="0"/>
              <a:t>Changes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current</a:t>
            </a:r>
            <a:r>
              <a:rPr spc="-30" dirty="0"/>
              <a:t> </a:t>
            </a:r>
            <a:r>
              <a:rPr dirty="0"/>
              <a:t>directory</a:t>
            </a:r>
            <a:r>
              <a:rPr spc="-2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user's</a:t>
            </a:r>
            <a:r>
              <a:rPr spc="-30" dirty="0"/>
              <a:t> </a:t>
            </a:r>
            <a:r>
              <a:rPr dirty="0"/>
              <a:t>home</a:t>
            </a:r>
            <a:r>
              <a:rPr spc="-25" dirty="0"/>
              <a:t> </a:t>
            </a:r>
            <a:r>
              <a:rPr spc="-10" dirty="0"/>
              <a:t>directory.</a:t>
            </a:r>
          </a:p>
          <a:p>
            <a:pPr marL="425450" indent="-381635">
              <a:lnSpc>
                <a:spcPct val="120000"/>
              </a:lnSpc>
              <a:spcBef>
                <a:spcPts val="360"/>
              </a:spcBef>
              <a:buFont typeface="Arial MT"/>
              <a:buChar char="●"/>
              <a:tabLst>
                <a:tab pos="425450" algn="l"/>
              </a:tabLst>
            </a:pPr>
            <a:r>
              <a:rPr b="1" dirty="0">
                <a:latin typeface="Arial"/>
                <a:cs typeface="Arial"/>
              </a:rPr>
              <a:t>cd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&lt;directory&gt;: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Changes</a:t>
            </a:r>
            <a:r>
              <a:rPr spc="-3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current</a:t>
            </a:r>
            <a:r>
              <a:rPr spc="-35" dirty="0"/>
              <a:t> </a:t>
            </a:r>
            <a:r>
              <a:rPr dirty="0"/>
              <a:t>directory</a:t>
            </a:r>
            <a:r>
              <a:rPr spc="-3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specified</a:t>
            </a:r>
            <a:r>
              <a:rPr spc="-35" dirty="0"/>
              <a:t> </a:t>
            </a:r>
            <a:r>
              <a:rPr spc="-10" dirty="0"/>
              <a:t>&lt;directory&gt;.</a:t>
            </a:r>
          </a:p>
          <a:p>
            <a:pPr marL="425450" indent="-381635">
              <a:lnSpc>
                <a:spcPct val="120000"/>
              </a:lnSpc>
              <a:spcBef>
                <a:spcPts val="359"/>
              </a:spcBef>
              <a:buFont typeface="Arial MT"/>
              <a:buChar char="●"/>
              <a:tabLst>
                <a:tab pos="425450" algn="l"/>
              </a:tabLst>
            </a:pPr>
            <a:r>
              <a:rPr b="1" dirty="0">
                <a:latin typeface="Arial"/>
                <a:cs typeface="Arial"/>
              </a:rPr>
              <a:t>cd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..: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dirty="0"/>
              <a:t>Moves</a:t>
            </a:r>
            <a:r>
              <a:rPr spc="-30" dirty="0"/>
              <a:t> </a:t>
            </a:r>
            <a:r>
              <a:rPr dirty="0"/>
              <a:t>up</a:t>
            </a:r>
            <a:r>
              <a:rPr spc="-25" dirty="0"/>
              <a:t> </a:t>
            </a:r>
            <a:r>
              <a:rPr dirty="0"/>
              <a:t>one</a:t>
            </a:r>
            <a:r>
              <a:rPr spc="-30" dirty="0"/>
              <a:t> </a:t>
            </a:r>
            <a:r>
              <a:rPr dirty="0"/>
              <a:t>level</a:t>
            </a:r>
            <a:r>
              <a:rPr spc="-2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parent</a:t>
            </a:r>
            <a:r>
              <a:rPr spc="-30" dirty="0"/>
              <a:t> </a:t>
            </a:r>
            <a:r>
              <a:rPr spc="-10" dirty="0"/>
              <a:t>directory.</a:t>
            </a:r>
          </a:p>
          <a:p>
            <a:pPr marL="425450" indent="-381635">
              <a:lnSpc>
                <a:spcPct val="120000"/>
              </a:lnSpc>
              <a:spcBef>
                <a:spcPts val="359"/>
              </a:spcBef>
              <a:buFont typeface="Arial MT"/>
              <a:buChar char="●"/>
              <a:tabLst>
                <a:tab pos="425450" algn="l"/>
              </a:tabLst>
            </a:pPr>
            <a:r>
              <a:rPr b="1" dirty="0">
                <a:latin typeface="Arial"/>
                <a:cs typeface="Arial"/>
              </a:rPr>
              <a:t>cd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../..: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dirty="0"/>
              <a:t>Moves</a:t>
            </a:r>
            <a:r>
              <a:rPr spc="-25" dirty="0"/>
              <a:t> </a:t>
            </a:r>
            <a:r>
              <a:rPr dirty="0"/>
              <a:t>up</a:t>
            </a:r>
            <a:r>
              <a:rPr spc="-25" dirty="0"/>
              <a:t> </a:t>
            </a:r>
            <a:r>
              <a:rPr dirty="0"/>
              <a:t>two</a:t>
            </a:r>
            <a:r>
              <a:rPr spc="-25" dirty="0"/>
              <a:t> </a:t>
            </a:r>
            <a:r>
              <a:rPr dirty="0"/>
              <a:t>levels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grandparent</a:t>
            </a:r>
            <a:r>
              <a:rPr spc="-25" dirty="0"/>
              <a:t> </a:t>
            </a:r>
            <a:r>
              <a:rPr spc="-10" dirty="0"/>
              <a:t>directory.</a:t>
            </a:r>
          </a:p>
          <a:p>
            <a:pPr marL="425450" indent="-381635">
              <a:lnSpc>
                <a:spcPct val="120000"/>
              </a:lnSpc>
              <a:spcBef>
                <a:spcPts val="359"/>
              </a:spcBef>
              <a:buFont typeface="Arial MT"/>
              <a:buChar char="●"/>
              <a:tabLst>
                <a:tab pos="425450" algn="l"/>
              </a:tabLst>
            </a:pPr>
            <a:r>
              <a:rPr b="1" dirty="0">
                <a:latin typeface="Arial"/>
                <a:cs typeface="Arial"/>
              </a:rPr>
              <a:t>mkdir: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dirty="0"/>
              <a:t>Create</a:t>
            </a:r>
            <a:r>
              <a:rPr spc="-15" dirty="0"/>
              <a:t> </a:t>
            </a:r>
            <a:r>
              <a:rPr spc="-10" dirty="0"/>
              <a:t>folder</a:t>
            </a:r>
          </a:p>
          <a:p>
            <a:pPr marL="425450" indent="-381635">
              <a:lnSpc>
                <a:spcPct val="120000"/>
              </a:lnSpc>
              <a:spcBef>
                <a:spcPts val="359"/>
              </a:spcBef>
              <a:buFont typeface="Arial MT"/>
              <a:buChar char="●"/>
              <a:tabLst>
                <a:tab pos="425450" algn="l"/>
              </a:tabLst>
            </a:pPr>
            <a:r>
              <a:rPr b="1" dirty="0">
                <a:latin typeface="Arial"/>
                <a:cs typeface="Arial"/>
              </a:rPr>
              <a:t>rmdir: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Remove</a:t>
            </a:r>
            <a:r>
              <a:rPr spc="-55" dirty="0"/>
              <a:t> </a:t>
            </a:r>
            <a:r>
              <a:rPr spc="-10" dirty="0"/>
              <a:t>folder</a:t>
            </a:r>
          </a:p>
          <a:p>
            <a:pPr marL="425450" indent="-381635">
              <a:lnSpc>
                <a:spcPct val="120000"/>
              </a:lnSpc>
              <a:spcBef>
                <a:spcPts val="359"/>
              </a:spcBef>
              <a:buFont typeface="Arial MT"/>
              <a:buChar char="●"/>
              <a:tabLst>
                <a:tab pos="425450" algn="l"/>
              </a:tabLst>
            </a:pPr>
            <a:r>
              <a:rPr b="1" dirty="0">
                <a:latin typeface="Arial"/>
                <a:cs typeface="Arial"/>
              </a:rPr>
              <a:t>mv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old_folder_name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new_folder_name: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dirty="0"/>
              <a:t>Rename</a:t>
            </a:r>
            <a:r>
              <a:rPr spc="-40" dirty="0"/>
              <a:t> </a:t>
            </a:r>
            <a:r>
              <a:rPr dirty="0"/>
              <a:t>folder</a:t>
            </a:r>
            <a:r>
              <a:rPr spc="-40" dirty="0"/>
              <a:t> </a:t>
            </a:r>
            <a:r>
              <a:rPr spc="-10" dirty="0"/>
              <a:t>names</a:t>
            </a:r>
          </a:p>
          <a:p>
            <a:pPr marL="425450" marR="5080" indent="-382270">
              <a:lnSpc>
                <a:spcPct val="120000"/>
              </a:lnSpc>
              <a:buFont typeface="Arial MT"/>
              <a:buChar char="●"/>
              <a:tabLst>
                <a:tab pos="425450" algn="l"/>
              </a:tabLst>
            </a:pPr>
            <a:r>
              <a:rPr b="1" dirty="0">
                <a:latin typeface="Arial"/>
                <a:cs typeface="Arial"/>
              </a:rPr>
              <a:t>touch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filename.txt: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dirty="0"/>
              <a:t>Creates</a:t>
            </a:r>
            <a:r>
              <a:rPr spc="-25" dirty="0"/>
              <a:t> </a:t>
            </a:r>
            <a:r>
              <a:rPr dirty="0"/>
              <a:t>an</a:t>
            </a:r>
            <a:r>
              <a:rPr spc="-25" dirty="0"/>
              <a:t> </a:t>
            </a:r>
            <a:r>
              <a:rPr dirty="0"/>
              <a:t>empty</a:t>
            </a:r>
            <a:r>
              <a:rPr spc="-25" dirty="0"/>
              <a:t> </a:t>
            </a:r>
            <a:r>
              <a:rPr dirty="0"/>
              <a:t>file</a:t>
            </a:r>
            <a:r>
              <a:rPr spc="-30" dirty="0"/>
              <a:t> </a:t>
            </a:r>
            <a:r>
              <a:rPr dirty="0"/>
              <a:t>named</a:t>
            </a:r>
            <a:r>
              <a:rPr spc="-25" dirty="0"/>
              <a:t> </a:t>
            </a:r>
            <a:r>
              <a:rPr dirty="0"/>
              <a:t>filename.txt</a:t>
            </a:r>
            <a:r>
              <a:rPr spc="-25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updates</a:t>
            </a:r>
            <a:r>
              <a:rPr spc="-2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timestamp</a:t>
            </a:r>
            <a:r>
              <a:rPr spc="-25" dirty="0"/>
              <a:t> </a:t>
            </a:r>
            <a:r>
              <a:rPr dirty="0"/>
              <a:t>if</a:t>
            </a:r>
            <a:r>
              <a:rPr spc="-25" dirty="0"/>
              <a:t> it </a:t>
            </a:r>
            <a:r>
              <a:rPr dirty="0"/>
              <a:t>already</a:t>
            </a:r>
            <a:r>
              <a:rPr spc="-75" dirty="0"/>
              <a:t> </a:t>
            </a:r>
            <a:r>
              <a:rPr spc="-10" dirty="0"/>
              <a:t>exists.</a:t>
            </a:r>
          </a:p>
          <a:p>
            <a:pPr marL="425450" indent="-381635">
              <a:lnSpc>
                <a:spcPct val="120000"/>
              </a:lnSpc>
              <a:spcBef>
                <a:spcPts val="359"/>
              </a:spcBef>
              <a:buFont typeface="Arial MT"/>
              <a:buChar char="●"/>
              <a:tabLst>
                <a:tab pos="425450" algn="l"/>
              </a:tabLst>
            </a:pPr>
            <a:r>
              <a:rPr b="1" dirty="0">
                <a:latin typeface="Arial"/>
                <a:cs typeface="Arial"/>
              </a:rPr>
              <a:t>open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filename.txt: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dirty="0"/>
              <a:t>Open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empty</a:t>
            </a:r>
            <a:r>
              <a:rPr spc="-20" dirty="0"/>
              <a:t> file</a:t>
            </a:r>
          </a:p>
          <a:p>
            <a:pPr marL="425450" indent="-381635">
              <a:lnSpc>
                <a:spcPct val="120000"/>
              </a:lnSpc>
              <a:spcBef>
                <a:spcPts val="359"/>
              </a:spcBef>
              <a:buFont typeface="Arial MT"/>
              <a:buChar char="●"/>
              <a:tabLst>
                <a:tab pos="425450" algn="l"/>
              </a:tabLst>
            </a:pPr>
            <a:r>
              <a:rPr b="1" dirty="0">
                <a:latin typeface="Arial"/>
                <a:cs typeface="Arial"/>
              </a:rPr>
              <a:t>cat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filename.txt: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dirty="0"/>
              <a:t>Displays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contents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filename.txt</a:t>
            </a:r>
            <a:r>
              <a:rPr spc="-25" dirty="0"/>
              <a:t> </a:t>
            </a:r>
            <a:r>
              <a:rPr dirty="0"/>
              <a:t>on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terminal.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689861"/>
            <a:ext cx="327977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Environment</a:t>
            </a:r>
            <a:r>
              <a:rPr spc="-95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617" y="2081190"/>
            <a:ext cx="8182609" cy="333367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94335" indent="-381635">
              <a:lnSpc>
                <a:spcPct val="120000"/>
              </a:lnSpc>
              <a:spcBef>
                <a:spcPts val="1300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latin typeface="Arial"/>
                <a:cs typeface="Arial"/>
              </a:rPr>
              <a:t>echo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Hello: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Prints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text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"Hello"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terminal.</a:t>
            </a:r>
            <a:endParaRPr sz="2000" dirty="0">
              <a:latin typeface="Arial MT"/>
              <a:cs typeface="Arial MT"/>
            </a:endParaRPr>
          </a:p>
          <a:p>
            <a:pPr marL="394335" indent="-381635">
              <a:lnSpc>
                <a:spcPct val="120000"/>
              </a:lnSpc>
              <a:spcBef>
                <a:spcPts val="1200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latin typeface="Arial"/>
                <a:cs typeface="Arial"/>
              </a:rPr>
              <a:t>food=pizza: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Assign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variable</a:t>
            </a:r>
            <a:endParaRPr sz="2000" dirty="0">
              <a:latin typeface="Arial MT"/>
              <a:cs typeface="Arial MT"/>
            </a:endParaRPr>
          </a:p>
          <a:p>
            <a:pPr marL="394335">
              <a:lnSpc>
                <a:spcPct val="120000"/>
              </a:lnSpc>
              <a:spcBef>
                <a:spcPts val="1200"/>
              </a:spcBef>
            </a:pPr>
            <a:r>
              <a:rPr sz="2000" b="1" dirty="0">
                <a:latin typeface="Arial"/>
                <a:cs typeface="Arial"/>
              </a:rPr>
              <a:t>echo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what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food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do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want\?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$food 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Print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variable</a:t>
            </a:r>
            <a:endParaRPr sz="2000" dirty="0">
              <a:latin typeface="Arial MT"/>
              <a:cs typeface="Arial MT"/>
            </a:endParaRPr>
          </a:p>
          <a:p>
            <a:pPr marL="394335" indent="-381635">
              <a:lnSpc>
                <a:spcPct val="120000"/>
              </a:lnSpc>
              <a:spcBef>
                <a:spcPts val="1200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latin typeface="Arial"/>
                <a:cs typeface="Arial"/>
              </a:rPr>
              <a:t>echo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$HOME: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Displays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path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current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user's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home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directory.</a:t>
            </a:r>
            <a:endParaRPr sz="2000" dirty="0">
              <a:latin typeface="Arial MT"/>
              <a:cs typeface="Arial MT"/>
            </a:endParaRPr>
          </a:p>
          <a:p>
            <a:pPr marL="394335" indent="-381635">
              <a:lnSpc>
                <a:spcPct val="120000"/>
              </a:lnSpc>
              <a:spcBef>
                <a:spcPts val="1200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latin typeface="Arial"/>
                <a:cs typeface="Arial"/>
              </a:rPr>
              <a:t>echo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$USER: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Prints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username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current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user.</a:t>
            </a:r>
            <a:endParaRPr sz="2000" dirty="0">
              <a:latin typeface="Arial MT"/>
              <a:cs typeface="Arial MT"/>
            </a:endParaRPr>
          </a:p>
          <a:p>
            <a:pPr marL="394335" marR="49530" indent="-382270">
              <a:lnSpc>
                <a:spcPct val="120000"/>
              </a:lnSpc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latin typeface="Arial"/>
                <a:cs typeface="Arial"/>
              </a:rPr>
              <a:t>echo</a:t>
            </a:r>
            <a:r>
              <a:rPr sz="2000" b="1" spc="-55" dirty="0">
                <a:latin typeface="Arial"/>
                <a:cs typeface="Arial"/>
              </a:rPr>
              <a:t> $PATH: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Displays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current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user's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80" dirty="0">
                <a:latin typeface="Arial MT"/>
                <a:cs typeface="Arial MT"/>
              </a:rPr>
              <a:t>PATH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environment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variable </a:t>
            </a:r>
            <a:r>
              <a:rPr sz="2000" dirty="0">
                <a:latin typeface="Arial MT"/>
                <a:cs typeface="Arial MT"/>
              </a:rPr>
              <a:t>(directories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looks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executable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files).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0868-2C37-1B41-876F-0E948A2EA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375" y="1689861"/>
            <a:ext cx="5414645" cy="384721"/>
          </a:xfrm>
        </p:spPr>
        <p:txBody>
          <a:bodyPr/>
          <a:lstStyle/>
          <a:p>
            <a:r>
              <a:rPr lang="en-US" dirty="0"/>
              <a:t>How to Create and Run a Bash Script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F0088-5073-04E0-5967-D32143560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1917" y="2198920"/>
            <a:ext cx="10708165" cy="4782784"/>
          </a:xfrm>
        </p:spPr>
        <p:txBody>
          <a:bodyPr/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dirty="0"/>
              <a:t>A Bash script is simply a text file containing a series of commands that the shell executes in sequence. Follow these four essential steps:</a:t>
            </a:r>
          </a:p>
          <a:p>
            <a:pPr marL="457200" indent="-457200">
              <a:lnSpc>
                <a:spcPct val="120000"/>
              </a:lnSpc>
              <a:spcAft>
                <a:spcPts val="1800"/>
              </a:spcAft>
              <a:buFont typeface="+mj-lt"/>
              <a:buAutoNum type="arabicPeriod"/>
            </a:pPr>
            <a:r>
              <a:rPr lang="en-US" b="1" dirty="0"/>
              <a:t>Create the File</a:t>
            </a:r>
            <a:br>
              <a:rPr lang="en-US" b="1" dirty="0"/>
            </a:br>
            <a:r>
              <a:rPr lang="en-US" dirty="0"/>
              <a:t>Open your terminal and create a new file with the .</a:t>
            </a:r>
            <a:r>
              <a:rPr lang="en-US" dirty="0" err="1"/>
              <a:t>sh</a:t>
            </a:r>
            <a:r>
              <a:rPr lang="en-US" dirty="0"/>
              <a:t> extension.</a:t>
            </a:r>
            <a:br>
              <a:rPr lang="en-US" dirty="0"/>
            </a:br>
            <a:r>
              <a:rPr lang="en-US" b="1" dirty="0"/>
              <a:t>Command:</a:t>
            </a:r>
            <a:r>
              <a:rPr lang="en-US" dirty="0"/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touch myscript.sh</a:t>
            </a:r>
            <a:br>
              <a:rPr lang="en-US" dirty="0"/>
            </a:br>
            <a:r>
              <a:rPr lang="en-US" b="1" dirty="0"/>
              <a:t>Open in Editor:</a:t>
            </a:r>
            <a:r>
              <a:rPr lang="en-US" dirty="0"/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nano myscript.sh</a:t>
            </a:r>
            <a:r>
              <a:rPr lang="en-US" dirty="0"/>
              <a:t> (or use VS Code/Vim)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b="1" dirty="0"/>
              <a:t>Add the "Shebang“</a:t>
            </a:r>
            <a:br>
              <a:rPr lang="en-US" b="1" dirty="0"/>
            </a:br>
            <a:r>
              <a:rPr lang="en-US" dirty="0"/>
              <a:t>The first line of every script must tell the system which interpreter to use.</a:t>
            </a:r>
            <a:br>
              <a:rPr lang="en-US" dirty="0"/>
            </a:br>
            <a:r>
              <a:rPr lang="en-US" b="1" dirty="0"/>
              <a:t>The Line:</a:t>
            </a:r>
            <a:r>
              <a:rPr lang="en-US" dirty="0"/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#!/bin/bash</a:t>
            </a:r>
            <a:br>
              <a:rPr lang="en-US" dirty="0"/>
            </a:br>
            <a:r>
              <a:rPr lang="en-US" b="1" dirty="0"/>
              <a:t>Purpose:</a:t>
            </a:r>
            <a:r>
              <a:rPr lang="en-US" dirty="0"/>
              <a:t> Ensures the script runs in the Bash shell even if the user is using </a:t>
            </a:r>
            <a:br>
              <a:rPr lang="en-US" dirty="0"/>
            </a:br>
            <a:r>
              <a:rPr lang="en-US" dirty="0"/>
              <a:t>a different shell (like </a:t>
            </a:r>
            <a:r>
              <a:rPr lang="en-US" dirty="0" err="1"/>
              <a:t>Zsh</a:t>
            </a:r>
            <a:r>
              <a:rPr lang="en-US" dirty="0"/>
              <a:t>).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281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31CFD-73CD-F568-C9A6-C5BF8B482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E970A-FC6E-E278-A32B-34B67C41B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375" y="1689861"/>
            <a:ext cx="6752425" cy="384721"/>
          </a:xfrm>
        </p:spPr>
        <p:txBody>
          <a:bodyPr/>
          <a:lstStyle/>
          <a:p>
            <a:r>
              <a:rPr lang="en-US" dirty="0"/>
              <a:t>How to Create and Run a Bash Script (cont. 1)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DF05D-C81D-4A82-ACB2-E2BFC012E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1917" y="2198920"/>
            <a:ext cx="10708165" cy="704745"/>
          </a:xfrm>
        </p:spPr>
        <p:txBody>
          <a:bodyPr/>
          <a:lstStyle/>
          <a:p>
            <a:pPr marL="457200" indent="-457200">
              <a:lnSpc>
                <a:spcPct val="120000"/>
              </a:lnSpc>
              <a:buFont typeface="+mj-lt"/>
              <a:buAutoNum type="arabicPeriod" startAt="3"/>
            </a:pPr>
            <a:r>
              <a:rPr lang="en-US" b="1" dirty="0"/>
              <a:t>Write Your Commands</a:t>
            </a:r>
            <a:br>
              <a:rPr lang="en-US" b="1" dirty="0"/>
            </a:br>
            <a:r>
              <a:rPr lang="en-US" dirty="0"/>
              <a:t>Add the logic you want to automate.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AB5C70-1467-D064-88F7-0CEF460A9464}"/>
              </a:ext>
            </a:extLst>
          </p:cNvPr>
          <p:cNvSpPr txBox="1"/>
          <p:nvPr/>
        </p:nvSpPr>
        <p:spPr>
          <a:xfrm>
            <a:off x="1143000" y="3149886"/>
            <a:ext cx="6934200" cy="21067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#!/bin/bash </a:t>
            </a:r>
          </a:p>
          <a:p>
            <a:pPr>
              <a:lnSpc>
                <a:spcPct val="120000"/>
              </a:lnSpc>
            </a:pP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This is a comment </a:t>
            </a:r>
          </a:p>
          <a:p>
            <a:pPr>
              <a:lnSpc>
                <a:spcPct val="120000"/>
              </a:lnSpc>
            </a:pPr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"Hello, $(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whoami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)!" </a:t>
            </a:r>
          </a:p>
          <a:p>
            <a:pPr>
              <a:lnSpc>
                <a:spcPct val="120000"/>
              </a:lnSpc>
            </a:pP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echo "The current directory is: $(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pwd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)"</a:t>
            </a:r>
          </a:p>
        </p:txBody>
      </p:sp>
    </p:spTree>
    <p:extLst>
      <p:ext uri="{BB962C8B-B14F-4D97-AF65-F5344CB8AC3E}">
        <p14:creationId xmlns:p14="http://schemas.microsoft.com/office/powerpoint/2010/main" val="3094599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63E02-F59E-6843-57D4-9A687FFF1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22221-1210-3B3B-61C9-CD55DF03E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375" y="1689861"/>
            <a:ext cx="7133425" cy="509059"/>
          </a:xfrm>
        </p:spPr>
        <p:txBody>
          <a:bodyPr/>
          <a:lstStyle/>
          <a:p>
            <a:r>
              <a:rPr lang="en-US" dirty="0"/>
              <a:t>How to Create and Run a Bash Script (cont. 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1A1CF-F254-7468-3602-FA95BD113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1917" y="2198920"/>
            <a:ext cx="10708165" cy="2782237"/>
          </a:xfrm>
        </p:spPr>
        <p:txBody>
          <a:bodyPr/>
          <a:lstStyle/>
          <a:p>
            <a:pPr marL="457200" indent="-457200">
              <a:lnSpc>
                <a:spcPct val="120000"/>
              </a:lnSpc>
              <a:spcAft>
                <a:spcPts val="1800"/>
              </a:spcAft>
              <a:buFont typeface="+mj-lt"/>
              <a:buAutoNum type="arabicPeriod" startAt="4"/>
            </a:pPr>
            <a:r>
              <a:rPr lang="en-US" b="1" dirty="0"/>
              <a:t>Grant Execute Permissions</a:t>
            </a:r>
            <a:br>
              <a:rPr lang="en-US" b="1" dirty="0"/>
            </a:br>
            <a:r>
              <a:rPr lang="en-US" dirty="0"/>
              <a:t>By default, new files aren't "executable" for security reasons. You must change the file mode.</a:t>
            </a:r>
            <a:br>
              <a:rPr lang="en-US" dirty="0"/>
            </a:br>
            <a:r>
              <a:rPr lang="en-US" b="1" dirty="0"/>
              <a:t>Command:</a:t>
            </a:r>
            <a:r>
              <a:rPr lang="en-US" dirty="0"/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chmod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+x myscript.sh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 startAt="4"/>
            </a:pPr>
            <a:r>
              <a:rPr lang="en-US" b="1" dirty="0"/>
              <a:t>Execute the Script</a:t>
            </a:r>
            <a:br>
              <a:rPr lang="en-US" b="1" dirty="0"/>
            </a:br>
            <a:r>
              <a:rPr lang="en-US" dirty="0"/>
              <a:t>Run your script from the terminal using the relative path.</a:t>
            </a:r>
            <a:br>
              <a:rPr lang="en-US" dirty="0"/>
            </a:br>
            <a:r>
              <a:rPr lang="en-US" b="1" dirty="0"/>
              <a:t>Command:</a:t>
            </a:r>
            <a:r>
              <a:rPr lang="en-US" dirty="0"/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./myscript.sh</a:t>
            </a:r>
          </a:p>
        </p:txBody>
      </p:sp>
    </p:spTree>
    <p:extLst>
      <p:ext uri="{BB962C8B-B14F-4D97-AF65-F5344CB8AC3E}">
        <p14:creationId xmlns:p14="http://schemas.microsoft.com/office/powerpoint/2010/main" val="3506566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497B-3835-681C-BA2A-6D43A31EE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375" y="1689861"/>
            <a:ext cx="8047825" cy="509059"/>
          </a:xfrm>
        </p:spPr>
        <p:txBody>
          <a:bodyPr/>
          <a:lstStyle/>
          <a:p>
            <a:r>
              <a:rPr lang="en-US" dirty="0"/>
              <a:t>Special Parameters (Built-in Variables)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8FB54-C40C-911A-2C6D-A713E6B12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1917" y="2198920"/>
            <a:ext cx="10708165" cy="704745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Bash uses the dollar sign combined with specific characters to give you information about the script's environment: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9CD09DE-B356-B1BD-57D7-CE7B35FBB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61366"/>
              </p:ext>
            </p:extLst>
          </p:nvPr>
        </p:nvGraphicFramePr>
        <p:xfrm>
          <a:off x="741916" y="3200400"/>
          <a:ext cx="9697484" cy="2895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36363">
                  <a:extLst>
                    <a:ext uri="{9D8B030D-6E8A-4147-A177-3AD203B41FA5}">
                      <a16:colId xmlns:a16="http://schemas.microsoft.com/office/drawing/2014/main" val="848791536"/>
                    </a:ext>
                  </a:extLst>
                </a:gridCol>
                <a:gridCol w="8161121">
                  <a:extLst>
                    <a:ext uri="{9D8B030D-6E8A-4147-A177-3AD203B41FA5}">
                      <a16:colId xmlns:a16="http://schemas.microsoft.com/office/drawing/2014/main" val="3916199252"/>
                    </a:ext>
                  </a:extLst>
                </a:gridCol>
              </a:tblGrid>
              <a:tr h="427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Syntax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679294"/>
                  </a:ext>
                </a:extLst>
              </a:tr>
              <a:tr h="427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$0</a:t>
                      </a:r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The name of the script itself.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7996811"/>
                  </a:ext>
                </a:extLst>
              </a:tr>
              <a:tr h="427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$1, $2...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Positional arguments passed to the script.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1197475"/>
                  </a:ext>
                </a:extLst>
              </a:tr>
              <a:tr h="427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$#</a:t>
                      </a:r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The number of arguments passed to the script.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769521"/>
                  </a:ext>
                </a:extLst>
              </a:tr>
              <a:tr h="756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$?</a:t>
                      </a:r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The exit status of the last executed command (0 usually means success).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9107707"/>
                  </a:ext>
                </a:extLst>
              </a:tr>
              <a:tr h="427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$$</a:t>
                      </a:r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The Process ID (PID) of the current shell.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6361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5723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E503F-AF9F-E659-A356-BEA86572A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375" y="1689861"/>
            <a:ext cx="5414645" cy="384721"/>
          </a:xfrm>
        </p:spPr>
        <p:txBody>
          <a:bodyPr/>
          <a:lstStyle/>
          <a:p>
            <a:r>
              <a:rPr lang="en-US" dirty="0"/>
              <a:t>Arithmetic Expansion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2B1D2B-FC0A-48A6-E776-02551B0432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84217" y="2209800"/>
            <a:ext cx="10081606" cy="2779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perform math inside a script, you use double parentheses preceded by a dollar sign.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Syntax: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$(( expression ))</a:t>
            </a: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echo $((5 + 3))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(Outputs: 8)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675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A4FE2-6992-F16A-98C2-BB274F2A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375" y="1689861"/>
            <a:ext cx="5414645" cy="384721"/>
          </a:xfrm>
        </p:spPr>
        <p:txBody>
          <a:bodyPr/>
          <a:lstStyle/>
          <a:p>
            <a:r>
              <a:rPr lang="en-US" dirty="0"/>
              <a:t>A Word on Quotes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8CA26D-DF80-3D44-7F00-41F264E61C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2286000"/>
            <a:ext cx="5620449" cy="2582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24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Double Quotes (" ")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shell will still expand the $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(e.g., "Hello $USER" becomes "Hello Alice").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Single Quotes (' ‘)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shell treats the $ literally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(e.g., 'Hello $USER' remains 'Hello $USER').</a:t>
            </a:r>
          </a:p>
        </p:txBody>
      </p:sp>
    </p:spTree>
    <p:extLst>
      <p:ext uri="{BB962C8B-B14F-4D97-AF65-F5344CB8AC3E}">
        <p14:creationId xmlns:p14="http://schemas.microsoft.com/office/powerpoint/2010/main" val="3497558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1502</Words>
  <Application>Microsoft Office PowerPoint</Application>
  <PresentationFormat>Widescreen</PresentationFormat>
  <Paragraphs>165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Arial MT</vt:lpstr>
      <vt:lpstr>Courier New</vt:lpstr>
      <vt:lpstr>Georgia</vt:lpstr>
      <vt:lpstr>Office Theme</vt:lpstr>
      <vt:lpstr>CSC 362: System Programming</vt:lpstr>
      <vt:lpstr>Status Check</vt:lpstr>
      <vt:lpstr>Understanding the Terminal GUI vs CLI</vt:lpstr>
      <vt:lpstr>Understanding the Terminal The shell (bash, zsh, cmd, etc)</vt:lpstr>
      <vt:lpstr>Enhance VS Code Terminal (Optional)</vt:lpstr>
      <vt:lpstr>Enhance VS Code Terminal (Optional) (cont.)</vt:lpstr>
      <vt:lpstr>Basic Navigation Commands</vt:lpstr>
      <vt:lpstr>File Manipulation Commands</vt:lpstr>
      <vt:lpstr>Environment Variables</vt:lpstr>
      <vt:lpstr>How to Create and Run a Bash Script</vt:lpstr>
      <vt:lpstr>How to Create and Run a Bash Script (cont. 1)</vt:lpstr>
      <vt:lpstr>How to Create and Run a Bash Script (cont. 2)</vt:lpstr>
      <vt:lpstr>Special Parameters (Built-in Variables)</vt:lpstr>
      <vt:lpstr>Arithmetic Expansion</vt:lpstr>
      <vt:lpstr>A Word on Quotes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CSC362 - Lecture 3.pptx</dc:title>
  <cp:lastModifiedBy>Richard Johnson</cp:lastModifiedBy>
  <cp:revision>28</cp:revision>
  <dcterms:created xsi:type="dcterms:W3CDTF">2026-01-14T00:57:53Z</dcterms:created>
  <dcterms:modified xsi:type="dcterms:W3CDTF">2026-01-21T14:49:14Z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2026-01-14T00:00:00Z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2026-01-14T00:00:00Z</vt:filetime>
  </property>
</Properties>
</file>