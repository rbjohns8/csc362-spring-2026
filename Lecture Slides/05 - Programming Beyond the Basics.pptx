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935" autoAdjust="0"/>
  </p:normalViewPr>
  <p:slideViewPr>
    <p:cSldViewPr>
      <p:cViewPr varScale="1">
        <p:scale>
          <a:sx n="51" d="100"/>
          <a:sy n="51" d="100"/>
        </p:scale>
        <p:origin x="180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22DEC-86F8-44CB-94B8-EF1FF67EAF1B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ADD-04F7-41D2-9669-C72D2F0F5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5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Topics Covered</a:t>
            </a:r>
            <a:r>
              <a:rPr lang="en-US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Pointers and strings in C,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dynamic memory allocation,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and common bugs like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null bytes,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double frees,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dangling pointers.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Pointers in C</a:t>
            </a:r>
          </a:p>
          <a:p>
            <a:endParaRPr lang="en-US" dirty="0"/>
          </a:p>
          <a:p>
            <a:r>
              <a:rPr lang="en-US" b="1" dirty="0"/>
              <a:t>Definition</a:t>
            </a:r>
            <a:r>
              <a:rPr lang="en-US" dirty="0"/>
              <a:t>: </a:t>
            </a:r>
          </a:p>
          <a:p>
            <a:r>
              <a:rPr lang="en-US" dirty="0"/>
              <a:t>A pointer is a variable that stores the memory address of another variable.</a:t>
            </a:r>
          </a:p>
          <a:p>
            <a:endParaRPr lang="en-US" dirty="0"/>
          </a:p>
          <a:p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r>
              <a:rPr lang="en-US" dirty="0"/>
              <a:t>They allow direct memory manipulation, which is a powerful feature in C/C++.</a:t>
            </a:r>
          </a:p>
          <a:p>
            <a:endParaRPr lang="en-US" b="1" dirty="0"/>
          </a:p>
          <a:p>
            <a:r>
              <a:rPr lang="en-US" b="1" dirty="0"/>
              <a:t>Memory</a:t>
            </a:r>
          </a:p>
          <a:p>
            <a:r>
              <a:rPr lang="en-US" dirty="0"/>
              <a:t>Every memory location has a unique address and holds content, often represented as hexadecimal byte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12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Pointers in C</a:t>
            </a:r>
          </a:p>
          <a:p>
            <a:endParaRPr lang="en-US" b="1" dirty="0"/>
          </a:p>
          <a:p>
            <a:r>
              <a:rPr lang="en-US" b="1" dirty="0"/>
              <a:t>Variable Value</a:t>
            </a:r>
            <a:r>
              <a:rPr lang="en-US" dirty="0"/>
              <a:t>: Accessed via the variable name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en-US" dirty="0"/>
              <a:t>).</a:t>
            </a:r>
          </a:p>
          <a:p>
            <a:r>
              <a:rPr lang="en-US" b="1" dirty="0"/>
              <a:t>Address of Variable</a:t>
            </a:r>
            <a:r>
              <a:rPr lang="en-US" dirty="0"/>
              <a:t>: Obtained using the address-of operator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&amp;var</a:t>
            </a:r>
            <a:r>
              <a:rPr lang="en-US" dirty="0"/>
              <a:t>).</a:t>
            </a:r>
          </a:p>
          <a:p>
            <a:r>
              <a:rPr lang="en-US" b="1" dirty="0"/>
              <a:t>Pointer Assignment</a:t>
            </a:r>
            <a:r>
              <a:rPr lang="en-US" dirty="0"/>
              <a:t>: A pointer is assigned an address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&amp;var</a:t>
            </a:r>
            <a:r>
              <a:rPr lang="en-US" dirty="0"/>
              <a:t>.</a:t>
            </a:r>
          </a:p>
          <a:p>
            <a:r>
              <a:rPr lang="en-US" b="1" dirty="0"/>
              <a:t>Dereferencing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dirty="0"/>
              <a:t> retrieves the value stored at the address.</a:t>
            </a:r>
          </a:p>
          <a:p>
            <a:r>
              <a:rPr lang="en-US" b="1" dirty="0"/>
              <a:t>Stored Address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dirty="0"/>
              <a:t> displays the actual address stored in the pointer.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pointer_intro.c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r>
              <a:rPr lang="en-US" b="1" dirty="0"/>
              <a:t>Long-form Description:</a:t>
            </a:r>
          </a:p>
          <a:p>
            <a:endParaRPr lang="en-US" dirty="0"/>
          </a:p>
          <a:p>
            <a:r>
              <a:rPr lang="en-US" b="1" dirty="0"/>
              <a:t>Basic Pointer Declaration</a:t>
            </a:r>
          </a:p>
          <a:p>
            <a:r>
              <a:rPr lang="en-US" dirty="0"/>
              <a:t>The image demonstrates the fundamental relationship between a variable and its pointer.</a:t>
            </a:r>
          </a:p>
          <a:p>
            <a:endParaRPr lang="en-US" dirty="0"/>
          </a:p>
          <a:p>
            <a:r>
              <a:rPr lang="en-US" b="1" dirty="0"/>
              <a:t>Variable Setup</a:t>
            </a:r>
            <a:r>
              <a:rPr lang="en-US" dirty="0"/>
              <a:t>: </a:t>
            </a:r>
          </a:p>
          <a:p>
            <a:r>
              <a:rPr lang="en-US" dirty="0"/>
              <a:t>An integer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en-US" dirty="0"/>
              <a:t> is initialized with the value </a:t>
            </a:r>
            <a:r>
              <a:rPr lang="en-US" b="1" dirty="0"/>
              <a:t>100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Pointer Assignment</a:t>
            </a:r>
            <a:r>
              <a:rPr lang="en-US" dirty="0"/>
              <a:t>: </a:t>
            </a:r>
          </a:p>
          <a:p>
            <a:r>
              <a:rPr lang="en-US" dirty="0"/>
              <a:t>A pointer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dirty="0"/>
              <a:t> is declared and assigned the memory address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</a:t>
            </a:r>
            <a:r>
              <a:rPr lang="en-US" dirty="0"/>
              <a:t> using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 (address-of) operator.</a:t>
            </a:r>
          </a:p>
          <a:p>
            <a:endParaRPr lang="en-US" dirty="0"/>
          </a:p>
          <a:p>
            <a:r>
              <a:rPr lang="en-US" b="1" dirty="0"/>
              <a:t>Accessing Data</a:t>
            </a:r>
            <a:r>
              <a:rPr lang="en-US" dirty="0"/>
              <a:t>: </a:t>
            </a:r>
          </a:p>
          <a:p>
            <a:r>
              <a:rPr lang="en-US" dirty="0"/>
              <a:t>The commented-out code suggests that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dirty="0"/>
              <a:t> would retrieve the value </a:t>
            </a:r>
            <a:r>
              <a:rPr lang="en-US" b="1" dirty="0"/>
              <a:t>100</a:t>
            </a:r>
            <a:r>
              <a:rPr lang="en-US" dirty="0"/>
              <a:t>, while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pointerVar</a:t>
            </a:r>
            <a:r>
              <a:rPr lang="en-US" dirty="0"/>
              <a:t> itself holds the hexadecimal memory address.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94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Pointer Arithmetic</a:t>
            </a:r>
            <a:endParaRPr lang="en-US" dirty="0"/>
          </a:p>
          <a:p>
            <a:r>
              <a:rPr lang="en-US" b="1" dirty="0"/>
              <a:t>Concept: </a:t>
            </a:r>
            <a:r>
              <a:rPr lang="en-US" dirty="0"/>
              <a:t>Pointers can be incremented or decremented to move to the next or previous memory locations.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/>
              <a:t>pointer_arithmetic_1.c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Long-form Description:</a:t>
            </a:r>
          </a:p>
          <a:p>
            <a:endParaRPr lang="en-US" dirty="0"/>
          </a:p>
          <a:p>
            <a:r>
              <a:rPr lang="en-US" b="1" dirty="0"/>
              <a:t>Pointers and Arrays</a:t>
            </a:r>
          </a:p>
          <a:p>
            <a:r>
              <a:rPr lang="en-US" dirty="0"/>
              <a:t>The image illustrates how an array name acts as a pointer to its first element.</a:t>
            </a:r>
          </a:p>
          <a:p>
            <a:endParaRPr lang="en-US" dirty="0"/>
          </a:p>
          <a:p>
            <a:r>
              <a:rPr lang="en-US" b="1" dirty="0"/>
              <a:t>Array Definition</a:t>
            </a:r>
            <a:r>
              <a:rPr lang="en-US" dirty="0"/>
              <a:t>:</a:t>
            </a:r>
          </a:p>
          <a:p>
            <a:r>
              <a:rPr lang="en-US" dirty="0"/>
              <a:t>An array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dirty="0"/>
              <a:t> is created containing the elements </a:t>
            </a:r>
            <a:r>
              <a:rPr lang="en-US" b="1" dirty="0"/>
              <a:t>{1, 2, 3}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Pointer Link</a:t>
            </a:r>
            <a:r>
              <a:rPr lang="en-US" dirty="0"/>
              <a:t>: </a:t>
            </a:r>
          </a:p>
          <a:p>
            <a:r>
              <a:rPr lang="en-US" dirty="0"/>
              <a:t>Setting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dirty="0"/>
              <a:t> makes the pointer point to the first element,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Pointer Arithmetic</a:t>
            </a:r>
            <a:r>
              <a:rPr lang="en-US" dirty="0"/>
              <a:t>: </a:t>
            </a:r>
          </a:p>
          <a:p>
            <a:r>
              <a:rPr lang="en-US" dirty="0"/>
              <a:t>A commented-out line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en-US" dirty="0"/>
              <a:t> indicates that incrementing the pointer would shift it to point at the next element, </a:t>
            </a:r>
            <a:r>
              <a:rPr lang="en-US" b="1" dirty="0"/>
              <a:t>2</a:t>
            </a:r>
            <a:r>
              <a:rPr lang="en-US" dirty="0"/>
              <a:t>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08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Pointer Arithmetic</a:t>
            </a:r>
            <a:endParaRPr lang="en-US" b="0" dirty="0"/>
          </a:p>
          <a:p>
            <a:r>
              <a:rPr lang="en-US" b="1" dirty="0"/>
              <a:t>Application</a:t>
            </a:r>
            <a:r>
              <a:rPr lang="en-US" dirty="0"/>
              <a:t>: Pointer arithmetic is used to iterate through arrays to access individual elements.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/>
              <a:t>pointer_arithmetic_2.c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Long-form Description: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Iterating with Pointer Arithmetic</a:t>
            </a:r>
          </a:p>
          <a:p>
            <a:r>
              <a:rPr lang="en-US" dirty="0"/>
              <a:t>The image shows a common pattern for traversing an entire array using a loop and pointer arithmetic.</a:t>
            </a:r>
          </a:p>
          <a:p>
            <a:endParaRPr lang="en-US" dirty="0"/>
          </a:p>
          <a:p>
            <a:r>
              <a:rPr lang="en-US" b="1" dirty="0"/>
              <a:t>Dynamic Length</a:t>
            </a:r>
            <a:r>
              <a:rPr lang="en-US" dirty="0"/>
              <a:t>: </a:t>
            </a:r>
          </a:p>
          <a:p>
            <a:r>
              <a:rPr lang="en-US" dirty="0"/>
              <a:t>The code calculates the number of elements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/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The Loop</a:t>
            </a:r>
            <a:r>
              <a:rPr lang="en-US" dirty="0"/>
              <a:t>: </a:t>
            </a:r>
          </a:p>
          <a:p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dirty="0"/>
              <a:t> loop iterates through the array.</a:t>
            </a:r>
          </a:p>
          <a:p>
            <a:endParaRPr lang="en-US" dirty="0"/>
          </a:p>
          <a:p>
            <a:r>
              <a:rPr lang="en-US" b="1" dirty="0"/>
              <a:t>Dereferencing</a:t>
            </a:r>
            <a:r>
              <a:rPr lang="en-US" dirty="0"/>
              <a:t>: </a:t>
            </a:r>
          </a:p>
          <a:p>
            <a:r>
              <a:rPr lang="en-US" dirty="0"/>
              <a:t>The expression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is used to access each value by adding an offset to the base pointer and then dereferencing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56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Strings in C</a:t>
            </a:r>
          </a:p>
          <a:p>
            <a:endParaRPr lang="en-US" dirty="0"/>
          </a:p>
          <a:p>
            <a:r>
              <a:rPr lang="en-US" b="1" dirty="0"/>
              <a:t>Structure</a:t>
            </a:r>
            <a:r>
              <a:rPr lang="en-US" dirty="0"/>
              <a:t>:</a:t>
            </a:r>
          </a:p>
          <a:p>
            <a:r>
              <a:rPr lang="en-US" dirty="0"/>
              <a:t>C-style strings are one-dimensional character arrays terminated by a null character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\0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/>
              <a:t>Length</a:t>
            </a:r>
            <a:r>
              <a:rPr lang="en-US" dirty="0"/>
              <a:t>:</a:t>
            </a:r>
          </a:p>
          <a:p>
            <a:r>
              <a:rPr lang="en-US" dirty="0"/>
              <a:t>C does not explicitly store string length; it relies on the null character as a "sentinel value".</a:t>
            </a:r>
          </a:p>
          <a:p>
            <a:endParaRPr lang="en-US" dirty="0"/>
          </a:p>
          <a:p>
            <a:r>
              <a:rPr lang="en-US" b="1" dirty="0"/>
              <a:t>Functions</a:t>
            </a:r>
            <a:r>
              <a:rPr lang="en-US" dirty="0"/>
              <a:t>:</a:t>
            </a:r>
          </a:p>
          <a:p>
            <a:r>
              <a:rPr lang="en-US" dirty="0"/>
              <a:t>Standard functions like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strcpy</a:t>
            </a:r>
            <a:r>
              <a:rPr lang="en-US" dirty="0"/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strcat</a:t>
            </a:r>
            <a:r>
              <a:rPr lang="en-US" dirty="0"/>
              <a:t>, and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strcmp</a:t>
            </a:r>
            <a:r>
              <a:rPr lang="en-US" dirty="0"/>
              <a:t> require the null terminator to function.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11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Common Bugs - Null Bytes</a:t>
            </a:r>
            <a:endParaRPr lang="en-US" dirty="0"/>
          </a:p>
          <a:p>
            <a:r>
              <a:rPr lang="en-US" b="1" dirty="0"/>
              <a:t>Risk</a:t>
            </a:r>
            <a:r>
              <a:rPr lang="en-US" dirty="0"/>
              <a:t>: Failing to null-terminate a string can lead to printing "garbage" values or program crashes.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hello_string.c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r>
              <a:rPr lang="en-US" b="1" dirty="0"/>
              <a:t>Long-form Description:</a:t>
            </a:r>
          </a:p>
          <a:p>
            <a:endParaRPr lang="en-US" dirty="0"/>
          </a:p>
          <a:p>
            <a:r>
              <a:rPr lang="en-US" b="1" dirty="0"/>
              <a:t>Null Terminator Importance</a:t>
            </a:r>
          </a:p>
          <a:p>
            <a:r>
              <a:rPr lang="en-US" dirty="0"/>
              <a:t>This image displays a C source code snippet that contrasts incorrect and correct ways to initialize a character array for use as a string. </a:t>
            </a:r>
          </a:p>
          <a:p>
            <a:r>
              <a:rPr lang="en-US" dirty="0"/>
              <a:t>The code is written inside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function and includes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dirty="0"/>
              <a:t> library.</a:t>
            </a:r>
          </a:p>
          <a:p>
            <a:endParaRPr lang="en-US" dirty="0"/>
          </a:p>
          <a:p>
            <a:r>
              <a:rPr lang="en-US" b="1" dirty="0"/>
              <a:t>The Problem (Undefined Behavior)</a:t>
            </a:r>
            <a:r>
              <a:rPr lang="en-US" dirty="0"/>
              <a:t>: </a:t>
            </a:r>
          </a:p>
          <a:p>
            <a:r>
              <a:rPr lang="en-US" dirty="0"/>
              <a:t>The first example declares a character array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 str[5]</a:t>
            </a:r>
            <a:r>
              <a:rPr lang="en-US" dirty="0"/>
              <a:t> containing the characters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'H', 'e', 'l', 'l', 'o’</a:t>
            </a:r>
            <a:r>
              <a:rPr lang="en-US" dirty="0"/>
              <a:t>. </a:t>
            </a:r>
          </a:p>
          <a:p>
            <a:r>
              <a:rPr lang="en-US" dirty="0"/>
              <a:t>A comment explicitly labels this as </a:t>
            </a:r>
            <a:r>
              <a:rPr lang="en-US" b="1" dirty="0"/>
              <a:t>"Undefined behavior"</a:t>
            </a:r>
            <a:r>
              <a:rPr lang="en-US" dirty="0"/>
              <a:t> because the array lacks a null terminator. </a:t>
            </a:r>
          </a:p>
          <a:p>
            <a:r>
              <a:rPr lang="en-US" dirty="0"/>
              <a:t>When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dirty="0"/>
              <a:t> attempts to print this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%s</a:t>
            </a:r>
            <a:r>
              <a:rPr lang="en-US" dirty="0"/>
              <a:t>, it will continue reading past the end of the array into adjacent memory </a:t>
            </a:r>
          </a:p>
          <a:p>
            <a:r>
              <a:rPr lang="en-US" dirty="0"/>
              <a:t>until it happens to find a null byte, potentially causing a crash or displaying "garbage" data.</a:t>
            </a:r>
          </a:p>
          <a:p>
            <a:endParaRPr lang="en-US" dirty="0"/>
          </a:p>
          <a:p>
            <a:r>
              <a:rPr lang="en-US" b="1" dirty="0"/>
              <a:t>The Solution (Safe Behavior)</a:t>
            </a:r>
            <a:r>
              <a:rPr lang="en-US" dirty="0"/>
              <a:t>: </a:t>
            </a:r>
          </a:p>
          <a:p>
            <a:r>
              <a:rPr lang="en-US" dirty="0"/>
              <a:t>The second example, shown in comments, demonstrates the correct approach: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 str[6] = {'H', 'e', 'l', 'l', 'o', '\0’}</a:t>
            </a:r>
            <a:r>
              <a:rPr lang="en-US" dirty="0"/>
              <a:t>. </a:t>
            </a:r>
          </a:p>
          <a:p>
            <a:r>
              <a:rPr lang="en-US" dirty="0"/>
              <a:t>By increasing the array size to 6, the code accommodates the </a:t>
            </a:r>
            <a:r>
              <a:rPr lang="en-US" b="1" dirty="0"/>
              <a:t>null terminator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\0</a:t>
            </a:r>
            <a:r>
              <a:rPr lang="en-US" b="1" dirty="0"/>
              <a:t>)</a:t>
            </a:r>
            <a:r>
              <a:rPr lang="en-US" dirty="0"/>
              <a:t>. </a:t>
            </a:r>
          </a:p>
          <a:p>
            <a:r>
              <a:rPr lang="en-US" dirty="0"/>
              <a:t>A comment identifies this as </a:t>
            </a:r>
            <a:r>
              <a:rPr lang="en-US" b="1" dirty="0"/>
              <a:t>"Safe and predictable behavior"</a:t>
            </a:r>
            <a:r>
              <a:rPr lang="en-US" dirty="0"/>
              <a:t> </a:t>
            </a:r>
          </a:p>
          <a:p>
            <a:r>
              <a:rPr lang="en-US" dirty="0"/>
              <a:t>because the null terminator provides a clear "stop signal" for string-handling functions.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5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Dynamic Memory Allocation</a:t>
            </a:r>
          </a:p>
          <a:p>
            <a:endParaRPr lang="en-US" dirty="0"/>
          </a:p>
          <a:p>
            <a:r>
              <a:rPr lang="en-US" b="1" dirty="0"/>
              <a:t>Runtime Allocation</a:t>
            </a:r>
            <a:r>
              <a:rPr lang="en-US" dirty="0"/>
              <a:t>: </a:t>
            </a:r>
          </a:p>
          <a:p>
            <a:r>
              <a:rPr lang="en-US" dirty="0"/>
              <a:t>Allows memory to be allocated during execution rather than at compile time.</a:t>
            </a:r>
          </a:p>
          <a:p>
            <a:endParaRPr lang="en-US" dirty="0"/>
          </a:p>
          <a:p>
            <a:r>
              <a:rPr lang="en-US" b="1" dirty="0"/>
              <a:t>Flexibility</a:t>
            </a:r>
            <a:r>
              <a:rPr lang="en-US" dirty="0"/>
              <a:t>: </a:t>
            </a:r>
          </a:p>
          <a:p>
            <a:r>
              <a:rPr lang="en-US" dirty="0"/>
              <a:t>Enables creating, resizing, and deallocating memory as needed.</a:t>
            </a:r>
          </a:p>
          <a:p>
            <a:endParaRPr lang="en-US" dirty="0"/>
          </a:p>
          <a:p>
            <a:r>
              <a:rPr lang="en-US" b="1" dirty="0"/>
              <a:t>Operators (C vs. C++)</a:t>
            </a:r>
            <a:r>
              <a:rPr lang="en-US" dirty="0"/>
              <a:t>: </a:t>
            </a:r>
          </a:p>
          <a:p>
            <a:r>
              <a:rPr lang="en-US" dirty="0"/>
              <a:t>Use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and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en-US" dirty="0"/>
              <a:t> in C; </a:t>
            </a:r>
          </a:p>
          <a:p>
            <a:r>
              <a:rPr lang="en-US" dirty="0"/>
              <a:t>Use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dirty="0"/>
              <a:t> and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en-US" dirty="0"/>
              <a:t> in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05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malloc()</a:t>
            </a:r>
            <a:r>
              <a:rPr lang="en-US" dirty="0"/>
              <a:t>: Allocates a specific number of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57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An alternative allocation method often used for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45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free()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Releases previously allocated dynamic memory back to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14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Used to resize previously allocated memory blocks.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52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r>
              <a:rPr lang="en-US" dirty="0"/>
              <a:t>: Re-emphasizes that programmers are responsible for explicit memory management in C/C++.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61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Common Bugs - Double Frees</a:t>
            </a:r>
          </a:p>
          <a:p>
            <a:endParaRPr lang="en-US" dirty="0"/>
          </a:p>
          <a:p>
            <a:r>
              <a:rPr lang="en-US" b="1" dirty="0"/>
              <a:t>Definition</a:t>
            </a:r>
            <a:r>
              <a:rPr lang="en-US" dirty="0"/>
              <a:t>: </a:t>
            </a:r>
          </a:p>
          <a:p>
            <a:r>
              <a:rPr lang="en-US" dirty="0"/>
              <a:t>Occurs when a program tries to free the same memory block more than once.</a:t>
            </a:r>
          </a:p>
          <a:p>
            <a:endParaRPr lang="en-US" dirty="0"/>
          </a:p>
          <a:p>
            <a:r>
              <a:rPr lang="en-US" b="1" dirty="0"/>
              <a:t>Consequences</a:t>
            </a:r>
            <a:r>
              <a:rPr lang="en-US" dirty="0"/>
              <a:t>: </a:t>
            </a:r>
          </a:p>
          <a:p>
            <a:r>
              <a:rPr lang="en-US" dirty="0"/>
              <a:t>Leads to memory corruption and crashes.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double_frees.c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15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Dangling Pointers</a:t>
            </a:r>
          </a:p>
          <a:p>
            <a:endParaRPr lang="en-US" dirty="0"/>
          </a:p>
          <a:p>
            <a:r>
              <a:rPr lang="en-US" b="1" dirty="0"/>
              <a:t>Definition</a:t>
            </a:r>
            <a:r>
              <a:rPr lang="en-US" dirty="0"/>
              <a:t>: </a:t>
            </a:r>
          </a:p>
          <a:p>
            <a:r>
              <a:rPr lang="en-US" dirty="0"/>
              <a:t>A pointer that still holds a memory address after that memory has been freed.</a:t>
            </a:r>
          </a:p>
          <a:p>
            <a:endParaRPr lang="en-US" dirty="0"/>
          </a:p>
          <a:p>
            <a:r>
              <a:rPr lang="en-US" b="1" dirty="0"/>
              <a:t>Risk</a:t>
            </a:r>
            <a:r>
              <a:rPr lang="en-US" dirty="0"/>
              <a:t>: </a:t>
            </a:r>
          </a:p>
          <a:p>
            <a:r>
              <a:rPr lang="en-US" dirty="0"/>
              <a:t>Accessing it leads to undefined behavior.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11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Best Practice</a:t>
            </a:r>
            <a:r>
              <a:rPr lang="en-US" dirty="0"/>
              <a:t>: </a:t>
            </a:r>
          </a:p>
          <a:p>
            <a:r>
              <a:rPr lang="en-US" dirty="0"/>
              <a:t>Always set a pointer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 immediately after calling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free()</a:t>
            </a:r>
            <a:r>
              <a:rPr lang="en-US" dirty="0"/>
              <a:t> to indicate it no longer points to valid memory.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dangling_pointers.c</a:t>
            </a:r>
            <a:endParaRPr lang="en-US" dirty="0"/>
          </a:p>
          <a:p>
            <a:r>
              <a:rPr lang="en-US" dirty="0"/>
              <a:t>dangling_pointers_2.c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ADD-04F7-41D2-9669-C72D2F0F5FA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6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375" y="1442973"/>
            <a:ext cx="2745105" cy="655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405066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375" y="2351714"/>
            <a:ext cx="5072380" cy="398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3.ntu.edu.sg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ww.boardinfinity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hyperlink" Target="https://iq.opengenus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hyperlink" Target="https://www.geeksforgeeks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hyperlink" Target="https://www.geeksforgeeks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eksforgeeks.org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og2base2.com/" TargetMode="External"/><Relationship Id="rId5" Type="http://schemas.openxmlformats.org/officeDocument/2006/relationships/image" Target="../media/image18.jpg"/><Relationship Id="rId4" Type="http://schemas.openxmlformats.org/officeDocument/2006/relationships/hyperlink" Target="https://www.geeksforgeeks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oardinfinity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447878" y="3585985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F2044"/>
                </a:solidFill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3CB65-A300-AB2D-4C58-57067B83C315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219200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751419"/>
            <a:ext cx="4369435" cy="4799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66395">
              <a:lnSpc>
                <a:spcPct val="114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Understand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structure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Git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commands: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SSH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authentication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Initialize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local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repository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Adding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&amp;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commiting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changes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Pushing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remote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repo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Pulling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remote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repo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21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 dirty="0">
              <a:latin typeface="Georgia"/>
              <a:cs typeface="Georgia"/>
            </a:endParaRPr>
          </a:p>
          <a:p>
            <a:pPr marL="469265" indent="-366395">
              <a:lnSpc>
                <a:spcPct val="114000"/>
              </a:lnSpc>
              <a:spcBef>
                <a:spcPts val="94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Pointers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Strings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800" spc="-10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Common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Bugs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Null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Bytes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Frees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Dangling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Pointers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117600"/>
            <a:ext cx="18288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Pointers</a:t>
            </a:r>
            <a:r>
              <a:rPr sz="2500" spc="-8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in</a:t>
            </a:r>
            <a:r>
              <a:rPr sz="2500" spc="-8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50" dirty="0">
                <a:solidFill>
                  <a:srgbClr val="0F2044"/>
                </a:solidFill>
                <a:latin typeface="Georgia"/>
                <a:cs typeface="Georgia"/>
              </a:rPr>
              <a:t>C</a:t>
            </a:r>
            <a:endParaRPr sz="25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676400"/>
            <a:ext cx="5190151" cy="1802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C++,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pointer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variable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holds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address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another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variable.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Pointers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provide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way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work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directly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powerful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feature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language.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5" name="object 5" descr="Pointer Concepts&#10;A diagram illustrating C++ pointer levels. It shows a variable var initially set to 15, then updated to 25 via a single pointer (*ptr), and finally updated to 35 via a double pointer (**ptr), representing indirect memory acces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616824"/>
            <a:ext cx="5038878" cy="2846899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678647" y="6542758"/>
            <a:ext cx="26193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  <a:hlinkClick r:id="rId4"/>
              </a:rPr>
              <a:t>https://www.boardinfinity.com/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878850" y="1143000"/>
            <a:ext cx="5685449" cy="7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holds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content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(hexadecimal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representations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values).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7" name="object 7" descr="Memory Mapping&#10;A table mapping computer memory addresses to programmer-defined variables. It visualizes how different data types—int (4 bytes), short (2 bytes), double (8 bytes), and int* (4 bytes)—are stored in hexadecimal across specific memory addresses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8850" y="2126752"/>
            <a:ext cx="5685449" cy="4336974"/>
          </a:xfrm>
          <a:prstGeom prst="rect">
            <a:avLst/>
          </a:prstGeom>
        </p:spPr>
      </p:pic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452995" y="6531670"/>
            <a:ext cx="2224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6"/>
              </a:rPr>
              <a:t>https://www3.ntu.edu.sg/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227549"/>
            <a:ext cx="23368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In-</a:t>
            </a:r>
            <a:r>
              <a:rPr dirty="0"/>
              <a:t>Class</a:t>
            </a:r>
            <a:r>
              <a:rPr spc="-10" dirty="0"/>
              <a:t> Activity</a:t>
            </a:r>
            <a:br>
              <a:rPr lang="en-US" spc="-10" dirty="0"/>
            </a:br>
            <a:r>
              <a:rPr lang="en-US" sz="1800" dirty="0"/>
              <a:t>Pointers</a:t>
            </a:r>
            <a:r>
              <a:rPr lang="en-US" sz="1800" spc="-60" dirty="0"/>
              <a:t> </a:t>
            </a:r>
            <a:r>
              <a:rPr lang="en-US" sz="1800" dirty="0"/>
              <a:t>in</a:t>
            </a:r>
            <a:r>
              <a:rPr lang="en-US" sz="1800" spc="-60" dirty="0"/>
              <a:t> </a:t>
            </a:r>
            <a:r>
              <a:rPr lang="en-US" sz="1800" spc="-50" dirty="0"/>
              <a:t>C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05295" y="2286813"/>
            <a:ext cx="2995295" cy="406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75"/>
              </a:spcBef>
            </a:pP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Value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var:</a:t>
            </a:r>
            <a:endParaRPr sz="2000" dirty="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000" b="1" spc="-25" dirty="0">
                <a:solidFill>
                  <a:srgbClr val="980000"/>
                </a:solidFill>
                <a:latin typeface="Arial"/>
                <a:cs typeface="Arial"/>
              </a:rPr>
              <a:t>var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Address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var:</a:t>
            </a:r>
            <a:endParaRPr sz="2000" dirty="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000" b="1" spc="-20" dirty="0">
                <a:solidFill>
                  <a:srgbClr val="980000"/>
                </a:solidFill>
                <a:latin typeface="Arial"/>
                <a:cs typeface="Arial"/>
              </a:rPr>
              <a:t>&amp;var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*pointerVar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00FF"/>
                </a:solidFill>
                <a:latin typeface="Arial"/>
                <a:cs typeface="Arial"/>
              </a:rPr>
              <a:t>&amp;var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Value</a:t>
            </a:r>
            <a:r>
              <a:rPr sz="20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2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pointer:</a:t>
            </a:r>
            <a:endParaRPr sz="2000" dirty="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000" b="1" spc="-10" dirty="0">
                <a:solidFill>
                  <a:srgbClr val="980000"/>
                </a:solidFill>
                <a:latin typeface="Arial"/>
                <a:cs typeface="Arial"/>
              </a:rPr>
              <a:t>*pointerVar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Address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stored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pointer:</a:t>
            </a:r>
            <a:endParaRPr sz="2000" dirty="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000" b="1" spc="-10" dirty="0">
                <a:solidFill>
                  <a:srgbClr val="980000"/>
                </a:solidFill>
                <a:latin typeface="Arial"/>
                <a:cs typeface="Arial"/>
              </a:rPr>
              <a:t>pointerVar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 descr="Pointer Assignment&#10;A snippet of C code demonstrating how to declare an integer var = 100 and a pointer *pointerVar that stores the memory address of var. It includes commented-out printf statements for displaying values and address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1" y="1227549"/>
            <a:ext cx="7597900" cy="538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455295" y="1249681"/>
            <a:ext cx="2745105" cy="655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In-</a:t>
            </a:r>
            <a:r>
              <a:rPr dirty="0"/>
              <a:t>Class</a:t>
            </a:r>
            <a:r>
              <a:rPr spc="-10" dirty="0"/>
              <a:t> Activity</a:t>
            </a:r>
          </a:p>
          <a:p>
            <a:pPr marL="12700">
              <a:lnSpc>
                <a:spcPts val="2060"/>
              </a:lnSpc>
            </a:pPr>
            <a:r>
              <a:rPr sz="1800" dirty="0"/>
              <a:t>Pointer</a:t>
            </a:r>
            <a:r>
              <a:rPr sz="1800" spc="-95" dirty="0"/>
              <a:t> </a:t>
            </a:r>
            <a:r>
              <a:rPr sz="1800" spc="-10" dirty="0"/>
              <a:t>Arithmetic</a:t>
            </a:r>
            <a:endParaRPr sz="1800" dirty="0"/>
          </a:p>
        </p:txBody>
      </p:sp>
      <p:sp>
        <p:nvSpPr>
          <p:cNvPr id="2" name="object 2"/>
          <p:cNvSpPr txBox="1"/>
          <p:nvPr/>
        </p:nvSpPr>
        <p:spPr>
          <a:xfrm>
            <a:off x="428797" y="3124200"/>
            <a:ext cx="4086550" cy="1340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Pointers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can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incremented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decremented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point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next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previous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location.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 descr="Pointer Arithmetic Basics&#10;C code showing an integer array arr with values {1, 2, 3} and a pointer ptr assigned to the array. A comment explains that incrementing the pointer (ptr++) moves the reference to the second element of the arra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4325" y="1980491"/>
            <a:ext cx="6232874" cy="4099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55295" y="1249681"/>
            <a:ext cx="2745105" cy="655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In-</a:t>
            </a:r>
            <a:r>
              <a:rPr dirty="0"/>
              <a:t>Class</a:t>
            </a:r>
            <a:r>
              <a:rPr spc="-10" dirty="0"/>
              <a:t> Activity</a:t>
            </a:r>
          </a:p>
          <a:p>
            <a:pPr marL="12700">
              <a:lnSpc>
                <a:spcPts val="2060"/>
              </a:lnSpc>
            </a:pPr>
            <a:r>
              <a:rPr sz="1800" dirty="0"/>
              <a:t>Pointer</a:t>
            </a:r>
            <a:r>
              <a:rPr sz="1800" spc="-95" dirty="0"/>
              <a:t> </a:t>
            </a:r>
            <a:r>
              <a:rPr sz="1800" spc="-10" dirty="0"/>
              <a:t>Arithmetic</a:t>
            </a:r>
            <a:r>
              <a:rPr lang="en-US" sz="1800" spc="-10" dirty="0"/>
              <a:t> (2)</a:t>
            </a:r>
            <a:endParaRPr sz="1800" dirty="0"/>
          </a:p>
        </p:txBody>
      </p:sp>
      <p:sp>
        <p:nvSpPr>
          <p:cNvPr id="2" name="object 2"/>
          <p:cNvSpPr txBox="1"/>
          <p:nvPr/>
        </p:nvSpPr>
        <p:spPr>
          <a:xfrm>
            <a:off x="448056" y="3197548"/>
            <a:ext cx="4276344" cy="8791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Iterate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array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pointer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arithmetic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access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each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element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 descr="Array Traversal via Pointers&#10;A C program that calculates the length of an integer array and uses a for loop to print each element. It accesses the data using pointer arithmetic with the expression *(ptr + i) to iterate through the memory location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9350" y="1515926"/>
            <a:ext cx="6594999" cy="4923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219200"/>
            <a:ext cx="40506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Strings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50" dirty="0"/>
              <a:t>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752600"/>
            <a:ext cx="5228425" cy="4880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2775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C-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style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string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actually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one</a:t>
            </a:r>
            <a:r>
              <a:rPr lang="en-US" sz="2000" spc="-25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dimensional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array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characters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which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is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terminated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0F2044"/>
                </a:solidFill>
                <a:latin typeface="Arial MT"/>
                <a:cs typeface="Arial MT"/>
              </a:rPr>
              <a:t>null</a:t>
            </a:r>
            <a:r>
              <a:rPr sz="2000" u="sng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0F2044"/>
                </a:solidFill>
                <a:latin typeface="Arial MT"/>
                <a:cs typeface="Arial MT"/>
              </a:rPr>
              <a:t>character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‘\0’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  <a:spcAft>
                <a:spcPts val="1200"/>
              </a:spcAf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does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store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length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string explicitly.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null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character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serves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sentinel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value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marks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end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string.</a:t>
            </a:r>
            <a:endParaRPr lang="en-US" sz="2000" spc="-10" dirty="0">
              <a:solidFill>
                <a:srgbClr val="0F2044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</a:pP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Standard</a:t>
            </a:r>
            <a:r>
              <a:rPr lang="en-US"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lang="en-US"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string</a:t>
            </a:r>
            <a:r>
              <a:rPr lang="en-US"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functions,</a:t>
            </a:r>
            <a:r>
              <a:rPr lang="en-US"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like </a:t>
            </a:r>
            <a:r>
              <a:rPr lang="en-US" sz="2000" b="1" spc="-10" dirty="0" err="1">
                <a:solidFill>
                  <a:srgbClr val="0F2044"/>
                </a:solidFill>
                <a:latin typeface="Arial"/>
                <a:cs typeface="Arial"/>
              </a:rPr>
              <a:t>strcpy</a:t>
            </a:r>
            <a:r>
              <a:rPr lang="en-US" sz="2000" b="1" spc="-1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F2044"/>
                </a:solidFill>
                <a:latin typeface="Arial"/>
                <a:cs typeface="Arial"/>
              </a:rPr>
              <a:t>(copy)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lang="en-US"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b="1" dirty="0" err="1">
                <a:solidFill>
                  <a:srgbClr val="0F2044"/>
                </a:solidFill>
                <a:latin typeface="Arial"/>
                <a:cs typeface="Arial"/>
              </a:rPr>
              <a:t>strcat</a:t>
            </a:r>
            <a:r>
              <a:rPr lang="en-US" sz="2000" b="1" spc="-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F2044"/>
                </a:solidFill>
                <a:latin typeface="Arial"/>
                <a:cs typeface="Arial"/>
              </a:rPr>
              <a:t>(concatenate)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lang="en-US" sz="2000" b="1" spc="-10" dirty="0" err="1">
                <a:solidFill>
                  <a:srgbClr val="0F2044"/>
                </a:solidFill>
                <a:latin typeface="Arial"/>
                <a:cs typeface="Arial"/>
              </a:rPr>
              <a:t>strcmp</a:t>
            </a:r>
            <a:r>
              <a:rPr lang="en-US" sz="2000" b="1" spc="-1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F2044"/>
                </a:solidFill>
                <a:latin typeface="Arial"/>
                <a:cs typeface="Arial"/>
              </a:rPr>
              <a:t>(compare)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lang="en-US"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rely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on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null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character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25" dirty="0">
                <a:solidFill>
                  <a:srgbClr val="0F2044"/>
                </a:solidFill>
                <a:latin typeface="Arial MT"/>
                <a:cs typeface="Arial MT"/>
              </a:rPr>
              <a:t>to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identify</a:t>
            </a:r>
            <a:r>
              <a:rPr lang="en-US"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end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 strings.</a:t>
            </a:r>
            <a:endParaRPr lang="en-US" sz="2000" dirty="0">
              <a:latin typeface="Arial MT"/>
              <a:cs typeface="Arial MT"/>
            </a:endParaRPr>
          </a:p>
        </p:txBody>
      </p:sp>
      <p:pic>
        <p:nvPicPr>
          <p:cNvPr id="6" name="object 6" descr="C-Style String Memory Map&#10;A diagram showing how the string &quot;HELLO&quot; is stored in memory. It displays the array indices (0-5), the character variables (including the \0 null terminator), and their corresponding hexadecimal memory address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2775" y="2345600"/>
            <a:ext cx="6095149" cy="2755049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71924" y="5168595"/>
            <a:ext cx="1880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simplesnippets.tec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10375" y="1295400"/>
            <a:ext cx="2745105" cy="655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In-</a:t>
            </a:r>
            <a:r>
              <a:rPr dirty="0"/>
              <a:t>Class</a:t>
            </a:r>
            <a:r>
              <a:rPr spc="-10" dirty="0"/>
              <a:t> Activity</a:t>
            </a:r>
          </a:p>
          <a:p>
            <a:pPr marL="12700">
              <a:lnSpc>
                <a:spcPts val="2060"/>
              </a:lnSpc>
            </a:pPr>
            <a:r>
              <a:rPr sz="1800" dirty="0"/>
              <a:t>Common</a:t>
            </a:r>
            <a:r>
              <a:rPr sz="1800" spc="-40" dirty="0"/>
              <a:t> </a:t>
            </a:r>
            <a:r>
              <a:rPr sz="1800" dirty="0"/>
              <a:t>Bugs</a:t>
            </a:r>
            <a:r>
              <a:rPr sz="1800" spc="-40" dirty="0"/>
              <a:t> </a:t>
            </a:r>
            <a:r>
              <a:rPr sz="1800" dirty="0"/>
              <a:t>-</a:t>
            </a:r>
            <a:r>
              <a:rPr sz="1800" spc="-40" dirty="0"/>
              <a:t> </a:t>
            </a:r>
            <a:r>
              <a:rPr sz="1800" dirty="0"/>
              <a:t>Null</a:t>
            </a:r>
            <a:r>
              <a:rPr sz="1800" spc="-40" dirty="0"/>
              <a:t> </a:t>
            </a:r>
            <a:r>
              <a:rPr sz="1800" spc="-10" dirty="0"/>
              <a:t>Bytes</a:t>
            </a:r>
            <a:endParaRPr sz="1800" dirty="0"/>
          </a:p>
        </p:txBody>
      </p:sp>
      <p:sp>
        <p:nvSpPr>
          <p:cNvPr id="2" name="object 2"/>
          <p:cNvSpPr txBox="1"/>
          <p:nvPr/>
        </p:nvSpPr>
        <p:spPr>
          <a:xfrm>
            <a:off x="410374" y="2758592"/>
            <a:ext cx="4466426" cy="1340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Since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our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string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0F2044"/>
                </a:solidFill>
                <a:latin typeface="Arial MT"/>
                <a:cs typeface="Arial MT"/>
              </a:rPr>
              <a:t>null-terminated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,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it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may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print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garbage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values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even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crash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program.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 descr="Null Terminator Importance&#10;C code comparing an improperly terminated character array str[5] (which causes undefined behavior) with a properly null-terminated array str[6] that includes \0 for safe string handling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3575" y="1637575"/>
            <a:ext cx="6848200" cy="42580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143000"/>
            <a:ext cx="40506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4" y="1676400"/>
            <a:ext cx="6828626" cy="485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C++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allows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programs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allocate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memory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during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runtime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rather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than</a:t>
            </a:r>
            <a:r>
              <a:rPr u="heavy" spc="-35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compile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time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r>
              <a:rPr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enables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flexible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memory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management,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allowing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you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create,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resize,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br>
              <a:rPr lang="en-US" spc="-25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deallocate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needed.</a:t>
            </a:r>
            <a:endParaRPr dirty="0">
              <a:latin typeface="Arial MT"/>
              <a:cs typeface="Arial MT"/>
            </a:endParaRPr>
          </a:p>
          <a:p>
            <a:pPr marL="12700" marR="246379">
              <a:lnSpc>
                <a:spcPct val="150000"/>
              </a:lnSpc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Two</a:t>
            </a: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fundamental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operators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memory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are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malloc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C)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new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C++).</a:t>
            </a:r>
            <a:endParaRPr dirty="0">
              <a:latin typeface="Arial MT"/>
              <a:cs typeface="Arial MT"/>
            </a:endParaRPr>
          </a:p>
          <a:p>
            <a:pPr marL="12700" marR="22225">
              <a:lnSpc>
                <a:spcPct val="150000"/>
              </a:lnSpc>
              <a:spcAft>
                <a:spcPts val="1200"/>
              </a:spcAft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Similarly,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deallocation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done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C)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and </a:t>
            </a:r>
            <a:br>
              <a:rPr lang="en-US" spc="-25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delete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C++).</a:t>
            </a:r>
            <a:endParaRPr lang="en-US" spc="-10" dirty="0">
              <a:solidFill>
                <a:srgbClr val="0F2044"/>
              </a:solidFill>
              <a:latin typeface="Arial MT"/>
              <a:cs typeface="Arial MT"/>
            </a:endParaRPr>
          </a:p>
          <a:p>
            <a:pPr marL="379095" marR="90170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malloc:</a:t>
            </a:r>
            <a:r>
              <a:rPr lang="en-US" b="1" spc="-9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Allocates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specified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number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of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bytes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980000"/>
                </a:solidFill>
                <a:latin typeface="Arial"/>
                <a:cs typeface="Arial"/>
              </a:rPr>
              <a:t>memory.</a:t>
            </a:r>
            <a:endParaRPr lang="en-US" dirty="0">
              <a:latin typeface="Arial"/>
              <a:cs typeface="Arial"/>
            </a:endParaRPr>
          </a:p>
          <a:p>
            <a:pPr marL="379095" marR="508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free: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Releases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dynamically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980000"/>
                </a:solidFill>
                <a:latin typeface="Arial"/>
                <a:cs typeface="Arial"/>
              </a:rPr>
              <a:t>allocated memory.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6" name="object 6" descr="Memory Management and Layout&#10;An image listing C/C++ memory management functions like malloc(), free(), new, and delete. It includes a diagram of the memory stack and heap, showing how the stack grows down from high addresses while the heap grows up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1803400"/>
            <a:ext cx="5739824" cy="3340597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570692" y="5232400"/>
            <a:ext cx="4485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C++,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Techdose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YouTube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140" y="1375983"/>
            <a:ext cx="40506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  <a:br>
              <a:rPr lang="en-US" spc="-10" dirty="0"/>
            </a:br>
            <a:r>
              <a:rPr lang="en-US" sz="1800" spc="-10" dirty="0"/>
              <a:t>malloc()</a:t>
            </a:r>
            <a:endParaRPr sz="1800" spc="-10" dirty="0"/>
          </a:p>
        </p:txBody>
      </p:sp>
      <p:pic>
        <p:nvPicPr>
          <p:cNvPr id="4" name="object 4" descr="Malloc Visual&#10;Diagram showing malloc allocating a contiguous 20-byte memory block for an integer pointer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300" y="2220902"/>
            <a:ext cx="5885073" cy="2030324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90574" y="4413970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Malloc Syntax&#10;Hand-drawn breakdown of malloc syntax, explaining the type casting, variable size, and requested length."/>
          <p:cNvGrpSpPr/>
          <p:nvPr/>
        </p:nvGrpSpPr>
        <p:grpSpPr>
          <a:xfrm>
            <a:off x="6616648" y="1340741"/>
            <a:ext cx="5128260" cy="2876550"/>
            <a:chOff x="6616648" y="1340741"/>
            <a:chExt cx="5128260" cy="28765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6174" y="1350266"/>
              <a:ext cx="5108627" cy="28571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21411" y="1345503"/>
              <a:ext cx="5118735" cy="2867025"/>
            </a:xfrm>
            <a:custGeom>
              <a:avLst/>
              <a:gdLst/>
              <a:ahLst/>
              <a:cxnLst/>
              <a:rect l="l" t="t" r="r" b="b"/>
              <a:pathLst>
                <a:path w="5118734" h="2867025">
                  <a:moveTo>
                    <a:pt x="0" y="0"/>
                  </a:moveTo>
                  <a:lnTo>
                    <a:pt x="5118153" y="0"/>
                  </a:lnTo>
                  <a:lnTo>
                    <a:pt x="5118153" y="2866707"/>
                  </a:lnTo>
                  <a:lnTo>
                    <a:pt x="0" y="28667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14500" y="4275394"/>
            <a:ext cx="1804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Zihan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9" name="object 9" descr="Char Malloc&#10;Illustration of malloc(n) being used to dynamically allocate an $n$-byte block of memory for a character pointer.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9150" y="4546150"/>
            <a:ext cx="3786885" cy="2007049"/>
          </a:xfrm>
          <a:prstGeom prst="rect">
            <a:avLst/>
          </a:prstGeom>
        </p:spPr>
      </p:pic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928500" y="6561395"/>
            <a:ext cx="22313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7"/>
              </a:rPr>
              <a:t>https://iq.opengenus.org/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600200"/>
            <a:ext cx="40506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  <a:br>
              <a:rPr lang="en-US" spc="-10" dirty="0"/>
            </a:br>
            <a:r>
              <a:rPr lang="en-US" sz="1800" spc="-10" dirty="0" err="1"/>
              <a:t>calloc</a:t>
            </a:r>
            <a:r>
              <a:rPr lang="en-US" sz="1800" spc="-10" dirty="0"/>
              <a:t>()</a:t>
            </a:r>
            <a:endParaRPr sz="1800" spc="-10" dirty="0"/>
          </a:p>
        </p:txBody>
      </p:sp>
      <p:pic>
        <p:nvPicPr>
          <p:cNvPr id="4" name="object 4" descr="Calloc Visual&#10;Illustration of calloc allocating 20 bytes as five separate 4-byte blocks, emphasizing its multi-block allocation style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349" y="2449500"/>
            <a:ext cx="6555189" cy="2261549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77100" y="485519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 descr="Malloc vs Calloc&#10;A comparison graphic showing that malloc memory starts with random &quot;garbage&quot; values while calloc memory is automatically initialized to zero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4749" y="1626525"/>
            <a:ext cx="4912499" cy="45346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295400"/>
            <a:ext cx="40506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  <a:br>
              <a:rPr lang="en-US" spc="-10" dirty="0"/>
            </a:br>
            <a:r>
              <a:rPr lang="en-US" sz="1800" spc="-10" dirty="0"/>
              <a:t>free()</a:t>
            </a:r>
            <a:endParaRPr sz="1800" spc="-10" dirty="0"/>
          </a:p>
        </p:txBody>
      </p:sp>
      <p:pic>
        <p:nvPicPr>
          <p:cNvPr id="4" name="object 4" descr="Free Function&#10;Diagram showing how the free(ptr) operation releases dynamically allocated memory back to the system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5324" y="2126750"/>
            <a:ext cx="7644509" cy="4300024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871550" y="6494720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422400"/>
            <a:ext cx="40506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  <a:br>
              <a:rPr lang="en-US" spc="-10" dirty="0"/>
            </a:br>
            <a:r>
              <a:rPr lang="en-US" sz="1800" spc="-10" dirty="0" err="1"/>
              <a:t>realloc</a:t>
            </a:r>
            <a:r>
              <a:rPr lang="en-US" sz="1800" spc="-10" dirty="0"/>
              <a:t>()</a:t>
            </a:r>
            <a:endParaRPr sz="1800" spc="-10" dirty="0"/>
          </a:p>
        </p:txBody>
      </p:sp>
      <p:pic>
        <p:nvPicPr>
          <p:cNvPr id="4" name="object 4" descr="Realloc Process&#10;A two-part visual showing realloc expanding a 20-byte block to 40 byt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301" y="2259475"/>
            <a:ext cx="5795775" cy="3260099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16400" y="568739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Reallocation Logic&#10;Diagram illustrating how realloc moves data to a larger memory block and deallocates the old one."/>
          <p:cNvGrpSpPr/>
          <p:nvPr/>
        </p:nvGrpSpPr>
        <p:grpSpPr>
          <a:xfrm>
            <a:off x="6395676" y="2402351"/>
            <a:ext cx="5641340" cy="3002915"/>
            <a:chOff x="6395676" y="2402351"/>
            <a:chExt cx="5641340" cy="300291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201" y="2411876"/>
              <a:ext cx="5621949" cy="29835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438" y="2407113"/>
              <a:ext cx="5631815" cy="2993390"/>
            </a:xfrm>
            <a:custGeom>
              <a:avLst/>
              <a:gdLst/>
              <a:ahLst/>
              <a:cxnLst/>
              <a:rect l="l" t="t" r="r" b="b"/>
              <a:pathLst>
                <a:path w="5631815" h="2993390">
                  <a:moveTo>
                    <a:pt x="0" y="0"/>
                  </a:moveTo>
                  <a:lnTo>
                    <a:pt x="5631474" y="0"/>
                  </a:lnTo>
                  <a:lnTo>
                    <a:pt x="5631474" y="2993100"/>
                  </a:lnTo>
                  <a:lnTo>
                    <a:pt x="0" y="29931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09625" y="5587519"/>
            <a:ext cx="24155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6"/>
              </a:rPr>
              <a:t>https://www.log2base2.com/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414C-0B9A-70E3-4A82-016B46F8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256358D-008F-8D12-26E6-FCD6CE83C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143000"/>
            <a:ext cx="56856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Memory</a:t>
            </a:r>
            <a:r>
              <a:rPr spc="-80" dirty="0"/>
              <a:t> </a:t>
            </a:r>
            <a:r>
              <a:rPr spc="-10" dirty="0"/>
              <a:t>Allocation</a:t>
            </a:r>
            <a:r>
              <a:rPr lang="en-US" spc="-10" dirty="0"/>
              <a:t>  (revisited)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450CEC-0FF2-2898-058A-5E6618807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0374" y="1676400"/>
            <a:ext cx="6828626" cy="485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C++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allows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programs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allocate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memory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during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runtime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spc="-1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rather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than</a:t>
            </a:r>
            <a:r>
              <a:rPr u="heavy" spc="-35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compile</a:t>
            </a:r>
            <a:r>
              <a:rPr u="heavy" spc="-2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time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r>
              <a:rPr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enables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flexible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memory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management,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allowing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you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create,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resize,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br>
              <a:rPr lang="en-US" spc="-25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deallocate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needed.</a:t>
            </a:r>
            <a:endParaRPr dirty="0">
              <a:latin typeface="Arial MT"/>
              <a:cs typeface="Arial MT"/>
            </a:endParaRPr>
          </a:p>
          <a:p>
            <a:pPr marL="12700" marR="246379">
              <a:lnSpc>
                <a:spcPct val="150000"/>
              </a:lnSpc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Two</a:t>
            </a: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fundamental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operators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memory </a:t>
            </a:r>
            <a:b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are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malloc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C)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new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C++).</a:t>
            </a:r>
            <a:endParaRPr dirty="0">
              <a:latin typeface="Arial MT"/>
              <a:cs typeface="Arial MT"/>
            </a:endParaRPr>
          </a:p>
          <a:p>
            <a:pPr marL="12700" marR="22225">
              <a:lnSpc>
                <a:spcPct val="150000"/>
              </a:lnSpc>
              <a:spcAft>
                <a:spcPts val="1200"/>
              </a:spcAft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Similarly,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deallocation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done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C)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and </a:t>
            </a:r>
            <a:br>
              <a:rPr lang="en-US" spc="-25" dirty="0">
                <a:solidFill>
                  <a:srgbClr val="0F2044"/>
                </a:solidFill>
                <a:latin typeface="Arial MT"/>
                <a:cs typeface="Arial MT"/>
              </a:rPr>
            </a:b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delete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(in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C++).</a:t>
            </a:r>
            <a:endParaRPr lang="en-US" spc="-10" dirty="0">
              <a:solidFill>
                <a:srgbClr val="0F2044"/>
              </a:solidFill>
              <a:latin typeface="Arial MT"/>
              <a:cs typeface="Arial MT"/>
            </a:endParaRPr>
          </a:p>
          <a:p>
            <a:pPr marL="379095" marR="90170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malloc:</a:t>
            </a:r>
            <a:r>
              <a:rPr lang="en-US" b="1" spc="-9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Allocates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specified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number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of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bytes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980000"/>
                </a:solidFill>
                <a:latin typeface="Arial"/>
                <a:cs typeface="Arial"/>
              </a:rPr>
              <a:t>memory.</a:t>
            </a:r>
            <a:endParaRPr lang="en-US" dirty="0">
              <a:latin typeface="Arial"/>
              <a:cs typeface="Arial"/>
            </a:endParaRPr>
          </a:p>
          <a:p>
            <a:pPr marL="379095" marR="508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free: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Releases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lang="en-US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980000"/>
                </a:solidFill>
                <a:latin typeface="Arial"/>
                <a:cs typeface="Arial"/>
              </a:rPr>
              <a:t>dynamically</a:t>
            </a:r>
            <a:r>
              <a:rPr lang="en-US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980000"/>
                </a:solidFill>
                <a:latin typeface="Arial"/>
                <a:cs typeface="Arial"/>
              </a:rPr>
              <a:t>allocated memory.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D777F474-025A-B372-E652-AA59DCCE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1803400"/>
            <a:ext cx="5739824" cy="3340597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40D3366-D1C0-0D72-B32E-B2A8759C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570692" y="5232400"/>
            <a:ext cx="4485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C++,</a:t>
            </a:r>
            <a:r>
              <a:rPr sz="1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Techdose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YouTube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A5A0A9F3-3403-28DB-AB47-4F3F3468A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6557" y="2419342"/>
            <a:ext cx="8858885" cy="3017654"/>
          </a:xfrm>
          <a:custGeom>
            <a:avLst/>
            <a:gdLst/>
            <a:ahLst/>
            <a:cxnLst/>
            <a:rect l="l" t="t" r="r" b="b"/>
            <a:pathLst>
              <a:path w="8401685" h="2647950">
                <a:moveTo>
                  <a:pt x="8401199" y="2647499"/>
                </a:moveTo>
                <a:lnTo>
                  <a:pt x="0" y="2647499"/>
                </a:lnTo>
                <a:lnTo>
                  <a:pt x="0" y="0"/>
                </a:lnTo>
                <a:lnTo>
                  <a:pt x="8401199" y="0"/>
                </a:lnTo>
                <a:lnTo>
                  <a:pt x="8401199" y="2647499"/>
                </a:lnTo>
                <a:close/>
              </a:path>
            </a:pathLst>
          </a:custGeom>
          <a:solidFill>
            <a:srgbClr val="D9EAD3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1F83D754-AB54-7D26-A861-CF30D6B815BE}"/>
              </a:ext>
            </a:extLst>
          </p:cNvPr>
          <p:cNvSpPr txBox="1"/>
          <p:nvPr/>
        </p:nvSpPr>
        <p:spPr>
          <a:xfrm>
            <a:off x="1871789" y="2590351"/>
            <a:ext cx="8520873" cy="2770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C++,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lang="en-US"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automatically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assigned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lang="en-US"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deallocated</a:t>
            </a:r>
            <a:r>
              <a:rPr lang="en-US"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25" dirty="0">
                <a:solidFill>
                  <a:srgbClr val="0F2044"/>
                </a:solidFill>
                <a:latin typeface="Arial MT"/>
                <a:cs typeface="Arial MT"/>
              </a:rPr>
              <a:t>for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r>
              <a:rPr lang="en-US"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objects.</a:t>
            </a:r>
            <a:endParaRPr lang="en-US" sz="2000" spc="-25" dirty="0">
              <a:solidFill>
                <a:srgbClr val="0F2044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Instead,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programmer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responsible</a:t>
            </a:r>
            <a:r>
              <a:rPr lang="en-US"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managing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lang="en-US"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2000" spc="-10" dirty="0">
                <a:solidFill>
                  <a:srgbClr val="0F2044"/>
                </a:solidFill>
                <a:latin typeface="Arial MT"/>
                <a:cs typeface="Arial MT"/>
              </a:rPr>
              <a:t>explicitly.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typically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allocated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deallocated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functions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or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operators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specifically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designed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purpose.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79807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0374" y="1143000"/>
            <a:ext cx="309482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In-</a:t>
            </a:r>
            <a:r>
              <a:rPr dirty="0"/>
              <a:t>Class</a:t>
            </a:r>
            <a:r>
              <a:rPr spc="-10" dirty="0"/>
              <a:t> Activity</a:t>
            </a:r>
            <a:br>
              <a:rPr lang="en-US" spc="-10" dirty="0"/>
            </a:br>
            <a:r>
              <a:rPr lang="en-US" sz="1800" dirty="0"/>
              <a:t>Common</a:t>
            </a:r>
            <a:r>
              <a:rPr lang="en-US" sz="1800" spc="-60" dirty="0"/>
              <a:t> </a:t>
            </a:r>
            <a:r>
              <a:rPr lang="en-US" sz="1800" dirty="0"/>
              <a:t>Bugs</a:t>
            </a:r>
            <a:r>
              <a:rPr lang="en-US" sz="1800" spc="-55" dirty="0"/>
              <a:t> </a:t>
            </a:r>
            <a:r>
              <a:rPr lang="en-US" sz="1800" dirty="0"/>
              <a:t>-</a:t>
            </a:r>
            <a:r>
              <a:rPr lang="en-US" sz="1800" spc="-55" dirty="0"/>
              <a:t> </a:t>
            </a:r>
            <a:r>
              <a:rPr lang="en-US" sz="1800" dirty="0"/>
              <a:t>Double</a:t>
            </a:r>
            <a:r>
              <a:rPr lang="en-US" sz="1800" spc="-55" dirty="0"/>
              <a:t> </a:t>
            </a:r>
            <a:r>
              <a:rPr lang="en-US" sz="1800" spc="-10" dirty="0"/>
              <a:t>Frees</a:t>
            </a: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04800" y="1981200"/>
            <a:ext cx="6400800" cy="4595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31750">
              <a:lnSpc>
                <a:spcPct val="125000"/>
              </a:lnSpc>
              <a:spcBef>
                <a:spcPts val="1355"/>
              </a:spcBef>
              <a:spcAft>
                <a:spcPts val="1200"/>
              </a:spcAf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1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double-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bug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occurs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when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program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attempts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dynamically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allocated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block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has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already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been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freed.</a:t>
            </a:r>
            <a:endParaRPr sz="1800" dirty="0">
              <a:latin typeface="Arial MT"/>
              <a:cs typeface="Arial MT"/>
            </a:endParaRPr>
          </a:p>
          <a:p>
            <a:pPr marL="154940" marR="5080">
              <a:lnSpc>
                <a:spcPct val="125000"/>
              </a:lnSpc>
              <a:spcAft>
                <a:spcPts val="1200"/>
              </a:spcAf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can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lead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various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issues,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including</a:t>
            </a:r>
            <a:r>
              <a:rPr sz="1800" spc="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memory</a:t>
            </a:r>
            <a:r>
              <a:rPr sz="1800" u="heavy" spc="-15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corruption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and</a:t>
            </a:r>
            <a:r>
              <a:rPr sz="1800" u="heavy" spc="-3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program</a:t>
            </a:r>
            <a:r>
              <a:rPr sz="1800" u="heavy" spc="-15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0F2044"/>
                </a:solidFill>
                <a:uFill>
                  <a:solidFill>
                    <a:srgbClr val="0F2044"/>
                  </a:solidFill>
                </a:uFill>
                <a:latin typeface="Arial MT"/>
                <a:cs typeface="Arial MT"/>
              </a:rPr>
              <a:t>crashes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r>
              <a:rPr lang="en-US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Proper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management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crucial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avoid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double-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free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bugs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C.</a:t>
            </a:r>
            <a:endParaRPr sz="1800" dirty="0">
              <a:latin typeface="Arial MT"/>
              <a:cs typeface="Arial MT"/>
            </a:endParaRPr>
          </a:p>
          <a:p>
            <a:pPr marL="612140" marR="77470" indent="-419734">
              <a:lnSpc>
                <a:spcPct val="125000"/>
              </a:lnSpc>
              <a:spcBef>
                <a:spcPts val="5"/>
              </a:spcBef>
              <a:spcAft>
                <a:spcPts val="600"/>
              </a:spcAft>
              <a:buAutoNum type="arabicPeriod"/>
              <a:tabLst>
                <a:tab pos="612140" algn="l"/>
              </a:tabLst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We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allocate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memory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for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an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integer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using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malloc function.</a:t>
            </a:r>
            <a:endParaRPr sz="1800" dirty="0">
              <a:latin typeface="Arial"/>
              <a:cs typeface="Arial"/>
            </a:endParaRPr>
          </a:p>
          <a:p>
            <a:pPr marL="612140" marR="282575" indent="-419734">
              <a:lnSpc>
                <a:spcPct val="125000"/>
              </a:lnSpc>
              <a:spcAft>
                <a:spcPts val="600"/>
              </a:spcAft>
              <a:buAutoNum type="arabicPeriod"/>
              <a:tabLst>
                <a:tab pos="612140" algn="l"/>
              </a:tabLst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After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using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allocated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memory,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we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free</a:t>
            </a:r>
            <a:r>
              <a:rPr sz="18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it</a:t>
            </a:r>
            <a:r>
              <a:rPr sz="18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using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free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function.</a:t>
            </a:r>
            <a:endParaRPr sz="1800" dirty="0">
              <a:latin typeface="Arial"/>
              <a:cs typeface="Arial"/>
            </a:endParaRPr>
          </a:p>
          <a:p>
            <a:pPr marL="612140" marR="62865" indent="-419734">
              <a:lnSpc>
                <a:spcPct val="125000"/>
              </a:lnSpc>
              <a:buAutoNum type="arabicPeriod"/>
              <a:tabLst>
                <a:tab pos="612140" algn="l"/>
              </a:tabLst>
            </a:pP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However,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there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an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attempt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to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free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same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memory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block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again,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resulting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in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double-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free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bug.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" name="object 2" descr="Errors&#10;C code showing dynamic allocation, a safety check for NULL, and a warning about the &quot;double free&quot; bug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2846" y="907552"/>
            <a:ext cx="4967673" cy="58575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Dangling</a:t>
            </a:r>
            <a:r>
              <a:rPr spc="-145" dirty="0"/>
              <a:t> </a:t>
            </a:r>
            <a:r>
              <a:rPr spc="-1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17" y="2351714"/>
            <a:ext cx="4105910" cy="2033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34290" indent="-382270">
              <a:lnSpc>
                <a:spcPct val="150000"/>
              </a:lnSpc>
              <a:spcBef>
                <a:spcPts val="100"/>
              </a:spcBef>
              <a:spcAft>
                <a:spcPts val="1800"/>
              </a:spcAft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Occur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when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freed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but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pointer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set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Courier New"/>
                <a:cs typeface="Courier New"/>
              </a:rPr>
              <a:t>NULL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dangling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pointer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leads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undefined</a:t>
            </a:r>
            <a:r>
              <a:rPr sz="2000" spc="-1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behavior.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 descr="Dangling Pointer&#10;A diagram showing a &quot;Dangling Pointer&quot; as a reference that still points to an object that has been deleted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4000" y="1777691"/>
            <a:ext cx="7064549" cy="3973808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46351" y="5923920"/>
            <a:ext cx="25063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https://www.boardinfinity.com/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375" y="1154256"/>
            <a:ext cx="4050665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Dangling</a:t>
            </a:r>
            <a:r>
              <a:rPr spc="-145" dirty="0"/>
              <a:t> </a:t>
            </a:r>
            <a:r>
              <a:rPr spc="-10" dirty="0"/>
              <a:t>Pointers</a:t>
            </a:r>
            <a:br>
              <a:rPr lang="en-US" spc="-10" dirty="0"/>
            </a:br>
            <a:r>
              <a:rPr lang="en-US" sz="1800" spc="-10" dirty="0"/>
              <a:t>Solutions</a:t>
            </a:r>
            <a:endParaRPr sz="1800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10375" y="2038438"/>
            <a:ext cx="5072380" cy="4514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Handling</a:t>
            </a:r>
            <a:r>
              <a:rPr spc="-130" dirty="0"/>
              <a:t> </a:t>
            </a:r>
            <a:r>
              <a:rPr dirty="0"/>
              <a:t>Dangling</a:t>
            </a:r>
            <a:r>
              <a:rPr spc="-125" dirty="0"/>
              <a:t> </a:t>
            </a:r>
            <a:r>
              <a:rPr spc="-10" dirty="0"/>
              <a:t>Pointers</a:t>
            </a:r>
            <a:r>
              <a:rPr b="0" spc="-10" dirty="0">
                <a:latin typeface="Arial MT"/>
                <a:cs typeface="Arial MT"/>
              </a:rPr>
              <a:t>:</a:t>
            </a:r>
          </a:p>
          <a:p>
            <a:pPr marL="469900" marR="42545" indent="-382270">
              <a:lnSpc>
                <a:spcPct val="125000"/>
              </a:lnSpc>
              <a:spcBef>
                <a:spcPts val="1200"/>
              </a:spcBef>
              <a:spcAft>
                <a:spcPts val="1800"/>
              </a:spcAft>
              <a:buChar char="●"/>
              <a:tabLst>
                <a:tab pos="469900" algn="l"/>
              </a:tabLst>
            </a:pPr>
            <a:r>
              <a:rPr b="0" dirty="0">
                <a:latin typeface="Arial MT"/>
                <a:cs typeface="Arial MT"/>
              </a:rPr>
              <a:t>After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calling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188037"/>
                </a:solidFill>
                <a:latin typeface="Courier New"/>
                <a:cs typeface="Courier New"/>
              </a:rPr>
              <a:t>free</a:t>
            </a:r>
            <a:r>
              <a:rPr b="0" dirty="0">
                <a:latin typeface="Arial MT"/>
                <a:cs typeface="Arial MT"/>
              </a:rPr>
              <a:t>,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pointer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188037"/>
                </a:solidFill>
                <a:latin typeface="Courier New"/>
                <a:cs typeface="Courier New"/>
              </a:rPr>
              <a:t>arr</a:t>
            </a:r>
            <a:r>
              <a:rPr b="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0" spc="-10" dirty="0">
                <a:latin typeface="Arial MT"/>
                <a:cs typeface="Arial MT"/>
              </a:rPr>
              <a:t>still </a:t>
            </a:r>
            <a:r>
              <a:rPr b="0" dirty="0">
                <a:latin typeface="Arial MT"/>
                <a:cs typeface="Arial MT"/>
              </a:rPr>
              <a:t>holds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memory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address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freed memory,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which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is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now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invalid.</a:t>
            </a:r>
            <a:r>
              <a:rPr b="0" spc="-114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Accessing </a:t>
            </a:r>
            <a:r>
              <a:rPr b="0" dirty="0">
                <a:latin typeface="Arial MT"/>
                <a:cs typeface="Arial MT"/>
              </a:rPr>
              <a:t>this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memory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can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lead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undefined behavior.</a:t>
            </a:r>
          </a:p>
          <a:p>
            <a:pPr marL="469900" marR="5080" indent="-382270">
              <a:lnSpc>
                <a:spcPct val="125000"/>
              </a:lnSpc>
              <a:buChar char="●"/>
              <a:tabLst>
                <a:tab pos="469900" algn="l"/>
              </a:tabLst>
            </a:pPr>
            <a:r>
              <a:rPr b="0" spc="-120" dirty="0">
                <a:latin typeface="Arial MT"/>
                <a:cs typeface="Arial MT"/>
              </a:rPr>
              <a:t>To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prevent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this,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it's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good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practice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set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pointer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188037"/>
                </a:solidFill>
                <a:latin typeface="Courier New"/>
                <a:cs typeface="Courier New"/>
              </a:rPr>
              <a:t>NULL</a:t>
            </a:r>
            <a:r>
              <a:rPr b="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0" dirty="0">
                <a:latin typeface="Arial MT"/>
                <a:cs typeface="Arial MT"/>
              </a:rPr>
              <a:t>after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freeing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the </a:t>
            </a:r>
            <a:r>
              <a:rPr b="0" spc="-10" dirty="0">
                <a:latin typeface="Arial MT"/>
                <a:cs typeface="Arial MT"/>
              </a:rPr>
              <a:t>memory.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This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makes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it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clear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that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the </a:t>
            </a:r>
            <a:r>
              <a:rPr b="0" dirty="0">
                <a:latin typeface="Arial MT"/>
                <a:cs typeface="Arial MT"/>
              </a:rPr>
              <a:t>pointer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no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longer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points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valid </a:t>
            </a:r>
            <a:r>
              <a:rPr b="0" dirty="0">
                <a:latin typeface="Arial MT"/>
                <a:cs typeface="Arial MT"/>
              </a:rPr>
              <a:t>memory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block.</a:t>
            </a:r>
          </a:p>
        </p:txBody>
      </p:sp>
      <p:pic>
        <p:nvPicPr>
          <p:cNvPr id="4" name="object 4" descr="Safety Practice&#10;C code demonstrating how to set a pointer to NULL after freeing it to avoid accidental use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2600" y="1391920"/>
            <a:ext cx="6468192" cy="5193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1956</Words>
  <Application>Microsoft Office PowerPoint</Application>
  <PresentationFormat>Widescreen</PresentationFormat>
  <Paragraphs>269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Arial MT</vt:lpstr>
      <vt:lpstr>Courier New</vt:lpstr>
      <vt:lpstr>Georgia</vt:lpstr>
      <vt:lpstr>Office Theme</vt:lpstr>
      <vt:lpstr>CSC 362: System Programming</vt:lpstr>
      <vt:lpstr>Status Check</vt:lpstr>
      <vt:lpstr>A computer memory location has an address and holds a content (hexadecimal representations of byte values).</vt:lpstr>
      <vt:lpstr>In-Class Activity Pointers in C</vt:lpstr>
      <vt:lpstr>In-Class Activity Pointer Arithmetic</vt:lpstr>
      <vt:lpstr>In-Class Activity Pointer Arithmetic (2)</vt:lpstr>
      <vt:lpstr>Strings in C</vt:lpstr>
      <vt:lpstr>In-Class Activity Common Bugs - Null Bytes</vt:lpstr>
      <vt:lpstr>Dynamic Memory Allocation</vt:lpstr>
      <vt:lpstr>Dynamic Memory Allocation malloc()</vt:lpstr>
      <vt:lpstr>Dynamic Memory Allocation calloc()</vt:lpstr>
      <vt:lpstr>Dynamic Memory Allocation free()</vt:lpstr>
      <vt:lpstr>Dynamic Memory Allocation realloc()</vt:lpstr>
      <vt:lpstr>Dynamic Memory Allocation  (revisited)</vt:lpstr>
      <vt:lpstr>In-Class Activity Common Bugs - Double Frees</vt:lpstr>
      <vt:lpstr>Dangling Pointers</vt:lpstr>
      <vt:lpstr>Dangling Pointers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5.pptx</dc:title>
  <cp:lastModifiedBy>Richard Johnson</cp:lastModifiedBy>
  <cp:revision>78</cp:revision>
  <dcterms:created xsi:type="dcterms:W3CDTF">2026-01-14T00:58:15Z</dcterms:created>
  <dcterms:modified xsi:type="dcterms:W3CDTF">2026-02-04T02:39:26Z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