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62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3945"/>
            <a:ext cx="12192000" cy="10090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375" y="1415541"/>
            <a:ext cx="3354070" cy="681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0375" y="2323195"/>
            <a:ext cx="4993640" cy="278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eksforgeeks.org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2183" y="2702546"/>
            <a:ext cx="866203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CSC</a:t>
            </a:r>
            <a:r>
              <a:rPr sz="4900" spc="-85" dirty="0"/>
              <a:t> </a:t>
            </a:r>
            <a:r>
              <a:rPr sz="4900" dirty="0"/>
              <a:t>362:</a:t>
            </a:r>
            <a:r>
              <a:rPr sz="4900" spc="-85" dirty="0"/>
              <a:t> </a:t>
            </a:r>
            <a:r>
              <a:rPr sz="4900" dirty="0"/>
              <a:t>System</a:t>
            </a:r>
            <a:r>
              <a:rPr sz="4900" spc="-90" dirty="0"/>
              <a:t> </a:t>
            </a:r>
            <a:r>
              <a:rPr sz="4900" spc="-10" dirty="0"/>
              <a:t>Programming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5447878" y="3585985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Lecture</a:t>
            </a:r>
            <a:r>
              <a:rPr sz="2400" spc="-1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F2044"/>
                </a:solidFill>
                <a:latin typeface="Arial MT"/>
                <a:cs typeface="Arial MT"/>
              </a:rPr>
              <a:t>8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E772D-2419-9576-C522-05C61C38D8BF}"/>
              </a:ext>
            </a:extLst>
          </p:cNvPr>
          <p:cNvSpPr txBox="1"/>
          <p:nvPr/>
        </p:nvSpPr>
        <p:spPr>
          <a:xfrm>
            <a:off x="3098244" y="4267200"/>
            <a:ext cx="6094324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Original slides by: Amitabha Dey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Adapted by: Dr. Richard Johnson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3401" y="5437645"/>
            <a:ext cx="5782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1785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Department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Computer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Science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University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North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Carolina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Greensboro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8174" y="4145624"/>
            <a:ext cx="9054465" cy="31115"/>
          </a:xfrm>
          <a:custGeom>
            <a:avLst/>
            <a:gdLst/>
            <a:ahLst/>
            <a:cxnLst/>
            <a:rect l="l" t="t" r="r" b="b"/>
            <a:pathLst>
              <a:path w="9054465" h="31114">
                <a:moveTo>
                  <a:pt x="0" y="0"/>
                </a:moveTo>
                <a:lnTo>
                  <a:pt x="9053999" y="30899"/>
                </a:lnTo>
              </a:path>
            </a:pathLst>
          </a:custGeom>
          <a:ln w="9524">
            <a:solidFill>
              <a:srgbClr val="0F20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35436"/>
            <a:ext cx="18345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30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325" y="1830496"/>
            <a:ext cx="4377055" cy="475678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118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Preprocessor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directives</a:t>
            </a:r>
            <a:endParaRPr sz="1800">
              <a:latin typeface="Arial MT"/>
              <a:cs typeface="Arial MT"/>
            </a:endParaRPr>
          </a:p>
          <a:p>
            <a:pPr marL="926465" lvl="1" indent="-366395">
              <a:lnSpc>
                <a:spcPct val="100000"/>
              </a:lnSpc>
              <a:spcBef>
                <a:spcPts val="1080"/>
              </a:spcBef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#define,</a:t>
            </a:r>
            <a:r>
              <a:rPr sz="18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#if,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#ifdef,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#ifndef,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#undef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Inclusion</a:t>
            </a:r>
            <a:endParaRPr sz="1800">
              <a:latin typeface="Arial MT"/>
              <a:cs typeface="Arial MT"/>
            </a:endParaRPr>
          </a:p>
          <a:p>
            <a:pPr marL="926465" lvl="1" indent="-366395">
              <a:lnSpc>
                <a:spcPct val="100000"/>
              </a:lnSpc>
              <a:spcBef>
                <a:spcPts val="1080"/>
              </a:spcBef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&lt;header.h&gt;,</a:t>
            </a:r>
            <a:r>
              <a:rPr sz="1800" spc="-1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header.h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What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we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will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cover</a:t>
            </a:r>
            <a:r>
              <a:rPr sz="25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0F2044"/>
                </a:solidFill>
                <a:latin typeface="Georgia"/>
                <a:cs typeface="Georgia"/>
              </a:rPr>
              <a:t>today</a:t>
            </a:r>
            <a:endParaRPr sz="2500">
              <a:latin typeface="Georgia"/>
              <a:cs typeface="Georgia"/>
            </a:endParaRPr>
          </a:p>
          <a:p>
            <a:pPr marL="469265" indent="-366395">
              <a:lnSpc>
                <a:spcPct val="100000"/>
              </a:lnSpc>
              <a:spcBef>
                <a:spcPts val="88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Compiling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Multi-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Projects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Dependency</a:t>
            </a:r>
            <a:r>
              <a:rPr sz="18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Tracking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469265" algn="l"/>
              </a:tabLst>
            </a:pP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Makefiles</a:t>
            </a:r>
            <a:endParaRPr sz="1800">
              <a:latin typeface="Arial MT"/>
              <a:cs typeface="Arial MT"/>
            </a:endParaRPr>
          </a:p>
          <a:p>
            <a:pPr marL="926465" lvl="1" indent="-366395">
              <a:lnSpc>
                <a:spcPct val="100000"/>
              </a:lnSpc>
              <a:spcBef>
                <a:spcPts val="1080"/>
              </a:spcBef>
              <a:buChar char="○"/>
              <a:tabLst>
                <a:tab pos="926465" algn="l"/>
              </a:tabLst>
            </a:pP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Structure</a:t>
            </a:r>
            <a:endParaRPr sz="1800">
              <a:latin typeface="Arial MT"/>
              <a:cs typeface="Arial MT"/>
            </a:endParaRPr>
          </a:p>
          <a:p>
            <a:pPr marL="926465" lvl="1" indent="-366395">
              <a:lnSpc>
                <a:spcPct val="100000"/>
              </a:lnSpc>
              <a:spcBef>
                <a:spcPts val="1080"/>
              </a:spcBef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Common</a:t>
            </a:r>
            <a:r>
              <a:rPr sz="18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Targets</a:t>
            </a:r>
            <a:endParaRPr sz="1800">
              <a:latin typeface="Arial MT"/>
              <a:cs typeface="Arial MT"/>
            </a:endParaRPr>
          </a:p>
          <a:p>
            <a:pPr marL="926465" lvl="1" indent="-366395">
              <a:lnSpc>
                <a:spcPct val="100000"/>
              </a:lnSpc>
              <a:spcBef>
                <a:spcPts val="1080"/>
              </a:spcBef>
              <a:buChar char="○"/>
              <a:tabLst>
                <a:tab pos="926465" algn="l"/>
              </a:tabLst>
            </a:pP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Variables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Pattern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Rules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2518" y="2216065"/>
            <a:ext cx="3208348" cy="2743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4" y="1415541"/>
            <a:ext cx="355202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/>
              <a:t>Multi-</a:t>
            </a:r>
            <a:r>
              <a:rPr dirty="0"/>
              <a:t>File</a:t>
            </a:r>
            <a:r>
              <a:rPr spc="-10" dirty="0"/>
              <a:t> </a:t>
            </a:r>
            <a:r>
              <a:rPr dirty="0"/>
              <a:t>C</a:t>
            </a:r>
            <a:r>
              <a:rPr spc="-10" dirty="0"/>
              <a:t> Projects</a:t>
            </a:r>
            <a:br>
              <a:rPr lang="en-US" spc="-10" dirty="0"/>
            </a:br>
            <a:r>
              <a:rPr lang="en-US" sz="2000" spc="-10" dirty="0"/>
              <a:t>Compiling</a:t>
            </a:r>
            <a:r>
              <a:rPr lang="en-US" sz="2000" spc="-20" dirty="0"/>
              <a:t> </a:t>
            </a:r>
            <a:r>
              <a:rPr lang="en-US" sz="2000" spc="-10" dirty="0"/>
              <a:t>Multi-</a:t>
            </a:r>
            <a:r>
              <a:rPr lang="en-US" sz="2000" dirty="0"/>
              <a:t>File</a:t>
            </a:r>
            <a:r>
              <a:rPr lang="en-US" sz="2000" spc="-20" dirty="0"/>
              <a:t> </a:t>
            </a:r>
            <a:r>
              <a:rPr lang="en-US" sz="2000" spc="-10" dirty="0"/>
              <a:t>Projects</a:t>
            </a:r>
            <a:endParaRPr sz="20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10375" y="2381881"/>
            <a:ext cx="6109970" cy="32517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955">
              <a:lnSpc>
                <a:spcPct val="114000"/>
              </a:lnSpc>
              <a:spcBef>
                <a:spcPts val="1845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programming,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splitting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source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code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into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header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files </a:t>
            </a:r>
            <a:r>
              <a:rPr sz="1800" b="1" dirty="0">
                <a:latin typeface="Arial"/>
                <a:cs typeface="Arial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.h</a:t>
            </a:r>
            <a:r>
              <a:rPr sz="1800" b="1" dirty="0">
                <a:latin typeface="Arial"/>
                <a:cs typeface="Arial"/>
              </a:rPr>
              <a:t>)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source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files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.c</a:t>
            </a:r>
            <a:r>
              <a:rPr sz="1800" b="1" dirty="0">
                <a:latin typeface="Arial"/>
                <a:cs typeface="Arial"/>
              </a:rPr>
              <a:t>)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practice.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725"/>
              </a:spcBef>
            </a:pPr>
            <a:r>
              <a:rPr sz="1800" b="1" dirty="0">
                <a:solidFill>
                  <a:srgbClr val="A00C30"/>
                </a:solidFill>
                <a:latin typeface="Arial"/>
                <a:cs typeface="Arial"/>
              </a:rPr>
              <a:t>Why</a:t>
            </a:r>
            <a:r>
              <a:rPr sz="18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A00C30"/>
                </a:solidFill>
                <a:latin typeface="Arial"/>
                <a:cs typeface="Arial"/>
              </a:rPr>
              <a:t>Split</a:t>
            </a:r>
            <a:r>
              <a:rPr sz="18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A00C30"/>
                </a:solidFill>
                <a:latin typeface="Arial"/>
                <a:cs typeface="Arial"/>
              </a:rPr>
              <a:t>Source</a:t>
            </a:r>
            <a:r>
              <a:rPr sz="18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A00C30"/>
                </a:solidFill>
                <a:latin typeface="Arial"/>
                <a:cs typeface="Arial"/>
              </a:rPr>
              <a:t>Files?</a:t>
            </a:r>
            <a:endParaRPr sz="1800" dirty="0">
              <a:latin typeface="Arial"/>
              <a:cs typeface="Arial"/>
            </a:endParaRPr>
          </a:p>
          <a:p>
            <a:pPr marL="469900" marR="1021715" indent="-419734">
              <a:lnSpc>
                <a:spcPct val="114000"/>
              </a:lnSpc>
              <a:spcBef>
                <a:spcPts val="445"/>
              </a:spcBef>
              <a:spcAft>
                <a:spcPts val="600"/>
              </a:spcAft>
              <a:buAutoNum type="arabicPeriod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Modularity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Breaking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smaller,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more </a:t>
            </a:r>
            <a:r>
              <a:rPr sz="1800" dirty="0">
                <a:latin typeface="Arial MT"/>
                <a:cs typeface="Arial MT"/>
              </a:rPr>
              <a:t>manageable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files.</a:t>
            </a:r>
            <a:endParaRPr sz="1800" dirty="0">
              <a:latin typeface="Arial MT"/>
              <a:cs typeface="Arial MT"/>
            </a:endParaRPr>
          </a:p>
          <a:p>
            <a:pPr marL="469900" marR="474345" indent="-419734">
              <a:lnSpc>
                <a:spcPct val="114000"/>
              </a:lnSpc>
              <a:spcAft>
                <a:spcPts val="600"/>
              </a:spcAft>
              <a:buAutoNum type="arabicPeriod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Reusability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You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reuse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declarations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multiple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files.</a:t>
            </a:r>
            <a:endParaRPr sz="1800" dirty="0">
              <a:latin typeface="Arial MT"/>
              <a:cs typeface="Arial MT"/>
            </a:endParaRPr>
          </a:p>
          <a:p>
            <a:pPr marL="469900" marR="5080" indent="-419734">
              <a:lnSpc>
                <a:spcPct val="114000"/>
              </a:lnSpc>
              <a:buAutoNum type="arabicPeriod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Separation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Concerns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Keep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interface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(declarations) </a:t>
            </a:r>
            <a:r>
              <a:rPr sz="1800" dirty="0">
                <a:latin typeface="Arial MT"/>
                <a:cs typeface="Arial MT"/>
              </a:rPr>
              <a:t>separate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implementation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(definitions).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8625" y="1338424"/>
            <a:ext cx="4911725" cy="2865120"/>
          </a:xfrm>
          <a:prstGeom prst="rect">
            <a:avLst/>
          </a:prstGeom>
          <a:solidFill>
            <a:srgbClr val="D9EAD3"/>
          </a:solidFill>
          <a:ln w="9524">
            <a:solidFill>
              <a:srgbClr val="0F2044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9"/>
              </a:spcBef>
            </a:pPr>
            <a:r>
              <a:rPr sz="1800" b="1" dirty="0">
                <a:latin typeface="Arial"/>
                <a:cs typeface="Arial"/>
              </a:rPr>
              <a:t>Header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Files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.h</a:t>
            </a:r>
            <a:r>
              <a:rPr sz="1800" b="1" spc="-10" dirty="0">
                <a:latin typeface="Arial"/>
                <a:cs typeface="Arial"/>
              </a:rPr>
              <a:t>):</a:t>
            </a:r>
            <a:endParaRPr sz="1800" dirty="0">
              <a:latin typeface="Arial"/>
              <a:cs typeface="Arial"/>
            </a:endParaRPr>
          </a:p>
          <a:p>
            <a:pPr marL="542925" marR="67564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542925" algn="l"/>
              </a:tabLst>
            </a:pPr>
            <a:r>
              <a:rPr sz="1800" b="1" dirty="0">
                <a:latin typeface="Arial"/>
                <a:cs typeface="Arial"/>
              </a:rPr>
              <a:t>Purpose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Header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contain </a:t>
            </a:r>
            <a:r>
              <a:rPr sz="1800" dirty="0">
                <a:latin typeface="Arial MT"/>
                <a:cs typeface="Arial MT"/>
              </a:rPr>
              <a:t>declarations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functions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global </a:t>
            </a:r>
            <a:r>
              <a:rPr sz="1800" b="1" dirty="0">
                <a:latin typeface="Arial"/>
                <a:cs typeface="Arial"/>
              </a:rPr>
              <a:t>variables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macros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structures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542925" marR="245110" indent="-367030">
              <a:lnSpc>
                <a:spcPct val="114999"/>
              </a:lnSpc>
              <a:buChar char="●"/>
              <a:tabLst>
                <a:tab pos="542925" algn="l"/>
              </a:tabLst>
            </a:pP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interface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code </a:t>
            </a:r>
            <a:r>
              <a:rPr sz="1800" dirty="0">
                <a:latin typeface="Arial MT"/>
                <a:cs typeface="Arial MT"/>
              </a:rPr>
              <a:t>files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without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knowing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implementation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details.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8625" y="4435599"/>
            <a:ext cx="4911725" cy="2201545"/>
          </a:xfrm>
          <a:prstGeom prst="rect">
            <a:avLst/>
          </a:prstGeom>
          <a:solidFill>
            <a:srgbClr val="FFF1CC"/>
          </a:solidFill>
          <a:ln w="9524">
            <a:solidFill>
              <a:srgbClr val="0F204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Source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Files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.c</a:t>
            </a:r>
            <a:r>
              <a:rPr sz="1800" b="1" spc="-10" dirty="0">
                <a:latin typeface="Arial"/>
                <a:cs typeface="Arial"/>
              </a:rPr>
              <a:t>):</a:t>
            </a:r>
            <a:endParaRPr sz="1800">
              <a:latin typeface="Arial"/>
              <a:cs typeface="Arial"/>
            </a:endParaRPr>
          </a:p>
          <a:p>
            <a:pPr marL="542925" marR="79375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542925" algn="l"/>
              </a:tabLst>
            </a:pPr>
            <a:r>
              <a:rPr sz="1800" b="1" dirty="0">
                <a:latin typeface="Arial"/>
                <a:cs typeface="Arial"/>
              </a:rPr>
              <a:t>Purpose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Source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contain</a:t>
            </a:r>
            <a:r>
              <a:rPr sz="1800" spc="-25" dirty="0">
                <a:latin typeface="Arial MT"/>
                <a:cs typeface="Arial MT"/>
              </a:rPr>
              <a:t> the </a:t>
            </a:r>
            <a:r>
              <a:rPr sz="1800" dirty="0">
                <a:latin typeface="Arial MT"/>
                <a:cs typeface="Arial MT"/>
              </a:rPr>
              <a:t>definitions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actual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implementation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of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declared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header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files.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4028772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/>
              <a:t>Multi-</a:t>
            </a:r>
            <a:r>
              <a:rPr dirty="0"/>
              <a:t>File</a:t>
            </a:r>
            <a:r>
              <a:rPr spc="-10" dirty="0"/>
              <a:t> </a:t>
            </a:r>
            <a:r>
              <a:rPr dirty="0"/>
              <a:t>C</a:t>
            </a:r>
            <a:r>
              <a:rPr spc="-10" dirty="0"/>
              <a:t> Projects</a:t>
            </a:r>
            <a:br>
              <a:rPr lang="en-US" spc="-10" dirty="0"/>
            </a:br>
            <a:r>
              <a:rPr lang="en-US" sz="2000" spc="-10" dirty="0"/>
              <a:t>Compiling</a:t>
            </a:r>
            <a:r>
              <a:rPr lang="en-US" sz="2000" spc="-20" dirty="0"/>
              <a:t> </a:t>
            </a:r>
            <a:r>
              <a:rPr lang="en-US" sz="2000" spc="-10" dirty="0"/>
              <a:t>Multi-</a:t>
            </a:r>
            <a:r>
              <a:rPr lang="en-US" sz="2000" dirty="0"/>
              <a:t>File</a:t>
            </a:r>
            <a:r>
              <a:rPr lang="en-US" sz="2000" spc="-20" dirty="0"/>
              <a:t> </a:t>
            </a:r>
            <a:r>
              <a:rPr lang="en-US" sz="2000" spc="-10" dirty="0"/>
              <a:t>Projects</a:t>
            </a:r>
            <a:endParaRPr sz="2000"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10375" y="2377177"/>
            <a:ext cx="33553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8510">
              <a:lnSpc>
                <a:spcPct val="100000"/>
              </a:lnSpc>
              <a:spcBef>
                <a:spcPts val="1970"/>
              </a:spcBef>
            </a:pPr>
            <a:r>
              <a:rPr sz="1800" b="1" spc="-10" dirty="0" err="1">
                <a:solidFill>
                  <a:srgbClr val="0F2044"/>
                </a:solidFill>
                <a:latin typeface="Arial"/>
                <a:cs typeface="Arial"/>
              </a:rPr>
              <a:t>math.h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" name="object 2" descr="A C header file (math.h) showing include guards (#ifndef MATH_H) and a function declaration for int add(int a, int b);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675" y="2697430"/>
            <a:ext cx="4028773" cy="15526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6700" y="4320931"/>
            <a:ext cx="762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math.c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A C source file including &quot;math.h&quot; and providing the function definition for add, which returns the sum of two integer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3675" y="4692552"/>
            <a:ext cx="4028774" cy="19558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613475" y="2845156"/>
            <a:ext cx="749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main.c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 descr="A C main function including stdio.h and math.h, calling the add function with arguments 3 and 5, and printing the result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0450" y="3242977"/>
            <a:ext cx="5349150" cy="31005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25" dirty="0"/>
              <a:t>Multi-</a:t>
            </a:r>
            <a:r>
              <a:rPr dirty="0"/>
              <a:t>File</a:t>
            </a:r>
            <a:r>
              <a:rPr spc="-10" dirty="0"/>
              <a:t> </a:t>
            </a:r>
            <a:r>
              <a:rPr dirty="0"/>
              <a:t>C</a:t>
            </a:r>
            <a:r>
              <a:rPr spc="-10" dirty="0"/>
              <a:t> Projects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Source</a:t>
            </a:r>
            <a:r>
              <a:rPr sz="2000" spc="-50" dirty="0"/>
              <a:t> </a:t>
            </a:r>
            <a:r>
              <a:rPr sz="2000" dirty="0"/>
              <a:t>Files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50" dirty="0"/>
              <a:t> </a:t>
            </a:r>
            <a:r>
              <a:rPr sz="2000" dirty="0"/>
              <a:t>Header</a:t>
            </a:r>
            <a:r>
              <a:rPr sz="2000" spc="-45" dirty="0"/>
              <a:t> </a:t>
            </a:r>
            <a:r>
              <a:rPr sz="2000" spc="-20" dirty="0"/>
              <a:t>Files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39174" y="2367733"/>
            <a:ext cx="4799330" cy="2865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426084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latin typeface="Arial"/>
                <a:cs typeface="Arial"/>
              </a:rPr>
              <a:t>Source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files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.c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latin typeface="Arial"/>
                <a:cs typeface="Arial"/>
              </a:rPr>
              <a:t>or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.cpp</a:t>
            </a:r>
            <a:r>
              <a:rPr sz="1800" b="1" dirty="0">
                <a:latin typeface="Arial"/>
                <a:cs typeface="Arial"/>
              </a:rPr>
              <a:t>)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Contain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actual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implementation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program, </a:t>
            </a:r>
            <a:r>
              <a:rPr sz="1800" dirty="0">
                <a:latin typeface="Arial MT"/>
                <a:cs typeface="Arial MT"/>
              </a:rPr>
              <a:t>including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definitions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logic.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Font typeface="Arial"/>
              <a:buChar char="●"/>
            </a:pPr>
            <a:endParaRPr sz="1800" dirty="0">
              <a:latin typeface="Arial MT"/>
              <a:cs typeface="Arial MT"/>
            </a:endParaRPr>
          </a:p>
          <a:p>
            <a:pPr marL="379095" marR="5080" indent="-367030">
              <a:lnSpc>
                <a:spcPct val="114999"/>
              </a:lnSpc>
              <a:spcBef>
                <a:spcPts val="5"/>
              </a:spcBef>
              <a:buChar char="●"/>
              <a:tabLst>
                <a:tab pos="379095" algn="l"/>
              </a:tabLst>
            </a:pPr>
            <a:r>
              <a:rPr sz="1800" b="1" dirty="0">
                <a:latin typeface="Arial"/>
                <a:cs typeface="Arial"/>
              </a:rPr>
              <a:t>Header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files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.h</a:t>
            </a:r>
            <a:r>
              <a:rPr sz="1800" b="1" dirty="0">
                <a:latin typeface="Arial"/>
                <a:cs typeface="Arial"/>
              </a:rPr>
              <a:t>)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Contain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function </a:t>
            </a:r>
            <a:r>
              <a:rPr sz="1800" dirty="0">
                <a:latin typeface="Arial MT"/>
                <a:cs typeface="Arial MT"/>
              </a:rPr>
              <a:t>declarations,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macros,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definitions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struct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2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enum</a:t>
            </a:r>
            <a:r>
              <a:rPr sz="1800" dirty="0">
                <a:latin typeface="Arial MT"/>
                <a:cs typeface="Arial MT"/>
              </a:rPr>
              <a:t>),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external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variable </a:t>
            </a:r>
            <a:r>
              <a:rPr sz="1800" dirty="0">
                <a:latin typeface="Arial MT"/>
                <a:cs typeface="Arial MT"/>
              </a:rPr>
              <a:t>declarations.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interface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source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files.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" name="object 4" descr="A diagram explaining the difference between using angle brackets for standard system headers and double quotes for user-defined header files."/>
          <p:cNvGrpSpPr/>
          <p:nvPr/>
        </p:nvGrpSpPr>
        <p:grpSpPr>
          <a:xfrm>
            <a:off x="5728699" y="2269615"/>
            <a:ext cx="6320790" cy="2858770"/>
            <a:chOff x="5728699" y="2269615"/>
            <a:chExt cx="6320790" cy="28587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4829" y="2611229"/>
              <a:ext cx="6284770" cy="25072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33462" y="2274378"/>
              <a:ext cx="6311265" cy="2849245"/>
            </a:xfrm>
            <a:custGeom>
              <a:avLst/>
              <a:gdLst/>
              <a:ahLst/>
              <a:cxnLst/>
              <a:rect l="l" t="t" r="r" b="b"/>
              <a:pathLst>
                <a:path w="6311265" h="2849245">
                  <a:moveTo>
                    <a:pt x="0" y="0"/>
                  </a:moveTo>
                  <a:lnTo>
                    <a:pt x="6310899" y="0"/>
                  </a:lnTo>
                  <a:lnTo>
                    <a:pt x="6310899" y="2848879"/>
                  </a:lnTo>
                  <a:lnTo>
                    <a:pt x="0" y="284887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21337" y="5266945"/>
            <a:ext cx="2599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3"/>
              </a:rPr>
              <a:t>https://www.geeksforgeeks.org/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25" dirty="0"/>
              <a:t>Multi-</a:t>
            </a:r>
            <a:r>
              <a:rPr dirty="0"/>
              <a:t>File</a:t>
            </a:r>
            <a:r>
              <a:rPr spc="-10" dirty="0"/>
              <a:t> </a:t>
            </a:r>
            <a:r>
              <a:rPr dirty="0"/>
              <a:t>C</a:t>
            </a:r>
            <a:r>
              <a:rPr spc="-10" dirty="0"/>
              <a:t> Projects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Object</a:t>
            </a:r>
            <a:r>
              <a:rPr sz="2000" spc="-90" dirty="0"/>
              <a:t> </a:t>
            </a:r>
            <a:r>
              <a:rPr sz="2000" spc="-10" dirty="0"/>
              <a:t>Files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19430" y="2362200"/>
            <a:ext cx="5195570" cy="41397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2255">
              <a:lnSpc>
                <a:spcPct val="114000"/>
              </a:lnSpc>
              <a:spcBef>
                <a:spcPts val="100"/>
              </a:spcBef>
              <a:spcAft>
                <a:spcPts val="1200"/>
              </a:spcAft>
            </a:pPr>
            <a:r>
              <a:rPr sz="1700" dirty="0">
                <a:latin typeface="Arial MT"/>
                <a:cs typeface="Arial MT"/>
              </a:rPr>
              <a:t>When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you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compile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source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file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.c</a:t>
            </a:r>
            <a:r>
              <a:rPr sz="1700" dirty="0">
                <a:latin typeface="Arial MT"/>
                <a:cs typeface="Arial MT"/>
              </a:rPr>
              <a:t>),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converted </a:t>
            </a:r>
            <a:r>
              <a:rPr sz="1700" dirty="0">
                <a:latin typeface="Arial MT"/>
                <a:cs typeface="Arial MT"/>
              </a:rPr>
              <a:t>into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object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file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(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sz="1700" b="1" dirty="0">
                <a:latin typeface="Arial"/>
                <a:cs typeface="Arial"/>
              </a:rPr>
              <a:t>)</a:t>
            </a:r>
            <a:r>
              <a:rPr sz="1700" dirty="0">
                <a:latin typeface="Arial MT"/>
                <a:cs typeface="Arial MT"/>
              </a:rPr>
              <a:t>.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This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object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file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contains </a:t>
            </a:r>
            <a:r>
              <a:rPr sz="1700" dirty="0">
                <a:latin typeface="Arial MT"/>
                <a:cs typeface="Arial MT"/>
              </a:rPr>
              <a:t>machine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code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but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yet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executable.</a:t>
            </a:r>
            <a:endParaRPr sz="1700" dirty="0">
              <a:latin typeface="Arial MT"/>
              <a:cs typeface="Arial MT"/>
            </a:endParaRPr>
          </a:p>
          <a:p>
            <a:pPr marL="12700" marR="5080">
              <a:lnSpc>
                <a:spcPct val="114000"/>
              </a:lnSpc>
              <a:spcAft>
                <a:spcPts val="1200"/>
              </a:spcAft>
            </a:pPr>
            <a:r>
              <a:rPr sz="1700" dirty="0">
                <a:latin typeface="Arial MT"/>
                <a:cs typeface="Arial MT"/>
              </a:rPr>
              <a:t>Object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files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later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linked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dirty="0">
                <a:latin typeface="Arial MT"/>
                <a:cs typeface="Arial MT"/>
              </a:rPr>
              <a:t>together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create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final executable.</a:t>
            </a:r>
            <a:endParaRPr sz="1700" dirty="0">
              <a:latin typeface="Arial MT"/>
              <a:cs typeface="Arial MT"/>
            </a:endParaRPr>
          </a:p>
          <a:p>
            <a:pPr marL="227329">
              <a:lnSpc>
                <a:spcPct val="114000"/>
              </a:lnSpc>
            </a:pPr>
            <a:r>
              <a:rPr sz="2500" b="1" dirty="0">
                <a:latin typeface="Arial"/>
                <a:cs typeface="Arial"/>
              </a:rPr>
              <a:t>gcc</a:t>
            </a:r>
            <a:r>
              <a:rPr sz="2500" b="1" spc="-65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file1.o</a:t>
            </a:r>
            <a:r>
              <a:rPr sz="2500" b="1" spc="-6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file2.c</a:t>
            </a:r>
            <a:r>
              <a:rPr sz="2500" b="1" spc="-60" dirty="0">
                <a:latin typeface="Arial"/>
                <a:cs typeface="Arial"/>
              </a:rPr>
              <a:t> </a:t>
            </a:r>
            <a:r>
              <a:rPr sz="2500" b="1" spc="-20" dirty="0">
                <a:latin typeface="Arial"/>
                <a:cs typeface="Arial"/>
              </a:rPr>
              <a:t>-</a:t>
            </a:r>
            <a:r>
              <a:rPr sz="2500" b="1" dirty="0">
                <a:latin typeface="Arial"/>
                <a:cs typeface="Arial"/>
              </a:rPr>
              <a:t>o</a:t>
            </a:r>
            <a:r>
              <a:rPr sz="2500" b="1" spc="-60" dirty="0">
                <a:latin typeface="Arial"/>
                <a:cs typeface="Arial"/>
              </a:rPr>
              <a:t> </a:t>
            </a:r>
            <a:r>
              <a:rPr sz="2500" b="1" spc="-10" dirty="0">
                <a:latin typeface="Arial"/>
                <a:cs typeface="Arial"/>
              </a:rPr>
              <a:t>myprogram</a:t>
            </a:r>
            <a:endParaRPr sz="2500" dirty="0">
              <a:latin typeface="Arial"/>
              <a:cs typeface="Arial"/>
            </a:endParaRPr>
          </a:p>
          <a:p>
            <a:pPr marL="469265" indent="-358775">
              <a:lnSpc>
                <a:spcPct val="114000"/>
              </a:lnSpc>
              <a:spcBef>
                <a:spcPts val="2075"/>
              </a:spcBef>
              <a:spcAft>
                <a:spcPts val="600"/>
              </a:spcAft>
              <a:buChar char="●"/>
              <a:tabLst>
                <a:tab pos="469265" algn="l"/>
              </a:tabLst>
            </a:pPr>
            <a:r>
              <a:rPr sz="1700" spc="-10" dirty="0">
                <a:latin typeface="Arial MT"/>
                <a:cs typeface="Arial MT"/>
              </a:rPr>
              <a:t>file1.o: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This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precompiled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object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file.</a:t>
            </a:r>
            <a:endParaRPr sz="1700" dirty="0">
              <a:latin typeface="Arial MT"/>
              <a:cs typeface="Arial MT"/>
            </a:endParaRPr>
          </a:p>
          <a:p>
            <a:pPr marL="469900" marR="789305" indent="-359410">
              <a:lnSpc>
                <a:spcPct val="114000"/>
              </a:lnSpc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1700" spc="-10" dirty="0">
                <a:latin typeface="Arial MT"/>
                <a:cs typeface="Arial MT"/>
              </a:rPr>
              <a:t>file2.c: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This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source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file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being </a:t>
            </a:r>
            <a:r>
              <a:rPr sz="1700" dirty="0">
                <a:latin typeface="Arial MT"/>
                <a:cs typeface="Arial MT"/>
              </a:rPr>
              <a:t>compiled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linked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same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step.</a:t>
            </a:r>
            <a:endParaRPr sz="1700" dirty="0">
              <a:latin typeface="Arial MT"/>
              <a:cs typeface="Arial MT"/>
            </a:endParaRPr>
          </a:p>
          <a:p>
            <a:pPr marL="469900" marR="128905" indent="-359410">
              <a:lnSpc>
                <a:spcPct val="114000"/>
              </a:lnSpc>
              <a:buChar char="●"/>
              <a:tabLst>
                <a:tab pos="469900" algn="l"/>
              </a:tabLst>
            </a:pPr>
            <a:r>
              <a:rPr sz="1700" spc="-20" dirty="0">
                <a:latin typeface="Arial MT"/>
                <a:cs typeface="Arial MT"/>
              </a:rPr>
              <a:t>-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myprogram: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-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option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specifies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name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output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executable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(myprogram).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4" name="object 4" descr="A flowchart of the C build phase showing source files (.c) being compiled into object files (.o) and then linked into an executable program."/>
          <p:cNvGrpSpPr/>
          <p:nvPr/>
        </p:nvGrpSpPr>
        <p:grpSpPr>
          <a:xfrm>
            <a:off x="5960974" y="1517441"/>
            <a:ext cx="5624195" cy="4445635"/>
            <a:chOff x="5960974" y="1517441"/>
            <a:chExt cx="5624195" cy="44456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0500" y="1577918"/>
              <a:ext cx="5604723" cy="43755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65737" y="1522203"/>
              <a:ext cx="5614670" cy="4436110"/>
            </a:xfrm>
            <a:custGeom>
              <a:avLst/>
              <a:gdLst/>
              <a:ahLst/>
              <a:cxnLst/>
              <a:rect l="l" t="t" r="r" b="b"/>
              <a:pathLst>
                <a:path w="5614670" h="4436110">
                  <a:moveTo>
                    <a:pt x="0" y="0"/>
                  </a:moveTo>
                  <a:lnTo>
                    <a:pt x="5614249" y="0"/>
                  </a:lnTo>
                  <a:lnTo>
                    <a:pt x="5614249" y="4435982"/>
                  </a:lnTo>
                  <a:lnTo>
                    <a:pt x="0" y="443598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21337" y="6181345"/>
            <a:ext cx="23514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https://blog.cloudflare.com/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292989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/>
              <a:t>Multi-</a:t>
            </a:r>
            <a:r>
              <a:rPr dirty="0"/>
              <a:t>File</a:t>
            </a:r>
            <a:r>
              <a:rPr spc="-10" dirty="0"/>
              <a:t> </a:t>
            </a:r>
            <a:r>
              <a:rPr dirty="0"/>
              <a:t>C</a:t>
            </a:r>
            <a:r>
              <a:rPr spc="-10" dirty="0"/>
              <a:t> Projects</a:t>
            </a:r>
            <a:br>
              <a:rPr lang="en-US" spc="-10" dirty="0"/>
            </a:br>
            <a:r>
              <a:rPr lang="en-US" sz="2000" dirty="0"/>
              <a:t>Object</a:t>
            </a:r>
            <a:r>
              <a:rPr lang="en-US" sz="2000" spc="-90" dirty="0"/>
              <a:t> </a:t>
            </a:r>
            <a:r>
              <a:rPr lang="en-US" sz="2000" spc="-10" dirty="0"/>
              <a:t>Files</a:t>
            </a:r>
            <a:endParaRPr sz="20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10375" y="2300977"/>
            <a:ext cx="345312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295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Let’s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look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what’s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inside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(.o)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file!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825" y="2688475"/>
            <a:ext cx="3306445" cy="4622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gcc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-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c</a:t>
            </a:r>
            <a:r>
              <a:rPr sz="1800" spc="-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hello_world.c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6825" y="3267324"/>
            <a:ext cx="3306445" cy="4622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objdump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d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hello_world.o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9850" y="3910564"/>
            <a:ext cx="3540760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Arial"/>
                <a:cs typeface="Arial"/>
              </a:rPr>
              <a:t>Machine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code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.text</a:t>
            </a:r>
            <a:r>
              <a:rPr sz="1700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spc="-10" dirty="0">
                <a:latin typeface="Arial MT"/>
                <a:cs typeface="Arial MT"/>
              </a:rPr>
              <a:t>section </a:t>
            </a:r>
            <a:r>
              <a:rPr sz="1700" dirty="0">
                <a:latin typeface="Arial MT"/>
                <a:cs typeface="Arial MT"/>
              </a:rPr>
              <a:t>contains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actual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machine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code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for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program.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example,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55</a:t>
            </a:r>
            <a:r>
              <a:rPr sz="1700" b="1" spc="-10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push</a:t>
            </a:r>
            <a:endParaRPr sz="1700" b="1" dirty="0">
              <a:latin typeface="Courier New"/>
              <a:cs typeface="Courier New"/>
            </a:endParaRPr>
          </a:p>
          <a:p>
            <a:pPr marL="12700" marR="255270">
              <a:lnSpc>
                <a:spcPct val="100000"/>
              </a:lnSpc>
            </a:pP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%rbp</a:t>
            </a:r>
            <a:r>
              <a:rPr sz="1700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instruction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push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the </a:t>
            </a:r>
            <a:r>
              <a:rPr sz="1700" dirty="0">
                <a:latin typeface="Arial MT"/>
                <a:cs typeface="Arial MT"/>
              </a:rPr>
              <a:t>base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pointer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onto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stack.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9850" y="5465043"/>
            <a:ext cx="363855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Arial"/>
                <a:cs typeface="Arial"/>
              </a:rPr>
              <a:t>Addresses</a:t>
            </a:r>
            <a:r>
              <a:rPr sz="1700" spc="-10" dirty="0">
                <a:latin typeface="Arial MT"/>
                <a:cs typeface="Arial MT"/>
              </a:rPr>
              <a:t>: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The</a:t>
            </a:r>
            <a:endParaRPr sz="17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0000000000000000</a:t>
            </a:r>
            <a:r>
              <a:rPr sz="1700" b="1" spc="-24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&lt;main&gt;</a:t>
            </a:r>
            <a:endParaRPr sz="1700" b="1" dirty="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1700" dirty="0">
                <a:latin typeface="Arial MT"/>
                <a:cs typeface="Arial MT"/>
              </a:rPr>
              <a:t>indicates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function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main</a:t>
            </a:r>
            <a:r>
              <a:rPr sz="1700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spc="-10" dirty="0">
                <a:latin typeface="Arial MT"/>
                <a:cs typeface="Arial MT"/>
              </a:rPr>
              <a:t>starts </a:t>
            </a:r>
            <a:r>
              <a:rPr sz="1700" dirty="0">
                <a:latin typeface="Arial MT"/>
                <a:cs typeface="Arial MT"/>
              </a:rPr>
              <a:t>at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address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0x0</a:t>
            </a:r>
            <a:r>
              <a:rPr sz="1700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object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file.</a:t>
            </a:r>
            <a:endParaRPr sz="1700" dirty="0">
              <a:latin typeface="Arial MT"/>
              <a:cs typeface="Arial MT"/>
            </a:endParaRPr>
          </a:p>
        </p:txBody>
      </p:sp>
      <p:pic>
        <p:nvPicPr>
          <p:cNvPr id="8" name="object 8" descr="A technical diagram illustrating how a linker combines different sections (bss, text, data) from multiple object files into a single executable memory map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6175" y="1430751"/>
            <a:ext cx="5502374" cy="4877524"/>
          </a:xfrm>
          <a:prstGeom prst="rect">
            <a:avLst/>
          </a:prstGeom>
        </p:spPr>
      </p:pic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54538" y="6333745"/>
            <a:ext cx="22313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https://downloads.ti.com/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49849" y="1470259"/>
            <a:ext cx="1826895" cy="488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file1.obj</a:t>
            </a:r>
            <a:r>
              <a:rPr sz="1450" spc="-7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and</a:t>
            </a:r>
            <a:r>
              <a:rPr sz="1450" spc="-6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file2.obj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have</a:t>
            </a:r>
            <a:r>
              <a:rPr sz="1450" spc="-5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been</a:t>
            </a:r>
            <a:r>
              <a:rPr sz="1450" spc="-5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assembled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to</a:t>
            </a:r>
            <a:r>
              <a:rPr sz="1450" spc="-3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be</a:t>
            </a:r>
            <a:r>
              <a:rPr sz="1450" spc="-3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used</a:t>
            </a:r>
            <a:r>
              <a:rPr sz="1450" spc="-3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as</a:t>
            </a:r>
            <a:r>
              <a:rPr sz="1450" spc="-3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linker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input.</a:t>
            </a:r>
            <a:r>
              <a:rPr sz="1450" spc="-6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Each</a:t>
            </a:r>
            <a:r>
              <a:rPr sz="1450" spc="-6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contains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sz="1450" spc="-4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.text,</a:t>
            </a:r>
            <a:r>
              <a:rPr sz="1450" spc="-4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.data,</a:t>
            </a:r>
            <a:r>
              <a:rPr sz="1450" spc="-4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555555"/>
                </a:solidFill>
                <a:latin typeface="Arial MT"/>
                <a:cs typeface="Arial MT"/>
              </a:rPr>
              <a:t>and</a:t>
            </a:r>
            <a:endParaRPr sz="1450" dirty="0">
              <a:latin typeface="Arial MT"/>
              <a:cs typeface="Arial MT"/>
            </a:endParaRPr>
          </a:p>
          <a:p>
            <a:pPr marL="12700" marR="5715">
              <a:lnSpc>
                <a:spcPct val="100000"/>
              </a:lnSpc>
            </a:pP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.bss</a:t>
            </a:r>
            <a:r>
              <a:rPr sz="1450" spc="-6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default</a:t>
            </a:r>
            <a:r>
              <a:rPr sz="1450" spc="-5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sections;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sz="1450" spc="-3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executable</a:t>
            </a:r>
            <a:r>
              <a:rPr sz="1450" spc="-3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object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module</a:t>
            </a:r>
            <a:r>
              <a:rPr sz="1450" spc="-6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shows</a:t>
            </a:r>
            <a:r>
              <a:rPr sz="1450" spc="-6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555555"/>
                </a:solidFill>
                <a:latin typeface="Arial MT"/>
                <a:cs typeface="Arial MT"/>
              </a:rPr>
              <a:t>the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combined</a:t>
            </a:r>
            <a:r>
              <a:rPr sz="1450" spc="-2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sections.</a:t>
            </a:r>
            <a:endParaRPr sz="1450" dirty="0">
              <a:latin typeface="Arial MT"/>
              <a:cs typeface="Arial MT"/>
            </a:endParaRPr>
          </a:p>
          <a:p>
            <a:pPr marL="12700" marR="98425">
              <a:lnSpc>
                <a:spcPct val="100000"/>
              </a:lnSpc>
            </a:pP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sz="1450" spc="-5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linker</a:t>
            </a:r>
            <a:r>
              <a:rPr sz="1450" spc="-4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combines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sz="1450" spc="-5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.text</a:t>
            </a:r>
            <a:r>
              <a:rPr sz="1450" spc="-4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section</a:t>
            </a:r>
            <a:r>
              <a:rPr sz="1450" spc="-5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555555"/>
                </a:solidFill>
                <a:latin typeface="Arial MT"/>
                <a:cs typeface="Arial MT"/>
              </a:rPr>
              <a:t>from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file1.obj</a:t>
            </a:r>
            <a:r>
              <a:rPr sz="1450" spc="-6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and</a:t>
            </a:r>
            <a:r>
              <a:rPr sz="1450" spc="-5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sz="1450" spc="-5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.text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section</a:t>
            </a:r>
            <a:r>
              <a:rPr sz="1450" spc="-6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from</a:t>
            </a:r>
            <a:r>
              <a:rPr sz="1450" spc="-6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file2.obj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to</a:t>
            </a:r>
            <a:r>
              <a:rPr sz="1450" spc="-3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form</a:t>
            </a:r>
            <a:r>
              <a:rPr sz="1450" spc="-3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one</a:t>
            </a:r>
            <a:r>
              <a:rPr sz="1450" spc="-3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.text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section,</a:t>
            </a:r>
            <a:r>
              <a:rPr sz="1450" spc="-9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555555"/>
                </a:solidFill>
                <a:latin typeface="Arial MT"/>
                <a:cs typeface="Arial MT"/>
              </a:rPr>
              <a:t>then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combines</a:t>
            </a:r>
            <a:r>
              <a:rPr sz="1450" spc="-5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sz="1450" spc="-5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555555"/>
                </a:solidFill>
                <a:latin typeface="Arial MT"/>
                <a:cs typeface="Arial MT"/>
              </a:rPr>
              <a:t>two</a:t>
            </a:r>
            <a:endParaRPr sz="145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.data</a:t>
            </a:r>
            <a:r>
              <a:rPr sz="1450" spc="-5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sections</a:t>
            </a:r>
            <a:r>
              <a:rPr sz="1450" spc="-5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and</a:t>
            </a:r>
            <a:r>
              <a:rPr sz="1450" spc="-5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555555"/>
                </a:solidFill>
                <a:latin typeface="Arial MT"/>
                <a:cs typeface="Arial MT"/>
              </a:rPr>
              <a:t>the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two</a:t>
            </a:r>
            <a:r>
              <a:rPr sz="1450" spc="-3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.bss</a:t>
            </a:r>
            <a:r>
              <a:rPr sz="1450" spc="-3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sections.</a:t>
            </a:r>
            <a:endParaRPr sz="1450" dirty="0">
              <a:latin typeface="Arial MT"/>
              <a:cs typeface="Arial MT"/>
            </a:endParaRPr>
          </a:p>
          <a:p>
            <a:pPr marL="12700" marR="76200">
              <a:lnSpc>
                <a:spcPct val="100000"/>
              </a:lnSpc>
            </a:pP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sz="1450" spc="-5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memory</a:t>
            </a:r>
            <a:r>
              <a:rPr sz="1450" spc="-5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555555"/>
                </a:solidFill>
                <a:latin typeface="Arial MT"/>
                <a:cs typeface="Arial MT"/>
              </a:rPr>
              <a:t>map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shows</a:t>
            </a:r>
            <a:r>
              <a:rPr sz="1450" spc="-4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sz="1450" spc="-4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combined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sections</a:t>
            </a:r>
            <a:r>
              <a:rPr sz="1450" spc="-40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to</a:t>
            </a:r>
            <a:r>
              <a:rPr sz="1450" spc="-3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be</a:t>
            </a:r>
            <a:r>
              <a:rPr sz="1450" spc="-3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placed </a:t>
            </a:r>
            <a:r>
              <a:rPr sz="1450" dirty="0">
                <a:solidFill>
                  <a:srgbClr val="555555"/>
                </a:solidFill>
                <a:latin typeface="Arial MT"/>
                <a:cs typeface="Arial MT"/>
              </a:rPr>
              <a:t>into</a:t>
            </a:r>
            <a:r>
              <a:rPr sz="1450" spc="-45" dirty="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555555"/>
                </a:solidFill>
                <a:latin typeface="Arial MT"/>
                <a:cs typeface="Arial MT"/>
              </a:rPr>
              <a:t>memory.</a:t>
            </a:r>
            <a:endParaRPr sz="14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25" dirty="0"/>
              <a:t>Multi-</a:t>
            </a:r>
            <a:r>
              <a:rPr dirty="0"/>
              <a:t>File</a:t>
            </a:r>
            <a:r>
              <a:rPr spc="-10" dirty="0"/>
              <a:t> </a:t>
            </a:r>
            <a:r>
              <a:rPr dirty="0"/>
              <a:t>C</a:t>
            </a:r>
            <a:r>
              <a:rPr spc="-10" dirty="0"/>
              <a:t> Projects</a:t>
            </a:r>
          </a:p>
          <a:p>
            <a:pPr marL="12700">
              <a:lnSpc>
                <a:spcPts val="2285"/>
              </a:lnSpc>
            </a:pPr>
            <a:r>
              <a:rPr sz="2000" spc="-10" dirty="0"/>
              <a:t>Dependency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2448212"/>
            <a:ext cx="5594350" cy="25047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1650" indent="-367030">
              <a:lnSpc>
                <a:spcPct val="114000"/>
              </a:lnSpc>
              <a:spcBef>
                <a:spcPts val="100"/>
              </a:spcBef>
              <a:spcAft>
                <a:spcPts val="1200"/>
              </a:spcAft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source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file.c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includes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header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file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file.h</a:t>
            </a:r>
            <a:r>
              <a:rPr sz="1800" dirty="0">
                <a:latin typeface="Arial MT"/>
                <a:cs typeface="Arial MT"/>
              </a:rPr>
              <a:t>),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file.c</a:t>
            </a:r>
            <a:r>
              <a:rPr sz="1800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latin typeface="Arial"/>
                <a:cs typeface="Arial"/>
              </a:rPr>
              <a:t>depends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spc="-10" dirty="0" err="1">
                <a:solidFill>
                  <a:srgbClr val="188037"/>
                </a:solidFill>
                <a:latin typeface="Courier New"/>
                <a:cs typeface="Courier New"/>
              </a:rPr>
              <a:t>file.h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379095" marR="5080" indent="-367030">
              <a:lnSpc>
                <a:spcPct val="114000"/>
              </a:lnSpc>
              <a:spcAft>
                <a:spcPts val="1200"/>
              </a:spcAft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file.h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changes,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file.c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must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recompiled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dirty="0">
                <a:latin typeface="Arial MT"/>
                <a:cs typeface="Arial MT"/>
              </a:rPr>
              <a:t>reflect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those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changes.</a:t>
            </a:r>
            <a:endParaRPr lang="en-US" sz="1800" spc="-10" dirty="0">
              <a:latin typeface="Arial MT"/>
              <a:cs typeface="Arial MT"/>
            </a:endParaRPr>
          </a:p>
          <a:p>
            <a:pPr marL="379095" marR="5080" indent="-367030">
              <a:lnSpc>
                <a:spcPct val="114000"/>
              </a:lnSpc>
              <a:buFontTx/>
              <a:buChar char="●"/>
              <a:tabLst>
                <a:tab pos="379095" algn="l"/>
              </a:tabLst>
            </a:pPr>
            <a:r>
              <a:rPr lang="en-US" sz="1800" dirty="0">
                <a:latin typeface="Arial MT"/>
                <a:cs typeface="Arial MT"/>
              </a:rPr>
              <a:t>Dependencies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can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be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"/>
                <a:cs typeface="Arial"/>
              </a:rPr>
              <a:t>direct</a:t>
            </a:r>
            <a:r>
              <a:rPr lang="en-US" sz="1800" b="1" spc="-10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 MT"/>
                <a:cs typeface="Arial MT"/>
              </a:rPr>
              <a:t>(when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source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spc="-20" dirty="0">
                <a:latin typeface="Arial MT"/>
                <a:cs typeface="Arial MT"/>
              </a:rPr>
              <a:t>file </a:t>
            </a:r>
            <a:r>
              <a:rPr lang="en-US" sz="1800" dirty="0">
                <a:latin typeface="Arial MT"/>
                <a:cs typeface="Arial MT"/>
              </a:rPr>
              <a:t>directly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includes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header)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or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"/>
                <a:cs typeface="Arial"/>
              </a:rPr>
              <a:t>indirect</a:t>
            </a:r>
            <a:r>
              <a:rPr lang="en-US" sz="1800" b="1" spc="-10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 MT"/>
                <a:cs typeface="Arial MT"/>
              </a:rPr>
              <a:t>(when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spc="-50" dirty="0">
                <a:latin typeface="Arial MT"/>
                <a:cs typeface="Arial MT"/>
              </a:rPr>
              <a:t>a </a:t>
            </a:r>
            <a:r>
              <a:rPr lang="en-US" sz="1800" dirty="0">
                <a:latin typeface="Arial MT"/>
                <a:cs typeface="Arial MT"/>
              </a:rPr>
              <a:t>header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file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includes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another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spc="-10" dirty="0">
                <a:latin typeface="Arial MT"/>
                <a:cs typeface="Arial MT"/>
              </a:rPr>
              <a:t>header).</a:t>
            </a:r>
            <a:endParaRPr lang="en-US" sz="1800" dirty="0">
              <a:latin typeface="Arial MT"/>
              <a:cs typeface="Arial MT"/>
            </a:endParaRPr>
          </a:p>
        </p:txBody>
      </p:sp>
      <p:grpSp>
        <p:nvGrpSpPr>
          <p:cNvPr id="5" name="object 5" descr="A visualization of software dependencies showing examples of first-order dependency, second-order dependency, and interdependency between components A, B, and C."/>
          <p:cNvGrpSpPr/>
          <p:nvPr/>
        </p:nvGrpSpPr>
        <p:grpSpPr>
          <a:xfrm>
            <a:off x="6306499" y="2468191"/>
            <a:ext cx="5590540" cy="2149475"/>
            <a:chOff x="6306499" y="2468191"/>
            <a:chExt cx="5590540" cy="21494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3067" y="2477716"/>
              <a:ext cx="4778100" cy="209738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311262" y="2472953"/>
              <a:ext cx="5581015" cy="2139950"/>
            </a:xfrm>
            <a:custGeom>
              <a:avLst/>
              <a:gdLst/>
              <a:ahLst/>
              <a:cxnLst/>
              <a:rect l="l" t="t" r="r" b="b"/>
              <a:pathLst>
                <a:path w="5581015" h="2139950">
                  <a:moveTo>
                    <a:pt x="0" y="0"/>
                  </a:moveTo>
                  <a:lnTo>
                    <a:pt x="5580699" y="0"/>
                  </a:lnTo>
                  <a:lnTo>
                    <a:pt x="5580699" y="2139679"/>
                  </a:lnTo>
                  <a:lnTo>
                    <a:pt x="0" y="213967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760624" y="4765495"/>
            <a:ext cx="32092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Setola,</a:t>
            </a:r>
            <a:r>
              <a:rPr sz="1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Roberto</a:t>
            </a:r>
            <a:r>
              <a:rPr sz="1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&amp;</a:t>
            </a:r>
            <a:r>
              <a:rPr sz="1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Theoharidou,</a:t>
            </a:r>
            <a:r>
              <a:rPr sz="1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Marianthi.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(2016).</a:t>
            </a:r>
            <a:r>
              <a:rPr sz="1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Modelling</a:t>
            </a:r>
            <a:r>
              <a:rPr sz="1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Dependencies</a:t>
            </a:r>
            <a:r>
              <a:rPr sz="1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Between</a:t>
            </a:r>
            <a:r>
              <a:rPr sz="1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Critical Infrastructures.</a:t>
            </a:r>
            <a:r>
              <a:rPr sz="1000" spc="20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10.1007/978-3-319-51043-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9_2.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4" y="1350408"/>
            <a:ext cx="3585757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/>
              <a:t>Multi-</a:t>
            </a:r>
            <a:r>
              <a:rPr dirty="0"/>
              <a:t>File</a:t>
            </a:r>
            <a:r>
              <a:rPr spc="-10" dirty="0"/>
              <a:t> </a:t>
            </a:r>
            <a:r>
              <a:rPr dirty="0"/>
              <a:t>C</a:t>
            </a:r>
            <a:r>
              <a:rPr spc="-10" dirty="0"/>
              <a:t> Projects</a:t>
            </a:r>
            <a:br>
              <a:rPr lang="en-US" spc="-10" dirty="0"/>
            </a:br>
            <a:r>
              <a:rPr lang="en-US" sz="2000" spc="-10" dirty="0"/>
              <a:t>Dependency</a:t>
            </a:r>
            <a:r>
              <a:rPr lang="en-US" sz="2000" spc="-60" dirty="0"/>
              <a:t> </a:t>
            </a:r>
            <a:r>
              <a:rPr lang="en-US" sz="2000" spc="-10" dirty="0"/>
              <a:t>Tracking</a:t>
            </a:r>
            <a:endParaRPr sz="20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10375" y="2334572"/>
            <a:ext cx="11553025" cy="39138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7695" marR="5080" indent="-359410">
              <a:lnSpc>
                <a:spcPct val="114000"/>
              </a:lnSpc>
              <a:spcBef>
                <a:spcPts val="1455"/>
              </a:spcBef>
              <a:spcAft>
                <a:spcPts val="1200"/>
              </a:spcAft>
              <a:buChar char="●"/>
              <a:tabLst>
                <a:tab pos="607695" algn="l"/>
              </a:tabLst>
            </a:pPr>
            <a:r>
              <a:rPr dirty="0">
                <a:latin typeface="Arial MT"/>
                <a:cs typeface="Arial MT"/>
              </a:rPr>
              <a:t>When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working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multiple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project,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it's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important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track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which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source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depend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on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which</a:t>
            </a:r>
            <a:r>
              <a:rPr spc="-60" dirty="0">
                <a:latin typeface="Arial MT"/>
                <a:cs typeface="Arial MT"/>
              </a:rPr>
              <a:t> </a:t>
            </a:r>
            <a:br>
              <a:rPr lang="en-US" spc="-60" dirty="0">
                <a:latin typeface="Arial MT"/>
                <a:cs typeface="Arial MT"/>
              </a:rPr>
            </a:br>
            <a:r>
              <a:rPr spc="-10" dirty="0">
                <a:latin typeface="Arial MT"/>
                <a:cs typeface="Arial MT"/>
              </a:rPr>
              <a:t>header files.</a:t>
            </a:r>
            <a:endParaRPr dirty="0">
              <a:latin typeface="Arial MT"/>
              <a:cs typeface="Arial MT"/>
            </a:endParaRPr>
          </a:p>
          <a:p>
            <a:pPr marL="607695" marR="1188720" indent="-359410">
              <a:lnSpc>
                <a:spcPct val="114000"/>
              </a:lnSpc>
              <a:spcAft>
                <a:spcPts val="1200"/>
              </a:spcAft>
              <a:buChar char="●"/>
              <a:tabLst>
                <a:tab pos="607695" algn="l"/>
              </a:tabLst>
            </a:pPr>
            <a:r>
              <a:rPr dirty="0">
                <a:latin typeface="Arial MT"/>
                <a:cs typeface="Arial MT"/>
              </a:rPr>
              <a:t>This</a:t>
            </a:r>
            <a:r>
              <a:rPr spc="-8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typically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managed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by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build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system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(such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as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using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Makefile</a:t>
            </a:r>
            <a:r>
              <a:rPr spc="-10" dirty="0">
                <a:latin typeface="Arial MT"/>
                <a:cs typeface="Arial MT"/>
              </a:rPr>
              <a:t>),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which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tracks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file </a:t>
            </a:r>
            <a:r>
              <a:rPr dirty="0">
                <a:latin typeface="Arial MT"/>
                <a:cs typeface="Arial MT"/>
              </a:rPr>
              <a:t>dependencies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determines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which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need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recompiled</a:t>
            </a:r>
            <a:r>
              <a:rPr lang="en-US"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when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changes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made.</a:t>
            </a:r>
            <a:endParaRPr dirty="0">
              <a:latin typeface="Arial MT"/>
              <a:cs typeface="Arial MT"/>
            </a:endParaRPr>
          </a:p>
          <a:p>
            <a:pPr marL="607695" indent="-358775">
              <a:lnSpc>
                <a:spcPct val="114000"/>
              </a:lnSpc>
              <a:spcAft>
                <a:spcPts val="1200"/>
              </a:spcAft>
              <a:buChar char="●"/>
              <a:tabLst>
                <a:tab pos="607695" algn="l"/>
              </a:tabLst>
            </a:pPr>
            <a:r>
              <a:rPr dirty="0">
                <a:latin typeface="Arial MT"/>
                <a:cs typeface="Arial MT"/>
              </a:rPr>
              <a:t>When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source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file,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say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dirty="0">
                <a:latin typeface="Arial MT"/>
                <a:cs typeface="Arial MT"/>
              </a:rPr>
              <a:t>,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includes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header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#include</a:t>
            </a:r>
            <a:r>
              <a:rPr b="1" spc="-11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"myheader.h"</a:t>
            </a:r>
            <a:r>
              <a:rPr spc="-10" dirty="0">
                <a:latin typeface="Arial MT"/>
                <a:cs typeface="Arial MT"/>
              </a:rPr>
              <a:t>),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it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depends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on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b="1" spc="-10" dirty="0" err="1">
                <a:solidFill>
                  <a:srgbClr val="188037"/>
                </a:solidFill>
                <a:latin typeface="Courier New"/>
                <a:cs typeface="Courier New"/>
              </a:rPr>
              <a:t>myheader.h</a:t>
            </a:r>
            <a:r>
              <a:rPr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607695" marR="192405" indent="-359410">
              <a:lnSpc>
                <a:spcPct val="114000"/>
              </a:lnSpc>
              <a:spcAft>
                <a:spcPts val="1200"/>
              </a:spcAft>
              <a:buChar char="●"/>
              <a:tabLst>
                <a:tab pos="607695" algn="l"/>
              </a:tabLst>
            </a:pPr>
            <a:r>
              <a:rPr dirty="0">
                <a:latin typeface="Arial MT"/>
                <a:cs typeface="Arial MT"/>
              </a:rPr>
              <a:t>The</a:t>
            </a:r>
            <a:r>
              <a:rPr spc="-1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build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system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knows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if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either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or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myheader.h</a:t>
            </a:r>
            <a:r>
              <a:rPr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changes,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object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needs</a:t>
            </a:r>
            <a:r>
              <a:rPr spc="-35" dirty="0">
                <a:latin typeface="Arial MT"/>
                <a:cs typeface="Arial MT"/>
              </a:rPr>
              <a:t> </a:t>
            </a:r>
            <a:br>
              <a:rPr lang="en-US" spc="-35" dirty="0">
                <a:latin typeface="Arial MT"/>
                <a:cs typeface="Arial MT"/>
              </a:rPr>
            </a:br>
            <a:r>
              <a:rPr dirty="0">
                <a:latin typeface="Arial MT"/>
                <a:cs typeface="Arial MT"/>
              </a:rPr>
              <a:t>to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be </a:t>
            </a:r>
            <a:r>
              <a:rPr spc="-10" dirty="0">
                <a:latin typeface="Arial MT"/>
                <a:cs typeface="Arial MT"/>
              </a:rPr>
              <a:t>recompiled.</a:t>
            </a:r>
            <a:endParaRPr dirty="0">
              <a:latin typeface="Arial MT"/>
              <a:cs typeface="Arial MT"/>
            </a:endParaRPr>
          </a:p>
          <a:p>
            <a:pPr marL="607695" indent="-358775">
              <a:lnSpc>
                <a:spcPct val="114000"/>
              </a:lnSpc>
              <a:spcAft>
                <a:spcPts val="1200"/>
              </a:spcAft>
              <a:buChar char="●"/>
              <a:tabLst>
                <a:tab pos="607695" algn="l"/>
              </a:tabLst>
            </a:pPr>
            <a:r>
              <a:rPr dirty="0">
                <a:latin typeface="Arial MT"/>
                <a:cs typeface="Arial MT"/>
              </a:rPr>
              <a:t>Each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source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b="1" dirty="0">
                <a:latin typeface="Arial MT"/>
                <a:cs typeface="Arial MT"/>
              </a:rPr>
              <a:t>,</a:t>
            </a:r>
            <a:r>
              <a:rPr b="1" spc="-65" dirty="0">
                <a:latin typeface="Arial MT"/>
                <a:cs typeface="Arial MT"/>
              </a:rPr>
              <a:t> </a:t>
            </a:r>
            <a:r>
              <a:rPr lang="en-US" b="1" spc="-65" dirty="0">
                <a:latin typeface="Arial MT"/>
                <a:cs typeface="Arial MT"/>
              </a:rPr>
              <a:t> </a:t>
            </a:r>
            <a:r>
              <a:rPr b="1" spc="-10" dirty="0" err="1">
                <a:solidFill>
                  <a:srgbClr val="188037"/>
                </a:solidFill>
                <a:latin typeface="Courier New"/>
                <a:cs typeface="Courier New"/>
              </a:rPr>
              <a:t>myheader.c</a:t>
            </a:r>
            <a:r>
              <a:rPr spc="-10" dirty="0">
                <a:latin typeface="Arial MT"/>
                <a:cs typeface="Arial MT"/>
              </a:rPr>
              <a:t>)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compiled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separately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into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object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b="1" dirty="0">
                <a:latin typeface="Arial MT"/>
                <a:cs typeface="Arial MT"/>
              </a:rPr>
              <a:t>,</a:t>
            </a:r>
            <a:r>
              <a:rPr b="1" spc="-65" dirty="0">
                <a:latin typeface="Arial MT"/>
                <a:cs typeface="Arial MT"/>
              </a:rPr>
              <a:t> </a:t>
            </a:r>
            <a:r>
              <a:rPr lang="en-US" b="1" spc="-65" dirty="0">
                <a:latin typeface="Arial MT"/>
                <a:cs typeface="Arial MT"/>
              </a:rPr>
              <a:t> </a:t>
            </a:r>
            <a:r>
              <a:rPr b="1" spc="-10" dirty="0" err="1">
                <a:solidFill>
                  <a:srgbClr val="188037"/>
                </a:solidFill>
                <a:latin typeface="Courier New"/>
                <a:cs typeface="Courier New"/>
              </a:rPr>
              <a:t>myheader.o</a:t>
            </a:r>
            <a:r>
              <a:rPr spc="-10" dirty="0">
                <a:latin typeface="Arial MT"/>
                <a:cs typeface="Arial MT"/>
              </a:rPr>
              <a:t>).</a:t>
            </a:r>
            <a:endParaRPr dirty="0">
              <a:latin typeface="Arial MT"/>
              <a:cs typeface="Arial MT"/>
            </a:endParaRPr>
          </a:p>
          <a:p>
            <a:pPr marL="607695" indent="-358775">
              <a:lnSpc>
                <a:spcPct val="114000"/>
              </a:lnSpc>
              <a:buChar char="●"/>
              <a:tabLst>
                <a:tab pos="607695" algn="l"/>
              </a:tabLst>
            </a:pPr>
            <a:r>
              <a:rPr dirty="0">
                <a:latin typeface="Arial MT"/>
                <a:cs typeface="Arial MT"/>
              </a:rPr>
              <a:t>The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object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stores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compiled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machine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code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keeps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track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dependencies</a:t>
            </a:r>
            <a:r>
              <a:rPr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2EAFEA-8015-6FF8-972A-6D466301434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10375" y="1143000"/>
            <a:ext cx="3018625" cy="7053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270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Makefile</a:t>
            </a:r>
            <a:br>
              <a:rPr kumimoji="0" lang="en-US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</a:br>
            <a:r>
              <a:rPr kumimoji="0" lang="en-US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Tools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5549" y="1979975"/>
            <a:ext cx="4741545" cy="2854325"/>
          </a:xfrm>
          <a:prstGeom prst="rect">
            <a:avLst/>
          </a:prstGeom>
          <a:ln w="28574">
            <a:solidFill>
              <a:srgbClr val="0F2044"/>
            </a:solidFill>
          </a:ln>
        </p:spPr>
        <p:txBody>
          <a:bodyPr vert="horz" wrap="square" lIns="0" tIns="317500" rIns="0" bIns="0" rtlCol="0">
            <a:spAutoFit/>
          </a:bodyPr>
          <a:lstStyle/>
          <a:p>
            <a:pPr marL="150495" marR="145415" algn="ctr">
              <a:lnSpc>
                <a:spcPct val="100000"/>
              </a:lnSpc>
              <a:spcBef>
                <a:spcPts val="250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Makefile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automate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process.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files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compiled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linked,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 </a:t>
            </a:r>
            <a:r>
              <a:rPr sz="2400" dirty="0">
                <a:latin typeface="Arial MT"/>
                <a:cs typeface="Arial MT"/>
              </a:rPr>
              <a:t>tracks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dependencies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only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necessary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are </a:t>
            </a:r>
            <a:r>
              <a:rPr sz="2400" spc="-10" dirty="0">
                <a:latin typeface="Arial MT"/>
                <a:cs typeface="Arial MT"/>
              </a:rPr>
              <a:t>recompiled.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6850" y="1067057"/>
            <a:ext cx="5721722" cy="26769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661863" y="3989906"/>
            <a:ext cx="2106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Install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extension: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6" name="object 6" descr="A screenshot of the &quot;Makefile Tools&quot; extension for VS Code by Microsoft, showing its rating, download count, and description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0900" y="4387725"/>
            <a:ext cx="6327274" cy="14710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138112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 err="1"/>
              <a:t>Makefiles</a:t>
            </a:r>
            <a:br>
              <a:rPr lang="en-US" spc="-10" dirty="0"/>
            </a:br>
            <a:r>
              <a:rPr lang="en-US" sz="2000" spc="-10" dirty="0"/>
              <a:t>Targets</a:t>
            </a:r>
            <a:endParaRPr sz="20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10375" y="2259345"/>
            <a:ext cx="4697095" cy="383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1835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target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typically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Makefile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tasked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spc="-10" dirty="0">
                <a:latin typeface="Arial MT"/>
                <a:cs typeface="Arial MT"/>
              </a:rPr>
              <a:t>updating.</a:t>
            </a:r>
            <a:endParaRPr sz="2000" dirty="0">
              <a:latin typeface="Arial MT"/>
              <a:cs typeface="Arial MT"/>
            </a:endParaRPr>
          </a:p>
          <a:p>
            <a:pPr marL="12700" marR="247015" algn="just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cases,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executable</a:t>
            </a:r>
            <a:r>
              <a:rPr sz="2000" spc="-20" dirty="0">
                <a:latin typeface="Arial MT"/>
                <a:cs typeface="Arial MT"/>
              </a:rPr>
              <a:t> file </a:t>
            </a:r>
            <a:r>
              <a:rPr sz="2000" dirty="0">
                <a:latin typeface="Arial MT"/>
                <a:cs typeface="Arial MT"/>
              </a:rPr>
              <a:t>(such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file </a:t>
            </a:r>
            <a:r>
              <a:rPr sz="2000" dirty="0">
                <a:latin typeface="Arial MT"/>
                <a:cs typeface="Arial MT"/>
              </a:rPr>
              <a:t>(such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file.o</a:t>
            </a:r>
            <a:r>
              <a:rPr sz="2000" spc="-10" dirty="0">
                <a:latin typeface="Arial MT"/>
                <a:cs typeface="Arial MT"/>
              </a:rPr>
              <a:t>).</a:t>
            </a:r>
            <a:endParaRPr sz="20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target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also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“phony</a:t>
            </a:r>
            <a:r>
              <a:rPr sz="20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target”</a:t>
            </a:r>
            <a:r>
              <a:rPr sz="2000" spc="-10" dirty="0">
                <a:latin typeface="Arial MT"/>
                <a:cs typeface="Arial MT"/>
              </a:rPr>
              <a:t>,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doesn't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correspond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but </a:t>
            </a:r>
            <a:r>
              <a:rPr sz="2000" dirty="0">
                <a:latin typeface="Arial MT"/>
                <a:cs typeface="Arial MT"/>
              </a:rPr>
              <a:t>instead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represents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label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command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(e.g.,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sz="2000" spc="-10" dirty="0">
                <a:latin typeface="Arial MT"/>
                <a:cs typeface="Arial MT"/>
              </a:rPr>
              <a:t>).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5" name="object 5" descr="A Makefile dependency line stating that the target my_program depends on object files file1.o and file2.o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3025" y="2242200"/>
            <a:ext cx="6095999" cy="12001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756050" y="3810000"/>
            <a:ext cx="5920740" cy="7026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Here,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target,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dependent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file1.o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file2.o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415541"/>
            <a:ext cx="17526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 err="1"/>
              <a:t>Makefiles</a:t>
            </a:r>
            <a:br>
              <a:rPr lang="en-US" spc="-10" dirty="0"/>
            </a:br>
            <a:r>
              <a:rPr lang="en-US" sz="2000" spc="-10" dirty="0"/>
              <a:t>Dependencies</a:t>
            </a:r>
            <a:endParaRPr sz="2000"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10375" y="2362200"/>
            <a:ext cx="4993640" cy="2783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0835" algn="just">
              <a:lnSpc>
                <a:spcPct val="114999"/>
              </a:lnSpc>
              <a:spcBef>
                <a:spcPts val="100"/>
              </a:spcBef>
            </a:pPr>
            <a:r>
              <a:rPr b="1" dirty="0"/>
              <a:t>Dependencies</a:t>
            </a:r>
            <a:r>
              <a:rPr spc="-40" dirty="0"/>
              <a:t> </a:t>
            </a:r>
            <a:r>
              <a:rPr dirty="0"/>
              <a:t>are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files</a:t>
            </a:r>
            <a:r>
              <a:rPr spc="-4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target </a:t>
            </a:r>
            <a:r>
              <a:rPr dirty="0"/>
              <a:t>depends</a:t>
            </a:r>
            <a:r>
              <a:rPr spc="-85" dirty="0"/>
              <a:t> </a:t>
            </a:r>
            <a:r>
              <a:rPr spc="-25" dirty="0"/>
              <a:t>on.</a:t>
            </a:r>
          </a:p>
          <a:p>
            <a:pPr marL="12700" marR="5080" algn="just">
              <a:lnSpc>
                <a:spcPct val="114999"/>
              </a:lnSpc>
              <a:spcBef>
                <a:spcPts val="1200"/>
              </a:spcBef>
            </a:pPr>
            <a:r>
              <a:rPr dirty="0"/>
              <a:t>If</a:t>
            </a:r>
            <a:r>
              <a:rPr spc="-40" dirty="0"/>
              <a:t> </a:t>
            </a:r>
            <a:r>
              <a:rPr dirty="0"/>
              <a:t>any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dependency</a:t>
            </a:r>
            <a:r>
              <a:rPr spc="-40" dirty="0"/>
              <a:t> </a:t>
            </a:r>
            <a:r>
              <a:rPr dirty="0"/>
              <a:t>files</a:t>
            </a:r>
            <a:r>
              <a:rPr spc="-40" dirty="0"/>
              <a:t> </a:t>
            </a:r>
            <a:r>
              <a:rPr dirty="0"/>
              <a:t>have</a:t>
            </a:r>
            <a:r>
              <a:rPr spc="-40" dirty="0"/>
              <a:t> </a:t>
            </a:r>
            <a:r>
              <a:rPr spc="-10" dirty="0"/>
              <a:t>changed </a:t>
            </a:r>
            <a:r>
              <a:rPr dirty="0"/>
              <a:t>since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last</a:t>
            </a:r>
            <a:r>
              <a:rPr spc="-30" dirty="0"/>
              <a:t> </a:t>
            </a:r>
            <a:r>
              <a:rPr dirty="0"/>
              <a:t>time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target</a:t>
            </a:r>
            <a:r>
              <a:rPr spc="-30" dirty="0"/>
              <a:t> </a:t>
            </a:r>
            <a:r>
              <a:rPr dirty="0"/>
              <a:t>was</a:t>
            </a:r>
            <a:r>
              <a:rPr spc="-30" dirty="0"/>
              <a:t> </a:t>
            </a:r>
            <a:r>
              <a:rPr dirty="0"/>
              <a:t>made,</a:t>
            </a:r>
            <a:r>
              <a:rPr spc="-30" dirty="0"/>
              <a:t> </a:t>
            </a:r>
            <a:r>
              <a:rPr spc="-25" dirty="0"/>
              <a:t>the </a:t>
            </a:r>
            <a:r>
              <a:rPr dirty="0"/>
              <a:t>target</a:t>
            </a:r>
            <a:r>
              <a:rPr spc="-40" dirty="0"/>
              <a:t> </a:t>
            </a:r>
            <a:r>
              <a:rPr dirty="0"/>
              <a:t>will</a:t>
            </a:r>
            <a:r>
              <a:rPr spc="-35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spc="-10" dirty="0"/>
              <a:t>rebuilt.</a:t>
            </a:r>
          </a:p>
          <a:p>
            <a:pPr marL="12700" marR="512445" algn="just">
              <a:lnSpc>
                <a:spcPct val="114999"/>
              </a:lnSpc>
              <a:spcBef>
                <a:spcPts val="1200"/>
              </a:spcBef>
            </a:pPr>
            <a:r>
              <a:rPr dirty="0"/>
              <a:t>These</a:t>
            </a:r>
            <a:r>
              <a:rPr spc="-65" dirty="0"/>
              <a:t> </a:t>
            </a:r>
            <a:r>
              <a:rPr dirty="0"/>
              <a:t>dependencies</a:t>
            </a:r>
            <a:r>
              <a:rPr spc="-60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dirty="0"/>
              <a:t>listed</a:t>
            </a:r>
            <a:r>
              <a:rPr spc="-65" dirty="0"/>
              <a:t> </a:t>
            </a:r>
            <a:r>
              <a:rPr dirty="0"/>
              <a:t>after</a:t>
            </a:r>
            <a:r>
              <a:rPr spc="-60" dirty="0"/>
              <a:t> </a:t>
            </a:r>
            <a:r>
              <a:rPr spc="-25" dirty="0"/>
              <a:t>the </a:t>
            </a:r>
            <a:r>
              <a:rPr dirty="0"/>
              <a:t>target,</a:t>
            </a:r>
            <a:r>
              <a:rPr spc="-30" dirty="0"/>
              <a:t> </a:t>
            </a:r>
            <a:r>
              <a:rPr dirty="0"/>
              <a:t>separated</a:t>
            </a:r>
            <a:r>
              <a:rPr spc="-25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colon.</a:t>
            </a:r>
          </a:p>
        </p:txBody>
      </p:sp>
      <p:pic>
        <p:nvPicPr>
          <p:cNvPr id="5" name="object 5" descr="A Makefile dependency line for an object file, showing that file1.o depends on the source file file1.c and the header file file1.h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9350" y="2279141"/>
            <a:ext cx="6095999" cy="12001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02325" y="3856890"/>
            <a:ext cx="5814695" cy="10361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case,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file1.o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depends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file1.c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file1.h</a:t>
            </a:r>
            <a:r>
              <a:rPr sz="2000" dirty="0">
                <a:latin typeface="Arial MT"/>
                <a:cs typeface="Arial MT"/>
              </a:rPr>
              <a:t>.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either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those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changes,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file1.o</a:t>
            </a:r>
            <a:r>
              <a:rPr sz="2000" spc="-1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rebuilt.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138112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 err="1"/>
              <a:t>Makefiles</a:t>
            </a:r>
            <a:br>
              <a:rPr lang="en-US" spc="-10" dirty="0"/>
            </a:br>
            <a:r>
              <a:rPr lang="en-US" sz="2000" spc="-10" dirty="0"/>
              <a:t>Actions</a:t>
            </a:r>
            <a:endParaRPr sz="20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10375" y="2362200"/>
            <a:ext cx="5024120" cy="34760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216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actions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(also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commands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recipes)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10" dirty="0">
                <a:latin typeface="Arial MT"/>
                <a:cs typeface="Arial MT"/>
              </a:rPr>
              <a:t> </a:t>
            </a:r>
            <a:br>
              <a:rPr lang="en-US" sz="2000" spc="-10" dirty="0">
                <a:latin typeface="Arial MT"/>
                <a:cs typeface="Arial MT"/>
              </a:rPr>
            </a:br>
            <a:r>
              <a:rPr sz="2000" spc="-10" dirty="0">
                <a:latin typeface="Arial MT"/>
                <a:cs typeface="Arial MT"/>
              </a:rPr>
              <a:t>execute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update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target.</a:t>
            </a:r>
            <a:endParaRPr lang="en-US" sz="2000" spc="-1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lang="en-US" sz="2000" dirty="0">
                <a:latin typeface="Arial MT"/>
                <a:cs typeface="Arial MT"/>
              </a:rPr>
              <a:t>These</a:t>
            </a:r>
            <a:r>
              <a:rPr lang="en-US" sz="2000" spc="-4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lines</a:t>
            </a:r>
            <a:r>
              <a:rPr lang="en-US" sz="2000" spc="-4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must</a:t>
            </a:r>
            <a:r>
              <a:rPr lang="en-US" sz="2000" spc="-4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begin</a:t>
            </a:r>
            <a:r>
              <a:rPr lang="en-US" sz="2000" spc="-4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with</a:t>
            </a:r>
            <a:r>
              <a:rPr lang="en-US" sz="2000" spc="-4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a</a:t>
            </a:r>
            <a:r>
              <a:rPr lang="en-US" sz="2000" spc="-35" dirty="0">
                <a:latin typeface="Arial MT"/>
                <a:cs typeface="Arial MT"/>
              </a:rPr>
              <a:t> </a:t>
            </a:r>
            <a:r>
              <a:rPr lang="en-US" sz="2000" b="1" dirty="0">
                <a:latin typeface="Arial"/>
                <a:cs typeface="Arial"/>
              </a:rPr>
              <a:t>tab</a:t>
            </a:r>
            <a:r>
              <a:rPr lang="en-US" sz="2000" b="1" spc="-45" dirty="0">
                <a:latin typeface="Arial"/>
                <a:cs typeface="Arial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character</a:t>
            </a:r>
            <a:r>
              <a:rPr lang="en-US" sz="2000" spc="-10" dirty="0">
                <a:latin typeface="Arial MT"/>
                <a:cs typeface="Arial MT"/>
              </a:rPr>
              <a:t>, </a:t>
            </a:r>
            <a:r>
              <a:rPr lang="en-US" sz="2000" dirty="0">
                <a:latin typeface="Arial MT"/>
                <a:cs typeface="Arial MT"/>
              </a:rPr>
              <a:t>not</a:t>
            </a:r>
            <a:r>
              <a:rPr lang="en-US" sz="2000" spc="-15" dirty="0">
                <a:latin typeface="Arial MT"/>
                <a:cs typeface="Arial MT"/>
              </a:rPr>
              <a:t> </a:t>
            </a:r>
            <a:r>
              <a:rPr lang="en-US" sz="2000" spc="-10" dirty="0">
                <a:latin typeface="Arial MT"/>
                <a:cs typeface="Arial MT"/>
              </a:rPr>
              <a:t>spaces.</a:t>
            </a:r>
            <a:endParaRPr lang="en-US" sz="2000" dirty="0">
              <a:latin typeface="Arial MT"/>
              <a:cs typeface="Arial MT"/>
            </a:endParaRPr>
          </a:p>
          <a:p>
            <a:pPr marL="12700" marR="415925">
              <a:lnSpc>
                <a:spcPct val="114999"/>
              </a:lnSpc>
              <a:spcBef>
                <a:spcPts val="1200"/>
              </a:spcBef>
            </a:pPr>
            <a:r>
              <a:rPr lang="en-US" sz="2000" dirty="0">
                <a:latin typeface="Arial MT"/>
                <a:cs typeface="Arial MT"/>
              </a:rPr>
              <a:t>The</a:t>
            </a:r>
            <a:r>
              <a:rPr lang="en-US" sz="2000" spc="-4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most</a:t>
            </a:r>
            <a:r>
              <a:rPr lang="en-US" sz="2000" spc="-3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common</a:t>
            </a:r>
            <a:r>
              <a:rPr lang="en-US" sz="2000" spc="-3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action</a:t>
            </a:r>
            <a:r>
              <a:rPr lang="en-US" sz="2000" spc="-4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is</a:t>
            </a:r>
            <a:r>
              <a:rPr lang="en-US" sz="2000" spc="-3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a</a:t>
            </a:r>
            <a:r>
              <a:rPr lang="en-US" sz="2000" spc="-35" dirty="0">
                <a:latin typeface="Arial MT"/>
                <a:cs typeface="Arial MT"/>
              </a:rPr>
              <a:t> </a:t>
            </a:r>
            <a:r>
              <a:rPr lang="en-US" sz="2000" spc="-10" dirty="0">
                <a:latin typeface="Arial MT"/>
                <a:cs typeface="Arial MT"/>
              </a:rPr>
              <a:t>compilation </a:t>
            </a:r>
            <a:r>
              <a:rPr lang="en-US" sz="2000" dirty="0">
                <a:latin typeface="Arial MT"/>
                <a:cs typeface="Arial MT"/>
              </a:rPr>
              <a:t>command,</a:t>
            </a:r>
            <a:r>
              <a:rPr lang="en-US" sz="2000" spc="-5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but</a:t>
            </a:r>
            <a:r>
              <a:rPr lang="en-US" sz="2000" spc="-5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it</a:t>
            </a:r>
            <a:r>
              <a:rPr lang="en-US" sz="2000" spc="-4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could</a:t>
            </a:r>
            <a:r>
              <a:rPr lang="en-US" sz="2000" spc="-5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be</a:t>
            </a:r>
            <a:r>
              <a:rPr lang="en-US" sz="2000" spc="-4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anything</a:t>
            </a:r>
            <a:r>
              <a:rPr lang="en-US" sz="2000" spc="-50" dirty="0">
                <a:latin typeface="Arial MT"/>
                <a:cs typeface="Arial MT"/>
              </a:rPr>
              <a:t> </a:t>
            </a:r>
            <a:r>
              <a:rPr lang="en-US" sz="2000" spc="-20" dirty="0">
                <a:latin typeface="Arial MT"/>
                <a:cs typeface="Arial MT"/>
              </a:rPr>
              <a:t>that </a:t>
            </a:r>
            <a:r>
              <a:rPr lang="en-US" sz="2000" dirty="0">
                <a:latin typeface="Arial MT"/>
                <a:cs typeface="Arial MT"/>
              </a:rPr>
              <a:t>processes</a:t>
            </a:r>
            <a:r>
              <a:rPr lang="en-US" sz="2000" spc="-2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the</a:t>
            </a:r>
            <a:r>
              <a:rPr lang="en-US" sz="2000" spc="-10" dirty="0">
                <a:latin typeface="Arial MT"/>
                <a:cs typeface="Arial MT"/>
              </a:rPr>
              <a:t> dependencies.</a:t>
            </a:r>
            <a:endParaRPr lang="en-US" sz="2000" dirty="0">
              <a:latin typeface="Arial MT"/>
              <a:cs typeface="Arial MT"/>
            </a:endParaRPr>
          </a:p>
        </p:txBody>
      </p:sp>
      <p:pic>
        <p:nvPicPr>
          <p:cNvPr id="5" name="object 5" descr="A compilation command using gcc to link file1.o and file2.o into an executable named my_program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8275" y="2212766"/>
            <a:ext cx="6095999" cy="12001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11299" y="3784600"/>
            <a:ext cx="58121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compile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files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executable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994411"/>
            <a:ext cx="3354070" cy="681989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Makefiles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752600"/>
            <a:ext cx="5339715" cy="488402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69265" indent="-351155">
              <a:lnSpc>
                <a:spcPct val="100000"/>
              </a:lnSpc>
              <a:spcBef>
                <a:spcPts val="385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700" b="1" spc="-5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b="1" spc="-10" dirty="0">
                <a:latin typeface="Arial"/>
                <a:cs typeface="Arial"/>
              </a:rPr>
              <a:t>target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file1.o</a:t>
            </a:r>
            <a:r>
              <a:rPr sz="17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file2.o</a:t>
            </a:r>
            <a:r>
              <a:rPr sz="17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dependencies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the</a:t>
            </a:r>
            <a:endParaRPr sz="17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  <a:spcAft>
                <a:spcPts val="600"/>
              </a:spcAft>
            </a:pP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700" b="1" spc="-46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spc="-10" dirty="0">
                <a:latin typeface="Arial MT"/>
                <a:cs typeface="Arial MT"/>
              </a:rPr>
              <a:t>target.</a:t>
            </a:r>
            <a:endParaRPr sz="1700" dirty="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700" b="1" spc="-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sz="1700" b="1" spc="-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700"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file1.o</a:t>
            </a:r>
            <a:r>
              <a:rPr sz="1700"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file2.o</a:t>
            </a:r>
            <a:r>
              <a:rPr sz="17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25" dirty="0">
                <a:latin typeface="Arial MT"/>
                <a:cs typeface="Arial MT"/>
              </a:rPr>
              <a:t> the</a:t>
            </a:r>
            <a:endParaRPr sz="17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  <a:spcAft>
                <a:spcPts val="600"/>
              </a:spcAft>
            </a:pPr>
            <a:r>
              <a:rPr sz="1700" b="1" dirty="0">
                <a:latin typeface="Arial"/>
                <a:cs typeface="Arial"/>
              </a:rPr>
              <a:t>action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build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target.</a:t>
            </a:r>
            <a:endParaRPr sz="1700" dirty="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sz="17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phony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target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removes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compiled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files.</a:t>
            </a:r>
            <a:endParaRPr sz="17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1700" b="1" dirty="0">
                <a:latin typeface="Arial"/>
                <a:cs typeface="Arial"/>
              </a:rPr>
              <a:t>How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it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works:</a:t>
            </a:r>
            <a:endParaRPr sz="1700" dirty="0">
              <a:latin typeface="Arial"/>
              <a:cs typeface="Arial"/>
            </a:endParaRPr>
          </a:p>
          <a:p>
            <a:pPr marL="469900" marR="5080" indent="-351790">
              <a:lnSpc>
                <a:spcPct val="114999"/>
              </a:lnSpc>
              <a:spcBef>
                <a:spcPts val="1200"/>
              </a:spcBef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1700" dirty="0">
                <a:latin typeface="Arial MT"/>
                <a:cs typeface="Arial MT"/>
              </a:rPr>
              <a:t>When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you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run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z="1700" dirty="0">
                <a:latin typeface="Arial MT"/>
                <a:cs typeface="Arial MT"/>
              </a:rPr>
              <a:t>,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checks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if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7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up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to </a:t>
            </a:r>
            <a:r>
              <a:rPr sz="1700" spc="-10" dirty="0">
                <a:latin typeface="Arial MT"/>
                <a:cs typeface="Arial MT"/>
              </a:rPr>
              <a:t>date.</a:t>
            </a:r>
            <a:endParaRPr sz="1700" dirty="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</a:tabLst>
            </a:pPr>
            <a:r>
              <a:rPr sz="1700" dirty="0">
                <a:latin typeface="Arial MT"/>
                <a:cs typeface="Arial MT"/>
              </a:rPr>
              <a:t>If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any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dependency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(e.g.,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file1.c</a:t>
            </a:r>
            <a:r>
              <a:rPr sz="1700" spc="-10" dirty="0">
                <a:latin typeface="Arial MT"/>
                <a:cs typeface="Arial MT"/>
              </a:rPr>
              <a:t>)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newer</a:t>
            </a:r>
            <a:r>
              <a:rPr sz="1700" spc="-20" dirty="0">
                <a:latin typeface="Arial MT"/>
                <a:cs typeface="Arial MT"/>
              </a:rPr>
              <a:t> than</a:t>
            </a:r>
            <a:endParaRPr sz="17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  <a:spcAft>
                <a:spcPts val="600"/>
              </a:spcAft>
            </a:pP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file1.o</a:t>
            </a:r>
            <a:r>
              <a:rPr sz="1700" spc="-10" dirty="0">
                <a:latin typeface="Arial MT"/>
                <a:cs typeface="Arial MT"/>
              </a:rPr>
              <a:t>,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rebuilds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file1.o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  <a:p>
            <a:pPr marL="469900" marR="306070" indent="-35179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700" dirty="0">
                <a:latin typeface="Arial MT"/>
                <a:cs typeface="Arial MT"/>
              </a:rPr>
              <a:t>If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7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older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than any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sz="17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file,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 runs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the </a:t>
            </a:r>
            <a:r>
              <a:rPr sz="1700" dirty="0">
                <a:latin typeface="Arial MT"/>
                <a:cs typeface="Arial MT"/>
              </a:rPr>
              <a:t>action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create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7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using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700" spc="-2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</p:txBody>
      </p:sp>
      <p:pic>
        <p:nvPicPr>
          <p:cNvPr id="4" name="object 4" descr="A complete Makefile example containing rules to build my_program, compile individual object files, and a clean target to remove build artifacts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8400" y="1869875"/>
            <a:ext cx="6013649" cy="36881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9CD3067-3DF5-4D23-7C00-A41FB0A4FF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90600" y="76200"/>
            <a:ext cx="1381125" cy="39754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270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Makefiles</a:t>
            </a:r>
            <a:endParaRPr kumimoji="0" lang="en-US" sz="2500" b="0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215930"/>
            <a:ext cx="6248400" cy="541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/>
                <a:cs typeface="Arial"/>
              </a:rPr>
              <a:t>Target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600" b="1" dirty="0">
                <a:latin typeface="Arial"/>
                <a:cs typeface="Arial"/>
              </a:rPr>
              <a:t>: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executable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6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built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 </a:t>
            </a:r>
            <a:r>
              <a:rPr sz="1600" b="1" spc="-10" dirty="0" err="1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6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latin typeface="Arial MT"/>
                <a:cs typeface="Arial MT"/>
              </a:rPr>
              <a:t>and</a:t>
            </a:r>
            <a:r>
              <a:rPr lang="en-US" sz="1600" dirty="0">
                <a:latin typeface="Arial MT"/>
                <a:cs typeface="Arial MT"/>
              </a:rPr>
              <a:t> </a:t>
            </a:r>
            <a:r>
              <a:rPr sz="1600" b="1" spc="-10" dirty="0" err="1">
                <a:solidFill>
                  <a:srgbClr val="188037"/>
                </a:solidFill>
                <a:latin typeface="Courier New"/>
                <a:cs typeface="Courier New"/>
              </a:rPr>
              <a:t>functions.o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600" b="1" spc="-10" dirty="0">
                <a:latin typeface="Arial"/>
                <a:cs typeface="Arial"/>
              </a:rPr>
              <a:t>Dependencies:</a:t>
            </a:r>
            <a:endParaRPr sz="160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6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depends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object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6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latin typeface="Arial MT"/>
                <a:cs typeface="Arial MT"/>
              </a:rPr>
              <a:t>and</a:t>
            </a:r>
            <a:endParaRPr sz="16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functions.o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6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depends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z="16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functions.h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functions.o</a:t>
            </a:r>
            <a:r>
              <a:rPr sz="16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depends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functions.c</a:t>
            </a:r>
            <a:r>
              <a:rPr sz="16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functions.h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600" b="1" dirty="0">
                <a:latin typeface="Arial"/>
                <a:cs typeface="Arial"/>
              </a:rPr>
              <a:t>Actions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(commands):</a:t>
            </a:r>
            <a:endParaRPr sz="160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600" b="1" spc="-4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c</a:t>
            </a:r>
            <a:r>
              <a:rPr sz="1600" b="1" spc="-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z="16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into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600" b="1" spc="-3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c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functions.c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functions.c</a:t>
            </a:r>
            <a:r>
              <a:rPr sz="16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latin typeface="Arial MT"/>
                <a:cs typeface="Arial MT"/>
              </a:rPr>
              <a:t>into</a:t>
            </a:r>
            <a:endParaRPr sz="16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functions.o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469900" marR="5080" indent="-34417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6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sz="16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6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6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functions.o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Links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object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create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final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executable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600" b="1" dirty="0">
                <a:latin typeface="Arial"/>
                <a:cs typeface="Arial"/>
              </a:rPr>
              <a:t>Phony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target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sz="1600" b="1" spc="-10" dirty="0">
                <a:latin typeface="Arial"/>
                <a:cs typeface="Arial"/>
              </a:rPr>
              <a:t>:</a:t>
            </a:r>
            <a:endParaRPr sz="1600" dirty="0">
              <a:latin typeface="Arial"/>
              <a:cs typeface="Arial"/>
            </a:endParaRPr>
          </a:p>
          <a:p>
            <a:pPr marL="12700" marR="206375">
              <a:lnSpc>
                <a:spcPct val="114999"/>
              </a:lnSpc>
              <a:spcBef>
                <a:spcPts val="600"/>
              </a:spcBef>
            </a:pP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remove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(object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executable)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by </a:t>
            </a:r>
            <a:r>
              <a:rPr sz="1600" dirty="0">
                <a:latin typeface="Arial MT"/>
                <a:cs typeface="Arial MT"/>
              </a:rPr>
              <a:t>typing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z="1600" b="1" spc="-6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2" name="object 2" descr="A documented Makefile with specific rules for main.o and functions.o, including a phony clean targe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7850" y="1982940"/>
            <a:ext cx="4864015" cy="44264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E4AD1EE-A46C-DCA0-E5D7-D38C9656A6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90600" y="76200"/>
            <a:ext cx="1381125" cy="39754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270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Makefiles</a:t>
            </a:r>
            <a:endParaRPr kumimoji="0" lang="en-US" sz="2500" b="0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26F0D161-CFC7-1EB1-690D-FE0D354EB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1215930"/>
            <a:ext cx="6248400" cy="541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/>
                <a:cs typeface="Arial"/>
              </a:rPr>
              <a:t>Target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600" b="1" dirty="0">
                <a:latin typeface="Arial"/>
                <a:cs typeface="Arial"/>
              </a:rPr>
              <a:t>: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executable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6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built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 </a:t>
            </a:r>
            <a:r>
              <a:rPr sz="1600" b="1" spc="-10" dirty="0" err="1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6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latin typeface="Arial MT"/>
                <a:cs typeface="Arial MT"/>
              </a:rPr>
              <a:t>and</a:t>
            </a:r>
            <a:r>
              <a:rPr lang="en-US" sz="1600" dirty="0">
                <a:latin typeface="Arial MT"/>
                <a:cs typeface="Arial MT"/>
              </a:rPr>
              <a:t> </a:t>
            </a:r>
            <a:r>
              <a:rPr sz="1600" b="1" spc="-10" dirty="0" err="1">
                <a:solidFill>
                  <a:srgbClr val="188037"/>
                </a:solidFill>
                <a:latin typeface="Courier New"/>
                <a:cs typeface="Courier New"/>
              </a:rPr>
              <a:t>functions.o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600" b="1" spc="-10" dirty="0">
                <a:latin typeface="Arial"/>
                <a:cs typeface="Arial"/>
              </a:rPr>
              <a:t>Dependencies:</a:t>
            </a:r>
            <a:endParaRPr sz="160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6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depends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object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6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latin typeface="Arial MT"/>
                <a:cs typeface="Arial MT"/>
              </a:rPr>
              <a:t>and</a:t>
            </a:r>
            <a:endParaRPr sz="16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functions.o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6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depends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z="16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functions.h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functions.o</a:t>
            </a:r>
            <a:r>
              <a:rPr sz="16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depends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functions.c</a:t>
            </a:r>
            <a:r>
              <a:rPr sz="16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functions.h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600" b="1" dirty="0">
                <a:latin typeface="Arial"/>
                <a:cs typeface="Arial"/>
              </a:rPr>
              <a:t>Actions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(commands):</a:t>
            </a:r>
            <a:endParaRPr sz="160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600" b="1" spc="-4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c</a:t>
            </a:r>
            <a:r>
              <a:rPr sz="1600" b="1" spc="-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z="16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into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600" b="1" spc="-3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c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functions.c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functions.c</a:t>
            </a:r>
            <a:r>
              <a:rPr sz="16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latin typeface="Arial MT"/>
                <a:cs typeface="Arial MT"/>
              </a:rPr>
              <a:t>into</a:t>
            </a:r>
            <a:endParaRPr sz="16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functions.o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469900" marR="5080" indent="-34417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6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sz="16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6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6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functions.o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Links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object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create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final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executable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600" b="1" dirty="0">
                <a:latin typeface="Arial"/>
                <a:cs typeface="Arial"/>
              </a:rPr>
              <a:t>Phony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target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sz="1600" b="1" spc="-10" dirty="0">
                <a:latin typeface="Arial"/>
                <a:cs typeface="Arial"/>
              </a:rPr>
              <a:t>:</a:t>
            </a:r>
            <a:endParaRPr sz="1600" dirty="0">
              <a:latin typeface="Arial"/>
              <a:cs typeface="Arial"/>
            </a:endParaRPr>
          </a:p>
          <a:p>
            <a:pPr marL="12700" marR="206375">
              <a:lnSpc>
                <a:spcPct val="114999"/>
              </a:lnSpc>
              <a:spcBef>
                <a:spcPts val="600"/>
              </a:spcBef>
            </a:pP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remove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(object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executable)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by </a:t>
            </a:r>
            <a:r>
              <a:rPr sz="1600" dirty="0">
                <a:latin typeface="Arial MT"/>
                <a:cs typeface="Arial MT"/>
              </a:rPr>
              <a:t>typing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z="1600" b="1" spc="-6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7850" y="1982940"/>
            <a:ext cx="4864015" cy="4426457"/>
          </a:xfrm>
          <a:prstGeom prst="rect">
            <a:avLst/>
          </a:prstGeom>
        </p:spPr>
      </p:pic>
      <p:sp>
        <p:nvSpPr>
          <p:cNvPr id="8" name="objec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692374" y="1935725"/>
            <a:ext cx="8694420" cy="3705860"/>
          </a:xfrm>
          <a:prstGeom prst="rect">
            <a:avLst/>
          </a:prstGeom>
          <a:solidFill>
            <a:srgbClr val="CEE1F3"/>
          </a:solidFill>
          <a:ln w="9524">
            <a:solidFill>
              <a:srgbClr val="0F20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3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60020" marR="158115" algn="ctr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simple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Makefile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automates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program.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necessary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recompiled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changes, </a:t>
            </a:r>
            <a:r>
              <a:rPr sz="1800" dirty="0">
                <a:latin typeface="Arial MT"/>
                <a:cs typeface="Arial MT"/>
              </a:rPr>
              <a:t>making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build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efficient.</a:t>
            </a:r>
            <a:endParaRPr sz="18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775"/>
              </a:spcBef>
            </a:pPr>
            <a:r>
              <a:rPr sz="2500" b="1" spc="-20" dirty="0">
                <a:latin typeface="Arial"/>
                <a:cs typeface="Arial"/>
              </a:rPr>
              <a:t>make</a:t>
            </a:r>
            <a:endParaRPr sz="2500" dirty="0">
              <a:latin typeface="Arial"/>
              <a:cs typeface="Arial"/>
            </a:endParaRPr>
          </a:p>
          <a:p>
            <a:pPr marL="3296920" marR="3289935" algn="ctr">
              <a:lnSpc>
                <a:spcPct val="100000"/>
              </a:lnSpc>
            </a:pPr>
            <a:r>
              <a:rPr sz="2500" b="1" spc="-10" dirty="0">
                <a:latin typeface="Arial"/>
                <a:cs typeface="Arial"/>
              </a:rPr>
              <a:t>./my_program </a:t>
            </a:r>
            <a:r>
              <a:rPr sz="2500" b="1" dirty="0">
                <a:latin typeface="Arial"/>
                <a:cs typeface="Arial"/>
              </a:rPr>
              <a:t>make</a:t>
            </a:r>
            <a:r>
              <a:rPr sz="2500" b="1" spc="-20" dirty="0">
                <a:latin typeface="Arial"/>
                <a:cs typeface="Arial"/>
              </a:rPr>
              <a:t> </a:t>
            </a:r>
            <a:r>
              <a:rPr sz="2500" b="1" spc="-10" dirty="0">
                <a:latin typeface="Arial"/>
                <a:cs typeface="Arial"/>
              </a:rPr>
              <a:t>clean</a:t>
            </a:r>
            <a:endParaRPr sz="2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0375" y="1143000"/>
            <a:ext cx="3354070" cy="681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Makefiles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Common</a:t>
            </a:r>
            <a:r>
              <a:rPr sz="2000" spc="-114" dirty="0"/>
              <a:t> </a:t>
            </a:r>
            <a:r>
              <a:rPr sz="2000" spc="-10" dirty="0"/>
              <a:t>Targets</a:t>
            </a:r>
            <a:endParaRPr sz="2000" dirty="0"/>
          </a:p>
        </p:txBody>
      </p:sp>
      <p:sp>
        <p:nvSpPr>
          <p:cNvPr id="4" name="object 4"/>
          <p:cNvSpPr txBox="1"/>
          <p:nvPr/>
        </p:nvSpPr>
        <p:spPr>
          <a:xfrm>
            <a:off x="410375" y="2057400"/>
            <a:ext cx="4284980" cy="3128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all</a:t>
            </a:r>
            <a:r>
              <a:rPr sz="1800" spc="-59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Arial MT"/>
                <a:cs typeface="Arial MT"/>
              </a:rPr>
              <a:t>Target</a:t>
            </a: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14000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all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target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phony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target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acts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default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target.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that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(without</a:t>
            </a:r>
            <a:r>
              <a:rPr sz="1800" spc="-10" dirty="0">
                <a:latin typeface="Arial MT"/>
                <a:cs typeface="Arial MT"/>
              </a:rPr>
              <a:t> specifying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target),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default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building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all</a:t>
            </a:r>
            <a:r>
              <a:rPr sz="1800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Arial MT"/>
                <a:cs typeface="Arial MT"/>
              </a:rPr>
              <a:t>target.</a:t>
            </a:r>
            <a:endParaRPr sz="1800" dirty="0">
              <a:latin typeface="Arial MT"/>
              <a:cs typeface="Arial MT"/>
            </a:endParaRPr>
          </a:p>
          <a:p>
            <a:pPr marL="12700" marR="283845">
              <a:lnSpc>
                <a:spcPct val="114000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case,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all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depends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target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the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800" b="1" spc="-59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executable is </a:t>
            </a:r>
            <a:r>
              <a:rPr sz="1800" spc="-10" dirty="0">
                <a:latin typeface="Arial MT"/>
                <a:cs typeface="Arial MT"/>
              </a:rPr>
              <a:t>built.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2" name="object 2" descr="A structured Makefile featuring an all target, specific build rules for file_utils.o, and .PHONY declarations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0425" y="1106652"/>
            <a:ext cx="6440975" cy="547482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0375" y="1123479"/>
            <a:ext cx="218042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 err="1"/>
              <a:t>Makefiles</a:t>
            </a:r>
            <a:br>
              <a:rPr lang="en-US" spc="-10" dirty="0"/>
            </a:br>
            <a:r>
              <a:rPr lang="en-US" sz="2000" dirty="0"/>
              <a:t>Common</a:t>
            </a:r>
            <a:r>
              <a:rPr lang="en-US" sz="2000" spc="-114" dirty="0"/>
              <a:t> </a:t>
            </a:r>
            <a:r>
              <a:rPr lang="en-US" sz="2000" spc="-10" dirty="0"/>
              <a:t>Targets</a:t>
            </a:r>
            <a:endParaRPr sz="20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10375" y="1905000"/>
            <a:ext cx="4720590" cy="4695003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2700">
              <a:lnSpc>
                <a:spcPct val="114000"/>
              </a:lnSpc>
            </a:pP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latin typeface="Arial MT"/>
                <a:cs typeface="Arial MT"/>
              </a:rPr>
              <a:t>Target</a:t>
            </a:r>
            <a:endParaRPr sz="1600" dirty="0">
              <a:latin typeface="Arial MT"/>
              <a:cs typeface="Arial MT"/>
            </a:endParaRPr>
          </a:p>
          <a:p>
            <a:pPr marL="12700" marR="5080">
              <a:lnSpc>
                <a:spcPct val="114000"/>
              </a:lnSpc>
              <a:spcBef>
                <a:spcPts val="1200"/>
              </a:spcBef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target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phony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target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removes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all </a:t>
            </a:r>
            <a:r>
              <a:rPr sz="1600" dirty="0">
                <a:latin typeface="Arial MT"/>
                <a:cs typeface="Arial MT"/>
              </a:rPr>
              <a:t>generated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such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object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*.o</a:t>
            </a:r>
            <a:r>
              <a:rPr sz="1600" dirty="0">
                <a:latin typeface="Arial MT"/>
                <a:cs typeface="Arial MT"/>
              </a:rPr>
              <a:t>)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my_program</a:t>
            </a:r>
            <a:r>
              <a:rPr sz="1600" b="1" spc="-46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latin typeface="Arial MT"/>
                <a:cs typeface="Arial MT"/>
              </a:rPr>
              <a:t>executable.</a:t>
            </a:r>
            <a:endParaRPr sz="1600" dirty="0">
              <a:latin typeface="Arial MT"/>
              <a:cs typeface="Arial MT"/>
            </a:endParaRPr>
          </a:p>
          <a:p>
            <a:pPr marL="12700" marR="240665">
              <a:lnSpc>
                <a:spcPct val="114000"/>
              </a:lnSpc>
              <a:spcBef>
                <a:spcPts val="1200"/>
              </a:spcBef>
            </a:pP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useful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clean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working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directory, </a:t>
            </a:r>
            <a:r>
              <a:rPr sz="1600" dirty="0">
                <a:latin typeface="Arial MT"/>
                <a:cs typeface="Arial MT"/>
              </a:rPr>
              <a:t>especially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when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want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recompile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everything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scratch.</a:t>
            </a:r>
            <a:endParaRPr sz="1600" dirty="0">
              <a:latin typeface="Arial MT"/>
              <a:cs typeface="Arial MT"/>
            </a:endParaRPr>
          </a:p>
          <a:p>
            <a:pPr marL="12700" marR="45720">
              <a:lnSpc>
                <a:spcPct val="114000"/>
              </a:lnSpc>
              <a:spcBef>
                <a:spcPts val="1200"/>
              </a:spcBef>
            </a:pP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all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phony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targets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because</a:t>
            </a:r>
            <a:r>
              <a:rPr sz="1600" spc="-20" dirty="0">
                <a:latin typeface="Arial MT"/>
                <a:cs typeface="Arial MT"/>
              </a:rPr>
              <a:t> they </a:t>
            </a:r>
            <a:r>
              <a:rPr sz="1600" dirty="0">
                <a:latin typeface="Arial MT"/>
                <a:cs typeface="Arial MT"/>
              </a:rPr>
              <a:t>don’t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correspond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actual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will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create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update.</a:t>
            </a:r>
            <a:r>
              <a:rPr sz="1600" spc="-9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Adding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.PHONY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tells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these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are </a:t>
            </a:r>
            <a:r>
              <a:rPr sz="1600" dirty="0">
                <a:latin typeface="Arial MT"/>
                <a:cs typeface="Arial MT"/>
              </a:rPr>
              <a:t>not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but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labels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commands.</a:t>
            </a:r>
            <a:endParaRPr sz="1600" dirty="0">
              <a:latin typeface="Arial MT"/>
              <a:cs typeface="Arial MT"/>
            </a:endParaRPr>
          </a:p>
          <a:p>
            <a:pPr marL="12700" marR="31115">
              <a:lnSpc>
                <a:spcPct val="114000"/>
              </a:lnSpc>
              <a:spcBef>
                <a:spcPts val="1200"/>
              </a:spcBef>
            </a:pP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ensures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doesn't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get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confused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0" dirty="0">
                <a:latin typeface="Arial MT"/>
                <a:cs typeface="Arial MT"/>
              </a:rPr>
              <a:t> file </a:t>
            </a:r>
            <a:r>
              <a:rPr sz="1600" dirty="0">
                <a:latin typeface="Arial MT"/>
                <a:cs typeface="Arial MT"/>
              </a:rPr>
              <a:t>named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all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happens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exist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spc="-10" dirty="0">
                <a:latin typeface="Arial MT"/>
                <a:cs typeface="Arial MT"/>
              </a:rPr>
              <a:t>directory.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0425" y="1106652"/>
            <a:ext cx="6440975" cy="54748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332342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 err="1"/>
              <a:t>Makefiles</a:t>
            </a:r>
            <a:br>
              <a:rPr lang="en-US" spc="-10" dirty="0"/>
            </a:br>
            <a:r>
              <a:rPr lang="en-US" sz="2000" spc="-10" dirty="0"/>
              <a:t>Variables</a:t>
            </a:r>
            <a:r>
              <a:rPr lang="en-US" sz="2000" spc="-65" dirty="0"/>
              <a:t> </a:t>
            </a:r>
            <a:r>
              <a:rPr lang="en-US" sz="2000" dirty="0"/>
              <a:t>and</a:t>
            </a:r>
            <a:r>
              <a:rPr lang="en-US" sz="2000" spc="-60" dirty="0"/>
              <a:t> </a:t>
            </a:r>
            <a:r>
              <a:rPr lang="en-US" sz="2000" dirty="0"/>
              <a:t>Pattern</a:t>
            </a:r>
            <a:r>
              <a:rPr lang="en-US" sz="2000" spc="-65" dirty="0"/>
              <a:t> </a:t>
            </a:r>
            <a:r>
              <a:rPr lang="en-US" sz="2000" spc="-10" dirty="0"/>
              <a:t>Rules</a:t>
            </a:r>
            <a:endParaRPr sz="20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10375" y="2292303"/>
            <a:ext cx="6729730" cy="42682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1200"/>
              </a:spcBef>
            </a:pPr>
            <a:r>
              <a:rPr sz="1600" b="1" spc="-10" dirty="0">
                <a:latin typeface="Arial"/>
                <a:cs typeface="Arial"/>
              </a:rPr>
              <a:t>Variables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Makefiles</a:t>
            </a:r>
            <a:endParaRPr sz="1600" dirty="0">
              <a:latin typeface="Arial"/>
              <a:cs typeface="Arial"/>
            </a:endParaRPr>
          </a:p>
          <a:p>
            <a:pPr marL="12700" marR="67310">
              <a:lnSpc>
                <a:spcPct val="114000"/>
              </a:lnSpc>
              <a:spcBef>
                <a:spcPts val="1200"/>
              </a:spcBef>
            </a:pPr>
            <a:r>
              <a:rPr sz="1600" spc="-10" dirty="0">
                <a:latin typeface="Arial MT"/>
                <a:cs typeface="Arial MT"/>
              </a:rPr>
              <a:t>Variables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allow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store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values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(like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commands,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flags,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file </a:t>
            </a:r>
            <a:r>
              <a:rPr sz="1600" dirty="0">
                <a:latin typeface="Arial MT"/>
                <a:cs typeface="Arial MT"/>
              </a:rPr>
              <a:t>lists,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etc.)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reuse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them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throughout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Makefile.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makes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easier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35" dirty="0">
                <a:latin typeface="Arial MT"/>
                <a:cs typeface="Arial MT"/>
              </a:rPr>
              <a:t>to </a:t>
            </a:r>
            <a:r>
              <a:rPr sz="1600" dirty="0">
                <a:latin typeface="Arial MT"/>
                <a:cs typeface="Arial MT"/>
              </a:rPr>
              <a:t>change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value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place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rather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multiple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locations.</a:t>
            </a:r>
            <a:endParaRPr sz="1600" dirty="0">
              <a:latin typeface="Arial MT"/>
              <a:cs typeface="Arial MT"/>
            </a:endParaRPr>
          </a:p>
          <a:p>
            <a:pPr marL="469900" marR="363220" indent="-351790">
              <a:lnSpc>
                <a:spcPct val="114000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469900" algn="l"/>
              </a:tabLst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CC</a:t>
            </a:r>
            <a:r>
              <a:rPr sz="1600"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=</a:t>
            </a:r>
            <a:r>
              <a:rPr sz="16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defines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variable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represent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compiler </a:t>
            </a:r>
            <a:r>
              <a:rPr sz="1600" spc="-20" dirty="0">
                <a:latin typeface="Arial MT"/>
                <a:cs typeface="Arial MT"/>
              </a:rPr>
              <a:t>(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600" spc="-5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case).</a:t>
            </a:r>
            <a:endParaRPr sz="1600" dirty="0">
              <a:latin typeface="Arial MT"/>
              <a:cs typeface="Arial MT"/>
            </a:endParaRPr>
          </a:p>
          <a:p>
            <a:pPr marL="469900" marR="448309" indent="-351790">
              <a:lnSpc>
                <a:spcPct val="114000"/>
              </a:lnSpc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469900" algn="l"/>
              </a:tabLst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CFLAGS</a:t>
            </a:r>
            <a:r>
              <a:rPr sz="1600"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=</a:t>
            </a:r>
            <a:r>
              <a:rPr sz="16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Wall</a:t>
            </a:r>
            <a:r>
              <a:rPr sz="16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g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defines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CFLAGS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variable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dirty="0">
                <a:latin typeface="Arial MT"/>
                <a:cs typeface="Arial MT"/>
              </a:rPr>
              <a:t>compilation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flags.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-Wall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enables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warnings,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600" b="1" spc="-50" dirty="0">
                <a:solidFill>
                  <a:srgbClr val="188037"/>
                </a:solidFill>
                <a:latin typeface="Courier New"/>
                <a:cs typeface="Courier New"/>
              </a:rPr>
              <a:t>g</a:t>
            </a:r>
            <a:r>
              <a:rPr sz="1600" spc="-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includes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debugging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information.</a:t>
            </a:r>
            <a:endParaRPr sz="1600" dirty="0">
              <a:latin typeface="Arial MT"/>
              <a:cs typeface="Arial MT"/>
            </a:endParaRPr>
          </a:p>
          <a:p>
            <a:pPr marL="469900" marR="37465" indent="-351790">
              <a:lnSpc>
                <a:spcPct val="114000"/>
              </a:lnSpc>
              <a:buClr>
                <a:srgbClr val="000000"/>
              </a:buClr>
              <a:buFont typeface="Arial"/>
              <a:buChar char="●"/>
              <a:tabLst>
                <a:tab pos="469900" algn="l"/>
              </a:tabLst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OBJ</a:t>
            </a:r>
            <a:r>
              <a:rPr sz="1600"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=</a:t>
            </a:r>
            <a:r>
              <a:rPr sz="1600"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600" b="1" spc="-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file_utils.o</a:t>
            </a:r>
            <a:r>
              <a:rPr sz="1600" spc="-10" dirty="0">
                <a:latin typeface="Arial MT"/>
                <a:cs typeface="Arial MT"/>
              </a:rPr>
              <a:t>: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variable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stores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list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object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needed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build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final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program.</a:t>
            </a:r>
            <a:endParaRPr sz="1600" dirty="0">
              <a:latin typeface="Arial MT"/>
              <a:cs typeface="Arial MT"/>
            </a:endParaRPr>
          </a:p>
          <a:p>
            <a:pPr marL="12700" marR="5080">
              <a:lnSpc>
                <a:spcPct val="114000"/>
              </a:lnSpc>
              <a:spcBef>
                <a:spcPts val="1200"/>
              </a:spcBef>
            </a:pPr>
            <a:r>
              <a:rPr sz="1600" dirty="0">
                <a:latin typeface="Arial MT"/>
                <a:cs typeface="Arial MT"/>
              </a:rPr>
              <a:t>Instead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hardcoding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flags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everywhere,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dirty="0">
                <a:latin typeface="Arial MT"/>
                <a:cs typeface="Arial MT"/>
              </a:rPr>
              <a:t>variables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$(CC)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$(CFLAGS)</a:t>
            </a:r>
            <a:r>
              <a:rPr sz="1600" spc="-10" dirty="0">
                <a:latin typeface="Arial MT"/>
                <a:cs typeface="Arial MT"/>
              </a:rPr>
              <a:t>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making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easier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maintain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modify.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2" name="object 2" descr="An advanced Makefile utilizing variables (CC, CFLAGS, OBJ) and pattern rules to automate the build process for better maintainability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2275" y="863625"/>
            <a:ext cx="4214374" cy="58648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066800"/>
            <a:ext cx="355202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 err="1"/>
              <a:t>Makefiles</a:t>
            </a:r>
            <a:br>
              <a:rPr lang="en-US" spc="-10" dirty="0"/>
            </a:br>
            <a:r>
              <a:rPr lang="en-US" sz="2000" spc="-10" dirty="0"/>
              <a:t>Variables</a:t>
            </a:r>
            <a:r>
              <a:rPr lang="en-US" sz="2000" spc="-65" dirty="0"/>
              <a:t> </a:t>
            </a:r>
            <a:r>
              <a:rPr lang="en-US" sz="2000" dirty="0"/>
              <a:t>and</a:t>
            </a:r>
            <a:r>
              <a:rPr lang="en-US" sz="2000" spc="-60" dirty="0"/>
              <a:t> </a:t>
            </a:r>
            <a:r>
              <a:rPr lang="en-US" sz="2000" dirty="0"/>
              <a:t>Pattern</a:t>
            </a:r>
            <a:r>
              <a:rPr lang="en-US" sz="2000" spc="-65" dirty="0"/>
              <a:t> </a:t>
            </a:r>
            <a:r>
              <a:rPr lang="en-US" sz="2000" spc="-10" dirty="0"/>
              <a:t>Rules</a:t>
            </a:r>
            <a:endParaRPr sz="20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09000" y="1772912"/>
            <a:ext cx="11508700" cy="4961102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195"/>
              </a:spcBef>
            </a:pPr>
            <a:r>
              <a:rPr sz="1800" b="1" dirty="0">
                <a:latin typeface="Arial"/>
                <a:cs typeface="Arial"/>
              </a:rPr>
              <a:t>Pattern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Rules</a:t>
            </a:r>
            <a:endParaRPr sz="1800" dirty="0">
              <a:latin typeface="Arial"/>
              <a:cs typeface="Arial"/>
            </a:endParaRPr>
          </a:p>
          <a:p>
            <a:pPr marL="113664" marR="6468110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Pattern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rules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rules </a:t>
            </a:r>
            <a:br>
              <a:rPr lang="en-US" sz="1800" spc="-10" dirty="0">
                <a:latin typeface="Arial MT"/>
                <a:cs typeface="Arial MT"/>
              </a:rPr>
            </a:b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multiple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files.</a:t>
            </a:r>
            <a:endParaRPr sz="1800" dirty="0">
              <a:latin typeface="Arial MT"/>
              <a:cs typeface="Arial MT"/>
            </a:endParaRPr>
          </a:p>
          <a:p>
            <a:pPr marL="113664" marR="6458585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%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symbol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wildcard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matches </a:t>
            </a:r>
            <a:br>
              <a:rPr lang="en-US" sz="1800" spc="-10" dirty="0">
                <a:latin typeface="Arial MT"/>
                <a:cs typeface="Arial MT"/>
              </a:rPr>
            </a:b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string.</a:t>
            </a:r>
            <a:endParaRPr sz="1800" dirty="0">
              <a:latin typeface="Arial MT"/>
              <a:cs typeface="Arial MT"/>
            </a:endParaRPr>
          </a:p>
          <a:p>
            <a:pPr marL="469900" marR="397510" indent="-351790">
              <a:lnSpc>
                <a:spcPct val="114999"/>
              </a:lnSpc>
              <a:spcBef>
                <a:spcPts val="1085"/>
              </a:spcBef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469900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%.o:</a:t>
            </a:r>
            <a:r>
              <a:rPr b="1" spc="-10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%.c</a:t>
            </a:r>
            <a:r>
              <a:rPr dirty="0">
                <a:latin typeface="Arial MT"/>
                <a:cs typeface="Arial MT"/>
              </a:rPr>
              <a:t>: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pattern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rule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says,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"for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every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file,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there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should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corresponding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.c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same</a:t>
            </a:r>
            <a:r>
              <a:rPr lang="en-US"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name."</a:t>
            </a:r>
            <a:endParaRPr dirty="0">
              <a:latin typeface="Arial MT"/>
              <a:cs typeface="Arial MT"/>
            </a:endParaRPr>
          </a:p>
          <a:p>
            <a:pPr marL="926465" lvl="1" indent="-351155">
              <a:lnSpc>
                <a:spcPct val="100000"/>
              </a:lnSpc>
              <a:spcBef>
                <a:spcPts val="285"/>
              </a:spcBef>
              <a:buChar char="○"/>
              <a:tabLst>
                <a:tab pos="926465" algn="l"/>
              </a:tabLst>
            </a:pPr>
            <a:r>
              <a:rPr dirty="0">
                <a:latin typeface="Arial MT"/>
                <a:cs typeface="Arial MT"/>
              </a:rPr>
              <a:t>For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example,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will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generated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from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dirty="0">
                <a:latin typeface="Arial MT"/>
                <a:cs typeface="Arial MT"/>
              </a:rPr>
              <a:t>,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file_utils.o</a:t>
            </a:r>
            <a:r>
              <a:rPr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will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generated</a:t>
            </a:r>
            <a:r>
              <a:rPr spc="-20" dirty="0">
                <a:latin typeface="Arial MT"/>
                <a:cs typeface="Arial MT"/>
              </a:rPr>
              <a:t> from</a:t>
            </a:r>
            <a:endParaRPr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290"/>
              </a:spcBef>
              <a:spcAft>
                <a:spcPts val="600"/>
              </a:spcAft>
            </a:pP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file_utils.c</a:t>
            </a:r>
            <a:r>
              <a:rPr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Clr>
                <a:srgbClr val="000000"/>
              </a:buClr>
              <a:buFont typeface="Arial"/>
              <a:buChar char="●"/>
              <a:tabLst>
                <a:tab pos="469265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$&lt;</a:t>
            </a:r>
            <a:r>
              <a:rPr dirty="0">
                <a:latin typeface="Arial MT"/>
                <a:cs typeface="Arial MT"/>
              </a:rPr>
              <a:t>:</a:t>
            </a:r>
            <a:r>
              <a:rPr spc="-8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automatic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variable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refers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first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dependency,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which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.c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case.</a:t>
            </a:r>
            <a:r>
              <a:rPr spc="-30" dirty="0">
                <a:latin typeface="Arial MT"/>
                <a:cs typeface="Arial MT"/>
              </a:rPr>
              <a:t> </a:t>
            </a:r>
            <a:br>
              <a:rPr lang="en-US" spc="-30" dirty="0">
                <a:latin typeface="Arial MT"/>
                <a:cs typeface="Arial MT"/>
              </a:rPr>
            </a:br>
            <a:r>
              <a:rPr dirty="0">
                <a:latin typeface="Arial MT"/>
                <a:cs typeface="Arial MT"/>
              </a:rPr>
              <a:t>So,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when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compiling</a:t>
            </a:r>
            <a:r>
              <a:rPr lang="en-US" spc="-10" dirty="0">
                <a:latin typeface="Arial MT"/>
                <a:cs typeface="Arial MT"/>
              </a:rPr>
              <a:t> </a:t>
            </a:r>
            <a:r>
              <a:rPr b="1" dirty="0" err="1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b="1" dirty="0">
                <a:latin typeface="Arial MT"/>
                <a:cs typeface="Arial MT"/>
              </a:rPr>
              <a:t>,</a:t>
            </a:r>
            <a:r>
              <a:rPr b="1" spc="-60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$&lt;</a:t>
            </a:r>
            <a:r>
              <a:rPr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would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12700" marR="124460">
              <a:lnSpc>
                <a:spcPct val="114999"/>
              </a:lnSpc>
              <a:spcBef>
                <a:spcPts val="1200"/>
              </a:spcBef>
            </a:pPr>
            <a:r>
              <a:rPr dirty="0">
                <a:latin typeface="Arial MT"/>
                <a:cs typeface="Arial MT"/>
              </a:rPr>
              <a:t>This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pattern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rule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will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automatically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apply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any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.c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project,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without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need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write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separate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compilation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rules</a:t>
            </a:r>
            <a:r>
              <a:rPr spc="-25" dirty="0">
                <a:latin typeface="Arial MT"/>
                <a:cs typeface="Arial MT"/>
              </a:rPr>
              <a:t> for </a:t>
            </a:r>
            <a:r>
              <a:rPr dirty="0">
                <a:latin typeface="Arial MT"/>
                <a:cs typeface="Arial MT"/>
              </a:rPr>
              <a:t>each</a:t>
            </a:r>
            <a:r>
              <a:rPr spc="-20" dirty="0">
                <a:latin typeface="Arial MT"/>
                <a:cs typeface="Arial MT"/>
              </a:rPr>
              <a:t> one.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3" name="object 3" descr="A pattern rule example using variables (CC, CFLAGS) and the automatic variable $&lt; to compile any .c file into a .o file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2242059"/>
            <a:ext cx="6483700" cy="14281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204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2143</Words>
  <Application>Microsoft Office PowerPoint</Application>
  <PresentationFormat>Widescreen</PresentationFormat>
  <Paragraphs>167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MT</vt:lpstr>
      <vt:lpstr>Courier New</vt:lpstr>
      <vt:lpstr>Georgia</vt:lpstr>
      <vt:lpstr>Times New Roman</vt:lpstr>
      <vt:lpstr>Office Theme</vt:lpstr>
      <vt:lpstr>CSC 362: System Programming</vt:lpstr>
      <vt:lpstr>Status Check</vt:lpstr>
      <vt:lpstr>Multi-File C Projects Compiling Multi-File Projects</vt:lpstr>
      <vt:lpstr>Multi-File C Projects Compiling Multi-File Projects</vt:lpstr>
      <vt:lpstr>Multi-File C Projects Source Files and Header Files</vt:lpstr>
      <vt:lpstr>Multi-File C Projects Object Files</vt:lpstr>
      <vt:lpstr>Multi-File C Projects Object Files</vt:lpstr>
      <vt:lpstr>Multi-File C Projects Dependency</vt:lpstr>
      <vt:lpstr>Multi-File C Projects Dependency Tracking</vt:lpstr>
      <vt:lpstr>Makefile Tools</vt:lpstr>
      <vt:lpstr>Makefiles Targets</vt:lpstr>
      <vt:lpstr>Makefiles Dependencies</vt:lpstr>
      <vt:lpstr>Makefiles Actions</vt:lpstr>
      <vt:lpstr>Makefiles</vt:lpstr>
      <vt:lpstr>Makefiles</vt:lpstr>
      <vt:lpstr>Makefiles</vt:lpstr>
      <vt:lpstr>Makefiles Common Targets</vt:lpstr>
      <vt:lpstr>Makefiles Common Targets</vt:lpstr>
      <vt:lpstr>Makefiles Variables and Pattern Rules</vt:lpstr>
      <vt:lpstr>Makefiles Variables and Pattern Rules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CSC362 - Lecture 8.pptx</dc:title>
  <cp:lastModifiedBy>Richard Johnson</cp:lastModifiedBy>
  <cp:revision>50</cp:revision>
  <dcterms:created xsi:type="dcterms:W3CDTF">2026-01-14T00:58:50Z</dcterms:created>
  <dcterms:modified xsi:type="dcterms:W3CDTF">2026-02-10T21:48:30Z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2026-01-14T00:00:00Z</vt:filetime>
  </property>
</Properties>
</file>