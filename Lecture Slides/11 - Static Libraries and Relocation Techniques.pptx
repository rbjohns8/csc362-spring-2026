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93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677" autoAdjust="0"/>
  </p:normalViewPr>
  <p:slideViewPr>
    <p:cSldViewPr>
      <p:cViewPr varScale="1">
        <p:scale>
          <a:sx n="61" d="100"/>
          <a:sy n="61" d="100"/>
        </p:scale>
        <p:origin x="141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63B73A-DBAC-4CA0-B0DA-9A4B6CFE0D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1C18F-566C-4A85-8022-99BE34D7F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43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Concept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A static library is a collection of precompiled object files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lang="en-US" dirty="0"/>
              <a:t>) bundled into a single archive file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.a</a:t>
            </a:r>
            <a:r>
              <a:rPr lang="en-US" dirty="0"/>
              <a:t> on Unix/Linux 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.lib</a:t>
            </a:r>
            <a:r>
              <a:rPr lang="en-US" dirty="0"/>
              <a:t> on Windows).</a:t>
            </a:r>
          </a:p>
          <a:p>
            <a:endParaRPr lang="en-US" dirty="0"/>
          </a:p>
          <a:p>
            <a:r>
              <a:rPr lang="en-US" b="1" u="sng" dirty="0"/>
              <a:t>See example:</a:t>
            </a:r>
          </a:p>
          <a:p>
            <a:r>
              <a:rPr lang="en-US" dirty="0"/>
              <a:t>Static Library directory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05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Simplicity &amp; Portability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The executable is self-sufficient because all library code is included; the target machine doesn't need the library pre-installed.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No Runtime Dependencies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Reduces risks of missing or incompatible library versions at runtime.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Performance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Faster runtime as symbols are already resolved.</a:t>
            </a:r>
          </a:p>
          <a:p>
            <a:endParaRPr lang="en-US" dirty="0"/>
          </a:p>
          <a:p>
            <a:r>
              <a:rPr lang="en-US" b="1" dirty="0"/>
              <a:t>Disadvantages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Increased File Size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Larger executables consume more disk and memory space.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Difficult Updates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Library updates require recompiling and redistributing all dependent executables.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54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Compilation</a:t>
            </a:r>
            <a:r>
              <a:rPr lang="en-US" dirty="0"/>
              <a:t>: </a:t>
            </a:r>
          </a:p>
          <a:p>
            <a:r>
              <a:rPr lang="en-US" dirty="0"/>
              <a:t>Use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-c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math_operations.c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string_operations.c</a:t>
            </a:r>
            <a:r>
              <a:rPr lang="en-US" dirty="0"/>
              <a:t> to create object files.</a:t>
            </a:r>
          </a:p>
          <a:p>
            <a:endParaRPr lang="en-US" dirty="0"/>
          </a:p>
          <a:p>
            <a:r>
              <a:rPr lang="en-US" b="1" dirty="0"/>
              <a:t>Archiving</a:t>
            </a:r>
            <a:r>
              <a:rPr lang="en-US" dirty="0"/>
              <a:t>: </a:t>
            </a:r>
          </a:p>
          <a:p>
            <a:r>
              <a:rPr lang="en-US" dirty="0"/>
              <a:t>Use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rcs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libmystatic.a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math_operations.o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string_operations.o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en-US" dirty="0"/>
              <a:t>: Replace existing files.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en-US" dirty="0"/>
              <a:t>: Create the archive if it doesn't exist.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en-US" dirty="0"/>
              <a:t>: Create an index for faster symbol lookup by the linker.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13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Linking</a:t>
            </a:r>
            <a:r>
              <a:rPr lang="en-US" dirty="0"/>
              <a:t>: </a:t>
            </a:r>
          </a:p>
          <a:p>
            <a:r>
              <a:rPr lang="en-US" dirty="0"/>
              <a:t>Link the library to a program using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-o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myprogram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-L. 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lmystatic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-L.</a:t>
            </a:r>
            <a:r>
              <a:rPr lang="en-US" dirty="0"/>
              <a:t>: Look for libraries in the current directory.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lmystatic</a:t>
            </a:r>
            <a:r>
              <a:rPr lang="en-US" dirty="0"/>
              <a:t>: Link specifically with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libmystatic.a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96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Relocation Techniques</a:t>
            </a:r>
          </a:p>
          <a:p>
            <a:endParaRPr lang="en-US" b="1" dirty="0"/>
          </a:p>
          <a:p>
            <a:r>
              <a:rPr lang="en-US" b="1" dirty="0"/>
              <a:t>Static Relocation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Linker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</a:t>
            </a:r>
            <a:r>
              <a:rPr lang="en-US" dirty="0"/>
              <a:t>) resolves absolute addresses at compile-time and merges object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final binary contains fixed memory addresses and has no external shared library dependencies.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b="1" dirty="0"/>
              <a:t>Dynamic Relocation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executable contains "placeholders" (relocation entries).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dynamic linker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ld.so</a:t>
            </a:r>
            <a:r>
              <a:rPr lang="en-US" dirty="0"/>
              <a:t>) resolves these at runtime when shared libraries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.so</a:t>
            </a:r>
            <a:r>
              <a:rPr lang="en-US" dirty="0"/>
              <a:t>) are loaded.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Allows libraries to be updated without recompiling the main program.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09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See example:</a:t>
            </a:r>
          </a:p>
          <a:p>
            <a:r>
              <a:rPr lang="en-US" dirty="0"/>
              <a:t>Symbol Table Entry directory</a:t>
            </a:r>
          </a:p>
          <a:p>
            <a:endParaRPr lang="en-US" dirty="0"/>
          </a:p>
          <a:p>
            <a:r>
              <a:rPr lang="en-US" dirty="0"/>
              <a:t>A terminal output showing a Mach-O arm64 symbol table for an object file, with a red box highlighting the _</a:t>
            </a:r>
            <a:r>
              <a:rPr lang="en-US" dirty="0" err="1"/>
              <a:t>print_message</a:t>
            </a:r>
            <a:r>
              <a:rPr lang="en-US" dirty="0"/>
              <a:t> symbol at address zero.</a:t>
            </a:r>
          </a:p>
          <a:p>
            <a:endParaRPr lang="en-US" dirty="0"/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objdump</a:t>
            </a:r>
            <a:r>
              <a:rPr lang="en-US" dirty="0"/>
              <a:t>: </a:t>
            </a:r>
          </a:p>
          <a:p>
            <a:r>
              <a:rPr lang="en-US" dirty="0"/>
              <a:t>Used to inspect symbol tables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-t</a:t>
            </a:r>
            <a:r>
              <a:rPr lang="en-US" dirty="0"/>
              <a:t>) and relocation entries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-r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32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terminal output listing relocation records for an object file, showing offsets and types like ARM64_RELOC_BRANCH26 for symbols such as _</a:t>
            </a:r>
            <a:r>
              <a:rPr lang="en-US" dirty="0" err="1"/>
              <a:t>print_message</a:t>
            </a:r>
            <a:r>
              <a:rPr lang="en-US" dirty="0"/>
              <a:t> and _</a:t>
            </a:r>
            <a:r>
              <a:rPr lang="en-US" dirty="0" err="1"/>
              <a:t>printf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02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terminal output of a symbol table for a linked executable where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print_message</a:t>
            </a:r>
            <a:r>
              <a:rPr lang="en-US" dirty="0"/>
              <a:t> now has a specific memory address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dirty="0"/>
              <a:t> is marked as undefined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*UND*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22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Relocation Records</a:t>
            </a:r>
            <a:r>
              <a:rPr lang="en-US" dirty="0"/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Shows where code needs patching (e.g.,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R_X86_64_PC32</a:t>
            </a:r>
            <a:r>
              <a:rPr lang="en-US" dirty="0"/>
              <a:t> for PC-relative calls).</a:t>
            </a:r>
          </a:p>
          <a:p>
            <a:endParaRPr lang="en-US" dirty="0"/>
          </a:p>
          <a:p>
            <a:r>
              <a:rPr lang="en-US" b="1" u="sng" dirty="0"/>
              <a:t>See example:</a:t>
            </a:r>
          </a:p>
          <a:p>
            <a:r>
              <a:rPr lang="en-US" dirty="0"/>
              <a:t>Static Relocation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53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nm</a:t>
            </a:r>
            <a:r>
              <a:rPr lang="en-US" dirty="0"/>
              <a:t>: Shows symbol types and addresses.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16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terminal output of a symbol table with various flags (D, T, U) indicating the status of symbols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global_var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_main</a:t>
            </a:r>
            <a:r>
              <a:rPr lang="en-US" dirty="0"/>
              <a:t>, and the undefined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6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D/d</a:t>
            </a:r>
            <a:r>
              <a:rPr lang="en-US" b="1" dirty="0"/>
              <a:t>: </a:t>
            </a:r>
            <a:r>
              <a:rPr lang="en-US" dirty="0"/>
              <a:t>Data section (global/local initialized variables).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687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T/t</a:t>
            </a:r>
            <a:r>
              <a:rPr lang="en-US" b="1" dirty="0"/>
              <a:t>: </a:t>
            </a:r>
            <a:r>
              <a:rPr lang="en-US" dirty="0"/>
              <a:t>Text section (global/local code).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09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</a:t>
            </a:r>
            <a:r>
              <a:rPr lang="en-US" b="1" dirty="0"/>
              <a:t>: </a:t>
            </a:r>
            <a:r>
              <a:rPr lang="en-US" dirty="0"/>
              <a:t>Undefined (symbols used but not defined in the file).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65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See example:</a:t>
            </a:r>
          </a:p>
          <a:p>
            <a:r>
              <a:rPr lang="en-US" dirty="0"/>
              <a:t>Dynamic Relocation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77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636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vmmap</a:t>
            </a:r>
            <a:r>
              <a:rPr lang="en-US" dirty="0"/>
              <a:t>: </a:t>
            </a:r>
          </a:p>
          <a:p>
            <a:r>
              <a:rPr lang="en-US" dirty="0"/>
              <a:t>Provides detailed memory layout for a process.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5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Resident Size (RSS)</a:t>
            </a:r>
            <a:r>
              <a:rPr lang="en-US" dirty="0"/>
              <a:t>: Memory actually in RAM.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97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Dirty Size</a:t>
            </a:r>
            <a:r>
              <a:rPr lang="en-US" dirty="0"/>
              <a:t>: Modified memory not backed by a file.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36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415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2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Region Count</a:t>
            </a:r>
            <a:r>
              <a:rPr lang="en-US" dirty="0"/>
              <a:t>: Number of distinct memory regions (high counts may indicate fragmentation).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1C18F-566C-4A85-8022-99BE34D7F2A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6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3945"/>
            <a:ext cx="12192000" cy="10090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375" y="1689861"/>
            <a:ext cx="479996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2687" y="2247937"/>
            <a:ext cx="5621020" cy="426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cs.pitt.edu/~xianeizhang/notes/Linking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183" y="2702546"/>
            <a:ext cx="86620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CSC</a:t>
            </a:r>
            <a:r>
              <a:rPr sz="4900" spc="-85" dirty="0"/>
              <a:t> </a:t>
            </a:r>
            <a:r>
              <a:rPr sz="4900" dirty="0"/>
              <a:t>362:</a:t>
            </a:r>
            <a:r>
              <a:rPr sz="4900" spc="-85" dirty="0"/>
              <a:t> </a:t>
            </a:r>
            <a:r>
              <a:rPr sz="4900" dirty="0"/>
              <a:t>System</a:t>
            </a:r>
            <a:r>
              <a:rPr sz="4900" spc="-90" dirty="0"/>
              <a:t> </a:t>
            </a:r>
            <a:r>
              <a:rPr sz="4900" spc="-10" dirty="0"/>
              <a:t>Programming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5374431" y="3585985"/>
            <a:ext cx="1442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Lecture</a:t>
            </a:r>
            <a:r>
              <a:rPr sz="2400" spc="-1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F2044"/>
                </a:solidFill>
                <a:latin typeface="Arial MT"/>
                <a:cs typeface="Arial MT"/>
              </a:rPr>
              <a:t>11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8174" y="4145624"/>
            <a:ext cx="9054465" cy="31115"/>
          </a:xfrm>
          <a:custGeom>
            <a:avLst/>
            <a:gdLst/>
            <a:ahLst/>
            <a:cxnLst/>
            <a:rect l="l" t="t" r="r" b="b"/>
            <a:pathLst>
              <a:path w="9054465" h="31114">
                <a:moveTo>
                  <a:pt x="0" y="0"/>
                </a:moveTo>
                <a:lnTo>
                  <a:pt x="9053999" y="30899"/>
                </a:lnTo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AFBBEF-B563-DE96-C8AD-7076335424A2}"/>
              </a:ext>
            </a:extLst>
          </p:cNvPr>
          <p:cNvSpPr txBox="1"/>
          <p:nvPr/>
        </p:nvSpPr>
        <p:spPr>
          <a:xfrm>
            <a:off x="3098244" y="4267200"/>
            <a:ext cx="6094324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Original slides by: Amitabha Dey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Adapted by: Dr. Richard 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3401" y="5437645"/>
            <a:ext cx="5782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1785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Department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Computer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Science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University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North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Carolina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Greensboro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35436"/>
            <a:ext cx="18345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30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25" y="1838623"/>
            <a:ext cx="5420995" cy="459867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469265" indent="-358775">
              <a:lnSpc>
                <a:spcPct val="100000"/>
              </a:lnSpc>
              <a:spcBef>
                <a:spcPts val="1120"/>
              </a:spcBef>
              <a:buChar char="●"/>
              <a:tabLst>
                <a:tab pos="469265" algn="l"/>
              </a:tabLst>
            </a:pP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Compilation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Stages</a:t>
            </a:r>
            <a:endParaRPr sz="170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1019"/>
              </a:spcBef>
              <a:buChar char="○"/>
              <a:tabLst>
                <a:tab pos="926465" algn="l"/>
              </a:tabLst>
            </a:pP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Preprocessing,</a:t>
            </a:r>
            <a:r>
              <a:rPr sz="17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Compiling,</a:t>
            </a:r>
            <a:r>
              <a:rPr sz="1700" spc="-10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Assembling,</a:t>
            </a:r>
            <a:r>
              <a:rPr sz="17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Linking</a:t>
            </a:r>
            <a:endParaRPr sz="170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1020"/>
              </a:spcBef>
              <a:buChar char="●"/>
              <a:tabLst>
                <a:tab pos="4692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Static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Linking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vs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Linking</a:t>
            </a:r>
            <a:endParaRPr sz="170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1020"/>
              </a:spcBef>
              <a:buChar char="●"/>
              <a:tabLst>
                <a:tab pos="4692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Shared</a:t>
            </a:r>
            <a:r>
              <a:rPr sz="1700" spc="-7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Library</a:t>
            </a:r>
            <a:r>
              <a:rPr sz="17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Versioning</a:t>
            </a:r>
            <a:endParaRPr sz="170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1020"/>
              </a:spcBef>
              <a:buChar char="○"/>
              <a:tabLst>
                <a:tab pos="926465" algn="l"/>
              </a:tabLst>
            </a:pP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FPIC,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shared,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.so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files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What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we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will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cover</a:t>
            </a:r>
            <a:r>
              <a:rPr sz="25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0F2044"/>
                </a:solidFill>
                <a:latin typeface="Georgia"/>
                <a:cs typeface="Georgia"/>
              </a:rPr>
              <a:t>today</a:t>
            </a:r>
            <a:endParaRPr sz="2500">
              <a:latin typeface="Georgia"/>
              <a:cs typeface="Georgia"/>
            </a:endParaRPr>
          </a:p>
          <a:p>
            <a:pPr marL="469265" indent="-358775">
              <a:lnSpc>
                <a:spcPct val="100000"/>
              </a:lnSpc>
              <a:spcBef>
                <a:spcPts val="1985"/>
              </a:spcBef>
              <a:buChar char="●"/>
              <a:tabLst>
                <a:tab pos="4692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Static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Library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Creating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archive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(.a)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files</a:t>
            </a:r>
            <a:endParaRPr sz="170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1020"/>
              </a:spcBef>
              <a:buChar char="●"/>
              <a:tabLst>
                <a:tab pos="469265" algn="l"/>
              </a:tabLst>
            </a:pP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Understanding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Linkers</a:t>
            </a:r>
            <a:endParaRPr sz="170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1020"/>
              </a:spcBef>
              <a:buChar char="●"/>
              <a:tabLst>
                <a:tab pos="469265" algn="l"/>
              </a:tabLst>
            </a:pP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Relocation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during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Linking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Symbol</a:t>
            </a:r>
            <a:r>
              <a:rPr sz="1700" spc="-8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Tables</a:t>
            </a:r>
            <a:endParaRPr sz="170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1020"/>
              </a:spcBef>
              <a:buChar char="●"/>
              <a:tabLst>
                <a:tab pos="4692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Static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vs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Relocation</a:t>
            </a:r>
            <a:endParaRPr sz="170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1020"/>
              </a:spcBef>
              <a:buChar char="●"/>
              <a:tabLst>
                <a:tab pos="469265" algn="l"/>
              </a:tabLst>
            </a:pP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Inspection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using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objdump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,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nm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,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0F2044"/>
                </a:solidFill>
                <a:latin typeface="Arial"/>
                <a:cs typeface="Arial"/>
              </a:rPr>
              <a:t>vmmap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2518" y="2216065"/>
            <a:ext cx="3208348" cy="274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dirty="0"/>
              <a:t>Linking</a:t>
            </a:r>
            <a:r>
              <a:rPr spc="-9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Static</a:t>
            </a:r>
            <a:r>
              <a:rPr spc="-90" dirty="0"/>
              <a:t> </a:t>
            </a:r>
            <a:r>
              <a:rPr spc="-10" dirty="0"/>
              <a:t>Libraries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8775" y="2190631"/>
            <a:ext cx="2057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A00C30"/>
                </a:solidFill>
                <a:latin typeface="Arial"/>
                <a:cs typeface="Arial"/>
              </a:rPr>
              <a:t>math_operations.c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A code snippet in C showing two functions: add, which returns the sum of two integers, and multiply, which returns their produ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750" y="2529875"/>
            <a:ext cx="5654774" cy="31736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75949" y="2150755"/>
            <a:ext cx="2146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A00C30"/>
                </a:solidFill>
                <a:latin typeface="Arial"/>
                <a:cs typeface="Arial"/>
              </a:rPr>
              <a:t>string_operations.c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 descr="A code snippet in C for string_operations.c containing a string_length function that wraps the standard strlen function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2924" y="2507741"/>
            <a:ext cx="5836675" cy="317369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8775" y="6067205"/>
            <a:ext cx="397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Compile</a:t>
            </a:r>
            <a:r>
              <a:rPr sz="18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both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files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into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object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files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34674" y="5970949"/>
            <a:ext cx="588391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c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math_operations.c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string_operations.c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6699" y="1141774"/>
            <a:ext cx="5652770" cy="5588000"/>
          </a:xfrm>
          <a:custGeom>
            <a:avLst/>
            <a:gdLst/>
            <a:ahLst/>
            <a:cxnLst/>
            <a:rect l="l" t="t" r="r" b="b"/>
            <a:pathLst>
              <a:path w="5652770" h="5588000">
                <a:moveTo>
                  <a:pt x="5652299" y="5587499"/>
                </a:moveTo>
                <a:lnTo>
                  <a:pt x="0" y="5587499"/>
                </a:lnTo>
                <a:lnTo>
                  <a:pt x="0" y="0"/>
                </a:lnTo>
                <a:lnTo>
                  <a:pt x="5652299" y="0"/>
                </a:lnTo>
                <a:lnTo>
                  <a:pt x="5652299" y="5587499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9725" y="1207180"/>
            <a:ext cx="11055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Arial"/>
                <a:cs typeface="Arial"/>
              </a:rPr>
              <a:t>Advantages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9725" y="1622469"/>
            <a:ext cx="23545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Simplicity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and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Portability</a:t>
            </a:r>
            <a:r>
              <a:rPr sz="1500" spc="-10" dirty="0">
                <a:latin typeface="Arial MT"/>
                <a:cs typeface="Arial MT"/>
              </a:rPr>
              <a:t>: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9725" y="2003470"/>
            <a:ext cx="5279390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Since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code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needed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from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library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included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the </a:t>
            </a:r>
            <a:r>
              <a:rPr sz="1500" spc="-10" dirty="0">
                <a:latin typeface="Arial MT"/>
                <a:cs typeface="Arial MT"/>
              </a:rPr>
              <a:t>executable,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you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don't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need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worry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about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library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being </a:t>
            </a:r>
            <a:r>
              <a:rPr sz="1500" dirty="0">
                <a:latin typeface="Arial MT"/>
                <a:cs typeface="Arial MT"/>
              </a:rPr>
              <a:t>present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on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target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machine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when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you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distribute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your </a:t>
            </a:r>
            <a:r>
              <a:rPr sz="1500" spc="-10" dirty="0">
                <a:latin typeface="Arial MT"/>
                <a:cs typeface="Arial MT"/>
              </a:rPr>
              <a:t>application.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This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makes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static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linking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useful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deployment,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as </a:t>
            </a:r>
            <a:r>
              <a:rPr sz="1500" dirty="0">
                <a:latin typeface="Arial MT"/>
                <a:cs typeface="Arial MT"/>
              </a:rPr>
              <a:t>your</a:t>
            </a:r>
            <a:r>
              <a:rPr sz="1500" spc="-10" dirty="0">
                <a:latin typeface="Arial MT"/>
                <a:cs typeface="Arial MT"/>
              </a:rPr>
              <a:t> executable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self-</a:t>
            </a:r>
            <a:r>
              <a:rPr sz="1500" spc="-10" dirty="0">
                <a:latin typeface="Arial MT"/>
                <a:cs typeface="Arial MT"/>
              </a:rPr>
              <a:t>sufficient.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725" y="3504609"/>
            <a:ext cx="24923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No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Runtime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Dependencies</a:t>
            </a:r>
            <a:r>
              <a:rPr sz="1500" spc="-10" dirty="0">
                <a:latin typeface="Arial MT"/>
                <a:cs typeface="Arial MT"/>
              </a:rPr>
              <a:t>: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725" y="3885609"/>
            <a:ext cx="5451475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Because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code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from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library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embedded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into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the </a:t>
            </a:r>
            <a:r>
              <a:rPr sz="1500" spc="-10" dirty="0">
                <a:latin typeface="Arial MT"/>
                <a:cs typeface="Arial MT"/>
              </a:rPr>
              <a:t>executable,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there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no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dependency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external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library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files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(</a:t>
            </a:r>
            <a:r>
              <a:rPr sz="1500" spc="-20" dirty="0">
                <a:solidFill>
                  <a:srgbClr val="188037"/>
                </a:solidFill>
                <a:latin typeface="Courier New"/>
                <a:cs typeface="Courier New"/>
              </a:rPr>
              <a:t>.so </a:t>
            </a:r>
            <a:r>
              <a:rPr sz="1500" dirty="0">
                <a:latin typeface="Arial MT"/>
                <a:cs typeface="Arial MT"/>
              </a:rPr>
              <a:t>files)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at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runtime,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reducing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risk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issues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related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missing </a:t>
            </a:r>
            <a:r>
              <a:rPr sz="1500" dirty="0">
                <a:latin typeface="Arial MT"/>
                <a:cs typeface="Arial MT"/>
              </a:rPr>
              <a:t>libraries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or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incompatible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versions.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725" y="5123860"/>
            <a:ext cx="5426710" cy="145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Arial"/>
                <a:cs typeface="Arial"/>
              </a:rPr>
              <a:t>Performance</a:t>
            </a:r>
            <a:r>
              <a:rPr sz="1500" spc="-10" dirty="0">
                <a:latin typeface="Arial MT"/>
                <a:cs typeface="Arial MT"/>
              </a:rPr>
              <a:t>:</a:t>
            </a:r>
            <a:endParaRPr sz="15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500" dirty="0">
                <a:latin typeface="Arial MT"/>
                <a:cs typeface="Arial MT"/>
              </a:rPr>
              <a:t>A</a:t>
            </a:r>
            <a:r>
              <a:rPr sz="1500" spc="-10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statically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linked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program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faster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at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runtime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because </a:t>
            </a:r>
            <a:r>
              <a:rPr sz="1500" dirty="0">
                <a:latin typeface="Arial MT"/>
                <a:cs typeface="Arial MT"/>
              </a:rPr>
              <a:t>there’s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no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need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resolve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symbols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dynamically,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everything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is </a:t>
            </a:r>
            <a:r>
              <a:rPr sz="1500" dirty="0">
                <a:latin typeface="Arial MT"/>
                <a:cs typeface="Arial MT"/>
              </a:rPr>
              <a:t>already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executable.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This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lead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slight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performance improvements,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especially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smaller,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frequently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programs.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6699" y="1141774"/>
            <a:ext cx="5652770" cy="5588000"/>
          </a:xfrm>
          <a:custGeom>
            <a:avLst/>
            <a:gdLst/>
            <a:ahLst/>
            <a:cxnLst/>
            <a:rect l="l" t="t" r="r" b="b"/>
            <a:pathLst>
              <a:path w="5652770" h="5588000">
                <a:moveTo>
                  <a:pt x="0" y="0"/>
                </a:moveTo>
                <a:lnTo>
                  <a:pt x="5652299" y="0"/>
                </a:lnTo>
                <a:lnTo>
                  <a:pt x="5652299" y="5587499"/>
                </a:lnTo>
                <a:lnTo>
                  <a:pt x="0" y="55874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49200" y="1141774"/>
            <a:ext cx="5652770" cy="315595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sz="1500" b="1" spc="-10" dirty="0">
                <a:latin typeface="Arial"/>
                <a:cs typeface="Arial"/>
              </a:rPr>
              <a:t>Disadvantages</a:t>
            </a:r>
            <a:endParaRPr sz="1500" dirty="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  <a:spcBef>
                <a:spcPts val="1470"/>
              </a:spcBef>
            </a:pPr>
            <a:r>
              <a:rPr sz="1500" b="1" spc="-10" dirty="0">
                <a:latin typeface="Arial"/>
                <a:cs typeface="Arial"/>
              </a:rPr>
              <a:t>Increased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File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Size</a:t>
            </a:r>
            <a:r>
              <a:rPr sz="1500" spc="-10" dirty="0">
                <a:latin typeface="Arial MT"/>
                <a:cs typeface="Arial MT"/>
              </a:rPr>
              <a:t>:</a:t>
            </a:r>
            <a:endParaRPr sz="1500" dirty="0">
              <a:latin typeface="Arial MT"/>
              <a:cs typeface="Arial MT"/>
            </a:endParaRPr>
          </a:p>
          <a:p>
            <a:pPr marL="85725" marR="415925">
              <a:lnSpc>
                <a:spcPct val="114999"/>
              </a:lnSpc>
              <a:spcBef>
                <a:spcPts val="1200"/>
              </a:spcBef>
            </a:pPr>
            <a:r>
              <a:rPr sz="1500" spc="-10" dirty="0">
                <a:latin typeface="Arial MT"/>
                <a:cs typeface="Arial MT"/>
              </a:rPr>
              <a:t>Including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all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necessary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library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code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each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executable </a:t>
            </a:r>
            <a:r>
              <a:rPr sz="1500" dirty="0">
                <a:latin typeface="Arial MT"/>
                <a:cs typeface="Arial MT"/>
              </a:rPr>
              <a:t>means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that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resulting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file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will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larger,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leading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potential </a:t>
            </a:r>
            <a:r>
              <a:rPr sz="1500" dirty="0">
                <a:latin typeface="Arial MT"/>
                <a:cs typeface="Arial MT"/>
              </a:rPr>
              <a:t>disk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space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memory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usage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inefficiencies.</a:t>
            </a:r>
            <a:endParaRPr sz="1500" dirty="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1470"/>
              </a:spcBef>
            </a:pPr>
            <a:r>
              <a:rPr sz="1500" b="1" dirty="0">
                <a:latin typeface="Arial"/>
                <a:cs typeface="Arial"/>
              </a:rPr>
              <a:t>Difficulty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Updating</a:t>
            </a:r>
            <a:r>
              <a:rPr sz="1500" spc="-10" dirty="0">
                <a:latin typeface="Arial MT"/>
                <a:cs typeface="Arial MT"/>
              </a:rPr>
              <a:t>:</a:t>
            </a:r>
            <a:endParaRPr sz="1500" dirty="0">
              <a:latin typeface="Arial MT"/>
              <a:cs typeface="Arial MT"/>
            </a:endParaRPr>
          </a:p>
          <a:p>
            <a:pPr marL="85725" marR="225425">
              <a:lnSpc>
                <a:spcPct val="114999"/>
              </a:lnSpc>
              <a:spcBef>
                <a:spcPts val="1200"/>
              </a:spcBef>
            </a:pPr>
            <a:r>
              <a:rPr sz="1500" dirty="0">
                <a:latin typeface="Arial MT"/>
                <a:cs typeface="Arial MT"/>
              </a:rPr>
              <a:t>If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there's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bug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or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update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needed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library,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you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have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to </a:t>
            </a:r>
            <a:r>
              <a:rPr sz="1500" spc="-10" dirty="0">
                <a:latin typeface="Arial MT"/>
                <a:cs typeface="Arial MT"/>
              </a:rPr>
              <a:t>recompile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redistribute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all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executables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that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it,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which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can </a:t>
            </a:r>
            <a:r>
              <a:rPr sz="1500" dirty="0">
                <a:latin typeface="Arial MT"/>
                <a:cs typeface="Arial MT"/>
              </a:rPr>
              <a:t>be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time-</a:t>
            </a:r>
            <a:r>
              <a:rPr sz="1500" spc="-10" dirty="0">
                <a:latin typeface="Arial MT"/>
                <a:cs typeface="Arial MT"/>
              </a:rPr>
              <a:t>consuming.</a:t>
            </a:r>
            <a:endParaRPr sz="15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346200"/>
            <a:ext cx="47999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dirty="0"/>
              <a:t>Linking</a:t>
            </a:r>
            <a:r>
              <a:rPr spc="-9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Static</a:t>
            </a:r>
            <a:r>
              <a:rPr spc="-90" dirty="0"/>
              <a:t> </a:t>
            </a:r>
            <a:r>
              <a:rPr spc="-10" dirty="0"/>
              <a:t>Libraries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8775" y="1987500"/>
            <a:ext cx="4596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Create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static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library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named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libmystatic.a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824" y="2385318"/>
            <a:ext cx="800862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ar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rcs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libmystatic.a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math_operations.o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string_operations.o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300" y="3116093"/>
            <a:ext cx="3235960" cy="330084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91440" rtlCol="0">
            <a:spAutoFit/>
          </a:bodyPr>
          <a:lstStyle/>
          <a:p>
            <a:pPr marL="85725" marR="187325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stands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archive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utility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create, modify,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extract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from </a:t>
            </a:r>
            <a:r>
              <a:rPr sz="1800" dirty="0">
                <a:latin typeface="Arial MT"/>
                <a:cs typeface="Arial MT"/>
              </a:rPr>
              <a:t>archives.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context</a:t>
            </a:r>
            <a:r>
              <a:rPr sz="1800" spc="-25" dirty="0">
                <a:latin typeface="Arial MT"/>
                <a:cs typeface="Arial MT"/>
              </a:rPr>
              <a:t> of </a:t>
            </a:r>
            <a:r>
              <a:rPr sz="1800" dirty="0">
                <a:latin typeface="Arial MT"/>
                <a:cs typeface="Arial MT"/>
              </a:rPr>
              <a:t>creating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static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libraries,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latin typeface="Arial MT"/>
                <a:cs typeface="Arial MT"/>
              </a:rPr>
              <a:t>is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package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multiple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10" dirty="0">
                <a:latin typeface="Arial MT"/>
                <a:cs typeface="Arial MT"/>
              </a:rPr>
              <a:t> 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files)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</a:t>
            </a:r>
            <a:r>
              <a:rPr sz="1800" dirty="0">
                <a:latin typeface="Arial MT"/>
                <a:cs typeface="Arial MT"/>
              </a:rPr>
              <a:t>single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.a</a:t>
            </a:r>
            <a:r>
              <a:rPr sz="1800" dirty="0">
                <a:latin typeface="Arial MT"/>
                <a:cs typeface="Arial MT"/>
              </a:rPr>
              <a:t>),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which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C </a:t>
            </a:r>
            <a:r>
              <a:rPr sz="1800" spc="-10" dirty="0">
                <a:latin typeface="Arial MT"/>
                <a:cs typeface="Arial MT"/>
              </a:rPr>
              <a:t>programs.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2975" y="3200400"/>
            <a:ext cx="7741920" cy="31189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rcs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flags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control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behavior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Arial MT"/>
                <a:cs typeface="Arial MT"/>
              </a:rPr>
              <a:t>command:</a:t>
            </a: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latin typeface="Arial"/>
                <a:cs typeface="Arial"/>
              </a:rPr>
              <a:t>replace</a:t>
            </a:r>
            <a:r>
              <a:rPr sz="1800" dirty="0">
                <a:latin typeface="Arial MT"/>
                <a:cs typeface="Arial MT"/>
              </a:rPr>
              <a:t>):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Insert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specified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10" dirty="0">
                <a:latin typeface="Arial MT"/>
                <a:cs typeface="Arial MT"/>
              </a:rPr>
              <a:t> 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math_operations.o</a:t>
            </a:r>
            <a:r>
              <a:rPr sz="1800" b="1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string_operations.o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replacing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files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exist,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it.</a:t>
            </a:r>
            <a:endParaRPr sz="1800" dirty="0">
              <a:latin typeface="Arial MT"/>
              <a:cs typeface="Arial MT"/>
            </a:endParaRPr>
          </a:p>
          <a:p>
            <a:pPr marL="469900" marR="433705" indent="-367030">
              <a:lnSpc>
                <a:spcPct val="114999"/>
              </a:lnSpc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c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latin typeface="Arial"/>
                <a:cs typeface="Arial"/>
              </a:rPr>
              <a:t>create</a:t>
            </a:r>
            <a:r>
              <a:rPr sz="1800" dirty="0">
                <a:latin typeface="Arial MT"/>
                <a:cs typeface="Arial MT"/>
              </a:rPr>
              <a:t>):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Tells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doesn’t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already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It </a:t>
            </a:r>
            <a:r>
              <a:rPr sz="1800" dirty="0">
                <a:latin typeface="Arial MT"/>
                <a:cs typeface="Arial MT"/>
              </a:rPr>
              <a:t>suppresses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warnings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existing.</a:t>
            </a:r>
            <a:endParaRPr sz="1800" dirty="0">
              <a:latin typeface="Arial MT"/>
              <a:cs typeface="Arial MT"/>
            </a:endParaRPr>
          </a:p>
          <a:p>
            <a:pPr marL="469900" marR="324485" indent="-36703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s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latin typeface="Arial"/>
                <a:cs typeface="Arial"/>
              </a:rPr>
              <a:t>index</a:t>
            </a:r>
            <a:r>
              <a:rPr sz="1800" dirty="0">
                <a:latin typeface="Arial MT"/>
                <a:cs typeface="Arial MT"/>
              </a:rPr>
              <a:t>):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index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helps </a:t>
            </a:r>
            <a:r>
              <a:rPr sz="1800" dirty="0">
                <a:latin typeface="Arial MT"/>
                <a:cs typeface="Arial MT"/>
              </a:rPr>
              <a:t>speed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symbol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lookup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later.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It’s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crucial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for </a:t>
            </a:r>
            <a:r>
              <a:rPr sz="1800" dirty="0">
                <a:latin typeface="Arial MT"/>
                <a:cs typeface="Arial MT"/>
              </a:rPr>
              <a:t>making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usable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linker.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59950" y="3116092"/>
            <a:ext cx="7986395" cy="3300840"/>
          </a:xfrm>
          <a:custGeom>
            <a:avLst/>
            <a:gdLst/>
            <a:ahLst/>
            <a:cxnLst/>
            <a:rect l="l" t="t" r="r" b="b"/>
            <a:pathLst>
              <a:path w="7986395" h="3164840">
                <a:moveTo>
                  <a:pt x="0" y="0"/>
                </a:moveTo>
                <a:lnTo>
                  <a:pt x="7986299" y="0"/>
                </a:lnTo>
                <a:lnTo>
                  <a:pt x="7986299" y="3164699"/>
                </a:lnTo>
                <a:lnTo>
                  <a:pt x="0" y="3164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lnSpc>
                <a:spcPct val="114000"/>
              </a:lnSpc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dirty="0"/>
              <a:t>Linking</a:t>
            </a:r>
            <a:r>
              <a:rPr spc="-9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Static</a:t>
            </a:r>
            <a:r>
              <a:rPr spc="-90" dirty="0"/>
              <a:t> </a:t>
            </a:r>
            <a:r>
              <a:rPr spc="-10" dirty="0"/>
              <a:t>Libraries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8775" y="2409606"/>
            <a:ext cx="4596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Create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static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library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named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libmystatic.a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824" y="2807424"/>
            <a:ext cx="800862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ar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rcs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libmystatic.a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math_operations.o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string_operations.o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950" y="3456049"/>
            <a:ext cx="5840730" cy="2045368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91440" rtlCol="0">
            <a:spAutoFit/>
          </a:bodyPr>
          <a:lstStyle/>
          <a:p>
            <a:pPr marL="85725">
              <a:lnSpc>
                <a:spcPct val="114000"/>
              </a:lnSpc>
              <a:spcBef>
                <a:spcPts val="60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libmystatic.a</a:t>
            </a:r>
            <a:endParaRPr sz="1800" dirty="0">
              <a:latin typeface="Courier New"/>
              <a:cs typeface="Courier New"/>
            </a:endParaRPr>
          </a:p>
          <a:p>
            <a:pPr marL="85725" marR="528320">
              <a:lnSpc>
                <a:spcPct val="114000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are </a:t>
            </a:r>
            <a:r>
              <a:rPr sz="1800" spc="-10" dirty="0">
                <a:latin typeface="Arial MT"/>
                <a:cs typeface="Arial MT"/>
              </a:rPr>
              <a:t>creating.</a:t>
            </a:r>
            <a:endParaRPr sz="1800" dirty="0">
              <a:latin typeface="Arial MT"/>
              <a:cs typeface="Arial MT"/>
            </a:endParaRPr>
          </a:p>
          <a:p>
            <a:pPr marL="85725" marR="329565">
              <a:lnSpc>
                <a:spcPct val="114000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convention,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start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lib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have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.a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extension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libmystatic.a</a:t>
            </a:r>
            <a:r>
              <a:rPr sz="1800" spc="-10" dirty="0">
                <a:latin typeface="Arial MT"/>
                <a:cs typeface="Arial MT"/>
              </a:rPr>
              <a:t>).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4550" y="3456049"/>
            <a:ext cx="5571490" cy="225696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835" rIns="0" bIns="91440" rtlCol="0">
            <a:spAutoFit/>
          </a:bodyPr>
          <a:lstStyle/>
          <a:p>
            <a:pPr marL="85725">
              <a:lnSpc>
                <a:spcPct val="114000"/>
              </a:lnSpc>
              <a:spcBef>
                <a:spcPts val="605"/>
              </a:spcBef>
            </a:pPr>
            <a:r>
              <a:rPr sz="1700" b="1" spc="-15" dirty="0">
                <a:solidFill>
                  <a:srgbClr val="188037"/>
                </a:solidFill>
                <a:latin typeface="Courier New"/>
                <a:cs typeface="Courier New"/>
              </a:rPr>
              <a:t>math_operations.o</a:t>
            </a:r>
            <a:r>
              <a:rPr sz="1700" b="1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b="1" dirty="0">
                <a:latin typeface="Arial"/>
                <a:cs typeface="Arial"/>
              </a:rPr>
              <a:t>and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string_operations.o</a:t>
            </a:r>
            <a:endParaRPr sz="1700" dirty="0">
              <a:latin typeface="Courier New"/>
              <a:cs typeface="Courier New"/>
            </a:endParaRPr>
          </a:p>
          <a:p>
            <a:pPr marL="85725" marR="561340">
              <a:lnSpc>
                <a:spcPct val="114000"/>
              </a:lnSpc>
              <a:spcBef>
                <a:spcPts val="1200"/>
              </a:spcBef>
            </a:pPr>
            <a:r>
              <a:rPr sz="1700" dirty="0">
                <a:latin typeface="Arial MT"/>
                <a:cs typeface="Arial MT"/>
              </a:rPr>
              <a:t>These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object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files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you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adding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 </a:t>
            </a:r>
            <a:r>
              <a:rPr sz="1700" spc="-10" dirty="0">
                <a:latin typeface="Arial MT"/>
                <a:cs typeface="Arial MT"/>
              </a:rPr>
              <a:t>archive.</a:t>
            </a:r>
            <a:endParaRPr sz="1700" dirty="0">
              <a:latin typeface="Arial MT"/>
              <a:cs typeface="Arial MT"/>
            </a:endParaRPr>
          </a:p>
          <a:p>
            <a:pPr marL="85725" marR="835025">
              <a:lnSpc>
                <a:spcPct val="114000"/>
              </a:lnSpc>
              <a:spcBef>
                <a:spcPts val="1200"/>
              </a:spcBef>
            </a:pPr>
            <a:r>
              <a:rPr sz="1700" dirty="0">
                <a:latin typeface="Arial MT"/>
                <a:cs typeface="Arial MT"/>
              </a:rPr>
              <a:t>They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contain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compiled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code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functions </a:t>
            </a:r>
            <a:r>
              <a:rPr sz="1700" dirty="0">
                <a:latin typeface="Arial MT"/>
                <a:cs typeface="Arial MT"/>
              </a:rPr>
              <a:t>defined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b="1" spc="-15" dirty="0">
                <a:solidFill>
                  <a:srgbClr val="188037"/>
                </a:solidFill>
                <a:latin typeface="Courier New"/>
                <a:cs typeface="Courier New"/>
              </a:rPr>
              <a:t>math_operations.c</a:t>
            </a:r>
            <a:r>
              <a:rPr sz="1700" b="1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spc="-25" dirty="0">
                <a:latin typeface="Arial MT"/>
                <a:cs typeface="Arial MT"/>
              </a:rPr>
              <a:t>and </a:t>
            </a: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string_operations.c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F7531-0EAA-0885-A28B-8B72377BE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BA72FC-6662-2BDB-ADEE-695FD5B0F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375" y="1346200"/>
            <a:ext cx="47999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dirty="0"/>
              <a:t>Linking</a:t>
            </a:r>
            <a:r>
              <a:rPr spc="-9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Static</a:t>
            </a:r>
            <a:r>
              <a:rPr spc="-90" dirty="0"/>
              <a:t> </a:t>
            </a:r>
            <a:r>
              <a:rPr spc="-10" dirty="0"/>
              <a:t>Libraries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D0AEB44-CA92-FEE7-0BB5-604CDAF09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68775" y="1987500"/>
            <a:ext cx="4596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Create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static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library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named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libmystatic.a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71E5D7C-E024-EE13-F1FB-C97D3F3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08824" y="2385318"/>
            <a:ext cx="800862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ar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rcs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libmystatic.a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math_operations.o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string_operations.o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912B428-20CA-7561-D9F0-07D1AAD6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14300" y="3116093"/>
            <a:ext cx="3235960" cy="330084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91440" rtlCol="0">
            <a:spAutoFit/>
          </a:bodyPr>
          <a:lstStyle/>
          <a:p>
            <a:pPr marL="85725" marR="187325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stands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archive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utility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create, modify,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extract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from </a:t>
            </a:r>
            <a:r>
              <a:rPr sz="1800" dirty="0">
                <a:latin typeface="Arial MT"/>
                <a:cs typeface="Arial MT"/>
              </a:rPr>
              <a:t>archives.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context</a:t>
            </a:r>
            <a:r>
              <a:rPr sz="1800" spc="-25" dirty="0">
                <a:latin typeface="Arial MT"/>
                <a:cs typeface="Arial MT"/>
              </a:rPr>
              <a:t> of </a:t>
            </a:r>
            <a:r>
              <a:rPr sz="1800" dirty="0">
                <a:latin typeface="Arial MT"/>
                <a:cs typeface="Arial MT"/>
              </a:rPr>
              <a:t>creating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static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libraries,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latin typeface="Arial MT"/>
                <a:cs typeface="Arial MT"/>
              </a:rPr>
              <a:t>is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package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multiple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10" dirty="0">
                <a:latin typeface="Arial MT"/>
                <a:cs typeface="Arial MT"/>
              </a:rPr>
              <a:t> 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files)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</a:t>
            </a:r>
            <a:r>
              <a:rPr sz="1800" dirty="0">
                <a:latin typeface="Arial MT"/>
                <a:cs typeface="Arial MT"/>
              </a:rPr>
              <a:t>single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.a</a:t>
            </a:r>
            <a:r>
              <a:rPr sz="1800" dirty="0">
                <a:latin typeface="Arial MT"/>
                <a:cs typeface="Arial MT"/>
              </a:rPr>
              <a:t>),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which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C </a:t>
            </a:r>
            <a:r>
              <a:rPr sz="1800" spc="-10" dirty="0">
                <a:latin typeface="Arial MT"/>
                <a:cs typeface="Arial MT"/>
              </a:rPr>
              <a:t>programs.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D451777-4409-851D-D011-B950566E6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32975" y="3200400"/>
            <a:ext cx="7741920" cy="31189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rcs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flags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control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behavior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Arial MT"/>
                <a:cs typeface="Arial MT"/>
              </a:rPr>
              <a:t>command:</a:t>
            </a: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latin typeface="Arial"/>
                <a:cs typeface="Arial"/>
              </a:rPr>
              <a:t>replace</a:t>
            </a:r>
            <a:r>
              <a:rPr sz="1800" dirty="0">
                <a:latin typeface="Arial MT"/>
                <a:cs typeface="Arial MT"/>
              </a:rPr>
              <a:t>):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Insert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specified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10" dirty="0">
                <a:latin typeface="Arial MT"/>
                <a:cs typeface="Arial MT"/>
              </a:rPr>
              <a:t> 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math_operations.o</a:t>
            </a:r>
            <a:r>
              <a:rPr sz="1800" b="1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string_operations.o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replacing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files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exist,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it.</a:t>
            </a:r>
            <a:endParaRPr sz="1800" dirty="0">
              <a:latin typeface="Arial MT"/>
              <a:cs typeface="Arial MT"/>
            </a:endParaRPr>
          </a:p>
          <a:p>
            <a:pPr marL="469900" marR="433705" indent="-367030">
              <a:lnSpc>
                <a:spcPct val="114999"/>
              </a:lnSpc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c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latin typeface="Arial"/>
                <a:cs typeface="Arial"/>
              </a:rPr>
              <a:t>create</a:t>
            </a:r>
            <a:r>
              <a:rPr sz="1800" dirty="0">
                <a:latin typeface="Arial MT"/>
                <a:cs typeface="Arial MT"/>
              </a:rPr>
              <a:t>):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Tells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doesn’t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already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It </a:t>
            </a:r>
            <a:r>
              <a:rPr sz="1800" dirty="0">
                <a:latin typeface="Arial MT"/>
                <a:cs typeface="Arial MT"/>
              </a:rPr>
              <a:t>suppresses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warnings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existing.</a:t>
            </a:r>
            <a:endParaRPr sz="1800" dirty="0">
              <a:latin typeface="Arial MT"/>
              <a:cs typeface="Arial MT"/>
            </a:endParaRPr>
          </a:p>
          <a:p>
            <a:pPr marL="469900" marR="324485" indent="-36703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s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latin typeface="Arial"/>
                <a:cs typeface="Arial"/>
              </a:rPr>
              <a:t>index</a:t>
            </a:r>
            <a:r>
              <a:rPr sz="1800" dirty="0">
                <a:latin typeface="Arial MT"/>
                <a:cs typeface="Arial MT"/>
              </a:rPr>
              <a:t>):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index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archive,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helps </a:t>
            </a:r>
            <a:r>
              <a:rPr sz="1800" dirty="0">
                <a:latin typeface="Arial MT"/>
                <a:cs typeface="Arial MT"/>
              </a:rPr>
              <a:t>speed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symbol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lookup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later.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It’s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crucial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for </a:t>
            </a:r>
            <a:r>
              <a:rPr sz="1800" dirty="0">
                <a:latin typeface="Arial MT"/>
                <a:cs typeface="Arial MT"/>
              </a:rPr>
              <a:t>making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usable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linker.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B07DCBC-1333-2C08-CC6A-5B87650BC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59950" y="3116092"/>
            <a:ext cx="7986395" cy="3300840"/>
          </a:xfrm>
          <a:custGeom>
            <a:avLst/>
            <a:gdLst/>
            <a:ahLst/>
            <a:cxnLst/>
            <a:rect l="l" t="t" r="r" b="b"/>
            <a:pathLst>
              <a:path w="7986395" h="3164840">
                <a:moveTo>
                  <a:pt x="0" y="0"/>
                </a:moveTo>
                <a:lnTo>
                  <a:pt x="7986299" y="0"/>
                </a:lnTo>
                <a:lnTo>
                  <a:pt x="7986299" y="3164699"/>
                </a:lnTo>
                <a:lnTo>
                  <a:pt x="0" y="3164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lnSpc>
                <a:spcPct val="114000"/>
              </a:lnSpc>
            </a:pPr>
            <a:endParaRPr dirty="0"/>
          </a:p>
        </p:txBody>
      </p:sp>
      <p:grpSp>
        <p:nvGrpSpPr>
          <p:cNvPr id="8" name="object 19">
            <a:extLst>
              <a:ext uri="{FF2B5EF4-FFF2-40B4-BE49-F238E27FC236}">
                <a16:creationId xmlns:a16="http://schemas.microsoft.com/office/drawing/2014/main" id="{FB7BE888-2C63-84C8-CAA7-C1B36BCC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2587" y="4645987"/>
            <a:ext cx="5291455" cy="2061845"/>
            <a:chOff x="332587" y="4645987"/>
            <a:chExt cx="5291455" cy="2061845"/>
          </a:xfrm>
        </p:grpSpPr>
        <p:sp>
          <p:nvSpPr>
            <p:cNvPr id="9" name="object 20">
              <a:extLst>
                <a:ext uri="{FF2B5EF4-FFF2-40B4-BE49-F238E27FC236}">
                  <a16:creationId xmlns:a16="http://schemas.microsoft.com/office/drawing/2014/main" id="{1555F36B-F262-95DF-4306-9AAB09880B93}"/>
                </a:ext>
              </a:extLst>
            </p:cNvPr>
            <p:cNvSpPr/>
            <p:nvPr/>
          </p:nvSpPr>
          <p:spPr>
            <a:xfrm>
              <a:off x="337349" y="4650749"/>
              <a:ext cx="5281930" cy="2052320"/>
            </a:xfrm>
            <a:custGeom>
              <a:avLst/>
              <a:gdLst/>
              <a:ahLst/>
              <a:cxnLst/>
              <a:rect l="l" t="t" r="r" b="b"/>
              <a:pathLst>
                <a:path w="5281930" h="2052320">
                  <a:moveTo>
                    <a:pt x="5281799" y="2051999"/>
                  </a:moveTo>
                  <a:lnTo>
                    <a:pt x="0" y="2051999"/>
                  </a:lnTo>
                  <a:lnTo>
                    <a:pt x="0" y="0"/>
                  </a:lnTo>
                  <a:lnTo>
                    <a:pt x="5281799" y="0"/>
                  </a:lnTo>
                  <a:lnTo>
                    <a:pt x="5281799" y="2051999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21">
              <a:extLst>
                <a:ext uri="{FF2B5EF4-FFF2-40B4-BE49-F238E27FC236}">
                  <a16:creationId xmlns:a16="http://schemas.microsoft.com/office/drawing/2014/main" id="{DC24B2A1-52C9-CF52-E97D-D83662C40936}"/>
                </a:ext>
              </a:extLst>
            </p:cNvPr>
            <p:cNvSpPr/>
            <p:nvPr/>
          </p:nvSpPr>
          <p:spPr>
            <a:xfrm>
              <a:off x="337349" y="4650749"/>
              <a:ext cx="5281930" cy="2052320"/>
            </a:xfrm>
            <a:custGeom>
              <a:avLst/>
              <a:gdLst/>
              <a:ahLst/>
              <a:cxnLst/>
              <a:rect l="l" t="t" r="r" b="b"/>
              <a:pathLst>
                <a:path w="5281930" h="2052320">
                  <a:moveTo>
                    <a:pt x="0" y="0"/>
                  </a:moveTo>
                  <a:lnTo>
                    <a:pt x="5281799" y="0"/>
                  </a:lnTo>
                  <a:lnTo>
                    <a:pt x="5281799" y="2051999"/>
                  </a:lnTo>
                  <a:lnTo>
                    <a:pt x="0" y="2051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22">
            <a:extLst>
              <a:ext uri="{FF2B5EF4-FFF2-40B4-BE49-F238E27FC236}">
                <a16:creationId xmlns:a16="http://schemas.microsoft.com/office/drawing/2014/main" id="{0502BBFA-8BA2-794F-31BD-D51F40CD4D92}"/>
              </a:ext>
            </a:extLst>
          </p:cNvPr>
          <p:cNvSpPr txBox="1"/>
          <p:nvPr/>
        </p:nvSpPr>
        <p:spPr>
          <a:xfrm>
            <a:off x="725650" y="4953000"/>
            <a:ext cx="4591050" cy="149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4160">
              <a:lnSpc>
                <a:spcPct val="114000"/>
              </a:lnSpc>
              <a:spcBef>
                <a:spcPts val="100"/>
              </a:spcBef>
            </a:pPr>
            <a:r>
              <a:rPr sz="1700" dirty="0">
                <a:latin typeface="Arial MT"/>
                <a:cs typeface="Arial MT"/>
              </a:rPr>
              <a:t>A</a:t>
            </a:r>
            <a:r>
              <a:rPr sz="1700" spc="-120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static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library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collection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precompiled </a:t>
            </a:r>
            <a:r>
              <a:rPr sz="1700" dirty="0">
                <a:latin typeface="Arial MT"/>
                <a:cs typeface="Arial MT"/>
              </a:rPr>
              <a:t>object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files</a:t>
            </a:r>
            <a:r>
              <a:rPr lang="en-US" sz="170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(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sz="1700" spc="-5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files)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bundled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together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into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single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archive </a:t>
            </a:r>
            <a:r>
              <a:rPr sz="1700" dirty="0">
                <a:latin typeface="Arial MT"/>
                <a:cs typeface="Arial MT"/>
              </a:rPr>
              <a:t>file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with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.a</a:t>
            </a:r>
            <a:r>
              <a:rPr sz="1700" spc="-5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extension</a:t>
            </a:r>
            <a:r>
              <a:rPr sz="1700" spc="-50" dirty="0">
                <a:latin typeface="Arial MT"/>
                <a:cs typeface="Arial MT"/>
              </a:rPr>
              <a:t> </a:t>
            </a:r>
            <a:br>
              <a:rPr lang="en-US" sz="1700" spc="-50" dirty="0">
                <a:latin typeface="Arial MT"/>
                <a:cs typeface="Arial MT"/>
              </a:rPr>
            </a:br>
            <a:r>
              <a:rPr sz="1700" dirty="0">
                <a:latin typeface="Arial MT"/>
                <a:cs typeface="Arial MT"/>
              </a:rPr>
              <a:t>(on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Unix/Linux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systems)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.lib</a:t>
            </a:r>
            <a:r>
              <a:rPr sz="1700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extension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(on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Windows).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2" name="object 13" descr="A flow diagram showing multiple .c source files being translated into .o object files and then combined by an Archiver (ar) into a static library file named lib_myLibrary.a.">
            <a:extLst>
              <a:ext uri="{FF2B5EF4-FFF2-40B4-BE49-F238E27FC236}">
                <a16:creationId xmlns:a16="http://schemas.microsoft.com/office/drawing/2014/main" id="{8DCE0CA7-DE37-A3A7-DB37-B901337183C6}"/>
              </a:ext>
            </a:extLst>
          </p:cNvPr>
          <p:cNvGrpSpPr/>
          <p:nvPr/>
        </p:nvGrpSpPr>
        <p:grpSpPr>
          <a:xfrm>
            <a:off x="5614362" y="1344712"/>
            <a:ext cx="6425565" cy="5363210"/>
            <a:chOff x="5614362" y="1344712"/>
            <a:chExt cx="6425565" cy="5363210"/>
          </a:xfrm>
        </p:grpSpPr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A8D84B2A-B685-CDAE-7E95-6CA20419DEE5}"/>
                </a:ext>
              </a:extLst>
            </p:cNvPr>
            <p:cNvSpPr/>
            <p:nvPr/>
          </p:nvSpPr>
          <p:spPr>
            <a:xfrm>
              <a:off x="5619124" y="1349474"/>
              <a:ext cx="6416040" cy="5353685"/>
            </a:xfrm>
            <a:custGeom>
              <a:avLst/>
              <a:gdLst/>
              <a:ahLst/>
              <a:cxnLst/>
              <a:rect l="l" t="t" r="r" b="b"/>
              <a:pathLst>
                <a:path w="6416040" h="5353684">
                  <a:moveTo>
                    <a:pt x="6415499" y="5353499"/>
                  </a:moveTo>
                  <a:lnTo>
                    <a:pt x="0" y="5353499"/>
                  </a:lnTo>
                  <a:lnTo>
                    <a:pt x="0" y="0"/>
                  </a:lnTo>
                  <a:lnTo>
                    <a:pt x="6415499" y="0"/>
                  </a:lnTo>
                  <a:lnTo>
                    <a:pt x="6415499" y="5353499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4DDC8ABF-EFF8-686B-3194-1B74C8303A55}"/>
                </a:ext>
              </a:extLst>
            </p:cNvPr>
            <p:cNvSpPr/>
            <p:nvPr/>
          </p:nvSpPr>
          <p:spPr>
            <a:xfrm>
              <a:off x="5619124" y="1349474"/>
              <a:ext cx="6416040" cy="5353685"/>
            </a:xfrm>
            <a:custGeom>
              <a:avLst/>
              <a:gdLst/>
              <a:ahLst/>
              <a:cxnLst/>
              <a:rect l="l" t="t" r="r" b="b"/>
              <a:pathLst>
                <a:path w="6416040" h="5353684">
                  <a:moveTo>
                    <a:pt x="0" y="0"/>
                  </a:moveTo>
                  <a:lnTo>
                    <a:pt x="6415499" y="0"/>
                  </a:lnTo>
                  <a:lnTo>
                    <a:pt x="6415499" y="5353499"/>
                  </a:lnTo>
                  <a:lnTo>
                    <a:pt x="0" y="5353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6">
              <a:extLst>
                <a:ext uri="{FF2B5EF4-FFF2-40B4-BE49-F238E27FC236}">
                  <a16:creationId xmlns:a16="http://schemas.microsoft.com/office/drawing/2014/main" id="{171195D2-99B6-2F42-0778-20C993C1E1B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21175" y="1822652"/>
              <a:ext cx="5839774" cy="3870924"/>
            </a:xfrm>
            <a:prstGeom prst="rect">
              <a:avLst/>
            </a:prstGeom>
          </p:spPr>
        </p:pic>
        <p:sp>
          <p:nvSpPr>
            <p:cNvPr id="16" name="object 17">
              <a:extLst>
                <a:ext uri="{FF2B5EF4-FFF2-40B4-BE49-F238E27FC236}">
                  <a16:creationId xmlns:a16="http://schemas.microsoft.com/office/drawing/2014/main" id="{092EE1F7-D763-F53D-29AE-747B6F3370A4}"/>
                </a:ext>
              </a:extLst>
            </p:cNvPr>
            <p:cNvSpPr/>
            <p:nvPr/>
          </p:nvSpPr>
          <p:spPr>
            <a:xfrm>
              <a:off x="6016412" y="1817889"/>
              <a:ext cx="5849620" cy="3880485"/>
            </a:xfrm>
            <a:custGeom>
              <a:avLst/>
              <a:gdLst/>
              <a:ahLst/>
              <a:cxnLst/>
              <a:rect l="l" t="t" r="r" b="b"/>
              <a:pathLst>
                <a:path w="5849620" h="3880485">
                  <a:moveTo>
                    <a:pt x="0" y="0"/>
                  </a:moveTo>
                  <a:lnTo>
                    <a:pt x="5849299" y="0"/>
                  </a:lnTo>
                  <a:lnTo>
                    <a:pt x="5849299" y="3880449"/>
                  </a:lnTo>
                  <a:lnTo>
                    <a:pt x="0" y="3880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8">
            <a:extLst>
              <a:ext uri="{FF2B5EF4-FFF2-40B4-BE49-F238E27FC236}">
                <a16:creationId xmlns:a16="http://schemas.microsoft.com/office/drawing/2014/main" id="{B869CAFC-EA6A-7CB0-A8FE-A9DFF6BA0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660188" y="5838420"/>
            <a:ext cx="23196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Mildred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Makori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@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Medium</a:t>
            </a:r>
            <a:endParaRPr sz="1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89789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dirty="0"/>
              <a:t>Linking</a:t>
            </a:r>
            <a:r>
              <a:rPr spc="-9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Static</a:t>
            </a:r>
            <a:r>
              <a:rPr spc="-90" dirty="0"/>
              <a:t> </a:t>
            </a:r>
            <a:r>
              <a:rPr spc="-10" dirty="0"/>
              <a:t>Libraries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8775" y="2409606"/>
            <a:ext cx="2387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Create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executable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824" y="2807424"/>
            <a:ext cx="646684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myprogram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L.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-lmystatic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0" y="3389058"/>
            <a:ext cx="6403664" cy="1752788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  <a:spcAft>
                <a:spcPts val="600"/>
              </a:spcAf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1800" b="1" spc="-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r>
              <a:rPr sz="1800" b="1" dirty="0">
                <a:latin typeface="Arial MT"/>
                <a:cs typeface="Arial MT"/>
              </a:rPr>
              <a:t>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output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executable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12700" marR="426720">
              <a:lnSpc>
                <a:spcPct val="114999"/>
              </a:lnSpc>
              <a:spcAft>
                <a:spcPts val="600"/>
              </a:spcAf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L.</a:t>
            </a:r>
            <a:r>
              <a:rPr sz="1800" b="1" dirty="0">
                <a:latin typeface="Arial MT"/>
                <a:cs typeface="Arial MT"/>
              </a:rPr>
              <a:t>:</a:t>
            </a:r>
            <a:r>
              <a:rPr sz="1800" b="1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current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directory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location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spc="-10" dirty="0">
                <a:latin typeface="Arial MT"/>
                <a:cs typeface="Arial MT"/>
              </a:rPr>
              <a:t>library.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lmystatic</a:t>
            </a:r>
            <a:r>
              <a:rPr sz="1800" b="1" dirty="0">
                <a:latin typeface="Arial MT"/>
                <a:cs typeface="Arial MT"/>
              </a:rPr>
              <a:t>:</a:t>
            </a:r>
            <a:r>
              <a:rPr sz="1800" b="1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libmystatic.a</a:t>
            </a:r>
            <a:endParaRPr sz="1800" b="1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 MT"/>
                <a:cs typeface="Arial MT"/>
              </a:rPr>
              <a:t>library.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8824" y="5779225"/>
            <a:ext cx="6466840" cy="800735"/>
          </a:xfrm>
          <a:custGeom>
            <a:avLst/>
            <a:gdLst/>
            <a:ahLst/>
            <a:cxnLst/>
            <a:rect l="l" t="t" r="r" b="b"/>
            <a:pathLst>
              <a:path w="6466840" h="800734">
                <a:moveTo>
                  <a:pt x="0" y="0"/>
                </a:moveTo>
                <a:lnTo>
                  <a:pt x="6466499" y="0"/>
                </a:lnTo>
                <a:lnTo>
                  <a:pt x="6466499" y="800399"/>
                </a:lnTo>
                <a:lnTo>
                  <a:pt x="0" y="800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6000" y="5303331"/>
            <a:ext cx="4410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Verify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that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was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statically</a:t>
            </a:r>
            <a:r>
              <a:rPr sz="1800" spc="-10" dirty="0">
                <a:latin typeface="Arial MT"/>
                <a:cs typeface="Arial MT"/>
              </a:rPr>
              <a:t> linked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550" y="5842090"/>
            <a:ext cx="527285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file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A00C30"/>
                </a:solidFill>
                <a:latin typeface="Arial"/>
                <a:cs typeface="Arial"/>
              </a:rPr>
              <a:t>myprogram</a:t>
            </a:r>
            <a:r>
              <a:rPr lang="en-US" sz="2000" b="1" spc="-10" dirty="0">
                <a:solidFill>
                  <a:srgbClr val="A00C30"/>
                </a:solidFill>
                <a:latin typeface="Arial"/>
                <a:cs typeface="Arial"/>
              </a:rPr>
              <a:t>		#macOS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br>
              <a:rPr lang="en-US" sz="2000" b="1" spc="-10" dirty="0">
                <a:solidFill>
                  <a:srgbClr val="A00C30"/>
                </a:solidFill>
                <a:latin typeface="Arial"/>
                <a:cs typeface="Arial"/>
              </a:rPr>
            </a:br>
            <a:r>
              <a:rPr sz="2000" b="1" dirty="0" err="1">
                <a:solidFill>
                  <a:srgbClr val="A00C30"/>
                </a:solidFill>
                <a:latin typeface="Arial"/>
                <a:cs typeface="Arial"/>
              </a:rPr>
              <a:t>ldd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A00C30"/>
                </a:solidFill>
                <a:latin typeface="Arial"/>
                <a:cs typeface="Arial"/>
              </a:rPr>
              <a:t>myprogram</a:t>
            </a:r>
            <a:r>
              <a:rPr lang="en-US" sz="2000" b="1" spc="-10" dirty="0">
                <a:solidFill>
                  <a:srgbClr val="A00C30"/>
                </a:solidFill>
                <a:latin typeface="Arial"/>
                <a:cs typeface="Arial"/>
              </a:rPr>
              <a:t>	#linux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78949" y="3272550"/>
            <a:ext cx="456628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Why</a:t>
            </a:r>
            <a:r>
              <a:rPr sz="20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archive</a:t>
            </a:r>
            <a:r>
              <a:rPr sz="20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(.a)</a:t>
            </a:r>
            <a:r>
              <a:rPr sz="20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files</a:t>
            </a:r>
            <a:r>
              <a:rPr sz="20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can</a:t>
            </a:r>
            <a:r>
              <a:rPr sz="20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be</a:t>
            </a:r>
            <a:r>
              <a:rPr sz="20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F2044"/>
                </a:solidFill>
                <a:latin typeface="Arial"/>
                <a:cs typeface="Arial"/>
              </a:rPr>
              <a:t>helpful: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78949" y="3808174"/>
            <a:ext cx="4566285" cy="2305759"/>
          </a:xfrm>
          <a:prstGeom prst="rect">
            <a:avLst/>
          </a:prstGeom>
          <a:solidFill>
            <a:srgbClr val="D9EAD3"/>
          </a:solidFill>
          <a:ln w="9524">
            <a:solidFill>
              <a:srgbClr val="188037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542925" marR="414655" indent="-457200">
              <a:spcBef>
                <a:spcPts val="580"/>
              </a:spcBef>
              <a:buFont typeface="+mj-lt"/>
              <a:buAutoNum type="arabicPeriod"/>
            </a:pPr>
            <a:r>
              <a:rPr sz="2000" b="1" dirty="0">
                <a:solidFill>
                  <a:srgbClr val="188037"/>
                </a:solidFill>
                <a:latin typeface="Arial"/>
                <a:cs typeface="Arial"/>
              </a:rPr>
              <a:t>Code</a:t>
            </a:r>
            <a:r>
              <a:rPr sz="2000" b="1" spc="-75" dirty="0">
                <a:solidFill>
                  <a:srgbClr val="188037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Arial"/>
                <a:cs typeface="Arial"/>
              </a:rPr>
              <a:t>Reusability</a:t>
            </a:r>
            <a:endParaRPr lang="en-US" sz="2000" b="1" spc="-75" dirty="0">
              <a:solidFill>
                <a:srgbClr val="188037"/>
              </a:solidFill>
              <a:latin typeface="Arial"/>
              <a:cs typeface="Arial"/>
            </a:endParaRPr>
          </a:p>
          <a:p>
            <a:pPr marL="542925" marR="414655" indent="-457200">
              <a:spcBef>
                <a:spcPts val="580"/>
              </a:spcBef>
              <a:buFont typeface="+mj-lt"/>
              <a:buAutoNum type="arabicPeriod"/>
            </a:pPr>
            <a:r>
              <a:rPr sz="2000" b="1" spc="-10" dirty="0">
                <a:solidFill>
                  <a:srgbClr val="188037"/>
                </a:solidFill>
                <a:latin typeface="Arial"/>
                <a:cs typeface="Arial"/>
              </a:rPr>
              <a:t>Simplifies </a:t>
            </a:r>
            <a:r>
              <a:rPr sz="2000" b="1" dirty="0">
                <a:solidFill>
                  <a:srgbClr val="188037"/>
                </a:solidFill>
                <a:latin typeface="Arial"/>
                <a:cs typeface="Arial"/>
              </a:rPr>
              <a:t>Linking</a:t>
            </a:r>
            <a:endParaRPr lang="en-US" sz="2000" b="1" spc="-40" dirty="0">
              <a:solidFill>
                <a:srgbClr val="188037"/>
              </a:solidFill>
              <a:latin typeface="Arial"/>
              <a:cs typeface="Arial"/>
            </a:endParaRPr>
          </a:p>
          <a:p>
            <a:pPr marL="542925" marR="414655" indent="-457200">
              <a:spcBef>
                <a:spcPts val="580"/>
              </a:spcBef>
              <a:buFont typeface="+mj-lt"/>
              <a:buAutoNum type="arabicPeriod"/>
            </a:pPr>
            <a:r>
              <a:rPr sz="2000" b="1" spc="-10" dirty="0">
                <a:solidFill>
                  <a:srgbClr val="188037"/>
                </a:solidFill>
                <a:latin typeface="Arial"/>
                <a:cs typeface="Arial"/>
              </a:rPr>
              <a:t>Improved </a:t>
            </a:r>
            <a:r>
              <a:rPr sz="2000" b="1" dirty="0">
                <a:solidFill>
                  <a:srgbClr val="188037"/>
                </a:solidFill>
                <a:latin typeface="Arial"/>
                <a:cs typeface="Arial"/>
              </a:rPr>
              <a:t>Compilation</a:t>
            </a:r>
            <a:r>
              <a:rPr sz="2000" b="1" spc="-55" dirty="0">
                <a:solidFill>
                  <a:srgbClr val="188037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Arial"/>
                <a:cs typeface="Arial"/>
              </a:rPr>
              <a:t>Speed</a:t>
            </a:r>
            <a:endParaRPr lang="en-US" sz="2000" dirty="0">
              <a:latin typeface="Arial"/>
              <a:cs typeface="Arial"/>
            </a:endParaRPr>
          </a:p>
          <a:p>
            <a:pPr marL="542925" marR="414655" indent="-457200">
              <a:spcBef>
                <a:spcPts val="580"/>
              </a:spcBef>
              <a:buFont typeface="+mj-lt"/>
              <a:buAutoNum type="arabicPeriod"/>
            </a:pPr>
            <a:r>
              <a:rPr sz="2000" b="1" spc="-10" dirty="0">
                <a:solidFill>
                  <a:srgbClr val="188037"/>
                </a:solidFill>
                <a:latin typeface="Arial"/>
                <a:cs typeface="Arial"/>
              </a:rPr>
              <a:t>Self-</a:t>
            </a:r>
            <a:r>
              <a:rPr sz="2000" b="1" dirty="0">
                <a:solidFill>
                  <a:srgbClr val="188037"/>
                </a:solidFill>
                <a:latin typeface="Arial"/>
                <a:cs typeface="Arial"/>
              </a:rPr>
              <a:t>Contained</a:t>
            </a:r>
            <a:r>
              <a:rPr sz="2000" b="1" spc="-20" dirty="0">
                <a:solidFill>
                  <a:srgbClr val="188037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Arial"/>
                <a:cs typeface="Arial"/>
              </a:rPr>
              <a:t>Executables</a:t>
            </a:r>
            <a:endParaRPr lang="en-US" sz="2000" b="1" spc="-10" dirty="0">
              <a:solidFill>
                <a:srgbClr val="188037"/>
              </a:solidFill>
              <a:latin typeface="Arial"/>
              <a:cs typeface="Arial"/>
            </a:endParaRPr>
          </a:p>
          <a:p>
            <a:pPr marL="542925" marR="414655" indent="-457200">
              <a:spcBef>
                <a:spcPts val="580"/>
              </a:spcBef>
              <a:buFont typeface="+mj-lt"/>
              <a:buAutoNum type="arabicPeriod"/>
            </a:pPr>
            <a:r>
              <a:rPr sz="2000" b="1" spc="-10" dirty="0">
                <a:solidFill>
                  <a:srgbClr val="188037"/>
                </a:solidFill>
                <a:latin typeface="Arial"/>
                <a:cs typeface="Arial"/>
              </a:rPr>
              <a:t>Version</a:t>
            </a:r>
            <a:r>
              <a:rPr sz="2000" b="1" spc="-125" dirty="0">
                <a:solidFill>
                  <a:srgbClr val="188037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Arial"/>
                <a:cs typeface="Arial"/>
              </a:rPr>
              <a:t>Stability</a:t>
            </a:r>
            <a:endParaRPr lang="en-US" sz="2000" b="1" spc="-125" dirty="0">
              <a:solidFill>
                <a:srgbClr val="188037"/>
              </a:solidFill>
              <a:latin typeface="Arial"/>
              <a:cs typeface="Arial"/>
            </a:endParaRPr>
          </a:p>
          <a:p>
            <a:pPr marL="542925" marR="414655" indent="-457200">
              <a:spcBef>
                <a:spcPts val="580"/>
              </a:spcBef>
              <a:buFont typeface="+mj-lt"/>
              <a:buAutoNum type="arabicPeriod"/>
            </a:pPr>
            <a:r>
              <a:rPr sz="2000" b="1" spc="-10" dirty="0">
                <a:solidFill>
                  <a:srgbClr val="188037"/>
                </a:solidFill>
                <a:latin typeface="Arial"/>
                <a:cs typeface="Arial"/>
              </a:rPr>
              <a:t>Portability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25300" y="1463756"/>
            <a:ext cx="3018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Relocation</a:t>
            </a:r>
            <a:r>
              <a:rPr sz="18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in</a:t>
            </a:r>
            <a:r>
              <a:rPr sz="18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Static</a:t>
            </a:r>
            <a:r>
              <a:rPr sz="18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Linking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52275" y="1847250"/>
            <a:ext cx="5499100" cy="4447756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42925" marR="78740" indent="-351790">
              <a:lnSpc>
                <a:spcPct val="114000"/>
              </a:lnSpc>
              <a:spcBef>
                <a:spcPts val="320"/>
              </a:spcBef>
              <a:spcAft>
                <a:spcPts val="600"/>
              </a:spcAft>
              <a:buChar char="●"/>
              <a:tabLst>
                <a:tab pos="542925" algn="l"/>
              </a:tabLst>
            </a:pPr>
            <a:r>
              <a:rPr sz="1600" dirty="0">
                <a:latin typeface="Arial MT"/>
                <a:cs typeface="Arial MT"/>
              </a:rPr>
              <a:t>When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linking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statically,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linker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latin typeface="Courier New"/>
                <a:cs typeface="Courier New"/>
              </a:rPr>
              <a:t>ld</a:t>
            </a:r>
            <a:r>
              <a:rPr sz="1600" dirty="0">
                <a:latin typeface="Arial MT"/>
                <a:cs typeface="Arial MT"/>
              </a:rPr>
              <a:t>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resolves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symbol </a:t>
            </a:r>
            <a:r>
              <a:rPr sz="1600" dirty="0">
                <a:latin typeface="Arial MT"/>
                <a:cs typeface="Arial MT"/>
              </a:rPr>
              <a:t>addresses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b="1" spc="-20" dirty="0">
                <a:latin typeface="Arial"/>
                <a:cs typeface="Arial"/>
              </a:rPr>
              <a:t>compile-time</a:t>
            </a:r>
            <a:r>
              <a:rPr sz="1600" spc="-2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542925" marR="443230" indent="-351790">
              <a:lnSpc>
                <a:spcPct val="114000"/>
              </a:lnSpc>
              <a:spcAft>
                <a:spcPts val="600"/>
              </a:spcAft>
              <a:buChar char="●"/>
              <a:tabLst>
                <a:tab pos="542925" algn="l"/>
              </a:tabLst>
            </a:pP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relocates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absolute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addresses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object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25" dirty="0">
                <a:latin typeface="Arial MT"/>
                <a:cs typeface="Arial MT"/>
              </a:rPr>
              <a:t> and </a:t>
            </a:r>
            <a:r>
              <a:rPr sz="1600" dirty="0">
                <a:latin typeface="Arial MT"/>
                <a:cs typeface="Arial MT"/>
              </a:rPr>
              <a:t>merges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them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single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executable.</a:t>
            </a:r>
            <a:endParaRPr sz="1600" dirty="0">
              <a:latin typeface="Arial MT"/>
              <a:cs typeface="Arial MT"/>
            </a:endParaRPr>
          </a:p>
          <a:p>
            <a:pPr marL="542925" marR="636270" indent="-351790" algn="just">
              <a:lnSpc>
                <a:spcPct val="114000"/>
              </a:lnSpc>
              <a:spcAft>
                <a:spcPts val="1200"/>
              </a:spcAft>
              <a:buChar char="●"/>
              <a:tabLst>
                <a:tab pos="542925" algn="l"/>
                <a:tab pos="544830" algn="l"/>
              </a:tabLst>
            </a:pPr>
            <a:r>
              <a:rPr sz="1600" dirty="0">
                <a:latin typeface="Arial MT"/>
                <a:cs typeface="Arial MT"/>
              </a:rPr>
              <a:t>	Once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executable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created,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contains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fixed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addresses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symbols,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meaning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no </a:t>
            </a:r>
            <a:r>
              <a:rPr sz="1600" dirty="0">
                <a:latin typeface="Arial MT"/>
                <a:cs typeface="Arial MT"/>
              </a:rPr>
              <a:t>further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relocation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needed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runtime.</a:t>
            </a:r>
            <a:endParaRPr sz="1600" dirty="0">
              <a:latin typeface="Arial MT"/>
              <a:cs typeface="Arial MT"/>
            </a:endParaRPr>
          </a:p>
          <a:p>
            <a:pPr marL="542290" indent="-397510">
              <a:lnSpc>
                <a:spcPct val="114000"/>
              </a:lnSpc>
              <a:spcBef>
                <a:spcPts val="5"/>
              </a:spcBef>
              <a:spcAft>
                <a:spcPts val="600"/>
              </a:spcAft>
              <a:buAutoNum type="arabicPeriod"/>
              <a:tabLst>
                <a:tab pos="542290" algn="l"/>
              </a:tabLst>
            </a:pPr>
            <a:r>
              <a:rPr sz="1600" spc="-25" dirty="0">
                <a:latin typeface="Arial MT"/>
                <a:cs typeface="Arial MT"/>
              </a:rPr>
              <a:t>You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20" dirty="0">
                <a:latin typeface="Courier New"/>
                <a:cs typeface="Courier New"/>
              </a:rPr>
              <a:t>math_operations.c</a:t>
            </a:r>
            <a:r>
              <a:rPr sz="1600" b="1" spc="-520" dirty="0">
                <a:latin typeface="Courier New"/>
                <a:cs typeface="Courier New"/>
              </a:rPr>
              <a:t> </a:t>
            </a:r>
            <a:r>
              <a:rPr sz="1600" spc="-25" dirty="0">
                <a:latin typeface="Arial MT"/>
                <a:cs typeface="Arial MT"/>
              </a:rPr>
              <a:t>and</a:t>
            </a:r>
            <a:endParaRPr sz="1600" dirty="0">
              <a:latin typeface="Arial MT"/>
              <a:cs typeface="Arial MT"/>
            </a:endParaRPr>
          </a:p>
          <a:p>
            <a:pPr marL="542925">
              <a:lnSpc>
                <a:spcPct val="114000"/>
              </a:lnSpc>
              <a:spcBef>
                <a:spcPts val="285"/>
              </a:spcBef>
            </a:pPr>
            <a:r>
              <a:rPr sz="1600" b="1" spc="-20" dirty="0">
                <a:latin typeface="Courier New"/>
                <a:cs typeface="Courier New"/>
              </a:rPr>
              <a:t>string_operations.c</a:t>
            </a:r>
            <a:r>
              <a:rPr sz="1600" b="1" spc="-505" dirty="0"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into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object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</a:t>
            </a:r>
            <a:r>
              <a:rPr sz="1600" b="1" spc="-10" dirty="0">
                <a:latin typeface="Courier New"/>
                <a:cs typeface="Courier New"/>
              </a:rPr>
              <a:t>.o</a:t>
            </a:r>
            <a:r>
              <a:rPr sz="1600" spc="-10" dirty="0">
                <a:latin typeface="Arial MT"/>
                <a:cs typeface="Arial MT"/>
              </a:rPr>
              <a:t>).</a:t>
            </a:r>
            <a:endParaRPr sz="1600" dirty="0">
              <a:latin typeface="Arial MT"/>
              <a:cs typeface="Arial MT"/>
            </a:endParaRPr>
          </a:p>
          <a:p>
            <a:pPr marL="542925" marR="499745" indent="-398145">
              <a:lnSpc>
                <a:spcPct val="114000"/>
              </a:lnSpc>
              <a:spcAft>
                <a:spcPts val="600"/>
              </a:spcAft>
              <a:buAutoNum type="arabicPeriod" startAt="2"/>
              <a:tabLst>
                <a:tab pos="54292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linker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resolves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symbols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10" dirty="0">
                <a:latin typeface="Arial MT"/>
                <a:cs typeface="Arial MT"/>
              </a:rPr>
              <a:t> replaces </a:t>
            </a:r>
            <a:r>
              <a:rPr sz="1600" dirty="0">
                <a:latin typeface="Arial MT"/>
                <a:cs typeface="Arial MT"/>
              </a:rPr>
              <a:t>references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function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calls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absolute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memory addresses.</a:t>
            </a:r>
            <a:endParaRPr sz="1600" dirty="0">
              <a:latin typeface="Arial MT"/>
              <a:cs typeface="Arial MT"/>
            </a:endParaRPr>
          </a:p>
          <a:p>
            <a:pPr marL="542925" marR="509905" indent="-398145">
              <a:lnSpc>
                <a:spcPct val="114000"/>
              </a:lnSpc>
              <a:buAutoNum type="arabicPeriod" startAt="2"/>
              <a:tabLst>
                <a:tab pos="54292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final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binary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dependencies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10" dirty="0">
                <a:latin typeface="Arial MT"/>
                <a:cs typeface="Arial MT"/>
              </a:rPr>
              <a:t> external </a:t>
            </a:r>
            <a:r>
              <a:rPr sz="1600" dirty="0">
                <a:latin typeface="Arial MT"/>
                <a:cs typeface="Arial MT"/>
              </a:rPr>
              <a:t>shared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libraries.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30900" y="1449430"/>
            <a:ext cx="3348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Relocation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Dynamic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Linking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57874" y="1847250"/>
            <a:ext cx="5499100" cy="440736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42925" marR="229235" indent="-351790">
              <a:lnSpc>
                <a:spcPct val="114999"/>
              </a:lnSpc>
              <a:spcBef>
                <a:spcPts val="320"/>
              </a:spcBef>
              <a:spcAft>
                <a:spcPts val="600"/>
              </a:spcAft>
              <a:buChar char="●"/>
              <a:tabLst>
                <a:tab pos="542925" algn="l"/>
              </a:tabLst>
            </a:pPr>
            <a:r>
              <a:rPr sz="1600" dirty="0">
                <a:latin typeface="Arial MT"/>
                <a:cs typeface="Arial MT"/>
              </a:rPr>
              <a:t>In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dynamic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linking,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executable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contains </a:t>
            </a:r>
            <a:r>
              <a:rPr sz="1600" dirty="0">
                <a:latin typeface="Arial MT"/>
                <a:cs typeface="Arial MT"/>
              </a:rPr>
              <a:t>placeholders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(relocation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entries)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symbols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will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resolved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spc="-10" dirty="0">
                <a:latin typeface="Arial"/>
                <a:cs typeface="Arial"/>
              </a:rPr>
              <a:t>runtime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542925" marR="330200" indent="-351790">
              <a:lnSpc>
                <a:spcPct val="114999"/>
              </a:lnSpc>
              <a:spcAft>
                <a:spcPts val="600"/>
              </a:spcAft>
              <a:buChar char="●"/>
              <a:tabLst>
                <a:tab pos="54292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dynamic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linker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ld.so</a:t>
            </a:r>
            <a:r>
              <a:rPr sz="1600" dirty="0">
                <a:latin typeface="Arial MT"/>
                <a:cs typeface="Arial MT"/>
              </a:rPr>
              <a:t>)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loads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shared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libraries </a:t>
            </a:r>
            <a:r>
              <a:rPr sz="1600" dirty="0">
                <a:latin typeface="Arial MT"/>
                <a:cs typeface="Arial MT"/>
              </a:rPr>
              <a:t>into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performs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runtime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relocation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542925" marR="224154" indent="-351790">
              <a:lnSpc>
                <a:spcPct val="114999"/>
              </a:lnSpc>
              <a:spcAft>
                <a:spcPts val="1200"/>
              </a:spcAft>
              <a:buChar char="●"/>
              <a:tabLst>
                <a:tab pos="542925" algn="l"/>
              </a:tabLst>
            </a:pP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allows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shared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libraries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20" dirty="0">
                <a:latin typeface="Arial MT"/>
                <a:cs typeface="Arial MT"/>
              </a:rPr>
              <a:t>(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.so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files)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updated </a:t>
            </a:r>
            <a:r>
              <a:rPr sz="1600" dirty="0">
                <a:latin typeface="Arial MT"/>
                <a:cs typeface="Arial MT"/>
              </a:rPr>
              <a:t>independently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without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recompiling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executable.</a:t>
            </a:r>
            <a:endParaRPr sz="1600" dirty="0">
              <a:latin typeface="Arial MT"/>
              <a:cs typeface="Arial MT"/>
            </a:endParaRPr>
          </a:p>
          <a:p>
            <a:pPr marL="542290" indent="-39751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42290" algn="l"/>
              </a:tabLst>
            </a:pPr>
            <a:r>
              <a:rPr sz="1600" spc="-25" dirty="0">
                <a:latin typeface="Arial MT"/>
                <a:cs typeface="Arial MT"/>
              </a:rPr>
              <a:t>You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program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link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against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libm.so</a:t>
            </a:r>
            <a:endParaRPr sz="1600" b="1" dirty="0">
              <a:latin typeface="Courier New"/>
              <a:cs typeface="Courier New"/>
            </a:endParaRPr>
          </a:p>
          <a:p>
            <a:pPr marL="542925">
              <a:lnSpc>
                <a:spcPct val="100000"/>
              </a:lnSpc>
              <a:spcBef>
                <a:spcPts val="285"/>
              </a:spcBef>
              <a:spcAft>
                <a:spcPts val="600"/>
              </a:spcAft>
            </a:pPr>
            <a:r>
              <a:rPr sz="1600" spc="-10" dirty="0">
                <a:latin typeface="Arial MT"/>
                <a:cs typeface="Arial MT"/>
              </a:rPr>
              <a:t>dynamically.</a:t>
            </a:r>
            <a:endParaRPr sz="1600" dirty="0">
              <a:latin typeface="Arial MT"/>
              <a:cs typeface="Arial MT"/>
            </a:endParaRPr>
          </a:p>
          <a:p>
            <a:pPr marL="542925" marR="396875" indent="-398145">
              <a:lnSpc>
                <a:spcPct val="114999"/>
              </a:lnSpc>
              <a:spcAft>
                <a:spcPts val="600"/>
              </a:spcAft>
              <a:buAutoNum type="arabicPeriod" startAt="2"/>
              <a:tabLst>
                <a:tab pos="54292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generated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executable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not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have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absolute </a:t>
            </a:r>
            <a:r>
              <a:rPr sz="1600" dirty="0">
                <a:latin typeface="Arial MT"/>
                <a:cs typeface="Arial MT"/>
              </a:rPr>
              <a:t>addresses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sqrt()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(from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libm.so</a:t>
            </a:r>
            <a:r>
              <a:rPr sz="1600" spc="-10" dirty="0">
                <a:latin typeface="Arial MT"/>
                <a:cs typeface="Arial MT"/>
              </a:rPr>
              <a:t>).</a:t>
            </a:r>
            <a:endParaRPr sz="1600" dirty="0">
              <a:latin typeface="Arial MT"/>
              <a:cs typeface="Arial MT"/>
            </a:endParaRPr>
          </a:p>
          <a:p>
            <a:pPr marL="542925" marR="106045" indent="-398145">
              <a:lnSpc>
                <a:spcPct val="114999"/>
              </a:lnSpc>
              <a:buAutoNum type="arabicPeriod" startAt="2"/>
              <a:tabLst>
                <a:tab pos="542925" algn="l"/>
              </a:tabLst>
            </a:pPr>
            <a:r>
              <a:rPr sz="1600" dirty="0">
                <a:latin typeface="Arial MT"/>
                <a:cs typeface="Arial MT"/>
              </a:rPr>
              <a:t>At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runtime,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ld.so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loads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libm.so</a:t>
            </a:r>
            <a:r>
              <a:rPr sz="1600" spc="-10" dirty="0">
                <a:latin typeface="Arial MT"/>
                <a:cs typeface="Arial MT"/>
              </a:rPr>
              <a:t>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finds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sqrt()</a:t>
            </a:r>
            <a:r>
              <a:rPr sz="1600" spc="-10" dirty="0">
                <a:latin typeface="Arial MT"/>
                <a:cs typeface="Arial MT"/>
              </a:rPr>
              <a:t>,</a:t>
            </a:r>
            <a:r>
              <a:rPr sz="1600" spc="5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patches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relocation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table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point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correct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address.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A detailed technical diagram illustrating the phases of a compiler driver, from source code (prog.c) through preprocessing, compilation, assembly, and linking to the final executable and process."/>
          <p:cNvGrpSpPr/>
          <p:nvPr/>
        </p:nvGrpSpPr>
        <p:grpSpPr>
          <a:xfrm>
            <a:off x="1052812" y="1295400"/>
            <a:ext cx="10086376" cy="4533810"/>
            <a:chOff x="353024" y="2012225"/>
            <a:chExt cx="7742555" cy="38169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3563" y="2021750"/>
              <a:ext cx="6878518" cy="371076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7787" y="2016987"/>
              <a:ext cx="7733030" cy="3807460"/>
            </a:xfrm>
            <a:custGeom>
              <a:avLst/>
              <a:gdLst/>
              <a:ahLst/>
              <a:cxnLst/>
              <a:rect l="l" t="t" r="r" b="b"/>
              <a:pathLst>
                <a:path w="7733030" h="3807460">
                  <a:moveTo>
                    <a:pt x="0" y="0"/>
                  </a:moveTo>
                  <a:lnTo>
                    <a:pt x="7732773" y="0"/>
                  </a:lnTo>
                  <a:lnTo>
                    <a:pt x="7732773" y="3807025"/>
                  </a:lnTo>
                  <a:lnTo>
                    <a:pt x="0" y="38070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752600" y="6096000"/>
            <a:ext cx="9222740" cy="369332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 marR="90805">
              <a:lnSpc>
                <a:spcPct val="100000"/>
              </a:lnSpc>
              <a:spcBef>
                <a:spcPts val="600"/>
              </a:spcBef>
            </a:pP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More Information</a:t>
            </a:r>
            <a:r>
              <a:rPr sz="1900" spc="-10" dirty="0">
                <a:solidFill>
                  <a:srgbClr val="0F2044"/>
                </a:solidFill>
                <a:latin typeface="Arial MT"/>
                <a:cs typeface="Arial MT"/>
              </a:rPr>
              <a:t>: </a:t>
            </a:r>
            <a:r>
              <a:rPr sz="1900" u="heavy" spc="-10" dirty="0">
                <a:solidFill>
                  <a:srgbClr val="00688C"/>
                </a:solidFill>
                <a:uFill>
                  <a:solidFill>
                    <a:srgbClr val="00688C"/>
                  </a:solidFill>
                </a:uFill>
                <a:latin typeface="Arial MT"/>
                <a:cs typeface="Arial MT"/>
                <a:hlinkClick r:id="rId3"/>
              </a:rPr>
              <a:t>https://people.cs.pitt.edu/~xiane</a:t>
            </a:r>
            <a:r>
              <a:rPr sz="1900" spc="-10" dirty="0">
                <a:solidFill>
                  <a:srgbClr val="00688C"/>
                </a:solidFill>
                <a:latin typeface="Arial MT"/>
                <a:cs typeface="Arial MT"/>
              </a:rPr>
              <a:t> </a:t>
            </a:r>
            <a:r>
              <a:rPr sz="1900" u="heavy" spc="-10" dirty="0">
                <a:solidFill>
                  <a:srgbClr val="00688C"/>
                </a:solidFill>
                <a:uFill>
                  <a:solidFill>
                    <a:srgbClr val="00688C"/>
                  </a:solidFill>
                </a:uFill>
                <a:latin typeface="Arial MT"/>
                <a:cs typeface="Arial MT"/>
                <a:hlinkClick r:id="rId3"/>
              </a:rPr>
              <a:t>izhang/notes/Linking.html</a:t>
            </a:r>
            <a:endParaRPr sz="1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375" y="1689861"/>
            <a:ext cx="479996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Use</a:t>
            </a:r>
            <a:r>
              <a:rPr sz="18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compile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it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without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linking: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22324" y="2115474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example.c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example.o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5349" y="2863606"/>
            <a:ext cx="3099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Run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following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command</a:t>
            </a:r>
            <a:r>
              <a:rPr sz="1800" spc="-25" dirty="0">
                <a:latin typeface="Arial MT"/>
                <a:cs typeface="Arial MT"/>
              </a:rPr>
              <a:t> to </a:t>
            </a:r>
            <a:r>
              <a:rPr sz="1800" dirty="0">
                <a:latin typeface="Arial MT"/>
                <a:cs typeface="Arial MT"/>
              </a:rPr>
              <a:t>inspect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symbol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table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2324" y="3563275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objdump</a:t>
            </a:r>
            <a:r>
              <a:rPr sz="2000" b="1" spc="-6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-t</a:t>
            </a:r>
            <a:r>
              <a:rPr sz="2000" b="1" spc="-6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example.o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349" y="4463806"/>
            <a:ext cx="3404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Inspect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relocation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entries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using: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2324" y="4858675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objdump</a:t>
            </a:r>
            <a:r>
              <a:rPr sz="2000" b="1" spc="-6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r</a:t>
            </a:r>
            <a:r>
              <a:rPr sz="2000" b="1" spc="-6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example.o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 descr="A terminal output showing a Mach-O arm64 symbol table for an object file, with a red box highlighting the _print_message symbol at address zero."/>
          <p:cNvGrpSpPr/>
          <p:nvPr/>
        </p:nvGrpSpPr>
        <p:grpSpPr>
          <a:xfrm>
            <a:off x="4701025" y="1295400"/>
            <a:ext cx="7338695" cy="3289935"/>
            <a:chOff x="4701025" y="1371600"/>
            <a:chExt cx="7338695" cy="32899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1025" y="1371600"/>
              <a:ext cx="7338574" cy="31888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32549" y="4226649"/>
              <a:ext cx="2134870" cy="420370"/>
            </a:xfrm>
            <a:custGeom>
              <a:avLst/>
              <a:gdLst/>
              <a:ahLst/>
              <a:cxnLst/>
              <a:rect l="l" t="t" r="r" b="b"/>
              <a:pathLst>
                <a:path w="2134870" h="420370">
                  <a:moveTo>
                    <a:pt x="0" y="0"/>
                  </a:moveTo>
                  <a:lnTo>
                    <a:pt x="2134799" y="0"/>
                  </a:lnTo>
                  <a:lnTo>
                    <a:pt x="2134799" y="420299"/>
                  </a:lnTo>
                  <a:lnTo>
                    <a:pt x="0" y="4202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64562" y="4724400"/>
            <a:ext cx="6895465" cy="1881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14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latin typeface="Arial"/>
                <a:cs typeface="Arial"/>
              </a:rPr>
              <a:t>Global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Symbols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g</a:t>
            </a:r>
            <a:r>
              <a:rPr sz="1800" b="1" dirty="0">
                <a:latin typeface="Arial"/>
                <a:cs typeface="Arial"/>
              </a:rPr>
              <a:t>)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visible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outside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25" dirty="0">
                <a:latin typeface="Arial MT"/>
                <a:cs typeface="Arial MT"/>
              </a:rPr>
              <a:t> </a:t>
            </a:r>
            <a:br>
              <a:rPr lang="en-US" sz="1800" spc="-25" dirty="0">
                <a:latin typeface="Arial MT"/>
                <a:cs typeface="Arial MT"/>
              </a:rPr>
            </a:br>
            <a:r>
              <a:rPr sz="1800" spc="-10" dirty="0">
                <a:latin typeface="Arial MT"/>
                <a:cs typeface="Arial MT"/>
              </a:rPr>
              <a:t>(e.g.,</a:t>
            </a:r>
            <a:r>
              <a:rPr lang="en-US" spc="-10" dirty="0">
                <a:latin typeface="Arial MT"/>
                <a:cs typeface="Arial MT"/>
              </a:rPr>
              <a:t> </a:t>
            </a:r>
            <a:r>
              <a:rPr sz="1800" b="1" dirty="0" err="1">
                <a:solidFill>
                  <a:srgbClr val="188037"/>
                </a:solidFill>
                <a:latin typeface="Courier New"/>
                <a:cs typeface="Courier New"/>
              </a:rPr>
              <a:t>global_var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55" dirty="0">
                <a:latin typeface="Arial MT"/>
                <a:cs typeface="Arial MT"/>
              </a:rPr>
              <a:t> </a:t>
            </a:r>
            <a:r>
              <a:rPr lang="en-US" sz="1800" b="1" spc="-55" dirty="0">
                <a:latin typeface="Arial MT"/>
                <a:cs typeface="Arial MT"/>
              </a:rPr>
              <a:t> </a:t>
            </a:r>
            <a:r>
              <a:rPr sz="1800" b="1" dirty="0" err="1">
                <a:solidFill>
                  <a:srgbClr val="188037"/>
                </a:solidFill>
                <a:latin typeface="Courier New"/>
                <a:cs typeface="Courier New"/>
              </a:rPr>
              <a:t>print_message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50" dirty="0">
                <a:latin typeface="Arial MT"/>
                <a:cs typeface="Arial MT"/>
              </a:rPr>
              <a:t> </a:t>
            </a:r>
            <a:r>
              <a:rPr lang="en-US" sz="1800" b="1" spc="-5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main</a:t>
            </a:r>
            <a:r>
              <a:rPr sz="1800" spc="-10" dirty="0">
                <a:latin typeface="Arial MT"/>
                <a:cs typeface="Arial MT"/>
              </a:rPr>
              <a:t>).</a:t>
            </a:r>
            <a:endParaRPr sz="1800" dirty="0">
              <a:latin typeface="Arial MT"/>
              <a:cs typeface="Arial MT"/>
            </a:endParaRPr>
          </a:p>
          <a:p>
            <a:pPr marL="379095" indent="-366395">
              <a:lnSpc>
                <a:spcPct val="114000"/>
              </a:lnSpc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latin typeface="Arial"/>
                <a:cs typeface="Arial"/>
              </a:rPr>
              <a:t>Local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Symbols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l</a:t>
            </a:r>
            <a:r>
              <a:rPr sz="1800" b="1" dirty="0">
                <a:latin typeface="Arial"/>
                <a:cs typeface="Arial"/>
              </a:rPr>
              <a:t>)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internal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exposed</a:t>
            </a:r>
            <a:r>
              <a:rPr sz="1800" spc="-25" dirty="0">
                <a:latin typeface="Arial MT"/>
                <a:cs typeface="Arial MT"/>
              </a:rPr>
              <a:t> </a:t>
            </a:r>
            <a:br>
              <a:rPr lang="en-US" sz="1800" spc="-25" dirty="0">
                <a:latin typeface="Arial MT"/>
                <a:cs typeface="Arial MT"/>
              </a:rPr>
            </a:br>
            <a:r>
              <a:rPr sz="1800" spc="-10" dirty="0">
                <a:latin typeface="Arial MT"/>
                <a:cs typeface="Arial MT"/>
              </a:rPr>
              <a:t>(e.g.,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sz="1800"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local_var</a:t>
            </a:r>
            <a:r>
              <a:rPr sz="1800" spc="-10" dirty="0">
                <a:latin typeface="Arial MT"/>
                <a:cs typeface="Arial MT"/>
              </a:rPr>
              <a:t>).</a:t>
            </a:r>
            <a:endParaRPr sz="1800" dirty="0">
              <a:latin typeface="Arial MT"/>
              <a:cs typeface="Arial MT"/>
            </a:endParaRPr>
          </a:p>
          <a:p>
            <a:pPr marL="379095" marR="5080" indent="-367030">
              <a:lnSpc>
                <a:spcPct val="114000"/>
              </a:lnSpc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latin typeface="Arial"/>
                <a:cs typeface="Arial"/>
              </a:rPr>
              <a:t>Address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Placeholder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addresses</a:t>
            </a:r>
            <a:r>
              <a:rPr sz="1800" spc="-20" dirty="0">
                <a:latin typeface="Arial MT"/>
                <a:cs typeface="Arial MT"/>
              </a:rPr>
              <a:t> </a:t>
            </a:r>
            <a:br>
              <a:rPr lang="en-US" sz="1800" spc="-20" dirty="0">
                <a:latin typeface="Arial MT"/>
                <a:cs typeface="Arial MT"/>
              </a:rPr>
            </a:br>
            <a:r>
              <a:rPr sz="1800" dirty="0">
                <a:latin typeface="Arial MT"/>
                <a:cs typeface="Arial MT"/>
              </a:rPr>
              <a:t>(since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hasn’t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happened yet).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0375" y="1689861"/>
            <a:ext cx="479996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Use</a:t>
            </a:r>
            <a:r>
              <a:rPr sz="18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compile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it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without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linking: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2324" y="2115474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example.c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example.o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349" y="2863606"/>
            <a:ext cx="3099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Run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following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command</a:t>
            </a:r>
            <a:r>
              <a:rPr sz="1800" spc="-25" dirty="0">
                <a:latin typeface="Arial MT"/>
                <a:cs typeface="Arial MT"/>
              </a:rPr>
              <a:t> to </a:t>
            </a:r>
            <a:r>
              <a:rPr sz="1800" dirty="0">
                <a:latin typeface="Arial MT"/>
                <a:cs typeface="Arial MT"/>
              </a:rPr>
              <a:t>inspect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symbol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table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2324" y="3563275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objdump</a:t>
            </a:r>
            <a:r>
              <a:rPr sz="2000" b="1" spc="-6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-t</a:t>
            </a:r>
            <a:r>
              <a:rPr sz="2000" b="1" spc="-6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example.o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349" y="4463806"/>
            <a:ext cx="3404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Inspect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relocation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entries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using: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2324" y="4858675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objdump</a:t>
            </a:r>
            <a:r>
              <a:rPr sz="2000" b="1" spc="-6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r</a:t>
            </a:r>
            <a:r>
              <a:rPr sz="2000" b="1" spc="-6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example.o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" name="object 2" descr="A terminal output listing relocation records for an object file, showing offsets and types like ARM64_RELOC_BRANCH26 for symbols such as _print_message and _printf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1400" y="1585025"/>
            <a:ext cx="6908199" cy="35535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204425" y="5374008"/>
            <a:ext cx="603377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RELOCATION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RECORDS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FOR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[.text]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for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code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section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0099" y="1775083"/>
            <a:ext cx="4366260" cy="3450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spcAft>
                <a:spcPts val="1200"/>
              </a:spcAft>
              <a:buFont typeface="Arial MT"/>
              <a:buChar char="●"/>
              <a:tabLst>
                <a:tab pos="379095" algn="l"/>
              </a:tabLst>
            </a:pPr>
            <a:r>
              <a:rPr b="1" dirty="0">
                <a:latin typeface="Courier New"/>
                <a:cs typeface="Courier New"/>
              </a:rPr>
              <a:t>OFFSET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Location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 </a:t>
            </a:r>
            <a:r>
              <a:rPr b="1" spc="-10" dirty="0">
                <a:latin typeface="Courier New"/>
                <a:cs typeface="Courier New"/>
              </a:rPr>
              <a:t>.text</a:t>
            </a:r>
            <a:r>
              <a:rPr b="1" spc="-585" dirty="0">
                <a:latin typeface="Courier New"/>
                <a:cs typeface="Courier New"/>
              </a:rPr>
              <a:t> </a:t>
            </a:r>
            <a:r>
              <a:rPr spc="-10" dirty="0">
                <a:latin typeface="Arial MT"/>
                <a:cs typeface="Arial MT"/>
              </a:rPr>
              <a:t>section </a:t>
            </a:r>
            <a:r>
              <a:rPr dirty="0">
                <a:latin typeface="Arial MT"/>
                <a:cs typeface="Arial MT"/>
              </a:rPr>
              <a:t>where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relocation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needed.</a:t>
            </a:r>
            <a:endParaRPr lang="en-US" spc="-10" dirty="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buFont typeface="Arial MT"/>
              <a:buChar char="●"/>
              <a:tabLst>
                <a:tab pos="379095" algn="l"/>
              </a:tabLst>
            </a:pPr>
            <a:r>
              <a:rPr lang="en-US" b="1" spc="-10" dirty="0">
                <a:latin typeface="Courier New"/>
                <a:cs typeface="Courier New"/>
              </a:rPr>
              <a:t>TYPE</a:t>
            </a:r>
            <a:r>
              <a:rPr lang="en-US" spc="-10" dirty="0">
                <a:latin typeface="Arial MT"/>
                <a:cs typeface="Arial MT"/>
              </a:rPr>
              <a:t>:</a:t>
            </a:r>
            <a:endParaRPr lang="en-US" dirty="0">
              <a:latin typeface="Arial MT"/>
              <a:cs typeface="Arial MT"/>
            </a:endParaRPr>
          </a:p>
          <a:p>
            <a:pPr marL="836294" marR="223520" lvl="1" indent="-367030">
              <a:lnSpc>
                <a:spcPct val="114999"/>
              </a:lnSpc>
              <a:buClr>
                <a:srgbClr val="000000"/>
              </a:buClr>
              <a:buFont typeface="Arial MT"/>
              <a:buChar char="○"/>
              <a:tabLst>
                <a:tab pos="836294" algn="l"/>
              </a:tabLst>
            </a:pPr>
            <a:r>
              <a:rPr lang="en-US" b="1" dirty="0">
                <a:solidFill>
                  <a:srgbClr val="980000"/>
                </a:solidFill>
                <a:latin typeface="Courier New"/>
                <a:cs typeface="Courier New"/>
              </a:rPr>
              <a:t>R_X86_64_PC32</a:t>
            </a:r>
            <a:r>
              <a:rPr lang="en-US" b="1" spc="-60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lang="en-US" spc="-25" dirty="0">
                <a:latin typeface="Courier New"/>
                <a:cs typeface="Courier New"/>
              </a:rPr>
              <a:t>or </a:t>
            </a:r>
            <a:r>
              <a:rPr lang="en-US" b="1" spc="-10" dirty="0">
                <a:solidFill>
                  <a:srgbClr val="980000"/>
                </a:solidFill>
                <a:latin typeface="Courier New"/>
                <a:cs typeface="Courier New"/>
              </a:rPr>
              <a:t>ARM64_RELOC_BRANCH26</a:t>
            </a:r>
            <a:r>
              <a:rPr lang="en-US" spc="-10" dirty="0">
                <a:latin typeface="Arial MT"/>
                <a:cs typeface="Arial MT"/>
              </a:rPr>
              <a:t>:</a:t>
            </a:r>
            <a:r>
              <a:rPr lang="en-US" spc="65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This</a:t>
            </a:r>
            <a:endParaRPr lang="en-US" dirty="0">
              <a:latin typeface="Arial MT"/>
              <a:cs typeface="Arial MT"/>
            </a:endParaRPr>
          </a:p>
          <a:p>
            <a:pPr marL="836294" marR="267335">
              <a:lnSpc>
                <a:spcPct val="114999"/>
              </a:lnSpc>
              <a:spcAft>
                <a:spcPts val="1200"/>
              </a:spcAft>
            </a:pPr>
            <a:r>
              <a:rPr lang="en-US" dirty="0">
                <a:latin typeface="Arial MT"/>
                <a:cs typeface="Arial MT"/>
              </a:rPr>
              <a:t>means</a:t>
            </a:r>
            <a:r>
              <a:rPr lang="en-US" spc="-1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</a:t>
            </a:r>
            <a:r>
              <a:rPr lang="en-US" spc="-5" dirty="0">
                <a:latin typeface="Arial MT"/>
                <a:cs typeface="Arial MT"/>
              </a:rPr>
              <a:t> </a:t>
            </a:r>
            <a:r>
              <a:rPr lang="en-US" b="1" spc="-10" dirty="0">
                <a:latin typeface="Arial"/>
                <a:cs typeface="Arial"/>
              </a:rPr>
              <a:t>PC-</a:t>
            </a:r>
            <a:r>
              <a:rPr lang="en-US" b="1" dirty="0">
                <a:latin typeface="Arial"/>
                <a:cs typeface="Arial"/>
              </a:rPr>
              <a:t>relative</a:t>
            </a:r>
            <a:r>
              <a:rPr lang="en-US" b="1" spc="-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 MT"/>
                <a:cs typeface="Arial MT"/>
              </a:rPr>
              <a:t>relocation </a:t>
            </a:r>
            <a:r>
              <a:rPr lang="en-US" dirty="0">
                <a:latin typeface="Arial MT"/>
                <a:cs typeface="Arial MT"/>
              </a:rPr>
              <a:t>(for</a:t>
            </a:r>
            <a:r>
              <a:rPr lang="en-US" spc="-2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function</a:t>
            </a:r>
            <a:r>
              <a:rPr lang="en-US" spc="-1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calls</a:t>
            </a:r>
            <a:r>
              <a:rPr lang="en-US" spc="-15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like </a:t>
            </a:r>
            <a:r>
              <a:rPr lang="en-US" b="1" spc="-10" dirty="0" err="1">
                <a:latin typeface="Courier New"/>
                <a:cs typeface="Courier New"/>
              </a:rPr>
              <a:t>print_message</a:t>
            </a:r>
            <a:r>
              <a:rPr lang="en-US" b="1" spc="-555" dirty="0">
                <a:latin typeface="Courier New"/>
                <a:cs typeface="Courier New"/>
              </a:rPr>
              <a:t> </a:t>
            </a:r>
            <a:r>
              <a:rPr lang="en-US" dirty="0">
                <a:latin typeface="Arial MT"/>
                <a:cs typeface="Arial MT"/>
              </a:rPr>
              <a:t>and</a:t>
            </a:r>
            <a:r>
              <a:rPr lang="en-US" spc="35" dirty="0">
                <a:latin typeface="Arial MT"/>
                <a:cs typeface="Arial MT"/>
              </a:rPr>
              <a:t> </a:t>
            </a:r>
            <a:r>
              <a:rPr lang="en-US" b="1" spc="-10" dirty="0" err="1">
                <a:latin typeface="Courier New"/>
                <a:cs typeface="Courier New"/>
              </a:rPr>
              <a:t>printf</a:t>
            </a:r>
            <a:r>
              <a:rPr lang="en-US" spc="-10" dirty="0">
                <a:latin typeface="Arial MT"/>
                <a:cs typeface="Arial MT"/>
              </a:rPr>
              <a:t>).</a:t>
            </a:r>
          </a:p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lang="en-US" b="1" dirty="0">
                <a:latin typeface="Courier New"/>
                <a:cs typeface="Courier New"/>
              </a:rPr>
              <a:t>VALUE</a:t>
            </a:r>
            <a:r>
              <a:rPr lang="en-US" dirty="0">
                <a:latin typeface="Arial MT"/>
                <a:cs typeface="Arial MT"/>
              </a:rPr>
              <a:t>:</a:t>
            </a:r>
            <a:r>
              <a:rPr lang="en-US" spc="-6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10" dirty="0">
                <a:latin typeface="Arial MT"/>
                <a:cs typeface="Arial MT"/>
              </a:rPr>
              <a:t> </a:t>
            </a:r>
            <a:r>
              <a:rPr lang="en-US" b="1" dirty="0">
                <a:latin typeface="Arial"/>
                <a:cs typeface="Arial"/>
              </a:rPr>
              <a:t>symbol</a:t>
            </a:r>
            <a:r>
              <a:rPr lang="en-US" b="1" spc="-10" dirty="0">
                <a:latin typeface="Arial"/>
                <a:cs typeface="Arial"/>
              </a:rPr>
              <a:t> </a:t>
            </a:r>
            <a:r>
              <a:rPr lang="en-US" dirty="0">
                <a:latin typeface="Arial MT"/>
                <a:cs typeface="Arial MT"/>
              </a:rPr>
              <a:t>that</a:t>
            </a:r>
            <a:r>
              <a:rPr lang="en-US" spc="-1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needs</a:t>
            </a:r>
            <a:r>
              <a:rPr lang="en-US" spc="-2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to</a:t>
            </a:r>
            <a:r>
              <a:rPr lang="en-US" spc="-15" dirty="0">
                <a:latin typeface="Arial MT"/>
                <a:cs typeface="Arial MT"/>
              </a:rPr>
              <a:t> </a:t>
            </a:r>
            <a:r>
              <a:rPr lang="en-US" spc="-25" dirty="0">
                <a:latin typeface="Arial MT"/>
                <a:cs typeface="Arial MT"/>
              </a:rPr>
              <a:t>be </a:t>
            </a:r>
            <a:r>
              <a:rPr lang="en-US" spc="-10" dirty="0">
                <a:latin typeface="Arial MT"/>
                <a:cs typeface="Arial MT"/>
              </a:rPr>
              <a:t>resolved.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1400" y="1585025"/>
            <a:ext cx="6908199" cy="35535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04425" y="5374008"/>
            <a:ext cx="603377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RELOCATION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RECORDS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FOR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[.text]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for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code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section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1400" y="1585025"/>
            <a:ext cx="6908199" cy="35535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349001-99AF-92B0-B837-88045F04415D}"/>
              </a:ext>
            </a:extLst>
          </p:cNvPr>
          <p:cNvSpPr txBox="1"/>
          <p:nvPr/>
        </p:nvSpPr>
        <p:spPr>
          <a:xfrm>
            <a:off x="5141920" y="53942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RELOCATION RECORDS FOR [.text]: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Shows entries for the code section.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996C9501-A3E4-1D9F-9997-32D2B0600A56}"/>
              </a:ext>
            </a:extLst>
          </p:cNvPr>
          <p:cNvSpPr txBox="1"/>
          <p:nvPr/>
        </p:nvSpPr>
        <p:spPr>
          <a:xfrm>
            <a:off x="457200" y="2003994"/>
            <a:ext cx="4366260" cy="3038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14000"/>
              </a:lnSpc>
              <a:spcBef>
                <a:spcPts val="100"/>
              </a:spcBef>
              <a:spcAft>
                <a:spcPts val="1200"/>
              </a:spcAft>
              <a:tabLst>
                <a:tab pos="379095" algn="l"/>
              </a:tabLst>
            </a:pPr>
            <a:r>
              <a:rPr lang="en-US" sz="1800" b="1" dirty="0">
                <a:latin typeface="Arial"/>
                <a:cs typeface="Arial"/>
              </a:rPr>
              <a:t>Why</a:t>
            </a:r>
            <a:r>
              <a:rPr lang="en-US" sz="1800" b="1" spc="-35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Does</a:t>
            </a:r>
            <a:r>
              <a:rPr lang="en-US" sz="1800" b="1" spc="-30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This</a:t>
            </a:r>
            <a:r>
              <a:rPr lang="en-US" sz="1800" b="1" spc="-30" dirty="0">
                <a:latin typeface="Arial"/>
                <a:cs typeface="Arial"/>
              </a:rPr>
              <a:t> </a:t>
            </a:r>
            <a:r>
              <a:rPr lang="en-US" sz="1800" b="1" spc="-10" dirty="0">
                <a:latin typeface="Arial"/>
                <a:cs typeface="Arial"/>
              </a:rPr>
              <a:t>Happen?</a:t>
            </a:r>
            <a:endParaRPr lang="en-US" sz="1800" dirty="0">
              <a:latin typeface="Arial"/>
              <a:cs typeface="Arial"/>
            </a:endParaRPr>
          </a:p>
          <a:p>
            <a:pPr marL="379095" marR="5080" indent="-367030">
              <a:lnSpc>
                <a:spcPct val="114000"/>
              </a:lnSpc>
              <a:spcBef>
                <a:spcPts val="100"/>
              </a:spcBef>
              <a:spcAft>
                <a:spcPts val="1200"/>
              </a:spcAft>
              <a:buFont typeface="Arial MT"/>
              <a:buChar char="●"/>
              <a:tabLst>
                <a:tab pos="379095" algn="l"/>
              </a:tabLst>
            </a:pPr>
            <a:r>
              <a:rPr lang="en-US" sz="1800" spc="-10" dirty="0" err="1">
                <a:latin typeface="Courier New"/>
                <a:cs typeface="Courier New"/>
              </a:rPr>
              <a:t>print_message</a:t>
            </a:r>
            <a:r>
              <a:rPr lang="en-US" sz="1800" spc="-590" dirty="0">
                <a:latin typeface="Courier New"/>
                <a:cs typeface="Courier New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 a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function call, </a:t>
            </a:r>
            <a:r>
              <a:rPr lang="en-US" sz="1800" spc="-25" dirty="0">
                <a:latin typeface="Arial MT"/>
                <a:cs typeface="Arial MT"/>
              </a:rPr>
              <a:t>but </a:t>
            </a:r>
            <a:r>
              <a:rPr lang="en-US" sz="1800" dirty="0">
                <a:latin typeface="Arial MT"/>
                <a:cs typeface="Arial MT"/>
              </a:rPr>
              <a:t>its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address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"/>
                <a:cs typeface="Arial"/>
              </a:rPr>
              <a:t>unknown</a:t>
            </a:r>
            <a:r>
              <a:rPr lang="en-US" sz="1800" b="1" spc="-15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at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this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spc="-10" dirty="0">
                <a:latin typeface="Arial MT"/>
                <a:cs typeface="Arial MT"/>
              </a:rPr>
              <a:t>stage</a:t>
            </a:r>
            <a:r>
              <a:rPr spc="-10" dirty="0">
                <a:latin typeface="Arial MT"/>
                <a:cs typeface="Arial MT"/>
              </a:rPr>
              <a:t>.</a:t>
            </a:r>
            <a:endParaRPr lang="en-US" spc="-10" dirty="0">
              <a:latin typeface="Arial MT"/>
              <a:cs typeface="Arial MT"/>
            </a:endParaRPr>
          </a:p>
          <a:p>
            <a:pPr marL="379095" marR="5080" indent="-367030">
              <a:lnSpc>
                <a:spcPct val="114000"/>
              </a:lnSpc>
              <a:spcBef>
                <a:spcPts val="100"/>
              </a:spcBef>
              <a:spcAft>
                <a:spcPts val="1200"/>
              </a:spcAft>
              <a:buFont typeface="Arial MT"/>
              <a:buChar char="●"/>
              <a:tabLst>
                <a:tab pos="379095" algn="l"/>
              </a:tabLst>
            </a:pPr>
            <a:r>
              <a:rPr lang="en-US" sz="1800" spc="-10" dirty="0" err="1">
                <a:latin typeface="Courier New"/>
                <a:cs typeface="Courier New"/>
              </a:rPr>
              <a:t>printf</a:t>
            </a:r>
            <a:r>
              <a:rPr lang="en-US" sz="1800" spc="-585" dirty="0">
                <a:latin typeface="Courier New"/>
                <a:cs typeface="Courier New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an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external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function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spc="-20" dirty="0">
                <a:latin typeface="Arial MT"/>
                <a:cs typeface="Arial MT"/>
              </a:rPr>
              <a:t>(from </a:t>
            </a:r>
            <a:r>
              <a:rPr lang="en-US" sz="1800" dirty="0" err="1">
                <a:latin typeface="Courier New"/>
                <a:cs typeface="Courier New"/>
              </a:rPr>
              <a:t>libc</a:t>
            </a:r>
            <a:r>
              <a:rPr lang="en-US" sz="1800" dirty="0">
                <a:latin typeface="Arial MT"/>
                <a:cs typeface="Arial MT"/>
              </a:rPr>
              <a:t>),</a:t>
            </a:r>
            <a:r>
              <a:rPr lang="en-US" sz="1800" spc="-3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and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its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actual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location</a:t>
            </a:r>
            <a:r>
              <a:rPr lang="en-US" sz="1800" spc="-25" dirty="0">
                <a:latin typeface="Arial MT"/>
                <a:cs typeface="Arial MT"/>
              </a:rPr>
              <a:t> is </a:t>
            </a:r>
            <a:r>
              <a:rPr lang="en-US" sz="1800" spc="-10" dirty="0">
                <a:latin typeface="Arial MT"/>
                <a:cs typeface="Arial MT"/>
              </a:rPr>
              <a:t>unknown.</a:t>
            </a:r>
            <a:endParaRPr lang="en-US" sz="1800" dirty="0">
              <a:latin typeface="Arial MT"/>
              <a:cs typeface="Arial MT"/>
            </a:endParaRPr>
          </a:p>
          <a:p>
            <a:pPr marL="365125" indent="-365125">
              <a:lnSpc>
                <a:spcPct val="114000"/>
              </a:lnSpc>
              <a:buChar char="●"/>
              <a:tabLst>
                <a:tab pos="469265" algn="l"/>
              </a:tabLst>
            </a:pP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linker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"/>
                <a:cs typeface="Arial"/>
              </a:rPr>
              <a:t>resolves</a:t>
            </a:r>
            <a:r>
              <a:rPr lang="en-US" sz="1800" b="1" spc="-20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these</a:t>
            </a:r>
            <a:r>
              <a:rPr lang="en-US" sz="1800" b="1" spc="-20" dirty="0">
                <a:latin typeface="Arial"/>
                <a:cs typeface="Arial"/>
              </a:rPr>
              <a:t> </a:t>
            </a:r>
            <a:r>
              <a:rPr lang="en-US" sz="1800" b="1" spc="-10" dirty="0">
                <a:latin typeface="Arial"/>
                <a:cs typeface="Arial"/>
              </a:rPr>
              <a:t>relocations</a:t>
            </a:r>
            <a:endParaRPr lang="en-US" sz="1800" dirty="0">
              <a:latin typeface="Arial"/>
              <a:cs typeface="Arial"/>
            </a:endParaRPr>
          </a:p>
          <a:p>
            <a:pPr marL="396875">
              <a:lnSpc>
                <a:spcPct val="114000"/>
              </a:lnSpc>
              <a:spcBef>
                <a:spcPts val="325"/>
              </a:spcBef>
            </a:pPr>
            <a:r>
              <a:rPr lang="en-US" sz="1800" dirty="0">
                <a:latin typeface="Arial MT"/>
                <a:cs typeface="Arial MT"/>
              </a:rPr>
              <a:t>when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creating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final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spc="-10" dirty="0">
                <a:latin typeface="Arial MT"/>
                <a:cs typeface="Arial MT"/>
              </a:rPr>
              <a:t>executable</a:t>
            </a:r>
            <a:r>
              <a:rPr lang="en-US"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5348" y="2231402"/>
            <a:ext cx="3302635" cy="618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800" spc="-95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resolve</a:t>
            </a:r>
            <a:r>
              <a:rPr sz="180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these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relocations</a:t>
            </a:r>
            <a:r>
              <a:rPr sz="1800" spc="-25" dirty="0">
                <a:solidFill>
                  <a:srgbClr val="000000"/>
                </a:solidFill>
                <a:latin typeface="Arial MT"/>
                <a:cs typeface="Arial MT"/>
              </a:rPr>
              <a:t> and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create</a:t>
            </a:r>
            <a:r>
              <a:rPr sz="180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final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binary: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22324" y="2877474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3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example.o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5349" y="3701806"/>
            <a:ext cx="3302635" cy="618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Run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objdump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</a:t>
            </a:r>
            <a:r>
              <a:rPr sz="1800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linked executable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324" y="4401475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objdump</a:t>
            </a:r>
            <a:r>
              <a:rPr sz="2000" b="1" spc="-6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-t</a:t>
            </a:r>
            <a:r>
              <a:rPr sz="2000" b="1" spc="-6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 descr="A terminal output of a symbol table for a linked executable where _print_message now has a specific memory address and _printf is marked as undefined (*UND*)."/>
          <p:cNvGrpSpPr/>
          <p:nvPr/>
        </p:nvGrpSpPr>
        <p:grpSpPr>
          <a:xfrm>
            <a:off x="4665862" y="2243225"/>
            <a:ext cx="7185659" cy="2176780"/>
            <a:chOff x="4665862" y="2243225"/>
            <a:chExt cx="7185659" cy="217678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7525" y="2243225"/>
              <a:ext cx="7163902" cy="21763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80149" y="3845649"/>
              <a:ext cx="2134870" cy="342900"/>
            </a:xfrm>
            <a:custGeom>
              <a:avLst/>
              <a:gdLst/>
              <a:ahLst/>
              <a:cxnLst/>
              <a:rect l="l" t="t" r="r" b="b"/>
              <a:pathLst>
                <a:path w="2134870" h="342900">
                  <a:moveTo>
                    <a:pt x="0" y="0"/>
                  </a:moveTo>
                  <a:lnTo>
                    <a:pt x="2134799" y="0"/>
                  </a:lnTo>
                  <a:lnTo>
                    <a:pt x="2134799" y="342899"/>
                  </a:lnTo>
                  <a:lnTo>
                    <a:pt x="0" y="342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760550" y="4647005"/>
            <a:ext cx="5720715" cy="618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print_message</a:t>
            </a:r>
            <a:r>
              <a:rPr sz="1800" b="1" spc="-59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now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 </a:t>
            </a:r>
            <a:r>
              <a:rPr sz="1800" b="1" dirty="0">
                <a:latin typeface="Arial"/>
                <a:cs typeface="Arial"/>
              </a:rPr>
              <a:t>actual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addresses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14000"/>
              </a:lnSpc>
            </a:pPr>
            <a:r>
              <a:rPr sz="1800" dirty="0">
                <a:latin typeface="Arial MT"/>
                <a:cs typeface="Arial MT"/>
              </a:rPr>
              <a:t>assigned,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relocation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resolved.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3" name="object 3" descr="A C code example titled relocation_example1.c featuring a global variable, a function that prints that variable, and a main function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875" y="2267575"/>
            <a:ext cx="6252650" cy="3929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33050" y="2379381"/>
            <a:ext cx="1990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Before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Linking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02899" y="2774225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relocation_example1.c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75925" y="3364856"/>
            <a:ext cx="271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produces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object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(.o)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9075" y="4370005"/>
            <a:ext cx="180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After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Linking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79099" y="4755987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5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relocation_example1.c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2125" y="5298956"/>
            <a:ext cx="4102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produces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executable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output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(.out)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file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Relocation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7599" y="2406281"/>
            <a:ext cx="5483860" cy="277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nm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command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global_var</a:t>
            </a:r>
            <a:r>
              <a:rPr sz="1800" b="1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latin typeface="Arial MT"/>
                <a:cs typeface="Arial MT"/>
              </a:rPr>
              <a:t>and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print_global</a:t>
            </a:r>
            <a:r>
              <a:rPr sz="1800" b="1" spc="-59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have addresses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 are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 </a:t>
            </a:r>
            <a:r>
              <a:rPr sz="1800" spc="-10" dirty="0">
                <a:latin typeface="Arial MT"/>
                <a:cs typeface="Arial MT"/>
              </a:rPr>
              <a:t>fixed.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resolve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addresses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actual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values.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executable,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addresses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their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values.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70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Let’s</a:t>
            </a:r>
            <a:r>
              <a:rPr sz="18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output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of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nm</a:t>
            </a:r>
            <a:r>
              <a:rPr sz="1800" b="1" spc="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relocation_example1.o</a:t>
            </a:r>
            <a:r>
              <a:rPr sz="1800" b="1" spc="-56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(before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linking)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nm</a:t>
            </a:r>
            <a:r>
              <a:rPr sz="1800" b="1" spc="-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a.out</a:t>
            </a:r>
            <a:r>
              <a:rPr sz="1800" b="1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(after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linking).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1099" y="5304137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nm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 relocation_example1.o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099" y="5894463"/>
            <a:ext cx="38608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nm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 a.out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2825" y="1135799"/>
            <a:ext cx="5519420" cy="5448935"/>
          </a:xfrm>
          <a:custGeom>
            <a:avLst/>
            <a:gdLst/>
            <a:ahLst/>
            <a:cxnLst/>
            <a:rect l="l" t="t" r="r" b="b"/>
            <a:pathLst>
              <a:path w="5519420" h="5448934">
                <a:moveTo>
                  <a:pt x="5519399" y="5448899"/>
                </a:moveTo>
                <a:lnTo>
                  <a:pt x="0" y="5448899"/>
                </a:lnTo>
                <a:lnTo>
                  <a:pt x="0" y="0"/>
                </a:lnTo>
                <a:lnTo>
                  <a:pt x="5519399" y="0"/>
                </a:lnTo>
                <a:lnTo>
                  <a:pt x="5519399" y="54488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2825" y="1135799"/>
            <a:ext cx="5519420" cy="5448935"/>
          </a:xfrm>
          <a:custGeom>
            <a:avLst/>
            <a:gdLst/>
            <a:ahLst/>
            <a:cxnLst/>
            <a:rect l="l" t="t" r="r" b="b"/>
            <a:pathLst>
              <a:path w="5519420" h="5448934">
                <a:moveTo>
                  <a:pt x="0" y="0"/>
                </a:moveTo>
                <a:lnTo>
                  <a:pt x="5519399" y="0"/>
                </a:lnTo>
                <a:lnTo>
                  <a:pt x="5519399" y="5448899"/>
                </a:lnTo>
                <a:lnTo>
                  <a:pt x="0" y="54488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55850" y="1199681"/>
            <a:ext cx="525526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Relocatable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Addresses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compile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relocation_example1.c</a:t>
            </a:r>
            <a:r>
              <a:rPr sz="1800" b="1" spc="-57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file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relocation_example1.o</a:t>
            </a:r>
            <a:r>
              <a:rPr sz="1800" spc="-10" dirty="0">
                <a:latin typeface="Arial MT"/>
                <a:cs typeface="Arial MT"/>
              </a:rPr>
              <a:t>),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addresses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global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global_var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function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print_global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fixed.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are </a:t>
            </a:r>
            <a:r>
              <a:rPr sz="1800" dirty="0">
                <a:latin typeface="Arial MT"/>
                <a:cs typeface="Arial MT"/>
              </a:rPr>
              <a:t>placeholders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resolved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during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linking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phase.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55850" y="3394240"/>
            <a:ext cx="536321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20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Static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Linking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command</a:t>
            </a:r>
            <a:r>
              <a:rPr sz="1800" spc="-25" dirty="0">
                <a:latin typeface="Arial MT"/>
                <a:cs typeface="Arial MT"/>
              </a:rPr>
              <a:t> to </a:t>
            </a:r>
            <a:r>
              <a:rPr sz="1800" dirty="0">
                <a:latin typeface="Arial MT"/>
                <a:cs typeface="Arial MT"/>
              </a:rPr>
              <a:t>produce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a.out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fixes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addresses, </a:t>
            </a:r>
            <a:r>
              <a:rPr sz="1800" dirty="0">
                <a:latin typeface="Arial MT"/>
                <a:cs typeface="Arial MT"/>
              </a:rPr>
              <a:t>making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absolute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addresses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final </a:t>
            </a:r>
            <a:r>
              <a:rPr sz="1800" dirty="0">
                <a:latin typeface="Arial MT"/>
                <a:cs typeface="Arial MT"/>
              </a:rPr>
              <a:t>executable.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known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static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relocation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Symbol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Resolution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linker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resolves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references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symbols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(variables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functions)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their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correct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addresses.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call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print_global()</a:t>
            </a:r>
            <a:r>
              <a:rPr sz="1800" b="1" spc="-57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main()</a:t>
            </a:r>
            <a:r>
              <a:rPr sz="1800" b="1" spc="-57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global_var</a:t>
            </a:r>
            <a:r>
              <a:rPr sz="1800" b="1" spc="-57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inside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print_global()</a:t>
            </a:r>
            <a:r>
              <a:rPr sz="1800" b="1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resolved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linker.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3" name="object 3" descr="A terminal output of a symbol table with various flags (D, T, U) indicating the status of symbols like _global_var, _main, and the undefined _printf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075" y="2212774"/>
            <a:ext cx="5644225" cy="356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402687" y="2247937"/>
            <a:ext cx="5621020" cy="2446977"/>
          </a:xfrm>
          <a:prstGeom prst="rect">
            <a:avLst/>
          </a:prstGeom>
        </p:spPr>
        <p:txBody>
          <a:bodyPr vert="horz" wrap="square" lIns="0" tIns="737768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Address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Column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spc="-10" dirty="0">
                <a:latin typeface="Arial MT"/>
                <a:cs typeface="Arial MT"/>
              </a:rPr>
              <a:t>(</a:t>
            </a:r>
            <a:r>
              <a:rPr b="1" spc="-10" dirty="0">
                <a:solidFill>
                  <a:srgbClr val="188037"/>
                </a:solidFill>
              </a:rPr>
              <a:t>0000000000000064</a:t>
            </a:r>
            <a:r>
              <a:rPr spc="-10" dirty="0">
                <a:latin typeface="Arial MT"/>
                <a:cs typeface="Arial MT"/>
              </a:rPr>
              <a:t>):</a:t>
            </a:r>
          </a:p>
          <a:p>
            <a:pPr marL="164465" marR="5080">
              <a:lnSpc>
                <a:spcPct val="114999"/>
              </a:lnSpc>
              <a:spcBef>
                <a:spcPts val="1200"/>
              </a:spcBef>
            </a:pPr>
            <a:r>
              <a:rPr dirty="0">
                <a:latin typeface="Arial MT"/>
                <a:cs typeface="Arial MT"/>
              </a:rPr>
              <a:t>This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address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or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offset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where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symbol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is </a:t>
            </a:r>
            <a:r>
              <a:rPr dirty="0">
                <a:latin typeface="Arial MT"/>
                <a:cs typeface="Arial MT"/>
              </a:rPr>
              <a:t>located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or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memory.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For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example, </a:t>
            </a:r>
            <a:r>
              <a:rPr b="1" spc="-10" dirty="0">
                <a:solidFill>
                  <a:srgbClr val="188037"/>
                </a:solidFill>
              </a:rPr>
              <a:t>0000000000000064</a:t>
            </a:r>
            <a:r>
              <a:rPr spc="-565" dirty="0">
                <a:solidFill>
                  <a:srgbClr val="188037"/>
                </a:solidFill>
              </a:rPr>
              <a:t> </a:t>
            </a:r>
            <a:r>
              <a:rPr dirty="0">
                <a:latin typeface="Arial MT"/>
                <a:cs typeface="Arial MT"/>
              </a:rPr>
              <a:t>means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symbol</a:t>
            </a:r>
          </a:p>
          <a:p>
            <a:pPr marL="164465">
              <a:lnSpc>
                <a:spcPct val="100000"/>
              </a:lnSpc>
              <a:spcBef>
                <a:spcPts val="320"/>
              </a:spcBef>
            </a:pPr>
            <a:r>
              <a:rPr b="1" spc="-10" dirty="0">
                <a:solidFill>
                  <a:srgbClr val="188037"/>
                </a:solidFill>
              </a:rPr>
              <a:t>_global_var</a:t>
            </a:r>
            <a:r>
              <a:rPr b="1" spc="-585" dirty="0">
                <a:solidFill>
                  <a:srgbClr val="188037"/>
                </a:solidFill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located at address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</a:rPr>
              <a:t>0x64</a:t>
            </a:r>
            <a:r>
              <a:rPr spc="-10" dirty="0">
                <a:latin typeface="Arial MT"/>
                <a:cs typeface="Arial MT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075" y="2212774"/>
            <a:ext cx="5644225" cy="35612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18575" y="1728930"/>
            <a:ext cx="289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Type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Column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U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etc.):</a:t>
            </a:r>
            <a:endParaRPr sz="1800" dirty="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68735"/>
              </p:ext>
            </p:extLst>
          </p:nvPr>
        </p:nvGraphicFramePr>
        <p:xfrm>
          <a:off x="6440787" y="2247937"/>
          <a:ext cx="5534025" cy="4262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Symbol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Table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Section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307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5475" marR="331470" indent="-28702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Initialized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Section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6420" marR="267335" indent="-2914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Global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initialized variables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5475" marR="331470" indent="-28702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Initialized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Section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 marR="168275" indent="2419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Local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(static)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initialized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variables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35" dirty="0">
                          <a:latin typeface="Arial MT"/>
                          <a:cs typeface="Arial MT"/>
                        </a:rPr>
                        <a:t>Text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Section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(Code)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9615" marR="173355" indent="-5486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Global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functions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code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35" dirty="0">
                          <a:latin typeface="Arial MT"/>
                          <a:cs typeface="Arial MT"/>
                        </a:rPr>
                        <a:t>Text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Section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(Code)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 marR="237490" indent="17272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Local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(static)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functions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code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U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Undefined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6420" marR="95250" indent="-4648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Used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but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defined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lang="en-US"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file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5475" marR="222885" indent="-39560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Uninitialized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Section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8465" marR="41084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Local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(static) uninitialized variables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075" y="2212774"/>
            <a:ext cx="5644225" cy="35612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18575" y="1728930"/>
            <a:ext cx="289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Type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Column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U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etc.):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1225" y="2475606"/>
            <a:ext cx="5055235" cy="3756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Section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d)</a:t>
            </a:r>
            <a:endParaRPr sz="1800" dirty="0">
              <a:latin typeface="Arial"/>
              <a:cs typeface="Arial"/>
            </a:endParaRPr>
          </a:p>
          <a:p>
            <a:pPr marL="469900" marR="5080" indent="-36703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</a:t>
            </a:r>
            <a:r>
              <a:rPr sz="1800" b="1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global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static </a:t>
            </a:r>
            <a:r>
              <a:rPr sz="1800" dirty="0">
                <a:latin typeface="Arial MT"/>
                <a:cs typeface="Arial MT"/>
              </a:rPr>
              <a:t>variables.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are </a:t>
            </a:r>
            <a:r>
              <a:rPr sz="1800" dirty="0">
                <a:latin typeface="Arial MT"/>
                <a:cs typeface="Arial MT"/>
              </a:rPr>
              <a:t>defined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before </a:t>
            </a:r>
            <a:r>
              <a:rPr sz="1800" dirty="0">
                <a:latin typeface="Arial MT"/>
                <a:cs typeface="Arial MT"/>
              </a:rPr>
              <a:t>execution.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reside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data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section</a:t>
            </a:r>
            <a:r>
              <a:rPr sz="1800" spc="-10" dirty="0">
                <a:latin typeface="Arial MT"/>
                <a:cs typeface="Arial MT"/>
              </a:rPr>
              <a:t>,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contains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global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variables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before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starts.</a:t>
            </a:r>
            <a:endParaRPr sz="1800" dirty="0">
              <a:latin typeface="Arial MT"/>
              <a:cs typeface="Arial MT"/>
            </a:endParaRPr>
          </a:p>
          <a:p>
            <a:pPr marL="469900" marR="132715" indent="-36703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</a:t>
            </a:r>
            <a:r>
              <a:rPr sz="1800" b="1" dirty="0">
                <a:latin typeface="Arial MT"/>
                <a:cs typeface="Arial MT"/>
              </a:rPr>
              <a:t>:</a:t>
            </a:r>
            <a:r>
              <a:rPr sz="1800" b="1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global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static </a:t>
            </a:r>
            <a:r>
              <a:rPr sz="1800" dirty="0">
                <a:latin typeface="Arial MT"/>
                <a:cs typeface="Arial MT"/>
              </a:rPr>
              <a:t>variables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local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(usually </a:t>
            </a:r>
            <a:r>
              <a:rPr sz="1800" dirty="0">
                <a:latin typeface="Arial MT"/>
                <a:cs typeface="Arial MT"/>
              </a:rPr>
              <a:t>defined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static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keyword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inside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</a:t>
            </a:r>
            <a:r>
              <a:rPr sz="1800" spc="-10" dirty="0">
                <a:latin typeface="Arial MT"/>
                <a:cs typeface="Arial MT"/>
              </a:rPr>
              <a:t>function).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075" y="2212774"/>
            <a:ext cx="5644225" cy="35612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18575" y="1728930"/>
            <a:ext cx="289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Type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Column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U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etc.):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1225" y="2475606"/>
            <a:ext cx="4991735" cy="28003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Text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Section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t)</a:t>
            </a:r>
            <a:endParaRPr sz="1800" dirty="0">
              <a:latin typeface="Arial"/>
              <a:cs typeface="Arial"/>
            </a:endParaRPr>
          </a:p>
          <a:p>
            <a:pPr marL="469900" marR="5080" indent="-36703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</a:t>
            </a:r>
            <a:r>
              <a:rPr sz="1800" b="1" dirty="0">
                <a:latin typeface="Arial MT"/>
                <a:cs typeface="Arial MT"/>
              </a:rPr>
              <a:t>:</a:t>
            </a:r>
            <a:r>
              <a:rPr sz="1800" b="1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text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section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executable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 </a:t>
            </a:r>
            <a:r>
              <a:rPr sz="1800" dirty="0">
                <a:latin typeface="Arial MT"/>
                <a:cs typeface="Arial MT"/>
              </a:rPr>
              <a:t>reside.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Symbols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T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typically </a:t>
            </a:r>
            <a:r>
              <a:rPr sz="1800" dirty="0">
                <a:latin typeface="Arial MT"/>
                <a:cs typeface="Arial MT"/>
              </a:rPr>
              <a:t>global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executes.</a:t>
            </a:r>
            <a:endParaRPr sz="1800" dirty="0">
              <a:latin typeface="Arial MT"/>
              <a:cs typeface="Arial MT"/>
            </a:endParaRPr>
          </a:p>
          <a:p>
            <a:pPr marL="469900" marR="84455" indent="-36703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</a:t>
            </a:r>
            <a:r>
              <a:rPr sz="1800" b="1" dirty="0">
                <a:latin typeface="Arial MT"/>
                <a:cs typeface="Arial MT"/>
              </a:rPr>
              <a:t>:</a:t>
            </a:r>
            <a:r>
              <a:rPr sz="1800" b="1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Similar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or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local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globally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accessible).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075" y="2212774"/>
            <a:ext cx="5644225" cy="35612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18575" y="1728930"/>
            <a:ext cx="289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Type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Column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U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etc.):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1225" y="2475606"/>
            <a:ext cx="5078095" cy="2187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Other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Sections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(U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s)</a:t>
            </a:r>
            <a:endParaRPr sz="1800" dirty="0">
              <a:latin typeface="Arial"/>
              <a:cs typeface="Arial"/>
            </a:endParaRPr>
          </a:p>
          <a:p>
            <a:pPr marL="469900" marR="5080" indent="-36703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U</a:t>
            </a:r>
            <a:r>
              <a:rPr sz="1800" b="1" dirty="0">
                <a:latin typeface="Arial MT"/>
                <a:cs typeface="Arial MT"/>
              </a:rPr>
              <a:t>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undefined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symbols,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which </a:t>
            </a:r>
            <a:r>
              <a:rPr sz="1800" dirty="0">
                <a:latin typeface="Arial MT"/>
                <a:cs typeface="Arial MT"/>
              </a:rPr>
              <a:t>means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symbol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declared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yet </a:t>
            </a:r>
            <a:r>
              <a:rPr sz="1800" dirty="0">
                <a:latin typeface="Arial MT"/>
                <a:cs typeface="Arial MT"/>
              </a:rPr>
              <a:t>defined.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might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resolved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</a:t>
            </a:r>
            <a:r>
              <a:rPr sz="1800" spc="-20" dirty="0">
                <a:latin typeface="Arial MT"/>
                <a:cs typeface="Arial MT"/>
              </a:rPr>
              <a:t> with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0" dirty="0">
                <a:latin typeface="Arial MT"/>
                <a:cs typeface="Arial MT"/>
              </a:rPr>
              <a:t> libraries.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s</a:t>
            </a:r>
            <a:r>
              <a:rPr sz="1800" b="1" dirty="0">
                <a:latin typeface="Arial MT"/>
                <a:cs typeface="Arial MT"/>
              </a:rPr>
              <a:t>:</a:t>
            </a:r>
            <a:r>
              <a:rPr sz="1800" b="1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uninitialized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static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variables.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075" y="2212774"/>
            <a:ext cx="5644225" cy="35612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18575" y="1728930"/>
            <a:ext cx="2895600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Type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Column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U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etc.):</a:t>
            </a:r>
            <a:endParaRPr sz="1800" dirty="0">
              <a:latin typeface="Arial MT"/>
              <a:cs typeface="Arial MT"/>
            </a:endParaRPr>
          </a:p>
          <a:p>
            <a:pPr marL="144780">
              <a:lnSpc>
                <a:spcPct val="100000"/>
              </a:lnSpc>
              <a:spcBef>
                <a:spcPts val="120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l_.str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41750" y="2514600"/>
            <a:ext cx="5027295" cy="41130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1524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usually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i="1" dirty="0">
                <a:latin typeface="Arial"/>
                <a:cs typeface="Arial"/>
              </a:rPr>
              <a:t>string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literal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stored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read-only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data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section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(often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</a:t>
            </a:r>
            <a:endParaRPr sz="1800" dirty="0">
              <a:latin typeface="Arial MT"/>
              <a:cs typeface="Arial MT"/>
            </a:endParaRPr>
          </a:p>
          <a:p>
            <a:pPr marL="379095">
              <a:lnSpc>
                <a:spcPct val="100000"/>
              </a:lnSpc>
              <a:spcBef>
                <a:spcPts val="320"/>
              </a:spcBef>
              <a:spcAft>
                <a:spcPts val="1200"/>
              </a:spcAf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.rodata</a:t>
            </a:r>
            <a:r>
              <a:rPr sz="1800" b="1" spc="-5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Arial MT"/>
                <a:cs typeface="Arial MT"/>
              </a:rPr>
              <a:t>section).</a:t>
            </a:r>
            <a:endParaRPr sz="1800" dirty="0">
              <a:latin typeface="Arial MT"/>
              <a:cs typeface="Arial MT"/>
            </a:endParaRPr>
          </a:p>
          <a:p>
            <a:pPr marL="379095" marR="125095" indent="-367030">
              <a:lnSpc>
                <a:spcPct val="114999"/>
              </a:lnSpc>
              <a:spcBef>
                <a:spcPts val="5"/>
              </a:spcBef>
              <a:spcAft>
                <a:spcPts val="1200"/>
              </a:spcAft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l_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prefix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suggests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local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label, </a:t>
            </a:r>
            <a:r>
              <a:rPr sz="1800" dirty="0">
                <a:latin typeface="Arial MT"/>
                <a:cs typeface="Arial MT"/>
              </a:rPr>
              <a:t>meaning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intended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accessed </a:t>
            </a:r>
            <a:r>
              <a:rPr sz="1800" dirty="0">
                <a:latin typeface="Arial MT"/>
                <a:cs typeface="Arial MT"/>
              </a:rPr>
              <a:t>outside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scope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generated.</a:t>
            </a:r>
            <a:endParaRPr sz="1800" dirty="0">
              <a:latin typeface="Arial MT"/>
              <a:cs typeface="Arial MT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like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printf("Hello,</a:t>
            </a:r>
            <a:r>
              <a:rPr sz="1800" b="1" spc="-7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World!\n");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string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"Hello,</a:t>
            </a:r>
            <a:r>
              <a:rPr sz="18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World!\n"</a:t>
            </a:r>
            <a:r>
              <a:rPr sz="1800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program's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memory,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l_.str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might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internal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refer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program's</a:t>
            </a:r>
            <a:r>
              <a:rPr sz="1800" spc="-10" dirty="0">
                <a:latin typeface="Arial MT"/>
                <a:cs typeface="Arial MT"/>
              </a:rPr>
              <a:t> binary.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075" y="2212774"/>
            <a:ext cx="5644225" cy="35612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18575" y="1728930"/>
            <a:ext cx="2895600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Type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Column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U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etc.):</a:t>
            </a:r>
            <a:endParaRPr sz="1800" dirty="0">
              <a:latin typeface="Arial MT"/>
              <a:cs typeface="Arial MT"/>
            </a:endParaRPr>
          </a:p>
          <a:p>
            <a:pPr marL="144780">
              <a:lnSpc>
                <a:spcPct val="100000"/>
              </a:lnSpc>
              <a:spcBef>
                <a:spcPts val="120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ltmp0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ltmp3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41750" y="2514600"/>
            <a:ext cx="4950460" cy="364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46990" indent="-367030">
              <a:lnSpc>
                <a:spcPct val="114999"/>
              </a:lnSpc>
              <a:spcBef>
                <a:spcPts val="100"/>
              </a:spcBef>
              <a:spcAft>
                <a:spcPts val="1200"/>
              </a:spcAft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temporary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labels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i="1" spc="-10" dirty="0">
                <a:latin typeface="Arial"/>
                <a:cs typeface="Arial"/>
              </a:rPr>
              <a:t>temporary </a:t>
            </a:r>
            <a:r>
              <a:rPr sz="1800" i="1" dirty="0">
                <a:latin typeface="Arial"/>
                <a:cs typeface="Arial"/>
              </a:rPr>
              <a:t>variables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0" dirty="0">
                <a:latin typeface="Arial MT"/>
                <a:cs typeface="Arial MT"/>
              </a:rPr>
              <a:t> assembler </a:t>
            </a:r>
            <a:r>
              <a:rPr sz="1800" dirty="0">
                <a:latin typeface="Arial MT"/>
                <a:cs typeface="Arial MT"/>
              </a:rPr>
              <a:t>generates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during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compilation.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are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original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source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are </a:t>
            </a:r>
            <a:r>
              <a:rPr sz="1800" dirty="0">
                <a:latin typeface="Arial MT"/>
                <a:cs typeface="Arial MT"/>
              </a:rPr>
              <a:t>created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manage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intermediate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results, </a:t>
            </a:r>
            <a:r>
              <a:rPr sz="1800" dirty="0">
                <a:latin typeface="Arial MT"/>
                <a:cs typeface="Arial MT"/>
              </a:rPr>
              <a:t>register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allocations,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address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calculations.</a:t>
            </a:r>
            <a:endParaRPr sz="1800" dirty="0">
              <a:latin typeface="Arial MT"/>
              <a:cs typeface="Arial MT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ltmp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prefix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indicates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local </a:t>
            </a:r>
            <a:r>
              <a:rPr sz="1800" dirty="0">
                <a:latin typeface="Arial MT"/>
                <a:cs typeface="Arial MT"/>
              </a:rPr>
              <a:t>temporary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symbols,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typically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within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scope,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single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0" dirty="0">
                <a:latin typeface="Arial MT"/>
                <a:cs typeface="Arial MT"/>
              </a:rPr>
              <a:t> code </a:t>
            </a:r>
            <a:r>
              <a:rPr sz="1800" dirty="0">
                <a:latin typeface="Arial MT"/>
                <a:cs typeface="Arial MT"/>
              </a:rPr>
              <a:t>block,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referenced </a:t>
            </a:r>
            <a:r>
              <a:rPr sz="1800" dirty="0">
                <a:latin typeface="Arial MT"/>
                <a:cs typeface="Arial MT"/>
              </a:rPr>
              <a:t>outside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scope.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075" y="2212774"/>
            <a:ext cx="5644225" cy="35612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32375" y="3111856"/>
            <a:ext cx="4657725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Name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Column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_global_var</a:t>
            </a:r>
            <a:r>
              <a:rPr sz="1800" b="1" dirty="0">
                <a:latin typeface="Arial MT"/>
                <a:cs typeface="Arial MT"/>
              </a:rPr>
              <a:t>,</a:t>
            </a:r>
            <a:r>
              <a:rPr sz="1800" b="1" spc="-4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_main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etc.):</a:t>
            </a:r>
            <a:endParaRPr sz="1800" dirty="0">
              <a:latin typeface="Arial MT"/>
              <a:cs typeface="Arial MT"/>
            </a:endParaRPr>
          </a:p>
          <a:p>
            <a:pPr marL="12700" marR="667385">
              <a:lnSpc>
                <a:spcPct val="114000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actual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name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symbol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program.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underscore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prefix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_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</a:t>
            </a:r>
            <a:r>
              <a:rPr sz="1800" dirty="0">
                <a:latin typeface="Arial MT"/>
                <a:cs typeface="Arial MT"/>
              </a:rPr>
              <a:t>convention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compiler.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3" name="object 3" descr="A C code snippet for print_global.c defining a global variable global_var initialized to 20 and a function print_global that prints its value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975" y="2602600"/>
            <a:ext cx="5341369" cy="22508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15299" y="2431731"/>
            <a:ext cx="4848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Compile</a:t>
            </a:r>
            <a:r>
              <a:rPr sz="18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with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Position-Independent</a:t>
            </a:r>
            <a:r>
              <a:rPr sz="18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6549" y="2918249"/>
            <a:ext cx="554482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fPIC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c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print_global.c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68149" y="3705931"/>
            <a:ext cx="2677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Create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shared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library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6549" y="4103749"/>
            <a:ext cx="554482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shared</a:t>
            </a:r>
            <a:r>
              <a:rPr sz="2000" b="1" spc="-3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3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libprint.dylib</a:t>
            </a:r>
            <a:r>
              <a:rPr sz="2000" b="1" spc="-3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print_global.o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15299" y="4917306"/>
            <a:ext cx="4517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Display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symbol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table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of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shared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library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6549" y="5315124"/>
            <a:ext cx="268859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nm</a:t>
            </a:r>
            <a:r>
              <a:rPr sz="2000" b="1" spc="-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</a:t>
            </a:r>
            <a:r>
              <a:rPr sz="2000" b="1" spc="-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libprint.dylib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5" name="object 5" descr="A C code snippet for relocation_example2.c showing the declaration of an external function print_global and a main function that calls it, simulating a call to a shared library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050" y="2614975"/>
            <a:ext cx="5168099" cy="36504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39099" y="3650931"/>
            <a:ext cx="4864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Compile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and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Link</a:t>
            </a:r>
            <a:r>
              <a:rPr sz="1800" b="1" spc="-8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Against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Shared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Library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56549" y="4137450"/>
            <a:ext cx="5544820" cy="80073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 marR="73914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relocation_example2.c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L.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-lprint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spc="-50" dirty="0">
                <a:solidFill>
                  <a:srgbClr val="A00C30"/>
                </a:solidFill>
                <a:latin typeface="Arial"/>
                <a:cs typeface="Arial"/>
              </a:rPr>
              <a:t>o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relocation_example2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Relocation</a:t>
            </a: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050" y="2614975"/>
            <a:ext cx="5168099" cy="36504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48574" y="3650931"/>
            <a:ext cx="4442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#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This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starts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your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program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and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sleep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command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in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background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5549" y="4366050"/>
            <a:ext cx="554482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./relocation_example2</a:t>
            </a:r>
            <a:r>
              <a:rPr sz="2000" b="1" spc="-5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&amp;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sleep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30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A00C30"/>
                </a:solidFill>
                <a:latin typeface="Arial"/>
                <a:cs typeface="Arial"/>
              </a:rPr>
              <a:t>&amp;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24" y="1413655"/>
            <a:ext cx="916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vmmap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command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provides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detailed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information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about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memory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layout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process.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0475" y="1811475"/>
            <a:ext cx="1038796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vmmap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&lt;PID&gt;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" name="object 2" descr="A terminal summary of a system process (PID 41956) showing a memory map with various regions like Stack, MALLOC, __TEXT, and __DATA, along with their virtual and resident size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9000" y="2552175"/>
            <a:ext cx="10949273" cy="406002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24" y="1413655"/>
            <a:ext cx="916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vmmap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command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provides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detailed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information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about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memory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layout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process.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0475" y="1811475"/>
            <a:ext cx="1038796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vmmap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&lt;PID&gt;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9000" y="2552175"/>
            <a:ext cx="10949305" cy="4060190"/>
            <a:chOff x="839000" y="2552175"/>
            <a:chExt cx="10949305" cy="4060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9000" y="2552175"/>
              <a:ext cx="10949273" cy="4060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07775" y="3218825"/>
              <a:ext cx="829944" cy="3274695"/>
            </a:xfrm>
            <a:custGeom>
              <a:avLst/>
              <a:gdLst/>
              <a:ahLst/>
              <a:cxnLst/>
              <a:rect l="l" t="t" r="r" b="b"/>
              <a:pathLst>
                <a:path w="829945" h="3274695">
                  <a:moveTo>
                    <a:pt x="0" y="0"/>
                  </a:moveTo>
                  <a:lnTo>
                    <a:pt x="829499" y="0"/>
                  </a:lnTo>
                  <a:lnTo>
                    <a:pt x="829499" y="3274199"/>
                  </a:lnTo>
                  <a:lnTo>
                    <a:pt x="0" y="327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61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358149" y="2898050"/>
            <a:ext cx="6633845" cy="2713990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1" dirty="0">
                <a:latin typeface="Arial"/>
                <a:cs typeface="Arial"/>
              </a:rPr>
              <a:t>Virtual</a:t>
            </a:r>
            <a:r>
              <a:rPr sz="1700" b="1" spc="-9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Size</a:t>
            </a:r>
            <a:r>
              <a:rPr sz="1700" b="1" spc="-8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(VSZ)</a:t>
            </a:r>
            <a:endParaRPr sz="17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  <a:spcBef>
                <a:spcPts val="1505"/>
              </a:spcBef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total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amount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virtual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allocated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process.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0"/>
              </a:spcBef>
            </a:pPr>
            <a:endParaRPr sz="170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</a:pPr>
            <a:r>
              <a:rPr sz="1700" b="1" dirty="0">
                <a:latin typeface="Arial"/>
                <a:cs typeface="Arial"/>
              </a:rPr>
              <a:t>Important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Notes:</a:t>
            </a:r>
            <a:endParaRPr sz="1700">
              <a:latin typeface="Arial"/>
              <a:cs typeface="Arial"/>
            </a:endParaRPr>
          </a:p>
          <a:p>
            <a:pPr marL="542290" indent="-358775">
              <a:lnSpc>
                <a:spcPct val="100000"/>
              </a:lnSpc>
              <a:spcBef>
                <a:spcPts val="1505"/>
              </a:spcBef>
              <a:buChar char="●"/>
              <a:tabLst>
                <a:tab pos="542290" algn="l"/>
              </a:tabLst>
            </a:pP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this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physically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used.</a:t>
            </a:r>
            <a:endParaRPr sz="1700">
              <a:latin typeface="Arial MT"/>
              <a:cs typeface="Arial MT"/>
            </a:endParaRPr>
          </a:p>
          <a:p>
            <a:pPr marL="542925" marR="243204" indent="-359410">
              <a:lnSpc>
                <a:spcPct val="114999"/>
              </a:lnSpc>
              <a:buChar char="●"/>
              <a:tabLst>
                <a:tab pos="542925" algn="l"/>
              </a:tabLst>
            </a:pPr>
            <a:r>
              <a:rPr sz="1700" dirty="0">
                <a:latin typeface="Arial MT"/>
                <a:cs typeface="Arial MT"/>
              </a:rPr>
              <a:t>It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much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larger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actual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footprint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due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to </a:t>
            </a:r>
            <a:r>
              <a:rPr sz="1700" spc="-20" dirty="0">
                <a:latin typeface="Arial MT"/>
                <a:cs typeface="Arial MT"/>
              </a:rPr>
              <a:t>memory-</a:t>
            </a:r>
            <a:r>
              <a:rPr sz="1700" dirty="0">
                <a:latin typeface="Arial MT"/>
                <a:cs typeface="Arial MT"/>
              </a:rPr>
              <a:t>mapped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files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large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allocations.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24" y="1413655"/>
            <a:ext cx="916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vmmap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command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provides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detailed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information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about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memory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layout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process.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0475" y="1811475"/>
            <a:ext cx="1038796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vmmap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&lt;PID&gt;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9000" y="2552175"/>
            <a:ext cx="10949305" cy="4060190"/>
            <a:chOff x="839000" y="2552175"/>
            <a:chExt cx="10949305" cy="406019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000" y="2552175"/>
              <a:ext cx="10949273" cy="4060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93575" y="3218825"/>
              <a:ext cx="829944" cy="3274695"/>
            </a:xfrm>
            <a:custGeom>
              <a:avLst/>
              <a:gdLst/>
              <a:ahLst/>
              <a:cxnLst/>
              <a:rect l="l" t="t" r="r" b="b"/>
              <a:pathLst>
                <a:path w="829945" h="3274695">
                  <a:moveTo>
                    <a:pt x="0" y="0"/>
                  </a:moveTo>
                  <a:lnTo>
                    <a:pt x="829499" y="0"/>
                  </a:lnTo>
                  <a:lnTo>
                    <a:pt x="829499" y="3274199"/>
                  </a:lnTo>
                  <a:lnTo>
                    <a:pt x="0" y="327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61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122600" y="2855024"/>
            <a:ext cx="6480810" cy="3014980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1" dirty="0">
                <a:latin typeface="Arial"/>
                <a:cs typeface="Arial"/>
              </a:rPr>
              <a:t>Resident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Size</a:t>
            </a:r>
            <a:r>
              <a:rPr sz="1700" b="1" spc="-6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(RSS)</a:t>
            </a:r>
            <a:endParaRPr sz="1700">
              <a:latin typeface="Arial"/>
              <a:cs typeface="Arial"/>
            </a:endParaRPr>
          </a:p>
          <a:p>
            <a:pPr marL="85725" marR="433070">
              <a:lnSpc>
                <a:spcPct val="114999"/>
              </a:lnSpc>
              <a:spcBef>
                <a:spcPts val="1200"/>
              </a:spcBef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portion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process's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currently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loaded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in </a:t>
            </a:r>
            <a:r>
              <a:rPr sz="1700" dirty="0">
                <a:latin typeface="Arial MT"/>
                <a:cs typeface="Arial MT"/>
              </a:rPr>
              <a:t>RAM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(i.e.,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swapped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out).</a:t>
            </a:r>
            <a:endParaRPr sz="170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1505"/>
              </a:spcBef>
            </a:pPr>
            <a:r>
              <a:rPr sz="1700" b="1" dirty="0">
                <a:latin typeface="Arial"/>
                <a:cs typeface="Arial"/>
              </a:rPr>
              <a:t>Important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Notes:</a:t>
            </a:r>
            <a:endParaRPr sz="1700">
              <a:latin typeface="Arial"/>
              <a:cs typeface="Arial"/>
            </a:endParaRPr>
          </a:p>
          <a:p>
            <a:pPr marL="542290" indent="-358775">
              <a:lnSpc>
                <a:spcPct val="100000"/>
              </a:lnSpc>
              <a:spcBef>
                <a:spcPts val="1505"/>
              </a:spcBef>
              <a:buChar char="●"/>
              <a:tabLst>
                <a:tab pos="542290" algn="l"/>
              </a:tabLst>
            </a:pPr>
            <a:r>
              <a:rPr sz="1700" dirty="0">
                <a:latin typeface="Arial MT"/>
                <a:cs typeface="Arial MT"/>
              </a:rPr>
              <a:t>Does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include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swapped-</a:t>
            </a:r>
            <a:r>
              <a:rPr sz="1700" dirty="0">
                <a:latin typeface="Arial MT"/>
                <a:cs typeface="Arial MT"/>
              </a:rPr>
              <a:t>out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memory.</a:t>
            </a:r>
            <a:endParaRPr sz="1700">
              <a:latin typeface="Arial MT"/>
              <a:cs typeface="Arial MT"/>
            </a:endParaRPr>
          </a:p>
          <a:p>
            <a:pPr marL="542925" marR="315595" indent="-359410">
              <a:lnSpc>
                <a:spcPct val="114999"/>
              </a:lnSpc>
              <a:spcBef>
                <a:spcPts val="5"/>
              </a:spcBef>
              <a:buChar char="●"/>
              <a:tabLst>
                <a:tab pos="542925" algn="l"/>
              </a:tabLst>
            </a:pP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fluctuate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operating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system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moves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pages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and </a:t>
            </a:r>
            <a:r>
              <a:rPr sz="1700" dirty="0">
                <a:latin typeface="Arial MT"/>
                <a:cs typeface="Arial MT"/>
              </a:rPr>
              <a:t>out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memory.</a:t>
            </a:r>
            <a:endParaRPr sz="1700">
              <a:latin typeface="Arial MT"/>
              <a:cs typeface="Arial MT"/>
            </a:endParaRPr>
          </a:p>
          <a:p>
            <a:pPr marL="542290" indent="-358775">
              <a:lnSpc>
                <a:spcPct val="100000"/>
              </a:lnSpc>
              <a:spcBef>
                <a:spcPts val="305"/>
              </a:spcBef>
              <a:buChar char="●"/>
              <a:tabLst>
                <a:tab pos="542290" algn="l"/>
              </a:tabLst>
            </a:pP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never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greater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Virtual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Size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24" y="1413655"/>
            <a:ext cx="916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vmmap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command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provides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detailed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information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about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memory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layout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process.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0475" y="1811475"/>
            <a:ext cx="1038796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vmmap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&lt;PID&gt;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9000" y="2552175"/>
            <a:ext cx="10949305" cy="4060190"/>
            <a:chOff x="839000" y="2552175"/>
            <a:chExt cx="10949305" cy="406019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000" y="2552175"/>
              <a:ext cx="10949273" cy="4060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655574" y="3218825"/>
              <a:ext cx="829944" cy="3274695"/>
            </a:xfrm>
            <a:custGeom>
              <a:avLst/>
              <a:gdLst/>
              <a:ahLst/>
              <a:cxnLst/>
              <a:rect l="l" t="t" r="r" b="b"/>
              <a:pathLst>
                <a:path w="829945" h="3274695">
                  <a:moveTo>
                    <a:pt x="0" y="0"/>
                  </a:moveTo>
                  <a:lnTo>
                    <a:pt x="829499" y="0"/>
                  </a:lnTo>
                  <a:lnTo>
                    <a:pt x="829499" y="3274199"/>
                  </a:lnTo>
                  <a:lnTo>
                    <a:pt x="0" y="327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61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34224" y="2933525"/>
            <a:ext cx="5669915" cy="3315970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1" dirty="0">
                <a:latin typeface="Arial"/>
                <a:cs typeface="Arial"/>
              </a:rPr>
              <a:t>Dirty</a:t>
            </a:r>
            <a:r>
              <a:rPr sz="1700" b="1" spc="-6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Size</a:t>
            </a:r>
            <a:endParaRPr sz="1700">
              <a:latin typeface="Arial"/>
              <a:cs typeface="Arial"/>
            </a:endParaRPr>
          </a:p>
          <a:p>
            <a:pPr marL="85725" marR="107950">
              <a:lnSpc>
                <a:spcPct val="114999"/>
              </a:lnSpc>
              <a:spcBef>
                <a:spcPts val="1200"/>
              </a:spcBef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amount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has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been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modified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not </a:t>
            </a:r>
            <a:r>
              <a:rPr sz="1700" dirty="0">
                <a:latin typeface="Arial MT"/>
                <a:cs typeface="Arial MT"/>
              </a:rPr>
              <a:t>backed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file.</a:t>
            </a:r>
            <a:endParaRPr sz="170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1505"/>
              </a:spcBef>
            </a:pPr>
            <a:r>
              <a:rPr sz="1700" b="1" dirty="0">
                <a:latin typeface="Arial"/>
                <a:cs typeface="Arial"/>
              </a:rPr>
              <a:t>Important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Notes:</a:t>
            </a:r>
            <a:endParaRPr sz="1700">
              <a:latin typeface="Arial"/>
              <a:cs typeface="Arial"/>
            </a:endParaRPr>
          </a:p>
          <a:p>
            <a:pPr marL="542925" marR="312420" indent="-359410">
              <a:lnSpc>
                <a:spcPct val="114999"/>
              </a:lnSpc>
              <a:spcBef>
                <a:spcPts val="1200"/>
              </a:spcBef>
              <a:buFont typeface="Arial MT"/>
              <a:buChar char="●"/>
              <a:tabLst>
                <a:tab pos="542925" algn="l"/>
              </a:tabLst>
            </a:pPr>
            <a:r>
              <a:rPr sz="1700" b="1" dirty="0">
                <a:latin typeface="Arial"/>
                <a:cs typeface="Arial"/>
              </a:rPr>
              <a:t>Clean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pages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hasn’t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been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modified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easily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reloaded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disk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(e.g.,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shared libraries).</a:t>
            </a:r>
            <a:endParaRPr sz="1700">
              <a:latin typeface="Arial MT"/>
              <a:cs typeface="Arial MT"/>
            </a:endParaRPr>
          </a:p>
          <a:p>
            <a:pPr marL="542925" marR="381635" indent="-359410">
              <a:lnSpc>
                <a:spcPct val="114999"/>
              </a:lnSpc>
              <a:buFont typeface="Arial MT"/>
              <a:buChar char="●"/>
              <a:tabLst>
                <a:tab pos="542925" algn="l"/>
              </a:tabLst>
            </a:pPr>
            <a:r>
              <a:rPr sz="1700" b="1" dirty="0">
                <a:latin typeface="Arial"/>
                <a:cs typeface="Arial"/>
              </a:rPr>
              <a:t>Dirty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pages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has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been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modified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-25" dirty="0">
                <a:latin typeface="Arial MT"/>
                <a:cs typeface="Arial MT"/>
              </a:rPr>
              <a:t>by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process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cannot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be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reloaded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from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disk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24" y="1413655"/>
            <a:ext cx="916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vmmap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command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provides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detailed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information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about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memory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layout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process.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0475" y="1811475"/>
            <a:ext cx="1038796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vmmap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&lt;PID&gt;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9000" y="2552175"/>
            <a:ext cx="10949305" cy="4060190"/>
            <a:chOff x="839000" y="2552175"/>
            <a:chExt cx="10949305" cy="406019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000" y="2552175"/>
              <a:ext cx="10949273" cy="4060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41374" y="3218825"/>
              <a:ext cx="829944" cy="3274695"/>
            </a:xfrm>
            <a:custGeom>
              <a:avLst/>
              <a:gdLst/>
              <a:ahLst/>
              <a:cxnLst/>
              <a:rect l="l" t="t" r="r" b="b"/>
              <a:pathLst>
                <a:path w="829945" h="3274695">
                  <a:moveTo>
                    <a:pt x="0" y="0"/>
                  </a:moveTo>
                  <a:lnTo>
                    <a:pt x="829499" y="0"/>
                  </a:lnTo>
                  <a:lnTo>
                    <a:pt x="829499" y="3274199"/>
                  </a:lnTo>
                  <a:lnTo>
                    <a:pt x="0" y="327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61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43824" y="3009725"/>
            <a:ext cx="5060315" cy="3014980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1" dirty="0">
                <a:latin typeface="Arial"/>
                <a:cs typeface="Arial"/>
              </a:rPr>
              <a:t>Swapped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Size</a:t>
            </a:r>
            <a:endParaRPr sz="1700">
              <a:latin typeface="Arial"/>
              <a:cs typeface="Arial"/>
            </a:endParaRPr>
          </a:p>
          <a:p>
            <a:pPr marL="85725" marR="100965">
              <a:lnSpc>
                <a:spcPct val="114999"/>
              </a:lnSpc>
              <a:spcBef>
                <a:spcPts val="1200"/>
              </a:spcBef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portion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process’s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has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been </a:t>
            </a:r>
            <a:r>
              <a:rPr sz="1700" dirty="0">
                <a:latin typeface="Arial MT"/>
                <a:cs typeface="Arial MT"/>
              </a:rPr>
              <a:t>moved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swap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space.</a:t>
            </a:r>
            <a:endParaRPr sz="170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1505"/>
              </a:spcBef>
            </a:pPr>
            <a:r>
              <a:rPr sz="1700" b="1" dirty="0">
                <a:latin typeface="Arial"/>
                <a:cs typeface="Arial"/>
              </a:rPr>
              <a:t>Important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Notes:</a:t>
            </a:r>
            <a:endParaRPr sz="1700">
              <a:latin typeface="Arial"/>
              <a:cs typeface="Arial"/>
            </a:endParaRPr>
          </a:p>
          <a:p>
            <a:pPr marL="542925" marR="838200" indent="-359410">
              <a:lnSpc>
                <a:spcPct val="114999"/>
              </a:lnSpc>
              <a:spcBef>
                <a:spcPts val="1200"/>
              </a:spcBef>
              <a:buChar char="●"/>
              <a:tabLst>
                <a:tab pos="542925" algn="l"/>
              </a:tabLst>
            </a:pPr>
            <a:r>
              <a:rPr sz="1700" dirty="0">
                <a:latin typeface="Arial MT"/>
                <a:cs typeface="Arial MT"/>
              </a:rPr>
              <a:t>Large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swapped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size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indicates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memory pressure.</a:t>
            </a:r>
            <a:endParaRPr sz="1700">
              <a:latin typeface="Arial MT"/>
              <a:cs typeface="Arial MT"/>
            </a:endParaRPr>
          </a:p>
          <a:p>
            <a:pPr marL="542925" marR="359410" indent="-359410">
              <a:lnSpc>
                <a:spcPct val="114999"/>
              </a:lnSpc>
              <a:buChar char="●"/>
              <a:tabLst>
                <a:tab pos="542925" algn="l"/>
              </a:tabLst>
            </a:pPr>
            <a:r>
              <a:rPr sz="1700" dirty="0">
                <a:latin typeface="Arial MT"/>
                <a:cs typeface="Arial MT"/>
              </a:rPr>
              <a:t>Frequent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swapping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cause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performance degradation.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24" y="1413655"/>
            <a:ext cx="916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vmmap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command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provides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detailed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information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about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memory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layout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process.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0475" y="1811475"/>
            <a:ext cx="1038796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vmmap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&lt;PID&gt;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9000" y="2552175"/>
            <a:ext cx="10949305" cy="4060190"/>
            <a:chOff x="839000" y="2552175"/>
            <a:chExt cx="10949305" cy="406019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000" y="2552175"/>
              <a:ext cx="10949273" cy="4060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27174" y="3218825"/>
              <a:ext cx="829944" cy="3274695"/>
            </a:xfrm>
            <a:custGeom>
              <a:avLst/>
              <a:gdLst/>
              <a:ahLst/>
              <a:cxnLst/>
              <a:rect l="l" t="t" r="r" b="b"/>
              <a:pathLst>
                <a:path w="829945" h="3274695">
                  <a:moveTo>
                    <a:pt x="0" y="0"/>
                  </a:moveTo>
                  <a:lnTo>
                    <a:pt x="829499" y="0"/>
                  </a:lnTo>
                  <a:lnTo>
                    <a:pt x="829499" y="3274199"/>
                  </a:lnTo>
                  <a:lnTo>
                    <a:pt x="0" y="327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61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9275" y="3009725"/>
            <a:ext cx="5287645" cy="3014980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Volatile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Size</a:t>
            </a:r>
            <a:endParaRPr sz="1700">
              <a:latin typeface="Arial"/>
              <a:cs typeface="Arial"/>
            </a:endParaRPr>
          </a:p>
          <a:p>
            <a:pPr marL="85090" marR="433705">
              <a:lnSpc>
                <a:spcPct val="114999"/>
              </a:lnSpc>
              <a:spcBef>
                <a:spcPts val="1200"/>
              </a:spcBef>
            </a:pP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discarded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any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time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without affecting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program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execution.</a:t>
            </a:r>
            <a:endParaRPr sz="1700">
              <a:latin typeface="Arial MT"/>
              <a:cs typeface="Arial MT"/>
            </a:endParaRPr>
          </a:p>
          <a:p>
            <a:pPr marL="85090">
              <a:lnSpc>
                <a:spcPct val="100000"/>
              </a:lnSpc>
              <a:spcBef>
                <a:spcPts val="1505"/>
              </a:spcBef>
            </a:pPr>
            <a:r>
              <a:rPr sz="1700" b="1" dirty="0">
                <a:latin typeface="Arial"/>
                <a:cs typeface="Arial"/>
              </a:rPr>
              <a:t>Important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Notes:</a:t>
            </a:r>
            <a:endParaRPr sz="1700">
              <a:latin typeface="Arial"/>
              <a:cs typeface="Arial"/>
            </a:endParaRPr>
          </a:p>
          <a:p>
            <a:pPr marL="542925" marR="1021080" indent="-359410">
              <a:lnSpc>
                <a:spcPct val="114999"/>
              </a:lnSpc>
              <a:spcBef>
                <a:spcPts val="1200"/>
              </a:spcBef>
              <a:buChar char="●"/>
              <a:tabLst>
                <a:tab pos="542925" algn="l"/>
              </a:tabLst>
            </a:pPr>
            <a:r>
              <a:rPr sz="1700" dirty="0">
                <a:latin typeface="Arial MT"/>
                <a:cs typeface="Arial MT"/>
              </a:rPr>
              <a:t>Mostly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relevant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macOS/iOS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memory management.</a:t>
            </a:r>
            <a:endParaRPr sz="1700">
              <a:latin typeface="Arial MT"/>
              <a:cs typeface="Arial MT"/>
            </a:endParaRPr>
          </a:p>
          <a:p>
            <a:pPr marL="542925" marR="310515" indent="-359410">
              <a:lnSpc>
                <a:spcPct val="114999"/>
              </a:lnSpc>
              <a:buChar char="●"/>
              <a:tabLst>
                <a:tab pos="542925" algn="l"/>
              </a:tabLst>
            </a:pPr>
            <a:r>
              <a:rPr sz="1700" dirty="0">
                <a:latin typeface="Arial MT"/>
                <a:cs typeface="Arial MT"/>
              </a:rPr>
              <a:t>This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automatically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reclaimed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 </a:t>
            </a:r>
            <a:r>
              <a:rPr sz="1700" dirty="0">
                <a:latin typeface="Arial MT"/>
                <a:cs typeface="Arial MT"/>
              </a:rPr>
              <a:t>OS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when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needed.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24" y="1413655"/>
            <a:ext cx="916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vmmap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command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provides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detailed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information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about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memory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layout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process.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0475" y="1811475"/>
            <a:ext cx="1038796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vmmap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&lt;PID&gt;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9000" y="2552175"/>
            <a:ext cx="10949305" cy="4060190"/>
            <a:chOff x="839000" y="2552175"/>
            <a:chExt cx="10949305" cy="4060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9000" y="2552175"/>
              <a:ext cx="10949273" cy="4060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712974" y="3218825"/>
              <a:ext cx="829944" cy="3274695"/>
            </a:xfrm>
            <a:custGeom>
              <a:avLst/>
              <a:gdLst/>
              <a:ahLst/>
              <a:cxnLst/>
              <a:rect l="l" t="t" r="r" b="b"/>
              <a:pathLst>
                <a:path w="829945" h="3274695">
                  <a:moveTo>
                    <a:pt x="0" y="0"/>
                  </a:moveTo>
                  <a:lnTo>
                    <a:pt x="829499" y="0"/>
                  </a:lnTo>
                  <a:lnTo>
                    <a:pt x="829499" y="3274199"/>
                  </a:lnTo>
                  <a:lnTo>
                    <a:pt x="0" y="327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61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66575" y="3009725"/>
            <a:ext cx="4655820" cy="3315970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Non-</a:t>
            </a:r>
            <a:r>
              <a:rPr sz="1700" b="1" dirty="0">
                <a:latin typeface="Arial"/>
                <a:cs typeface="Arial"/>
              </a:rPr>
              <a:t>volatile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Size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(Nonvol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Size)</a:t>
            </a:r>
            <a:endParaRPr sz="1700">
              <a:latin typeface="Arial"/>
              <a:cs typeface="Arial"/>
            </a:endParaRPr>
          </a:p>
          <a:p>
            <a:pPr marL="85725" marR="269240">
              <a:lnSpc>
                <a:spcPct val="114999"/>
              </a:lnSpc>
              <a:spcBef>
                <a:spcPts val="1200"/>
              </a:spcBef>
            </a:pP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must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retained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cannot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be </a:t>
            </a:r>
            <a:r>
              <a:rPr sz="1700" spc="-10" dirty="0">
                <a:latin typeface="Arial MT"/>
                <a:cs typeface="Arial MT"/>
              </a:rPr>
              <a:t>discarded.</a:t>
            </a:r>
            <a:endParaRPr sz="170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1505"/>
              </a:spcBef>
            </a:pPr>
            <a:r>
              <a:rPr sz="1700" b="1" dirty="0">
                <a:latin typeface="Arial"/>
                <a:cs typeface="Arial"/>
              </a:rPr>
              <a:t>Important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Notes:</a:t>
            </a:r>
            <a:endParaRPr sz="1700">
              <a:latin typeface="Arial"/>
              <a:cs typeface="Arial"/>
            </a:endParaRPr>
          </a:p>
          <a:p>
            <a:pPr marL="542925" marR="715645" indent="-359410" algn="just">
              <a:lnSpc>
                <a:spcPct val="114999"/>
              </a:lnSpc>
              <a:spcBef>
                <a:spcPts val="1200"/>
              </a:spcBef>
              <a:buChar char="●"/>
              <a:tabLst>
                <a:tab pos="542925" algn="l"/>
              </a:tabLst>
            </a:pPr>
            <a:r>
              <a:rPr sz="1700" dirty="0">
                <a:latin typeface="Arial MT"/>
                <a:cs typeface="Arial MT"/>
              </a:rPr>
              <a:t>Unlike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volatile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memory,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cannot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35" dirty="0">
                <a:latin typeface="Arial MT"/>
                <a:cs typeface="Arial MT"/>
              </a:rPr>
              <a:t>be </a:t>
            </a:r>
            <a:r>
              <a:rPr sz="1700" spc="-10" dirty="0">
                <a:latin typeface="Arial MT"/>
                <a:cs typeface="Arial MT"/>
              </a:rPr>
              <a:t>discarded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without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causing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program failure.</a:t>
            </a:r>
            <a:endParaRPr sz="1700">
              <a:latin typeface="Arial MT"/>
              <a:cs typeface="Arial MT"/>
            </a:endParaRPr>
          </a:p>
          <a:p>
            <a:pPr marL="542925" marR="939165" indent="-359410" algn="just">
              <a:lnSpc>
                <a:spcPct val="114999"/>
              </a:lnSpc>
              <a:buChar char="●"/>
              <a:tabLst>
                <a:tab pos="542925" algn="l"/>
              </a:tabLst>
            </a:pPr>
            <a:r>
              <a:rPr sz="1700" dirty="0">
                <a:latin typeface="Arial MT"/>
                <a:cs typeface="Arial MT"/>
              </a:rPr>
              <a:t>Important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planning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in </a:t>
            </a:r>
            <a:r>
              <a:rPr sz="1700" spc="-10" dirty="0">
                <a:latin typeface="Arial MT"/>
                <a:cs typeface="Arial MT"/>
              </a:rPr>
              <a:t>constrained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environments.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24" y="1413655"/>
            <a:ext cx="916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vmmap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command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provides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detailed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information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about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memory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layout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process.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0475" y="1811475"/>
            <a:ext cx="1038796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vmmap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&lt;PID&gt;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9000" y="2552175"/>
            <a:ext cx="10949305" cy="4060190"/>
            <a:chOff x="839000" y="2552175"/>
            <a:chExt cx="10949305" cy="4060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9000" y="2552175"/>
              <a:ext cx="10949273" cy="4060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398774" y="3218825"/>
              <a:ext cx="829944" cy="3274695"/>
            </a:xfrm>
            <a:custGeom>
              <a:avLst/>
              <a:gdLst/>
              <a:ahLst/>
              <a:cxnLst/>
              <a:rect l="l" t="t" r="r" b="b"/>
              <a:pathLst>
                <a:path w="829945" h="3274695">
                  <a:moveTo>
                    <a:pt x="0" y="0"/>
                  </a:moveTo>
                  <a:lnTo>
                    <a:pt x="829499" y="0"/>
                  </a:lnTo>
                  <a:lnTo>
                    <a:pt x="829499" y="3274199"/>
                  </a:lnTo>
                  <a:lnTo>
                    <a:pt x="0" y="327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61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37524" y="3009725"/>
            <a:ext cx="5575300" cy="2413000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1" dirty="0">
                <a:latin typeface="Arial"/>
                <a:cs typeface="Arial"/>
              </a:rPr>
              <a:t>Empty</a:t>
            </a:r>
            <a:r>
              <a:rPr sz="1700" b="1" spc="-80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Size</a:t>
            </a:r>
            <a:endParaRPr sz="17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  <a:spcBef>
                <a:spcPts val="1505"/>
              </a:spcBef>
            </a:pP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has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been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allocated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but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currently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unused.</a:t>
            </a:r>
            <a:endParaRPr sz="170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1510"/>
              </a:spcBef>
            </a:pPr>
            <a:r>
              <a:rPr sz="1700" b="1" dirty="0">
                <a:latin typeface="Arial"/>
                <a:cs typeface="Arial"/>
              </a:rPr>
              <a:t>Important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Notes:</a:t>
            </a:r>
            <a:endParaRPr sz="1700">
              <a:latin typeface="Arial"/>
              <a:cs typeface="Arial"/>
            </a:endParaRPr>
          </a:p>
          <a:p>
            <a:pPr marL="542290" indent="-358775">
              <a:lnSpc>
                <a:spcPct val="100000"/>
              </a:lnSpc>
              <a:spcBef>
                <a:spcPts val="1505"/>
              </a:spcBef>
              <a:buChar char="●"/>
              <a:tabLst>
                <a:tab pos="542290" algn="l"/>
              </a:tabLst>
            </a:pPr>
            <a:r>
              <a:rPr sz="1700" dirty="0">
                <a:latin typeface="Arial MT"/>
                <a:cs typeface="Arial MT"/>
              </a:rPr>
              <a:t>Helps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identify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inefficiencies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allocation.</a:t>
            </a:r>
            <a:endParaRPr sz="1700">
              <a:latin typeface="Arial MT"/>
              <a:cs typeface="Arial MT"/>
            </a:endParaRPr>
          </a:p>
          <a:p>
            <a:pPr marL="542925" marR="166370" indent="-359410">
              <a:lnSpc>
                <a:spcPct val="114999"/>
              </a:lnSpc>
              <a:buChar char="●"/>
              <a:tabLst>
                <a:tab pos="542925" algn="l"/>
              </a:tabLst>
            </a:pPr>
            <a:r>
              <a:rPr sz="1700" dirty="0">
                <a:latin typeface="Arial MT"/>
                <a:cs typeface="Arial MT"/>
              </a:rPr>
              <a:t>A</a:t>
            </a:r>
            <a:r>
              <a:rPr sz="1700" spc="-1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large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empty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size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could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indicate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over-</a:t>
            </a:r>
            <a:r>
              <a:rPr sz="1700" spc="-10" dirty="0">
                <a:latin typeface="Arial MT"/>
                <a:cs typeface="Arial MT"/>
              </a:rPr>
              <a:t>allocation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or </a:t>
            </a:r>
            <a:r>
              <a:rPr sz="1700" spc="-10" dirty="0">
                <a:latin typeface="Arial MT"/>
                <a:cs typeface="Arial MT"/>
              </a:rPr>
              <a:t>fragmentation.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24" y="1413655"/>
            <a:ext cx="916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vmmap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command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provides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detailed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information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about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memory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layout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 MT"/>
                <a:cs typeface="Arial MT"/>
              </a:rPr>
              <a:t>process.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0475" y="1811475"/>
            <a:ext cx="1038796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vmmap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&lt;PID&gt;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9000" y="2552175"/>
            <a:ext cx="10949305" cy="4060190"/>
            <a:chOff x="839000" y="2552175"/>
            <a:chExt cx="10949305" cy="406019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000" y="2552175"/>
              <a:ext cx="10949273" cy="4060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60774" y="3218825"/>
              <a:ext cx="829944" cy="3274695"/>
            </a:xfrm>
            <a:custGeom>
              <a:avLst/>
              <a:gdLst/>
              <a:ahLst/>
              <a:cxnLst/>
              <a:rect l="l" t="t" r="r" b="b"/>
              <a:pathLst>
                <a:path w="829945" h="3274695">
                  <a:moveTo>
                    <a:pt x="0" y="0"/>
                  </a:moveTo>
                  <a:lnTo>
                    <a:pt x="829499" y="0"/>
                  </a:lnTo>
                  <a:lnTo>
                    <a:pt x="829499" y="3274199"/>
                  </a:lnTo>
                  <a:lnTo>
                    <a:pt x="0" y="327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61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91024" y="3009725"/>
            <a:ext cx="5855335" cy="2713990"/>
          </a:xfrm>
          <a:prstGeom prst="rect">
            <a:avLst/>
          </a:prstGeom>
          <a:solidFill>
            <a:srgbClr val="FFF1CC"/>
          </a:solidFill>
          <a:ln w="9524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1" dirty="0">
                <a:latin typeface="Arial"/>
                <a:cs typeface="Arial"/>
              </a:rPr>
              <a:t>Region</a:t>
            </a:r>
            <a:r>
              <a:rPr sz="1700" b="1" spc="-9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Count</a:t>
            </a:r>
            <a:endParaRPr sz="1700">
              <a:latin typeface="Arial"/>
              <a:cs typeface="Arial"/>
            </a:endParaRPr>
          </a:p>
          <a:p>
            <a:pPr marL="85725" marR="629285">
              <a:lnSpc>
                <a:spcPct val="114999"/>
              </a:lnSpc>
              <a:spcBef>
                <a:spcPts val="1200"/>
              </a:spcBef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number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distinct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regions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allocated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a </a:t>
            </a:r>
            <a:r>
              <a:rPr sz="1700" spc="-10" dirty="0">
                <a:latin typeface="Arial MT"/>
                <a:cs typeface="Arial MT"/>
              </a:rPr>
              <a:t>process.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30" dirty="0">
                <a:latin typeface="Arial MT"/>
                <a:cs typeface="Arial MT"/>
              </a:rPr>
              <a:t>Total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number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allocated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chunks).</a:t>
            </a:r>
            <a:endParaRPr sz="170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1505"/>
              </a:spcBef>
            </a:pPr>
            <a:r>
              <a:rPr sz="1700" b="1" dirty="0">
                <a:latin typeface="Arial"/>
                <a:cs typeface="Arial"/>
              </a:rPr>
              <a:t>Important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Notes:</a:t>
            </a:r>
            <a:endParaRPr sz="1700">
              <a:latin typeface="Arial"/>
              <a:cs typeface="Arial"/>
            </a:endParaRPr>
          </a:p>
          <a:p>
            <a:pPr marL="542290" indent="-358775">
              <a:lnSpc>
                <a:spcPct val="100000"/>
              </a:lnSpc>
              <a:spcBef>
                <a:spcPts val="1505"/>
              </a:spcBef>
              <a:buChar char="●"/>
              <a:tabLst>
                <a:tab pos="542290" algn="l"/>
              </a:tabLst>
            </a:pPr>
            <a:r>
              <a:rPr sz="1700" dirty="0">
                <a:latin typeface="Arial MT"/>
                <a:cs typeface="Arial MT"/>
              </a:rPr>
              <a:t>A</a:t>
            </a:r>
            <a:r>
              <a:rPr sz="1700" spc="-1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large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number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regions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indicate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fragmentation.</a:t>
            </a:r>
            <a:endParaRPr sz="1700">
              <a:latin typeface="Arial MT"/>
              <a:cs typeface="Arial MT"/>
            </a:endParaRPr>
          </a:p>
          <a:p>
            <a:pPr marL="542925" marR="349885" indent="-359410">
              <a:lnSpc>
                <a:spcPct val="114999"/>
              </a:lnSpc>
              <a:spcBef>
                <a:spcPts val="5"/>
              </a:spcBef>
              <a:buChar char="●"/>
              <a:tabLst>
                <a:tab pos="542925" algn="l"/>
              </a:tabLst>
            </a:pPr>
            <a:r>
              <a:rPr sz="1700" dirty="0">
                <a:latin typeface="Arial MT"/>
                <a:cs typeface="Arial MT"/>
              </a:rPr>
              <a:t>Processes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with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many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dynamic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allocations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shared </a:t>
            </a:r>
            <a:r>
              <a:rPr sz="1700" dirty="0">
                <a:latin typeface="Arial MT"/>
                <a:cs typeface="Arial MT"/>
              </a:rPr>
              <a:t>libraries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will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have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higher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region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counts.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88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3672</Words>
  <Application>Microsoft Office PowerPoint</Application>
  <PresentationFormat>Widescreen</PresentationFormat>
  <Paragraphs>363</Paragraphs>
  <Slides>37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Arial MT</vt:lpstr>
      <vt:lpstr>Courier New</vt:lpstr>
      <vt:lpstr>Georgia</vt:lpstr>
      <vt:lpstr>Office Theme</vt:lpstr>
      <vt:lpstr>CSC 362: System Programming</vt:lpstr>
      <vt:lpstr>Status Check</vt:lpstr>
      <vt:lpstr>Static Linking and Static Libraries</vt:lpstr>
      <vt:lpstr>PowerPoint Presentation</vt:lpstr>
      <vt:lpstr>Static Linking and Static Libraries</vt:lpstr>
      <vt:lpstr>Static Linking and Static Libraries</vt:lpstr>
      <vt:lpstr>Static Linking and Static Libraries</vt:lpstr>
      <vt:lpstr>Static Linking and Static Libraries</vt:lpstr>
      <vt:lpstr>Relocation in Dynamic Linking</vt:lpstr>
      <vt:lpstr>PowerPoint Presentation</vt:lpstr>
      <vt:lpstr>Use gcc to compile it without linking:</vt:lpstr>
      <vt:lpstr>Use gcc to compile it without linking:</vt:lpstr>
      <vt:lpstr>PowerPoint Presentation</vt:lpstr>
      <vt:lpstr>PowerPoint Presentation</vt:lpstr>
      <vt:lpstr>To resolve these relocations and create the final binary:</vt:lpstr>
      <vt:lpstr>Static Relocation</vt:lpstr>
      <vt:lpstr>Static Relocation</vt:lpstr>
      <vt:lpstr>Static Relocation</vt:lpstr>
      <vt:lpstr>Static Relocation</vt:lpstr>
      <vt:lpstr>Static Relocation</vt:lpstr>
      <vt:lpstr>Static Relocation</vt:lpstr>
      <vt:lpstr>Static Relocation</vt:lpstr>
      <vt:lpstr>Static Relocation</vt:lpstr>
      <vt:lpstr>Static Relocation</vt:lpstr>
      <vt:lpstr>Static Relocation</vt:lpstr>
      <vt:lpstr>Dynamic Relocation</vt:lpstr>
      <vt:lpstr>Dynamic Relocation</vt:lpstr>
      <vt:lpstr>Dynamic Relocation</vt:lpstr>
      <vt:lpstr>The vmmap command provides detailed information about the memory layout of a process.</vt:lpstr>
      <vt:lpstr>The vmmap command provides detailed information about the memory layout of a process.</vt:lpstr>
      <vt:lpstr>The vmmap command provides detailed information about the memory layout of a process.</vt:lpstr>
      <vt:lpstr>The vmmap command provides detailed information about the memory layout of a process.</vt:lpstr>
      <vt:lpstr>The vmmap command provides detailed information about the memory layout of a process.</vt:lpstr>
      <vt:lpstr>The vmmap command provides detailed information about the memory layout of a process.</vt:lpstr>
      <vt:lpstr>The vmmap command provides detailed information about the memory layout of a process.</vt:lpstr>
      <vt:lpstr>The vmmap command provides detailed information about the memory layout of a process.</vt:lpstr>
      <vt:lpstr>The vmmap command provides detailed information about the memory layout of a process.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CSC362 - Lecture 11.pptx</dc:title>
  <cp:lastModifiedBy>Richard Johnson</cp:lastModifiedBy>
  <cp:revision>64</cp:revision>
  <dcterms:created xsi:type="dcterms:W3CDTF">2026-01-14T00:59:20Z</dcterms:created>
  <dcterms:modified xsi:type="dcterms:W3CDTF">2026-02-18T04:20:14Z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2026-01-14T00:00:00Z</vt:filetime>
  </property>
</Properties>
</file>