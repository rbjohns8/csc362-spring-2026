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3.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44"/>
  </p:notesMasterIdLst>
  <p:sldIdLst>
    <p:sldId id="256" r:id="rId3"/>
    <p:sldId id="29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64516" autoAdjust="0"/>
  </p:normalViewPr>
  <p:slideViewPr>
    <p:cSldViewPr snapToGrid="0">
      <p:cViewPr varScale="1">
        <p:scale>
          <a:sx n="50" d="100"/>
          <a:sy n="50" d="100"/>
        </p:scale>
        <p:origin x="1834" y="48"/>
      </p:cViewPr>
      <p:guideLst/>
    </p:cSldViewPr>
  </p:slideViewPr>
  <p:outlineViewPr>
    <p:cViewPr>
      <p:scale>
        <a:sx n="33" d="100"/>
        <a:sy n="33" d="100"/>
      </p:scale>
      <p:origin x="0" y="-124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6d962a05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r>
              <a:rPr lang="en-US" b="0" dirty="0"/>
              <a:t>---</a:t>
            </a:r>
          </a:p>
          <a:p>
            <a:pPr marL="0" lvl="0" indent="0" algn="l" rtl="0">
              <a:spcBef>
                <a:spcPts val="0"/>
              </a:spcBef>
              <a:spcAft>
                <a:spcPts val="0"/>
              </a:spcAft>
              <a:buNone/>
            </a:pPr>
            <a:r>
              <a:rPr lang="en-US" b="1" dirty="0"/>
              <a:t>Short Description</a:t>
            </a:r>
          </a:p>
          <a:p>
            <a:pPr marL="0" lvl="0" indent="0" algn="l" rtl="0">
              <a:spcBef>
                <a:spcPts val="0"/>
              </a:spcBef>
              <a:spcAft>
                <a:spcPts val="0"/>
              </a:spcAft>
              <a:buNone/>
            </a:pPr>
            <a:r>
              <a:rPr lang="en-US" dirty="0"/>
              <a:t>A flowchart showing the sequential socket API calls for a TCP client-server interaction, </a:t>
            </a:r>
          </a:p>
          <a:p>
            <a:pPr marL="0" lvl="0" indent="0" algn="l" rtl="0">
              <a:spcBef>
                <a:spcPts val="0"/>
              </a:spcBef>
              <a:spcAft>
                <a:spcPts val="0"/>
              </a:spcAft>
              <a:buNone/>
            </a:pPr>
            <a:r>
              <a:rPr lang="en-US" dirty="0"/>
              <a:t>from connection establishment to data exchange and termination.</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Long Description</a:t>
            </a:r>
          </a:p>
          <a:p>
            <a:pPr marL="0" lvl="0" indent="0" algn="l" rtl="0">
              <a:spcBef>
                <a:spcPts val="0"/>
              </a:spcBef>
              <a:spcAft>
                <a:spcPts val="0"/>
              </a:spcAft>
              <a:buNone/>
            </a:pPr>
            <a:r>
              <a:rPr lang="en-US" dirty="0"/>
              <a:t>The diagram consists of two vertical columns: the </a:t>
            </a:r>
            <a:r>
              <a:rPr lang="en-US" b="1" dirty="0"/>
              <a:t>TCP Client</a:t>
            </a:r>
            <a:r>
              <a:rPr lang="en-US" dirty="0"/>
              <a:t> on the left and the </a:t>
            </a:r>
            <a:r>
              <a:rPr lang="en-US" b="1" dirty="0"/>
              <a:t>TCP Server</a:t>
            </a:r>
            <a:r>
              <a:rPr lang="en-US" dirty="0"/>
              <a:t> on the right. </a:t>
            </a:r>
          </a:p>
          <a:p>
            <a:pPr marL="0" lvl="0" indent="0" algn="l" rtl="0">
              <a:spcBef>
                <a:spcPts val="0"/>
              </a:spcBef>
              <a:spcAft>
                <a:spcPts val="0"/>
              </a:spcAft>
              <a:buNone/>
            </a:pPr>
            <a:r>
              <a:rPr lang="en-US" dirty="0"/>
              <a:t>Arrows indicate the flow of execution and the network messages sent between the two entities.</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1. Connection Establishment</a:t>
            </a:r>
          </a:p>
          <a:p>
            <a:pPr marL="171450" lvl="0" indent="-171450" algn="l" rtl="0">
              <a:spcBef>
                <a:spcPts val="0"/>
              </a:spcBef>
              <a:spcAft>
                <a:spcPts val="0"/>
              </a:spcAft>
            </a:pPr>
            <a:r>
              <a:rPr lang="en-US" b="1" dirty="0"/>
              <a:t>Server Side:</a:t>
            </a:r>
            <a:r>
              <a:rPr lang="en-US" dirty="0"/>
              <a:t> </a:t>
            </a:r>
            <a:br>
              <a:rPr lang="en-US" dirty="0"/>
            </a:br>
            <a:r>
              <a:rPr lang="en-US" dirty="0"/>
              <a:t>The process begins with the server calling </a:t>
            </a:r>
            <a:r>
              <a:rPr lang="en-US" sz="1100" b="0" i="0" u="none" strike="noStrike" cap="none" dirty="0">
                <a:solidFill>
                  <a:srgbClr val="000000"/>
                </a:solidFill>
                <a:latin typeface="Arial"/>
                <a:ea typeface="Arial"/>
                <a:cs typeface="Arial"/>
                <a:sym typeface="Arial"/>
              </a:rPr>
              <a:t>socket()</a:t>
            </a:r>
            <a:r>
              <a:rPr lang="en-US" dirty="0"/>
              <a:t>, followed by </a:t>
            </a:r>
            <a:r>
              <a:rPr lang="en-US" sz="1100" b="0" i="0" u="none" strike="noStrike" cap="none" dirty="0">
                <a:solidFill>
                  <a:srgbClr val="000000"/>
                </a:solidFill>
                <a:latin typeface="Arial"/>
                <a:ea typeface="Arial"/>
                <a:cs typeface="Arial"/>
                <a:sym typeface="Arial"/>
              </a:rPr>
              <a:t>bind()</a:t>
            </a:r>
            <a:r>
              <a:rPr lang="en-US" dirty="0"/>
              <a:t> </a:t>
            </a:r>
            <a:br>
              <a:rPr lang="en-US" dirty="0"/>
            </a:br>
            <a:r>
              <a:rPr lang="en-US" dirty="0"/>
              <a:t>to a specific port, and </a:t>
            </a:r>
            <a:r>
              <a:rPr lang="en-US" sz="1100" b="0" i="0" u="none" strike="noStrike" cap="none" dirty="0">
                <a:solidFill>
                  <a:srgbClr val="000000"/>
                </a:solidFill>
                <a:latin typeface="Arial"/>
                <a:ea typeface="Arial"/>
                <a:cs typeface="Arial"/>
                <a:sym typeface="Arial"/>
              </a:rPr>
              <a:t>listen()</a:t>
            </a:r>
            <a:r>
              <a:rPr lang="en-US" dirty="0"/>
              <a:t> to wait for incoming connections. </a:t>
            </a:r>
            <a:br>
              <a:rPr lang="en-US" dirty="0"/>
            </a:br>
            <a:r>
              <a:rPr lang="en-US" dirty="0"/>
              <a:t>It then calls </a:t>
            </a:r>
            <a:r>
              <a:rPr lang="en-US" sz="1100" b="0" i="0" u="none" strike="noStrike" cap="none" dirty="0">
                <a:solidFill>
                  <a:srgbClr val="000000"/>
                </a:solidFill>
                <a:latin typeface="Arial"/>
                <a:ea typeface="Arial"/>
                <a:cs typeface="Arial"/>
                <a:sym typeface="Arial"/>
              </a:rPr>
              <a:t>accept()</a:t>
            </a:r>
            <a:r>
              <a:rPr lang="en-US" dirty="0"/>
              <a:t>, which blocks execution until a client attempts to connect.</a:t>
            </a:r>
          </a:p>
          <a:p>
            <a:pPr marL="171450" lvl="0" indent="-171450" algn="l" rtl="0">
              <a:spcBef>
                <a:spcPts val="0"/>
              </a:spcBef>
              <a:spcAft>
                <a:spcPts val="0"/>
              </a:spcAft>
            </a:pPr>
            <a:r>
              <a:rPr lang="en-US" b="1" dirty="0"/>
              <a:t>Client Side:</a:t>
            </a:r>
            <a:r>
              <a:rPr lang="en-US" dirty="0"/>
              <a:t> </a:t>
            </a:r>
            <a:br>
              <a:rPr lang="en-US" dirty="0"/>
            </a:br>
            <a:r>
              <a:rPr lang="en-US" dirty="0"/>
              <a:t>The client calls </a:t>
            </a:r>
            <a:r>
              <a:rPr lang="en-US" sz="1100" b="0" i="0" u="none" strike="noStrike" cap="none" dirty="0">
                <a:solidFill>
                  <a:srgbClr val="000000"/>
                </a:solidFill>
                <a:latin typeface="Arial"/>
                <a:ea typeface="Arial"/>
                <a:cs typeface="Arial"/>
                <a:sym typeface="Arial"/>
              </a:rPr>
              <a:t>socket()</a:t>
            </a:r>
            <a:r>
              <a:rPr lang="en-US" dirty="0"/>
              <a:t> and then </a:t>
            </a:r>
            <a:r>
              <a:rPr lang="en-US" sz="1100" b="0" i="0" u="none" strike="noStrike" cap="none" dirty="0">
                <a:solidFill>
                  <a:srgbClr val="000000"/>
                </a:solidFill>
                <a:latin typeface="Arial"/>
                <a:ea typeface="Arial"/>
                <a:cs typeface="Arial"/>
                <a:sym typeface="Arial"/>
              </a:rPr>
              <a:t>connect()</a:t>
            </a:r>
            <a:r>
              <a:rPr lang="en-US" dirty="0"/>
              <a:t>. </a:t>
            </a:r>
            <a:br>
              <a:rPr lang="en-US" dirty="0"/>
            </a:br>
            <a:r>
              <a:rPr lang="en-US" dirty="0"/>
              <a:t>This initiates the </a:t>
            </a:r>
            <a:r>
              <a:rPr lang="en-US" b="1" dirty="0"/>
              <a:t>TCP connection establishment</a:t>
            </a:r>
            <a:r>
              <a:rPr lang="en-US" dirty="0"/>
              <a:t> (the three-way handshake), </a:t>
            </a:r>
            <a:br>
              <a:rPr lang="en-US" dirty="0"/>
            </a:br>
            <a:r>
              <a:rPr lang="en-US" dirty="0"/>
              <a:t>which unblocks the server’s </a:t>
            </a:r>
            <a:r>
              <a:rPr lang="en-US" sz="1100" b="0" i="0" u="none" strike="noStrike" cap="none" dirty="0">
                <a:solidFill>
                  <a:srgbClr val="000000"/>
                </a:solidFill>
                <a:latin typeface="Arial"/>
                <a:ea typeface="Arial"/>
                <a:cs typeface="Arial"/>
                <a:sym typeface="Arial"/>
              </a:rPr>
              <a:t>accept()</a:t>
            </a:r>
            <a:r>
              <a:rPr lang="en-US" dirty="0"/>
              <a:t> call.</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2. Data Exchange Loop</a:t>
            </a:r>
          </a:p>
          <a:p>
            <a:pPr marL="171450" lvl="0" indent="-171450" algn="l" rtl="0">
              <a:spcBef>
                <a:spcPts val="0"/>
              </a:spcBef>
              <a:spcAft>
                <a:spcPts val="0"/>
              </a:spcAft>
            </a:pPr>
            <a:r>
              <a:rPr lang="en-US" b="1" dirty="0"/>
              <a:t>Request:</a:t>
            </a:r>
            <a:r>
              <a:rPr lang="en-US" dirty="0"/>
              <a:t> </a:t>
            </a:r>
            <a:br>
              <a:rPr lang="en-US" dirty="0"/>
            </a:br>
            <a:r>
              <a:rPr lang="en-US" dirty="0"/>
              <a:t>The client calls </a:t>
            </a:r>
            <a:r>
              <a:rPr lang="en-US" sz="1100" b="0" i="0" u="none" strike="noStrike" cap="none" dirty="0">
                <a:solidFill>
                  <a:srgbClr val="000000"/>
                </a:solidFill>
                <a:latin typeface="Arial"/>
                <a:ea typeface="Arial"/>
                <a:cs typeface="Arial"/>
                <a:sym typeface="Arial"/>
              </a:rPr>
              <a:t>write()</a:t>
            </a:r>
            <a:r>
              <a:rPr lang="en-US" dirty="0"/>
              <a:t> to send a </a:t>
            </a:r>
            <a:r>
              <a:rPr lang="en-US" b="1" dirty="0"/>
              <a:t>data request</a:t>
            </a:r>
            <a:r>
              <a:rPr lang="en-US" dirty="0"/>
              <a:t>. </a:t>
            </a:r>
            <a:br>
              <a:rPr lang="en-US" dirty="0"/>
            </a:br>
            <a:r>
              <a:rPr lang="en-US" dirty="0"/>
              <a:t>On the server side, this is received via a </a:t>
            </a:r>
            <a:r>
              <a:rPr lang="en-US" sz="1100" b="0" i="0" u="none" strike="noStrike" cap="none" dirty="0">
                <a:solidFill>
                  <a:srgbClr val="000000"/>
                </a:solidFill>
                <a:latin typeface="Arial"/>
                <a:ea typeface="Arial"/>
                <a:cs typeface="Arial"/>
                <a:sym typeface="Arial"/>
              </a:rPr>
              <a:t>read()</a:t>
            </a:r>
            <a:r>
              <a:rPr lang="en-US" dirty="0"/>
              <a:t> call.</a:t>
            </a:r>
          </a:p>
          <a:p>
            <a:pPr marL="171450" lvl="0" indent="-171450" algn="l" rtl="0">
              <a:spcBef>
                <a:spcPts val="0"/>
              </a:spcBef>
              <a:spcAft>
                <a:spcPts val="0"/>
              </a:spcAft>
            </a:pPr>
            <a:r>
              <a:rPr lang="en-US" b="1" dirty="0"/>
              <a:t>Processing:</a:t>
            </a:r>
            <a:r>
              <a:rPr lang="en-US" dirty="0"/>
              <a:t> </a:t>
            </a:r>
            <a:br>
              <a:rPr lang="en-US" dirty="0"/>
            </a:br>
            <a:r>
              <a:rPr lang="en-US" dirty="0"/>
              <a:t>The server "does something" with the data and then calls </a:t>
            </a:r>
            <a:r>
              <a:rPr lang="en-US" sz="1100" b="0" i="0" u="none" strike="noStrike" cap="none" dirty="0">
                <a:solidFill>
                  <a:srgbClr val="000000"/>
                </a:solidFill>
                <a:latin typeface="Arial"/>
                <a:ea typeface="Arial"/>
                <a:cs typeface="Arial"/>
                <a:sym typeface="Arial"/>
              </a:rPr>
              <a:t>write()</a:t>
            </a:r>
            <a:r>
              <a:rPr lang="en-US" dirty="0"/>
              <a:t> to send a </a:t>
            </a:r>
            <a:r>
              <a:rPr lang="en-US" b="1" dirty="0"/>
              <a:t>data reply</a:t>
            </a:r>
            <a:r>
              <a:rPr lang="en-US" dirty="0"/>
              <a:t>.</a:t>
            </a:r>
          </a:p>
          <a:p>
            <a:pPr marL="171450" lvl="0" indent="-171450" algn="l" rtl="0">
              <a:spcBef>
                <a:spcPts val="0"/>
              </a:spcBef>
              <a:spcAft>
                <a:spcPts val="0"/>
              </a:spcAft>
            </a:pPr>
            <a:r>
              <a:rPr lang="en-US" b="1" dirty="0"/>
              <a:t>Response:</a:t>
            </a:r>
            <a:r>
              <a:rPr lang="en-US" dirty="0"/>
              <a:t> </a:t>
            </a:r>
            <a:br>
              <a:rPr lang="en-US" dirty="0"/>
            </a:br>
            <a:r>
              <a:rPr lang="en-US" dirty="0"/>
              <a:t>The client receives the reply via a </a:t>
            </a:r>
            <a:r>
              <a:rPr lang="en-US" sz="1100" b="0" i="0" u="none" strike="noStrike" cap="none" dirty="0">
                <a:solidFill>
                  <a:srgbClr val="000000"/>
                </a:solidFill>
                <a:latin typeface="Arial"/>
                <a:ea typeface="Arial"/>
                <a:cs typeface="Arial"/>
                <a:sym typeface="Arial"/>
              </a:rPr>
              <a:t>read()</a:t>
            </a:r>
            <a:r>
              <a:rPr lang="en-US" dirty="0"/>
              <a:t> call. </a:t>
            </a:r>
            <a:br>
              <a:rPr lang="en-US" dirty="0"/>
            </a:br>
            <a:r>
              <a:rPr lang="en-US" dirty="0"/>
              <a:t>Both sides have arrows indicating this process can loop for multiple requests and replies.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Connection Termination</a:t>
            </a:r>
          </a:p>
          <a:p>
            <a:pPr marL="171450" lvl="0" indent="-171450" algn="l" rtl="0">
              <a:spcBef>
                <a:spcPts val="0"/>
              </a:spcBef>
              <a:spcAft>
                <a:spcPts val="0"/>
              </a:spcAft>
            </a:pPr>
            <a:r>
              <a:rPr lang="en-US" b="1" dirty="0"/>
              <a:t>Closing:</a:t>
            </a:r>
            <a:r>
              <a:rPr lang="en-US" dirty="0"/>
              <a:t> </a:t>
            </a:r>
            <a:br>
              <a:rPr lang="en-US" dirty="0"/>
            </a:br>
            <a:r>
              <a:rPr lang="en-US" dirty="0"/>
              <a:t>Once the interaction is complete, the client calls </a:t>
            </a:r>
            <a:r>
              <a:rPr lang="en-US" sz="1100" b="0" i="0" u="none" strike="noStrike" cap="none" dirty="0">
                <a:solidFill>
                  <a:srgbClr val="000000"/>
                </a:solidFill>
                <a:latin typeface="Arial"/>
                <a:ea typeface="Arial"/>
                <a:cs typeface="Arial"/>
                <a:sym typeface="Arial"/>
              </a:rPr>
              <a:t>close()</a:t>
            </a:r>
            <a:r>
              <a:rPr lang="en-US" dirty="0"/>
              <a:t>.</a:t>
            </a:r>
          </a:p>
          <a:p>
            <a:pPr marL="171450" lvl="0" indent="-171450" algn="l" rtl="0">
              <a:spcBef>
                <a:spcPts val="0"/>
              </a:spcBef>
              <a:spcAft>
                <a:spcPts val="0"/>
              </a:spcAft>
            </a:pPr>
            <a:r>
              <a:rPr lang="en-US" b="1" dirty="0"/>
              <a:t>EOF:</a:t>
            </a:r>
            <a:r>
              <a:rPr lang="en-US" dirty="0"/>
              <a:t> </a:t>
            </a:r>
            <a:br>
              <a:rPr lang="en-US" dirty="0"/>
            </a:br>
            <a:r>
              <a:rPr lang="en-US" dirty="0"/>
              <a:t>This sends an </a:t>
            </a:r>
            <a:r>
              <a:rPr lang="en-US" b="1" dirty="0"/>
              <a:t>EOF (End of File) notification</a:t>
            </a:r>
            <a:r>
              <a:rPr lang="en-US" dirty="0"/>
              <a:t> to the server.</a:t>
            </a:r>
          </a:p>
          <a:p>
            <a:pPr marL="171450" lvl="0" indent="-171450" algn="l" rtl="0">
              <a:spcBef>
                <a:spcPts val="0"/>
              </a:spcBef>
              <a:spcAft>
                <a:spcPts val="0"/>
              </a:spcAft>
            </a:pPr>
            <a:r>
              <a:rPr lang="en-US" b="1" dirty="0"/>
              <a:t>Finalization:</a:t>
            </a:r>
            <a:r>
              <a:rPr lang="en-US" dirty="0"/>
              <a:t> </a:t>
            </a:r>
            <a:br>
              <a:rPr lang="en-US" dirty="0"/>
            </a:br>
            <a:r>
              <a:rPr lang="en-US" dirty="0"/>
              <a:t>The server’s final </a:t>
            </a:r>
            <a:r>
              <a:rPr lang="en-US" sz="1100" b="0" i="0" u="none" strike="noStrike" cap="none" dirty="0">
                <a:solidFill>
                  <a:srgbClr val="000000"/>
                </a:solidFill>
                <a:latin typeface="Arial"/>
                <a:ea typeface="Arial"/>
                <a:cs typeface="Arial"/>
                <a:sym typeface="Arial"/>
              </a:rPr>
              <a:t>read()</a:t>
            </a:r>
            <a:r>
              <a:rPr lang="en-US" dirty="0"/>
              <a:t> identifies the EOF, </a:t>
            </a:r>
            <a:br>
              <a:rPr lang="en-US" dirty="0"/>
            </a:br>
            <a:r>
              <a:rPr lang="en-US" dirty="0"/>
              <a:t>and the server then calls </a:t>
            </a:r>
            <a:r>
              <a:rPr lang="en-US" sz="1100" b="0" i="0" u="none" strike="noStrike" cap="none" dirty="0">
                <a:solidFill>
                  <a:srgbClr val="000000"/>
                </a:solidFill>
                <a:latin typeface="Arial"/>
                <a:ea typeface="Arial"/>
                <a:cs typeface="Arial"/>
                <a:sym typeface="Arial"/>
              </a:rPr>
              <a:t>close()</a:t>
            </a:r>
            <a:r>
              <a:rPr lang="en-US" dirty="0"/>
              <a:t> to terminate its end of the connection.</a:t>
            </a:r>
          </a:p>
          <a:p>
            <a:pPr marL="0" lvl="0" indent="0" algn="l" rtl="0">
              <a:spcBef>
                <a:spcPts val="0"/>
              </a:spcBef>
              <a:spcAft>
                <a:spcPts val="0"/>
              </a:spcAft>
              <a:buNone/>
            </a:pPr>
            <a:endParaRPr lang="en-US" dirty="0"/>
          </a:p>
        </p:txBody>
      </p:sp>
      <p:sp>
        <p:nvSpPr>
          <p:cNvPr id="98" name="Google Shape;98;g2c6d962a054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95f9e1a6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Client-Side TCP Steps</a:t>
            </a:r>
            <a:endParaRPr lang="en-US" b="0" dirty="0"/>
          </a:p>
          <a:p>
            <a:pPr marL="0" lvl="0" indent="0" algn="l" rtl="0">
              <a:spcBef>
                <a:spcPts val="0"/>
              </a:spcBef>
              <a:spcAft>
                <a:spcPts val="0"/>
              </a:spcAft>
              <a:buNone/>
            </a:pPr>
            <a:r>
              <a:rPr lang="en-US" b="1" dirty="0"/>
              <a:t>Step 1</a:t>
            </a:r>
            <a:r>
              <a:rPr lang="en-US" dirty="0"/>
              <a:t>: Create a socket using the </a:t>
            </a:r>
            <a:r>
              <a:rPr lang="en-US" sz="1100" b="0" i="0" u="none" strike="noStrike" cap="none" dirty="0">
                <a:solidFill>
                  <a:srgbClr val="000000"/>
                </a:solidFill>
                <a:latin typeface="Arial"/>
                <a:ea typeface="Arial"/>
                <a:cs typeface="Arial"/>
                <a:sym typeface="Arial"/>
              </a:rPr>
              <a:t>socket()</a:t>
            </a:r>
            <a:r>
              <a:rPr lang="en-US" dirty="0"/>
              <a:t> function.</a:t>
            </a:r>
          </a:p>
          <a:p>
            <a:pPr marL="0" lvl="0" indent="0" algn="l" rtl="0">
              <a:spcBef>
                <a:spcPts val="0"/>
              </a:spcBef>
              <a:spcAft>
                <a:spcPts val="0"/>
              </a:spcAft>
              <a:buNone/>
            </a:pPr>
            <a:r>
              <a:rPr lang="en-US" b="1" dirty="0"/>
              <a:t>Step 2</a:t>
            </a:r>
            <a:r>
              <a:rPr lang="en-US" dirty="0"/>
              <a:t>: Connect to the server's address using </a:t>
            </a:r>
            <a:r>
              <a:rPr lang="en-US" sz="1100" b="0" i="0" u="none" strike="noStrike" cap="none" dirty="0">
                <a:solidFill>
                  <a:srgbClr val="000000"/>
                </a:solidFill>
                <a:latin typeface="Arial"/>
                <a:ea typeface="Arial"/>
                <a:cs typeface="Arial"/>
                <a:sym typeface="Arial"/>
              </a:rPr>
              <a:t>connect()</a:t>
            </a:r>
            <a:r>
              <a:rPr lang="en-US" dirty="0"/>
              <a:t>.</a:t>
            </a:r>
          </a:p>
          <a:p>
            <a:pPr marL="0" lvl="0" indent="0" algn="l" rtl="0">
              <a:spcBef>
                <a:spcPts val="0"/>
              </a:spcBef>
              <a:spcAft>
                <a:spcPts val="0"/>
              </a:spcAft>
              <a:buNone/>
            </a:pPr>
            <a:r>
              <a:rPr lang="en-US" b="1" dirty="0"/>
              <a:t>Step 3</a:t>
            </a:r>
            <a:r>
              <a:rPr lang="en-US" dirty="0"/>
              <a:t>: Exchange data using </a:t>
            </a:r>
            <a:r>
              <a:rPr lang="en-US" sz="1100" b="0" i="0" u="none" strike="noStrike" cap="none" dirty="0">
                <a:solidFill>
                  <a:srgbClr val="000000"/>
                </a:solidFill>
                <a:latin typeface="Arial"/>
                <a:ea typeface="Arial"/>
                <a:cs typeface="Arial"/>
                <a:sym typeface="Arial"/>
              </a:rPr>
              <a:t>read()</a:t>
            </a:r>
            <a:r>
              <a:rPr lang="en-US" dirty="0"/>
              <a:t> and </a:t>
            </a:r>
            <a:r>
              <a:rPr lang="en-US" sz="1100" b="0" i="0" u="none" strike="noStrike" cap="none" dirty="0">
                <a:solidFill>
                  <a:srgbClr val="000000"/>
                </a:solidFill>
                <a:latin typeface="Arial"/>
                <a:ea typeface="Arial"/>
                <a:cs typeface="Arial"/>
                <a:sym typeface="Arial"/>
              </a:rPr>
              <a:t>write()</a:t>
            </a:r>
            <a:r>
              <a:rPr lang="en-US" dirty="0"/>
              <a:t> functions.</a:t>
            </a:r>
          </a:p>
          <a:p>
            <a:pPr marL="0" lvl="0" indent="0" algn="l" rtl="0">
              <a:spcBef>
                <a:spcPts val="0"/>
              </a:spcBef>
              <a:spcAft>
                <a:spcPts val="0"/>
              </a:spcAft>
              <a:buNone/>
            </a:pPr>
            <a:endParaRPr dirty="0"/>
          </a:p>
        </p:txBody>
      </p:sp>
      <p:sp>
        <p:nvSpPr>
          <p:cNvPr id="105" name="Google Shape;105;g2c95f9e1a6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c95f9e1a6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Server-Side TCP Steps</a:t>
            </a:r>
            <a:endParaRPr lang="en-US" b="0" dirty="0"/>
          </a:p>
          <a:p>
            <a:pPr marL="0" lvl="0" indent="0" algn="l" rtl="0">
              <a:spcBef>
                <a:spcPts val="0"/>
              </a:spcBef>
              <a:spcAft>
                <a:spcPts val="0"/>
              </a:spcAft>
              <a:buNone/>
            </a:pPr>
            <a:r>
              <a:rPr lang="en-US" b="1" dirty="0"/>
              <a:t>Step 1</a:t>
            </a:r>
            <a:r>
              <a:rPr lang="en-US" dirty="0"/>
              <a:t>: Create a socket using </a:t>
            </a:r>
            <a:r>
              <a:rPr lang="en-US" sz="1100" b="0" i="0" u="none" strike="noStrike" cap="none" dirty="0">
                <a:solidFill>
                  <a:srgbClr val="000000"/>
                </a:solidFill>
                <a:latin typeface="Arial"/>
                <a:ea typeface="Arial"/>
                <a:cs typeface="Arial"/>
                <a:sym typeface="Arial"/>
              </a:rPr>
              <a:t>socket()</a:t>
            </a:r>
            <a:r>
              <a:rPr lang="en-US" dirty="0"/>
              <a:t>.</a:t>
            </a:r>
          </a:p>
          <a:p>
            <a:pPr marL="0" lvl="0" indent="0" algn="l" rtl="0">
              <a:spcBef>
                <a:spcPts val="0"/>
              </a:spcBef>
              <a:spcAft>
                <a:spcPts val="0"/>
              </a:spcAft>
              <a:buNone/>
            </a:pPr>
            <a:r>
              <a:rPr lang="en-US" b="1" dirty="0"/>
              <a:t>Step 2</a:t>
            </a:r>
            <a:r>
              <a:rPr lang="en-US" dirty="0"/>
              <a:t>: Bind the socket to a local address using </a:t>
            </a:r>
            <a:r>
              <a:rPr lang="en-US" sz="1100" b="0" i="0" u="none" strike="noStrike" cap="none" dirty="0">
                <a:solidFill>
                  <a:srgbClr val="000000"/>
                </a:solidFill>
                <a:latin typeface="Arial"/>
                <a:ea typeface="Arial"/>
                <a:cs typeface="Arial"/>
                <a:sym typeface="Arial"/>
              </a:rPr>
              <a:t>bind()</a:t>
            </a:r>
            <a:r>
              <a:rPr lang="en-US" dirty="0"/>
              <a:t>.</a:t>
            </a:r>
          </a:p>
          <a:p>
            <a:pPr marL="0" lvl="0" indent="0" algn="l" rtl="0">
              <a:spcBef>
                <a:spcPts val="0"/>
              </a:spcBef>
              <a:spcAft>
                <a:spcPts val="0"/>
              </a:spcAft>
              <a:buNone/>
            </a:pPr>
            <a:r>
              <a:rPr lang="en-US" b="1" dirty="0"/>
              <a:t>Step 3</a:t>
            </a:r>
            <a:r>
              <a:rPr lang="en-US" dirty="0"/>
              <a:t>: Listen for incoming connection requests with </a:t>
            </a:r>
            <a:r>
              <a:rPr lang="en-US" sz="1100" b="0" i="0" u="none" strike="noStrike" cap="none" dirty="0">
                <a:solidFill>
                  <a:srgbClr val="000000"/>
                </a:solidFill>
                <a:latin typeface="Arial"/>
                <a:ea typeface="Arial"/>
                <a:cs typeface="Arial"/>
                <a:sym typeface="Arial"/>
              </a:rPr>
              <a:t>listen()</a:t>
            </a:r>
            <a:r>
              <a:rPr lang="en-US" dirty="0"/>
              <a:t>.</a:t>
            </a:r>
          </a:p>
          <a:p>
            <a:pPr marL="0" lvl="0" indent="0" algn="l" rtl="0">
              <a:spcBef>
                <a:spcPts val="0"/>
              </a:spcBef>
              <a:spcAft>
                <a:spcPts val="0"/>
              </a:spcAft>
              <a:buNone/>
            </a:pPr>
            <a:r>
              <a:rPr lang="en-US" b="1" dirty="0"/>
              <a:t>Step 4</a:t>
            </a:r>
            <a:r>
              <a:rPr lang="en-US" dirty="0"/>
              <a:t>: Accept a connection with </a:t>
            </a:r>
            <a:r>
              <a:rPr lang="en-US" sz="1100" b="0" i="0" u="none" strike="noStrike" cap="none" dirty="0">
                <a:solidFill>
                  <a:srgbClr val="000000"/>
                </a:solidFill>
                <a:latin typeface="Arial"/>
                <a:ea typeface="Arial"/>
                <a:cs typeface="Arial"/>
                <a:sym typeface="Arial"/>
              </a:rPr>
              <a:t>accept()</a:t>
            </a:r>
            <a:r>
              <a:rPr lang="en-US" dirty="0"/>
              <a:t>, which typically blocks until a client connects.</a:t>
            </a:r>
          </a:p>
          <a:p>
            <a:pPr marL="0" lvl="0" indent="0" algn="l" rtl="0">
              <a:spcBef>
                <a:spcPts val="0"/>
              </a:spcBef>
              <a:spcAft>
                <a:spcPts val="0"/>
              </a:spcAft>
              <a:buNone/>
            </a:pPr>
            <a:r>
              <a:rPr lang="en-US" b="1" dirty="0"/>
              <a:t>Step 5</a:t>
            </a:r>
            <a:r>
              <a:rPr lang="en-US" dirty="0"/>
              <a:t>: Send and receive data via </a:t>
            </a:r>
            <a:r>
              <a:rPr lang="en-US" sz="1100" b="0" i="0" u="none" strike="noStrike" cap="none" dirty="0">
                <a:solidFill>
                  <a:srgbClr val="000000"/>
                </a:solidFill>
                <a:latin typeface="Arial"/>
                <a:ea typeface="Arial"/>
                <a:cs typeface="Arial"/>
                <a:sym typeface="Arial"/>
              </a:rPr>
              <a:t>send()</a:t>
            </a:r>
            <a:r>
              <a:rPr lang="en-US" dirty="0"/>
              <a:t> and </a:t>
            </a:r>
            <a:r>
              <a:rPr lang="en-US" sz="1100" b="0" i="0" u="none" strike="noStrike" cap="none" dirty="0">
                <a:solidFill>
                  <a:srgbClr val="000000"/>
                </a:solidFill>
                <a:latin typeface="Arial"/>
                <a:ea typeface="Arial"/>
                <a:cs typeface="Arial"/>
                <a:sym typeface="Arial"/>
              </a:rPr>
              <a:t>receive()</a:t>
            </a:r>
            <a:r>
              <a:rPr lang="en-US" dirty="0"/>
              <a:t>.</a:t>
            </a:r>
          </a:p>
          <a:p>
            <a:pPr marL="0" lvl="0" indent="0" algn="l" rtl="0">
              <a:spcBef>
                <a:spcPts val="0"/>
              </a:spcBef>
              <a:spcAft>
                <a:spcPts val="0"/>
              </a:spcAft>
              <a:buNone/>
            </a:pPr>
            <a:endParaRPr dirty="0"/>
          </a:p>
        </p:txBody>
      </p:sp>
      <p:sp>
        <p:nvSpPr>
          <p:cNvPr id="114" name="Google Shape;114;g2c95f9e1a6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95f9e1a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Overview</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socket() function is used to create a new socket for both clients and servers.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Client-side</a:t>
            </a:r>
            <a:r>
              <a:rPr lang="en-US" sz="1100" b="0" i="0" u="none" strike="noStrike" cap="none" dirty="0">
                <a:solidFill>
                  <a:srgbClr val="000000"/>
                </a:solidFill>
                <a:effectLst/>
                <a:latin typeface="Arial"/>
                <a:ea typeface="Arial"/>
                <a:cs typeface="Arial"/>
                <a:sym typeface="Arial"/>
              </a:rPr>
              <a:t>: Used to establish a connection to a server.</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Server-side</a:t>
            </a:r>
            <a:r>
              <a:rPr lang="en-US" sz="1100" b="0" i="0" u="none" strike="noStrike" cap="none" dirty="0">
                <a:solidFill>
                  <a:srgbClr val="000000"/>
                </a:solidFill>
                <a:effectLst/>
                <a:latin typeface="Arial"/>
                <a:ea typeface="Arial"/>
                <a:cs typeface="Arial"/>
                <a:sym typeface="Arial"/>
              </a:rPr>
              <a:t>: Used to create a socket that listens for incoming client requests.</a:t>
            </a:r>
          </a:p>
          <a:p>
            <a:pPr marL="0" lvl="0" indent="0" algn="l" rtl="0">
              <a:spcBef>
                <a:spcPts val="0"/>
              </a:spcBef>
              <a:spcAft>
                <a:spcPts val="0"/>
              </a:spcAft>
              <a:buNone/>
            </a:pPr>
            <a:endParaRPr dirty="0"/>
          </a:p>
        </p:txBody>
      </p:sp>
      <p:sp>
        <p:nvSpPr>
          <p:cNvPr id="125" name="Google Shape;125;g2c95f9e1a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c95f9e1a67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Overview</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socket() function is used to create a new socket for both clients and servers.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Client-side</a:t>
            </a:r>
            <a:r>
              <a:rPr lang="en-US" sz="1100" b="0" i="0" u="none" strike="noStrike" cap="none" dirty="0">
                <a:solidFill>
                  <a:srgbClr val="000000"/>
                </a:solidFill>
                <a:effectLst/>
                <a:latin typeface="Arial"/>
                <a:ea typeface="Arial"/>
                <a:cs typeface="Arial"/>
                <a:sym typeface="Arial"/>
              </a:rPr>
              <a:t>: Used to establish a connection to a server.</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Server-side</a:t>
            </a:r>
            <a:r>
              <a:rPr lang="en-US" sz="1100" b="0" i="0" u="none" strike="noStrike" cap="none" dirty="0">
                <a:solidFill>
                  <a:srgbClr val="000000"/>
                </a:solidFill>
                <a:effectLst/>
                <a:latin typeface="Arial"/>
                <a:ea typeface="Arial"/>
                <a:cs typeface="Arial"/>
                <a:sym typeface="Arial"/>
              </a:rPr>
              <a:t>: Used to create a socket that listens for incoming client requests.</a:t>
            </a:r>
          </a:p>
          <a:p>
            <a:pPr marL="0" lvl="0" indent="0" algn="l" rtl="0">
              <a:spcBef>
                <a:spcPts val="0"/>
              </a:spcBef>
              <a:spcAft>
                <a:spcPts val="0"/>
              </a:spcAft>
              <a:buNone/>
            </a:pPr>
            <a:endParaRPr dirty="0"/>
          </a:p>
        </p:txBody>
      </p:sp>
      <p:sp>
        <p:nvSpPr>
          <p:cNvPr id="132" name="Google Shape;132;g2c95f9e1a67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c95f9e1a67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Overview</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socket() function is used to create a new socket for both clients and servers.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Client-side</a:t>
            </a:r>
            <a:r>
              <a:rPr lang="en-US" sz="1100" b="0" i="0" u="none" strike="noStrike" cap="none" dirty="0">
                <a:solidFill>
                  <a:srgbClr val="000000"/>
                </a:solidFill>
                <a:effectLst/>
                <a:latin typeface="Arial"/>
                <a:ea typeface="Arial"/>
                <a:cs typeface="Arial"/>
                <a:sym typeface="Arial"/>
              </a:rPr>
              <a:t>: Used to establish a connection to a server.</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Server-side</a:t>
            </a:r>
            <a:r>
              <a:rPr lang="en-US" sz="1100" b="0" i="0" u="none" strike="noStrike" cap="none" dirty="0">
                <a:solidFill>
                  <a:srgbClr val="000000"/>
                </a:solidFill>
                <a:effectLst/>
                <a:latin typeface="Arial"/>
                <a:ea typeface="Arial"/>
                <a:cs typeface="Arial"/>
                <a:sym typeface="Arial"/>
              </a:rPr>
              <a:t>: Used to create a socket that listens for incoming client requests.</a:t>
            </a:r>
          </a:p>
          <a:p>
            <a:pPr marL="0" lvl="0" indent="0" algn="l" rtl="0">
              <a:spcBef>
                <a:spcPts val="0"/>
              </a:spcBef>
              <a:spcAft>
                <a:spcPts val="0"/>
              </a:spcAft>
              <a:buNone/>
            </a:pPr>
            <a:endParaRPr dirty="0"/>
          </a:p>
        </p:txBody>
      </p:sp>
      <p:sp>
        <p:nvSpPr>
          <p:cNvPr id="139" name="Google Shape;139;g2c95f9e1a67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95f9e1a67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family Parameter</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Specifies the address family/domain:</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AF_INET (IPv4), </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AF_INET6 (IPv6), or </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AF_UNIX/AF_LOCAL (local system communication).</a:t>
            </a:r>
          </a:p>
          <a:p>
            <a:pPr marL="0" lvl="0" indent="0" algn="l" rtl="0">
              <a:spcBef>
                <a:spcPts val="0"/>
              </a:spcBef>
              <a:spcAft>
                <a:spcPts val="0"/>
              </a:spcAft>
              <a:buNone/>
            </a:pPr>
            <a:endParaRPr dirty="0"/>
          </a:p>
        </p:txBody>
      </p:sp>
      <p:sp>
        <p:nvSpPr>
          <p:cNvPr id="146" name="Google Shape;146;g2c95f9e1a6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c95f9e1a67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type Parameter</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Determines communication semantics: </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SOCK_STREAM </a:t>
            </a:r>
            <a:r>
              <a:rPr lang="en-US" sz="1100" b="0" i="0" u="none" strike="noStrike" cap="none" dirty="0">
                <a:solidFill>
                  <a:srgbClr val="000000"/>
                </a:solidFill>
                <a:effectLst/>
                <a:latin typeface="Arial"/>
                <a:ea typeface="Arial"/>
                <a:cs typeface="Arial"/>
                <a:sym typeface="Arial"/>
              </a:rPr>
              <a:t>for reliable, connection-based byte streams (TCP) or </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SOCK_DGRAM </a:t>
            </a:r>
            <a:r>
              <a:rPr lang="en-US" sz="1100" b="0" i="0" u="none" strike="noStrike" cap="none" dirty="0">
                <a:solidFill>
                  <a:srgbClr val="000000"/>
                </a:solidFill>
                <a:effectLst/>
                <a:latin typeface="Arial"/>
                <a:ea typeface="Arial"/>
                <a:cs typeface="Arial"/>
                <a:sym typeface="Arial"/>
              </a:rPr>
              <a:t>for connectionless datagrams (UDP).</a:t>
            </a:r>
          </a:p>
          <a:p>
            <a:pPr marL="0" lvl="0" indent="0" algn="l" rtl="0">
              <a:spcBef>
                <a:spcPts val="0"/>
              </a:spcBef>
              <a:spcAft>
                <a:spcPts val="0"/>
              </a:spcAft>
              <a:buNone/>
            </a:pPr>
            <a:endParaRPr dirty="0"/>
          </a:p>
        </p:txBody>
      </p:sp>
      <p:sp>
        <p:nvSpPr>
          <p:cNvPr id="153" name="Google Shape;153;g2c95f9e1a67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c95f9e1a6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protocol Parameter</a:t>
            </a:r>
            <a:endParaRPr lang="en-US" sz="1100" b="0" i="0" u="none" strike="noStrike" cap="none" dirty="0">
              <a:solidFill>
                <a:srgbClr val="000000"/>
              </a:solidFill>
              <a:effectLst/>
              <a:latin typeface="Arial"/>
              <a:ea typeface="Arial"/>
              <a:cs typeface="Arial"/>
              <a:sym typeface="Arial"/>
            </a:endParaRP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Specifies the protocol (e.g., IPPROTO_TCP, IPPROTO_UDP, IPPROTO_ICMP).</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Often set to 0, letting the system choose the default protocol based on the family and type.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a:t>
            </a:r>
            <a:r>
              <a:rPr lang="en-US" sz="1100" b="1" i="0" u="none" strike="noStrike" cap="none" dirty="0">
                <a:solidFill>
                  <a:srgbClr val="000000"/>
                </a:solidFill>
                <a:effectLst/>
                <a:latin typeface="Arial"/>
                <a:ea typeface="Arial"/>
                <a:cs typeface="Arial"/>
                <a:sym typeface="Arial"/>
              </a:rPr>
              <a:t>Internet Control Message Protocol </a:t>
            </a:r>
            <a:r>
              <a:rPr lang="en-US" sz="1100" b="0" i="0" u="none" strike="noStrike" cap="none" dirty="0">
                <a:solidFill>
                  <a:srgbClr val="000000"/>
                </a:solidFill>
                <a:effectLst/>
                <a:latin typeface="Arial"/>
                <a:ea typeface="Arial"/>
                <a:cs typeface="Arial"/>
                <a:sym typeface="Arial"/>
              </a:rPr>
              <a:t>(ICMP)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is </a:t>
            </a:r>
            <a:r>
              <a:rPr lang="en-US" dirty="0"/>
              <a:t>a network layer protocol used by devices (like routers) </a:t>
            </a:r>
          </a:p>
          <a:p>
            <a:pPr marL="0" lvl="0" indent="0" algn="l" rtl="0">
              <a:spcBef>
                <a:spcPts val="0"/>
              </a:spcBef>
              <a:spcAft>
                <a:spcPts val="0"/>
              </a:spcAft>
              <a:buNone/>
            </a:pPr>
            <a:r>
              <a:rPr lang="en-US" dirty="0"/>
              <a:t>to send error messages and operational information, </a:t>
            </a:r>
          </a:p>
          <a:p>
            <a:pPr marL="0" lvl="0" indent="0" algn="l" rtl="0">
              <a:spcBef>
                <a:spcPts val="0"/>
              </a:spcBef>
              <a:spcAft>
                <a:spcPts val="0"/>
              </a:spcAft>
              <a:buNone/>
            </a:pPr>
            <a:r>
              <a:rPr lang="en-US" dirty="0"/>
              <a:t>such as unreachable hosts or time-to-live (TTL) expiration</a:t>
            </a:r>
            <a:r>
              <a:rPr lang="en-US"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It is essential for network diagnostics (ping/traceroute) and works alongside IP,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though it does not guarantee reliable delivery.</a:t>
            </a:r>
          </a:p>
          <a:p>
            <a:pPr marL="0" lvl="0" indent="0" algn="l" rtl="0">
              <a:spcBef>
                <a:spcPts val="0"/>
              </a:spcBef>
              <a:spcAft>
                <a:spcPts val="0"/>
              </a:spcAft>
              <a:buNone/>
            </a:pPr>
            <a:endParaRPr dirty="0"/>
          </a:p>
        </p:txBody>
      </p:sp>
      <p:sp>
        <p:nvSpPr>
          <p:cNvPr id="160" name="Google Shape;160;g2c95f9e1a6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95f9e1a6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Purpose and </a:t>
            </a:r>
            <a:r>
              <a:rPr lang="en-US" sz="1100" b="1" i="0" u="none" strike="noStrike" cap="none" dirty="0" err="1">
                <a:solidFill>
                  <a:srgbClr val="000000"/>
                </a:solidFill>
                <a:latin typeface="Arial"/>
                <a:ea typeface="Arial"/>
                <a:cs typeface="Arial"/>
                <a:sym typeface="Arial"/>
              </a:rPr>
              <a:t>sockfd</a:t>
            </a:r>
            <a:endParaRPr lang="en-US" sz="1100" b="1"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dirty="0"/>
              <a:t>Used by clients to initiate a connection-oriented session with a remote server.</a:t>
            </a:r>
          </a:p>
          <a:p>
            <a:pPr marL="171450" lvl="0" indent="-171450" algn="l" rtl="0">
              <a:spcBef>
                <a:spcPts val="0"/>
              </a:spcBef>
              <a:spcAft>
                <a:spcPts val="0"/>
              </a:spcAft>
            </a:pPr>
            <a:r>
              <a:rPr lang="en-US" dirty="0"/>
              <a:t>The </a:t>
            </a:r>
            <a:r>
              <a:rPr lang="en-US" sz="1100" b="0" i="0" u="none" strike="noStrike" cap="none" dirty="0" err="1">
                <a:solidFill>
                  <a:srgbClr val="000000"/>
                </a:solidFill>
                <a:latin typeface="Arial"/>
                <a:ea typeface="Arial"/>
                <a:cs typeface="Arial"/>
                <a:sym typeface="Arial"/>
              </a:rPr>
              <a:t>sockfd</a:t>
            </a:r>
            <a:r>
              <a:rPr lang="en-US" dirty="0"/>
              <a:t> parameter is the file descriptor for the local socket previously created by </a:t>
            </a:r>
            <a:r>
              <a:rPr lang="en-US" sz="1100" b="0" i="0" u="none" strike="noStrike" cap="none" dirty="0">
                <a:solidFill>
                  <a:srgbClr val="000000"/>
                </a:solidFill>
                <a:latin typeface="Arial"/>
                <a:ea typeface="Arial"/>
                <a:cs typeface="Arial"/>
                <a:sym typeface="Arial"/>
              </a:rPr>
              <a:t>socket()</a:t>
            </a:r>
            <a:r>
              <a:rPr lang="en-US" dirty="0"/>
              <a:t>.</a:t>
            </a:r>
          </a:p>
          <a:p>
            <a:pPr marL="0" lvl="0" indent="0" algn="l" rtl="0">
              <a:spcBef>
                <a:spcPts val="0"/>
              </a:spcBef>
              <a:spcAft>
                <a:spcPts val="0"/>
              </a:spcAft>
              <a:buNone/>
            </a:pPr>
            <a:endParaRPr dirty="0"/>
          </a:p>
        </p:txBody>
      </p:sp>
      <p:sp>
        <p:nvSpPr>
          <p:cNvPr id="167" name="Google Shape;167;g2c95f9e1a67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c95f9e1a67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Purpose and </a:t>
            </a:r>
            <a:r>
              <a:rPr lang="en-US" sz="1100" b="1" i="0" u="none" strike="noStrike" cap="none" dirty="0" err="1">
                <a:solidFill>
                  <a:srgbClr val="000000"/>
                </a:solidFill>
                <a:latin typeface="Arial"/>
                <a:ea typeface="Arial"/>
                <a:cs typeface="Arial"/>
                <a:sym typeface="Arial"/>
              </a:rPr>
              <a:t>sockfd</a:t>
            </a:r>
            <a:endParaRPr lang="en-US" sz="1100" b="1"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dirty="0"/>
              <a:t>Used by clients to initiate a connection-oriented session with a remote server.</a:t>
            </a:r>
          </a:p>
          <a:p>
            <a:pPr marL="171450" lvl="0" indent="-171450" algn="l" rtl="0">
              <a:spcBef>
                <a:spcPts val="0"/>
              </a:spcBef>
              <a:spcAft>
                <a:spcPts val="0"/>
              </a:spcAft>
            </a:pPr>
            <a:r>
              <a:rPr lang="en-US" dirty="0"/>
              <a:t>The </a:t>
            </a:r>
            <a:r>
              <a:rPr lang="en-US" sz="1100" b="0" i="0" u="none" strike="noStrike" cap="none" dirty="0" err="1">
                <a:solidFill>
                  <a:srgbClr val="000000"/>
                </a:solidFill>
                <a:latin typeface="Arial"/>
                <a:ea typeface="Arial"/>
                <a:cs typeface="Arial"/>
                <a:sym typeface="Arial"/>
              </a:rPr>
              <a:t>sockfd</a:t>
            </a:r>
            <a:r>
              <a:rPr lang="en-US" dirty="0"/>
              <a:t> parameter is the file descriptor for the local socket previously created by </a:t>
            </a:r>
            <a:r>
              <a:rPr lang="en-US" sz="1100" b="0" i="0" u="none" strike="noStrike" cap="none" dirty="0">
                <a:solidFill>
                  <a:srgbClr val="000000"/>
                </a:solidFill>
                <a:latin typeface="Arial"/>
                <a:ea typeface="Arial"/>
                <a:cs typeface="Arial"/>
                <a:sym typeface="Arial"/>
              </a:rPr>
              <a:t>socket()</a:t>
            </a:r>
            <a:r>
              <a:rPr lang="en-US" dirty="0"/>
              <a:t>.</a:t>
            </a:r>
          </a:p>
          <a:p>
            <a:pPr marL="0" lvl="0" indent="0" algn="l" rtl="0">
              <a:spcBef>
                <a:spcPts val="0"/>
              </a:spcBef>
              <a:spcAft>
                <a:spcPts val="0"/>
              </a:spcAft>
              <a:buNone/>
            </a:pPr>
            <a:endParaRPr dirty="0"/>
          </a:p>
        </p:txBody>
      </p:sp>
      <p:sp>
        <p:nvSpPr>
          <p:cNvPr id="174" name="Google Shape;174;g2c95f9e1a67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c95f9e1a67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Client Application Flow</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client creates a socket (</a:t>
            </a:r>
            <a:r>
              <a:rPr lang="en-US" sz="1100" b="0" i="0" u="none" strike="noStrike" cap="none" dirty="0" err="1">
                <a:solidFill>
                  <a:srgbClr val="000000"/>
                </a:solidFill>
                <a:effectLst/>
                <a:latin typeface="Arial"/>
                <a:ea typeface="Arial"/>
                <a:cs typeface="Arial"/>
                <a:sym typeface="Arial"/>
              </a:rPr>
              <a:t>sockfd</a:t>
            </a:r>
            <a:r>
              <a:rPr lang="en-US" sz="1100" b="0" i="0" u="none" strike="noStrike" cap="none" dirty="0">
                <a:solidFill>
                  <a:srgbClr val="000000"/>
                </a:solidFill>
                <a:effectLst/>
                <a:latin typeface="Arial"/>
                <a:ea typeface="Arial"/>
                <a:cs typeface="Arial"/>
                <a:sym typeface="Arial"/>
              </a:rPr>
              <a:t>) and then calls connect() to reach the server.</a:t>
            </a:r>
          </a:p>
          <a:p>
            <a:pPr marL="0" lvl="0" indent="0" algn="l" rtl="0">
              <a:spcBef>
                <a:spcPts val="0"/>
              </a:spcBef>
              <a:spcAft>
                <a:spcPts val="0"/>
              </a:spcAft>
              <a:buNone/>
            </a:pPr>
            <a:endParaRPr dirty="0"/>
          </a:p>
        </p:txBody>
      </p:sp>
      <p:sp>
        <p:nvSpPr>
          <p:cNvPr id="181" name="Google Shape;181;g2c95f9e1a67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c95f9e1a67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Server Application Context</a:t>
            </a:r>
          </a:p>
          <a:p>
            <a:pPr marL="0" lvl="0" indent="0" algn="l" rtl="0">
              <a:spcBef>
                <a:spcPts val="0"/>
              </a:spcBef>
              <a:spcAft>
                <a:spcPts val="0"/>
              </a:spcAft>
              <a:buNone/>
            </a:pPr>
            <a:r>
              <a:rPr lang="en-US" dirty="0"/>
              <a:t>The server uses a listening socket to accept connections. </a:t>
            </a:r>
          </a:p>
          <a:p>
            <a:pPr marL="0" lvl="0" indent="0" algn="l" rtl="0">
              <a:spcBef>
                <a:spcPts val="0"/>
              </a:spcBef>
              <a:spcAft>
                <a:spcPts val="0"/>
              </a:spcAft>
              <a:buNone/>
            </a:pPr>
            <a:r>
              <a:rPr lang="en-US" dirty="0"/>
              <a:t>After </a:t>
            </a:r>
            <a:r>
              <a:rPr lang="en-US" sz="1100" b="0" i="0" u="none" strike="noStrike" cap="none" dirty="0">
                <a:solidFill>
                  <a:srgbClr val="000000"/>
                </a:solidFill>
                <a:latin typeface="Arial"/>
                <a:ea typeface="Arial"/>
                <a:cs typeface="Arial"/>
                <a:sym typeface="Arial"/>
              </a:rPr>
              <a:t>accept()</a:t>
            </a:r>
            <a:r>
              <a:rPr lang="en-US" dirty="0"/>
              <a:t> returns a new socket for specific client communication, </a:t>
            </a:r>
          </a:p>
          <a:p>
            <a:pPr marL="0" lvl="0" indent="0" algn="l" rtl="0">
              <a:spcBef>
                <a:spcPts val="0"/>
              </a:spcBef>
              <a:spcAft>
                <a:spcPts val="0"/>
              </a:spcAft>
              <a:buNone/>
            </a:pPr>
            <a:r>
              <a:rPr lang="en-US" dirty="0"/>
              <a:t>the original listening socket remains open for other clients.</a:t>
            </a:r>
          </a:p>
          <a:p>
            <a:pPr marL="0" lvl="0" indent="0" algn="l" rtl="0">
              <a:spcBef>
                <a:spcPts val="0"/>
              </a:spcBef>
              <a:spcAft>
                <a:spcPts val="0"/>
              </a:spcAft>
              <a:buNone/>
            </a:pPr>
            <a:endParaRPr dirty="0"/>
          </a:p>
        </p:txBody>
      </p:sp>
      <p:sp>
        <p:nvSpPr>
          <p:cNvPr id="188" name="Google Shape;188;g2c95f9e1a67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c95f9e1a67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err="1">
                <a:solidFill>
                  <a:srgbClr val="000000"/>
                </a:solidFill>
                <a:latin typeface="Arial"/>
                <a:ea typeface="Arial"/>
                <a:cs typeface="Arial"/>
                <a:sym typeface="Arial"/>
              </a:rPr>
              <a:t>servaddr</a:t>
            </a:r>
            <a:r>
              <a:rPr lang="en-US" b="1" dirty="0"/>
              <a:t> Parameter</a:t>
            </a:r>
          </a:p>
          <a:p>
            <a:pPr marL="171450" lvl="0" indent="-171450" algn="l" rtl="0">
              <a:spcBef>
                <a:spcPts val="0"/>
              </a:spcBef>
              <a:spcAft>
                <a:spcPts val="0"/>
              </a:spcAft>
            </a:pPr>
            <a:r>
              <a:rPr lang="en-US" dirty="0"/>
              <a:t>Points to a </a:t>
            </a:r>
            <a:r>
              <a:rPr lang="en-US" sz="1100" b="0" i="0" u="none" strike="noStrike" cap="none" dirty="0">
                <a:solidFill>
                  <a:srgbClr val="000000"/>
                </a:solidFill>
                <a:latin typeface="Arial"/>
                <a:ea typeface="Arial"/>
                <a:cs typeface="Arial"/>
                <a:sym typeface="Arial"/>
              </a:rPr>
              <a:t>struct </a:t>
            </a:r>
            <a:r>
              <a:rPr lang="en-US" sz="1100" b="0" i="0" u="none" strike="noStrike" cap="none" dirty="0" err="1">
                <a:solidFill>
                  <a:srgbClr val="000000"/>
                </a:solidFill>
                <a:latin typeface="Arial"/>
                <a:ea typeface="Arial"/>
                <a:cs typeface="Arial"/>
                <a:sym typeface="Arial"/>
              </a:rPr>
              <a:t>sockaddr</a:t>
            </a:r>
            <a:r>
              <a:rPr lang="en-US" dirty="0"/>
              <a:t> containing the server's IP and port.</a:t>
            </a:r>
          </a:p>
          <a:p>
            <a:pPr marL="171450" lvl="0" indent="-171450" algn="l" rtl="0">
              <a:spcBef>
                <a:spcPts val="0"/>
              </a:spcBef>
              <a:spcAft>
                <a:spcPts val="0"/>
              </a:spcAft>
            </a:pPr>
            <a:r>
              <a:rPr lang="en-US" dirty="0"/>
              <a:t>The address family must match the socket's created family (e.g., </a:t>
            </a:r>
            <a:r>
              <a:rPr lang="en-US" sz="1100" b="0" i="0" u="none" strike="noStrike" cap="none" dirty="0">
                <a:solidFill>
                  <a:srgbClr val="000000"/>
                </a:solidFill>
                <a:latin typeface="Arial"/>
                <a:ea typeface="Arial"/>
                <a:cs typeface="Arial"/>
                <a:sym typeface="Arial"/>
              </a:rPr>
              <a:t>AF_INET</a:t>
            </a:r>
            <a:r>
              <a:rPr lang="en-US" dirty="0"/>
              <a:t>).</a:t>
            </a:r>
          </a:p>
          <a:p>
            <a:pPr marL="0" lvl="0" indent="0" algn="l" rtl="0">
              <a:spcBef>
                <a:spcPts val="0"/>
              </a:spcBef>
              <a:spcAft>
                <a:spcPts val="0"/>
              </a:spcAft>
              <a:buNone/>
            </a:pPr>
            <a:endParaRPr dirty="0"/>
          </a:p>
        </p:txBody>
      </p:sp>
      <p:sp>
        <p:nvSpPr>
          <p:cNvPr id="195" name="Google Shape;195;g2c95f9e1a67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c95f9e1a6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err="1">
                <a:solidFill>
                  <a:srgbClr val="000000"/>
                </a:solidFill>
                <a:latin typeface="Arial"/>
                <a:ea typeface="Arial"/>
                <a:cs typeface="Arial"/>
                <a:sym typeface="Arial"/>
              </a:rPr>
              <a:t>addrlen</a:t>
            </a:r>
            <a:r>
              <a:rPr lang="en-US" b="1" dirty="0"/>
              <a:t> Parameter</a:t>
            </a:r>
          </a:p>
          <a:p>
            <a:pPr marL="0" lvl="0" indent="0" algn="l" rtl="0">
              <a:spcBef>
                <a:spcPts val="0"/>
              </a:spcBef>
              <a:spcAft>
                <a:spcPts val="0"/>
              </a:spcAft>
              <a:buNone/>
            </a:pPr>
            <a:r>
              <a:rPr lang="en-US" dirty="0"/>
              <a:t>Specifies the size of the address structure (e.g., </a:t>
            </a:r>
            <a:r>
              <a:rPr lang="en-US" sz="1100" b="0" i="0" u="none" strike="noStrike" cap="none" dirty="0" err="1">
                <a:solidFill>
                  <a:srgbClr val="000000"/>
                </a:solidFill>
                <a:latin typeface="Arial"/>
                <a:ea typeface="Arial"/>
                <a:cs typeface="Arial"/>
                <a:sym typeface="Arial"/>
              </a:rPr>
              <a:t>sizeof</a:t>
            </a:r>
            <a:r>
              <a:rPr lang="en-US" sz="1100" b="0" i="0" u="none" strike="noStrike" cap="none" dirty="0">
                <a:solidFill>
                  <a:srgbClr val="000000"/>
                </a:solidFill>
                <a:latin typeface="Arial"/>
                <a:ea typeface="Arial"/>
                <a:cs typeface="Arial"/>
                <a:sym typeface="Arial"/>
              </a:rPr>
              <a:t>(struct </a:t>
            </a:r>
            <a:r>
              <a:rPr lang="en-US" sz="1100" b="0" i="0" u="none" strike="noStrike" cap="none" dirty="0" err="1">
                <a:solidFill>
                  <a:srgbClr val="000000"/>
                </a:solidFill>
                <a:latin typeface="Arial"/>
                <a:ea typeface="Arial"/>
                <a:cs typeface="Arial"/>
                <a:sym typeface="Arial"/>
              </a:rPr>
              <a:t>sockaddr_in</a:t>
            </a:r>
            <a:r>
              <a:rPr lang="en-US" sz="1100" b="0" i="0" u="none" strike="noStrike" cap="none" dirty="0">
                <a:solidFill>
                  <a:srgbClr val="000000"/>
                </a:solidFill>
                <a:latin typeface="Arial"/>
                <a:ea typeface="Arial"/>
                <a:cs typeface="Arial"/>
                <a:sym typeface="Arial"/>
              </a:rPr>
              <a:t>)</a:t>
            </a:r>
            <a:r>
              <a:rPr lang="en-US" dirty="0"/>
              <a:t> for IPv4).</a:t>
            </a:r>
          </a:p>
          <a:p>
            <a:pPr marL="0" lvl="0" indent="0" algn="l" rtl="0">
              <a:spcBef>
                <a:spcPts val="0"/>
              </a:spcBef>
              <a:spcAft>
                <a:spcPts val="0"/>
              </a:spcAft>
              <a:buNone/>
            </a:pPr>
            <a:endParaRPr dirty="0"/>
          </a:p>
        </p:txBody>
      </p:sp>
      <p:sp>
        <p:nvSpPr>
          <p:cNvPr id="202" name="Google Shape;202;g2c95f9e1a67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c95f9e1a6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Purpose and Identification</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Associates a socket with a specific local IP address and port number.</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Allows other processes to uniquely identify and communicate with the socket over the network.</a:t>
            </a:r>
          </a:p>
          <a:p>
            <a:pPr marL="0" lvl="0" indent="0" algn="l" rtl="0">
              <a:spcBef>
                <a:spcPts val="0"/>
              </a:spcBef>
              <a:spcAft>
                <a:spcPts val="0"/>
              </a:spcAft>
              <a:buNone/>
            </a:pPr>
            <a:endParaRPr dirty="0"/>
          </a:p>
        </p:txBody>
      </p:sp>
      <p:sp>
        <p:nvSpPr>
          <p:cNvPr id="209" name="Google Shape;209;g2c95f9e1a6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c95f9e1a67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2c95f9e1a67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c95f9e1a67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2c95f9e1a67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c95f9e1a67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bind()</a:t>
            </a:r>
            <a:r>
              <a:rPr lang="en-US" b="1" dirty="0"/>
              <a:t> Parameters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the socket to be bound.</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servaddr</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A pointer to the local address information.</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addrlen</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size of the address structure, usually set using `</a:t>
            </a:r>
            <a:r>
              <a:rPr lang="en-US" sz="1100" b="0" i="0" u="none" strike="noStrike" cap="none" dirty="0" err="1">
                <a:solidFill>
                  <a:srgbClr val="000000"/>
                </a:solidFill>
                <a:latin typeface="Arial"/>
                <a:ea typeface="Arial"/>
                <a:cs typeface="Arial"/>
                <a:sym typeface="Arial"/>
              </a:rPr>
              <a:t>sizeof</a:t>
            </a: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endParaRPr dirty="0"/>
          </a:p>
        </p:txBody>
      </p:sp>
      <p:sp>
        <p:nvSpPr>
          <p:cNvPr id="230" name="Google Shape;230;g2c95f9e1a67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c95f9e1a67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bind()</a:t>
            </a:r>
            <a:r>
              <a:rPr lang="en-US" b="1" dirty="0"/>
              <a:t> Parameters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the socket to be bound.</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servaddr</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A pointer to the local address information.</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addrlen</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size of the address structure, usually set using `</a:t>
            </a:r>
            <a:r>
              <a:rPr lang="en-US" sz="1100" b="0" i="0" u="none" strike="noStrike" cap="none" dirty="0" err="1">
                <a:solidFill>
                  <a:srgbClr val="000000"/>
                </a:solidFill>
                <a:latin typeface="Arial"/>
                <a:ea typeface="Arial"/>
                <a:cs typeface="Arial"/>
                <a:sym typeface="Arial"/>
              </a:rPr>
              <a:t>sizeof</a:t>
            </a: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endParaRPr dirty="0"/>
          </a:p>
        </p:txBody>
      </p:sp>
      <p:sp>
        <p:nvSpPr>
          <p:cNvPr id="237" name="Google Shape;237;g2c95f9e1a67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95f9e1a67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bind()</a:t>
            </a:r>
            <a:r>
              <a:rPr lang="en-US" b="1" dirty="0"/>
              <a:t> Parameters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the socket to be bound.</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servaddr</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A pointer to the local address information.</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addrlen</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size of the address structure, usually set using `</a:t>
            </a:r>
            <a:r>
              <a:rPr lang="en-US" sz="1100" b="0" i="0" u="none" strike="noStrike" cap="none" dirty="0" err="1">
                <a:solidFill>
                  <a:srgbClr val="000000"/>
                </a:solidFill>
                <a:latin typeface="Arial"/>
                <a:ea typeface="Arial"/>
                <a:cs typeface="Arial"/>
                <a:sym typeface="Arial"/>
              </a:rPr>
              <a:t>sizeof</a:t>
            </a: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endParaRPr dirty="0"/>
          </a:p>
        </p:txBody>
      </p:sp>
      <p:sp>
        <p:nvSpPr>
          <p:cNvPr id="244" name="Google Shape;244;g2c95f9e1a67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c95f9e1a6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listen()</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Marks a socket as "passive" to accept incoming connections.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a socket that has already been created and bound.</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backlog: </a:t>
            </a:r>
            <a:r>
              <a:rPr lang="en-US" sz="1100" b="0" i="0" u="none" strike="noStrike" cap="none" dirty="0">
                <a:solidFill>
                  <a:srgbClr val="000000"/>
                </a:solidFill>
                <a:latin typeface="Arial"/>
                <a:ea typeface="Arial"/>
                <a:cs typeface="Arial"/>
                <a:sym typeface="Arial"/>
              </a:rPr>
              <a:t>Defines the maximum number of pending connections that can wait in the queue before being rejected.</a:t>
            </a:r>
          </a:p>
          <a:p>
            <a:pPr marL="0" lvl="0" indent="0" algn="l" rtl="0">
              <a:spcBef>
                <a:spcPts val="0"/>
              </a:spcBef>
              <a:spcAft>
                <a:spcPts val="0"/>
              </a:spcAft>
              <a:buNone/>
            </a:pPr>
            <a:endParaRPr dirty="0"/>
          </a:p>
        </p:txBody>
      </p:sp>
      <p:sp>
        <p:nvSpPr>
          <p:cNvPr id="251" name="Google Shape;251;g2c95f9e1a67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c95f9e1a67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listen()</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Marks a socket as "passive" to accept incoming connections.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a socket that has already been created and bound.</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backlog: </a:t>
            </a:r>
            <a:r>
              <a:rPr lang="en-US" sz="1100" b="0" i="0" u="none" strike="noStrike" cap="none" dirty="0">
                <a:solidFill>
                  <a:srgbClr val="000000"/>
                </a:solidFill>
                <a:latin typeface="Arial"/>
                <a:ea typeface="Arial"/>
                <a:cs typeface="Arial"/>
                <a:sym typeface="Arial"/>
              </a:rPr>
              <a:t>Defines the maximum number of pending connections that can wait in the queue before being rejected.</a:t>
            </a:r>
          </a:p>
          <a:p>
            <a:pPr marL="0" lvl="0" indent="0" algn="l" rtl="0">
              <a:spcBef>
                <a:spcPts val="0"/>
              </a:spcBef>
              <a:spcAft>
                <a:spcPts val="0"/>
              </a:spcAft>
              <a:buNone/>
            </a:pPr>
            <a:endParaRPr dirty="0"/>
          </a:p>
        </p:txBody>
      </p:sp>
      <p:sp>
        <p:nvSpPr>
          <p:cNvPr id="258" name="Google Shape;258;g2c95f9e1a67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c95f9e1a67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listen()</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Marks a socket as "passive" to accept incoming connections.</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sockfd</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descriptor of a socket that has already been created and bound.</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backlog: </a:t>
            </a:r>
            <a:r>
              <a:rPr lang="en-US" sz="1100" b="0" i="0" u="none" strike="noStrike" cap="none" dirty="0">
                <a:solidFill>
                  <a:srgbClr val="000000"/>
                </a:solidFill>
                <a:latin typeface="Arial"/>
                <a:ea typeface="Arial"/>
                <a:cs typeface="Arial"/>
                <a:sym typeface="Arial"/>
              </a:rPr>
              <a:t>Defines the maximum number of pending connections that can wait in the queue before being rejected.</a:t>
            </a:r>
          </a:p>
          <a:p>
            <a:pPr marL="0" lvl="0" indent="0" algn="l" rtl="0">
              <a:spcBef>
                <a:spcPts val="0"/>
              </a:spcBef>
              <a:spcAft>
                <a:spcPts val="0"/>
              </a:spcAft>
              <a:buNone/>
            </a:pPr>
            <a:endParaRPr dirty="0"/>
          </a:p>
        </p:txBody>
      </p:sp>
      <p:sp>
        <p:nvSpPr>
          <p:cNvPr id="265" name="Google Shape;265;g2c95f9e1a67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c95f9e1a67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accept()</a:t>
            </a:r>
            <a:r>
              <a:rPr lang="en-US" b="1" dirty="0"/>
              <a:t> Function</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Purpose and </a:t>
            </a:r>
            <a:r>
              <a:rPr lang="en-US" sz="1100" b="1" i="0" u="none" strike="noStrike" cap="none" dirty="0" err="1">
                <a:solidFill>
                  <a:srgbClr val="000000"/>
                </a:solidFill>
                <a:latin typeface="Arial"/>
                <a:ea typeface="Arial"/>
                <a:cs typeface="Arial"/>
                <a:sym typeface="Arial"/>
              </a:rPr>
              <a:t>sockfd</a:t>
            </a:r>
            <a:r>
              <a:rPr lang="en-US" dirty="0"/>
              <a:t> </a:t>
            </a:r>
          </a:p>
          <a:p>
            <a:pPr marL="171450" lvl="0" indent="-171450" algn="l" rtl="0">
              <a:spcBef>
                <a:spcPts val="0"/>
              </a:spcBef>
              <a:spcAft>
                <a:spcPts val="0"/>
              </a:spcAft>
            </a:pPr>
            <a:r>
              <a:rPr lang="en-US" dirty="0"/>
              <a:t>Used by servers to accept a connection request and create a </a:t>
            </a:r>
            <a:r>
              <a:rPr lang="en-US" i="1" dirty="0"/>
              <a:t>new</a:t>
            </a:r>
            <a:r>
              <a:rPr lang="en-US" dirty="0"/>
              <a:t> socket for communicating with that specific client.</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dirty="0"/>
              <a:t> refers to the original listening socket.</a:t>
            </a:r>
          </a:p>
          <a:p>
            <a:pPr marL="0" lvl="0" indent="0" algn="l" rtl="0">
              <a:spcBef>
                <a:spcPts val="0"/>
              </a:spcBef>
              <a:spcAft>
                <a:spcPts val="0"/>
              </a:spcAft>
              <a:buNone/>
            </a:pPr>
            <a:endParaRPr dirty="0"/>
          </a:p>
        </p:txBody>
      </p:sp>
      <p:sp>
        <p:nvSpPr>
          <p:cNvPr id="272" name="Google Shape;272;g2c95f9e1a67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c95f9e1a67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accept()</a:t>
            </a:r>
            <a:r>
              <a:rPr lang="en-US" b="1" dirty="0"/>
              <a:t> Function</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Purpose and </a:t>
            </a:r>
            <a:r>
              <a:rPr lang="en-US" sz="1100" b="1" i="0" u="none" strike="noStrike" cap="none" dirty="0" err="1">
                <a:solidFill>
                  <a:srgbClr val="000000"/>
                </a:solidFill>
                <a:latin typeface="Arial"/>
                <a:ea typeface="Arial"/>
                <a:cs typeface="Arial"/>
                <a:sym typeface="Arial"/>
              </a:rPr>
              <a:t>sockfd</a:t>
            </a:r>
            <a:r>
              <a:rPr lang="en-US" dirty="0"/>
              <a:t> </a:t>
            </a:r>
          </a:p>
          <a:p>
            <a:pPr marL="171450" lvl="0" indent="-171450" algn="l" rtl="0">
              <a:spcBef>
                <a:spcPts val="0"/>
              </a:spcBef>
              <a:spcAft>
                <a:spcPts val="0"/>
              </a:spcAft>
            </a:pPr>
            <a:r>
              <a:rPr lang="en-US" dirty="0"/>
              <a:t>Used by servers to accept a connection request and create a </a:t>
            </a:r>
            <a:r>
              <a:rPr lang="en-US" i="1" dirty="0"/>
              <a:t>new</a:t>
            </a:r>
            <a:r>
              <a:rPr lang="en-US" dirty="0"/>
              <a:t> socket for communicating with that specific client.</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dirty="0"/>
              <a:t> refers to the original listening socket.</a:t>
            </a:r>
          </a:p>
          <a:p>
            <a:pPr marL="0" lvl="0" indent="0" algn="l" rtl="0">
              <a:spcBef>
                <a:spcPts val="0"/>
              </a:spcBef>
              <a:spcAft>
                <a:spcPts val="0"/>
              </a:spcAft>
              <a:buNone/>
            </a:pPr>
            <a:endParaRPr dirty="0"/>
          </a:p>
        </p:txBody>
      </p:sp>
      <p:sp>
        <p:nvSpPr>
          <p:cNvPr id="279" name="Google Shape;279;g2c95f9e1a67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c95f9e1a67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i="0" u="none" strike="noStrike" cap="none" dirty="0" err="1">
                <a:solidFill>
                  <a:srgbClr val="000000"/>
                </a:solidFill>
                <a:latin typeface="Arial"/>
                <a:ea typeface="Arial"/>
                <a:cs typeface="Arial"/>
                <a:sym typeface="Arial"/>
              </a:rPr>
              <a:t>cliaddr</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A pointer to a structure that `accept()` fills with the connecting client's address information.</a:t>
            </a:r>
          </a:p>
          <a:p>
            <a:pPr marL="0" lvl="0" indent="0" algn="l" rtl="0">
              <a:spcBef>
                <a:spcPts val="0"/>
              </a:spcBef>
              <a:spcAft>
                <a:spcPts val="0"/>
              </a:spcAft>
              <a:buNone/>
            </a:pPr>
            <a:endParaRPr dirty="0"/>
          </a:p>
        </p:txBody>
      </p:sp>
      <p:sp>
        <p:nvSpPr>
          <p:cNvPr id="286" name="Google Shape;286;g2c95f9e1a67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c95f9e1a67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i="0" u="none" strike="noStrike" cap="none" dirty="0" err="1">
                <a:solidFill>
                  <a:srgbClr val="000000"/>
                </a:solidFill>
                <a:latin typeface="Arial"/>
                <a:ea typeface="Arial"/>
                <a:cs typeface="Arial"/>
                <a:sym typeface="Arial"/>
              </a:rPr>
              <a:t>addrlen</a:t>
            </a:r>
            <a:r>
              <a:rPr lang="en-US" sz="1100" b="1"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Initially specifies the size of the buffer; `accept()` updates it with the actual size of the client's address upon return.</a:t>
            </a:r>
          </a:p>
          <a:p>
            <a:pPr marL="0" lvl="0" indent="0" algn="l" rtl="0">
              <a:spcBef>
                <a:spcPts val="0"/>
              </a:spcBef>
              <a:spcAft>
                <a:spcPts val="0"/>
              </a:spcAft>
              <a:buNone/>
            </a:pPr>
            <a:endParaRPr dirty="0"/>
          </a:p>
        </p:txBody>
      </p:sp>
      <p:sp>
        <p:nvSpPr>
          <p:cNvPr id="293" name="Google Shape;293;g2c95f9e1a67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c95f9e1a67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The </a:t>
            </a:r>
            <a:r>
              <a:rPr lang="en-US" sz="1100" b="1" i="0" u="none" strike="noStrike" cap="none" dirty="0">
                <a:solidFill>
                  <a:srgbClr val="000000"/>
                </a:solidFill>
                <a:latin typeface="Arial"/>
                <a:ea typeface="Arial"/>
                <a:cs typeface="Arial"/>
                <a:sym typeface="Arial"/>
              </a:rPr>
              <a:t>send()</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Sends data through a connected socket.</a:t>
            </a:r>
          </a:p>
          <a:p>
            <a:pPr marL="0" lvl="0" indent="0" algn="l" rtl="0">
              <a:spcBef>
                <a:spcPts val="0"/>
              </a:spcBef>
              <a:spcAft>
                <a:spcPts val="0"/>
              </a:spcAft>
              <a:buNone/>
            </a:pPr>
            <a:endParaRPr lang="en-US"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(must be connected),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(pointer to data),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(number of bytes to send),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(behavior modifiers like `MSG_DONTWAIT` or `MSG_NOSIGNAL`).</a:t>
            </a:r>
          </a:p>
          <a:p>
            <a:pPr marL="0" lvl="0" indent="0" algn="l" rtl="0">
              <a:spcBef>
                <a:spcPts val="0"/>
              </a:spcBef>
              <a:spcAft>
                <a:spcPts val="0"/>
              </a:spcAft>
              <a:buNone/>
            </a:pPr>
            <a:endParaRPr lang="en-US" sz="1100" b="0" i="0" u="none" strike="noStrike" cap="none" dirty="0">
              <a:solidFill>
                <a:srgbClr val="000000"/>
              </a:solidFill>
              <a:latin typeface="Arial"/>
              <a:ea typeface="Arial"/>
              <a:cs typeface="Arial"/>
              <a:sym typeface="Arial"/>
            </a:endParaRPr>
          </a:p>
        </p:txBody>
      </p:sp>
      <p:sp>
        <p:nvSpPr>
          <p:cNvPr id="300" name="Google Shape;300;g2c95f9e1a67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c95f9e1a67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(must be connected),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(pointer to data),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(number of bytes to send),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(behavior modifiers like `MSG_DONTWAIT` or `MSG_NOSIGNAL`).</a:t>
            </a:r>
          </a:p>
          <a:p>
            <a:pPr marL="0" lvl="0" indent="0" algn="l" rtl="0">
              <a:spcBef>
                <a:spcPts val="0"/>
              </a:spcBef>
              <a:spcAft>
                <a:spcPts val="0"/>
              </a:spcAft>
              <a:buNone/>
            </a:pPr>
            <a:endParaRPr dirty="0"/>
          </a:p>
        </p:txBody>
      </p:sp>
      <p:sp>
        <p:nvSpPr>
          <p:cNvPr id="307" name="Google Shape;307;g2c95f9e1a67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c95f9e1a67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(must be connected),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(pointer to data),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(number of bytes to send),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(behavior modifiers like `MSG_DONTWAIT` or `MSG_NOSIGNAL`).</a:t>
            </a:r>
          </a:p>
          <a:p>
            <a:pPr marL="0" lvl="0" indent="0" algn="l" rtl="0">
              <a:spcBef>
                <a:spcPts val="0"/>
              </a:spcBef>
              <a:spcAft>
                <a:spcPts val="0"/>
              </a:spcAft>
              <a:buNone/>
            </a:pPr>
            <a:endParaRPr dirty="0"/>
          </a:p>
        </p:txBody>
      </p:sp>
      <p:sp>
        <p:nvSpPr>
          <p:cNvPr id="314" name="Google Shape;314;g2c95f9e1a67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c95f9e1a67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(must be connected),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(pointer to data),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(number of bytes to send),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(behavior modifiers like `MSG_DONTWAIT` or `MSG_NOSIGNAL`).</a:t>
            </a:r>
          </a:p>
          <a:p>
            <a:pPr marL="0" lvl="0" indent="0" algn="l" rtl="0">
              <a:spcBef>
                <a:spcPts val="0"/>
              </a:spcBef>
              <a:spcAft>
                <a:spcPts val="0"/>
              </a:spcAft>
              <a:buNone/>
            </a:pPr>
            <a:endParaRPr dirty="0"/>
          </a:p>
        </p:txBody>
      </p:sp>
      <p:sp>
        <p:nvSpPr>
          <p:cNvPr id="321" name="Google Shape;321;g2c95f9e1a67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c95f9e1a67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(must be connected),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(pointer to data),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(number of bytes to send),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(behavior modifiers like `MSG_DONTWAIT` or `MSG_NOSIGNAL`).</a:t>
            </a:r>
          </a:p>
          <a:p>
            <a:pPr marL="0" lvl="0" indent="0" algn="l" rtl="0">
              <a:spcBef>
                <a:spcPts val="0"/>
              </a:spcBef>
              <a:spcAft>
                <a:spcPts val="0"/>
              </a:spcAft>
              <a:buNone/>
            </a:pPr>
            <a:endParaRPr lang="en-US" sz="1100" b="0" i="0" u="none" strike="noStrike" cap="none" dirty="0">
              <a:solidFill>
                <a:srgbClr val="000000"/>
              </a:solidFill>
              <a:latin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latin typeface="Arial"/>
                <a:cs typeface="Arial"/>
                <a:sym typeface="Arial"/>
              </a:rPr>
              <a:t>---</a:t>
            </a:r>
          </a:p>
          <a:p>
            <a:pPr marL="0" lvl="0" indent="0" algn="l" rtl="0">
              <a:spcBef>
                <a:spcPts val="0"/>
              </a:spcBef>
              <a:spcAft>
                <a:spcPts val="0"/>
              </a:spcAft>
              <a:buNone/>
            </a:pPr>
            <a:r>
              <a:rPr lang="en-US" sz="1100" b="0" i="1" u="sng" strike="noStrike" cap="none" dirty="0">
                <a:solidFill>
                  <a:srgbClr val="000000"/>
                </a:solidFill>
                <a:latin typeface="Arial"/>
                <a:cs typeface="Arial"/>
                <a:sym typeface="Arial"/>
              </a:rPr>
              <a:t>For reference:</a:t>
            </a:r>
          </a:p>
          <a:p>
            <a:pPr marL="0" lvl="0" indent="0" algn="l" rtl="0">
              <a:spcBef>
                <a:spcPts val="0"/>
              </a:spcBef>
              <a:spcAft>
                <a:spcPts val="0"/>
              </a:spcAft>
              <a:buNone/>
            </a:pPr>
            <a:endParaRPr lang="en-US" sz="1100" b="0" i="0" u="none" strike="noStrike" cap="none" dirty="0">
              <a:solidFill>
                <a:srgbClr val="000000"/>
              </a:solidFill>
              <a:latin typeface="Arial"/>
              <a:cs typeface="Arial"/>
              <a:sym typeface="Arial"/>
            </a:endParaRPr>
          </a:p>
          <a:p>
            <a:pPr marL="0" lvl="0" indent="0" algn="l" rtl="0">
              <a:spcBef>
                <a:spcPts val="0"/>
              </a:spcBef>
              <a:spcAft>
                <a:spcPts val="0"/>
              </a:spcAft>
              <a:buNone/>
            </a:pPr>
            <a:r>
              <a:rPr lang="en-US" dirty="0"/>
              <a:t>In network programming, </a:t>
            </a:r>
            <a:r>
              <a:rPr lang="en-US" sz="1100" b="0" i="0" u="none" strike="noStrike" cap="none" dirty="0">
                <a:solidFill>
                  <a:srgbClr val="000000"/>
                </a:solidFill>
                <a:latin typeface="Arial"/>
                <a:ea typeface="Arial"/>
                <a:cs typeface="Arial"/>
                <a:sym typeface="Arial"/>
              </a:rPr>
              <a:t>MSG_NOSIGNAL</a:t>
            </a:r>
            <a:r>
              <a:rPr lang="en-US" dirty="0"/>
              <a:t> is a flag used with the </a:t>
            </a:r>
            <a:r>
              <a:rPr lang="en-US" sz="1100" b="0" i="0" u="none" strike="noStrike" cap="none" dirty="0">
                <a:solidFill>
                  <a:srgbClr val="000000"/>
                </a:solidFill>
                <a:latin typeface="Arial"/>
                <a:ea typeface="Arial"/>
                <a:cs typeface="Arial"/>
                <a:sym typeface="Arial"/>
              </a:rPr>
              <a:t>send()</a:t>
            </a:r>
            <a:r>
              <a:rPr lang="en-US" dirty="0"/>
              <a:t> system call to handle one of the more annoying default behaviors in Unix-like systems: the </a:t>
            </a:r>
            <a:r>
              <a:rPr lang="en-US" b="1" dirty="0"/>
              <a:t>SIGPIPE</a:t>
            </a:r>
            <a:r>
              <a:rPr lang="en-US" dirty="0"/>
              <a:t> signal.</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The Problem: Broken Pipes</a:t>
            </a:r>
          </a:p>
          <a:p>
            <a:pPr marL="0" lvl="0" indent="0" algn="l" rtl="0">
              <a:spcBef>
                <a:spcPts val="0"/>
              </a:spcBef>
              <a:spcAft>
                <a:spcPts val="0"/>
              </a:spcAft>
              <a:buNone/>
            </a:pPr>
            <a:r>
              <a:rPr lang="en-US" dirty="0"/>
              <a:t>By default, if you attempt to write data to a socket that has been closed by the remote peer (a "broken pipe"), </a:t>
            </a:r>
          </a:p>
          <a:p>
            <a:pPr marL="0" lvl="0" indent="0" algn="l" rtl="0">
              <a:spcBef>
                <a:spcPts val="0"/>
              </a:spcBef>
              <a:spcAft>
                <a:spcPts val="0"/>
              </a:spcAft>
              <a:buNone/>
            </a:pPr>
            <a:r>
              <a:rPr lang="en-US" dirty="0"/>
              <a:t>the kernel doesn't just return an error. Instead, it sends a </a:t>
            </a:r>
            <a:r>
              <a:rPr lang="en-US" sz="1100" b="0" i="0" u="none" strike="noStrike" cap="none" dirty="0">
                <a:solidFill>
                  <a:srgbClr val="000000"/>
                </a:solidFill>
                <a:latin typeface="Arial"/>
                <a:ea typeface="Arial"/>
                <a:cs typeface="Arial"/>
                <a:sym typeface="Arial"/>
              </a:rPr>
              <a:t>SIGPIPE</a:t>
            </a:r>
            <a:r>
              <a:rPr lang="en-US" dirty="0"/>
              <a:t> signal to your process.</a:t>
            </a:r>
          </a:p>
          <a:p>
            <a:pPr marL="171450" lvl="0" indent="-171450" algn="l" rtl="0">
              <a:spcBef>
                <a:spcPts val="0"/>
              </a:spcBef>
              <a:spcAft>
                <a:spcPts val="0"/>
              </a:spcAft>
            </a:pPr>
            <a:r>
              <a:rPr lang="en-US" b="1" dirty="0"/>
              <a:t>The Default Result:</a:t>
            </a:r>
            <a:r>
              <a:rPr lang="en-US" dirty="0"/>
              <a:t> If you haven't explicitly handled or ignored this signal, your application will </a:t>
            </a:r>
            <a:r>
              <a:rPr lang="en-US" b="1" dirty="0"/>
              <a:t>immediately terminate</a:t>
            </a:r>
            <a:r>
              <a:rPr lang="en-US" dirty="0"/>
              <a:t>.</a:t>
            </a:r>
          </a:p>
          <a:p>
            <a:pPr marL="171450" lvl="0" indent="-171450" algn="l" rtl="0">
              <a:spcBef>
                <a:spcPts val="0"/>
              </a:spcBef>
              <a:spcAft>
                <a:spcPts val="0"/>
              </a:spcAft>
            </a:pPr>
            <a:r>
              <a:rPr lang="en-US" b="1" dirty="0"/>
              <a:t>The Logic:</a:t>
            </a:r>
            <a:r>
              <a:rPr lang="en-US" dirty="0"/>
              <a:t> This behavior dates back to early Unix pipeline design (e.g., </a:t>
            </a:r>
            <a:r>
              <a:rPr lang="en-US" sz="1100" b="0" i="0" u="none" strike="noStrike" cap="none" dirty="0">
                <a:solidFill>
                  <a:srgbClr val="000000"/>
                </a:solidFill>
                <a:latin typeface="Arial"/>
                <a:ea typeface="Arial"/>
                <a:cs typeface="Arial"/>
                <a:sym typeface="Arial"/>
              </a:rPr>
              <a:t>cat file | head</a:t>
            </a:r>
            <a:r>
              <a:rPr lang="en-US" dirty="0"/>
              <a:t>), where if the reader (</a:t>
            </a:r>
            <a:r>
              <a:rPr lang="en-US" sz="1100" b="0" i="0" u="none" strike="noStrike" cap="none" dirty="0">
                <a:solidFill>
                  <a:srgbClr val="000000"/>
                </a:solidFill>
                <a:latin typeface="Arial"/>
                <a:ea typeface="Arial"/>
                <a:cs typeface="Arial"/>
                <a:sym typeface="Arial"/>
              </a:rPr>
              <a:t>head</a:t>
            </a:r>
            <a:r>
              <a:rPr lang="en-US" dirty="0"/>
              <a:t>) finishes and closes its input, the writer (</a:t>
            </a:r>
            <a:r>
              <a:rPr lang="en-US" sz="1100" b="0" i="0" u="none" strike="noStrike" cap="none" dirty="0">
                <a:solidFill>
                  <a:srgbClr val="000000"/>
                </a:solidFill>
                <a:latin typeface="Arial"/>
                <a:ea typeface="Arial"/>
                <a:cs typeface="Arial"/>
                <a:sym typeface="Arial"/>
              </a:rPr>
              <a:t>cat</a:t>
            </a:r>
            <a:r>
              <a:rPr lang="en-US" dirty="0"/>
              <a:t>) should stop immediately.</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The Solution: </a:t>
            </a:r>
            <a:r>
              <a:rPr lang="en-US" sz="1100" b="1" i="0" u="none" strike="noStrike" cap="none" dirty="0">
                <a:solidFill>
                  <a:srgbClr val="000000"/>
                </a:solidFill>
                <a:latin typeface="Arial"/>
                <a:ea typeface="Arial"/>
                <a:cs typeface="Arial"/>
                <a:sym typeface="Arial"/>
              </a:rPr>
              <a:t>MSG_NOSIGNAL</a:t>
            </a:r>
          </a:p>
          <a:p>
            <a:pPr marL="0" lvl="0" indent="0" algn="l" rtl="0">
              <a:spcBef>
                <a:spcPts val="0"/>
              </a:spcBef>
              <a:spcAft>
                <a:spcPts val="0"/>
              </a:spcAft>
              <a:buNone/>
            </a:pPr>
            <a:r>
              <a:rPr lang="en-US" dirty="0"/>
              <a:t>Passing this flag tells the kernel: </a:t>
            </a:r>
          </a:p>
          <a:p>
            <a:pPr marL="0" lvl="0" indent="0" algn="l" rtl="0">
              <a:spcBef>
                <a:spcPts val="0"/>
              </a:spcBef>
              <a:spcAft>
                <a:spcPts val="0"/>
              </a:spcAft>
              <a:buNone/>
            </a:pPr>
            <a:r>
              <a:rPr lang="en-US" i="1" dirty="0"/>
              <a:t>"If this send fails because the connection is dead, don't signal me. Just return an error and let me handle it in the code."</a:t>
            </a:r>
            <a:endParaRPr lang="en-US" dirty="0"/>
          </a:p>
          <a:p>
            <a:pPr marL="0" lvl="0" indent="0" algn="l" rtl="0">
              <a:spcBef>
                <a:spcPts val="0"/>
              </a:spcBef>
              <a:spcAft>
                <a:spcPts val="0"/>
              </a:spcAft>
              <a:buNone/>
            </a:pPr>
            <a:endParaRPr dirty="0"/>
          </a:p>
        </p:txBody>
      </p:sp>
      <p:sp>
        <p:nvSpPr>
          <p:cNvPr id="328" name="Google Shape;328;g2c95f9e1a67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c95f9e1a67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The </a:t>
            </a:r>
            <a:r>
              <a:rPr lang="en-US" sz="1100" b="1" i="0" u="none" strike="noStrike" cap="none" dirty="0">
                <a:solidFill>
                  <a:srgbClr val="000000"/>
                </a:solidFill>
                <a:latin typeface="Arial"/>
                <a:ea typeface="Arial"/>
                <a:cs typeface="Arial"/>
                <a:sym typeface="Arial"/>
              </a:rPr>
              <a:t>receive()</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Receives data from a connected socket into a buffer.</a:t>
            </a:r>
          </a:p>
          <a:p>
            <a:pPr marL="0" lvl="0" indent="0" algn="l" rtl="0">
              <a:spcBef>
                <a:spcPts val="0"/>
              </a:spcBef>
              <a:spcAft>
                <a:spcPts val="0"/>
              </a:spcAft>
              <a:buNone/>
            </a:pPr>
            <a:endParaRPr lang="en-US"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endParaRPr lang="en-US" sz="1100" b="0"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(destination buffer),</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(max bytes to receive),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(e.g., `MSG_WAITALL` to block until the full amount is received).</a:t>
            </a:r>
          </a:p>
          <a:p>
            <a:pPr marL="0" lvl="0" indent="0" algn="l" rtl="0">
              <a:spcBef>
                <a:spcPts val="0"/>
              </a:spcBef>
              <a:spcAft>
                <a:spcPts val="0"/>
              </a:spcAft>
              <a:buNone/>
            </a:pPr>
            <a:endParaRPr dirty="0"/>
          </a:p>
        </p:txBody>
      </p:sp>
      <p:sp>
        <p:nvSpPr>
          <p:cNvPr id="335" name="Google Shape;335;g2c95f9e1a67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c95f9e1a67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endParaRPr lang="en-US" sz="1100" b="0"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(destination buffer),</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(max bytes to receive),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(e.g., `MSG_WAITALL` to block until the full amount is received).</a:t>
            </a:r>
          </a:p>
          <a:p>
            <a:pPr marL="0" lvl="0" indent="0" algn="l" rtl="0">
              <a:spcBef>
                <a:spcPts val="0"/>
              </a:spcBef>
              <a:spcAft>
                <a:spcPts val="0"/>
              </a:spcAft>
              <a:buNone/>
            </a:pPr>
            <a:endParaRPr dirty="0"/>
          </a:p>
        </p:txBody>
      </p:sp>
      <p:sp>
        <p:nvSpPr>
          <p:cNvPr id="342" name="Google Shape;342;g2c95f9e1a67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c95f9e1a67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endParaRPr lang="en-US" sz="1100" b="0"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(destination buffer),</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(max bytes to receive),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(e.g., `MSG_WAITALL` to block until the full amount is received).</a:t>
            </a:r>
          </a:p>
          <a:p>
            <a:pPr marL="0" lvl="0" indent="0" algn="l" rtl="0">
              <a:spcBef>
                <a:spcPts val="0"/>
              </a:spcBef>
              <a:spcAft>
                <a:spcPts val="0"/>
              </a:spcAft>
              <a:buNone/>
            </a:pPr>
            <a:endParaRPr dirty="0"/>
          </a:p>
        </p:txBody>
      </p:sp>
      <p:sp>
        <p:nvSpPr>
          <p:cNvPr id="349" name="Google Shape;349;g2c95f9e1a67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c95f9e1a67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endParaRPr lang="en-US" sz="1100" b="0"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(destination buffer),</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(max bytes to receive),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(e.g., `MSG_WAITALL` to block until the full amount is received).</a:t>
            </a:r>
          </a:p>
          <a:p>
            <a:pPr marL="0" lvl="0" indent="0" algn="l" rtl="0">
              <a:spcBef>
                <a:spcPts val="0"/>
              </a:spcBef>
              <a:spcAft>
                <a:spcPts val="0"/>
              </a:spcAft>
              <a:buNone/>
            </a:pPr>
            <a:endParaRPr dirty="0"/>
          </a:p>
        </p:txBody>
      </p:sp>
      <p:sp>
        <p:nvSpPr>
          <p:cNvPr id="356" name="Google Shape;356;g2c95f9e1a67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c95f9e1a67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a:solidFill>
                  <a:srgbClr val="000000"/>
                </a:solidFill>
                <a:latin typeface="Arial"/>
                <a:ea typeface="Arial"/>
                <a:cs typeface="Arial"/>
                <a:sym typeface="Arial"/>
              </a:rPr>
              <a:t>Parameters: </a:t>
            </a:r>
            <a:endParaRPr lang="en-US" sz="1100" b="0" i="0" u="none" strike="noStrike" cap="none" dirty="0">
              <a:solidFill>
                <a:srgbClr val="000000"/>
              </a:solidFill>
              <a:latin typeface="Arial"/>
              <a:ea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sockfd</a:t>
            </a:r>
            <a:r>
              <a:rPr lang="en-US" sz="1100" b="0" i="0" u="none" strike="noStrike" cap="none" dirty="0">
                <a:solidFill>
                  <a:srgbClr val="000000"/>
                </a:solidFill>
                <a:latin typeface="Arial"/>
                <a:ea typeface="Arial"/>
                <a:cs typeface="Arial"/>
                <a:sym typeface="Arial"/>
              </a:rPr>
              <a:t>, </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buf</a:t>
            </a:r>
            <a:r>
              <a:rPr lang="en-US" sz="1100" b="0" i="0" u="none" strike="noStrike" cap="none" dirty="0">
                <a:solidFill>
                  <a:srgbClr val="000000"/>
                </a:solidFill>
                <a:latin typeface="Arial"/>
                <a:ea typeface="Arial"/>
                <a:cs typeface="Arial"/>
                <a:sym typeface="Arial"/>
              </a:rPr>
              <a:t> (destination buffer),</a:t>
            </a:r>
          </a:p>
          <a:p>
            <a:pPr marL="171450" lvl="0" indent="-171450" algn="l" rtl="0">
              <a:spcBef>
                <a:spcPts val="0"/>
              </a:spcBef>
              <a:spcAft>
                <a:spcPts val="0"/>
              </a:spcAft>
            </a:pPr>
            <a:r>
              <a:rPr lang="en-US" sz="1100" b="0" i="0" u="none" strike="noStrike" cap="none" dirty="0" err="1">
                <a:solidFill>
                  <a:srgbClr val="000000"/>
                </a:solidFill>
                <a:latin typeface="Arial"/>
                <a:ea typeface="Arial"/>
                <a:cs typeface="Arial"/>
                <a:sym typeface="Arial"/>
              </a:rPr>
              <a:t>nbytes</a:t>
            </a:r>
            <a:r>
              <a:rPr lang="en-US" sz="1100" b="0" i="0" u="none" strike="noStrike" cap="none" dirty="0">
                <a:solidFill>
                  <a:srgbClr val="000000"/>
                </a:solidFill>
                <a:latin typeface="Arial"/>
                <a:ea typeface="Arial"/>
                <a:cs typeface="Arial"/>
                <a:sym typeface="Arial"/>
              </a:rPr>
              <a:t> (max bytes to receive), and </a:t>
            </a:r>
          </a:p>
          <a:p>
            <a:pPr marL="171450" lvl="0" indent="-171450" algn="l" rtl="0">
              <a:spcBef>
                <a:spcPts val="0"/>
              </a:spcBef>
              <a:spcAft>
                <a:spcPts val="0"/>
              </a:spcAft>
            </a:pPr>
            <a:r>
              <a:rPr lang="en-US" sz="1100" b="0" i="0" u="none" strike="noStrike" cap="none" dirty="0">
                <a:solidFill>
                  <a:srgbClr val="000000"/>
                </a:solidFill>
                <a:latin typeface="Arial"/>
                <a:ea typeface="Arial"/>
                <a:cs typeface="Arial"/>
                <a:sym typeface="Arial"/>
              </a:rPr>
              <a:t>flags (e.g., `MSG_WAITALL` to block until the full amount is received).</a:t>
            </a:r>
          </a:p>
          <a:p>
            <a:pPr marL="0" lvl="0" indent="0" algn="l" rtl="0">
              <a:spcBef>
                <a:spcPts val="0"/>
              </a:spcBef>
              <a:spcAft>
                <a:spcPts val="0"/>
              </a:spcAft>
              <a:buNone/>
            </a:pPr>
            <a:endParaRPr dirty="0"/>
          </a:p>
        </p:txBody>
      </p:sp>
      <p:sp>
        <p:nvSpPr>
          <p:cNvPr id="363" name="Google Shape;363;g2c95f9e1a67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c95f9e1a6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The </a:t>
            </a:r>
            <a:r>
              <a:rPr lang="en-US" sz="1100" b="1" i="0" u="none" strike="noStrike" cap="none" dirty="0">
                <a:solidFill>
                  <a:srgbClr val="000000"/>
                </a:solidFill>
                <a:latin typeface="Arial"/>
                <a:ea typeface="Arial"/>
                <a:cs typeface="Arial"/>
                <a:sym typeface="Arial"/>
              </a:rPr>
              <a:t>close()</a:t>
            </a:r>
            <a:r>
              <a:rPr lang="en-US" b="1" dirty="0"/>
              <a:t> Function</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Closes the socket file descriptor,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releasing associated resources and ending the communication channel.</a:t>
            </a:r>
          </a:p>
          <a:p>
            <a:pPr marL="0" lvl="0" indent="0" algn="l" rtl="0">
              <a:spcBef>
                <a:spcPts val="0"/>
              </a:spcBef>
              <a:spcAft>
                <a:spcPts val="0"/>
              </a:spcAft>
              <a:buNone/>
            </a:pPr>
            <a:endParaRPr dirty="0"/>
          </a:p>
        </p:txBody>
      </p:sp>
      <p:sp>
        <p:nvSpPr>
          <p:cNvPr id="370" name="Google Shape;370;g2c95f9e1a67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rojection White">
  <p:cSld name="Cover-Projection Whit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2376487" y="2195512"/>
            <a:ext cx="7439025" cy="24669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hite Cover-Title with Logo">
  <p:cSld name="White Cover-Title with Logo">
    <p:bg>
      <p:bgPr>
        <a:solidFill>
          <a:schemeClr val="lt1"/>
        </a:solid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subTitle" idx="1"/>
          </p:nvPr>
        </p:nvSpPr>
        <p:spPr>
          <a:xfrm>
            <a:off x="1524000" y="4484905"/>
            <a:ext cx="9144000" cy="10752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1pPr>
            <a:lvl2pPr marR="0" lvl="1" algn="ctr"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2pPr>
            <a:lvl3pPr marR="0" lvl="2" algn="ctr"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R="0" lvl="3"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4pPr>
            <a:lvl5pPr marR="0" lvl="4"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pic>
        <p:nvPicPr>
          <p:cNvPr id="12" name="Google Shape;12;p3"/>
          <p:cNvPicPr preferRelativeResize="0"/>
          <p:nvPr/>
        </p:nvPicPr>
        <p:blipFill rotWithShape="1">
          <a:blip r:embed="rId2">
            <a:alphaModFix/>
          </a:blip>
          <a:srcRect/>
          <a:stretch/>
        </p:blipFill>
        <p:spPr>
          <a:xfrm>
            <a:off x="3314918" y="1201978"/>
            <a:ext cx="5629274" cy="1866815"/>
          </a:xfrm>
          <a:prstGeom prst="rect">
            <a:avLst/>
          </a:prstGeom>
          <a:noFill/>
          <a:ln>
            <a:noFill/>
          </a:ln>
        </p:spPr>
      </p:pic>
      <p:sp>
        <p:nvSpPr>
          <p:cNvPr id="13" name="Google Shape;13;p3"/>
          <p:cNvSpPr txBox="1">
            <a:spLocks noGrp="1"/>
          </p:cNvSpPr>
          <p:nvPr>
            <p:ph type="body" idx="2"/>
          </p:nvPr>
        </p:nvSpPr>
        <p:spPr>
          <a:xfrm>
            <a:off x="1524000" y="3132668"/>
            <a:ext cx="9144000" cy="12672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000"/>
              </a:spcBef>
              <a:spcAft>
                <a:spcPts val="0"/>
              </a:spcAft>
              <a:buClr>
                <a:schemeClr val="dk2"/>
              </a:buClr>
              <a:buSzPts val="4400"/>
              <a:buFont typeface="Arial"/>
              <a:buNone/>
              <a:defRPr sz="4400" b="0" i="0" u="none" strike="noStrike" cap="none">
                <a:solidFill>
                  <a:schemeClr val="dk2"/>
                </a:solidFill>
                <a:latin typeface="Georgia"/>
                <a:ea typeface="Georgia"/>
                <a:cs typeface="Georgia"/>
                <a:sym typeface="Georgia"/>
              </a:defRPr>
            </a:lvl1pPr>
            <a:lvl2pPr marL="914400" marR="0" lvl="1" indent="-228600" algn="l" rtl="0">
              <a:lnSpc>
                <a:spcPct val="90000"/>
              </a:lnSpc>
              <a:spcBef>
                <a:spcPts val="5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2" name="Google Shape;22;p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R="0" lvl="1" algn="ctr"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2pPr>
            <a:lvl3pPr marR="0" lvl="2" algn="ctr"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R="0" lvl="3"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4pPr>
            <a:lvl5pPr marR="0" lvl="4"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23" name="Google Shape;23;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 name="Google Shape;28;p6"/>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 name="Google Shape;29;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4" name="Google Shape;34;p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35" name="Google Shape;35;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838200" y="1021278"/>
            <a:ext cx="10515600" cy="1091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0" name="Google Shape;40;p8"/>
          <p:cNvSpPr txBox="1">
            <a:spLocks noGrp="1"/>
          </p:cNvSpPr>
          <p:nvPr>
            <p:ph type="body" idx="1"/>
          </p:nvPr>
        </p:nvSpPr>
        <p:spPr>
          <a:xfrm>
            <a:off x="838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1" name="Google Shape;41;p8"/>
          <p:cNvSpPr txBox="1">
            <a:spLocks noGrp="1"/>
          </p:cNvSpPr>
          <p:nvPr>
            <p:ph type="body" idx="2"/>
          </p:nvPr>
        </p:nvSpPr>
        <p:spPr>
          <a:xfrm>
            <a:off x="6172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 name="Google Shape;42;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838200" y="914400"/>
            <a:ext cx="10515600" cy="1268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7" name="Google Shape;47;p9"/>
          <p:cNvSpPr txBox="1">
            <a:spLocks noGrp="1"/>
          </p:cNvSpPr>
          <p:nvPr>
            <p:ph type="body" idx="1"/>
          </p:nvPr>
        </p:nvSpPr>
        <p:spPr>
          <a:xfrm>
            <a:off x="836612" y="2182813"/>
            <a:ext cx="51579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48" name="Google Shape;48;p9"/>
          <p:cNvSpPr txBox="1">
            <a:spLocks noGrp="1"/>
          </p:cNvSpPr>
          <p:nvPr>
            <p:ph type="body" idx="2"/>
          </p:nvPr>
        </p:nvSpPr>
        <p:spPr>
          <a:xfrm>
            <a:off x="839788" y="3006725"/>
            <a:ext cx="51579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 name="Google Shape;49;p9"/>
          <p:cNvSpPr txBox="1">
            <a:spLocks noGrp="1"/>
          </p:cNvSpPr>
          <p:nvPr>
            <p:ph type="body" idx="3"/>
          </p:nvPr>
        </p:nvSpPr>
        <p:spPr>
          <a:xfrm>
            <a:off x="6169024" y="2182813"/>
            <a:ext cx="51831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0" name="Google Shape;50;p9"/>
          <p:cNvSpPr txBox="1">
            <a:spLocks noGrp="1"/>
          </p:cNvSpPr>
          <p:nvPr>
            <p:ph type="body" idx="4"/>
          </p:nvPr>
        </p:nvSpPr>
        <p:spPr>
          <a:xfrm>
            <a:off x="6172200" y="3006725"/>
            <a:ext cx="51831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3" name="Google Shape;53;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6" name="Google Shape;56;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1" name="Google Shape;61;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2"/>
          <p:cNvSpPr txBox="1">
            <a:spLocks noGrp="1"/>
          </p:cNvSpPr>
          <p:nvPr>
            <p:ph type="title"/>
          </p:nvPr>
        </p:nvSpPr>
        <p:spPr>
          <a:xfrm>
            <a:off x="839788" y="902524"/>
            <a:ext cx="3932100" cy="1321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5" name="Google Shape;65;p12"/>
          <p:cNvSpPr txBox="1">
            <a:spLocks noGrp="1"/>
          </p:cNvSpPr>
          <p:nvPr>
            <p:ph type="body" idx="1"/>
          </p:nvPr>
        </p:nvSpPr>
        <p:spPr>
          <a:xfrm>
            <a:off x="5183188" y="1224925"/>
            <a:ext cx="6172200" cy="48735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1pPr>
            <a:lvl2pPr marL="914400" marR="0" lvl="1" indent="-406400" algn="l" rtl="0">
              <a:lnSpc>
                <a:spcPct val="90000"/>
              </a:lnSpc>
              <a:spcBef>
                <a:spcPts val="5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3pPr>
            <a:lvl4pPr marL="1828800" marR="0" lvl="3"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4pPr>
            <a:lvl5pPr marL="2286000" marR="0" lvl="4"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6" name="Google Shape;66;p12"/>
          <p:cNvSpPr txBox="1">
            <a:spLocks noGrp="1"/>
          </p:cNvSpPr>
          <p:nvPr>
            <p:ph type="body" idx="2"/>
          </p:nvPr>
        </p:nvSpPr>
        <p:spPr>
          <a:xfrm>
            <a:off x="839788" y="22949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67" name="Google Shape;67;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8" name="Google Shape;68;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839788" y="926274"/>
            <a:ext cx="3932100" cy="1297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2" name="Google Shape;72;p13"/>
          <p:cNvSpPr>
            <a:spLocks noGrp="1"/>
          </p:cNvSpPr>
          <p:nvPr>
            <p:ph type="pic" idx="2"/>
          </p:nvPr>
        </p:nvSpPr>
        <p:spPr>
          <a:xfrm>
            <a:off x="5183188" y="1272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2"/>
              </a:buClr>
              <a:buSzPts val="3200"/>
              <a:buFont typeface="Arial"/>
              <a:buNone/>
              <a:defRPr sz="3200" b="0" i="0" u="none" strike="noStrike" cap="none">
                <a:solidFill>
                  <a:schemeClr val="dk2"/>
                </a:solidFill>
                <a:latin typeface="Arial"/>
                <a:ea typeface="Arial"/>
                <a:cs typeface="Arial"/>
                <a:sym typeface="Arial"/>
              </a:defRPr>
            </a:lvl1pPr>
            <a:lvl2pPr marR="0" lvl="1" algn="l" rtl="0">
              <a:lnSpc>
                <a:spcPct val="90000"/>
              </a:lnSpc>
              <a:spcBef>
                <a:spcPts val="50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l" rtl="0">
              <a:lnSpc>
                <a:spcPct val="90000"/>
              </a:lnSpc>
              <a:spcBef>
                <a:spcPts val="5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3pPr>
            <a:lvl4pPr marR="0" lvl="3"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4pPr>
            <a:lvl5pPr marR="0" lvl="4"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3" name="Google Shape;73;p13"/>
          <p:cNvSpPr txBox="1">
            <a:spLocks noGrp="1"/>
          </p:cNvSpPr>
          <p:nvPr>
            <p:ph type="body" idx="1"/>
          </p:nvPr>
        </p:nvSpPr>
        <p:spPr>
          <a:xfrm>
            <a:off x="839788" y="23424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74" name="Google Shape;74;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9" name="Google Shape;79;p14"/>
          <p:cNvSpPr txBox="1">
            <a:spLocks noGrp="1"/>
          </p:cNvSpPr>
          <p:nvPr>
            <p:ph type="body" idx="1"/>
          </p:nvPr>
        </p:nvSpPr>
        <p:spPr>
          <a:xfrm rot="5400000">
            <a:off x="4171350" y="-1005587"/>
            <a:ext cx="3849300"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0" name="Google Shape;80;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rot="5400000">
            <a:off x="7425900" y="2249025"/>
            <a:ext cx="5226900" cy="26289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5" name="Google Shape;85;p15"/>
          <p:cNvSpPr txBox="1">
            <a:spLocks noGrp="1"/>
          </p:cNvSpPr>
          <p:nvPr>
            <p:ph type="body" idx="1"/>
          </p:nvPr>
        </p:nvSpPr>
        <p:spPr>
          <a:xfrm rot="5400000">
            <a:off x="2091900" y="-303675"/>
            <a:ext cx="5226900"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6" name="Google Shape;86;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7" name="Google Shape;87;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2.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6" name="Google Shape;16;p4"/>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 name="Google Shape;17;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dk2"/>
              </a:buClr>
              <a:buSzPts val="6000"/>
              <a:buFont typeface="Georgia"/>
              <a:buNone/>
            </a:pPr>
            <a:r>
              <a:rPr lang="en-US" sz="4900" dirty="0"/>
              <a:t>CSC 362: Systems Programming</a:t>
            </a:r>
            <a:endParaRPr sz="4900" b="0" i="0" u="none" strike="noStrike" cap="none" dirty="0">
              <a:solidFill>
                <a:schemeClr val="dk2"/>
              </a:solidFill>
              <a:latin typeface="Georgia"/>
              <a:ea typeface="Georgia"/>
              <a:cs typeface="Georgia"/>
              <a:sym typeface="Georgia"/>
            </a:endParaRPr>
          </a:p>
        </p:txBody>
      </p:sp>
      <p:sp>
        <p:nvSpPr>
          <p:cNvPr id="94" name="Google Shape;94;p16"/>
          <p:cNvSpPr txBox="1">
            <a:spLocks noGrp="1"/>
          </p:cNvSpPr>
          <p:nvPr>
            <p:ph type="subTitle" idx="1"/>
          </p:nvPr>
        </p:nvSpPr>
        <p:spPr>
          <a:xfrm>
            <a:off x="1524000" y="3602038"/>
            <a:ext cx="9144000" cy="2798762"/>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2"/>
              </a:buClr>
              <a:buSzPts val="2400"/>
              <a:buFont typeface="Arial"/>
              <a:buNone/>
            </a:pPr>
            <a:r>
              <a:rPr lang="en-US" dirty="0"/>
              <a:t>Lecture 23</a:t>
            </a:r>
            <a:endParaRPr dirty="0"/>
          </a:p>
          <a:p>
            <a:pPr marL="0" marR="0" lvl="0" indent="0" algn="ctr" rtl="0">
              <a:lnSpc>
                <a:spcPct val="90000"/>
              </a:lnSpc>
              <a:spcBef>
                <a:spcPts val="0"/>
              </a:spcBef>
              <a:spcAft>
                <a:spcPts val="0"/>
              </a:spcAft>
              <a:buClr>
                <a:schemeClr val="dk2"/>
              </a:buClr>
              <a:buSzPts val="2400"/>
              <a:buFont typeface="Arial"/>
              <a:buNone/>
            </a:pPr>
            <a:endParaRPr dirty="0"/>
          </a:p>
          <a:p>
            <a:pPr marL="0" lvl="0" indent="0">
              <a:lnSpc>
                <a:spcPct val="110000"/>
              </a:lnSpc>
              <a:spcBef>
                <a:spcPts val="0"/>
              </a:spcBef>
            </a:pPr>
            <a:r>
              <a:rPr lang="en-US" sz="1600" dirty="0"/>
              <a:t>Original slides by: Amitabha Dey</a:t>
            </a:r>
          </a:p>
          <a:p>
            <a:pPr marL="0" lvl="0" indent="0">
              <a:lnSpc>
                <a:spcPct val="110000"/>
              </a:lnSpc>
              <a:spcBef>
                <a:spcPts val="0"/>
              </a:spcBef>
            </a:pPr>
            <a:r>
              <a:rPr lang="en-US" sz="1600" dirty="0"/>
              <a:t>Adapted by: Dr. Richard Johnson</a:t>
            </a:r>
            <a:endParaRPr dirty="0"/>
          </a:p>
          <a:p>
            <a:pPr marL="0" marR="0" lvl="0" indent="0" algn="ctr" rtl="0">
              <a:lnSpc>
                <a:spcPct val="90000"/>
              </a:lnSpc>
              <a:spcBef>
                <a:spcPts val="0"/>
              </a:spcBef>
              <a:spcAft>
                <a:spcPts val="0"/>
              </a:spcAft>
              <a:buClr>
                <a:schemeClr val="dk2"/>
              </a:buClr>
              <a:buSzPts val="2400"/>
              <a:buFont typeface="Arial"/>
              <a:buNone/>
            </a:pPr>
            <a:endParaRPr dirty="0"/>
          </a:p>
          <a:p>
            <a:pPr marL="0" marR="0" lvl="0" indent="0" algn="ctr" rtl="0">
              <a:lnSpc>
                <a:spcPct val="90000"/>
              </a:lnSpc>
              <a:spcBef>
                <a:spcPts val="0"/>
              </a:spcBef>
              <a:spcAft>
                <a:spcPts val="0"/>
              </a:spcAft>
              <a:buClr>
                <a:schemeClr val="dk2"/>
              </a:buClr>
              <a:buSzPts val="2400"/>
              <a:buFont typeface="Arial"/>
              <a:buNone/>
            </a:pPr>
            <a:endParaRPr dirty="0"/>
          </a:p>
          <a:p>
            <a:pPr marL="0" marR="0" lvl="0" indent="0" algn="ctr" rtl="0">
              <a:lnSpc>
                <a:spcPct val="90000"/>
              </a:lnSpc>
              <a:spcBef>
                <a:spcPts val="0"/>
              </a:spcBef>
              <a:spcAft>
                <a:spcPts val="0"/>
              </a:spcAft>
              <a:buClr>
                <a:schemeClr val="dk2"/>
              </a:buClr>
              <a:buSzPts val="2400"/>
              <a:buFont typeface="Arial"/>
              <a:buNone/>
            </a:pPr>
            <a:r>
              <a:rPr lang="en-US" dirty="0"/>
              <a:t>Department of Computer Science</a:t>
            </a:r>
            <a:endParaRPr dirty="0"/>
          </a:p>
          <a:p>
            <a:pPr marL="0" marR="0" lvl="0" indent="0" algn="ctr" rtl="0">
              <a:lnSpc>
                <a:spcPct val="90000"/>
              </a:lnSpc>
              <a:spcBef>
                <a:spcPts val="0"/>
              </a:spcBef>
              <a:spcAft>
                <a:spcPts val="0"/>
              </a:spcAft>
              <a:buClr>
                <a:schemeClr val="dk2"/>
              </a:buClr>
              <a:buSzPts val="2400"/>
              <a:buFont typeface="Arial"/>
              <a:buNone/>
            </a:pPr>
            <a:r>
              <a:rPr lang="en-US" dirty="0"/>
              <a:t>University of North Carolina at Greensboro</a:t>
            </a:r>
            <a:endParaRPr dirty="0"/>
          </a:p>
        </p:txBody>
      </p:sp>
      <p:cxnSp>
        <p:nvCxnSpPr>
          <p:cNvPr id="95" name="Google Shape;95;p16">
            <a:extLst>
              <a:ext uri="{C183D7F6-B498-43B3-948B-1728B52AA6E4}">
                <adec:decorative xmlns:adec="http://schemas.microsoft.com/office/drawing/2017/decorative" val="1"/>
              </a:ext>
            </a:extLst>
          </p:cNvPr>
          <p:cNvCxnSpPr/>
          <p:nvPr/>
        </p:nvCxnSpPr>
        <p:spPr>
          <a:xfrm>
            <a:off x="1618175" y="4145625"/>
            <a:ext cx="9054000" cy="309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571" rIns="0" bIns="0" rtlCol="0">
            <a:spAutoFit/>
          </a:bodyPr>
          <a:lstStyle/>
          <a:p>
            <a:pPr marL="143510">
              <a:lnSpc>
                <a:spcPct val="100000"/>
              </a:lnSpc>
              <a:spcBef>
                <a:spcPts val="100"/>
              </a:spcBef>
            </a:pPr>
            <a:r>
              <a:rPr dirty="0"/>
              <a:t>What</a:t>
            </a:r>
            <a:r>
              <a:rPr spc="-35" dirty="0"/>
              <a:t> </a:t>
            </a:r>
            <a:r>
              <a:rPr dirty="0"/>
              <a:t>we</a:t>
            </a:r>
            <a:r>
              <a:rPr spc="-35" dirty="0"/>
              <a:t> </a:t>
            </a:r>
            <a:r>
              <a:rPr dirty="0"/>
              <a:t>will</a:t>
            </a:r>
            <a:r>
              <a:rPr spc="-30" dirty="0"/>
              <a:t> </a:t>
            </a:r>
            <a:r>
              <a:rPr dirty="0"/>
              <a:t>cover</a:t>
            </a:r>
            <a:r>
              <a:rPr spc="-35" dirty="0"/>
              <a:t> </a:t>
            </a:r>
            <a:r>
              <a:rPr dirty="0"/>
              <a:t>in</a:t>
            </a:r>
            <a:r>
              <a:rPr spc="-35" dirty="0"/>
              <a:t> </a:t>
            </a:r>
            <a:r>
              <a:rPr spc="-10" dirty="0"/>
              <a:t>Networking</a:t>
            </a:r>
          </a:p>
        </p:txBody>
      </p:sp>
      <p:sp>
        <p:nvSpPr>
          <p:cNvPr id="4" name="object 4"/>
          <p:cNvSpPr txBox="1"/>
          <p:nvPr/>
        </p:nvSpPr>
        <p:spPr>
          <a:xfrm>
            <a:off x="654862" y="1900855"/>
            <a:ext cx="5441138" cy="4167808"/>
          </a:xfrm>
          <a:prstGeom prst="rect">
            <a:avLst/>
          </a:prstGeom>
        </p:spPr>
        <p:txBody>
          <a:bodyPr vert="horz" wrap="square" lIns="0" tIns="127000" rIns="0" bIns="0" rtlCol="0">
            <a:spAutoFit/>
          </a:bodyPr>
          <a:lstStyle/>
          <a:p>
            <a:pPr marL="356235" marR="0" lvl="0" indent="-343535" defTabSz="914400" eaLnBrk="1" fontAlgn="auto" latinLnBrk="0" hangingPunct="1">
              <a:lnSpc>
                <a:spcPct val="100000"/>
              </a:lnSpc>
              <a:spcBef>
                <a:spcPts val="1000"/>
              </a:spcBef>
              <a:spcAft>
                <a:spcPts val="0"/>
              </a:spcAft>
              <a:buClrTx/>
              <a:buSzTx/>
              <a:buFontTx/>
              <a:buChar char="●"/>
              <a:tabLst>
                <a:tab pos="356235" algn="l"/>
              </a:tabLst>
              <a:defRPr/>
            </a:pPr>
            <a:r>
              <a:rPr kumimoji="0" sz="1500" i="0" u="none" strike="noStrike" kern="0" cap="none" spc="0" normalizeH="0" baseline="0" noProof="0" dirty="0">
                <a:ln>
                  <a:noFill/>
                </a:ln>
                <a:solidFill>
                  <a:srgbClr val="0F2044"/>
                </a:solidFill>
                <a:effectLst/>
                <a:uLnTx/>
                <a:uFillTx/>
                <a:latin typeface="Arial MT"/>
                <a:cs typeface="Arial MT"/>
              </a:rPr>
              <a:t>OSI</a:t>
            </a:r>
            <a:r>
              <a:rPr kumimoji="0" sz="1500" i="0" u="none" strike="noStrike" kern="0" cap="none" spc="-30"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Model</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7</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10" normalizeH="0" baseline="0" noProof="0" dirty="0">
                <a:ln>
                  <a:noFill/>
                </a:ln>
                <a:solidFill>
                  <a:srgbClr val="0F2044"/>
                </a:solidFill>
                <a:effectLst/>
                <a:uLnTx/>
                <a:uFillTx/>
                <a:latin typeface="Arial MT"/>
                <a:cs typeface="Arial MT"/>
              </a:rPr>
              <a:t>Layers</a:t>
            </a:r>
            <a:endParaRPr kumimoji="0" sz="1500" i="0" u="none" strike="noStrike" kern="0" cap="none" spc="0" normalizeH="0" baseline="0" noProof="0" dirty="0">
              <a:ln>
                <a:noFill/>
              </a:ln>
              <a:solidFill>
                <a:sysClr val="windowText" lastClr="000000"/>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i="0" u="none" strike="noStrike" kern="0" cap="none" spc="0" normalizeH="0" baseline="0" noProof="0" dirty="0">
                <a:ln>
                  <a:noFill/>
                </a:ln>
                <a:solidFill>
                  <a:schemeClr val="tx1"/>
                </a:solidFill>
                <a:effectLst/>
                <a:uLnTx/>
                <a:uFillTx/>
                <a:latin typeface="Arial MT"/>
                <a:cs typeface="Arial MT"/>
              </a:rPr>
              <a:t>TCP/IP</a:t>
            </a:r>
            <a:r>
              <a:rPr kumimoji="0" sz="1500" i="0" u="none" strike="noStrike" kern="0" cap="none" spc="-55" normalizeH="0" baseline="0" noProof="0" dirty="0">
                <a:ln>
                  <a:noFill/>
                </a:ln>
                <a:solidFill>
                  <a:schemeClr val="tx1"/>
                </a:solidFill>
                <a:effectLst/>
                <a:uLnTx/>
                <a:uFillTx/>
                <a:latin typeface="Arial MT"/>
                <a:cs typeface="Arial MT"/>
              </a:rPr>
              <a:t> </a:t>
            </a:r>
            <a:r>
              <a:rPr kumimoji="0" sz="1500" i="0" u="none" strike="noStrike" kern="0" cap="none" spc="-10" normalizeH="0" baseline="0" noProof="0" dirty="0">
                <a:ln>
                  <a:noFill/>
                </a:ln>
                <a:solidFill>
                  <a:schemeClr val="tx1"/>
                </a:solidFill>
                <a:effectLst/>
                <a:uLnTx/>
                <a:uFillTx/>
                <a:latin typeface="Arial MT"/>
                <a:cs typeface="Arial MT"/>
              </a:rPr>
              <a:t>Model</a:t>
            </a:r>
            <a:endParaRPr kumimoji="0" sz="1500" i="0" u="none" strike="noStrike" kern="0" cap="none" spc="0" normalizeH="0" baseline="0" noProof="0" dirty="0">
              <a:ln>
                <a:noFill/>
              </a:ln>
              <a:solidFill>
                <a:schemeClr val="tx1"/>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i="0" u="none" strike="noStrike" kern="0" cap="none" spc="0" normalizeH="0" baseline="0" noProof="0" dirty="0">
                <a:ln>
                  <a:noFill/>
                </a:ln>
                <a:solidFill>
                  <a:schemeClr val="tx1"/>
                </a:solidFill>
                <a:effectLst/>
                <a:uLnTx/>
                <a:uFillTx/>
                <a:latin typeface="Arial MT"/>
                <a:cs typeface="Arial MT"/>
              </a:rPr>
              <a:t>Socket</a:t>
            </a:r>
            <a:r>
              <a:rPr kumimoji="0" sz="1500" i="0" u="none" strike="noStrike" kern="0" cap="none" spc="-80" normalizeH="0" baseline="0" noProof="0" dirty="0">
                <a:ln>
                  <a:noFill/>
                </a:ln>
                <a:solidFill>
                  <a:schemeClr val="tx1"/>
                </a:solidFill>
                <a:effectLst/>
                <a:uLnTx/>
                <a:uFillTx/>
                <a:latin typeface="Arial MT"/>
                <a:cs typeface="Arial MT"/>
              </a:rPr>
              <a:t> </a:t>
            </a:r>
            <a:r>
              <a:rPr kumimoji="0" sz="1500" i="0" u="none" strike="noStrike" kern="0" cap="none" spc="-10" normalizeH="0" baseline="0" noProof="0" dirty="0">
                <a:ln>
                  <a:noFill/>
                </a:ln>
                <a:solidFill>
                  <a:schemeClr val="tx1"/>
                </a:solidFill>
                <a:effectLst/>
                <a:uLnTx/>
                <a:uFillTx/>
                <a:latin typeface="Arial MT"/>
                <a:cs typeface="Arial MT"/>
              </a:rPr>
              <a:t>Programming</a:t>
            </a:r>
            <a:endParaRPr kumimoji="0" sz="1500" i="0" u="none" strike="noStrike" kern="0" cap="none" spc="0" normalizeH="0" baseline="0" noProof="0" dirty="0">
              <a:ln>
                <a:noFill/>
              </a:ln>
              <a:solidFill>
                <a:schemeClr val="tx1"/>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i="0" u="none" strike="noStrike" kern="0" cap="none" spc="-55" normalizeH="0" baseline="0" noProof="0" dirty="0">
                <a:ln>
                  <a:noFill/>
                </a:ln>
                <a:solidFill>
                  <a:schemeClr val="tx1"/>
                </a:solidFill>
                <a:effectLst/>
                <a:uLnTx/>
                <a:uFillTx/>
                <a:latin typeface="Arial MT"/>
                <a:cs typeface="Arial MT"/>
              </a:rPr>
              <a:t>UDP,</a:t>
            </a:r>
            <a:r>
              <a:rPr kumimoji="0" sz="1500" i="0" u="none" strike="noStrike" kern="0" cap="none" spc="-35" normalizeH="0" baseline="0" noProof="0" dirty="0">
                <a:ln>
                  <a:noFill/>
                </a:ln>
                <a:solidFill>
                  <a:schemeClr val="tx1"/>
                </a:solidFill>
                <a:effectLst/>
                <a:uLnTx/>
                <a:uFillTx/>
                <a:latin typeface="Arial MT"/>
                <a:cs typeface="Arial MT"/>
              </a:rPr>
              <a:t> </a:t>
            </a:r>
            <a:r>
              <a:rPr kumimoji="0" sz="1500" i="0" u="none" strike="noStrike" kern="0" cap="none" spc="-25" normalizeH="0" baseline="0" noProof="0" dirty="0">
                <a:ln>
                  <a:noFill/>
                </a:ln>
                <a:solidFill>
                  <a:schemeClr val="tx1"/>
                </a:solidFill>
                <a:effectLst/>
                <a:uLnTx/>
                <a:uFillTx/>
                <a:latin typeface="Arial MT"/>
                <a:cs typeface="Arial MT"/>
              </a:rPr>
              <a:t>TCP</a:t>
            </a:r>
            <a:endParaRPr kumimoji="0" sz="1500" i="0" u="none" strike="noStrike" kern="0" cap="none" spc="0" normalizeH="0" baseline="0" noProof="0" dirty="0">
              <a:ln>
                <a:noFill/>
              </a:ln>
              <a:solidFill>
                <a:schemeClr val="tx1"/>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1" i="0" u="none" strike="noStrike" kern="0" cap="none" spc="0" normalizeH="0" baseline="0" noProof="0" dirty="0">
                <a:ln>
                  <a:noFill/>
                </a:ln>
                <a:solidFill>
                  <a:schemeClr val="tx1"/>
                </a:solidFill>
                <a:effectLst/>
                <a:uLnTx/>
                <a:uFillTx/>
                <a:latin typeface="Arial MT"/>
                <a:cs typeface="Arial MT"/>
              </a:rPr>
              <a:t>Socket</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10" normalizeH="0" baseline="0" noProof="0" dirty="0">
                <a:ln>
                  <a:noFill/>
                </a:ln>
                <a:solidFill>
                  <a:schemeClr val="tx1"/>
                </a:solidFill>
                <a:effectLst/>
                <a:uLnTx/>
                <a:uFillTx/>
                <a:latin typeface="Arial MT"/>
                <a:cs typeface="Arial MT"/>
              </a:rPr>
              <a:t>Functions</a:t>
            </a:r>
            <a:endParaRPr kumimoji="0" sz="1500" b="1" i="0" u="none" strike="noStrike" kern="0" cap="none" spc="0" normalizeH="0" baseline="0" noProof="0" dirty="0">
              <a:ln>
                <a:noFill/>
              </a:ln>
              <a:solidFill>
                <a:schemeClr val="tx1"/>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1" i="0" u="none" strike="noStrike" kern="0" cap="none" spc="0" normalizeH="0" baseline="0" noProof="0" dirty="0">
                <a:ln>
                  <a:noFill/>
                </a:ln>
                <a:solidFill>
                  <a:schemeClr val="tx1"/>
                </a:solidFill>
                <a:effectLst/>
                <a:uLnTx/>
                <a:uFillTx/>
                <a:latin typeface="Arial MT"/>
                <a:cs typeface="Arial MT"/>
              </a:rPr>
              <a:t>connect,</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0" normalizeH="0" baseline="0" noProof="0" dirty="0">
                <a:ln>
                  <a:noFill/>
                </a:ln>
                <a:solidFill>
                  <a:schemeClr val="tx1"/>
                </a:solidFill>
                <a:effectLst/>
                <a:uLnTx/>
                <a:uFillTx/>
                <a:latin typeface="Arial MT"/>
                <a:cs typeface="Arial MT"/>
              </a:rPr>
              <a:t>bind,</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0" normalizeH="0" baseline="0" noProof="0" dirty="0">
                <a:ln>
                  <a:noFill/>
                </a:ln>
                <a:solidFill>
                  <a:schemeClr val="tx1"/>
                </a:solidFill>
                <a:effectLst/>
                <a:uLnTx/>
                <a:uFillTx/>
                <a:latin typeface="Arial MT"/>
                <a:cs typeface="Arial MT"/>
              </a:rPr>
              <a:t>listen,</a:t>
            </a:r>
            <a:r>
              <a:rPr kumimoji="0" sz="1500" b="1" i="0" u="none" strike="noStrike" kern="0" cap="none" spc="-75" normalizeH="0" baseline="0" noProof="0" dirty="0">
                <a:ln>
                  <a:noFill/>
                </a:ln>
                <a:solidFill>
                  <a:schemeClr val="tx1"/>
                </a:solidFill>
                <a:effectLst/>
                <a:uLnTx/>
                <a:uFillTx/>
                <a:latin typeface="Arial MT"/>
                <a:cs typeface="Arial MT"/>
              </a:rPr>
              <a:t> </a:t>
            </a:r>
            <a:r>
              <a:rPr kumimoji="0" sz="1500" b="1" i="0" u="none" strike="noStrike" kern="0" cap="none" spc="0" normalizeH="0" baseline="0" noProof="0" dirty="0">
                <a:ln>
                  <a:noFill/>
                </a:ln>
                <a:solidFill>
                  <a:schemeClr val="tx1"/>
                </a:solidFill>
                <a:effectLst/>
                <a:uLnTx/>
                <a:uFillTx/>
                <a:latin typeface="Arial MT"/>
                <a:cs typeface="Arial MT"/>
              </a:rPr>
              <a:t>accept,</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0" normalizeH="0" baseline="0" noProof="0" dirty="0">
                <a:ln>
                  <a:noFill/>
                </a:ln>
                <a:solidFill>
                  <a:schemeClr val="tx1"/>
                </a:solidFill>
                <a:effectLst/>
                <a:uLnTx/>
                <a:uFillTx/>
                <a:latin typeface="Arial MT"/>
                <a:cs typeface="Arial MT"/>
              </a:rPr>
              <a:t>send,</a:t>
            </a:r>
            <a:r>
              <a:rPr kumimoji="0" sz="1500" b="1" i="0" u="none" strike="noStrike" kern="0" cap="none" spc="-75" normalizeH="0" baseline="0" noProof="0" dirty="0">
                <a:ln>
                  <a:noFill/>
                </a:ln>
                <a:solidFill>
                  <a:schemeClr val="tx1"/>
                </a:solidFill>
                <a:effectLst/>
                <a:uLnTx/>
                <a:uFillTx/>
                <a:latin typeface="Arial MT"/>
                <a:cs typeface="Arial MT"/>
              </a:rPr>
              <a:t> </a:t>
            </a:r>
            <a:r>
              <a:rPr kumimoji="0" sz="1500" b="1" i="0" u="none" strike="noStrike" kern="0" cap="none" spc="0" normalizeH="0" baseline="0" noProof="0" dirty="0">
                <a:ln>
                  <a:noFill/>
                </a:ln>
                <a:solidFill>
                  <a:schemeClr val="tx1"/>
                </a:solidFill>
                <a:effectLst/>
                <a:uLnTx/>
                <a:uFillTx/>
                <a:latin typeface="Arial MT"/>
                <a:cs typeface="Arial MT"/>
              </a:rPr>
              <a:t>receive,</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10" normalizeH="0" baseline="0" noProof="0" dirty="0">
                <a:ln>
                  <a:noFill/>
                </a:ln>
                <a:solidFill>
                  <a:schemeClr val="tx1"/>
                </a:solidFill>
                <a:effectLst/>
                <a:uLnTx/>
                <a:uFillTx/>
                <a:latin typeface="Arial MT"/>
                <a:cs typeface="Arial MT"/>
              </a:rPr>
              <a:t>close</a:t>
            </a:r>
            <a:endParaRPr kumimoji="0" sz="1500" b="1" i="0" u="none" strike="noStrike" kern="0" cap="none" spc="0" normalizeH="0" baseline="0" noProof="0" dirty="0">
              <a:ln>
                <a:noFill/>
              </a:ln>
              <a:solidFill>
                <a:schemeClr val="tx1"/>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Client-</a:t>
            </a:r>
            <a:r>
              <a:rPr kumimoji="0" sz="1500" b="0" i="0" u="none" strike="noStrike" kern="0" cap="none" spc="0" normalizeH="0" baseline="0" noProof="0" dirty="0">
                <a:ln>
                  <a:noFill/>
                </a:ln>
                <a:solidFill>
                  <a:schemeClr val="bg1">
                    <a:lumMod val="65000"/>
                  </a:schemeClr>
                </a:solidFill>
                <a:effectLst/>
                <a:uLnTx/>
                <a:uFillTx/>
                <a:latin typeface="Arial MT"/>
                <a:cs typeface="Arial MT"/>
              </a:rPr>
              <a:t>Server</a:t>
            </a:r>
            <a:r>
              <a:rPr kumimoji="0" sz="1500" b="0" i="0" u="none" strike="noStrike" kern="0" cap="none" spc="-2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Model</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Host</a:t>
            </a:r>
            <a:r>
              <a:rPr kumimoji="0" sz="1500" b="0" i="0" u="none" strike="noStrike" kern="0" cap="none" spc="-4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Byte</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Order</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to</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Network</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Byte</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Order</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Conversion</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Network</a:t>
            </a:r>
            <a:r>
              <a:rPr kumimoji="0" sz="1500" b="0" i="0" u="none" strike="noStrike" kern="0" cap="none" spc="-6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Security</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Malware,</a:t>
            </a:r>
            <a:r>
              <a:rPr kumimoji="0" sz="1500" b="0" i="0" u="none" strike="noStrike" kern="0" cap="none" spc="-70" normalizeH="0" baseline="0" noProof="0" dirty="0">
                <a:ln>
                  <a:noFill/>
                </a:ln>
                <a:solidFill>
                  <a:schemeClr val="bg1">
                    <a:lumMod val="65000"/>
                  </a:schemeClr>
                </a:solidFill>
                <a:effectLst/>
                <a:uLnTx/>
                <a:uFillTx/>
                <a:latin typeface="Arial MT"/>
                <a:cs typeface="Arial MT"/>
              </a:rPr>
              <a:t> </a:t>
            </a:r>
            <a:r>
              <a:rPr kumimoji="0" sz="1500" b="0" i="0" u="none" strike="noStrike" kern="0" cap="none" spc="-20" normalizeH="0" baseline="0" noProof="0" dirty="0">
                <a:ln>
                  <a:noFill/>
                </a:ln>
                <a:solidFill>
                  <a:schemeClr val="bg1">
                    <a:lumMod val="65000"/>
                  </a:schemeClr>
                </a:solidFill>
                <a:effectLst/>
                <a:uLnTx/>
                <a:uFillTx/>
                <a:latin typeface="Arial MT"/>
                <a:cs typeface="Arial MT"/>
              </a:rPr>
              <a:t>DoS</a:t>
            </a:r>
            <a:r>
              <a:rPr kumimoji="0" sz="1500" b="0" i="0" u="none" strike="noStrike" kern="0" cap="none" spc="-9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Attacks,</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MitM</a:t>
            </a:r>
            <a:r>
              <a:rPr kumimoji="0" sz="1500" b="0" i="0" u="none" strike="noStrike" kern="0" cap="none" spc="-9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Attacks,</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Phishing,</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20" normalizeH="0" baseline="0" noProof="0" dirty="0">
                <a:ln>
                  <a:noFill/>
                </a:ln>
                <a:solidFill>
                  <a:schemeClr val="bg1">
                    <a:lumMod val="65000"/>
                  </a:schemeClr>
                </a:solidFill>
                <a:effectLst/>
                <a:uLnTx/>
                <a:uFillTx/>
                <a:latin typeface="Arial MT"/>
                <a:cs typeface="Arial MT"/>
              </a:rPr>
              <a:t>etc.</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Virtualization</a:t>
            </a:r>
            <a:r>
              <a:rPr kumimoji="0" sz="1500" b="0" i="0" u="none" strike="noStrike" kern="0" cap="none" spc="-2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&amp;</a:t>
            </a:r>
            <a:r>
              <a:rPr kumimoji="0" sz="1500" b="0" i="0" u="none" strike="noStrike" kern="0" cap="none" spc="-2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Containers</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Dockers</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p:txBody>
      </p:sp>
      <p:pic>
        <p:nvPicPr>
          <p:cNvPr id="3" name="object 3">
            <a:extLst>
              <a:ext uri="{C183D7F6-B498-43B3-948B-1728B52AA6E4}">
                <adec:decorative xmlns:adec="http://schemas.microsoft.com/office/drawing/2017/decorative" val="1"/>
              </a:ext>
            </a:extLst>
          </p:cNvPr>
          <p:cNvPicPr/>
          <p:nvPr/>
        </p:nvPicPr>
        <p:blipFill>
          <a:blip r:embed="rId2"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a:extLs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pic>
        <p:nvPicPr>
          <p:cNvPr id="102" name="Google Shape;102;p17" descr="A flowchart showing the sequential socket API calls for a TCP client-server interaction, from connection establishment to data exchange and termination."/>
          <p:cNvPicPr preferRelativeResize="0"/>
          <p:nvPr/>
        </p:nvPicPr>
        <p:blipFill>
          <a:blip r:embed="rId3">
            <a:alphaModFix/>
          </a:blip>
          <a:stretch>
            <a:fillRect/>
          </a:stretch>
        </p:blipFill>
        <p:spPr>
          <a:xfrm>
            <a:off x="3618275" y="55650"/>
            <a:ext cx="4955450" cy="6420125"/>
          </a:xfrm>
          <a:prstGeom prst="rect">
            <a:avLst/>
          </a:prstGeom>
          <a:noFill/>
          <a:ln>
            <a:noFill/>
          </a:ln>
        </p:spPr>
      </p:pic>
      <p:sp>
        <p:nvSpPr>
          <p:cNvPr id="101" name="Google Shape;101;p17">
            <a:extLst>
              <a:ext uri="{C183D7F6-B498-43B3-948B-1728B52AA6E4}">
                <adec:decorative xmlns:adec="http://schemas.microsoft.com/office/drawing/2017/decorative" val="1"/>
              </a:ext>
            </a:extLst>
          </p:cNvPr>
          <p:cNvSpPr txBox="1"/>
          <p:nvPr/>
        </p:nvSpPr>
        <p:spPr>
          <a:xfrm>
            <a:off x="5186550" y="64757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rgbClr val="000000"/>
                </a:solidFill>
                <a:latin typeface="Arial"/>
                <a:ea typeface="Arial"/>
                <a:cs typeface="Arial"/>
                <a:sym typeface="Arial"/>
              </a:rPr>
              <a:t>Image credit - </a:t>
            </a:r>
            <a:r>
              <a:rPr lang="en-US" sz="800" dirty="0"/>
              <a:t>https://www.cs.dartmouth.edu/</a:t>
            </a:r>
            <a:endParaRPr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8">
            <a:extLs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11" name="Google Shape;111;p18"/>
          <p:cNvSpPr txBox="1"/>
          <p:nvPr/>
        </p:nvSpPr>
        <p:spPr>
          <a:xfrm>
            <a:off x="431400" y="1441526"/>
            <a:ext cx="2909100" cy="1208955"/>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600"/>
              </a:spcAft>
              <a:buNone/>
            </a:pPr>
            <a:r>
              <a:rPr lang="en-US" sz="1800" dirty="0">
                <a:solidFill>
                  <a:schemeClr val="dk2"/>
                </a:solidFill>
              </a:rPr>
              <a:t>The steps for establishing a TCP socket on the client side are the following:</a:t>
            </a:r>
            <a:endParaRPr sz="1800" dirty="0">
              <a:solidFill>
                <a:schemeClr val="dk2"/>
              </a:solidFill>
            </a:endParaRPr>
          </a:p>
        </p:txBody>
      </p:sp>
      <p:sp>
        <p:nvSpPr>
          <p:cNvPr id="110" name="Google Shape;110;p18"/>
          <p:cNvSpPr txBox="1"/>
          <p:nvPr/>
        </p:nvSpPr>
        <p:spPr>
          <a:xfrm>
            <a:off x="177000" y="2676825"/>
            <a:ext cx="3163500" cy="3257593"/>
          </a:xfrm>
          <a:prstGeom prst="rect">
            <a:avLst/>
          </a:prstGeom>
          <a:noFill/>
          <a:ln>
            <a:noFill/>
          </a:ln>
        </p:spPr>
        <p:txBody>
          <a:bodyPr spcFirstLastPara="1" wrap="square" lIns="91425" tIns="91425" rIns="91425" bIns="91425" anchor="t" anchorCtr="0">
            <a:spAutoFit/>
          </a:bodyPr>
          <a:lstStyle/>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Create a socket using the </a:t>
            </a:r>
            <a:r>
              <a:rPr lang="en-US" sz="1800" b="1" dirty="0">
                <a:solidFill>
                  <a:schemeClr val="dk2"/>
                </a:solidFill>
              </a:rPr>
              <a:t>socket()</a:t>
            </a:r>
            <a:r>
              <a:rPr lang="en-US" sz="1800" dirty="0">
                <a:solidFill>
                  <a:schemeClr val="dk2"/>
                </a:solidFill>
              </a:rPr>
              <a:t> function;</a:t>
            </a:r>
            <a:endParaRPr sz="18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Connect the socket to the address of the server using the </a:t>
            </a:r>
            <a:r>
              <a:rPr lang="en-US" sz="1800" b="1" dirty="0">
                <a:solidFill>
                  <a:schemeClr val="dk2"/>
                </a:solidFill>
              </a:rPr>
              <a:t>connect() </a:t>
            </a:r>
            <a:r>
              <a:rPr lang="en-US" sz="1800" dirty="0">
                <a:solidFill>
                  <a:schemeClr val="dk2"/>
                </a:solidFill>
              </a:rPr>
              <a:t>function;</a:t>
            </a:r>
            <a:endParaRPr sz="18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Send and receive data by means of the </a:t>
            </a:r>
            <a:r>
              <a:rPr lang="en-US" sz="1800" b="1" dirty="0">
                <a:solidFill>
                  <a:schemeClr val="dk2"/>
                </a:solidFill>
              </a:rPr>
              <a:t>read()</a:t>
            </a:r>
            <a:r>
              <a:rPr lang="en-US" sz="1800" dirty="0">
                <a:solidFill>
                  <a:schemeClr val="dk2"/>
                </a:solidFill>
              </a:rPr>
              <a:t> and </a:t>
            </a:r>
            <a:r>
              <a:rPr lang="en-US" sz="1800" b="1" dirty="0">
                <a:solidFill>
                  <a:schemeClr val="dk2"/>
                </a:solidFill>
              </a:rPr>
              <a:t>write()</a:t>
            </a:r>
            <a:r>
              <a:rPr lang="en-US" sz="1800" dirty="0">
                <a:solidFill>
                  <a:schemeClr val="dk2"/>
                </a:solidFill>
              </a:rPr>
              <a:t> functions.</a:t>
            </a:r>
            <a:endParaRPr sz="1800" dirty="0">
              <a:solidFill>
                <a:schemeClr val="dk2"/>
              </a:solidFill>
            </a:endParaRPr>
          </a:p>
        </p:txBody>
      </p:sp>
      <p:pic>
        <p:nvPicPr>
          <p:cNvPr id="109" name="Google Shape;109;p18">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3618275" y="55650"/>
            <a:ext cx="4955450" cy="6420125"/>
          </a:xfrm>
          <a:prstGeom prst="rect">
            <a:avLst/>
          </a:prstGeom>
          <a:noFill/>
          <a:ln>
            <a:noFill/>
          </a:ln>
        </p:spPr>
      </p:pic>
      <p:sp>
        <p:nvSpPr>
          <p:cNvPr id="108" name="Google Shape;108;p18">
            <a:extLst>
              <a:ext uri="{C183D7F6-B498-43B3-948B-1728B52AA6E4}">
                <adec:decorative xmlns:adec="http://schemas.microsoft.com/office/drawing/2017/decorative" val="1"/>
              </a:ext>
            </a:extLst>
          </p:cNvPr>
          <p:cNvSpPr txBox="1"/>
          <p:nvPr/>
        </p:nvSpPr>
        <p:spPr>
          <a:xfrm>
            <a:off x="5186550" y="64757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rgbClr val="000000"/>
                </a:solidFill>
                <a:latin typeface="Arial"/>
                <a:ea typeface="Arial"/>
                <a:cs typeface="Arial"/>
                <a:sym typeface="Arial"/>
              </a:rPr>
              <a:t>Image credit - </a:t>
            </a:r>
            <a:r>
              <a:rPr lang="en-US" sz="800" dirty="0"/>
              <a:t>https://www.cs.dartmouth.edu/</a:t>
            </a:r>
            <a:endParaRPr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a:extLs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 name="Google Shape;111;p18">
            <a:extLst>
              <a:ext uri="{FF2B5EF4-FFF2-40B4-BE49-F238E27FC236}">
                <a16:creationId xmlns:a16="http://schemas.microsoft.com/office/drawing/2014/main" id="{952B8DFA-9B3D-4189-754D-C582C0C88B5C}"/>
              </a:ext>
              <a:ext uri="{C183D7F6-B498-43B3-948B-1728B52AA6E4}">
                <adec:decorative xmlns:adec="http://schemas.microsoft.com/office/drawing/2017/decorative" val="1"/>
              </a:ext>
            </a:extLst>
          </p:cNvPr>
          <p:cNvSpPr txBox="1"/>
          <p:nvPr/>
        </p:nvSpPr>
        <p:spPr>
          <a:xfrm>
            <a:off x="431400" y="1441526"/>
            <a:ext cx="2909100" cy="1208955"/>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600"/>
              </a:spcAft>
              <a:buNone/>
            </a:pPr>
            <a:r>
              <a:rPr lang="en-US" sz="1800" dirty="0">
                <a:solidFill>
                  <a:schemeClr val="dk2"/>
                </a:solidFill>
              </a:rPr>
              <a:t>The steps for establishing a TCP socket on the client side are the following:</a:t>
            </a:r>
            <a:endParaRPr sz="1800" dirty="0">
              <a:solidFill>
                <a:schemeClr val="dk2"/>
              </a:solidFill>
            </a:endParaRPr>
          </a:p>
        </p:txBody>
      </p:sp>
      <p:sp>
        <p:nvSpPr>
          <p:cNvPr id="3" name="Google Shape;110;p18">
            <a:extLst>
              <a:ext uri="{FF2B5EF4-FFF2-40B4-BE49-F238E27FC236}">
                <a16:creationId xmlns:a16="http://schemas.microsoft.com/office/drawing/2014/main" id="{86BAFF74-B8D6-5B45-66DC-A8F611D4D707}"/>
              </a:ext>
              <a:ext uri="{C183D7F6-B498-43B3-948B-1728B52AA6E4}">
                <adec:decorative xmlns:adec="http://schemas.microsoft.com/office/drawing/2017/decorative" val="1"/>
              </a:ext>
            </a:extLst>
          </p:cNvPr>
          <p:cNvSpPr txBox="1"/>
          <p:nvPr/>
        </p:nvSpPr>
        <p:spPr>
          <a:xfrm>
            <a:off x="177000" y="2676825"/>
            <a:ext cx="3163500" cy="3257593"/>
          </a:xfrm>
          <a:prstGeom prst="rect">
            <a:avLst/>
          </a:prstGeom>
          <a:noFill/>
          <a:ln>
            <a:noFill/>
          </a:ln>
        </p:spPr>
        <p:txBody>
          <a:bodyPr spcFirstLastPara="1" wrap="square" lIns="91425" tIns="91425" rIns="91425" bIns="91425" anchor="t" anchorCtr="0">
            <a:spAutoFit/>
          </a:bodyPr>
          <a:lstStyle/>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Create a socket using the </a:t>
            </a:r>
            <a:r>
              <a:rPr lang="en-US" sz="1800" b="1" dirty="0">
                <a:solidFill>
                  <a:schemeClr val="dk2"/>
                </a:solidFill>
              </a:rPr>
              <a:t>socket()</a:t>
            </a:r>
            <a:r>
              <a:rPr lang="en-US" sz="1800" dirty="0">
                <a:solidFill>
                  <a:schemeClr val="dk2"/>
                </a:solidFill>
              </a:rPr>
              <a:t> function;</a:t>
            </a:r>
            <a:endParaRPr sz="18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Connect the socket to the address of the server using the </a:t>
            </a:r>
            <a:r>
              <a:rPr lang="en-US" sz="1800" b="1" dirty="0">
                <a:solidFill>
                  <a:schemeClr val="dk2"/>
                </a:solidFill>
              </a:rPr>
              <a:t>connect() </a:t>
            </a:r>
            <a:r>
              <a:rPr lang="en-US" sz="1800" dirty="0">
                <a:solidFill>
                  <a:schemeClr val="dk2"/>
                </a:solidFill>
              </a:rPr>
              <a:t>function;</a:t>
            </a:r>
            <a:endParaRPr sz="18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800" dirty="0">
                <a:solidFill>
                  <a:schemeClr val="dk2"/>
                </a:solidFill>
              </a:rPr>
              <a:t>Send and receive data by means of the </a:t>
            </a:r>
            <a:r>
              <a:rPr lang="en-US" sz="1800" b="1" dirty="0">
                <a:solidFill>
                  <a:schemeClr val="dk2"/>
                </a:solidFill>
              </a:rPr>
              <a:t>read()</a:t>
            </a:r>
            <a:r>
              <a:rPr lang="en-US" sz="1800" dirty="0">
                <a:solidFill>
                  <a:schemeClr val="dk2"/>
                </a:solidFill>
              </a:rPr>
              <a:t> and </a:t>
            </a:r>
            <a:r>
              <a:rPr lang="en-US" sz="1800" b="1" dirty="0">
                <a:solidFill>
                  <a:schemeClr val="dk2"/>
                </a:solidFill>
              </a:rPr>
              <a:t>write()</a:t>
            </a:r>
            <a:r>
              <a:rPr lang="en-US" sz="1800" dirty="0">
                <a:solidFill>
                  <a:schemeClr val="dk2"/>
                </a:solidFill>
              </a:rPr>
              <a:t> functions.</a:t>
            </a:r>
            <a:endParaRPr sz="1800" dirty="0">
              <a:solidFill>
                <a:schemeClr val="dk2"/>
              </a:solidFill>
            </a:endParaRPr>
          </a:p>
        </p:txBody>
      </p:sp>
      <p:pic>
        <p:nvPicPr>
          <p:cNvPr id="118" name="Google Shape;118;p19">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3618275" y="55650"/>
            <a:ext cx="4955450" cy="6420125"/>
          </a:xfrm>
          <a:prstGeom prst="rect">
            <a:avLst/>
          </a:prstGeom>
          <a:noFill/>
          <a:ln>
            <a:noFill/>
          </a:ln>
        </p:spPr>
      </p:pic>
      <p:sp>
        <p:nvSpPr>
          <p:cNvPr id="117" name="Google Shape;117;p19">
            <a:extLst>
              <a:ext uri="{C183D7F6-B498-43B3-948B-1728B52AA6E4}">
                <adec:decorative xmlns:adec="http://schemas.microsoft.com/office/drawing/2017/decorative" val="1"/>
              </a:ext>
            </a:extLst>
          </p:cNvPr>
          <p:cNvSpPr txBox="1"/>
          <p:nvPr/>
        </p:nvSpPr>
        <p:spPr>
          <a:xfrm>
            <a:off x="5186550" y="64757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rgbClr val="000000"/>
                </a:solidFill>
                <a:latin typeface="Arial"/>
                <a:ea typeface="Arial"/>
                <a:cs typeface="Arial"/>
                <a:sym typeface="Arial"/>
              </a:rPr>
              <a:t>Image credit - </a:t>
            </a:r>
            <a:r>
              <a:rPr lang="en-US" sz="800" dirty="0"/>
              <a:t>https://www.cs.dartmouth.edu/</a:t>
            </a:r>
            <a:endParaRPr sz="800" dirty="0"/>
          </a:p>
        </p:txBody>
      </p:sp>
      <p:sp>
        <p:nvSpPr>
          <p:cNvPr id="121" name="Google Shape;121;p19"/>
          <p:cNvSpPr txBox="1"/>
          <p:nvPr/>
        </p:nvSpPr>
        <p:spPr>
          <a:xfrm>
            <a:off x="8738004" y="493269"/>
            <a:ext cx="3159244" cy="1156248"/>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600"/>
              </a:spcAft>
              <a:buNone/>
            </a:pPr>
            <a:r>
              <a:rPr lang="en-US" sz="1700" dirty="0">
                <a:solidFill>
                  <a:schemeClr val="dk2"/>
                </a:solidFill>
              </a:rPr>
              <a:t>The steps involved in establishing a TCP socket on the server side are as follows:</a:t>
            </a:r>
            <a:endParaRPr sz="1700" dirty="0">
              <a:solidFill>
                <a:schemeClr val="dk2"/>
              </a:solidFill>
            </a:endParaRPr>
          </a:p>
        </p:txBody>
      </p:sp>
      <p:sp>
        <p:nvSpPr>
          <p:cNvPr id="122" name="Google Shape;122;p19"/>
          <p:cNvSpPr txBox="1"/>
          <p:nvPr/>
        </p:nvSpPr>
        <p:spPr>
          <a:xfrm>
            <a:off x="8610803" y="1610182"/>
            <a:ext cx="3286445" cy="5042697"/>
          </a:xfrm>
          <a:prstGeom prst="rect">
            <a:avLst/>
          </a:prstGeom>
          <a:noFill/>
          <a:ln>
            <a:noFill/>
          </a:ln>
        </p:spPr>
        <p:txBody>
          <a:bodyPr spcFirstLastPara="1" wrap="square" lIns="91425" tIns="91425" rIns="91425" bIns="91425" anchor="t" anchorCtr="0">
            <a:spAutoFit/>
          </a:bodyPr>
          <a:lstStyle/>
          <a:p>
            <a:pPr marL="457200" lvl="0" indent="-323850" algn="l" rtl="0">
              <a:lnSpc>
                <a:spcPct val="114000"/>
              </a:lnSpc>
              <a:spcBef>
                <a:spcPts val="0"/>
              </a:spcBef>
              <a:spcAft>
                <a:spcPts val="600"/>
              </a:spcAft>
              <a:buClr>
                <a:schemeClr val="dk2"/>
              </a:buClr>
              <a:buSzPts val="1500"/>
              <a:buChar char="●"/>
            </a:pPr>
            <a:r>
              <a:rPr lang="en-US" sz="1700" dirty="0">
                <a:solidFill>
                  <a:schemeClr val="dk2"/>
                </a:solidFill>
              </a:rPr>
              <a:t>Create a socket with the </a:t>
            </a:r>
            <a:r>
              <a:rPr lang="en-US" sz="1700" b="1" dirty="0">
                <a:solidFill>
                  <a:schemeClr val="dk2"/>
                </a:solidFill>
              </a:rPr>
              <a:t>socket() </a:t>
            </a:r>
            <a:r>
              <a:rPr lang="en-US" sz="1700" dirty="0">
                <a:solidFill>
                  <a:schemeClr val="dk2"/>
                </a:solidFill>
              </a:rPr>
              <a:t>function;</a:t>
            </a:r>
            <a:endParaRPr sz="17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700" dirty="0">
                <a:solidFill>
                  <a:schemeClr val="dk2"/>
                </a:solidFill>
              </a:rPr>
              <a:t>Bind the socket to an address using the </a:t>
            </a:r>
            <a:r>
              <a:rPr lang="en-US" sz="1700" b="1" dirty="0">
                <a:solidFill>
                  <a:schemeClr val="dk2"/>
                </a:solidFill>
              </a:rPr>
              <a:t>bind() </a:t>
            </a:r>
            <a:r>
              <a:rPr lang="en-US" sz="1700" dirty="0">
                <a:solidFill>
                  <a:schemeClr val="dk2"/>
                </a:solidFill>
              </a:rPr>
              <a:t>function;</a:t>
            </a:r>
            <a:endParaRPr sz="17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700" dirty="0">
                <a:solidFill>
                  <a:schemeClr val="dk2"/>
                </a:solidFill>
              </a:rPr>
              <a:t>Listen for connections with the </a:t>
            </a:r>
            <a:r>
              <a:rPr lang="en-US" sz="1700" b="1" dirty="0">
                <a:solidFill>
                  <a:schemeClr val="dk2"/>
                </a:solidFill>
              </a:rPr>
              <a:t>listen()</a:t>
            </a:r>
            <a:r>
              <a:rPr lang="en-US" sz="1700" dirty="0">
                <a:solidFill>
                  <a:schemeClr val="dk2"/>
                </a:solidFill>
              </a:rPr>
              <a:t> function;</a:t>
            </a:r>
            <a:endParaRPr sz="17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700" dirty="0">
                <a:solidFill>
                  <a:schemeClr val="dk2"/>
                </a:solidFill>
              </a:rPr>
              <a:t>Accept a connection with the </a:t>
            </a:r>
            <a:r>
              <a:rPr lang="en-US" sz="1700" b="1" dirty="0">
                <a:solidFill>
                  <a:schemeClr val="dk2"/>
                </a:solidFill>
              </a:rPr>
              <a:t>accept() </a:t>
            </a:r>
            <a:r>
              <a:rPr lang="en-US" sz="1700" dirty="0">
                <a:solidFill>
                  <a:schemeClr val="dk2"/>
                </a:solidFill>
              </a:rPr>
              <a:t>function system call. This call typically blocks until a client connects with the server.</a:t>
            </a:r>
            <a:endParaRPr sz="1700" dirty="0">
              <a:solidFill>
                <a:schemeClr val="dk2"/>
              </a:solidFill>
            </a:endParaRPr>
          </a:p>
          <a:p>
            <a:pPr marL="457200" lvl="0" indent="-323850" algn="l" rtl="0">
              <a:lnSpc>
                <a:spcPct val="114000"/>
              </a:lnSpc>
              <a:spcBef>
                <a:spcPts val="0"/>
              </a:spcBef>
              <a:spcAft>
                <a:spcPts val="600"/>
              </a:spcAft>
              <a:buClr>
                <a:schemeClr val="dk2"/>
              </a:buClr>
              <a:buSzPts val="1500"/>
              <a:buChar char="●"/>
            </a:pPr>
            <a:r>
              <a:rPr lang="en-US" sz="1700" dirty="0">
                <a:solidFill>
                  <a:schemeClr val="dk2"/>
                </a:solidFill>
              </a:rPr>
              <a:t>Send and receive data by means of </a:t>
            </a:r>
            <a:r>
              <a:rPr lang="en-US" sz="1700" b="1" dirty="0">
                <a:solidFill>
                  <a:schemeClr val="dk2"/>
                </a:solidFill>
              </a:rPr>
              <a:t>send() </a:t>
            </a:r>
            <a:r>
              <a:rPr lang="en-US" sz="1700" dirty="0">
                <a:solidFill>
                  <a:schemeClr val="dk2"/>
                </a:solidFill>
              </a:rPr>
              <a:t>and </a:t>
            </a:r>
            <a:r>
              <a:rPr lang="en-US" sz="1700" b="1" dirty="0">
                <a:solidFill>
                  <a:schemeClr val="dk2"/>
                </a:solidFill>
              </a:rPr>
              <a:t>receive()</a:t>
            </a:r>
            <a:r>
              <a:rPr lang="en-US" sz="1700" dirty="0">
                <a:solidFill>
                  <a:schemeClr val="dk2"/>
                </a:solidFill>
              </a:rPr>
              <a:t>.</a:t>
            </a:r>
            <a:endParaRPr sz="1700"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28" name="Google Shape;128;p20" descr="C code snippet showing the socket() function prototype from &lt;sys/socket.h&gt;."/>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29" name="Google Shape;129;p20"/>
          <p:cNvSpPr txBox="1"/>
          <p:nvPr/>
        </p:nvSpPr>
        <p:spPr>
          <a:xfrm>
            <a:off x="508825" y="3565425"/>
            <a:ext cx="9236100" cy="523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highlight>
                  <a:srgbClr val="00FF00"/>
                </a:highlight>
              </a:rPr>
              <a:t>The socket() function is used to create a new socket.</a:t>
            </a:r>
            <a:endParaRPr sz="2200" dirty="0">
              <a:solidFill>
                <a:schemeClr val="dk2"/>
              </a:solidFill>
              <a:highlight>
                <a:srgbClr val="00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35" name="Google Shape;135;p21">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36" name="Google Shape;136;p21"/>
          <p:cNvSpPr txBox="1"/>
          <p:nvPr/>
        </p:nvSpPr>
        <p:spPr>
          <a:xfrm>
            <a:off x="641550" y="3805075"/>
            <a:ext cx="9103500" cy="1200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dirty="0">
                <a:solidFill>
                  <a:schemeClr val="dk2"/>
                </a:solidFill>
              </a:rPr>
              <a:t>Client-side socket():</a:t>
            </a:r>
            <a:r>
              <a:rPr lang="en-US" sz="2200" dirty="0">
                <a:solidFill>
                  <a:schemeClr val="dk2"/>
                </a:solidFill>
              </a:rPr>
              <a:t> In the client application, the socket() function is used to create a new socket that will be used </a:t>
            </a:r>
            <a:r>
              <a:rPr lang="en-US" sz="2200" u="sng" dirty="0">
                <a:solidFill>
                  <a:schemeClr val="dk2"/>
                </a:solidFill>
              </a:rPr>
              <a:t>to establish a connection to a server</a:t>
            </a:r>
            <a:r>
              <a:rPr lang="en-US" sz="2200" dirty="0">
                <a:solidFill>
                  <a:schemeClr val="dk2"/>
                </a:solidFill>
              </a:rPr>
              <a:t>.</a:t>
            </a:r>
            <a:endParaRPr sz="2200"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42" name="Google Shape;142;p22">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43" name="Google Shape;143;p22"/>
          <p:cNvSpPr txBox="1"/>
          <p:nvPr/>
        </p:nvSpPr>
        <p:spPr>
          <a:xfrm>
            <a:off x="641550" y="3805075"/>
            <a:ext cx="9103500" cy="1200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dirty="0">
                <a:solidFill>
                  <a:schemeClr val="dk2"/>
                </a:solidFill>
              </a:rPr>
              <a:t>Server-side socket(): </a:t>
            </a:r>
            <a:r>
              <a:rPr lang="en-US" sz="2200" dirty="0">
                <a:solidFill>
                  <a:schemeClr val="dk2"/>
                </a:solidFill>
              </a:rPr>
              <a:t>In the server application, the socket() function is used to create a new socket that will be used </a:t>
            </a:r>
            <a:r>
              <a:rPr lang="en-US" sz="2200" u="sng" dirty="0">
                <a:solidFill>
                  <a:schemeClr val="dk2"/>
                </a:solidFill>
              </a:rPr>
              <a:t>to listen for incoming connection requests from clients</a:t>
            </a:r>
            <a:r>
              <a:rPr lang="en-US" sz="2200" dirty="0">
                <a:solidFill>
                  <a:schemeClr val="dk2"/>
                </a:solidFill>
              </a:rPr>
              <a:t>.</a:t>
            </a:r>
            <a:endParaRPr sz="2200" dirty="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49" name="Google Shape;149;p2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50" name="Google Shape;150;p23"/>
          <p:cNvSpPr txBox="1"/>
          <p:nvPr/>
        </p:nvSpPr>
        <p:spPr>
          <a:xfrm>
            <a:off x="508825" y="3565425"/>
            <a:ext cx="9236100" cy="2893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a:solidFill>
                  <a:schemeClr val="accent4"/>
                </a:solidFill>
              </a:rPr>
              <a:t>family: </a:t>
            </a:r>
            <a:r>
              <a:rPr lang="en-US" sz="2200" dirty="0">
                <a:solidFill>
                  <a:schemeClr val="dk1"/>
                </a:solidFill>
              </a:rPr>
              <a:t>This parameter specifies </a:t>
            </a:r>
            <a:r>
              <a:rPr lang="en-US" sz="2200" u="sng" dirty="0">
                <a:solidFill>
                  <a:schemeClr val="dk1"/>
                </a:solidFill>
              </a:rPr>
              <a:t>the address family or domain of the socket</a:t>
            </a:r>
            <a:r>
              <a:rPr lang="en-US" sz="2200" dirty="0">
                <a:solidFill>
                  <a:schemeClr val="dk1"/>
                </a:solidFill>
              </a:rPr>
              <a:t>. An address family is a set of protocols that can communicate with each other.</a:t>
            </a:r>
            <a:endParaRPr sz="2200" dirty="0">
              <a:solidFill>
                <a:schemeClr val="dk1"/>
              </a:solidFill>
            </a:endParaRPr>
          </a:p>
          <a:p>
            <a:pPr marL="0" lvl="0" indent="0" algn="l" rtl="0">
              <a:lnSpc>
                <a:spcPct val="100000"/>
              </a:lnSpc>
              <a:spcBef>
                <a:spcPts val="0"/>
              </a:spcBef>
              <a:spcAft>
                <a:spcPts val="0"/>
              </a:spcAft>
              <a:buNone/>
            </a:pP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AF_INET</a:t>
            </a:r>
            <a:r>
              <a:rPr lang="en-US" sz="2200" dirty="0">
                <a:solidFill>
                  <a:schemeClr val="dk1"/>
                </a:solidFill>
              </a:rPr>
              <a:t>: IPv4 address family.</a:t>
            </a: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AF_INET6</a:t>
            </a:r>
            <a:r>
              <a:rPr lang="en-US" sz="2200" dirty="0">
                <a:solidFill>
                  <a:schemeClr val="dk1"/>
                </a:solidFill>
              </a:rPr>
              <a:t>: IPv6 address family.</a:t>
            </a: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AF_UNIX</a:t>
            </a:r>
            <a:r>
              <a:rPr lang="en-US" sz="2200" dirty="0">
                <a:solidFill>
                  <a:schemeClr val="dk1"/>
                </a:solidFill>
              </a:rPr>
              <a:t> or </a:t>
            </a:r>
            <a:r>
              <a:rPr lang="en-US" sz="2200" b="1" dirty="0">
                <a:solidFill>
                  <a:schemeClr val="dk1"/>
                </a:solidFill>
              </a:rPr>
              <a:t>AF_LOCAL</a:t>
            </a:r>
            <a:r>
              <a:rPr lang="en-US" sz="2200" dirty="0">
                <a:solidFill>
                  <a:schemeClr val="dk1"/>
                </a:solidFill>
              </a:rPr>
              <a:t>: Local communication within the same system using Unix domain sockets.</a:t>
            </a:r>
            <a:endParaRPr sz="22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56" name="Google Shape;156;p24">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57" name="Google Shape;157;p24"/>
          <p:cNvSpPr txBox="1"/>
          <p:nvPr/>
        </p:nvSpPr>
        <p:spPr>
          <a:xfrm>
            <a:off x="508825" y="3565425"/>
            <a:ext cx="9192000" cy="27705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100" b="1" dirty="0">
                <a:solidFill>
                  <a:schemeClr val="accent4"/>
                </a:solidFill>
              </a:rPr>
              <a:t>type: </a:t>
            </a:r>
            <a:r>
              <a:rPr lang="en-US" sz="2100" dirty="0">
                <a:solidFill>
                  <a:schemeClr val="dk1"/>
                </a:solidFill>
              </a:rPr>
              <a:t>This parameter determines the communication semantics for the socket. It specifies whether the socket will be used for </a:t>
            </a:r>
            <a:r>
              <a:rPr lang="en-US" sz="2100" u="sng" dirty="0">
                <a:solidFill>
                  <a:schemeClr val="dk1"/>
                </a:solidFill>
              </a:rPr>
              <a:t>connection-oriented </a:t>
            </a:r>
            <a:r>
              <a:rPr lang="en-US" sz="2100" dirty="0">
                <a:solidFill>
                  <a:schemeClr val="dk1"/>
                </a:solidFill>
              </a:rPr>
              <a:t>(stream-based) or </a:t>
            </a:r>
            <a:r>
              <a:rPr lang="en-US" sz="2100" u="sng" dirty="0">
                <a:solidFill>
                  <a:schemeClr val="dk1"/>
                </a:solidFill>
              </a:rPr>
              <a:t>connectionless</a:t>
            </a:r>
            <a:r>
              <a:rPr lang="en-US" sz="2100" dirty="0">
                <a:solidFill>
                  <a:schemeClr val="dk1"/>
                </a:solidFill>
              </a:rPr>
              <a:t> (datagram-based) communication.</a:t>
            </a:r>
            <a:br>
              <a:rPr lang="en-US" sz="2100" dirty="0">
                <a:solidFill>
                  <a:schemeClr val="dk1"/>
                </a:solidFill>
              </a:rPr>
            </a:br>
            <a:endParaRPr sz="2100" dirty="0">
              <a:solidFill>
                <a:schemeClr val="dk1"/>
              </a:solidFill>
            </a:endParaRPr>
          </a:p>
          <a:p>
            <a:pPr marL="457200" lvl="0" indent="-361950" algn="l" rtl="0">
              <a:lnSpc>
                <a:spcPct val="100000"/>
              </a:lnSpc>
              <a:spcBef>
                <a:spcPts val="0"/>
              </a:spcBef>
              <a:spcAft>
                <a:spcPts val="0"/>
              </a:spcAft>
              <a:buClr>
                <a:schemeClr val="dk1"/>
              </a:buClr>
              <a:buSzPts val="2100"/>
              <a:buChar char="●"/>
            </a:pPr>
            <a:r>
              <a:rPr lang="en-US" sz="2100" b="1" dirty="0">
                <a:solidFill>
                  <a:schemeClr val="dk1"/>
                </a:solidFill>
              </a:rPr>
              <a:t>SOCK_STREAM</a:t>
            </a:r>
            <a:r>
              <a:rPr lang="en-US" sz="2100" dirty="0">
                <a:solidFill>
                  <a:schemeClr val="dk1"/>
                </a:solidFill>
              </a:rPr>
              <a:t>: Provides a reliable, two-way, connection-based byte stream (e.g., TCP sockets).</a:t>
            </a:r>
            <a:endParaRPr sz="2100" dirty="0">
              <a:solidFill>
                <a:schemeClr val="dk1"/>
              </a:solidFill>
            </a:endParaRPr>
          </a:p>
          <a:p>
            <a:pPr marL="457200" lvl="0" indent="-361950" algn="l" rtl="0">
              <a:lnSpc>
                <a:spcPct val="100000"/>
              </a:lnSpc>
              <a:spcBef>
                <a:spcPts val="0"/>
              </a:spcBef>
              <a:spcAft>
                <a:spcPts val="0"/>
              </a:spcAft>
              <a:buClr>
                <a:schemeClr val="dk1"/>
              </a:buClr>
              <a:buSzPts val="2100"/>
              <a:buChar char="●"/>
            </a:pPr>
            <a:r>
              <a:rPr lang="en-US" sz="2100" b="1" dirty="0">
                <a:solidFill>
                  <a:schemeClr val="dk1"/>
                </a:solidFill>
              </a:rPr>
              <a:t>SOCK_DGRAM</a:t>
            </a:r>
            <a:r>
              <a:rPr lang="en-US" sz="2100" dirty="0">
                <a:solidFill>
                  <a:schemeClr val="dk1"/>
                </a:solidFill>
              </a:rPr>
              <a:t>: Provides an unreliable, connectionless datagram service (e.g., UDP sockets).</a:t>
            </a:r>
            <a:endParaRPr sz="2100" dirty="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socket()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63" name="Google Shape;163;p25">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5" y="1936225"/>
            <a:ext cx="9236175" cy="1481250"/>
          </a:xfrm>
          <a:prstGeom prst="rect">
            <a:avLst/>
          </a:prstGeom>
          <a:noFill/>
          <a:ln>
            <a:noFill/>
          </a:ln>
        </p:spPr>
      </p:pic>
      <p:sp>
        <p:nvSpPr>
          <p:cNvPr id="164" name="Google Shape;164;p25"/>
          <p:cNvSpPr txBox="1"/>
          <p:nvPr/>
        </p:nvSpPr>
        <p:spPr>
          <a:xfrm>
            <a:off x="508825" y="3565425"/>
            <a:ext cx="9236100" cy="2893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a:solidFill>
                  <a:schemeClr val="accent4"/>
                </a:solidFill>
              </a:rPr>
              <a:t>protocol: </a:t>
            </a:r>
            <a:r>
              <a:rPr lang="en-US" sz="2200" dirty="0">
                <a:solidFill>
                  <a:schemeClr val="dk1"/>
                </a:solidFill>
              </a:rPr>
              <a:t>This parameter </a:t>
            </a:r>
            <a:r>
              <a:rPr lang="en-US" sz="2200" u="sng" dirty="0">
                <a:solidFill>
                  <a:schemeClr val="dk1"/>
                </a:solidFill>
              </a:rPr>
              <a:t>specifies the specific protocol to be used with the socket</a:t>
            </a:r>
            <a:r>
              <a:rPr lang="en-US" sz="2200" dirty="0">
                <a:solidFill>
                  <a:schemeClr val="dk1"/>
                </a:solidFill>
              </a:rPr>
              <a:t>. Typically, this argument is </a:t>
            </a:r>
            <a:r>
              <a:rPr lang="en-US" sz="2200" u="sng" dirty="0">
                <a:solidFill>
                  <a:schemeClr val="dk1"/>
                </a:solidFill>
              </a:rPr>
              <a:t>set to 0, indicating that the system should choose the default protocol based on the specified address family and socket type</a:t>
            </a:r>
            <a:r>
              <a:rPr lang="en-US" sz="2200" dirty="0">
                <a:solidFill>
                  <a:schemeClr val="dk1"/>
                </a:solidFill>
              </a:rPr>
              <a:t>.</a:t>
            </a:r>
            <a:br>
              <a:rPr lang="en-US" sz="2200" dirty="0">
                <a:solidFill>
                  <a:schemeClr val="dk1"/>
                </a:solidFill>
              </a:rPr>
            </a:b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IPPROTO_TCP</a:t>
            </a:r>
            <a:r>
              <a:rPr lang="en-US" sz="2200" dirty="0">
                <a:solidFill>
                  <a:schemeClr val="dk1"/>
                </a:solidFill>
              </a:rPr>
              <a:t>: Transmission Control Protocol (TCP).</a:t>
            </a: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IPPROTO_UDP</a:t>
            </a:r>
            <a:r>
              <a:rPr lang="en-US" sz="2200" dirty="0">
                <a:solidFill>
                  <a:schemeClr val="dk1"/>
                </a:solidFill>
              </a:rPr>
              <a:t>: User Datagram Protocol (UDP).</a:t>
            </a: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b="1" dirty="0">
                <a:solidFill>
                  <a:schemeClr val="dk1"/>
                </a:solidFill>
              </a:rPr>
              <a:t>IPPROTO_ICMP</a:t>
            </a:r>
            <a:r>
              <a:rPr lang="en-US" sz="2200" dirty="0">
                <a:solidFill>
                  <a:schemeClr val="dk1"/>
                </a:solidFill>
              </a:rPr>
              <a:t>: Internet Control Message Protocol (ICMP).</a:t>
            </a:r>
            <a:endParaRPr sz="2200"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71" name="Google Shape;171;p26" descr="C code snippet showing the connect() function prototype from &lt;sys/socket.h&gt;."/>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170" name="Google Shape;170;p26"/>
          <p:cNvSpPr txBox="1"/>
          <p:nvPr/>
        </p:nvSpPr>
        <p:spPr>
          <a:xfrm>
            <a:off x="508825" y="3858450"/>
            <a:ext cx="9144000" cy="153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dirty="0">
                <a:solidFill>
                  <a:schemeClr val="dk2"/>
                </a:solidFill>
                <a:highlight>
                  <a:srgbClr val="00FF00"/>
                </a:highlight>
              </a:rPr>
              <a:t>The connect() function in socket programming is used by a client to establish a connection to a remote server. Its primary purpose is to initiate a connection-oriented communication session between the client and the server.</a:t>
            </a:r>
            <a:endParaRPr sz="2200" dirty="0">
              <a:solidFill>
                <a:schemeClr val="dk2"/>
              </a:solidFill>
              <a:highlight>
                <a:srgbClr val="00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78" name="Google Shape;178;p27">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177" name="Google Shape;177;p27"/>
          <p:cNvSpPr txBox="1"/>
          <p:nvPr/>
        </p:nvSpPr>
        <p:spPr>
          <a:xfrm>
            <a:off x="508825" y="3858450"/>
            <a:ext cx="91440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sockfd</a:t>
            </a:r>
            <a:r>
              <a:rPr lang="en-US" sz="2200" b="1" dirty="0">
                <a:solidFill>
                  <a:schemeClr val="accent4"/>
                </a:solidFill>
              </a:rPr>
              <a:t>: </a:t>
            </a:r>
            <a:r>
              <a:rPr lang="en-US" sz="2200" dirty="0">
                <a:solidFill>
                  <a:schemeClr val="dk1"/>
                </a:solidFill>
              </a:rPr>
              <a:t>This parameter is the file descriptor of the socket that you want to establish a connection with. It represents the local socket that you want to connect from. The socket must have been previously created with the socket() function.</a:t>
            </a:r>
            <a:endParaRPr sz="2200"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85" name="Google Shape;185;p28">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184" name="Google Shape;184;p28"/>
          <p:cNvSpPr txBox="1"/>
          <p:nvPr/>
        </p:nvSpPr>
        <p:spPr>
          <a:xfrm>
            <a:off x="508825" y="3858450"/>
            <a:ext cx="10253700" cy="270840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rPr>
              <a:t>For a </a:t>
            </a:r>
            <a:r>
              <a:rPr lang="en-US" sz="2200" b="1" dirty="0">
                <a:solidFill>
                  <a:schemeClr val="dk1"/>
                </a:solidFill>
              </a:rPr>
              <a:t>client application:</a:t>
            </a:r>
            <a:endParaRPr sz="2200" b="1" dirty="0">
              <a:solidFill>
                <a:schemeClr val="dk1"/>
              </a:solidFill>
            </a:endParaRPr>
          </a:p>
          <a:p>
            <a:pPr marL="0" lvl="0" indent="0" algn="l" rtl="0">
              <a:lnSpc>
                <a:spcPct val="100000"/>
              </a:lnSpc>
              <a:spcBef>
                <a:spcPts val="0"/>
              </a:spcBef>
              <a:spcAft>
                <a:spcPts val="0"/>
              </a:spcAft>
              <a:buNone/>
            </a:pPr>
            <a:endParaRPr sz="2200" dirty="0">
              <a:solidFill>
                <a:schemeClr val="dk1"/>
              </a:solidFill>
            </a:endParaRPr>
          </a:p>
          <a:p>
            <a:pPr marL="457200" lvl="0" indent="-368300" algn="l" rtl="0">
              <a:lnSpc>
                <a:spcPct val="100000"/>
              </a:lnSpc>
              <a:spcBef>
                <a:spcPts val="0"/>
              </a:spcBef>
              <a:spcAft>
                <a:spcPts val="1200"/>
              </a:spcAft>
              <a:buClr>
                <a:schemeClr val="dk1"/>
              </a:buClr>
              <a:buSzPts val="2200"/>
              <a:buChar char="●"/>
            </a:pPr>
            <a:r>
              <a:rPr lang="en-US" sz="2200" dirty="0">
                <a:solidFill>
                  <a:schemeClr val="dk1"/>
                </a:solidFill>
              </a:rPr>
              <a:t>The client creates a socket using the socket() function, which returns a socket file descriptor (</a:t>
            </a:r>
            <a:r>
              <a:rPr lang="en-US" sz="2200" dirty="0" err="1">
                <a:solidFill>
                  <a:schemeClr val="dk1"/>
                </a:solidFill>
              </a:rPr>
              <a:t>sockfd</a:t>
            </a:r>
            <a:r>
              <a:rPr lang="en-US" sz="2200" dirty="0">
                <a:solidFill>
                  <a:schemeClr val="dk1"/>
                </a:solidFill>
              </a:rPr>
              <a:t>). This socket represents the client's endpoint.</a:t>
            </a:r>
            <a:endParaRPr sz="2200" dirty="0">
              <a:solidFill>
                <a:schemeClr val="dk1"/>
              </a:solidFill>
            </a:endParaRPr>
          </a:p>
          <a:p>
            <a:pPr marL="457200" lvl="0" indent="-368300" algn="l" rtl="0">
              <a:lnSpc>
                <a:spcPct val="100000"/>
              </a:lnSpc>
              <a:spcBef>
                <a:spcPts val="0"/>
              </a:spcBef>
              <a:spcAft>
                <a:spcPts val="0"/>
              </a:spcAft>
              <a:buClr>
                <a:schemeClr val="dk1"/>
              </a:buClr>
              <a:buSzPts val="2200"/>
              <a:buChar char="●"/>
            </a:pPr>
            <a:r>
              <a:rPr lang="en-US" sz="2200" dirty="0">
                <a:solidFill>
                  <a:schemeClr val="dk1"/>
                </a:solidFill>
              </a:rPr>
              <a:t>The client then uses the connect() function to establish a connection to a remote server. The </a:t>
            </a:r>
            <a:r>
              <a:rPr lang="en-US" sz="2200" dirty="0" err="1">
                <a:solidFill>
                  <a:schemeClr val="dk1"/>
                </a:solidFill>
              </a:rPr>
              <a:t>sockfd</a:t>
            </a:r>
            <a:r>
              <a:rPr lang="en-US" sz="2200" dirty="0">
                <a:solidFill>
                  <a:schemeClr val="dk1"/>
                </a:solidFill>
              </a:rPr>
              <a:t> passed to connect() is the file descriptor of the client's socket.</a:t>
            </a:r>
            <a:endParaRPr sz="2200"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92" name="Google Shape;192;p29">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191" name="Google Shape;191;p29">
            <a:extLst>
              <a:ext uri="{C183D7F6-B498-43B3-948B-1728B52AA6E4}">
                <adec:decorative xmlns:adec="http://schemas.microsoft.com/office/drawing/2017/decorative" val="1"/>
              </a:ext>
            </a:extLst>
          </p:cNvPr>
          <p:cNvSpPr txBox="1"/>
          <p:nvPr/>
        </p:nvSpPr>
        <p:spPr>
          <a:xfrm>
            <a:off x="508825" y="3858450"/>
            <a:ext cx="10253700" cy="2677626"/>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1900" dirty="0">
                <a:solidFill>
                  <a:schemeClr val="dk1"/>
                </a:solidFill>
              </a:rPr>
              <a:t>For a </a:t>
            </a:r>
            <a:r>
              <a:rPr lang="en-US" sz="1900" b="1" dirty="0">
                <a:solidFill>
                  <a:schemeClr val="dk1"/>
                </a:solidFill>
              </a:rPr>
              <a:t>server application</a:t>
            </a:r>
            <a:r>
              <a:rPr lang="en-US" sz="1900" dirty="0">
                <a:solidFill>
                  <a:schemeClr val="dk1"/>
                </a:solidFill>
              </a:rPr>
              <a:t>:</a:t>
            </a:r>
            <a:br>
              <a:rPr lang="en-US" sz="1900" dirty="0">
                <a:solidFill>
                  <a:schemeClr val="dk1"/>
                </a:solidFill>
              </a:rPr>
            </a:br>
            <a:endParaRPr sz="1900" dirty="0">
              <a:solidFill>
                <a:schemeClr val="dk1"/>
              </a:solidFill>
            </a:endParaRPr>
          </a:p>
          <a:p>
            <a:pPr marL="457200" lvl="0" indent="-349250" algn="l" rtl="0">
              <a:lnSpc>
                <a:spcPct val="100000"/>
              </a:lnSpc>
              <a:spcBef>
                <a:spcPts val="0"/>
              </a:spcBef>
              <a:spcAft>
                <a:spcPts val="1200"/>
              </a:spcAft>
              <a:buClr>
                <a:schemeClr val="dk1"/>
              </a:buClr>
              <a:buSzPts val="1900"/>
              <a:buChar char="●"/>
            </a:pPr>
            <a:r>
              <a:rPr lang="en-US" sz="1900" dirty="0">
                <a:solidFill>
                  <a:schemeClr val="dk1"/>
                </a:solidFill>
              </a:rPr>
              <a:t>The server creates a listening socket using the socket() function, which returns a socket file descriptor (</a:t>
            </a:r>
            <a:r>
              <a:rPr lang="en-US" sz="1900" dirty="0" err="1">
                <a:solidFill>
                  <a:schemeClr val="dk1"/>
                </a:solidFill>
              </a:rPr>
              <a:t>sockfd</a:t>
            </a:r>
            <a:r>
              <a:rPr lang="en-US" sz="1900" dirty="0">
                <a:solidFill>
                  <a:schemeClr val="dk1"/>
                </a:solidFill>
              </a:rPr>
              <a:t>). This socket is used to accept incoming connections from clients.</a:t>
            </a:r>
            <a:endParaRPr sz="1900" dirty="0">
              <a:solidFill>
                <a:schemeClr val="dk1"/>
              </a:solidFill>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rPr>
              <a:t>After a connection is accepted using accept() (typically in a separate thread or process), a new socket is created to communicate with the specific client. This new socket is returned by accept() and is used for communication with that client. The original listening socket (</a:t>
            </a:r>
            <a:r>
              <a:rPr lang="en-US" sz="1900" dirty="0" err="1">
                <a:solidFill>
                  <a:schemeClr val="dk1"/>
                </a:solidFill>
              </a:rPr>
              <a:t>sockfd</a:t>
            </a:r>
            <a:r>
              <a:rPr lang="en-US" sz="1900" dirty="0">
                <a:solidFill>
                  <a:schemeClr val="dk1"/>
                </a:solidFill>
              </a:rPr>
              <a:t>) remains open to accept more connections from other clients.</a:t>
            </a:r>
            <a:endParaRPr sz="1900"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99" name="Google Shape;199;p3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198" name="Google Shape;198;p30"/>
          <p:cNvSpPr txBox="1"/>
          <p:nvPr/>
        </p:nvSpPr>
        <p:spPr>
          <a:xfrm>
            <a:off x="508825" y="3858450"/>
            <a:ext cx="91440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servaddr</a:t>
            </a:r>
            <a:r>
              <a:rPr lang="en-US" sz="2200" b="1" dirty="0">
                <a:solidFill>
                  <a:schemeClr val="accent4"/>
                </a:solidFill>
              </a:rPr>
              <a:t>: </a:t>
            </a:r>
            <a:r>
              <a:rPr lang="en-US" sz="2200" dirty="0">
                <a:solidFill>
                  <a:schemeClr val="dk1"/>
                </a:solidFill>
              </a:rPr>
              <a:t>This should point to a properly initialized struct </a:t>
            </a:r>
            <a:r>
              <a:rPr lang="en-US" sz="2200" dirty="0" err="1">
                <a:solidFill>
                  <a:schemeClr val="dk1"/>
                </a:solidFill>
              </a:rPr>
              <a:t>sockaddr</a:t>
            </a:r>
            <a:r>
              <a:rPr lang="en-US" sz="2200" dirty="0">
                <a:solidFill>
                  <a:schemeClr val="dk1"/>
                </a:solidFill>
              </a:rPr>
              <a:t> containing the address and port number of the server to connect to. The address family (e.g., AF_INET for IPv4 or AF_INET6 for IPv6) should match the address family of the socket created.</a:t>
            </a:r>
            <a:endParaRPr sz="2200"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connect()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06" name="Google Shape;206;p31">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08826" y="1948525"/>
            <a:ext cx="9144000" cy="1777044"/>
          </a:xfrm>
          <a:prstGeom prst="rect">
            <a:avLst/>
          </a:prstGeom>
          <a:noFill/>
          <a:ln>
            <a:noFill/>
          </a:ln>
        </p:spPr>
      </p:pic>
      <p:sp>
        <p:nvSpPr>
          <p:cNvPr id="205" name="Google Shape;205;p31"/>
          <p:cNvSpPr txBox="1"/>
          <p:nvPr/>
        </p:nvSpPr>
        <p:spPr>
          <a:xfrm>
            <a:off x="508825" y="3858450"/>
            <a:ext cx="9144000" cy="1200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addrlen</a:t>
            </a:r>
            <a:r>
              <a:rPr lang="en-US" sz="2200" b="1" dirty="0">
                <a:solidFill>
                  <a:schemeClr val="accent4"/>
                </a:solidFill>
              </a:rPr>
              <a:t>: </a:t>
            </a:r>
            <a:r>
              <a:rPr lang="en-US" sz="2200" dirty="0">
                <a:solidFill>
                  <a:schemeClr val="dk1"/>
                </a:solidFill>
              </a:rPr>
              <a:t>This should be set to the size of the address structure pointed to by </a:t>
            </a:r>
            <a:r>
              <a:rPr lang="en-US" sz="2200" dirty="0" err="1">
                <a:solidFill>
                  <a:schemeClr val="dk1"/>
                </a:solidFill>
              </a:rPr>
              <a:t>servaddr</a:t>
            </a:r>
            <a:r>
              <a:rPr lang="en-US" sz="2200" dirty="0">
                <a:solidFill>
                  <a:schemeClr val="dk1"/>
                </a:solidFill>
              </a:rPr>
              <a:t>. For example, if you are using IPv4, it would typically be </a:t>
            </a:r>
            <a:r>
              <a:rPr lang="en-US" sz="2200" dirty="0" err="1">
                <a:solidFill>
                  <a:schemeClr val="dk1"/>
                </a:solidFill>
              </a:rPr>
              <a:t>sizeof</a:t>
            </a:r>
            <a:r>
              <a:rPr lang="en-US" sz="2200" dirty="0">
                <a:solidFill>
                  <a:schemeClr val="dk1"/>
                </a:solidFill>
              </a:rPr>
              <a:t>(struct </a:t>
            </a:r>
            <a:r>
              <a:rPr lang="en-US" sz="2200" dirty="0" err="1">
                <a:solidFill>
                  <a:schemeClr val="dk1"/>
                </a:solidFill>
              </a:rPr>
              <a:t>sockaddr_in</a:t>
            </a:r>
            <a:r>
              <a:rPr lang="en-US" sz="2200" dirty="0">
                <a:solidFill>
                  <a:schemeClr val="dk1"/>
                </a:solidFill>
              </a:rPr>
              <a:t>).</a:t>
            </a:r>
            <a:endParaRPr sz="2200" dirty="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13" name="Google Shape;213;p32" descr="C code snippet showing the bind() function prototype from &lt;sys/socket.h&gt;."/>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12" name="Google Shape;212;p32"/>
          <p:cNvSpPr txBox="1"/>
          <p:nvPr/>
        </p:nvSpPr>
        <p:spPr>
          <a:xfrm>
            <a:off x="487325" y="3828775"/>
            <a:ext cx="9321300" cy="153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dirty="0">
                <a:solidFill>
                  <a:schemeClr val="dk2"/>
                </a:solidFill>
                <a:highlight>
                  <a:srgbClr val="00FF00"/>
                </a:highlight>
              </a:rPr>
              <a:t>The bind() function in socket programming is used to associate a socket with a specific network address and port number on the local machine. Its primary purpose is to bind a unique identifier to the socket, allowing other processes to communicate with it using that address.</a:t>
            </a:r>
            <a:endParaRPr sz="2200" dirty="0">
              <a:solidFill>
                <a:schemeClr val="dk2"/>
              </a:solidFill>
              <a:highlight>
                <a:srgbClr val="00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20" name="Google Shape;220;p3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19" name="Google Shape;219;p33"/>
          <p:cNvSpPr txBox="1"/>
          <p:nvPr/>
        </p:nvSpPr>
        <p:spPr>
          <a:xfrm>
            <a:off x="487325" y="3828775"/>
            <a:ext cx="93213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dirty="0">
                <a:solidFill>
                  <a:schemeClr val="dk2"/>
                </a:solidFill>
              </a:rPr>
              <a:t>Assigning a Local Address</a:t>
            </a:r>
            <a:r>
              <a:rPr lang="en-US" sz="2200" dirty="0">
                <a:solidFill>
                  <a:schemeClr val="dk2"/>
                </a:solidFill>
              </a:rPr>
              <a:t>: The bind() function assigns a local address to the socket, which includes both an IP address and a port number. This allows the socket to be uniquely identified within the network. The IP address specifies the network interface on the local machine, and the port number specifies the application or service running on that machine.</a:t>
            </a:r>
            <a:endParaRPr sz="2200" dirty="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27" name="Google Shape;227;p34">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26" name="Google Shape;226;p34">
            <a:extLst>
              <a:ext uri="{C183D7F6-B498-43B3-948B-1728B52AA6E4}">
                <adec:decorative xmlns:adec="http://schemas.microsoft.com/office/drawing/2017/decorative" val="0"/>
              </a:ext>
            </a:extLst>
          </p:cNvPr>
          <p:cNvSpPr txBox="1"/>
          <p:nvPr/>
        </p:nvSpPr>
        <p:spPr>
          <a:xfrm>
            <a:off x="487325" y="3828775"/>
            <a:ext cx="93213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dirty="0">
                <a:solidFill>
                  <a:schemeClr val="dk2"/>
                </a:solidFill>
              </a:rPr>
              <a:t>Socket Identification: </a:t>
            </a:r>
            <a:r>
              <a:rPr lang="en-US" sz="2200" dirty="0">
                <a:solidFill>
                  <a:schemeClr val="dk2"/>
                </a:solidFill>
              </a:rPr>
              <a:t>By binding a socket to a specific address and port, the bind() function allows other processes on the same machine or on remote machines to connect to or send data to that socket. This enables communication between processes running on different machines over a network.</a:t>
            </a:r>
            <a:endParaRPr sz="2200" dirty="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5"/>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34" name="Google Shape;234;p35">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33" name="Google Shape;233;p35"/>
          <p:cNvSpPr txBox="1"/>
          <p:nvPr/>
        </p:nvSpPr>
        <p:spPr>
          <a:xfrm>
            <a:off x="487325" y="3828775"/>
            <a:ext cx="93213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sockfd</a:t>
            </a:r>
            <a:r>
              <a:rPr lang="en-US" sz="2200" dirty="0">
                <a:solidFill>
                  <a:schemeClr val="dk2"/>
                </a:solidFill>
              </a:rPr>
              <a:t>: This parameter is the file descriptor of the socket that you want to bind. It represents the local socket that you want to associate with a specific network address and port number. The socket must have been previously created with the socket() function.</a:t>
            </a:r>
            <a:endParaRPr sz="2200"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41" name="Google Shape;241;p36">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40" name="Google Shape;240;p36"/>
          <p:cNvSpPr txBox="1"/>
          <p:nvPr/>
        </p:nvSpPr>
        <p:spPr>
          <a:xfrm>
            <a:off x="487325" y="3828775"/>
            <a:ext cx="9321300" cy="1877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servaddr</a:t>
            </a:r>
            <a:r>
              <a:rPr lang="en-US" sz="2200" b="1" dirty="0">
                <a:solidFill>
                  <a:schemeClr val="accent4"/>
                </a:solidFill>
              </a:rPr>
              <a:t>: </a:t>
            </a:r>
            <a:r>
              <a:rPr lang="en-US" sz="2200" dirty="0">
                <a:solidFill>
                  <a:schemeClr val="dk1"/>
                </a:solidFill>
              </a:rPr>
              <a:t>This parameter is a pointer to a struct </a:t>
            </a:r>
            <a:r>
              <a:rPr lang="en-US" sz="2200" dirty="0" err="1">
                <a:solidFill>
                  <a:schemeClr val="dk1"/>
                </a:solidFill>
              </a:rPr>
              <a:t>sockaddr</a:t>
            </a:r>
            <a:r>
              <a:rPr lang="en-US" sz="2200" dirty="0">
                <a:solidFill>
                  <a:schemeClr val="dk1"/>
                </a:solidFill>
              </a:rPr>
              <a:t> that contains the address information (IP address and port number) you want to bind to the socket. It represents the local address to which you want to bind the socket. The struct </a:t>
            </a:r>
            <a:r>
              <a:rPr lang="en-US" sz="2200" dirty="0" err="1">
                <a:solidFill>
                  <a:schemeClr val="dk1"/>
                </a:solidFill>
              </a:rPr>
              <a:t>sockaddr</a:t>
            </a:r>
            <a:r>
              <a:rPr lang="en-US" sz="2200" dirty="0">
                <a:solidFill>
                  <a:schemeClr val="dk1"/>
                </a:solidFill>
              </a:rPr>
              <a:t> is a generic structure used to represent socket addresses and must be properly initialized.</a:t>
            </a:r>
            <a:endParaRPr sz="2200" dirty="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7"/>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bind()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48" name="Google Shape;248;p37">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9321311" cy="1811500"/>
          </a:xfrm>
          <a:prstGeom prst="rect">
            <a:avLst/>
          </a:prstGeom>
          <a:noFill/>
          <a:ln>
            <a:noFill/>
          </a:ln>
        </p:spPr>
      </p:pic>
      <p:sp>
        <p:nvSpPr>
          <p:cNvPr id="247" name="Google Shape;247;p37"/>
          <p:cNvSpPr txBox="1"/>
          <p:nvPr/>
        </p:nvSpPr>
        <p:spPr>
          <a:xfrm>
            <a:off x="487325" y="3828775"/>
            <a:ext cx="93213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addrlen: </a:t>
            </a:r>
            <a:r>
              <a:rPr lang="en-US" sz="2200">
                <a:solidFill>
                  <a:schemeClr val="dk1"/>
                </a:solidFill>
              </a:rPr>
              <a:t>This parameter specifies the size of the address structure pointed to by servaddr. It indicates the length of the address structure passed in the servaddr parameter. This parameter is typically set using the sizeof operator.</a:t>
            </a:r>
            <a:endParaRPr sz="22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8"/>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listen()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55" name="Google Shape;255;p38" descr="C code snippet showing the listen() function prototype from &lt;sys/socket.h&gt;."/>
          <p:cNvPicPr preferRelativeResize="0"/>
          <p:nvPr/>
        </p:nvPicPr>
        <p:blipFill>
          <a:blip r:embed="rId3">
            <a:alphaModFix/>
          </a:blip>
          <a:stretch>
            <a:fillRect/>
          </a:stretch>
        </p:blipFill>
        <p:spPr>
          <a:xfrm>
            <a:off x="487325" y="1872316"/>
            <a:ext cx="9394769" cy="1506708"/>
          </a:xfrm>
          <a:prstGeom prst="rect">
            <a:avLst/>
          </a:prstGeom>
          <a:noFill/>
          <a:ln>
            <a:noFill/>
          </a:ln>
        </p:spPr>
      </p:pic>
      <p:sp>
        <p:nvSpPr>
          <p:cNvPr id="254" name="Google Shape;254;p38"/>
          <p:cNvSpPr txBox="1"/>
          <p:nvPr/>
        </p:nvSpPr>
        <p:spPr>
          <a:xfrm>
            <a:off x="487325" y="3519050"/>
            <a:ext cx="9394800" cy="2555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highlight>
                  <a:srgbClr val="00FF00"/>
                </a:highlight>
              </a:rPr>
              <a:t>The listen() function in socket programming is used by a server to mark a socket as passive, meaning that it will be </a:t>
            </a:r>
            <a:r>
              <a:rPr lang="en-US" sz="2200" u="sng" dirty="0">
                <a:solidFill>
                  <a:schemeClr val="dk1"/>
                </a:solidFill>
                <a:highlight>
                  <a:srgbClr val="00FF00"/>
                </a:highlight>
              </a:rPr>
              <a:t>used to accept incoming connection requests from clients</a:t>
            </a:r>
            <a:r>
              <a:rPr lang="en-US" sz="2200" dirty="0">
                <a:solidFill>
                  <a:schemeClr val="dk1"/>
                </a:solidFill>
                <a:highlight>
                  <a:srgbClr val="00FF00"/>
                </a:highlight>
              </a:rPr>
              <a:t>. </a:t>
            </a:r>
            <a:endParaRPr sz="2200" dirty="0">
              <a:solidFill>
                <a:schemeClr val="dk1"/>
              </a:solidFill>
              <a:highlight>
                <a:srgbClr val="00FF00"/>
              </a:highlight>
            </a:endParaRPr>
          </a:p>
          <a:p>
            <a:pPr marL="0" lvl="0" indent="0" algn="l" rtl="0">
              <a:lnSpc>
                <a:spcPct val="100000"/>
              </a:lnSpc>
              <a:spcBef>
                <a:spcPts val="0"/>
              </a:spcBef>
              <a:spcAft>
                <a:spcPts val="0"/>
              </a:spcAft>
              <a:buNone/>
            </a:pPr>
            <a:endParaRPr sz="2200" dirty="0">
              <a:solidFill>
                <a:schemeClr val="dk1"/>
              </a:solidFill>
              <a:highlight>
                <a:srgbClr val="00FF00"/>
              </a:highlight>
            </a:endParaRPr>
          </a:p>
          <a:p>
            <a:pPr marL="0" lvl="0" indent="0" algn="l" rtl="0">
              <a:lnSpc>
                <a:spcPct val="100000"/>
              </a:lnSpc>
              <a:spcBef>
                <a:spcPts val="0"/>
              </a:spcBef>
              <a:spcAft>
                <a:spcPts val="0"/>
              </a:spcAft>
              <a:buNone/>
            </a:pPr>
            <a:r>
              <a:rPr lang="en-US" sz="2200" dirty="0">
                <a:solidFill>
                  <a:schemeClr val="dk1"/>
                </a:solidFill>
                <a:highlight>
                  <a:srgbClr val="00FF00"/>
                </a:highlight>
              </a:rPr>
              <a:t>Its primary purpose is to prepare a socket for incoming connections and to specify the maximum number of pending connections that can be queued up waiting for acceptance.</a:t>
            </a:r>
            <a:endParaRPr sz="2200" dirty="0">
              <a:solidFill>
                <a:schemeClr val="dk1"/>
              </a:solidFill>
              <a:highlight>
                <a:srgbClr val="00FF00"/>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listen()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62" name="Google Shape;262;p39">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394769" cy="1506708"/>
          </a:xfrm>
          <a:prstGeom prst="rect">
            <a:avLst/>
          </a:prstGeom>
          <a:noFill/>
          <a:ln>
            <a:noFill/>
          </a:ln>
        </p:spPr>
      </p:pic>
      <p:sp>
        <p:nvSpPr>
          <p:cNvPr id="261" name="Google Shape;261;p39"/>
          <p:cNvSpPr txBox="1"/>
          <p:nvPr/>
        </p:nvSpPr>
        <p:spPr>
          <a:xfrm>
            <a:off x="487325" y="3519050"/>
            <a:ext cx="93948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sockfd</a:t>
            </a:r>
            <a:r>
              <a:rPr lang="en-US" sz="2200" dirty="0">
                <a:solidFill>
                  <a:schemeClr val="dk1"/>
                </a:solidFill>
              </a:rPr>
              <a:t>: This parameter is the file descriptor of the socket that you want to start listening on. The socket must have been previously created with the socket() function and bound to a local address using the bind() function. This descriptor uniquely identifies the socket in the operating system.</a:t>
            </a:r>
            <a:endParaRPr sz="2200" dirty="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listen()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69" name="Google Shape;269;p4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394769" cy="1506708"/>
          </a:xfrm>
          <a:prstGeom prst="rect">
            <a:avLst/>
          </a:prstGeom>
          <a:noFill/>
          <a:ln>
            <a:noFill/>
          </a:ln>
        </p:spPr>
      </p:pic>
      <p:sp>
        <p:nvSpPr>
          <p:cNvPr id="268" name="Google Shape;268;p40"/>
          <p:cNvSpPr txBox="1"/>
          <p:nvPr/>
        </p:nvSpPr>
        <p:spPr>
          <a:xfrm>
            <a:off x="487325" y="3519050"/>
            <a:ext cx="9394800" cy="1877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a:solidFill>
                  <a:schemeClr val="accent4"/>
                </a:solidFill>
              </a:rPr>
              <a:t>backlog</a:t>
            </a:r>
            <a:r>
              <a:rPr lang="en-US" sz="2200" dirty="0">
                <a:solidFill>
                  <a:schemeClr val="dk1"/>
                </a:solidFill>
              </a:rPr>
              <a:t>: This parameter defines the maximum length of the queue of pending connections for the socket. It indicates how many incoming connections can be queued up waiting for the server to accept them. If the number of pending connections exceeds this limit, additional connection attempts may be rejected by the operating system.</a:t>
            </a:r>
            <a:endParaRPr sz="2200" dirty="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accept()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76" name="Google Shape;276;p41" descr="C code snippet showing the accept() function prototype from &lt;sys/socket.h&gt;.">
            <a:extLst>
              <a:ext uri="{C183D7F6-B498-43B3-948B-1728B52AA6E4}">
                <adec:decorative xmlns:adec="http://schemas.microsoft.com/office/drawing/2017/decorative" val="0"/>
              </a:ext>
            </a:extLst>
          </p:cNvPr>
          <p:cNvPicPr preferRelativeResize="0"/>
          <p:nvPr/>
        </p:nvPicPr>
        <p:blipFill>
          <a:blip r:embed="rId3">
            <a:alphaModFix/>
          </a:blip>
          <a:stretch>
            <a:fillRect/>
          </a:stretch>
        </p:blipFill>
        <p:spPr>
          <a:xfrm>
            <a:off x="487325" y="1872325"/>
            <a:ext cx="10096500" cy="1962150"/>
          </a:xfrm>
          <a:prstGeom prst="rect">
            <a:avLst/>
          </a:prstGeom>
          <a:noFill/>
          <a:ln>
            <a:noFill/>
          </a:ln>
        </p:spPr>
      </p:pic>
      <p:sp>
        <p:nvSpPr>
          <p:cNvPr id="275" name="Google Shape;275;p41"/>
          <p:cNvSpPr txBox="1"/>
          <p:nvPr/>
        </p:nvSpPr>
        <p:spPr>
          <a:xfrm>
            <a:off x="487325" y="3976250"/>
            <a:ext cx="10096500" cy="1200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highlight>
                  <a:srgbClr val="00FF00"/>
                </a:highlight>
              </a:rPr>
              <a:t>The accept() function in socket programming is used by a server to accept a connection request from a client. Its primary purpose is to create a new socket for communicating with the client that initiated the connection request.</a:t>
            </a:r>
            <a:endParaRPr sz="2200" dirty="0">
              <a:solidFill>
                <a:schemeClr val="dk1"/>
              </a:solidFill>
              <a:highlight>
                <a:srgbClr val="00FF00"/>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accept()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83" name="Google Shape;283;p42">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10096500" cy="1962150"/>
          </a:xfrm>
          <a:prstGeom prst="rect">
            <a:avLst/>
          </a:prstGeom>
          <a:noFill/>
          <a:ln>
            <a:noFill/>
          </a:ln>
        </p:spPr>
      </p:pic>
      <p:sp>
        <p:nvSpPr>
          <p:cNvPr id="282" name="Google Shape;282;p42"/>
          <p:cNvSpPr txBox="1"/>
          <p:nvPr/>
        </p:nvSpPr>
        <p:spPr>
          <a:xfrm>
            <a:off x="487325" y="3976250"/>
            <a:ext cx="10096500" cy="1877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sockfd</a:t>
            </a:r>
            <a:r>
              <a:rPr lang="en-US" sz="2200" b="1" dirty="0">
                <a:solidFill>
                  <a:schemeClr val="dk1"/>
                </a:solidFill>
              </a:rPr>
              <a:t>:</a:t>
            </a:r>
            <a:r>
              <a:rPr lang="en-US" sz="2200" dirty="0">
                <a:solidFill>
                  <a:schemeClr val="dk1"/>
                </a:solidFill>
              </a:rPr>
              <a:t> It is the socket file descriptor, which is a unique identifier for the socket. It identifies the listening socket that is waiting for incoming connection requests. The socket must have been previously </a:t>
            </a:r>
            <a:r>
              <a:rPr lang="en-US" sz="2200" u="sng" dirty="0">
                <a:solidFill>
                  <a:schemeClr val="dk1"/>
                </a:solidFill>
              </a:rPr>
              <a:t>created with the socket() function</a:t>
            </a:r>
            <a:r>
              <a:rPr lang="en-US" sz="2200" dirty="0">
                <a:solidFill>
                  <a:schemeClr val="dk1"/>
                </a:solidFill>
              </a:rPr>
              <a:t>, </a:t>
            </a:r>
            <a:r>
              <a:rPr lang="en-US" sz="2200" u="sng" dirty="0">
                <a:solidFill>
                  <a:schemeClr val="dk1"/>
                </a:solidFill>
              </a:rPr>
              <a:t>bound to a local address using the bind() function</a:t>
            </a:r>
            <a:r>
              <a:rPr lang="en-US" sz="2200" dirty="0">
                <a:solidFill>
                  <a:schemeClr val="dk1"/>
                </a:solidFill>
              </a:rPr>
              <a:t>, and </a:t>
            </a:r>
            <a:r>
              <a:rPr lang="en-US" sz="2200" u="sng" dirty="0">
                <a:solidFill>
                  <a:schemeClr val="dk1"/>
                </a:solidFill>
              </a:rPr>
              <a:t>set to the listening state using the listen() function</a:t>
            </a:r>
            <a:r>
              <a:rPr lang="en-US" sz="2200" dirty="0">
                <a:solidFill>
                  <a:schemeClr val="dk1"/>
                </a:solidFill>
              </a:rPr>
              <a:t>.</a:t>
            </a:r>
            <a:endParaRPr sz="2200" dirty="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accept()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90" name="Google Shape;290;p4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10096500" cy="1962150"/>
          </a:xfrm>
          <a:prstGeom prst="rect">
            <a:avLst/>
          </a:prstGeom>
          <a:noFill/>
          <a:ln>
            <a:noFill/>
          </a:ln>
        </p:spPr>
      </p:pic>
      <p:sp>
        <p:nvSpPr>
          <p:cNvPr id="289" name="Google Shape;289;p43"/>
          <p:cNvSpPr txBox="1"/>
          <p:nvPr/>
        </p:nvSpPr>
        <p:spPr>
          <a:xfrm>
            <a:off x="487325" y="3976250"/>
            <a:ext cx="10096500" cy="221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err="1">
                <a:solidFill>
                  <a:schemeClr val="accent4"/>
                </a:solidFill>
              </a:rPr>
              <a:t>cliaddr</a:t>
            </a:r>
            <a:r>
              <a:rPr lang="en-US" sz="2200" b="1" dirty="0">
                <a:solidFill>
                  <a:schemeClr val="dk1"/>
                </a:solidFill>
              </a:rPr>
              <a:t>: </a:t>
            </a:r>
            <a:r>
              <a:rPr lang="en-US" sz="2200" dirty="0">
                <a:solidFill>
                  <a:schemeClr val="dk1"/>
                </a:solidFill>
              </a:rPr>
              <a:t>This is a pointer to a struct </a:t>
            </a:r>
            <a:r>
              <a:rPr lang="en-US" sz="2200" dirty="0" err="1">
                <a:solidFill>
                  <a:schemeClr val="dk1"/>
                </a:solidFill>
              </a:rPr>
              <a:t>sockaddr</a:t>
            </a:r>
            <a:r>
              <a:rPr lang="en-US" sz="2200" dirty="0">
                <a:solidFill>
                  <a:schemeClr val="dk1"/>
                </a:solidFill>
              </a:rPr>
              <a:t> that will be filled in by accept() with the address information of the client that is connecting to the server. I</a:t>
            </a:r>
            <a:r>
              <a:rPr lang="en-US" sz="2200" u="sng" dirty="0">
                <a:solidFill>
                  <a:schemeClr val="dk1"/>
                </a:solidFill>
              </a:rPr>
              <a:t>t represents the address of the client.</a:t>
            </a:r>
            <a:r>
              <a:rPr lang="en-US" sz="2200" dirty="0">
                <a:solidFill>
                  <a:schemeClr val="dk1"/>
                </a:solidFill>
              </a:rPr>
              <a:t> The struct </a:t>
            </a:r>
            <a:r>
              <a:rPr lang="en-US" sz="2200" dirty="0" err="1">
                <a:solidFill>
                  <a:schemeClr val="dk1"/>
                </a:solidFill>
              </a:rPr>
              <a:t>sockaddr</a:t>
            </a:r>
            <a:r>
              <a:rPr lang="en-US" sz="2200" dirty="0">
                <a:solidFill>
                  <a:schemeClr val="dk1"/>
                </a:solidFill>
              </a:rPr>
              <a:t> is a generic structure used to represent socket addresses and must be properly initialized. Depending on the address family (e.g., IPv4 or IPv6), it can be cast to struct </a:t>
            </a:r>
            <a:r>
              <a:rPr lang="en-US" sz="2200" dirty="0" err="1">
                <a:solidFill>
                  <a:schemeClr val="dk1"/>
                </a:solidFill>
              </a:rPr>
              <a:t>sockaddr_in</a:t>
            </a:r>
            <a:r>
              <a:rPr lang="en-US" sz="2200" dirty="0">
                <a:solidFill>
                  <a:schemeClr val="dk1"/>
                </a:solidFill>
              </a:rPr>
              <a:t> or struct sockaddr_in6 for IPv4 and IPv6 respectively.</a:t>
            </a:r>
            <a:endParaRPr sz="2200" dirty="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accept()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297" name="Google Shape;297;p44">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5"/>
            <a:ext cx="10096500" cy="1962150"/>
          </a:xfrm>
          <a:prstGeom prst="rect">
            <a:avLst/>
          </a:prstGeom>
          <a:noFill/>
          <a:ln>
            <a:noFill/>
          </a:ln>
        </p:spPr>
      </p:pic>
      <p:sp>
        <p:nvSpPr>
          <p:cNvPr id="296" name="Google Shape;296;p44"/>
          <p:cNvSpPr txBox="1"/>
          <p:nvPr/>
        </p:nvSpPr>
        <p:spPr>
          <a:xfrm>
            <a:off x="487325" y="3976250"/>
            <a:ext cx="100965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addrlen</a:t>
            </a:r>
            <a:r>
              <a:rPr lang="en-US" sz="2200" b="1">
                <a:solidFill>
                  <a:schemeClr val="dk1"/>
                </a:solidFill>
              </a:rPr>
              <a:t>: </a:t>
            </a:r>
            <a:r>
              <a:rPr lang="en-US" sz="2200">
                <a:solidFill>
                  <a:schemeClr val="dk1"/>
                </a:solidFill>
              </a:rPr>
              <a:t>This is a pointer to a socklen_t variable that </a:t>
            </a:r>
            <a:r>
              <a:rPr lang="en-US" sz="2200" u="sng">
                <a:solidFill>
                  <a:schemeClr val="dk1"/>
                </a:solidFill>
              </a:rPr>
              <a:t>specifies the size of the address structure pointed to by cliaddr</a:t>
            </a:r>
            <a:r>
              <a:rPr lang="en-US" sz="2200">
                <a:solidFill>
                  <a:schemeClr val="dk1"/>
                </a:solidFill>
              </a:rPr>
              <a:t>. It indicates the length of the address structure that accept() can fill in. After accept() returns, it updates the value of addrlen with the actual size of the client's address.</a:t>
            </a:r>
            <a:endParaRPr sz="22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send()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04" name="Google Shape;304;p45" descr="C code snippet showing the send() function prototype from &lt;sys/socket.h&gt;."/>
          <p:cNvPicPr preferRelativeResize="0"/>
          <p:nvPr/>
        </p:nvPicPr>
        <p:blipFill>
          <a:blip r:embed="rId3">
            <a:alphaModFix/>
          </a:blip>
          <a:stretch>
            <a:fillRect/>
          </a:stretch>
        </p:blipFill>
        <p:spPr>
          <a:xfrm>
            <a:off x="487325" y="1872316"/>
            <a:ext cx="9257677" cy="1799133"/>
          </a:xfrm>
          <a:prstGeom prst="rect">
            <a:avLst/>
          </a:prstGeom>
          <a:noFill/>
          <a:ln>
            <a:noFill/>
          </a:ln>
        </p:spPr>
      </p:pic>
      <p:sp>
        <p:nvSpPr>
          <p:cNvPr id="303" name="Google Shape;303;p45"/>
          <p:cNvSpPr txBox="1"/>
          <p:nvPr/>
        </p:nvSpPr>
        <p:spPr>
          <a:xfrm>
            <a:off x="487325" y="3976250"/>
            <a:ext cx="9257700" cy="861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highlight>
                  <a:srgbClr val="00FF00"/>
                </a:highlight>
              </a:rPr>
              <a:t>The send() function in socket programming is used to send data on a connected socket.</a:t>
            </a:r>
            <a:endParaRPr sz="2200" dirty="0">
              <a:solidFill>
                <a:schemeClr val="dk1"/>
              </a:solidFill>
              <a:highlight>
                <a:srgbClr val="00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6"/>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send()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11" name="Google Shape;311;p46">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257677" cy="1799133"/>
          </a:xfrm>
          <a:prstGeom prst="rect">
            <a:avLst/>
          </a:prstGeom>
          <a:noFill/>
          <a:ln>
            <a:noFill/>
          </a:ln>
        </p:spPr>
      </p:pic>
      <p:sp>
        <p:nvSpPr>
          <p:cNvPr id="310" name="Google Shape;310;p46"/>
          <p:cNvSpPr txBox="1"/>
          <p:nvPr/>
        </p:nvSpPr>
        <p:spPr>
          <a:xfrm>
            <a:off x="487325" y="3976250"/>
            <a:ext cx="92577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sockfd</a:t>
            </a:r>
            <a:r>
              <a:rPr lang="en-US" sz="2200">
                <a:solidFill>
                  <a:schemeClr val="dk1"/>
                </a:solidFill>
              </a:rPr>
              <a:t>: This parameter is the file descriptor of the socket that you want to send data through. The socket must be in a connected state, meaning that it has already been established either by calling connect() for TCP sockets or accept() for server-side sockets.</a:t>
            </a:r>
            <a:endParaRPr sz="22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7"/>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send()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18" name="Google Shape;318;p47">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257677" cy="1799133"/>
          </a:xfrm>
          <a:prstGeom prst="rect">
            <a:avLst/>
          </a:prstGeom>
          <a:noFill/>
          <a:ln>
            <a:noFill/>
          </a:ln>
        </p:spPr>
      </p:pic>
      <p:sp>
        <p:nvSpPr>
          <p:cNvPr id="317" name="Google Shape;317;p47"/>
          <p:cNvSpPr txBox="1"/>
          <p:nvPr/>
        </p:nvSpPr>
        <p:spPr>
          <a:xfrm>
            <a:off x="487325" y="3976250"/>
            <a:ext cx="9257700" cy="1200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buf: </a:t>
            </a:r>
            <a:r>
              <a:rPr lang="en-US" sz="2200">
                <a:solidFill>
                  <a:schemeClr val="dk1"/>
                </a:solidFill>
              </a:rPr>
              <a:t>This parameter is a pointer to the data that you want to send. It points to the memory location where the data is stored. The data can be of any type, but it is typically a buffer containing bytes to be transmitted.</a:t>
            </a:r>
            <a:endParaRPr sz="22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send()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25" name="Google Shape;325;p48">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257677" cy="1799133"/>
          </a:xfrm>
          <a:prstGeom prst="rect">
            <a:avLst/>
          </a:prstGeom>
          <a:noFill/>
          <a:ln>
            <a:noFill/>
          </a:ln>
        </p:spPr>
      </p:pic>
      <p:sp>
        <p:nvSpPr>
          <p:cNvPr id="324" name="Google Shape;324;p48"/>
          <p:cNvSpPr txBox="1"/>
          <p:nvPr/>
        </p:nvSpPr>
        <p:spPr>
          <a:xfrm>
            <a:off x="487325" y="3976250"/>
            <a:ext cx="9257700" cy="1200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nbytes: </a:t>
            </a:r>
            <a:r>
              <a:rPr lang="en-US" sz="2200">
                <a:solidFill>
                  <a:schemeClr val="dk1"/>
                </a:solidFill>
              </a:rPr>
              <a:t>This parameter specifies the number of bytes to send from the buffer pointed to by buf. It indicates the size of the data that you want to send.</a:t>
            </a:r>
            <a:endParaRPr sz="22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send()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32" name="Google Shape;332;p49">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16"/>
            <a:ext cx="9257677" cy="1799133"/>
          </a:xfrm>
          <a:prstGeom prst="rect">
            <a:avLst/>
          </a:prstGeom>
          <a:noFill/>
          <a:ln>
            <a:noFill/>
          </a:ln>
        </p:spPr>
      </p:pic>
      <p:sp>
        <p:nvSpPr>
          <p:cNvPr id="331" name="Google Shape;331;p49"/>
          <p:cNvSpPr txBox="1"/>
          <p:nvPr/>
        </p:nvSpPr>
        <p:spPr>
          <a:xfrm>
            <a:off x="487325" y="3745200"/>
            <a:ext cx="9689100" cy="2955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000" b="1" dirty="0">
                <a:solidFill>
                  <a:schemeClr val="accent4"/>
                </a:solidFill>
              </a:rPr>
              <a:t>flags: </a:t>
            </a:r>
            <a:r>
              <a:rPr lang="en-US" sz="2000" dirty="0">
                <a:solidFill>
                  <a:schemeClr val="dk1"/>
                </a:solidFill>
              </a:rPr>
              <a:t>This parameter is used to modify the behavior of the send() function. It can be set to various flag values to control aspects of the transmission, such as setting socket options or specifying how the data should be sent.</a:t>
            </a:r>
            <a:endParaRPr sz="2000" dirty="0">
              <a:solidFill>
                <a:schemeClr val="dk1"/>
              </a:solidFill>
            </a:endParaRPr>
          </a:p>
          <a:p>
            <a:pPr marL="0" lvl="0" indent="0" algn="l" rtl="0">
              <a:lnSpc>
                <a:spcPct val="100000"/>
              </a:lnSpc>
              <a:spcBef>
                <a:spcPts val="0"/>
              </a:spcBef>
              <a:spcAft>
                <a:spcPts val="0"/>
              </a:spcAft>
              <a:buNone/>
            </a:pP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US" sz="2000" b="1" dirty="0">
                <a:solidFill>
                  <a:schemeClr val="dk1"/>
                </a:solidFill>
              </a:rPr>
              <a:t>0</a:t>
            </a:r>
            <a:r>
              <a:rPr lang="en-US" sz="2000" dirty="0">
                <a:solidFill>
                  <a:schemeClr val="dk1"/>
                </a:solidFill>
              </a:rPr>
              <a:t>: Default behavior.</a:t>
            </a: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US" sz="2000" b="1" dirty="0">
                <a:solidFill>
                  <a:schemeClr val="dk1"/>
                </a:solidFill>
              </a:rPr>
              <a:t>MSG_DONTWAIT:</a:t>
            </a:r>
            <a:r>
              <a:rPr lang="en-US" sz="2000" dirty="0">
                <a:solidFill>
                  <a:schemeClr val="dk1"/>
                </a:solidFill>
              </a:rPr>
              <a:t> Enables non-blocking operation. The send() function returns immediately, even if the socket is not ready for writing.</a:t>
            </a: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US" sz="2000" b="1" dirty="0">
                <a:solidFill>
                  <a:schemeClr val="dk1"/>
                </a:solidFill>
              </a:rPr>
              <a:t>MSG_NOSIGNAL</a:t>
            </a:r>
            <a:r>
              <a:rPr lang="en-US" sz="2000" dirty="0">
                <a:solidFill>
                  <a:schemeClr val="dk1"/>
                </a:solidFill>
              </a:rPr>
              <a:t>: Prevents the generation of SIGPIPE signals if the remote end of the connection is closed.</a:t>
            </a:r>
            <a:endParaRPr sz="2000" dirty="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receive()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39" name="Google Shape;339;p50" descr="C code snippet showing the recv() function prototype from &lt;sys/socket.h&gt;."/>
          <p:cNvPicPr preferRelativeResize="0"/>
          <p:nvPr/>
        </p:nvPicPr>
        <p:blipFill>
          <a:blip r:embed="rId3">
            <a:alphaModFix/>
          </a:blip>
          <a:stretch>
            <a:fillRect/>
          </a:stretch>
        </p:blipFill>
        <p:spPr>
          <a:xfrm>
            <a:off x="487325" y="1872326"/>
            <a:ext cx="8994026" cy="2070315"/>
          </a:xfrm>
          <a:prstGeom prst="rect">
            <a:avLst/>
          </a:prstGeom>
          <a:noFill/>
          <a:ln>
            <a:noFill/>
          </a:ln>
        </p:spPr>
      </p:pic>
      <p:sp>
        <p:nvSpPr>
          <p:cNvPr id="338" name="Google Shape;338;p50"/>
          <p:cNvSpPr txBox="1"/>
          <p:nvPr/>
        </p:nvSpPr>
        <p:spPr>
          <a:xfrm>
            <a:off x="487325" y="3976250"/>
            <a:ext cx="7815900" cy="861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dirty="0">
                <a:solidFill>
                  <a:schemeClr val="dk1"/>
                </a:solidFill>
                <a:highlight>
                  <a:srgbClr val="00FF00"/>
                </a:highlight>
              </a:rPr>
              <a:t>The </a:t>
            </a:r>
            <a:r>
              <a:rPr lang="en-US" sz="2200" dirty="0" err="1">
                <a:solidFill>
                  <a:schemeClr val="dk1"/>
                </a:solidFill>
                <a:highlight>
                  <a:srgbClr val="00FF00"/>
                </a:highlight>
              </a:rPr>
              <a:t>recv</a:t>
            </a:r>
            <a:r>
              <a:rPr lang="en-US" sz="2200" dirty="0">
                <a:solidFill>
                  <a:schemeClr val="dk1"/>
                </a:solidFill>
                <a:highlight>
                  <a:srgbClr val="00FF00"/>
                </a:highlight>
              </a:rPr>
              <a:t>() function in socket programming is used to receive data from a connected socket.</a:t>
            </a:r>
            <a:endParaRPr sz="2200" dirty="0">
              <a:solidFill>
                <a:schemeClr val="dk1"/>
              </a:solidFill>
              <a:highlight>
                <a:srgbClr val="00FF0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receive()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46" name="Google Shape;346;p51">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6"/>
            <a:ext cx="8994026" cy="2070315"/>
          </a:xfrm>
          <a:prstGeom prst="rect">
            <a:avLst/>
          </a:prstGeom>
          <a:noFill/>
          <a:ln>
            <a:noFill/>
          </a:ln>
        </p:spPr>
      </p:pic>
      <p:sp>
        <p:nvSpPr>
          <p:cNvPr id="345" name="Google Shape;345;p51"/>
          <p:cNvSpPr txBox="1"/>
          <p:nvPr/>
        </p:nvSpPr>
        <p:spPr>
          <a:xfrm>
            <a:off x="487325" y="3976250"/>
            <a:ext cx="7815900" cy="1877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sockfd</a:t>
            </a:r>
            <a:r>
              <a:rPr lang="en-US" sz="2200">
                <a:solidFill>
                  <a:schemeClr val="dk1"/>
                </a:solidFill>
              </a:rPr>
              <a:t>: This parameter is the file descriptor of the socket from which you want to receive data. The socket must be in a connected state, meaning that it has already been established either by calling connect() for TCP sockets or accept() for server-side sockets.</a:t>
            </a:r>
            <a:endParaRPr sz="22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receive()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53" name="Google Shape;353;p52">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6"/>
            <a:ext cx="8994026" cy="2070315"/>
          </a:xfrm>
          <a:prstGeom prst="rect">
            <a:avLst/>
          </a:prstGeom>
          <a:noFill/>
          <a:ln>
            <a:noFill/>
          </a:ln>
        </p:spPr>
      </p:pic>
      <p:sp>
        <p:nvSpPr>
          <p:cNvPr id="352" name="Google Shape;352;p52"/>
          <p:cNvSpPr txBox="1"/>
          <p:nvPr/>
        </p:nvSpPr>
        <p:spPr>
          <a:xfrm>
            <a:off x="487325" y="3976250"/>
            <a:ext cx="78159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buf: </a:t>
            </a:r>
            <a:r>
              <a:rPr lang="en-US" sz="2200">
                <a:solidFill>
                  <a:schemeClr val="dk1"/>
                </a:solidFill>
              </a:rPr>
              <a:t>This parameter is a pointer to the buffer where the received data will be stored. It points to the memory location where the data will be placed after it is received. The buffer should be large enough to accommodate the incoming data.</a:t>
            </a:r>
            <a:endParaRPr sz="22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receive()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60" name="Google Shape;360;p5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6"/>
            <a:ext cx="8994026" cy="2070315"/>
          </a:xfrm>
          <a:prstGeom prst="rect">
            <a:avLst/>
          </a:prstGeom>
          <a:noFill/>
          <a:ln>
            <a:noFill/>
          </a:ln>
        </p:spPr>
      </p:pic>
      <p:sp>
        <p:nvSpPr>
          <p:cNvPr id="359" name="Google Shape;359;p53"/>
          <p:cNvSpPr txBox="1"/>
          <p:nvPr/>
        </p:nvSpPr>
        <p:spPr>
          <a:xfrm>
            <a:off x="487325" y="3976250"/>
            <a:ext cx="7815900" cy="153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a:solidFill>
                  <a:schemeClr val="accent4"/>
                </a:solidFill>
              </a:rPr>
              <a:t>nbytes: </a:t>
            </a:r>
            <a:r>
              <a:rPr lang="en-US" sz="2200">
                <a:solidFill>
                  <a:schemeClr val="dk1"/>
                </a:solidFill>
              </a:rPr>
              <a:t>This parameter specifies the maximum number of bytes to receive into the buffer pointed to by buf. It indicates the size of the buffer and limits the amount of data that will be received in a single call to recv().</a:t>
            </a:r>
            <a:endParaRPr sz="22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receive()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67" name="Google Shape;367;p54">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487325" y="1872326"/>
            <a:ext cx="8994026" cy="2070315"/>
          </a:xfrm>
          <a:prstGeom prst="rect">
            <a:avLst/>
          </a:prstGeom>
          <a:noFill/>
          <a:ln>
            <a:noFill/>
          </a:ln>
        </p:spPr>
      </p:pic>
      <p:sp>
        <p:nvSpPr>
          <p:cNvPr id="366" name="Google Shape;366;p54"/>
          <p:cNvSpPr txBox="1"/>
          <p:nvPr/>
        </p:nvSpPr>
        <p:spPr>
          <a:xfrm>
            <a:off x="487325" y="3976250"/>
            <a:ext cx="7815900" cy="221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b="1" dirty="0">
                <a:solidFill>
                  <a:schemeClr val="accent4"/>
                </a:solidFill>
              </a:rPr>
              <a:t>flags: </a:t>
            </a:r>
            <a:r>
              <a:rPr lang="en-US" sz="2200" dirty="0">
                <a:solidFill>
                  <a:schemeClr val="dk1"/>
                </a:solidFill>
              </a:rPr>
              <a:t>This parameter is used to modify the behavior of the </a:t>
            </a:r>
            <a:r>
              <a:rPr lang="en-US" sz="2200" dirty="0" err="1">
                <a:solidFill>
                  <a:schemeClr val="dk1"/>
                </a:solidFill>
              </a:rPr>
              <a:t>recv</a:t>
            </a:r>
            <a:r>
              <a:rPr lang="en-US" sz="2200" dirty="0">
                <a:solidFill>
                  <a:schemeClr val="dk1"/>
                </a:solidFill>
              </a:rPr>
              <a:t>() function. It can be set to various flag values to control aspects of the reception, such as setting socket options or specifying how the data should be received. Common flag values include 0 for default behavior or MSG_WAITALL to block until the full amount of requested data is received.</a:t>
            </a:r>
            <a:endParaRPr sz="2200" dirty="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5"/>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close() Function</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374" name="Google Shape;374;p55" descr="C code snippet showing the close() function prototype from &lt;unistd.h&gt;."/>
          <p:cNvPicPr preferRelativeResize="0"/>
          <p:nvPr/>
        </p:nvPicPr>
        <p:blipFill>
          <a:blip r:embed="rId3">
            <a:alphaModFix/>
          </a:blip>
          <a:stretch>
            <a:fillRect/>
          </a:stretch>
        </p:blipFill>
        <p:spPr>
          <a:xfrm>
            <a:off x="487325" y="1872316"/>
            <a:ext cx="10096500" cy="1619250"/>
          </a:xfrm>
          <a:prstGeom prst="rect">
            <a:avLst/>
          </a:prstGeom>
          <a:noFill/>
          <a:ln>
            <a:noFill/>
          </a:ln>
        </p:spPr>
      </p:pic>
      <p:sp>
        <p:nvSpPr>
          <p:cNvPr id="373" name="Google Shape;373;p55"/>
          <p:cNvSpPr txBox="1"/>
          <p:nvPr/>
        </p:nvSpPr>
        <p:spPr>
          <a:xfrm>
            <a:off x="487325" y="3721825"/>
            <a:ext cx="10096500" cy="2555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2200">
                <a:solidFill>
                  <a:schemeClr val="dk1"/>
                </a:solidFill>
                <a:highlight>
                  <a:srgbClr val="00FF00"/>
                </a:highlight>
              </a:rPr>
              <a:t>The close() function is used to close a file descriptor, including those associated with sockets.</a:t>
            </a:r>
            <a:endParaRPr sz="2200">
              <a:solidFill>
                <a:schemeClr val="dk1"/>
              </a:solidFill>
              <a:highlight>
                <a:srgbClr val="00FF00"/>
              </a:highlight>
            </a:endParaRPr>
          </a:p>
          <a:p>
            <a:pPr marL="0" lvl="0" indent="0" algn="l" rtl="0">
              <a:lnSpc>
                <a:spcPct val="100000"/>
              </a:lnSpc>
              <a:spcBef>
                <a:spcPts val="0"/>
              </a:spcBef>
              <a:spcAft>
                <a:spcPts val="0"/>
              </a:spcAft>
              <a:buNone/>
            </a:pPr>
            <a:endParaRPr sz="2200">
              <a:solidFill>
                <a:schemeClr val="dk1"/>
              </a:solidFill>
            </a:endParaRPr>
          </a:p>
          <a:p>
            <a:pPr marL="0" lvl="0" indent="0" algn="l" rtl="0">
              <a:lnSpc>
                <a:spcPct val="100000"/>
              </a:lnSpc>
              <a:spcBef>
                <a:spcPts val="0"/>
              </a:spcBef>
              <a:spcAft>
                <a:spcPts val="0"/>
              </a:spcAft>
              <a:buNone/>
            </a:pPr>
            <a:r>
              <a:rPr lang="en-US" sz="2200" b="1">
                <a:solidFill>
                  <a:schemeClr val="accent4"/>
                </a:solidFill>
              </a:rPr>
              <a:t>sockfd</a:t>
            </a:r>
            <a:r>
              <a:rPr lang="en-US" sz="2200">
                <a:solidFill>
                  <a:schemeClr val="dk1"/>
                </a:solidFill>
              </a:rPr>
              <a:t>: This parameter is the file descriptor of the socket that you want to close. In the context of socket programming, sockfd represents the socket that you have been working with, and you want to release the associated resources and close the communication channel.</a:t>
            </a:r>
            <a:endParaRPr sz="2200">
              <a:solidFill>
                <a:schemeClr val="dk1"/>
              </a:solidFill>
            </a:endParaRPr>
          </a:p>
        </p:txBody>
      </p:sp>
    </p:spTree>
  </p:cSld>
  <p:clrMapOvr>
    <a:masterClrMapping/>
  </p:clrMapOvr>
</p:sld>
</file>

<file path=ppt/theme/theme1.xml><?xml version="1.0" encoding="utf-8"?>
<a:theme xmlns:a="http://schemas.openxmlformats.org/drawingml/2006/main" name="UNCG Cover Slides">
  <a:themeElements>
    <a:clrScheme name="uncg-brand-2018_v1">
      <a:dk1>
        <a:srgbClr val="000000"/>
      </a:dk1>
      <a:lt1>
        <a:srgbClr val="FFFFFF"/>
      </a:lt1>
      <a:dk2>
        <a:srgbClr val="0F2044"/>
      </a:dk2>
      <a:lt2>
        <a:srgbClr val="BEC0C2"/>
      </a:lt2>
      <a:accent1>
        <a:srgbClr val="FFB71B"/>
      </a:accent1>
      <a:accent2>
        <a:srgbClr val="92D1B3"/>
      </a:accent2>
      <a:accent3>
        <a:srgbClr val="00698C"/>
      </a:accent3>
      <a:accent4>
        <a:srgbClr val="A00C30"/>
      </a:accent4>
      <a:accent5>
        <a:srgbClr val="A59C87"/>
      </a:accent5>
      <a:accent6>
        <a:srgbClr val="4FC2BF"/>
      </a:accent6>
      <a:hlink>
        <a:srgbClr val="00698C"/>
      </a:hlink>
      <a:folHlink>
        <a:srgbClr val="A6B0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CG-White-TopNavyBar">
  <a:themeElements>
    <a:clrScheme name="uncg-brand-2018_v1">
      <a:dk1>
        <a:srgbClr val="000000"/>
      </a:dk1>
      <a:lt1>
        <a:srgbClr val="FFFFFF"/>
      </a:lt1>
      <a:dk2>
        <a:srgbClr val="0F2044"/>
      </a:dk2>
      <a:lt2>
        <a:srgbClr val="BEC0C2"/>
      </a:lt2>
      <a:accent1>
        <a:srgbClr val="FFB71B"/>
      </a:accent1>
      <a:accent2>
        <a:srgbClr val="92D1B3"/>
      </a:accent2>
      <a:accent3>
        <a:srgbClr val="00698C"/>
      </a:accent3>
      <a:accent4>
        <a:srgbClr val="A00C30"/>
      </a:accent4>
      <a:accent5>
        <a:srgbClr val="A59C87"/>
      </a:accent5>
      <a:accent6>
        <a:srgbClr val="4FC2BF"/>
      </a:accent6>
      <a:hlink>
        <a:srgbClr val="00698C"/>
      </a:hlink>
      <a:folHlink>
        <a:srgbClr val="A6B0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otalTime>58</TotalTime>
  <Words>4287</Words>
  <Application>Microsoft Office PowerPoint</Application>
  <PresentationFormat>Widescreen</PresentationFormat>
  <Paragraphs>331</Paragraphs>
  <Slides>41</Slides>
  <Notes>40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41</vt:i4>
      </vt:variant>
    </vt:vector>
  </HeadingPairs>
  <TitlesOfParts>
    <vt:vector size="46" baseType="lpstr">
      <vt:lpstr>Arial</vt:lpstr>
      <vt:lpstr>Arial MT</vt:lpstr>
      <vt:lpstr>Georgia</vt:lpstr>
      <vt:lpstr>UNCG Cover Slides</vt:lpstr>
      <vt:lpstr>UNCG-White-TopNavyBar</vt:lpstr>
      <vt:lpstr>CSC 362: Systems Programming</vt:lpstr>
      <vt:lpstr>What we will cover in Networking</vt:lpstr>
      <vt:lpstr>PowerPoint Presentation</vt:lpstr>
      <vt:lpstr>PowerPoint Presentation</vt:lpstr>
      <vt:lpstr>PowerPoint Presentation</vt:lpstr>
      <vt:lpstr>The socket() Function</vt:lpstr>
      <vt:lpstr>The socket() Function</vt:lpstr>
      <vt:lpstr>The socket() Function</vt:lpstr>
      <vt:lpstr>The socket() Function</vt:lpstr>
      <vt:lpstr>The socket() Function</vt:lpstr>
      <vt:lpstr>The socket() Function</vt:lpstr>
      <vt:lpstr>The connect() Function</vt:lpstr>
      <vt:lpstr>The connect() Function</vt:lpstr>
      <vt:lpstr>The connect() Function</vt:lpstr>
      <vt:lpstr>The connect() Function</vt:lpstr>
      <vt:lpstr>The connect() Function</vt:lpstr>
      <vt:lpstr>The connect() Function</vt:lpstr>
      <vt:lpstr>The bind() Function</vt:lpstr>
      <vt:lpstr>The bind() Function</vt:lpstr>
      <vt:lpstr>The bind() Function</vt:lpstr>
      <vt:lpstr>The bind() Function</vt:lpstr>
      <vt:lpstr>The bind() Function</vt:lpstr>
      <vt:lpstr>The bind() Function</vt:lpstr>
      <vt:lpstr>The listen() Function</vt:lpstr>
      <vt:lpstr>The listen() Function</vt:lpstr>
      <vt:lpstr>The listen() Function</vt:lpstr>
      <vt:lpstr>The accept() Function</vt:lpstr>
      <vt:lpstr>The accept() Function</vt:lpstr>
      <vt:lpstr>The accept() Function</vt:lpstr>
      <vt:lpstr>The accept() Function</vt:lpstr>
      <vt:lpstr>The send() Function</vt:lpstr>
      <vt:lpstr>The send() Function</vt:lpstr>
      <vt:lpstr>The send() Function</vt:lpstr>
      <vt:lpstr>The send() Function</vt:lpstr>
      <vt:lpstr>The send() Function</vt:lpstr>
      <vt:lpstr>The receive() Function</vt:lpstr>
      <vt:lpstr>The receive() Function</vt:lpstr>
      <vt:lpstr>The receive() Function</vt:lpstr>
      <vt:lpstr>The receive() Function</vt:lpstr>
      <vt:lpstr>The receive() Function</vt:lpstr>
      <vt:lpstr>The close()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 Johnson</cp:lastModifiedBy>
  <cp:revision>62</cp:revision>
  <dcterms:modified xsi:type="dcterms:W3CDTF">2026-04-17T13:56:41Z</dcterms:modified>
</cp:coreProperties>
</file>