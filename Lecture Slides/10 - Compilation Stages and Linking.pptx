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4387" autoAdjust="0"/>
  </p:normalViewPr>
  <p:slideViewPr>
    <p:cSldViewPr>
      <p:cViewPr varScale="1">
        <p:scale>
          <a:sx n="67" d="100"/>
          <a:sy n="67" d="100"/>
        </p:scale>
        <p:origin x="1190" y="58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73B533-2B28-4146-967B-FFD3B2F9060E}" type="datetimeFigureOut">
              <a:rPr lang="en-US" smtClean="0"/>
              <a:t>2/16/2026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A168DF-9E89-434C-8420-43D1583ED2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57235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20396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Lecture Overview</a:t>
            </a:r>
            <a:r>
              <a:rPr lang="en-US" dirty="0"/>
              <a:t>: </a:t>
            </a:r>
          </a:p>
          <a:p>
            <a:r>
              <a:rPr lang="en-US" dirty="0"/>
              <a:t>Lists the day's topics: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Compilation Stages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Static vs. Dynamic Linking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Shared Libraries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Versioning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159622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Compilation Stage Breakdown - Preprocessing</a:t>
            </a:r>
            <a:r>
              <a:rPr lang="en-US" dirty="0"/>
              <a:t>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Explains that the preprocessor expands macros and handles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#include</a:t>
            </a:r>
            <a:r>
              <a:rPr lang="en-US" dirty="0"/>
              <a:t> directives to create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</a:t>
            </a:r>
            <a:r>
              <a:rPr lang="en-US" dirty="0"/>
              <a:t> file.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r>
              <a:rPr lang="en-US" b="1" dirty="0"/>
              <a:t>Preprocessing Flags</a:t>
            </a:r>
            <a:r>
              <a:rPr lang="en-US" dirty="0"/>
              <a:t>: </a:t>
            </a:r>
          </a:p>
          <a:p>
            <a:r>
              <a:rPr lang="en-US" dirty="0"/>
              <a:t>Details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gcc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–E</a:t>
            </a:r>
            <a:r>
              <a:rPr lang="en-US" dirty="0"/>
              <a:t> to stop after preprocessing and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-o</a:t>
            </a:r>
            <a:r>
              <a:rPr lang="en-US" dirty="0"/>
              <a:t> to name the output expanded code file.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u="sng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u="sng" dirty="0"/>
              <a:t>See example:</a:t>
            </a:r>
            <a:br>
              <a:rPr lang="en-US" b="1" u="sng" dirty="0"/>
            </a:br>
            <a:r>
              <a:rPr lang="en-US" dirty="0"/>
              <a:t>Compilation Process directory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130860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Compilation Stage Breakdown - Compiling</a:t>
            </a:r>
            <a:r>
              <a:rPr lang="en-US" dirty="0"/>
              <a:t>: </a:t>
            </a:r>
          </a:p>
          <a:p>
            <a:r>
              <a:rPr lang="en-US" dirty="0"/>
              <a:t>Describes translating high-level C into architecture-specific assembly language in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.s</a:t>
            </a:r>
            <a:r>
              <a:rPr lang="en-US" dirty="0"/>
              <a:t> file.</a:t>
            </a:r>
          </a:p>
          <a:p>
            <a:endParaRPr lang="en-US" dirty="0"/>
          </a:p>
          <a:p>
            <a:r>
              <a:rPr lang="en-US" b="1" dirty="0"/>
              <a:t>Compiling Flags</a:t>
            </a:r>
            <a:r>
              <a:rPr lang="en-US" dirty="0"/>
              <a:t>: </a:t>
            </a:r>
          </a:p>
          <a:p>
            <a:r>
              <a:rPr lang="en-US" dirty="0"/>
              <a:t>Details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gcc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-S</a:t>
            </a:r>
            <a:r>
              <a:rPr lang="en-US" dirty="0"/>
              <a:t> to generate assembly and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-o</a:t>
            </a:r>
            <a:r>
              <a:rPr lang="en-US" dirty="0"/>
              <a:t> to specify the output filename.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93083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.s vs .</a:t>
            </a:r>
            <a:r>
              <a:rPr lang="en-US" b="1" dirty="0" err="1"/>
              <a:t>asm</a:t>
            </a:r>
            <a:r>
              <a:rPr lang="en-US" b="1" dirty="0"/>
              <a:t> Naming</a:t>
            </a:r>
            <a:r>
              <a:rPr lang="en-US" dirty="0"/>
              <a:t>: </a:t>
            </a:r>
          </a:p>
          <a:p>
            <a:r>
              <a:rPr lang="en-US" dirty="0"/>
              <a:t>Clarifies that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.s</a:t>
            </a:r>
            <a:r>
              <a:rPr lang="en-US" dirty="0"/>
              <a:t> is used for Unix/GNU style (AT&amp;T syntax) and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asm</a:t>
            </a:r>
            <a:r>
              <a:rPr lang="en-US" dirty="0"/>
              <a:t> for Windows/MS-DOS style (Intel syntax).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037740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Compilation Stage Breakdown - Assembling</a:t>
            </a:r>
            <a:r>
              <a:rPr lang="en-US" dirty="0"/>
              <a:t>: </a:t>
            </a:r>
          </a:p>
          <a:p>
            <a:r>
              <a:rPr lang="en-US" dirty="0"/>
              <a:t>Explains the assembler's role in converting assembly code into machine-readable object code in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.o</a:t>
            </a:r>
            <a:r>
              <a:rPr lang="en-US" dirty="0"/>
              <a:t> file.</a:t>
            </a:r>
          </a:p>
          <a:p>
            <a:endParaRPr lang="en-US" dirty="0"/>
          </a:p>
          <a:p>
            <a:r>
              <a:rPr lang="en-US" b="1" dirty="0"/>
              <a:t>Assembling Flags &amp; </a:t>
            </a:r>
            <a:r>
              <a:rPr lang="en-US" b="1" dirty="0" err="1"/>
              <a:t>Objdump</a:t>
            </a:r>
            <a:r>
              <a:rPr lang="en-US" dirty="0"/>
              <a:t>: </a:t>
            </a:r>
          </a:p>
          <a:p>
            <a:r>
              <a:rPr lang="en-US" dirty="0"/>
              <a:t>Details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gcc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-c</a:t>
            </a:r>
            <a:r>
              <a:rPr lang="en-US" dirty="0"/>
              <a:t> for assembly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objdump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-d</a:t>
            </a:r>
            <a:r>
              <a:rPr lang="en-US" dirty="0"/>
              <a:t> to disassemble machine code back into assembly instructions for viewing 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678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Compilation Stage Breakdown - Linking</a:t>
            </a:r>
            <a:r>
              <a:rPr lang="en-US" dirty="0"/>
              <a:t>: </a:t>
            </a:r>
          </a:p>
          <a:p>
            <a:r>
              <a:rPr lang="en-US" dirty="0"/>
              <a:t>Describes the final stage where object files and libraries are combined into a single executable program.</a:t>
            </a:r>
          </a:p>
          <a:p>
            <a:endParaRPr lang="en-US" dirty="0"/>
          </a:p>
          <a:p>
            <a:r>
              <a:rPr lang="en-US" b="1" dirty="0"/>
              <a:t>Linking Flags</a:t>
            </a:r>
            <a:r>
              <a:rPr lang="en-US" dirty="0"/>
              <a:t>: </a:t>
            </a:r>
          </a:p>
          <a:p>
            <a:r>
              <a:rPr lang="en-US" dirty="0"/>
              <a:t>Explains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gcc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[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object_file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] -o [program]</a:t>
            </a:r>
            <a:r>
              <a:rPr lang="en-US" dirty="0"/>
              <a:t> to create a fully functional executable 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567473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Summary of Flags (ESCL)</a:t>
            </a:r>
            <a:r>
              <a:rPr lang="en-US" dirty="0"/>
              <a:t>: </a:t>
            </a:r>
          </a:p>
          <a:p>
            <a:r>
              <a:rPr lang="en-US" dirty="0"/>
              <a:t>Provides a mnemonic "Every Smart Coder Links" for the flags: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-E</a:t>
            </a:r>
            <a:r>
              <a:rPr lang="en-US" dirty="0"/>
              <a:t> (Expand)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-S</a:t>
            </a:r>
            <a:r>
              <a:rPr lang="en-US" dirty="0"/>
              <a:t> (Source)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-c</a:t>
            </a:r>
            <a:r>
              <a:rPr lang="en-US" dirty="0"/>
              <a:t> (Compile)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default (Link)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536368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Static Linking Commands</a:t>
            </a:r>
            <a:r>
              <a:rPr lang="en-US" dirty="0"/>
              <a:t>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Shows the command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gcc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-c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mathlib.c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-o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mathlib.o</a:t>
            </a:r>
            <a:r>
              <a:rPr lang="en-US" dirty="0"/>
              <a:t> used to begin the static linking process.</a:t>
            </a:r>
            <a:endParaRPr lang="en-US" u="sng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u="sng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Creating a Statically Linked Program</a:t>
            </a:r>
            <a:r>
              <a:rPr lang="en-US" dirty="0"/>
              <a:t>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Demonstrates combining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main_static.c</a:t>
            </a:r>
            <a:r>
              <a:rPr lang="en-US" dirty="0"/>
              <a:t> 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mathlib.o</a:t>
            </a:r>
            <a:r>
              <a:rPr lang="en-US" dirty="0"/>
              <a:t> into a single executable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program_static</a:t>
            </a:r>
            <a:r>
              <a:rPr lang="en-US" dirty="0"/>
              <a:t> 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u="sng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u="sng" dirty="0"/>
              <a:t>See example:</a:t>
            </a:r>
            <a:br>
              <a:rPr lang="en-US" b="1" u="sng" dirty="0"/>
            </a:br>
            <a:r>
              <a:rPr lang="en-US" dirty="0"/>
              <a:t>Static Linking directory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204726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Static vs. Dynamic Overview</a:t>
            </a:r>
            <a:r>
              <a:rPr lang="en-US" dirty="0"/>
              <a:t>: </a:t>
            </a:r>
          </a:p>
          <a:p>
            <a:r>
              <a:rPr lang="en-US" dirty="0"/>
              <a:t>Contrasts how static linking copies libraries into the executable, resulting in larger file sizes but no runtime dependencies.</a:t>
            </a:r>
          </a:p>
          <a:p>
            <a:endParaRPr lang="en-US" dirty="0"/>
          </a:p>
          <a:p>
            <a:r>
              <a:rPr lang="en-US" b="1" dirty="0"/>
              <a:t>Pros and Cons of Static Linking</a:t>
            </a:r>
            <a:r>
              <a:rPr lang="en-US" dirty="0"/>
              <a:t>: </a:t>
            </a:r>
          </a:p>
          <a:p>
            <a:r>
              <a:rPr lang="en-US" dirty="0"/>
              <a:t>Lists benefits (fast execution, no dependencies) and drawbacks (large size, no easy updates).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49946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Figure 1:</a:t>
            </a:r>
          </a:p>
          <a:p>
            <a:r>
              <a:rPr lang="en-US" dirty="0"/>
              <a:t>A diagram of static linking where a linker combines application binary code and library binary code into a single executable.</a:t>
            </a:r>
          </a:p>
          <a:p>
            <a:endParaRPr lang="en-US" dirty="0"/>
          </a:p>
          <a:p>
            <a:r>
              <a:rPr lang="en-US" b="1" dirty="0"/>
              <a:t>Figure 2:</a:t>
            </a:r>
          </a:p>
          <a:p>
            <a:r>
              <a:rPr lang="en-US" dirty="0"/>
              <a:t>A flow chart showing a linker merging two object files and libraries into a single, potentially large .exe file.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097490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Figure illustrates the drawback of static linking:</a:t>
            </a:r>
          </a:p>
          <a:p>
            <a:r>
              <a:rPr lang="en-US" dirty="0"/>
              <a:t>A four-step diagram explaining that static linking requires a full re-compilation of the executable if a library function is updated.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321589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Figure description:</a:t>
            </a:r>
          </a:p>
          <a:p>
            <a:r>
              <a:rPr lang="en-US" dirty="0"/>
              <a:t>A diagram of dynamic linking where the linker places a memory address reference in the executable instead of the full library code.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000770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Dynamic Linking Benefits</a:t>
            </a:r>
            <a:r>
              <a:rPr lang="en-US" dirty="0"/>
              <a:t>: </a:t>
            </a:r>
          </a:p>
          <a:p>
            <a:r>
              <a:rPr lang="en-US" dirty="0"/>
              <a:t>Explains that dynamic linking allows for smaller executables and shared memory usage, reducing redundancy.</a:t>
            </a:r>
          </a:p>
          <a:p>
            <a:endParaRPr lang="en-US" dirty="0"/>
          </a:p>
          <a:p>
            <a:r>
              <a:rPr lang="en-US" b="1" dirty="0"/>
              <a:t>Steps for Dynamic Linking</a:t>
            </a:r>
            <a:r>
              <a:rPr lang="en-US" dirty="0"/>
              <a:t>: </a:t>
            </a:r>
          </a:p>
          <a:p>
            <a:r>
              <a:rPr lang="en-US" dirty="0"/>
              <a:t>Outlines the three steps: create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.so</a:t>
            </a:r>
            <a:r>
              <a:rPr lang="en-US" dirty="0"/>
              <a:t> file, use it in a program, and compile/run.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356128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Step 1: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Shared Library Concept</a:t>
            </a:r>
            <a:r>
              <a:rPr lang="en-US" dirty="0"/>
              <a:t>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Defines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.so</a:t>
            </a:r>
            <a:r>
              <a:rPr lang="en-US" dirty="0"/>
              <a:t> (Shared Object) files and explains how they are linked only at runtime.</a:t>
            </a:r>
            <a:endParaRPr lang="en-US" u="sng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u="sng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u="sng" dirty="0"/>
              <a:t>See example:</a:t>
            </a:r>
            <a:br>
              <a:rPr lang="en-US" u="sng" dirty="0"/>
            </a:br>
            <a:r>
              <a:rPr lang="en-US" dirty="0"/>
              <a:t>Dynamic Linking directory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41265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Creating the Shared Library</a:t>
            </a:r>
            <a:r>
              <a:rPr lang="en-US" dirty="0"/>
              <a:t>: </a:t>
            </a:r>
          </a:p>
          <a:p>
            <a:r>
              <a:rPr lang="en-US" dirty="0"/>
              <a:t>Details the command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gcc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-shared -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fPIC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-o libmath.so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mathlib.c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8818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Importance of -</a:t>
            </a:r>
            <a:r>
              <a:rPr lang="en-US" b="1" dirty="0" err="1"/>
              <a:t>fPIC</a:t>
            </a:r>
            <a:r>
              <a:rPr lang="en-US" dirty="0"/>
              <a:t>: </a:t>
            </a:r>
          </a:p>
          <a:p>
            <a:r>
              <a:rPr lang="en-US" dirty="0"/>
              <a:t>Explains that Position Independent Code (PIC) is necessary because shared libraries are loaded at non-fixed memory addresses.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528253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How -</a:t>
            </a:r>
            <a:r>
              <a:rPr lang="en-US" b="1" dirty="0" err="1"/>
              <a:t>fPIC</a:t>
            </a:r>
            <a:r>
              <a:rPr lang="en-US" b="1" dirty="0"/>
              <a:t> Works</a:t>
            </a:r>
            <a:r>
              <a:rPr lang="en-US" dirty="0"/>
              <a:t>: </a:t>
            </a:r>
          </a:p>
          <a:p>
            <a:r>
              <a:rPr lang="en-US" dirty="0"/>
              <a:t>Explains the use of a Global Offset Table (GOT) to access symbols relative to a base register at runtime.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5212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Step 2:</a:t>
            </a:r>
          </a:p>
          <a:p>
            <a:r>
              <a:rPr lang="en-US" b="1" dirty="0"/>
              <a:t>Using the Shared Library</a:t>
            </a:r>
            <a:r>
              <a:rPr lang="en-US" dirty="0"/>
              <a:t>: </a:t>
            </a:r>
          </a:p>
          <a:p>
            <a:r>
              <a:rPr lang="en-US" dirty="0"/>
              <a:t>Shows the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main.c</a:t>
            </a:r>
            <a:r>
              <a:rPr lang="en-US" dirty="0"/>
              <a:t> code declaring the library functions for use in the main program.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31008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Step 3:</a:t>
            </a:r>
          </a:p>
          <a:p>
            <a:r>
              <a:rPr lang="en-US" b="1" dirty="0"/>
              <a:t>Linking the Shared Library</a:t>
            </a:r>
            <a:r>
              <a:rPr lang="en-US" dirty="0"/>
              <a:t>: </a:t>
            </a:r>
          </a:p>
          <a:p>
            <a:r>
              <a:rPr lang="en-US" dirty="0"/>
              <a:t>Demonstrates the command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gcc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main.c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-L. -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lmath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 -o program</a:t>
            </a:r>
            <a:r>
              <a:rPr lang="en-US" dirty="0"/>
              <a:t>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-L.</a:t>
            </a:r>
            <a:r>
              <a:rPr lang="en-US" dirty="0"/>
              <a:t>: Look in the current directory for libraries.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lmath</a:t>
            </a:r>
            <a:r>
              <a:rPr lang="en-US" dirty="0"/>
              <a:t>: Link against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libmath.so</a:t>
            </a:r>
            <a:r>
              <a:rPr lang="en-US" dirty="0"/>
              <a:t> (the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</a:t>
            </a:r>
            <a:r>
              <a:rPr lang="en-US" dirty="0"/>
              <a:t> prefix and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.so</a:t>
            </a:r>
            <a:r>
              <a:rPr lang="en-US" dirty="0"/>
              <a:t> suffix are assumed).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0834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dlopen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: </a:t>
            </a:r>
          </a:p>
          <a:p>
            <a:r>
              <a:rPr lang="en-US" dirty="0"/>
              <a:t>The function used to load a library. It takes a path to a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.so</a:t>
            </a:r>
            <a:r>
              <a:rPr lang="en-US" dirty="0"/>
              <a:t> file and returns a "handle" (a pointer) to that library.</a:t>
            </a:r>
          </a:p>
          <a:p>
            <a:endParaRPr lang="en-US" dirty="0"/>
          </a:p>
          <a:p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dlsym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: </a:t>
            </a:r>
          </a:p>
          <a:p>
            <a:r>
              <a:rPr lang="en-US" dirty="0"/>
              <a:t>The function used to find a specific symbol (like a function name) inside the loaded library. It returns a function pointer that your code can call.</a:t>
            </a:r>
          </a:p>
          <a:p>
            <a:endParaRPr lang="en-US" dirty="0"/>
          </a:p>
          <a:p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dlerror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b="1" dirty="0"/>
              <a:t> and 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dlclose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: 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dlerror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provides a human-readable string explaining why a load failed; </a:t>
            </a: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dlclose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()</a:t>
            </a:r>
            <a:r>
              <a:rPr lang="en-US" dirty="0"/>
              <a:t> unloads the library to free up memory.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u="sng" dirty="0"/>
          </a:p>
          <a:p>
            <a:r>
              <a:rPr lang="en-US" b="1" dirty="0"/>
              <a:t>The 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&lt;</a:t>
            </a:r>
            <a:r>
              <a:rPr lang="en-US" sz="1200" b="1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dlfcn.h</a:t>
            </a:r>
            <a:r>
              <a:rPr lang="en-US" sz="1200" b="1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&gt;</a:t>
            </a:r>
            <a:r>
              <a:rPr lang="en-US" b="1" dirty="0"/>
              <a:t> Header</a:t>
            </a:r>
            <a:r>
              <a:rPr lang="en-US" dirty="0"/>
              <a:t>: </a:t>
            </a:r>
          </a:p>
          <a:p>
            <a:r>
              <a:rPr lang="en-US" dirty="0"/>
              <a:t>Introduces the API for manual loading. Note: You must link with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ldl</a:t>
            </a:r>
            <a:r>
              <a:rPr lang="en-US" dirty="0"/>
              <a:t> to use these functions.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u="sng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u="sng" dirty="0"/>
              <a:t>See example:</a:t>
            </a:r>
            <a:br>
              <a:rPr lang="en-US" b="1" u="sng" dirty="0"/>
            </a:br>
            <a:r>
              <a:rPr lang="en-US" dirty="0"/>
              <a:t>Manual Runtime Link directory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91146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Example Code (</a:t>
            </a:r>
            <a:r>
              <a:rPr lang="en-US" b="1" dirty="0" err="1"/>
              <a:t>dlopen</a:t>
            </a:r>
            <a:r>
              <a:rPr lang="en-US" b="1" dirty="0"/>
              <a:t>)</a:t>
            </a:r>
            <a:r>
              <a:rPr lang="en-US" dirty="0"/>
              <a:t>: </a:t>
            </a:r>
          </a:p>
          <a:p>
            <a:r>
              <a:rPr lang="en-US" dirty="0"/>
              <a:t>A code snippet showing the full workflow: loading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libmath.so</a:t>
            </a:r>
            <a:r>
              <a:rPr lang="en-US" dirty="0"/>
              <a:t>, finding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add</a:t>
            </a:r>
            <a:r>
              <a:rPr lang="en-US" dirty="0"/>
              <a:t> function, calling it, and closing the library.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u="sng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5033410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Semantic Versioning</a:t>
            </a:r>
            <a:r>
              <a:rPr lang="en-US" dirty="0"/>
              <a:t>: </a:t>
            </a:r>
          </a:p>
          <a:p>
            <a:r>
              <a:rPr lang="en-US" dirty="0"/>
              <a:t>Introduces the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MAJOR.MINOR.PATCH</a:t>
            </a:r>
            <a:r>
              <a:rPr lang="en-US" dirty="0"/>
              <a:t> standard.</a:t>
            </a:r>
          </a:p>
          <a:p>
            <a:endParaRPr lang="en-US" b="1" dirty="0"/>
          </a:p>
          <a:p>
            <a:r>
              <a:rPr lang="en-US" b="1" dirty="0"/>
              <a:t>Major Versions</a:t>
            </a:r>
            <a:r>
              <a:rPr lang="en-US" dirty="0"/>
              <a:t>: </a:t>
            </a:r>
          </a:p>
          <a:p>
            <a:r>
              <a:rPr lang="en-US" dirty="0"/>
              <a:t>Breaking changes. If the function parameters change, you increment the Major version (e.g., 1.0 to 2.0).</a:t>
            </a:r>
          </a:p>
          <a:p>
            <a:endParaRPr lang="en-US" dirty="0"/>
          </a:p>
          <a:p>
            <a:r>
              <a:rPr lang="en-US" b="1" dirty="0"/>
              <a:t>Minor Versions</a:t>
            </a:r>
            <a:r>
              <a:rPr lang="en-US" dirty="0"/>
              <a:t>: </a:t>
            </a:r>
          </a:p>
          <a:p>
            <a:r>
              <a:rPr lang="en-US" dirty="0"/>
              <a:t>New features. If you add a new function but keep the old ones the same, you increment the Minor version.</a:t>
            </a:r>
          </a:p>
          <a:p>
            <a:endParaRPr lang="en-US" dirty="0"/>
          </a:p>
          <a:p>
            <a:r>
              <a:rPr lang="en-US" b="1" dirty="0"/>
              <a:t>Patch Versions</a:t>
            </a:r>
            <a:r>
              <a:rPr lang="en-US" dirty="0"/>
              <a:t>: </a:t>
            </a:r>
          </a:p>
          <a:p>
            <a:r>
              <a:rPr lang="en-US" dirty="0"/>
              <a:t>Bug fixes. No changes to the interface, just fixing the logic inside.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87807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dirty="0"/>
              <a:t>Versioning Walkthrough</a:t>
            </a:r>
            <a:r>
              <a:rPr lang="en-US" dirty="0"/>
              <a:t>: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 step-by-step example of creating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libmath_v1.c</a:t>
            </a:r>
            <a:r>
              <a:rPr lang="en-US" dirty="0"/>
              <a:t> and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libmath_v2.c</a:t>
            </a:r>
            <a:r>
              <a:rPr lang="en-US" dirty="0"/>
              <a:t> and using </a:t>
            </a:r>
            <a:r>
              <a:rPr lang="en-US" dirty="0" err="1"/>
              <a:t>symlinks</a:t>
            </a:r>
            <a:r>
              <a:rPr lang="en-US" dirty="0"/>
              <a:t> to switch between them.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u="sng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b="1" u="sng" dirty="0"/>
              <a:t>See example:</a:t>
            </a:r>
            <a:br>
              <a:rPr lang="en-US" b="1" u="sng" dirty="0"/>
            </a:br>
            <a:r>
              <a:rPr lang="en-US" u="none" dirty="0"/>
              <a:t>Shared Library Versioning directory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A168DF-9E89-434C-8420-43D1583ED296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28792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300575" y="1801143"/>
            <a:ext cx="4916805" cy="45427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2/16/2026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2/16/2026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2/16/2026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133945"/>
            <a:ext cx="12192000" cy="1009054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10375" y="1415541"/>
            <a:ext cx="6837680" cy="68275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500" b="0" i="0">
                <a:solidFill>
                  <a:srgbClr val="0F2044"/>
                </a:solidFill>
                <a:latin typeface="Georgia"/>
                <a:cs typeface="Georgia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37150" y="3108832"/>
            <a:ext cx="9444990" cy="20599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800" b="0" i="0">
                <a:solidFill>
                  <a:schemeClr val="tx1"/>
                </a:solidFill>
                <a:latin typeface="Arial MT"/>
                <a:cs typeface="Arial MT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2/16/2026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jp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7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://www.codeinsideout.com/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3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762183" y="2702546"/>
            <a:ext cx="8662035" cy="772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4900" dirty="0"/>
              <a:t>CSC</a:t>
            </a:r>
            <a:r>
              <a:rPr sz="4900" spc="-85" dirty="0"/>
              <a:t> </a:t>
            </a:r>
            <a:r>
              <a:rPr sz="4900" dirty="0"/>
              <a:t>362:</a:t>
            </a:r>
            <a:r>
              <a:rPr sz="4900" spc="-85" dirty="0"/>
              <a:t> </a:t>
            </a:r>
            <a:r>
              <a:rPr sz="4900" dirty="0"/>
              <a:t>System</a:t>
            </a:r>
            <a:r>
              <a:rPr sz="4900" spc="-90" dirty="0"/>
              <a:t> </a:t>
            </a:r>
            <a:r>
              <a:rPr sz="4900" spc="-10" dirty="0"/>
              <a:t>Programming</a:t>
            </a:r>
            <a:endParaRPr sz="4900"/>
          </a:p>
        </p:txBody>
      </p:sp>
      <p:sp>
        <p:nvSpPr>
          <p:cNvPr id="3" name="object 3"/>
          <p:cNvSpPr txBox="1"/>
          <p:nvPr/>
        </p:nvSpPr>
        <p:spPr>
          <a:xfrm>
            <a:off x="5363120" y="3585985"/>
            <a:ext cx="146558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Lecture</a:t>
            </a:r>
            <a:r>
              <a:rPr sz="2400" spc="-1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spc="-25" dirty="0">
                <a:solidFill>
                  <a:srgbClr val="0F2044"/>
                </a:solidFill>
                <a:latin typeface="Arial MT"/>
                <a:cs typeface="Arial MT"/>
              </a:rPr>
              <a:t>10</a:t>
            </a:r>
            <a:endParaRPr sz="2400">
              <a:latin typeface="Arial MT"/>
              <a:cs typeface="Arial MT"/>
            </a:endParaRPr>
          </a:p>
        </p:txBody>
      </p:sp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618174" y="4145624"/>
            <a:ext cx="9054465" cy="31115"/>
          </a:xfrm>
          <a:custGeom>
            <a:avLst/>
            <a:gdLst/>
            <a:ahLst/>
            <a:cxnLst/>
            <a:rect l="l" t="t" r="r" b="b"/>
            <a:pathLst>
              <a:path w="9054465" h="31114">
                <a:moveTo>
                  <a:pt x="0" y="0"/>
                </a:moveTo>
                <a:lnTo>
                  <a:pt x="9053999" y="30899"/>
                </a:lnTo>
              </a:path>
            </a:pathLst>
          </a:custGeom>
          <a:ln w="9524">
            <a:solidFill>
              <a:srgbClr val="0F20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BBC35DD-328E-20A5-CCFA-F0209BAB12C3}"/>
              </a:ext>
            </a:extLst>
          </p:cNvPr>
          <p:cNvSpPr txBox="1"/>
          <p:nvPr/>
        </p:nvSpPr>
        <p:spPr>
          <a:xfrm>
            <a:off x="3098244" y="4267200"/>
            <a:ext cx="6094324" cy="6781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dirty="0"/>
              <a:t>Original slides by: Amitabha Dey</a:t>
            </a:r>
          </a:p>
          <a:p>
            <a:pPr marL="0" marR="0" lvl="0" indent="0" algn="ctr" rtl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None/>
            </a:pPr>
            <a:r>
              <a:rPr lang="en-US" dirty="0"/>
              <a:t>Adapted by: Dr. Richard Johnson</a:t>
            </a:r>
          </a:p>
        </p:txBody>
      </p:sp>
      <p:sp>
        <p:nvSpPr>
          <p:cNvPr id="5" name="object 5"/>
          <p:cNvSpPr txBox="1"/>
          <p:nvPr/>
        </p:nvSpPr>
        <p:spPr>
          <a:xfrm>
            <a:off x="3203401" y="5437645"/>
            <a:ext cx="5782310" cy="720725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 marR="5080" indent="617855">
              <a:lnSpc>
                <a:spcPts val="2590"/>
              </a:lnSpc>
              <a:spcBef>
                <a:spcPts val="425"/>
              </a:spcBef>
            </a:pPr>
            <a:r>
              <a:rPr sz="2400" spc="-10" dirty="0">
                <a:solidFill>
                  <a:srgbClr val="0F2044"/>
                </a:solidFill>
                <a:latin typeface="Arial MT"/>
                <a:cs typeface="Arial MT"/>
              </a:rPr>
              <a:t>Department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24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Computer</a:t>
            </a:r>
            <a:r>
              <a:rPr sz="24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F2044"/>
                </a:solidFill>
                <a:latin typeface="Arial MT"/>
                <a:cs typeface="Arial MT"/>
              </a:rPr>
              <a:t>Science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University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of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North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Carolina</a:t>
            </a:r>
            <a:r>
              <a:rPr sz="24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dirty="0">
                <a:solidFill>
                  <a:srgbClr val="0F2044"/>
                </a:solidFill>
                <a:latin typeface="Arial MT"/>
                <a:cs typeface="Arial MT"/>
              </a:rPr>
              <a:t>at</a:t>
            </a:r>
            <a:r>
              <a:rPr sz="24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2400" spc="-10" dirty="0">
                <a:solidFill>
                  <a:srgbClr val="0F2044"/>
                </a:solidFill>
                <a:latin typeface="Arial MT"/>
                <a:cs typeface="Arial MT"/>
              </a:rPr>
              <a:t>Greensboro</a:t>
            </a:r>
            <a:endParaRPr sz="24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435436"/>
            <a:ext cx="1834514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Status</a:t>
            </a:r>
            <a:r>
              <a:rPr spc="-30" dirty="0"/>
              <a:t> </a:t>
            </a:r>
            <a:r>
              <a:rPr spc="-10" dirty="0"/>
              <a:t>Check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41325" y="1838623"/>
            <a:ext cx="6746875" cy="4703445"/>
          </a:xfrm>
          <a:prstGeom prst="rect">
            <a:avLst/>
          </a:prstGeom>
        </p:spPr>
        <p:txBody>
          <a:bodyPr vert="horz" wrap="square" lIns="0" tIns="142240" rIns="0" bIns="0" rtlCol="0">
            <a:spAutoFit/>
          </a:bodyPr>
          <a:lstStyle/>
          <a:p>
            <a:pPr marL="469265" indent="-358775">
              <a:lnSpc>
                <a:spcPct val="100000"/>
              </a:lnSpc>
              <a:spcBef>
                <a:spcPts val="1120"/>
              </a:spcBef>
              <a:buChar char="●"/>
              <a:tabLst>
                <a:tab pos="469265" algn="l"/>
              </a:tabLst>
            </a:pP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Advanced</a:t>
            </a:r>
            <a:r>
              <a:rPr sz="17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20" dirty="0">
                <a:solidFill>
                  <a:srgbClr val="0F2044"/>
                </a:solidFill>
                <a:latin typeface="Arial MT"/>
                <a:cs typeface="Arial MT"/>
              </a:rPr>
              <a:t>Makefile</a:t>
            </a:r>
            <a:r>
              <a:rPr sz="1700" spc="-10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Application</a:t>
            </a:r>
            <a:endParaRPr sz="1700">
              <a:latin typeface="Arial MT"/>
              <a:cs typeface="Arial MT"/>
            </a:endParaRPr>
          </a:p>
          <a:p>
            <a:pPr marL="927100" marR="5080" lvl="1" indent="-359410">
              <a:lnSpc>
                <a:spcPct val="150000"/>
              </a:lnSpc>
              <a:buChar char="○"/>
              <a:tabLst>
                <a:tab pos="927100" algn="l"/>
              </a:tabLst>
            </a:pP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Common</a:t>
            </a:r>
            <a:r>
              <a:rPr sz="1700" spc="-10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20" dirty="0">
                <a:solidFill>
                  <a:srgbClr val="0F2044"/>
                </a:solidFill>
                <a:latin typeface="Arial MT"/>
                <a:cs typeface="Arial MT"/>
              </a:rPr>
              <a:t>Variables,</a:t>
            </a:r>
            <a:r>
              <a:rPr sz="1700" spc="-6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Phony</a:t>
            </a:r>
            <a:r>
              <a:rPr sz="1700" spc="-8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25" dirty="0">
                <a:solidFill>
                  <a:srgbClr val="0F2044"/>
                </a:solidFill>
                <a:latin typeface="Arial MT"/>
                <a:cs typeface="Arial MT"/>
              </a:rPr>
              <a:t>Targets,</a:t>
            </a:r>
            <a:r>
              <a:rPr sz="1700" spc="-6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Pattern</a:t>
            </a:r>
            <a:r>
              <a:rPr sz="1700" spc="-5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20" dirty="0">
                <a:solidFill>
                  <a:srgbClr val="0F2044"/>
                </a:solidFill>
                <a:latin typeface="Arial MT"/>
                <a:cs typeface="Arial MT"/>
              </a:rPr>
              <a:t>Rules,</a:t>
            </a:r>
            <a:r>
              <a:rPr sz="1700" spc="-10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Automatic </a:t>
            </a:r>
            <a:r>
              <a:rPr sz="1700" spc="-20" dirty="0">
                <a:solidFill>
                  <a:srgbClr val="0F2044"/>
                </a:solidFill>
                <a:latin typeface="Arial MT"/>
                <a:cs typeface="Arial MT"/>
              </a:rPr>
              <a:t>Variables,</a:t>
            </a:r>
            <a:r>
              <a:rPr sz="17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Conditional</a:t>
            </a:r>
            <a:r>
              <a:rPr sz="17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Directives,</a:t>
            </a:r>
            <a:r>
              <a:rPr sz="17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Recursive</a:t>
            </a:r>
            <a:r>
              <a:rPr sz="17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20" dirty="0">
                <a:solidFill>
                  <a:srgbClr val="0F2044"/>
                </a:solidFill>
                <a:latin typeface="Arial MT"/>
                <a:cs typeface="Arial MT"/>
              </a:rPr>
              <a:t>Make</a:t>
            </a:r>
            <a:endParaRPr sz="1700">
              <a:latin typeface="Arial MT"/>
              <a:cs typeface="Arial MT"/>
            </a:endParaRPr>
          </a:p>
          <a:p>
            <a:pPr lvl="1">
              <a:lnSpc>
                <a:spcPct val="100000"/>
              </a:lnSpc>
              <a:spcBef>
                <a:spcPts val="810"/>
              </a:spcBef>
              <a:buClr>
                <a:srgbClr val="0F2044"/>
              </a:buClr>
              <a:buFont typeface="Arial MT"/>
              <a:buChar char="○"/>
            </a:pPr>
            <a:endParaRPr sz="170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</a:pP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What</a:t>
            </a:r>
            <a:r>
              <a:rPr sz="25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we</a:t>
            </a:r>
            <a:r>
              <a:rPr sz="25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will</a:t>
            </a:r>
            <a:r>
              <a:rPr sz="2500" spc="-35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dirty="0">
                <a:solidFill>
                  <a:srgbClr val="0F2044"/>
                </a:solidFill>
                <a:latin typeface="Georgia"/>
                <a:cs typeface="Georgia"/>
              </a:rPr>
              <a:t>cover</a:t>
            </a:r>
            <a:r>
              <a:rPr sz="2500" spc="-30" dirty="0">
                <a:solidFill>
                  <a:srgbClr val="0F2044"/>
                </a:solidFill>
                <a:latin typeface="Georgia"/>
                <a:cs typeface="Georgia"/>
              </a:rPr>
              <a:t> </a:t>
            </a:r>
            <a:r>
              <a:rPr sz="2500" spc="-20" dirty="0">
                <a:solidFill>
                  <a:srgbClr val="0F2044"/>
                </a:solidFill>
                <a:latin typeface="Georgia"/>
                <a:cs typeface="Georgia"/>
              </a:rPr>
              <a:t>today</a:t>
            </a:r>
            <a:endParaRPr sz="2500">
              <a:latin typeface="Georgia"/>
              <a:cs typeface="Georgia"/>
            </a:endParaRPr>
          </a:p>
          <a:p>
            <a:pPr marL="469265" indent="-358775">
              <a:lnSpc>
                <a:spcPct val="100000"/>
              </a:lnSpc>
              <a:spcBef>
                <a:spcPts val="1485"/>
              </a:spcBef>
              <a:buChar char="●"/>
              <a:tabLst>
                <a:tab pos="469265" algn="l"/>
              </a:tabLst>
            </a:pP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Compilation</a:t>
            </a:r>
            <a:r>
              <a:rPr sz="17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Stages</a:t>
            </a:r>
            <a:endParaRPr sz="1700">
              <a:latin typeface="Arial MT"/>
              <a:cs typeface="Arial MT"/>
            </a:endParaRPr>
          </a:p>
          <a:p>
            <a:pPr marL="926465" lvl="1" indent="-358775">
              <a:lnSpc>
                <a:spcPct val="100000"/>
              </a:lnSpc>
              <a:spcBef>
                <a:spcPts val="1019"/>
              </a:spcBef>
              <a:buChar char="○"/>
              <a:tabLst>
                <a:tab pos="926465" algn="l"/>
              </a:tabLst>
            </a:pP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Preprocessing,</a:t>
            </a:r>
            <a:r>
              <a:rPr sz="17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20" dirty="0">
                <a:solidFill>
                  <a:srgbClr val="0F2044"/>
                </a:solidFill>
                <a:latin typeface="Arial MT"/>
                <a:cs typeface="Arial MT"/>
              </a:rPr>
              <a:t>Compiling,</a:t>
            </a:r>
            <a:r>
              <a:rPr sz="1700" spc="-10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Assembling,</a:t>
            </a:r>
            <a:r>
              <a:rPr sz="17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Linking</a:t>
            </a:r>
            <a:endParaRPr sz="1700">
              <a:latin typeface="Arial MT"/>
              <a:cs typeface="Arial MT"/>
            </a:endParaRPr>
          </a:p>
          <a:p>
            <a:pPr marL="469265" indent="-358775">
              <a:lnSpc>
                <a:spcPct val="100000"/>
              </a:lnSpc>
              <a:spcBef>
                <a:spcPts val="1019"/>
              </a:spcBef>
              <a:buChar char="●"/>
              <a:tabLst>
                <a:tab pos="469265" algn="l"/>
              </a:tabLst>
            </a:pP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Static</a:t>
            </a:r>
            <a:r>
              <a:rPr sz="17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Linking</a:t>
            </a:r>
            <a:r>
              <a:rPr sz="17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vs</a:t>
            </a:r>
            <a:r>
              <a:rPr sz="17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Dynamic</a:t>
            </a:r>
            <a:r>
              <a:rPr sz="1700" spc="-4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Linking</a:t>
            </a:r>
            <a:endParaRPr sz="1700">
              <a:latin typeface="Arial MT"/>
              <a:cs typeface="Arial MT"/>
            </a:endParaRPr>
          </a:p>
          <a:p>
            <a:pPr marL="926465" lvl="1" indent="-358775">
              <a:lnSpc>
                <a:spcPct val="100000"/>
              </a:lnSpc>
              <a:spcBef>
                <a:spcPts val="1019"/>
              </a:spcBef>
              <a:buChar char="○"/>
              <a:tabLst>
                <a:tab pos="926465" algn="l"/>
              </a:tabLst>
            </a:pP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Shared</a:t>
            </a:r>
            <a:r>
              <a:rPr sz="1700" spc="-8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Libraries</a:t>
            </a:r>
            <a:endParaRPr sz="1700">
              <a:latin typeface="Arial MT"/>
              <a:cs typeface="Arial MT"/>
            </a:endParaRPr>
          </a:p>
          <a:p>
            <a:pPr marL="469265" indent="-358775">
              <a:lnSpc>
                <a:spcPct val="100000"/>
              </a:lnSpc>
              <a:spcBef>
                <a:spcPts val="1019"/>
              </a:spcBef>
              <a:buChar char="●"/>
              <a:tabLst>
                <a:tab pos="469265" algn="l"/>
              </a:tabLst>
            </a:pP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Dynamic</a:t>
            </a:r>
            <a:r>
              <a:rPr sz="1700" spc="-5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Linking</a:t>
            </a:r>
            <a:r>
              <a:rPr sz="1700" spc="-4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20" dirty="0">
                <a:solidFill>
                  <a:srgbClr val="0F2044"/>
                </a:solidFill>
                <a:latin typeface="Arial MT"/>
                <a:cs typeface="Arial MT"/>
              </a:rPr>
              <a:t>with</a:t>
            </a:r>
            <a:endParaRPr sz="1700">
              <a:latin typeface="Arial MT"/>
              <a:cs typeface="Arial MT"/>
            </a:endParaRPr>
          </a:p>
          <a:p>
            <a:pPr marL="926465" lvl="1" indent="-358775">
              <a:lnSpc>
                <a:spcPct val="100000"/>
              </a:lnSpc>
              <a:spcBef>
                <a:spcPts val="1019"/>
              </a:spcBef>
              <a:buChar char="○"/>
              <a:tabLst>
                <a:tab pos="926465" algn="l"/>
              </a:tabLst>
            </a:pP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dlopen(),</a:t>
            </a:r>
            <a:r>
              <a:rPr sz="17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dlsym(),</a:t>
            </a:r>
            <a:r>
              <a:rPr sz="17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and</a:t>
            </a:r>
            <a:r>
              <a:rPr sz="1700" spc="-6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dlclose()</a:t>
            </a:r>
            <a:endParaRPr sz="1700">
              <a:latin typeface="Arial MT"/>
              <a:cs typeface="Arial MT"/>
            </a:endParaRPr>
          </a:p>
          <a:p>
            <a:pPr marL="469265" indent="-358775">
              <a:lnSpc>
                <a:spcPct val="100000"/>
              </a:lnSpc>
              <a:spcBef>
                <a:spcPts val="1019"/>
              </a:spcBef>
              <a:buChar char="●"/>
              <a:tabLst>
                <a:tab pos="469265" algn="l"/>
              </a:tabLst>
            </a:pP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Shared</a:t>
            </a:r>
            <a:r>
              <a:rPr sz="1700" spc="-7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dirty="0">
                <a:solidFill>
                  <a:srgbClr val="0F2044"/>
                </a:solidFill>
                <a:latin typeface="Arial MT"/>
                <a:cs typeface="Arial MT"/>
              </a:rPr>
              <a:t>Library</a:t>
            </a:r>
            <a:r>
              <a:rPr sz="1700" spc="-7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700" spc="-10" dirty="0">
                <a:solidFill>
                  <a:srgbClr val="0F2044"/>
                </a:solidFill>
                <a:latin typeface="Arial MT"/>
                <a:cs typeface="Arial MT"/>
              </a:rPr>
              <a:t>Versioning</a:t>
            </a:r>
            <a:endParaRPr sz="1700">
              <a:latin typeface="Arial MT"/>
              <a:cs typeface="Arial MT"/>
            </a:endParaRPr>
          </a:p>
        </p:txBody>
      </p:sp>
      <p:pic>
        <p:nvPic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882518" y="2216065"/>
            <a:ext cx="3208348" cy="274389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spc="-10" dirty="0"/>
              <a:t>Compilation</a:t>
            </a:r>
            <a:r>
              <a:rPr spc="-85" dirty="0"/>
              <a:t> </a:t>
            </a:r>
            <a:r>
              <a:rPr dirty="0"/>
              <a:t>Stage</a:t>
            </a:r>
            <a:r>
              <a:rPr spc="-85" dirty="0"/>
              <a:t> </a:t>
            </a:r>
            <a:r>
              <a:rPr spc="-10" dirty="0"/>
              <a:t>Breakdown</a:t>
            </a:r>
          </a:p>
          <a:p>
            <a:pPr marL="12700">
              <a:lnSpc>
                <a:spcPts val="2285"/>
              </a:lnSpc>
            </a:pPr>
            <a:r>
              <a:rPr sz="2000" spc="-10" dirty="0"/>
              <a:t>Preprocessing</a:t>
            </a:r>
            <a:endParaRPr sz="2000"/>
          </a:p>
        </p:txBody>
      </p:sp>
      <p:sp>
        <p:nvSpPr>
          <p:cNvPr id="3" name="object 3"/>
          <p:cNvSpPr txBox="1"/>
          <p:nvPr/>
        </p:nvSpPr>
        <p:spPr>
          <a:xfrm>
            <a:off x="548650" y="2407865"/>
            <a:ext cx="8729345" cy="1183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latin typeface="Arial"/>
                <a:cs typeface="Arial"/>
              </a:rPr>
              <a:t>Preprocessing</a:t>
            </a:r>
            <a:r>
              <a:rPr sz="2000" b="1" spc="-6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(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.i</a:t>
            </a:r>
            <a:r>
              <a:rPr sz="2000" b="1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b="1" spc="-10" dirty="0">
                <a:latin typeface="Arial"/>
                <a:cs typeface="Arial"/>
              </a:rPr>
              <a:t>file)</a:t>
            </a:r>
            <a:endParaRPr sz="2000" dirty="0">
              <a:latin typeface="Arial"/>
              <a:cs typeface="Arial"/>
            </a:endParaRPr>
          </a:p>
          <a:p>
            <a:pPr marL="12700" marR="5080">
              <a:lnSpc>
                <a:spcPct val="114999"/>
              </a:lnSpc>
              <a:spcBef>
                <a:spcPts val="1200"/>
              </a:spcBef>
            </a:pP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90" dirty="0">
                <a:latin typeface="Arial MT"/>
                <a:cs typeface="Arial MT"/>
              </a:rPr>
              <a:t> </a:t>
            </a:r>
            <a:r>
              <a:rPr sz="2000" b="1" spc="-10" dirty="0">
                <a:latin typeface="Arial"/>
                <a:cs typeface="Arial"/>
              </a:rPr>
              <a:t>preprocessor</a:t>
            </a:r>
            <a:r>
              <a:rPr sz="2000" b="1" spc="-45" dirty="0">
                <a:latin typeface="Arial"/>
                <a:cs typeface="Arial"/>
              </a:rPr>
              <a:t> </a:t>
            </a:r>
            <a:r>
              <a:rPr sz="2000" dirty="0">
                <a:latin typeface="Arial MT"/>
                <a:cs typeface="Arial MT"/>
              </a:rPr>
              <a:t>expands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macros,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handles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#include</a:t>
            </a:r>
            <a:r>
              <a:rPr sz="2000" b="1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directives,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removes </a:t>
            </a:r>
            <a:r>
              <a:rPr sz="2000" dirty="0">
                <a:latin typeface="Arial MT"/>
                <a:cs typeface="Arial MT"/>
              </a:rPr>
              <a:t>comments,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and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processes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conditional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compilation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commands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(e.g.,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#ifdef</a:t>
            </a:r>
            <a:r>
              <a:rPr sz="2000" spc="-10" dirty="0">
                <a:latin typeface="Arial MT"/>
                <a:cs typeface="Arial MT"/>
              </a:rPr>
              <a:t>).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6074" y="3793599"/>
            <a:ext cx="3900804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E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main.c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main.i</a:t>
            </a:r>
            <a:endParaRPr sz="20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5617" y="4509244"/>
            <a:ext cx="8636000" cy="123880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394335" indent="-381635">
              <a:lnSpc>
                <a:spcPct val="100000"/>
              </a:lnSpc>
              <a:spcBef>
                <a:spcPts val="459"/>
              </a:spcBef>
              <a:spcAft>
                <a:spcPts val="600"/>
              </a:spcAft>
              <a:buClr>
                <a:srgbClr val="000000"/>
              </a:buClr>
              <a:buFont typeface="Arial MT"/>
              <a:buChar char="●"/>
              <a:tabLst>
                <a:tab pos="394335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E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70" dirty="0">
                <a:latin typeface="Arial MT"/>
                <a:cs typeface="Arial MT"/>
              </a:rPr>
              <a:t> </a:t>
            </a:r>
            <a:r>
              <a:rPr sz="2000" spc="-35" dirty="0">
                <a:latin typeface="Arial MT"/>
                <a:cs typeface="Arial MT"/>
              </a:rPr>
              <a:t>Tells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GCC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stop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after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preprocessing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stage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and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output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result.</a:t>
            </a:r>
            <a:endParaRPr sz="2000" dirty="0">
              <a:latin typeface="Arial MT"/>
              <a:cs typeface="Arial MT"/>
            </a:endParaRPr>
          </a:p>
          <a:p>
            <a:pPr marL="394335" indent="-381635">
              <a:lnSpc>
                <a:spcPct val="100000"/>
              </a:lnSpc>
              <a:spcBef>
                <a:spcPts val="360"/>
              </a:spcBef>
              <a:spcAft>
                <a:spcPts val="600"/>
              </a:spcAft>
              <a:buClr>
                <a:srgbClr val="000000"/>
              </a:buClr>
              <a:buFont typeface="Arial MT"/>
              <a:buChar char="●"/>
              <a:tabLst>
                <a:tab pos="394335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o</a:t>
            </a:r>
            <a:r>
              <a:rPr sz="2000" b="1" spc="-4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main.i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Writes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output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file</a:t>
            </a:r>
            <a:r>
              <a:rPr sz="2000" spc="-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main.i</a:t>
            </a:r>
            <a:r>
              <a:rPr sz="2000" spc="-10" dirty="0">
                <a:latin typeface="Arial MT"/>
                <a:cs typeface="Arial MT"/>
              </a:rPr>
              <a:t>.</a:t>
            </a:r>
            <a:endParaRPr sz="2000" dirty="0">
              <a:latin typeface="Arial MT"/>
              <a:cs typeface="Arial MT"/>
            </a:endParaRPr>
          </a:p>
          <a:p>
            <a:pPr marL="394335" indent="-381635">
              <a:lnSpc>
                <a:spcPct val="100000"/>
              </a:lnSpc>
              <a:spcBef>
                <a:spcPts val="360"/>
              </a:spcBef>
              <a:buClr>
                <a:srgbClr val="0F2044"/>
              </a:buClr>
              <a:buFont typeface="Arial MT"/>
              <a:buChar char="●"/>
              <a:tabLst>
                <a:tab pos="394335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main.i</a:t>
            </a:r>
            <a:r>
              <a:rPr sz="2000" b="1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contains</a:t>
            </a:r>
            <a:r>
              <a:rPr sz="2000" spc="-8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fully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expanded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code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after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preprocessing.</a:t>
            </a:r>
            <a:endParaRPr sz="20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spc="-10" dirty="0"/>
              <a:t>Compilation</a:t>
            </a:r>
            <a:r>
              <a:rPr spc="-85" dirty="0"/>
              <a:t> </a:t>
            </a:r>
            <a:r>
              <a:rPr dirty="0"/>
              <a:t>Stage</a:t>
            </a:r>
            <a:r>
              <a:rPr spc="-85" dirty="0"/>
              <a:t> </a:t>
            </a:r>
            <a:r>
              <a:rPr spc="-10" dirty="0"/>
              <a:t>Breakdown</a:t>
            </a:r>
          </a:p>
          <a:p>
            <a:pPr marL="12700">
              <a:lnSpc>
                <a:spcPts val="2285"/>
              </a:lnSpc>
            </a:pPr>
            <a:r>
              <a:rPr sz="2000" spc="-10" dirty="0"/>
              <a:t>Compiling</a:t>
            </a:r>
            <a:endParaRPr sz="2000"/>
          </a:p>
        </p:txBody>
      </p:sp>
      <p:sp>
        <p:nvSpPr>
          <p:cNvPr id="3" name="object 3"/>
          <p:cNvSpPr txBox="1"/>
          <p:nvPr/>
        </p:nvSpPr>
        <p:spPr>
          <a:xfrm>
            <a:off x="548650" y="2407865"/>
            <a:ext cx="10526395" cy="1534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latin typeface="Arial"/>
                <a:cs typeface="Arial"/>
              </a:rPr>
              <a:t>Compiling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(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.s</a:t>
            </a:r>
            <a:r>
              <a:rPr sz="2000" b="1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b="1" spc="-10" dirty="0">
                <a:latin typeface="Arial"/>
                <a:cs typeface="Arial"/>
              </a:rPr>
              <a:t>file)</a:t>
            </a:r>
            <a:endParaRPr sz="2000" dirty="0">
              <a:latin typeface="Arial"/>
              <a:cs typeface="Arial"/>
            </a:endParaRPr>
          </a:p>
          <a:p>
            <a:pPr marL="12700" marR="5080" algn="just">
              <a:lnSpc>
                <a:spcPct val="114999"/>
              </a:lnSpc>
              <a:spcBef>
                <a:spcPts val="1200"/>
              </a:spcBef>
            </a:pP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b="1" dirty="0">
                <a:latin typeface="Arial"/>
                <a:cs typeface="Arial"/>
              </a:rPr>
              <a:t>compiler</a:t>
            </a:r>
            <a:r>
              <a:rPr sz="2000" b="1" spc="-35" dirty="0">
                <a:latin typeface="Arial"/>
                <a:cs typeface="Arial"/>
              </a:rPr>
              <a:t> </a:t>
            </a:r>
            <a:r>
              <a:rPr sz="2000" dirty="0">
                <a:latin typeface="Arial MT"/>
                <a:cs typeface="Arial MT"/>
              </a:rPr>
              <a:t>takes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preprocessed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file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and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translates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20" dirty="0">
                <a:latin typeface="Arial MT"/>
                <a:cs typeface="Arial MT"/>
              </a:rPr>
              <a:t>high-</a:t>
            </a:r>
            <a:r>
              <a:rPr sz="2000" dirty="0">
                <a:latin typeface="Arial MT"/>
                <a:cs typeface="Arial MT"/>
              </a:rPr>
              <a:t>level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code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into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b="1" spc="-10" dirty="0">
                <a:latin typeface="Arial"/>
                <a:cs typeface="Arial"/>
              </a:rPr>
              <a:t>assembly </a:t>
            </a:r>
            <a:r>
              <a:rPr sz="2000" b="1" dirty="0">
                <a:latin typeface="Arial"/>
                <a:cs typeface="Arial"/>
              </a:rPr>
              <a:t>language</a:t>
            </a:r>
            <a:r>
              <a:rPr sz="2000" dirty="0">
                <a:latin typeface="Arial MT"/>
                <a:cs typeface="Arial MT"/>
              </a:rPr>
              <a:t>,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which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20" dirty="0">
                <a:latin typeface="Arial MT"/>
                <a:cs typeface="Arial MT"/>
              </a:rPr>
              <a:t>low-</a:t>
            </a:r>
            <a:r>
              <a:rPr sz="2000" dirty="0">
                <a:latin typeface="Arial MT"/>
                <a:cs typeface="Arial MT"/>
              </a:rPr>
              <a:t>level,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human-</a:t>
            </a:r>
            <a:r>
              <a:rPr sz="2000" dirty="0">
                <a:latin typeface="Arial MT"/>
                <a:cs typeface="Arial MT"/>
              </a:rPr>
              <a:t>readable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set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of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instructions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specific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architecture </a:t>
            </a:r>
            <a:r>
              <a:rPr sz="2000" dirty="0">
                <a:latin typeface="Arial MT"/>
                <a:cs typeface="Arial MT"/>
              </a:rPr>
              <a:t>of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10" dirty="0">
                <a:latin typeface="Arial MT"/>
                <a:cs typeface="Arial MT"/>
              </a:rPr>
              <a:t> machine.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6074" y="4098399"/>
            <a:ext cx="3900804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S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main.i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main.s</a:t>
            </a:r>
            <a:endParaRPr sz="20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5617" y="4876989"/>
            <a:ext cx="10518775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4335" indent="-381635">
              <a:lnSpc>
                <a:spcPct val="100000"/>
              </a:lnSpc>
              <a:spcBef>
                <a:spcPts val="100"/>
              </a:spcBef>
              <a:spcAft>
                <a:spcPts val="600"/>
              </a:spcAft>
              <a:buClr>
                <a:srgbClr val="0F2044"/>
              </a:buClr>
              <a:buFont typeface="Arial MT"/>
              <a:buChar char="●"/>
              <a:tabLst>
                <a:tab pos="394335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S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114" dirty="0">
                <a:latin typeface="Arial MT"/>
                <a:cs typeface="Arial MT"/>
              </a:rPr>
              <a:t> </a:t>
            </a:r>
            <a:r>
              <a:rPr sz="2000" spc="-35" dirty="0">
                <a:latin typeface="Arial MT"/>
                <a:cs typeface="Arial MT"/>
              </a:rPr>
              <a:t>Tells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GCC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compile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code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but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stop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after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generating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spc="-20" dirty="0">
                <a:latin typeface="Arial MT"/>
                <a:cs typeface="Arial MT"/>
              </a:rPr>
              <a:t>assembly,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producing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.s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spc="-10" dirty="0">
                <a:latin typeface="Arial MT"/>
                <a:cs typeface="Arial MT"/>
              </a:rPr>
              <a:t>file.</a:t>
            </a:r>
            <a:endParaRPr sz="2000" dirty="0">
              <a:latin typeface="Arial MT"/>
              <a:cs typeface="Arial MT"/>
            </a:endParaRPr>
          </a:p>
          <a:p>
            <a:pPr marL="394335" indent="-381635">
              <a:lnSpc>
                <a:spcPct val="100000"/>
              </a:lnSpc>
              <a:spcAft>
                <a:spcPts val="600"/>
              </a:spcAft>
              <a:buClr>
                <a:srgbClr val="0F2044"/>
              </a:buClr>
              <a:buFont typeface="Arial MT"/>
              <a:buChar char="●"/>
              <a:tabLst>
                <a:tab pos="394335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o</a:t>
            </a:r>
            <a:r>
              <a:rPr sz="2000" b="1" spc="-4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main.s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Writes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output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file</a:t>
            </a:r>
            <a:r>
              <a:rPr sz="2000" spc="-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main.s</a:t>
            </a:r>
            <a:r>
              <a:rPr sz="2000" spc="-10" dirty="0">
                <a:latin typeface="Arial MT"/>
                <a:cs typeface="Arial MT"/>
              </a:rPr>
              <a:t>.</a:t>
            </a:r>
            <a:endParaRPr sz="2000" dirty="0">
              <a:latin typeface="Arial MT"/>
              <a:cs typeface="Arial MT"/>
            </a:endParaRPr>
          </a:p>
          <a:p>
            <a:pPr marL="394335" indent="-381635">
              <a:lnSpc>
                <a:spcPct val="100000"/>
              </a:lnSpc>
              <a:buClr>
                <a:srgbClr val="0F2044"/>
              </a:buClr>
              <a:buFont typeface="Arial MT"/>
              <a:buChar char="●"/>
              <a:tabLst>
                <a:tab pos="394335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main.s</a:t>
            </a:r>
            <a:r>
              <a:rPr sz="2000" b="1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contains</a:t>
            </a:r>
            <a:r>
              <a:rPr sz="2000" spc="-6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assembly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code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generated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from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your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program.</a:t>
            </a:r>
            <a:endParaRPr sz="20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415541"/>
            <a:ext cx="4273550" cy="6819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spc="-10" dirty="0"/>
              <a:t>Compilation</a:t>
            </a:r>
            <a:r>
              <a:rPr spc="-85" dirty="0"/>
              <a:t> </a:t>
            </a:r>
            <a:r>
              <a:rPr dirty="0"/>
              <a:t>Stage</a:t>
            </a:r>
            <a:r>
              <a:rPr spc="-85" dirty="0"/>
              <a:t> </a:t>
            </a:r>
            <a:r>
              <a:rPr spc="-10" dirty="0"/>
              <a:t>Breakdown</a:t>
            </a:r>
          </a:p>
          <a:p>
            <a:pPr marL="12700">
              <a:lnSpc>
                <a:spcPts val="2285"/>
              </a:lnSpc>
            </a:pPr>
            <a:r>
              <a:rPr sz="2000" spc="-10" dirty="0"/>
              <a:t>Compiling</a:t>
            </a:r>
            <a:endParaRPr sz="2000" dirty="0"/>
          </a:p>
        </p:txBody>
      </p:sp>
      <p:sp>
        <p:nvSpPr>
          <p:cNvPr id="9" name="object 3">
            <a:extLst>
              <a:ext uri="{FF2B5EF4-FFF2-40B4-BE49-F238E27FC236}">
                <a16:creationId xmlns:a16="http://schemas.microsoft.com/office/drawing/2014/main" id="{2F31ABE5-3D8F-1AB6-33EB-84586558C60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548650" y="2407865"/>
            <a:ext cx="10526395" cy="1534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algn="just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latin typeface="Arial"/>
                <a:cs typeface="Arial"/>
              </a:rPr>
              <a:t>Compiling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(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.s</a:t>
            </a:r>
            <a:r>
              <a:rPr sz="2000" b="1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b="1" spc="-10" dirty="0">
                <a:latin typeface="Arial"/>
                <a:cs typeface="Arial"/>
              </a:rPr>
              <a:t>file)</a:t>
            </a:r>
            <a:endParaRPr sz="2000" dirty="0">
              <a:latin typeface="Arial"/>
              <a:cs typeface="Arial"/>
            </a:endParaRPr>
          </a:p>
          <a:p>
            <a:pPr marL="12700" marR="5080" algn="just">
              <a:lnSpc>
                <a:spcPct val="114999"/>
              </a:lnSpc>
              <a:spcBef>
                <a:spcPts val="1200"/>
              </a:spcBef>
            </a:pP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b="1" dirty="0">
                <a:latin typeface="Arial"/>
                <a:cs typeface="Arial"/>
              </a:rPr>
              <a:t>compiler</a:t>
            </a:r>
            <a:r>
              <a:rPr sz="2000" b="1" spc="-35" dirty="0">
                <a:latin typeface="Arial"/>
                <a:cs typeface="Arial"/>
              </a:rPr>
              <a:t> </a:t>
            </a:r>
            <a:r>
              <a:rPr sz="2000" dirty="0">
                <a:latin typeface="Arial MT"/>
                <a:cs typeface="Arial MT"/>
              </a:rPr>
              <a:t>takes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preprocessed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file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and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translates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20" dirty="0">
                <a:latin typeface="Arial MT"/>
                <a:cs typeface="Arial MT"/>
              </a:rPr>
              <a:t>high-</a:t>
            </a:r>
            <a:r>
              <a:rPr sz="2000" dirty="0">
                <a:latin typeface="Arial MT"/>
                <a:cs typeface="Arial MT"/>
              </a:rPr>
              <a:t>level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code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into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b="1" spc="-10" dirty="0">
                <a:latin typeface="Arial"/>
                <a:cs typeface="Arial"/>
              </a:rPr>
              <a:t>assembly </a:t>
            </a:r>
            <a:r>
              <a:rPr sz="2000" b="1" dirty="0">
                <a:latin typeface="Arial"/>
                <a:cs typeface="Arial"/>
              </a:rPr>
              <a:t>language</a:t>
            </a:r>
            <a:r>
              <a:rPr sz="2000" dirty="0">
                <a:latin typeface="Arial MT"/>
                <a:cs typeface="Arial MT"/>
              </a:rPr>
              <a:t>,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which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20" dirty="0">
                <a:latin typeface="Arial MT"/>
                <a:cs typeface="Arial MT"/>
              </a:rPr>
              <a:t>low-</a:t>
            </a:r>
            <a:r>
              <a:rPr sz="2000" dirty="0">
                <a:latin typeface="Arial MT"/>
                <a:cs typeface="Arial MT"/>
              </a:rPr>
              <a:t>level,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human-</a:t>
            </a:r>
            <a:r>
              <a:rPr sz="2000" dirty="0">
                <a:latin typeface="Arial MT"/>
                <a:cs typeface="Arial MT"/>
              </a:rPr>
              <a:t>readable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set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of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instructions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specific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architecture </a:t>
            </a:r>
            <a:r>
              <a:rPr sz="2000" dirty="0">
                <a:latin typeface="Arial MT"/>
                <a:cs typeface="Arial MT"/>
              </a:rPr>
              <a:t>of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10" dirty="0">
                <a:latin typeface="Arial MT"/>
                <a:cs typeface="Arial MT"/>
              </a:rPr>
              <a:t> machine.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10" name="object 5">
            <a:extLst>
              <a:ext uri="{FF2B5EF4-FFF2-40B4-BE49-F238E27FC236}">
                <a16:creationId xmlns:a16="http://schemas.microsoft.com/office/drawing/2014/main" id="{BB2E6723-2D00-EEFA-A6CA-126F51EF09E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86074" y="4098399"/>
            <a:ext cx="3900804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S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main.i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main.s</a:t>
            </a:r>
            <a:endParaRPr sz="2000">
              <a:latin typeface="Arial"/>
              <a:cs typeface="Arial"/>
            </a:endParaRPr>
          </a:p>
        </p:txBody>
      </p:sp>
      <p:sp>
        <p:nvSpPr>
          <p:cNvPr id="11" name="object 4">
            <a:extLst>
              <a:ext uri="{FF2B5EF4-FFF2-40B4-BE49-F238E27FC236}">
                <a16:creationId xmlns:a16="http://schemas.microsoft.com/office/drawing/2014/main" id="{48EE8A1A-95F9-001E-E9D7-82B088526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485617" y="4876989"/>
            <a:ext cx="10518775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4335" indent="-381635">
              <a:lnSpc>
                <a:spcPct val="100000"/>
              </a:lnSpc>
              <a:spcBef>
                <a:spcPts val="100"/>
              </a:spcBef>
              <a:spcAft>
                <a:spcPts val="600"/>
              </a:spcAft>
              <a:buClr>
                <a:srgbClr val="0F2044"/>
              </a:buClr>
              <a:buFont typeface="Arial MT"/>
              <a:buChar char="●"/>
              <a:tabLst>
                <a:tab pos="394335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S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114" dirty="0">
                <a:latin typeface="Arial MT"/>
                <a:cs typeface="Arial MT"/>
              </a:rPr>
              <a:t> </a:t>
            </a:r>
            <a:r>
              <a:rPr sz="2000" spc="-35" dirty="0">
                <a:latin typeface="Arial MT"/>
                <a:cs typeface="Arial MT"/>
              </a:rPr>
              <a:t>Tells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GCC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compile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code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but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stop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after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generating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spc="-20" dirty="0">
                <a:latin typeface="Arial MT"/>
                <a:cs typeface="Arial MT"/>
              </a:rPr>
              <a:t>assembly,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producing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.s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spc="-10" dirty="0">
                <a:latin typeface="Arial MT"/>
                <a:cs typeface="Arial MT"/>
              </a:rPr>
              <a:t>file.</a:t>
            </a:r>
            <a:endParaRPr sz="2000" dirty="0">
              <a:latin typeface="Arial MT"/>
              <a:cs typeface="Arial MT"/>
            </a:endParaRPr>
          </a:p>
          <a:p>
            <a:pPr marL="394335" indent="-381635">
              <a:lnSpc>
                <a:spcPct val="100000"/>
              </a:lnSpc>
              <a:spcAft>
                <a:spcPts val="600"/>
              </a:spcAft>
              <a:buClr>
                <a:srgbClr val="0F2044"/>
              </a:buClr>
              <a:buFont typeface="Arial MT"/>
              <a:buChar char="●"/>
              <a:tabLst>
                <a:tab pos="394335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o</a:t>
            </a:r>
            <a:r>
              <a:rPr sz="2000" b="1" spc="-4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main.s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Writes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output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file</a:t>
            </a:r>
            <a:r>
              <a:rPr sz="2000" spc="-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main.s</a:t>
            </a:r>
            <a:r>
              <a:rPr sz="2000" spc="-10" dirty="0">
                <a:latin typeface="Arial MT"/>
                <a:cs typeface="Arial MT"/>
              </a:rPr>
              <a:t>.</a:t>
            </a:r>
            <a:endParaRPr sz="2000" dirty="0">
              <a:latin typeface="Arial MT"/>
              <a:cs typeface="Arial MT"/>
            </a:endParaRPr>
          </a:p>
          <a:p>
            <a:pPr marL="394335" indent="-381635">
              <a:lnSpc>
                <a:spcPct val="100000"/>
              </a:lnSpc>
              <a:buClr>
                <a:srgbClr val="0F2044"/>
              </a:buClr>
              <a:buFont typeface="Arial MT"/>
              <a:buChar char="●"/>
              <a:tabLst>
                <a:tab pos="394335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main.s</a:t>
            </a:r>
            <a:r>
              <a:rPr sz="2000" b="1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contains</a:t>
            </a:r>
            <a:r>
              <a:rPr sz="2000" spc="-6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assembly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code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generated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from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your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program.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917800" y="1515400"/>
            <a:ext cx="6040120" cy="5044440"/>
          </a:xfrm>
          <a:prstGeom prst="rect">
            <a:avLst/>
          </a:prstGeom>
          <a:solidFill>
            <a:srgbClr val="D9D1E9"/>
          </a:solidFill>
          <a:ln w="9524">
            <a:solidFill>
              <a:srgbClr val="0F2044"/>
            </a:solidFill>
          </a:ln>
        </p:spPr>
        <p:txBody>
          <a:bodyPr vert="horz" wrap="square" lIns="0" tIns="0" rIns="0" bIns="0" rtlCol="0">
            <a:spAutoFit/>
          </a:bodyPr>
          <a:lstStyle/>
          <a:p>
            <a:pPr>
              <a:lnSpc>
                <a:spcPct val="100000"/>
              </a:lnSpc>
            </a:pPr>
            <a:endParaRPr sz="18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8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8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</a:pPr>
            <a:endParaRPr sz="1800" dirty="0">
              <a:latin typeface="Times New Roman"/>
              <a:cs typeface="Times New Roman"/>
            </a:endParaRPr>
          </a:p>
          <a:p>
            <a:pPr>
              <a:lnSpc>
                <a:spcPct val="100000"/>
              </a:lnSpc>
              <a:spcBef>
                <a:spcPts val="535"/>
              </a:spcBef>
            </a:pPr>
            <a:endParaRPr sz="1800" dirty="0">
              <a:latin typeface="Times New Roman"/>
              <a:cs typeface="Times New Roman"/>
            </a:endParaRPr>
          </a:p>
          <a:p>
            <a:pPr marL="394970">
              <a:lnSpc>
                <a:spcPct val="100000"/>
              </a:lnSpc>
            </a:pPr>
            <a:r>
              <a:rPr sz="1800" b="1" dirty="0">
                <a:latin typeface="Arial"/>
                <a:cs typeface="Arial"/>
              </a:rPr>
              <a:t>Are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.s</a:t>
            </a:r>
            <a:r>
              <a:rPr sz="1800" b="1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latin typeface="Arial"/>
                <a:cs typeface="Arial"/>
              </a:rPr>
              <a:t>and</a:t>
            </a:r>
            <a:r>
              <a:rPr sz="1800" b="1" spc="5" dirty="0"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.asm</a:t>
            </a:r>
            <a:r>
              <a:rPr sz="1800" b="1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latin typeface="Arial"/>
                <a:cs typeface="Arial"/>
              </a:rPr>
              <a:t>the </a:t>
            </a:r>
            <a:r>
              <a:rPr sz="1800" b="1" spc="-10" dirty="0">
                <a:latin typeface="Arial"/>
                <a:cs typeface="Arial"/>
              </a:rPr>
              <a:t>Same?</a:t>
            </a:r>
            <a:endParaRPr sz="1800" dirty="0">
              <a:latin typeface="Arial"/>
              <a:cs typeface="Arial"/>
            </a:endParaRPr>
          </a:p>
          <a:p>
            <a:pPr marL="394970" marR="1099820">
              <a:lnSpc>
                <a:spcPct val="150000"/>
              </a:lnSpc>
              <a:spcBef>
                <a:spcPts val="1200"/>
              </a:spcBef>
            </a:pPr>
            <a:r>
              <a:rPr sz="1800" spc="-25" dirty="0">
                <a:latin typeface="Arial MT"/>
                <a:cs typeface="Arial MT"/>
              </a:rPr>
              <a:t>Yes,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both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assembly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source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files,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but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their </a:t>
            </a:r>
            <a:r>
              <a:rPr sz="1800" dirty="0">
                <a:latin typeface="Arial MT"/>
                <a:cs typeface="Arial MT"/>
              </a:rPr>
              <a:t>naming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reflects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different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toolchain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traditions:</a:t>
            </a:r>
            <a:endParaRPr sz="18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210"/>
              </a:spcBef>
            </a:pPr>
            <a:endParaRPr sz="1800" dirty="0">
              <a:latin typeface="Arial MT"/>
              <a:cs typeface="Arial MT"/>
            </a:endParaRPr>
          </a:p>
          <a:p>
            <a:pPr marL="852169" indent="-366395">
              <a:lnSpc>
                <a:spcPct val="100000"/>
              </a:lnSpc>
              <a:buFont typeface="Arial MT"/>
              <a:buChar char="●"/>
              <a:tabLst>
                <a:tab pos="852169" algn="l"/>
              </a:tabLst>
            </a:pPr>
            <a:r>
              <a:rPr sz="1800" b="1" dirty="0">
                <a:latin typeface="Arial"/>
                <a:cs typeface="Arial"/>
              </a:rPr>
              <a:t>.s</a:t>
            </a:r>
            <a:r>
              <a:rPr sz="1800" b="1" spc="-35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→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Unix/GNU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style</a:t>
            </a:r>
            <a:r>
              <a:rPr sz="1800" spc="-20" dirty="0">
                <a:latin typeface="Arial MT"/>
                <a:cs typeface="Arial MT"/>
              </a:rPr>
              <a:t> (GCC,</a:t>
            </a:r>
            <a:r>
              <a:rPr sz="1800" spc="-10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AT&amp;T</a:t>
            </a:r>
            <a:r>
              <a:rPr sz="1800" spc="-5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syntax)</a:t>
            </a:r>
            <a:endParaRPr sz="1800" dirty="0">
              <a:latin typeface="Arial MT"/>
              <a:cs typeface="Arial MT"/>
            </a:endParaRPr>
          </a:p>
          <a:p>
            <a:pPr marL="852169" indent="-366395">
              <a:lnSpc>
                <a:spcPct val="100000"/>
              </a:lnSpc>
              <a:spcBef>
                <a:spcPts val="1080"/>
              </a:spcBef>
              <a:buFont typeface="Arial MT"/>
              <a:buChar char="●"/>
              <a:tabLst>
                <a:tab pos="852169" algn="l"/>
              </a:tabLst>
            </a:pPr>
            <a:r>
              <a:rPr sz="1800" b="1" dirty="0">
                <a:latin typeface="Arial"/>
                <a:cs typeface="Arial"/>
              </a:rPr>
              <a:t>.asm</a:t>
            </a:r>
            <a:r>
              <a:rPr sz="1800" b="1" spc="-1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→</a:t>
            </a:r>
            <a:r>
              <a:rPr sz="1800" spc="-10" dirty="0">
                <a:latin typeface="Arial MT"/>
                <a:cs typeface="Arial MT"/>
              </a:rPr>
              <a:t> Windows/MS-</a:t>
            </a:r>
            <a:r>
              <a:rPr sz="1800" dirty="0">
                <a:latin typeface="Arial MT"/>
                <a:cs typeface="Arial MT"/>
              </a:rPr>
              <a:t>DOS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style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(Intel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syntax)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spc="-10" dirty="0"/>
              <a:t>Compilation</a:t>
            </a:r>
            <a:r>
              <a:rPr spc="-85" dirty="0"/>
              <a:t> </a:t>
            </a:r>
            <a:r>
              <a:rPr dirty="0"/>
              <a:t>Stage</a:t>
            </a:r>
            <a:r>
              <a:rPr spc="-85" dirty="0"/>
              <a:t> </a:t>
            </a:r>
            <a:r>
              <a:rPr spc="-10" dirty="0"/>
              <a:t>Breakdown</a:t>
            </a:r>
          </a:p>
          <a:p>
            <a:pPr marL="12700">
              <a:lnSpc>
                <a:spcPts val="2285"/>
              </a:lnSpc>
            </a:pPr>
            <a:r>
              <a:rPr sz="2000" spc="-10" dirty="0"/>
              <a:t>Assembling</a:t>
            </a:r>
            <a:endParaRPr sz="2000"/>
          </a:p>
        </p:txBody>
      </p:sp>
      <p:sp>
        <p:nvSpPr>
          <p:cNvPr id="3" name="object 3"/>
          <p:cNvSpPr txBox="1"/>
          <p:nvPr/>
        </p:nvSpPr>
        <p:spPr>
          <a:xfrm>
            <a:off x="548650" y="2407865"/>
            <a:ext cx="10537190" cy="1183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spc="-10" dirty="0">
                <a:latin typeface="Arial"/>
                <a:cs typeface="Arial"/>
              </a:rPr>
              <a:t>Assembling</a:t>
            </a:r>
            <a:r>
              <a:rPr sz="2000" b="1" spc="-6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(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.o</a:t>
            </a:r>
            <a:r>
              <a:rPr sz="2000" b="1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b="1" spc="-10" dirty="0">
                <a:latin typeface="Arial"/>
                <a:cs typeface="Arial"/>
              </a:rPr>
              <a:t>file)</a:t>
            </a:r>
            <a:endParaRPr sz="2000" dirty="0">
              <a:latin typeface="Arial"/>
              <a:cs typeface="Arial"/>
            </a:endParaRPr>
          </a:p>
          <a:p>
            <a:pPr marL="12700" marR="5080">
              <a:lnSpc>
                <a:spcPct val="114999"/>
              </a:lnSpc>
              <a:spcBef>
                <a:spcPts val="1200"/>
              </a:spcBef>
            </a:pP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55" dirty="0">
                <a:latin typeface="Arial MT"/>
                <a:cs typeface="Arial MT"/>
              </a:rPr>
              <a:t> </a:t>
            </a:r>
            <a:r>
              <a:rPr sz="2000" b="1" dirty="0">
                <a:latin typeface="Arial"/>
                <a:cs typeface="Arial"/>
              </a:rPr>
              <a:t>assembler</a:t>
            </a:r>
            <a:r>
              <a:rPr sz="2000" b="1" spc="-50" dirty="0">
                <a:latin typeface="Arial"/>
                <a:cs typeface="Arial"/>
              </a:rPr>
              <a:t> </a:t>
            </a:r>
            <a:r>
              <a:rPr sz="2000" dirty="0">
                <a:latin typeface="Arial MT"/>
                <a:cs typeface="Arial MT"/>
              </a:rPr>
              <a:t>converts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assembly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code</a:t>
            </a:r>
            <a:r>
              <a:rPr sz="2000" spc="-5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into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b="1" dirty="0">
                <a:latin typeface="Arial"/>
                <a:cs typeface="Arial"/>
              </a:rPr>
              <a:t>machine</a:t>
            </a:r>
            <a:r>
              <a:rPr sz="2000" b="1" spc="-5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code</a:t>
            </a:r>
            <a:r>
              <a:rPr sz="2000" b="1" spc="-50" dirty="0">
                <a:latin typeface="Arial"/>
                <a:cs typeface="Arial"/>
              </a:rPr>
              <a:t> </a:t>
            </a:r>
            <a:r>
              <a:rPr sz="2000" dirty="0">
                <a:latin typeface="Arial MT"/>
                <a:cs typeface="Arial MT"/>
              </a:rPr>
              <a:t>(also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known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as</a:t>
            </a:r>
            <a:r>
              <a:rPr sz="2000" spc="-5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object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code), </a:t>
            </a:r>
            <a:r>
              <a:rPr sz="2000" dirty="0">
                <a:latin typeface="Arial MT"/>
                <a:cs typeface="Arial MT"/>
              </a:rPr>
              <a:t>which</a:t>
            </a:r>
            <a:r>
              <a:rPr sz="2000" spc="-6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CPU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can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understand.</a:t>
            </a:r>
            <a:r>
              <a:rPr sz="2000" spc="-6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This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is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stored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in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an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b="1" dirty="0">
                <a:latin typeface="Arial"/>
                <a:cs typeface="Arial"/>
              </a:rPr>
              <a:t>object</a:t>
            </a:r>
            <a:r>
              <a:rPr sz="2000" b="1" spc="-3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file</a:t>
            </a:r>
            <a:r>
              <a:rPr sz="2000" b="1" spc="-35" dirty="0">
                <a:latin typeface="Arial"/>
                <a:cs typeface="Arial"/>
              </a:rPr>
              <a:t> </a:t>
            </a:r>
            <a:r>
              <a:rPr sz="2000" dirty="0">
                <a:latin typeface="Arial MT"/>
                <a:cs typeface="Arial MT"/>
              </a:rPr>
              <a:t>with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.o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spc="-10" dirty="0">
                <a:latin typeface="Arial MT"/>
                <a:cs typeface="Arial MT"/>
              </a:rPr>
              <a:t>extension.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6074" y="3869799"/>
            <a:ext cx="3900804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c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main.s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main.o</a:t>
            </a:r>
            <a:endParaRPr sz="20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5129474" y="3869799"/>
            <a:ext cx="3900804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objdump</a:t>
            </a:r>
            <a:r>
              <a:rPr sz="2000" b="1" spc="-6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d</a:t>
            </a:r>
            <a:r>
              <a:rPr sz="2000" b="1" spc="-6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main.o</a:t>
            </a:r>
            <a:endParaRPr sz="20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00899" y="4673980"/>
            <a:ext cx="11414125" cy="2077107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indent="-366395">
              <a:lnSpc>
                <a:spcPct val="100000"/>
              </a:lnSpc>
              <a:spcBef>
                <a:spcPts val="100"/>
              </a:spcBef>
              <a:spcAft>
                <a:spcPts val="600"/>
              </a:spcAft>
              <a:buClr>
                <a:srgbClr val="000000"/>
              </a:buClr>
              <a:buFont typeface="Arial MT"/>
              <a:buChar char="●"/>
              <a:tabLst>
                <a:tab pos="379095" algn="l"/>
              </a:tabLst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c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60" dirty="0">
                <a:latin typeface="Arial MT"/>
                <a:cs typeface="Arial MT"/>
              </a:rPr>
              <a:t> </a:t>
            </a:r>
            <a:r>
              <a:rPr sz="1800" spc="-30" dirty="0">
                <a:latin typeface="Arial MT"/>
                <a:cs typeface="Arial MT"/>
              </a:rPr>
              <a:t>Tells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GCC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compile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assemble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file,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but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stop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short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linking,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creating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(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.o</a:t>
            </a:r>
            <a:r>
              <a:rPr sz="1800" spc="-10" dirty="0">
                <a:latin typeface="Arial MT"/>
                <a:cs typeface="Arial MT"/>
              </a:rPr>
              <a:t>).</a:t>
            </a:r>
            <a:endParaRPr sz="1800" dirty="0">
              <a:latin typeface="Arial MT"/>
              <a:cs typeface="Arial MT"/>
            </a:endParaRPr>
          </a:p>
          <a:p>
            <a:pPr marL="379095" indent="-366395">
              <a:lnSpc>
                <a:spcPct val="100000"/>
              </a:lnSpc>
              <a:spcAft>
                <a:spcPts val="600"/>
              </a:spcAft>
              <a:buClr>
                <a:srgbClr val="000000"/>
              </a:buClr>
              <a:buFont typeface="Arial MT"/>
              <a:buChar char="●"/>
              <a:tabLst>
                <a:tab pos="379095" algn="l"/>
              </a:tabLst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o</a:t>
            </a:r>
            <a:r>
              <a:rPr sz="1800" b="1" spc="-4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main.o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Writes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output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main.o</a:t>
            </a:r>
            <a:r>
              <a:rPr sz="1800" spc="-10" dirty="0">
                <a:latin typeface="Arial MT"/>
                <a:cs typeface="Arial MT"/>
              </a:rPr>
              <a:t>.</a:t>
            </a:r>
            <a:endParaRPr sz="1800" dirty="0">
              <a:latin typeface="Arial MT"/>
              <a:cs typeface="Arial MT"/>
            </a:endParaRPr>
          </a:p>
          <a:p>
            <a:pPr marL="379095" indent="-366395">
              <a:lnSpc>
                <a:spcPct val="100000"/>
              </a:lnSpc>
              <a:spcAft>
                <a:spcPts val="600"/>
              </a:spcAft>
              <a:buChar char="●"/>
              <a:tabLst>
                <a:tab pos="379095" algn="l"/>
              </a:tabLst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contains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binary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instructions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CPU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understands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but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yet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complete</a:t>
            </a:r>
            <a:r>
              <a:rPr sz="1800" spc="-10" dirty="0">
                <a:latin typeface="Arial MT"/>
                <a:cs typeface="Arial MT"/>
              </a:rPr>
              <a:t> executable</a:t>
            </a:r>
            <a:endParaRPr sz="1800" dirty="0">
              <a:latin typeface="Arial MT"/>
              <a:cs typeface="Arial MT"/>
            </a:endParaRPr>
          </a:p>
          <a:p>
            <a:pPr marL="379095">
              <a:lnSpc>
                <a:spcPct val="100000"/>
              </a:lnSpc>
              <a:spcBef>
                <a:spcPts val="325"/>
              </a:spcBef>
              <a:spcAft>
                <a:spcPts val="600"/>
              </a:spcAft>
            </a:pPr>
            <a:r>
              <a:rPr sz="1800" dirty="0">
                <a:latin typeface="Arial MT"/>
                <a:cs typeface="Arial MT"/>
              </a:rPr>
              <a:t>program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(because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may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need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with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other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libraries).</a:t>
            </a:r>
            <a:endParaRPr sz="1800" dirty="0">
              <a:latin typeface="Arial MT"/>
              <a:cs typeface="Arial MT"/>
            </a:endParaRPr>
          </a:p>
          <a:p>
            <a:pPr marL="379095" marR="776605" indent="-367030">
              <a:lnSpc>
                <a:spcPct val="114999"/>
              </a:lnSpc>
              <a:buClr>
                <a:srgbClr val="000000"/>
              </a:buClr>
              <a:buFont typeface="Arial MT"/>
              <a:buChar char="●"/>
              <a:tabLst>
                <a:tab pos="379095" algn="l"/>
              </a:tabLst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d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(disassemble):</a:t>
            </a:r>
            <a:r>
              <a:rPr sz="1800" spc="-7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option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disassembles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machine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code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assembly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language instructions.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spc="-10" dirty="0"/>
              <a:t>Compilation</a:t>
            </a:r>
            <a:r>
              <a:rPr spc="-85" dirty="0"/>
              <a:t> </a:t>
            </a:r>
            <a:r>
              <a:rPr dirty="0"/>
              <a:t>Stage</a:t>
            </a:r>
            <a:r>
              <a:rPr spc="-85" dirty="0"/>
              <a:t> </a:t>
            </a:r>
            <a:r>
              <a:rPr spc="-10" dirty="0"/>
              <a:t>Breakdown</a:t>
            </a:r>
          </a:p>
          <a:p>
            <a:pPr marL="12700">
              <a:lnSpc>
                <a:spcPts val="2285"/>
              </a:lnSpc>
            </a:pPr>
            <a:r>
              <a:rPr sz="2000" spc="-10" dirty="0"/>
              <a:t>Linking</a:t>
            </a:r>
            <a:endParaRPr sz="2000"/>
          </a:p>
        </p:txBody>
      </p:sp>
      <p:sp>
        <p:nvSpPr>
          <p:cNvPr id="3" name="object 3"/>
          <p:cNvSpPr txBox="1"/>
          <p:nvPr/>
        </p:nvSpPr>
        <p:spPr>
          <a:xfrm>
            <a:off x="548650" y="2407865"/>
            <a:ext cx="10736580" cy="11836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latin typeface="Arial"/>
                <a:cs typeface="Arial"/>
              </a:rPr>
              <a:t>Linking</a:t>
            </a:r>
            <a:r>
              <a:rPr sz="2000" b="1" spc="-8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(Executable</a:t>
            </a:r>
            <a:r>
              <a:rPr sz="2000" b="1" spc="-80" dirty="0">
                <a:latin typeface="Arial"/>
                <a:cs typeface="Arial"/>
              </a:rPr>
              <a:t> </a:t>
            </a:r>
            <a:r>
              <a:rPr sz="2000" b="1" spc="-10" dirty="0">
                <a:latin typeface="Arial"/>
                <a:cs typeface="Arial"/>
              </a:rPr>
              <a:t>File)</a:t>
            </a:r>
            <a:endParaRPr sz="2000" dirty="0">
              <a:latin typeface="Arial"/>
              <a:cs typeface="Arial"/>
            </a:endParaRPr>
          </a:p>
          <a:p>
            <a:pPr marL="12700" marR="5080">
              <a:lnSpc>
                <a:spcPct val="114999"/>
              </a:lnSpc>
              <a:spcBef>
                <a:spcPts val="1200"/>
              </a:spcBef>
            </a:pPr>
            <a:r>
              <a:rPr sz="2000" dirty="0">
                <a:latin typeface="Arial MT"/>
                <a:cs typeface="Arial MT"/>
              </a:rPr>
              <a:t>In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final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stage,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b="1" dirty="0">
                <a:latin typeface="Arial"/>
                <a:cs typeface="Arial"/>
              </a:rPr>
              <a:t>linker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sz="2000" dirty="0">
                <a:latin typeface="Arial MT"/>
                <a:cs typeface="Arial MT"/>
              </a:rPr>
              <a:t>combines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object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file(s)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and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any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necessary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libraries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into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single executable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program.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86074" y="3869799"/>
            <a:ext cx="3900804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main.o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program</a:t>
            </a:r>
            <a:endParaRPr sz="20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85617" y="4551045"/>
            <a:ext cx="10594975" cy="1911484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394335" indent="-381635">
              <a:lnSpc>
                <a:spcPct val="100000"/>
              </a:lnSpc>
              <a:spcBef>
                <a:spcPts val="459"/>
              </a:spcBef>
              <a:spcAft>
                <a:spcPts val="600"/>
              </a:spcAft>
              <a:buClr>
                <a:srgbClr val="000000"/>
              </a:buClr>
              <a:buFont typeface="Arial MT"/>
              <a:buChar char="●"/>
              <a:tabLst>
                <a:tab pos="394335" algn="l"/>
              </a:tabLst>
            </a:pP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main.o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8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object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file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that</a:t>
            </a:r>
            <a:r>
              <a:rPr sz="2000" spc="-5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was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generated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during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assembly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step.</a:t>
            </a:r>
            <a:endParaRPr sz="2000" dirty="0">
              <a:latin typeface="Arial MT"/>
              <a:cs typeface="Arial MT"/>
            </a:endParaRPr>
          </a:p>
          <a:p>
            <a:pPr marL="394335" indent="-381635">
              <a:lnSpc>
                <a:spcPct val="100000"/>
              </a:lnSpc>
              <a:spcBef>
                <a:spcPts val="359"/>
              </a:spcBef>
              <a:spcAft>
                <a:spcPts val="600"/>
              </a:spcAft>
              <a:buClr>
                <a:srgbClr val="000000"/>
              </a:buClr>
              <a:buFont typeface="Arial MT"/>
              <a:buChar char="●"/>
              <a:tabLst>
                <a:tab pos="394335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o</a:t>
            </a:r>
            <a:r>
              <a:rPr sz="2000" b="1" spc="-6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program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Specifies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output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executable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file,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named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program</a:t>
            </a:r>
            <a:r>
              <a:rPr sz="2000" spc="-10" dirty="0">
                <a:latin typeface="Arial MT"/>
                <a:cs typeface="Arial MT"/>
              </a:rPr>
              <a:t>.</a:t>
            </a:r>
            <a:endParaRPr sz="2000" dirty="0">
              <a:latin typeface="Arial MT"/>
              <a:cs typeface="Arial MT"/>
            </a:endParaRPr>
          </a:p>
          <a:p>
            <a:pPr marL="394335" marR="5080" indent="-382270">
              <a:lnSpc>
                <a:spcPct val="114999"/>
              </a:lnSpc>
              <a:buChar char="●"/>
              <a:tabLst>
                <a:tab pos="394335" algn="l"/>
              </a:tabLst>
            </a:pP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linker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combines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object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file(s)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and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links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in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any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required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libraries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(like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standard </a:t>
            </a:r>
            <a:r>
              <a:rPr sz="2000" dirty="0">
                <a:latin typeface="Arial MT"/>
                <a:cs typeface="Arial MT"/>
              </a:rPr>
              <a:t>library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libc</a:t>
            </a:r>
            <a:r>
              <a:rPr sz="2000" dirty="0">
                <a:latin typeface="Arial MT"/>
                <a:cs typeface="Arial MT"/>
              </a:rPr>
              <a:t>)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create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an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executable.</a:t>
            </a:r>
            <a:r>
              <a:rPr sz="2000" spc="-7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result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fully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functional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program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that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can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be </a:t>
            </a:r>
            <a:r>
              <a:rPr sz="2000" dirty="0">
                <a:latin typeface="Arial MT"/>
                <a:cs typeface="Arial MT"/>
              </a:rPr>
              <a:t>executed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directly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by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operating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system.</a:t>
            </a:r>
            <a:endParaRPr sz="20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870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Breakdown</a:t>
            </a:r>
            <a:r>
              <a:rPr spc="-45" dirty="0"/>
              <a:t> </a:t>
            </a:r>
            <a:r>
              <a:rPr dirty="0"/>
              <a:t>of</a:t>
            </a:r>
            <a:r>
              <a:rPr spc="-40" dirty="0"/>
              <a:t> </a:t>
            </a:r>
            <a:r>
              <a:rPr dirty="0"/>
              <a:t>the</a:t>
            </a:r>
            <a:r>
              <a:rPr spc="-45" dirty="0"/>
              <a:t> </a:t>
            </a:r>
            <a:r>
              <a:rPr spc="-10" dirty="0"/>
              <a:t>Flags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420325" y="2422425"/>
            <a:ext cx="6979920" cy="1608133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6200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00"/>
              </a:spcBef>
            </a:pPr>
            <a:r>
              <a:rPr sz="1800" b="1" dirty="0">
                <a:latin typeface="Arial"/>
                <a:cs typeface="Arial"/>
              </a:rPr>
              <a:t>E</a:t>
            </a:r>
            <a:r>
              <a:rPr sz="1800" b="1" spc="-10" dirty="0">
                <a:latin typeface="Arial"/>
                <a:cs typeface="Arial"/>
              </a:rPr>
              <a:t> </a:t>
            </a:r>
            <a:r>
              <a:rPr sz="1800" spc="-10" dirty="0">
                <a:latin typeface="Arial MT"/>
                <a:cs typeface="Arial MT"/>
              </a:rPr>
              <a:t>(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E</a:t>
            </a:r>
            <a:r>
              <a:rPr sz="1800" dirty="0">
                <a:latin typeface="Arial MT"/>
                <a:cs typeface="Arial MT"/>
              </a:rPr>
              <a:t>)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Expand </a:t>
            </a:r>
            <a:r>
              <a:rPr sz="1800" dirty="0">
                <a:latin typeface="Arial MT"/>
                <a:cs typeface="Arial MT"/>
              </a:rPr>
              <a:t>(expands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macros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10" dirty="0">
                <a:latin typeface="Arial MT"/>
                <a:cs typeface="Arial MT"/>
              </a:rPr>
              <a:t> includes)</a:t>
            </a:r>
            <a:endParaRPr sz="1800" dirty="0">
              <a:latin typeface="Arial MT"/>
              <a:cs typeface="Arial MT"/>
            </a:endParaRPr>
          </a:p>
          <a:p>
            <a:pPr marL="85725">
              <a:lnSpc>
                <a:spcPct val="100000"/>
              </a:lnSpc>
              <a:spcBef>
                <a:spcPts val="1080"/>
              </a:spcBef>
            </a:pPr>
            <a:r>
              <a:rPr sz="1800" b="1" dirty="0">
                <a:latin typeface="Arial"/>
                <a:cs typeface="Arial"/>
              </a:rPr>
              <a:t>S</a:t>
            </a:r>
            <a:r>
              <a:rPr sz="1800" b="1" spc="-10" dirty="0">
                <a:latin typeface="Arial"/>
                <a:cs typeface="Arial"/>
              </a:rPr>
              <a:t> </a:t>
            </a:r>
            <a:r>
              <a:rPr sz="1800" spc="-10" dirty="0">
                <a:latin typeface="Arial MT"/>
                <a:cs typeface="Arial MT"/>
              </a:rPr>
              <a:t>(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S</a:t>
            </a:r>
            <a:r>
              <a:rPr sz="1800" dirty="0">
                <a:latin typeface="Arial MT"/>
                <a:cs typeface="Arial MT"/>
              </a:rPr>
              <a:t>)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 </a:t>
            </a:r>
            <a:r>
              <a:rPr sz="1800" b="1" dirty="0">
                <a:latin typeface="Arial"/>
                <a:cs typeface="Arial"/>
              </a:rPr>
              <a:t>Source</a:t>
            </a:r>
            <a:r>
              <a:rPr sz="1800" b="1" spc="-1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(assembly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low-</a:t>
            </a:r>
            <a:r>
              <a:rPr sz="1800" dirty="0">
                <a:latin typeface="Arial MT"/>
                <a:cs typeface="Arial MT"/>
              </a:rPr>
              <a:t>level</a:t>
            </a:r>
            <a:r>
              <a:rPr sz="1800" spc="-10" dirty="0">
                <a:latin typeface="Arial MT"/>
                <a:cs typeface="Arial MT"/>
              </a:rPr>
              <a:t> source)</a:t>
            </a:r>
            <a:endParaRPr sz="1800" dirty="0">
              <a:latin typeface="Arial MT"/>
              <a:cs typeface="Arial MT"/>
            </a:endParaRPr>
          </a:p>
          <a:p>
            <a:pPr marL="85725">
              <a:lnSpc>
                <a:spcPct val="100000"/>
              </a:lnSpc>
              <a:spcBef>
                <a:spcPts val="1080"/>
              </a:spcBef>
            </a:pPr>
            <a:r>
              <a:rPr sz="1800" b="1" dirty="0">
                <a:latin typeface="Arial"/>
                <a:cs typeface="Arial"/>
              </a:rPr>
              <a:t>C</a:t>
            </a:r>
            <a:r>
              <a:rPr sz="1800" b="1" spc="-35" dirty="0">
                <a:latin typeface="Arial"/>
                <a:cs typeface="Arial"/>
              </a:rPr>
              <a:t> </a:t>
            </a:r>
            <a:r>
              <a:rPr sz="1800" spc="-10" dirty="0">
                <a:latin typeface="Arial MT"/>
                <a:cs typeface="Arial MT"/>
              </a:rPr>
              <a:t>(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c</a:t>
            </a:r>
            <a:r>
              <a:rPr sz="1800" dirty="0">
                <a:latin typeface="Arial MT"/>
                <a:cs typeface="Arial MT"/>
              </a:rPr>
              <a:t>)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Compile</a:t>
            </a:r>
            <a:r>
              <a:rPr sz="1800" b="1" spc="-15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(compiles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but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doesn’t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link)</a:t>
            </a:r>
            <a:endParaRPr sz="1800" dirty="0">
              <a:latin typeface="Arial MT"/>
              <a:cs typeface="Arial MT"/>
            </a:endParaRPr>
          </a:p>
          <a:p>
            <a:pPr marL="85725">
              <a:lnSpc>
                <a:spcPct val="100000"/>
              </a:lnSpc>
              <a:spcBef>
                <a:spcPts val="1080"/>
              </a:spcBef>
            </a:pPr>
            <a:r>
              <a:rPr sz="1800" b="1" dirty="0">
                <a:latin typeface="Arial"/>
                <a:cs typeface="Arial"/>
              </a:rPr>
              <a:t>L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(default)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Link</a:t>
            </a:r>
            <a:r>
              <a:rPr sz="1800" b="1" spc="-15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(final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step)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20325" y="4324975"/>
            <a:ext cx="6979920" cy="171841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6200" rIns="0" bIns="9144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tabLst>
                <a:tab pos="280352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gcc</a:t>
            </a:r>
            <a:r>
              <a:rPr sz="18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E myfile.c</a:t>
            </a:r>
            <a:r>
              <a:rPr sz="18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o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myfile.i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	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#</a:t>
            </a:r>
            <a:r>
              <a:rPr sz="1800" b="1" spc="-2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Expand</a:t>
            </a:r>
            <a:r>
              <a:rPr sz="1800" b="1" spc="-1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(Preprocessing)</a:t>
            </a:r>
            <a:endParaRPr sz="1800" dirty="0">
              <a:latin typeface="Arial"/>
              <a:cs typeface="Arial"/>
            </a:endParaRPr>
          </a:p>
          <a:p>
            <a:pPr marL="85725" marR="1590675">
              <a:lnSpc>
                <a:spcPct val="150000"/>
              </a:lnSpc>
              <a:spcAft>
                <a:spcPts val="600"/>
              </a:spcAft>
              <a:tabLst>
                <a:tab pos="2727325" algn="l"/>
                <a:tab pos="2803525" algn="l"/>
                <a:tab pos="2841625" algn="l"/>
              </a:tabLst>
            </a:pP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gcc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S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myfile.i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-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o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 myfile.s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		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#</a:t>
            </a:r>
            <a:r>
              <a:rPr sz="1800" b="1" spc="-2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Source</a:t>
            </a:r>
            <a:r>
              <a:rPr sz="1800" b="1" spc="-1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(Assembly)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gcc</a:t>
            </a:r>
            <a:r>
              <a:rPr sz="18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c</a:t>
            </a:r>
            <a:r>
              <a:rPr sz="18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myfile.s</a:t>
            </a:r>
            <a:r>
              <a:rPr sz="18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o</a:t>
            </a:r>
            <a:r>
              <a:rPr sz="1800" spc="-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myfile.o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			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#</a:t>
            </a:r>
            <a:r>
              <a:rPr sz="1800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Compile</a:t>
            </a:r>
            <a:r>
              <a:rPr sz="1800" b="1" spc="-1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(Object</a:t>
            </a:r>
            <a:r>
              <a:rPr sz="1800" b="1" spc="-1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file)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gcc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myfile.o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o</a:t>
            </a:r>
            <a:r>
              <a:rPr sz="18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0F2044"/>
                </a:solidFill>
                <a:latin typeface="Arial MT"/>
                <a:cs typeface="Arial MT"/>
              </a:rPr>
              <a:t>myfile</a:t>
            </a:r>
            <a:r>
              <a:rPr sz="1800" dirty="0">
                <a:solidFill>
                  <a:srgbClr val="0F2044"/>
                </a:solidFill>
                <a:latin typeface="Arial MT"/>
                <a:cs typeface="Arial MT"/>
              </a:rPr>
              <a:t>	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#</a:t>
            </a:r>
            <a:r>
              <a:rPr sz="1800" b="1" spc="-3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Link</a:t>
            </a:r>
            <a:r>
              <a:rPr sz="1800" b="1" spc="-2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0F2044"/>
                </a:solidFill>
                <a:latin typeface="Arial"/>
                <a:cs typeface="Arial"/>
              </a:rPr>
              <a:t>(Final</a:t>
            </a:r>
            <a:r>
              <a:rPr sz="1800" b="1" spc="-1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executable)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7632300" y="2879625"/>
            <a:ext cx="3429000" cy="2540000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6200" rIns="0" bIns="0" rtlCol="0">
            <a:spAutoFit/>
          </a:bodyPr>
          <a:lstStyle/>
          <a:p>
            <a:pPr marL="85090">
              <a:lnSpc>
                <a:spcPct val="100000"/>
              </a:lnSpc>
              <a:spcBef>
                <a:spcPts val="600"/>
              </a:spcBef>
            </a:pPr>
            <a:r>
              <a:rPr sz="1800" b="1" dirty="0">
                <a:latin typeface="Arial"/>
                <a:cs typeface="Arial"/>
              </a:rPr>
              <a:t>"Every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Smart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Coder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Links"</a:t>
            </a:r>
            <a:endParaRPr sz="1800" dirty="0">
              <a:latin typeface="Arial"/>
              <a:cs typeface="Arial"/>
            </a:endParaRPr>
          </a:p>
          <a:p>
            <a:pPr>
              <a:lnSpc>
                <a:spcPct val="100000"/>
              </a:lnSpc>
            </a:pPr>
            <a:endParaRPr sz="1800" dirty="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80"/>
              </a:spcBef>
            </a:pPr>
            <a:endParaRPr sz="1800" dirty="0">
              <a:latin typeface="Arial"/>
              <a:cs typeface="Arial"/>
            </a:endParaRPr>
          </a:p>
          <a:p>
            <a:pPr marL="85090">
              <a:lnSpc>
                <a:spcPct val="100000"/>
              </a:lnSpc>
            </a:pPr>
            <a:r>
              <a:rPr sz="1800" dirty="0">
                <a:latin typeface="MS PGothic"/>
                <a:cs typeface="MS PGothic"/>
              </a:rPr>
              <a:t>➡</a:t>
            </a:r>
            <a:r>
              <a:rPr sz="1800" spc="-65" dirty="0">
                <a:latin typeface="MS PGothic"/>
                <a:cs typeface="MS PGothic"/>
              </a:rPr>
              <a:t> </a:t>
            </a:r>
            <a:r>
              <a:rPr sz="1800" b="1" dirty="0">
                <a:latin typeface="Arial"/>
                <a:cs typeface="Arial"/>
              </a:rPr>
              <a:t>E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-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Preprocessing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(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800" b="1" spc="-25" dirty="0">
                <a:solidFill>
                  <a:srgbClr val="188037"/>
                </a:solidFill>
                <a:latin typeface="Courier New"/>
                <a:cs typeface="Courier New"/>
              </a:rPr>
              <a:t>E</a:t>
            </a:r>
            <a:r>
              <a:rPr sz="1800" spc="-25" dirty="0">
                <a:latin typeface="Arial MT"/>
                <a:cs typeface="Arial MT"/>
              </a:rPr>
              <a:t>)</a:t>
            </a:r>
            <a:endParaRPr sz="1800" dirty="0">
              <a:latin typeface="Arial MT"/>
              <a:cs typeface="Arial MT"/>
            </a:endParaRPr>
          </a:p>
          <a:p>
            <a:pPr marL="85090">
              <a:lnSpc>
                <a:spcPct val="100000"/>
              </a:lnSpc>
              <a:spcBef>
                <a:spcPts val="1080"/>
              </a:spcBef>
            </a:pPr>
            <a:r>
              <a:rPr sz="1800" dirty="0">
                <a:latin typeface="MS PGothic"/>
                <a:cs typeface="MS PGothic"/>
              </a:rPr>
              <a:t>➡</a:t>
            </a:r>
            <a:r>
              <a:rPr sz="1800" spc="-50" dirty="0">
                <a:latin typeface="MS PGothic"/>
                <a:cs typeface="MS PGothic"/>
              </a:rPr>
              <a:t> </a:t>
            </a:r>
            <a:r>
              <a:rPr sz="1800" b="1" dirty="0">
                <a:latin typeface="Arial"/>
                <a:cs typeface="Arial"/>
              </a:rPr>
              <a:t>S</a:t>
            </a:r>
            <a:r>
              <a:rPr sz="1800" b="1" spc="-5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-</a:t>
            </a:r>
            <a:r>
              <a:rPr sz="1800" spc="-10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Assembly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(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800" b="1" spc="-25" dirty="0">
                <a:solidFill>
                  <a:srgbClr val="188037"/>
                </a:solidFill>
                <a:latin typeface="Courier New"/>
                <a:cs typeface="Courier New"/>
              </a:rPr>
              <a:t>S</a:t>
            </a:r>
            <a:r>
              <a:rPr sz="1800" spc="-25" dirty="0">
                <a:latin typeface="Arial MT"/>
                <a:cs typeface="Arial MT"/>
              </a:rPr>
              <a:t>)</a:t>
            </a:r>
            <a:endParaRPr sz="1800" dirty="0">
              <a:latin typeface="Arial MT"/>
              <a:cs typeface="Arial MT"/>
            </a:endParaRPr>
          </a:p>
          <a:p>
            <a:pPr marL="85090">
              <a:lnSpc>
                <a:spcPct val="100000"/>
              </a:lnSpc>
              <a:spcBef>
                <a:spcPts val="1080"/>
              </a:spcBef>
            </a:pPr>
            <a:r>
              <a:rPr sz="1800" dirty="0">
                <a:latin typeface="MS PGothic"/>
                <a:cs typeface="MS PGothic"/>
              </a:rPr>
              <a:t>➡</a:t>
            </a:r>
            <a:r>
              <a:rPr sz="1800" spc="-65" dirty="0">
                <a:latin typeface="MS PGothic"/>
                <a:cs typeface="MS PGothic"/>
              </a:rPr>
              <a:t> </a:t>
            </a:r>
            <a:r>
              <a:rPr sz="1800" b="1" dirty="0">
                <a:latin typeface="Arial"/>
                <a:cs typeface="Arial"/>
              </a:rPr>
              <a:t>C</a:t>
            </a:r>
            <a:r>
              <a:rPr sz="1800" b="1" spc="-15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-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Compilation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(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800" b="1" spc="-25" dirty="0">
                <a:solidFill>
                  <a:srgbClr val="188037"/>
                </a:solidFill>
                <a:latin typeface="Courier New"/>
                <a:cs typeface="Courier New"/>
              </a:rPr>
              <a:t>c</a:t>
            </a:r>
            <a:r>
              <a:rPr sz="1800" spc="-25" dirty="0">
                <a:latin typeface="Arial MT"/>
                <a:cs typeface="Arial MT"/>
              </a:rPr>
              <a:t>)</a:t>
            </a:r>
            <a:endParaRPr sz="1800" dirty="0">
              <a:latin typeface="Arial MT"/>
              <a:cs typeface="Arial MT"/>
            </a:endParaRPr>
          </a:p>
          <a:p>
            <a:pPr marL="85090">
              <a:lnSpc>
                <a:spcPct val="100000"/>
              </a:lnSpc>
              <a:spcBef>
                <a:spcPts val="1080"/>
              </a:spcBef>
            </a:pPr>
            <a:r>
              <a:rPr sz="1800" dirty="0">
                <a:latin typeface="MS PGothic"/>
                <a:cs typeface="MS PGothic"/>
              </a:rPr>
              <a:t>➡</a:t>
            </a:r>
            <a:r>
              <a:rPr sz="1800" spc="-65" dirty="0">
                <a:latin typeface="MS PGothic"/>
                <a:cs typeface="MS PGothic"/>
              </a:rPr>
              <a:t> </a:t>
            </a:r>
            <a:r>
              <a:rPr sz="1800" b="1" dirty="0">
                <a:latin typeface="Arial"/>
                <a:cs typeface="Arial"/>
              </a:rPr>
              <a:t>L</a:t>
            </a:r>
            <a:r>
              <a:rPr sz="1800" b="1" spc="-15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-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Linking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(default)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870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Static</a:t>
            </a:r>
            <a:r>
              <a:rPr spc="-95" dirty="0"/>
              <a:t> </a:t>
            </a:r>
            <a:r>
              <a:rPr spc="-10" dirty="0"/>
              <a:t>Linking</a:t>
            </a:r>
          </a:p>
        </p:txBody>
      </p:sp>
      <p:pic>
        <p:nvPicPr>
          <p:cNvPr id="3" name="object 3" descr="C code for mathlib.c defining a function add that prints the sum of two integers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1550" y="2303750"/>
            <a:ext cx="5381998" cy="2469373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391550" y="4878849"/>
            <a:ext cx="3900804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mathlib.c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mathlib.o</a:t>
            </a:r>
            <a:endParaRPr sz="2000">
              <a:latin typeface="Arial"/>
              <a:cs typeface="Arial"/>
            </a:endParaRPr>
          </a:p>
        </p:txBody>
      </p:sp>
      <p:pic>
        <p:nvPicPr>
          <p:cNvPr id="4" name="object 4" descr="C code for main_static.c showing a function declaration for add and a main function calling it with arguments 3 and 4.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911712" y="1430750"/>
            <a:ext cx="5830426" cy="3352474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5911674" y="4878849"/>
            <a:ext cx="583057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5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4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program_static</a:t>
            </a:r>
            <a:r>
              <a:rPr sz="2000" b="1" spc="-4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main_static.c</a:t>
            </a:r>
            <a:r>
              <a:rPr sz="2000" b="1" spc="-4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mathlib.o</a:t>
            </a:r>
            <a:endParaRPr sz="20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778474" y="5563825"/>
            <a:ext cx="6964045" cy="923585"/>
          </a:xfrm>
          <a:prstGeom prst="rect">
            <a:avLst/>
          </a:prstGeom>
          <a:solidFill>
            <a:srgbClr val="FFF1CC"/>
          </a:solidFill>
          <a:ln w="28574">
            <a:solidFill>
              <a:srgbClr val="0F2044"/>
            </a:solidFill>
          </a:ln>
        </p:spPr>
        <p:txBody>
          <a:bodyPr vert="horz" wrap="square" lIns="0" tIns="208279" rIns="0" bIns="91440" rtlCol="0">
            <a:spAutoFit/>
          </a:bodyPr>
          <a:lstStyle/>
          <a:p>
            <a:pPr marL="542925">
              <a:lnSpc>
                <a:spcPct val="114000"/>
              </a:lnSpc>
              <a:spcBef>
                <a:spcPts val="1639"/>
              </a:spcBef>
            </a:pP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linker takes both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lang="en-US" sz="1800" b="1" spc="-10" dirty="0" err="1">
                <a:solidFill>
                  <a:srgbClr val="188037"/>
                </a:solidFill>
                <a:latin typeface="Courier New"/>
                <a:cs typeface="Courier New"/>
              </a:rPr>
              <a:t>main_static.o</a:t>
            </a:r>
            <a:r>
              <a:rPr lang="en-US" sz="1800" b="1" spc="-57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mathlib.o</a:t>
            </a:r>
            <a:endParaRPr sz="1800" b="1" dirty="0">
              <a:latin typeface="Courier New"/>
              <a:cs typeface="Courier New"/>
            </a:endParaRPr>
          </a:p>
          <a:p>
            <a:pPr marL="542925">
              <a:lnSpc>
                <a:spcPct val="114000"/>
              </a:lnSpc>
            </a:pP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combines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them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into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executable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program_static</a:t>
            </a:r>
            <a:r>
              <a:rPr sz="1800" spc="-10" dirty="0">
                <a:latin typeface="Arial MT"/>
                <a:cs typeface="Arial MT"/>
              </a:rPr>
              <a:t>.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870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Static</a:t>
            </a:r>
            <a:r>
              <a:rPr spc="-90" dirty="0"/>
              <a:t> </a:t>
            </a:r>
            <a:r>
              <a:rPr dirty="0"/>
              <a:t>Linking</a:t>
            </a:r>
            <a:r>
              <a:rPr spc="-90" dirty="0"/>
              <a:t> </a:t>
            </a:r>
            <a:r>
              <a:rPr dirty="0"/>
              <a:t>vs</a:t>
            </a:r>
            <a:r>
              <a:rPr spc="-90" dirty="0"/>
              <a:t> </a:t>
            </a:r>
            <a:r>
              <a:rPr dirty="0"/>
              <a:t>Dynamic</a:t>
            </a:r>
            <a:r>
              <a:rPr spc="-90" dirty="0"/>
              <a:t> </a:t>
            </a:r>
            <a:r>
              <a:rPr spc="-10" dirty="0"/>
              <a:t>Linking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410375" y="2378783"/>
            <a:ext cx="4889500" cy="394838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69215">
              <a:lnSpc>
                <a:spcPct val="114999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In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static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linking,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all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necessary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libraries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are </a:t>
            </a:r>
            <a:r>
              <a:rPr sz="1800" dirty="0">
                <a:latin typeface="Arial MT"/>
                <a:cs typeface="Arial MT"/>
              </a:rPr>
              <a:t>copied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into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final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executable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at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compile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time. </a:t>
            </a:r>
            <a:r>
              <a:rPr sz="1800" dirty="0">
                <a:latin typeface="Arial MT"/>
                <a:cs typeface="Arial MT"/>
              </a:rPr>
              <a:t>This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results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larger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executable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but</a:t>
            </a:r>
            <a:r>
              <a:rPr sz="1800" spc="-10" dirty="0">
                <a:latin typeface="Arial MT"/>
                <a:cs typeface="Arial MT"/>
              </a:rPr>
              <a:t> doesn't </a:t>
            </a:r>
            <a:r>
              <a:rPr sz="1800" dirty="0">
                <a:latin typeface="Arial MT"/>
                <a:cs typeface="Arial MT"/>
              </a:rPr>
              <a:t>require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external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libraries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runtime.</a:t>
            </a:r>
            <a:endParaRPr sz="18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520"/>
              </a:spcBef>
            </a:pPr>
            <a:r>
              <a:rPr sz="1800" b="1" dirty="0">
                <a:latin typeface="Arial"/>
                <a:cs typeface="Arial"/>
              </a:rPr>
              <a:t>How</a:t>
            </a:r>
            <a:r>
              <a:rPr sz="1800" b="1" spc="-6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Static</a:t>
            </a:r>
            <a:r>
              <a:rPr sz="1800" b="1" spc="-6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Linking</a:t>
            </a:r>
            <a:r>
              <a:rPr sz="1800" b="1" spc="-60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Works</a:t>
            </a:r>
            <a:endParaRPr sz="1800" dirty="0">
              <a:latin typeface="Arial"/>
              <a:cs typeface="Arial"/>
            </a:endParaRPr>
          </a:p>
          <a:p>
            <a:pPr marL="469900" marR="5080" indent="-367030">
              <a:lnSpc>
                <a:spcPct val="114999"/>
              </a:lnSpc>
              <a:spcBef>
                <a:spcPts val="1205"/>
              </a:spcBef>
              <a:spcAft>
                <a:spcPts val="600"/>
              </a:spcAft>
              <a:buChar char="●"/>
              <a:tabLst>
                <a:tab pos="469900" algn="l"/>
              </a:tabLst>
            </a:pPr>
            <a:r>
              <a:rPr sz="1800" dirty="0">
                <a:latin typeface="Arial MT"/>
                <a:cs typeface="Arial MT"/>
              </a:rPr>
              <a:t>Collects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all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necessary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object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code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libraries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into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large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executable.</a:t>
            </a:r>
            <a:endParaRPr sz="1800" dirty="0">
              <a:latin typeface="Arial MT"/>
              <a:cs typeface="Arial MT"/>
            </a:endParaRPr>
          </a:p>
          <a:p>
            <a:pPr marL="469900" marR="641350" indent="-367030">
              <a:lnSpc>
                <a:spcPct val="114999"/>
              </a:lnSpc>
              <a:spcAft>
                <a:spcPts val="600"/>
              </a:spcAft>
              <a:buChar char="●"/>
              <a:tabLst>
                <a:tab pos="469900" algn="l"/>
              </a:tabLst>
            </a:pPr>
            <a:r>
              <a:rPr sz="1800" b="1" dirty="0">
                <a:latin typeface="Arial"/>
                <a:cs typeface="Arial"/>
              </a:rPr>
              <a:t>Benefits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Fast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execution,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external dependencies.</a:t>
            </a:r>
            <a:endParaRPr sz="1800" dirty="0">
              <a:latin typeface="Arial MT"/>
              <a:cs typeface="Arial MT"/>
            </a:endParaRPr>
          </a:p>
          <a:p>
            <a:pPr marL="469900" marR="398145" indent="-367030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sz="1800" b="1" dirty="0">
                <a:latin typeface="Arial"/>
                <a:cs typeface="Arial"/>
              </a:rPr>
              <a:t>Drawbacks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Larger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executable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size,</a:t>
            </a:r>
            <a:r>
              <a:rPr sz="1800" spc="-30" dirty="0">
                <a:latin typeface="Arial MT"/>
                <a:cs typeface="Arial MT"/>
              </a:rPr>
              <a:t> </a:t>
            </a:r>
            <a:br>
              <a:rPr lang="en-US" sz="1800" spc="-30" dirty="0">
                <a:latin typeface="Arial MT"/>
                <a:cs typeface="Arial MT"/>
              </a:rPr>
            </a:br>
            <a:r>
              <a:rPr sz="1800" spc="-25" dirty="0">
                <a:latin typeface="Arial MT"/>
                <a:cs typeface="Arial MT"/>
              </a:rPr>
              <a:t>no </a:t>
            </a:r>
            <a:r>
              <a:rPr sz="1800" dirty="0">
                <a:latin typeface="Arial MT"/>
                <a:cs typeface="Arial MT"/>
              </a:rPr>
              <a:t>runtime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updates.</a:t>
            </a:r>
            <a:endParaRPr sz="1800" dirty="0">
              <a:latin typeface="Arial MT"/>
              <a:cs typeface="Arial MT"/>
            </a:endParaRPr>
          </a:p>
        </p:txBody>
      </p:sp>
      <p:grpSp>
        <p:nvGrpSpPr>
          <p:cNvPr id="3" name="object 3" descr="A comparison diagram showing static libraries bundled within each application versus a single shared library used by multiple applications."/>
          <p:cNvGrpSpPr/>
          <p:nvPr/>
        </p:nvGrpSpPr>
        <p:grpSpPr>
          <a:xfrm>
            <a:off x="5677224" y="2410974"/>
            <a:ext cx="6250305" cy="3779520"/>
            <a:chOff x="5677224" y="2410974"/>
            <a:chExt cx="6250305" cy="3779520"/>
          </a:xfrm>
        </p:grpSpPr>
        <p:pic>
          <p:nvPicPr>
            <p:cNvPr id="4" name="object 4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686749" y="2499873"/>
              <a:ext cx="6191112" cy="3651161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5681987" y="2415737"/>
              <a:ext cx="6240780" cy="3769995"/>
            </a:xfrm>
            <a:custGeom>
              <a:avLst/>
              <a:gdLst/>
              <a:ahLst/>
              <a:cxnLst/>
              <a:rect l="l" t="t" r="r" b="b"/>
              <a:pathLst>
                <a:path w="6240780" h="3769995">
                  <a:moveTo>
                    <a:pt x="0" y="0"/>
                  </a:moveTo>
                  <a:lnTo>
                    <a:pt x="6240324" y="0"/>
                  </a:lnTo>
                  <a:lnTo>
                    <a:pt x="6240324" y="3769824"/>
                  </a:lnTo>
                  <a:lnTo>
                    <a:pt x="0" y="376982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773924" y="6248745"/>
            <a:ext cx="217170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Derek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Kwok</a:t>
            </a:r>
            <a:r>
              <a:rPr sz="1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@</a:t>
            </a:r>
            <a:r>
              <a:rPr sz="1000" spc="-1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</a:rPr>
              <a:t>Medium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object 2">
            <a:extLst>
              <a:ext uri="{FF2B5EF4-FFF2-40B4-BE49-F238E27FC236}">
                <a16:creationId xmlns:a16="http://schemas.microsoft.com/office/drawing/2014/main" id="{B357B777-E87F-BDE3-A2BD-75DF938BDA73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267478" y="975210"/>
            <a:ext cx="2399522" cy="674544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28702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>
              <a:defRPr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eorgia" panose="02040502050405020303" pitchFamily="18" charset="0"/>
                <a:ea typeface="+mj-ea"/>
                <a:cs typeface="+mj-cs"/>
              </a:rPr>
              <a:t>Static</a:t>
            </a:r>
            <a:r>
              <a:rPr kumimoji="0" lang="en-US" sz="2500" b="0" i="0" u="none" strike="noStrike" kern="0" cap="none" spc="-9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eorgia" panose="02040502050405020303" pitchFamily="18" charset="0"/>
                <a:ea typeface="+mj-ea"/>
                <a:cs typeface="+mj-cs"/>
              </a:rPr>
              <a:t> </a:t>
            </a:r>
            <a:r>
              <a:rPr kumimoji="0" lang="en-US" sz="25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eorgia" panose="02040502050405020303" pitchFamily="18" charset="0"/>
                <a:ea typeface="+mj-ea"/>
                <a:cs typeface="+mj-cs"/>
              </a:rPr>
              <a:t>Linking</a:t>
            </a:r>
            <a:endParaRPr kumimoji="0" lang="en-US" sz="2500" b="0" i="0" u="none" strike="noStrike" kern="0" cap="none" spc="-1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</a:endParaRPr>
          </a:p>
        </p:txBody>
      </p:sp>
      <p:grpSp>
        <p:nvGrpSpPr>
          <p:cNvPr id="2" name="object 2" descr="A diagram of static linking where a linker combines application binary code and library binary code into a single executable."/>
          <p:cNvGrpSpPr/>
          <p:nvPr/>
        </p:nvGrpSpPr>
        <p:grpSpPr>
          <a:xfrm>
            <a:off x="164999" y="2124085"/>
            <a:ext cx="5968365" cy="4429125"/>
            <a:chOff x="164999" y="2124085"/>
            <a:chExt cx="5968365" cy="4429125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67478" y="2412469"/>
              <a:ext cx="5765998" cy="4130604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169762" y="2128847"/>
              <a:ext cx="5958840" cy="4419600"/>
            </a:xfrm>
            <a:custGeom>
              <a:avLst/>
              <a:gdLst/>
              <a:ahLst/>
              <a:cxnLst/>
              <a:rect l="l" t="t" r="r" b="b"/>
              <a:pathLst>
                <a:path w="5958840" h="4419600">
                  <a:moveTo>
                    <a:pt x="0" y="0"/>
                  </a:moveTo>
                  <a:lnTo>
                    <a:pt x="5958524" y="0"/>
                  </a:lnTo>
                  <a:lnTo>
                    <a:pt x="5958524" y="4418988"/>
                  </a:lnTo>
                  <a:lnTo>
                    <a:pt x="0" y="4418988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pSp>
        <p:nvGrpSpPr>
          <p:cNvPr id="5" name="object 5" descr="A flow chart showing a linker merging two object files and libraries into a single, potentially large .exe file."/>
          <p:cNvGrpSpPr/>
          <p:nvPr/>
        </p:nvGrpSpPr>
        <p:grpSpPr>
          <a:xfrm>
            <a:off x="6157276" y="2124075"/>
            <a:ext cx="5968365" cy="4429125"/>
            <a:chOff x="6157276" y="2124075"/>
            <a:chExt cx="5968365" cy="4429125"/>
          </a:xfrm>
        </p:grpSpPr>
        <p:pic>
          <p:nvPicPr>
            <p:cNvPr id="6" name="object 6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6396279" y="2511222"/>
              <a:ext cx="5696282" cy="3991174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6162038" y="2128837"/>
              <a:ext cx="5958840" cy="4419600"/>
            </a:xfrm>
            <a:custGeom>
              <a:avLst/>
              <a:gdLst/>
              <a:ahLst/>
              <a:cxnLst/>
              <a:rect l="l" t="t" r="r" b="b"/>
              <a:pathLst>
                <a:path w="5958840" h="4419600">
                  <a:moveTo>
                    <a:pt x="0" y="0"/>
                  </a:moveTo>
                  <a:lnTo>
                    <a:pt x="5958524" y="0"/>
                  </a:lnTo>
                  <a:lnTo>
                    <a:pt x="5958524" y="4418988"/>
                  </a:lnTo>
                  <a:lnTo>
                    <a:pt x="0" y="4418988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0039250" y="1465595"/>
            <a:ext cx="191960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HowTo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@</a:t>
            </a:r>
            <a:r>
              <a:rPr sz="10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</a:rPr>
              <a:t>YouTube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2">
            <a:extLst>
              <a:ext uri="{FF2B5EF4-FFF2-40B4-BE49-F238E27FC236}">
                <a16:creationId xmlns:a16="http://schemas.microsoft.com/office/drawing/2014/main" id="{06B6E240-0ED4-BCD6-9966-9D94DDF78C79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267478" y="975210"/>
            <a:ext cx="2399522" cy="674544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28702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>
              <a:defRPr sz="2500" b="0" i="0">
                <a:solidFill>
                  <a:srgbClr val="0F2044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eorgia" panose="02040502050405020303" pitchFamily="18" charset="0"/>
                <a:ea typeface="+mj-ea"/>
                <a:cs typeface="+mj-cs"/>
              </a:rPr>
              <a:t>Static</a:t>
            </a:r>
            <a:r>
              <a:rPr kumimoji="0" lang="en-US" sz="2500" b="0" i="0" u="none" strike="noStrike" kern="0" cap="none" spc="-9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eorgia" panose="02040502050405020303" pitchFamily="18" charset="0"/>
                <a:ea typeface="+mj-ea"/>
                <a:cs typeface="+mj-cs"/>
              </a:rPr>
              <a:t> </a:t>
            </a:r>
            <a:r>
              <a:rPr kumimoji="0" lang="en-US" sz="25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eorgia" panose="02040502050405020303" pitchFamily="18" charset="0"/>
                <a:ea typeface="+mj-ea"/>
                <a:cs typeface="+mj-cs"/>
              </a:rPr>
              <a:t>Linking</a:t>
            </a:r>
            <a:endParaRPr kumimoji="0" lang="en-US" sz="2500" b="0" i="0" u="none" strike="noStrike" kern="0" cap="none" spc="-1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</a:endParaRPr>
          </a:p>
        </p:txBody>
      </p:sp>
      <p:grpSp>
        <p:nvGrpSpPr>
          <p:cNvPr id="2" name="object 2" descr="A four-step diagram explaining that static linking requires a full re-compilation of the executable if a library function is updated."/>
          <p:cNvGrpSpPr/>
          <p:nvPr/>
        </p:nvGrpSpPr>
        <p:grpSpPr>
          <a:xfrm>
            <a:off x="0" y="133945"/>
            <a:ext cx="12192000" cy="6403975"/>
            <a:chOff x="0" y="133945"/>
            <a:chExt cx="12192000" cy="6403975"/>
          </a:xfrm>
        </p:grpSpPr>
        <p:pic>
          <p:nvPicPr>
            <p:cNvPr id="3" name="object 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373400" y="1017649"/>
              <a:ext cx="7474202" cy="5510748"/>
            </a:xfrm>
            <a:prstGeom prst="rect">
              <a:avLst/>
            </a:prstGeom>
          </p:spPr>
        </p:pic>
        <p:sp>
          <p:nvSpPr>
            <p:cNvPr id="4" name="object 4"/>
            <p:cNvSpPr/>
            <p:nvPr/>
          </p:nvSpPr>
          <p:spPr>
            <a:xfrm>
              <a:off x="2368637" y="1012887"/>
              <a:ext cx="7484109" cy="5520690"/>
            </a:xfrm>
            <a:custGeom>
              <a:avLst/>
              <a:gdLst/>
              <a:ahLst/>
              <a:cxnLst/>
              <a:rect l="l" t="t" r="r" b="b"/>
              <a:pathLst>
                <a:path w="7484109" h="5520690">
                  <a:moveTo>
                    <a:pt x="0" y="0"/>
                  </a:moveTo>
                  <a:lnTo>
                    <a:pt x="7483727" y="0"/>
                  </a:lnTo>
                  <a:lnTo>
                    <a:pt x="7483727" y="5520273"/>
                  </a:lnTo>
                  <a:lnTo>
                    <a:pt x="0" y="5520273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0039250" y="1465595"/>
            <a:ext cx="191960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HowTo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@</a:t>
            </a:r>
            <a:r>
              <a:rPr sz="10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</a:rPr>
              <a:t>YouTube</a:t>
            </a:r>
            <a:endParaRPr sz="10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bject 2">
            <a:extLst>
              <a:ext uri="{FF2B5EF4-FFF2-40B4-BE49-F238E27FC236}">
                <a16:creationId xmlns:a16="http://schemas.microsoft.com/office/drawing/2014/main" id="{F2D244F9-657D-4DA8-C641-5D7386649EF4}"/>
              </a:ext>
            </a:extLst>
          </p:cNvPr>
          <p:cNvSpPr txBox="1">
            <a:spLocks noGrp="1"/>
          </p:cNvSpPr>
          <p:nvPr>
            <p:ph type="title" idx="4294967295"/>
          </p:nvPr>
        </p:nvSpPr>
        <p:spPr>
          <a:xfrm>
            <a:off x="267478" y="975210"/>
            <a:ext cx="2399522" cy="1059264"/>
          </a:xfrm>
          <a:prstGeom prst="rect">
            <a:avLst/>
          </a:prstGeom>
          <a:noFill/>
          <a:ln>
            <a:noFill/>
            <a:prstDash/>
          </a:ln>
          <a:effectLst/>
        </p:spPr>
        <p:txBody>
          <a:bodyPr rot="0" spcFirstLastPara="0" vertOverflow="overflow" horzOverflow="overflow" vert="horz" wrap="square" lIns="0" tIns="287020" rIns="0" bIns="0" numCol="1" spcCol="0" rtlCol="0" fromWordArt="0" anchor="t" anchorCtr="0" forceAA="0" compatLnSpc="1">
            <a:prstTxWarp prst="textNoShape">
              <a:avLst/>
            </a:prstTxWarp>
            <a:spAutoFit/>
          </a:bodyPr>
          <a:lstStyle>
            <a:lvl1pPr>
              <a:defRPr sz="2500" b="0" i="0">
                <a:solidFill>
                  <a:srgbClr val="0F2044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12700" marR="0" lvl="0" indent="0" defTabSz="91440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500" b="0" i="0" u="none" strike="noStrike" kern="0" cap="none" spc="-9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eorgia" panose="02040502050405020303" pitchFamily="18" charset="0"/>
                <a:ea typeface="+mj-ea"/>
                <a:cs typeface="+mj-cs"/>
              </a:rPr>
              <a:t>Dynamic</a:t>
            </a:r>
            <a:br>
              <a:rPr kumimoji="0" lang="en-US" sz="2500" b="0" i="0" u="none" strike="noStrike" kern="0" cap="none" spc="-9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eorgia" panose="02040502050405020303" pitchFamily="18" charset="0"/>
                <a:ea typeface="+mj-ea"/>
                <a:cs typeface="+mj-cs"/>
              </a:rPr>
            </a:br>
            <a:r>
              <a:rPr kumimoji="0" lang="en-US" sz="2500" b="0" i="0" u="none" strike="noStrike" kern="0" cap="none" spc="0" normalizeH="0" baseline="0" noProof="0" dirty="0">
                <a:ln>
                  <a:noFill/>
                </a:ln>
                <a:solidFill>
                  <a:sysClr val="windowText" lastClr="000000"/>
                </a:solidFill>
                <a:effectLst/>
                <a:uLnTx/>
                <a:uFillTx/>
                <a:latin typeface="Georgia" panose="02040502050405020303" pitchFamily="18" charset="0"/>
                <a:ea typeface="+mj-ea"/>
                <a:cs typeface="+mj-cs"/>
              </a:rPr>
              <a:t>Linking</a:t>
            </a:r>
            <a:endParaRPr kumimoji="0" lang="en-US" sz="2500" b="0" i="0" u="none" strike="noStrike" kern="0" cap="none" spc="-10" normalizeH="0" baseline="0" noProof="0" dirty="0">
              <a:ln>
                <a:noFill/>
              </a:ln>
              <a:solidFill>
                <a:sysClr val="windowText" lastClr="000000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</a:endParaRPr>
          </a:p>
        </p:txBody>
      </p:sp>
      <p:pic>
        <p:nvPicPr>
          <p:cNvPr id="3" name="object 3" descr="A diagram of dynamic linking where the linker places a memory address reference in the executable instead of the full library code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2127449" y="914875"/>
            <a:ext cx="7889152" cy="5812848"/>
          </a:xfrm>
          <a:prstGeom prst="rect">
            <a:avLst/>
          </a:prstGeom>
        </p:spPr>
      </p:pic>
      <p:sp>
        <p:nvSpPr>
          <p:cNvPr id="4" name="object 4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2122687" y="910112"/>
            <a:ext cx="7898765" cy="5822950"/>
          </a:xfrm>
          <a:custGeom>
            <a:avLst/>
            <a:gdLst/>
            <a:ahLst/>
            <a:cxnLst/>
            <a:rect l="l" t="t" r="r" b="b"/>
            <a:pathLst>
              <a:path w="7898765" h="5822950">
                <a:moveTo>
                  <a:pt x="0" y="0"/>
                </a:moveTo>
                <a:lnTo>
                  <a:pt x="7898677" y="0"/>
                </a:lnTo>
                <a:lnTo>
                  <a:pt x="7898677" y="5822374"/>
                </a:lnTo>
                <a:lnTo>
                  <a:pt x="0" y="5822374"/>
                </a:lnTo>
                <a:lnTo>
                  <a:pt x="0" y="0"/>
                </a:lnTo>
                <a:close/>
              </a:path>
            </a:pathLst>
          </a:custGeom>
          <a:ln w="9524">
            <a:solidFill>
              <a:srgbClr val="0F2044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10039250" y="1465595"/>
            <a:ext cx="191960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HowTo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@</a:t>
            </a:r>
            <a:r>
              <a:rPr sz="1000" spc="-3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</a:rPr>
              <a:t>YouTube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219200"/>
            <a:ext cx="6837680" cy="682752"/>
          </a:xfrm>
          <a:prstGeom prst="rect">
            <a:avLst/>
          </a:prstGeom>
        </p:spPr>
        <p:txBody>
          <a:bodyPr vert="horz" wrap="square" lIns="0" tIns="2870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Dynamic</a:t>
            </a:r>
            <a:r>
              <a:rPr spc="-135" dirty="0"/>
              <a:t> </a:t>
            </a:r>
            <a:r>
              <a:rPr spc="-10" dirty="0"/>
              <a:t>Linking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48650" y="2171392"/>
            <a:ext cx="4521835" cy="42223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999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Dynamic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linking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allows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executable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programs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shared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libraries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runtime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rather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than </a:t>
            </a:r>
            <a:r>
              <a:rPr sz="1800" dirty="0">
                <a:latin typeface="Arial MT"/>
                <a:cs typeface="Arial MT"/>
              </a:rPr>
              <a:t>embedding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all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necessary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code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directly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into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executable.</a:t>
            </a:r>
            <a:r>
              <a:rPr sz="1800" spc="-5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This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leads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smaller </a:t>
            </a:r>
            <a:r>
              <a:rPr sz="1800" dirty="0">
                <a:latin typeface="Arial MT"/>
                <a:cs typeface="Arial MT"/>
              </a:rPr>
              <a:t>executables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ability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for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multiple </a:t>
            </a:r>
            <a:r>
              <a:rPr sz="1800" dirty="0">
                <a:latin typeface="Arial MT"/>
                <a:cs typeface="Arial MT"/>
              </a:rPr>
              <a:t>programs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share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same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library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in </a:t>
            </a:r>
            <a:r>
              <a:rPr sz="1800" spc="-10" dirty="0">
                <a:latin typeface="Arial MT"/>
                <a:cs typeface="Arial MT"/>
              </a:rPr>
              <a:t>memory,</a:t>
            </a:r>
            <a:r>
              <a:rPr sz="1800" spc="-5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reducing</a:t>
            </a:r>
            <a:r>
              <a:rPr sz="1800" spc="-5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redundancy.</a:t>
            </a:r>
            <a:endParaRPr sz="18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720"/>
              </a:spcBef>
              <a:spcAft>
                <a:spcPts val="600"/>
              </a:spcAft>
            </a:pPr>
            <a:r>
              <a:rPr sz="1800" b="1" dirty="0">
                <a:latin typeface="Arial"/>
                <a:cs typeface="Arial"/>
              </a:rPr>
              <a:t>Steps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to</a:t>
            </a:r>
            <a:r>
              <a:rPr sz="1800" b="1" spc="-3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Demonstrate</a:t>
            </a:r>
            <a:r>
              <a:rPr sz="1800" b="1" spc="-3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Dynamic</a:t>
            </a:r>
            <a:r>
              <a:rPr sz="1800" b="1" spc="-35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Linking</a:t>
            </a:r>
            <a:endParaRPr lang="en-US" sz="1800" b="1" spc="-10" dirty="0">
              <a:latin typeface="Arial"/>
              <a:cs typeface="Arial"/>
            </a:endParaRPr>
          </a:p>
          <a:p>
            <a:pPr marL="431800" indent="-419100">
              <a:lnSpc>
                <a:spcPct val="100000"/>
              </a:lnSpc>
              <a:spcBef>
                <a:spcPts val="420"/>
              </a:spcBef>
              <a:spcAft>
                <a:spcPts val="600"/>
              </a:spcAft>
              <a:buAutoNum type="arabicPeriod"/>
              <a:tabLst>
                <a:tab pos="431800" algn="l"/>
              </a:tabLst>
            </a:pPr>
            <a:r>
              <a:rPr lang="en-US" sz="1800" dirty="0">
                <a:latin typeface="Arial MT"/>
                <a:cs typeface="Arial MT"/>
              </a:rPr>
              <a:t>Create</a:t>
            </a:r>
            <a:r>
              <a:rPr lang="en-US" sz="1800" spc="-1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a</a:t>
            </a:r>
            <a:r>
              <a:rPr lang="en-US" sz="1800" spc="-10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Shared</a:t>
            </a:r>
            <a:r>
              <a:rPr lang="en-US" sz="1800" spc="-10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Library</a:t>
            </a:r>
            <a:r>
              <a:rPr lang="en-US" sz="1800" spc="-10" dirty="0">
                <a:latin typeface="Arial MT"/>
                <a:cs typeface="Arial MT"/>
              </a:rPr>
              <a:t> (</a:t>
            </a:r>
            <a:r>
              <a:rPr lang="en-US"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.so</a:t>
            </a:r>
            <a:r>
              <a:rPr lang="en-US"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lang="en-US" sz="1800" spc="-10" dirty="0">
                <a:latin typeface="Arial MT"/>
                <a:cs typeface="Arial MT"/>
              </a:rPr>
              <a:t>file)</a:t>
            </a:r>
            <a:endParaRPr lang="en-US" sz="1800" dirty="0">
              <a:latin typeface="Arial MT"/>
              <a:cs typeface="Arial MT"/>
            </a:endParaRPr>
          </a:p>
          <a:p>
            <a:pPr marL="431800" indent="-419100">
              <a:lnSpc>
                <a:spcPct val="100000"/>
              </a:lnSpc>
              <a:spcBef>
                <a:spcPts val="325"/>
              </a:spcBef>
              <a:spcAft>
                <a:spcPts val="600"/>
              </a:spcAft>
              <a:buAutoNum type="arabicPeriod"/>
              <a:tabLst>
                <a:tab pos="431800" algn="l"/>
              </a:tabLst>
            </a:pPr>
            <a:r>
              <a:rPr lang="en-US" sz="1800" dirty="0">
                <a:latin typeface="Arial MT"/>
                <a:cs typeface="Arial MT"/>
              </a:rPr>
              <a:t>Use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the</a:t>
            </a:r>
            <a:r>
              <a:rPr lang="en-US" sz="1800" spc="-1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Shared</a:t>
            </a:r>
            <a:r>
              <a:rPr lang="en-US" sz="1800" spc="-10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Library</a:t>
            </a:r>
            <a:r>
              <a:rPr lang="en-US" sz="1800" spc="-1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in</a:t>
            </a:r>
            <a:r>
              <a:rPr lang="en-US" sz="1800" spc="-1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a</a:t>
            </a:r>
            <a:r>
              <a:rPr lang="en-US" sz="1800" spc="-10" dirty="0">
                <a:latin typeface="Arial MT"/>
                <a:cs typeface="Arial MT"/>
              </a:rPr>
              <a:t> Program</a:t>
            </a:r>
            <a:endParaRPr lang="en-US" sz="1800" dirty="0">
              <a:latin typeface="Arial MT"/>
              <a:cs typeface="Arial MT"/>
            </a:endParaRPr>
          </a:p>
          <a:p>
            <a:pPr marL="431800" marR="170180" indent="-419734">
              <a:lnSpc>
                <a:spcPct val="114999"/>
              </a:lnSpc>
              <a:buAutoNum type="arabicPeriod"/>
              <a:tabLst>
                <a:tab pos="431800" algn="l"/>
              </a:tabLst>
            </a:pPr>
            <a:r>
              <a:rPr lang="en-US" sz="1800" dirty="0">
                <a:latin typeface="Arial MT"/>
                <a:cs typeface="Arial MT"/>
              </a:rPr>
              <a:t>Compile</a:t>
            </a:r>
            <a:r>
              <a:rPr lang="en-US" sz="1800" spc="-20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and</a:t>
            </a:r>
            <a:r>
              <a:rPr lang="en-US" sz="1800" spc="-1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Run</a:t>
            </a:r>
            <a:r>
              <a:rPr lang="en-US" sz="1800" spc="-20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the</a:t>
            </a:r>
            <a:r>
              <a:rPr lang="en-US" sz="1800" spc="-1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Program</a:t>
            </a:r>
            <a:r>
              <a:rPr lang="en-US" sz="1800" spc="-15" dirty="0">
                <a:latin typeface="Arial MT"/>
                <a:cs typeface="Arial MT"/>
              </a:rPr>
              <a:t> </a:t>
            </a:r>
            <a:r>
              <a:rPr lang="en-US" sz="1800" spc="-20" dirty="0">
                <a:latin typeface="Arial MT"/>
                <a:cs typeface="Arial MT"/>
              </a:rPr>
              <a:t>with </a:t>
            </a:r>
            <a:r>
              <a:rPr lang="en-US" sz="1800" dirty="0">
                <a:latin typeface="Arial MT"/>
                <a:cs typeface="Arial MT"/>
              </a:rPr>
              <a:t>Dynamic</a:t>
            </a:r>
            <a:r>
              <a:rPr lang="en-US" sz="1800" spc="-5" dirty="0">
                <a:latin typeface="Arial MT"/>
                <a:cs typeface="Arial MT"/>
              </a:rPr>
              <a:t> </a:t>
            </a:r>
            <a:r>
              <a:rPr lang="en-US" sz="1800" spc="-10" dirty="0">
                <a:latin typeface="Arial MT"/>
                <a:cs typeface="Arial MT"/>
              </a:rPr>
              <a:t>Linking</a:t>
            </a:r>
            <a:endParaRPr lang="en-US" sz="1800" dirty="0">
              <a:latin typeface="Arial MT"/>
              <a:cs typeface="Arial MT"/>
            </a:endParaRPr>
          </a:p>
        </p:txBody>
      </p:sp>
      <p:grpSp>
        <p:nvGrpSpPr>
          <p:cNvPr id="5" name="object 5" descr="A technical diagram showing shared libraries being loaded into a system's runtime memory (stack/heap) separately from the application code."/>
          <p:cNvGrpSpPr/>
          <p:nvPr/>
        </p:nvGrpSpPr>
        <p:grpSpPr>
          <a:xfrm>
            <a:off x="5186874" y="1805052"/>
            <a:ext cx="6623684" cy="4319270"/>
            <a:chOff x="5186874" y="1805052"/>
            <a:chExt cx="6623684" cy="4319270"/>
          </a:xfrm>
        </p:grpSpPr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5355298" y="1814577"/>
              <a:ext cx="6276499" cy="4290268"/>
            </a:xfrm>
            <a:prstGeom prst="rect">
              <a:avLst/>
            </a:prstGeom>
          </p:spPr>
        </p:pic>
        <p:sp>
          <p:nvSpPr>
            <p:cNvPr id="7" name="object 7"/>
            <p:cNvSpPr/>
            <p:nvPr/>
          </p:nvSpPr>
          <p:spPr>
            <a:xfrm>
              <a:off x="5191637" y="1809814"/>
              <a:ext cx="6614159" cy="4309745"/>
            </a:xfrm>
            <a:custGeom>
              <a:avLst/>
              <a:gdLst/>
              <a:ahLst/>
              <a:cxnLst/>
              <a:rect l="l" t="t" r="r" b="b"/>
              <a:pathLst>
                <a:path w="6614159" h="4309745">
                  <a:moveTo>
                    <a:pt x="0" y="0"/>
                  </a:moveTo>
                  <a:lnTo>
                    <a:pt x="6613752" y="0"/>
                  </a:lnTo>
                  <a:lnTo>
                    <a:pt x="6613752" y="4309724"/>
                  </a:lnTo>
                  <a:lnTo>
                    <a:pt x="0" y="4309724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8" name="object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7482100" y="6258919"/>
            <a:ext cx="261302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  <a:hlinkClick r:id="rId4"/>
              </a:rPr>
              <a:t>https://www.codeinsideout.com/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415541"/>
            <a:ext cx="4475480" cy="6819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dirty="0"/>
              <a:t>Dynamic</a:t>
            </a:r>
            <a:r>
              <a:rPr spc="-135" dirty="0"/>
              <a:t> </a:t>
            </a:r>
            <a:r>
              <a:rPr spc="-10" dirty="0"/>
              <a:t>Linking</a:t>
            </a:r>
          </a:p>
          <a:p>
            <a:pPr marL="12700">
              <a:lnSpc>
                <a:spcPts val="2285"/>
              </a:lnSpc>
            </a:pPr>
            <a:r>
              <a:rPr sz="2000" dirty="0"/>
              <a:t>Step</a:t>
            </a:r>
            <a:r>
              <a:rPr sz="2000" spc="-55" dirty="0"/>
              <a:t> </a:t>
            </a:r>
            <a:r>
              <a:rPr sz="2000" dirty="0"/>
              <a:t>1:</a:t>
            </a:r>
            <a:r>
              <a:rPr sz="2000" spc="-50" dirty="0"/>
              <a:t> </a:t>
            </a:r>
            <a:r>
              <a:rPr sz="2000" dirty="0"/>
              <a:t>Create</a:t>
            </a:r>
            <a:r>
              <a:rPr sz="2000" spc="-50" dirty="0"/>
              <a:t> </a:t>
            </a:r>
            <a:r>
              <a:rPr sz="2000" dirty="0"/>
              <a:t>a</a:t>
            </a:r>
            <a:r>
              <a:rPr sz="2000" spc="-55" dirty="0"/>
              <a:t> </a:t>
            </a:r>
            <a:r>
              <a:rPr sz="2000" dirty="0"/>
              <a:t>Shared</a:t>
            </a:r>
            <a:r>
              <a:rPr sz="2000" spc="-50" dirty="0"/>
              <a:t> </a:t>
            </a:r>
            <a:r>
              <a:rPr sz="2000" dirty="0"/>
              <a:t>Library</a:t>
            </a:r>
            <a:r>
              <a:rPr sz="2000" spc="-50" dirty="0"/>
              <a:t> </a:t>
            </a:r>
            <a:r>
              <a:rPr sz="2000" dirty="0"/>
              <a:t>(.so</a:t>
            </a:r>
            <a:r>
              <a:rPr sz="2000" spc="-55" dirty="0"/>
              <a:t> </a:t>
            </a:r>
            <a:r>
              <a:rPr sz="2000" spc="-10" dirty="0"/>
              <a:t>file)</a:t>
            </a:r>
            <a:endParaRPr sz="2000" dirty="0"/>
          </a:p>
        </p:txBody>
      </p:sp>
      <p:sp>
        <p:nvSpPr>
          <p:cNvPr id="4" name="object 4"/>
          <p:cNvSpPr txBox="1"/>
          <p:nvPr/>
        </p:nvSpPr>
        <p:spPr>
          <a:xfrm>
            <a:off x="548650" y="2286000"/>
            <a:ext cx="6216650" cy="3749231"/>
          </a:xfrm>
          <a:prstGeom prst="rect">
            <a:avLst/>
          </a:prstGeom>
        </p:spPr>
        <p:txBody>
          <a:bodyPr vert="horz" wrap="square" lIns="0" tIns="133985" rIns="0" bIns="0" rtlCol="0">
            <a:spAutoFit/>
          </a:bodyPr>
          <a:lstStyle/>
          <a:p>
            <a:pPr marL="12700" marR="1700530">
              <a:lnSpc>
                <a:spcPct val="114999"/>
              </a:lnSpc>
              <a:spcBef>
                <a:spcPts val="630"/>
              </a:spcBef>
            </a:pPr>
            <a:r>
              <a:rPr sz="1800" dirty="0">
                <a:latin typeface="Arial MT"/>
                <a:cs typeface="Arial MT"/>
              </a:rPr>
              <a:t>Let’s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start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by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creating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shared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library.</a:t>
            </a:r>
            <a:r>
              <a:rPr sz="1800" spc="-60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This </a:t>
            </a:r>
            <a:r>
              <a:rPr sz="1800" dirty="0">
                <a:latin typeface="Arial MT"/>
                <a:cs typeface="Arial MT"/>
              </a:rPr>
              <a:t>shared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contains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function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will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be </a:t>
            </a:r>
            <a:r>
              <a:rPr sz="1800" dirty="0">
                <a:latin typeface="Arial MT"/>
                <a:cs typeface="Arial MT"/>
              </a:rPr>
              <a:t>dynamically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runtime.</a:t>
            </a:r>
            <a:endParaRPr sz="18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1525"/>
              </a:spcBef>
            </a:pPr>
            <a:r>
              <a:rPr sz="1800" dirty="0">
                <a:latin typeface="Arial MT"/>
                <a:cs typeface="Arial MT"/>
              </a:rPr>
              <a:t>A</a:t>
            </a:r>
            <a:r>
              <a:rPr sz="1800" spc="-114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.so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Shared</a:t>
            </a:r>
            <a:r>
              <a:rPr sz="1800" b="1" spc="-1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Object </a:t>
            </a:r>
            <a:r>
              <a:rPr sz="1800" spc="-10" dirty="0">
                <a:latin typeface="Arial MT"/>
                <a:cs typeface="Arial MT"/>
              </a:rPr>
              <a:t>file.</a:t>
            </a:r>
            <a:endParaRPr sz="1800" dirty="0">
              <a:latin typeface="Arial MT"/>
              <a:cs typeface="Arial MT"/>
            </a:endParaRPr>
          </a:p>
          <a:p>
            <a:pPr marL="12700" marR="1333500">
              <a:lnSpc>
                <a:spcPct val="114999"/>
              </a:lnSpc>
              <a:spcBef>
                <a:spcPts val="1200"/>
              </a:spcBef>
            </a:pPr>
            <a:r>
              <a:rPr sz="1800" dirty="0">
                <a:latin typeface="Arial MT"/>
                <a:cs typeface="Arial MT"/>
              </a:rPr>
              <a:t>When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program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runs,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doesn’t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need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include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entire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own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executable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file.</a:t>
            </a:r>
            <a:endParaRPr sz="18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320"/>
              </a:spcBef>
            </a:pPr>
            <a:r>
              <a:rPr sz="1800" dirty="0">
                <a:latin typeface="Arial MT"/>
                <a:cs typeface="Arial MT"/>
              </a:rPr>
              <a:t>Instead,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.so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at</a:t>
            </a:r>
            <a:r>
              <a:rPr sz="1800" spc="-10" dirty="0">
                <a:latin typeface="Arial MT"/>
                <a:cs typeface="Arial MT"/>
              </a:rPr>
              <a:t> runtime.</a:t>
            </a:r>
            <a:endParaRPr sz="1800" dirty="0">
              <a:latin typeface="Arial MT"/>
              <a:cs typeface="Arial MT"/>
            </a:endParaRPr>
          </a:p>
          <a:p>
            <a:pPr marL="12700" marR="1457960">
              <a:lnSpc>
                <a:spcPct val="114999"/>
              </a:lnSpc>
              <a:spcBef>
                <a:spcPts val="1200"/>
              </a:spcBef>
            </a:pPr>
            <a:r>
              <a:rPr sz="1800" dirty="0">
                <a:latin typeface="Arial MT"/>
                <a:cs typeface="Arial MT"/>
              </a:rPr>
              <a:t>This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dynamic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linking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reduces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size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executable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file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allows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multiple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programs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to </a:t>
            </a:r>
            <a:r>
              <a:rPr sz="1800" dirty="0">
                <a:latin typeface="Arial MT"/>
                <a:cs typeface="Arial MT"/>
              </a:rPr>
              <a:t>share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same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memory.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C60342B-B30A-24BE-DC78-86D240106E2B}"/>
              </a:ext>
            </a:extLst>
          </p:cNvPr>
          <p:cNvSpPr txBox="1"/>
          <p:nvPr/>
        </p:nvSpPr>
        <p:spPr>
          <a:xfrm>
            <a:off x="5691712" y="1979231"/>
            <a:ext cx="16002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5080" algn="l">
              <a:lnSpc>
                <a:spcPct val="100000"/>
              </a:lnSpc>
              <a:spcBef>
                <a:spcPts val="1055"/>
              </a:spcBef>
            </a:pPr>
            <a:r>
              <a:rPr lang="en-US" sz="1800" b="1" spc="-10" dirty="0" err="1">
                <a:solidFill>
                  <a:srgbClr val="0F2044"/>
                </a:solidFill>
                <a:latin typeface="Arial"/>
                <a:cs typeface="Arial"/>
              </a:rPr>
              <a:t>mathlib.c</a:t>
            </a:r>
            <a:endParaRPr lang="en-US" sz="1800" dirty="0">
              <a:latin typeface="Arial"/>
              <a:cs typeface="Arial"/>
            </a:endParaRPr>
          </a:p>
        </p:txBody>
      </p:sp>
      <p:pic>
        <p:nvPicPr>
          <p:cNvPr id="3" name="object 3" descr="C code for an updated mathlib.c containing both add and subtract function definitions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5716150" y="2411125"/>
            <a:ext cx="6174848" cy="3430474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dirty="0"/>
              <a:t>Dynamic</a:t>
            </a:r>
            <a:r>
              <a:rPr spc="-135" dirty="0"/>
              <a:t> </a:t>
            </a:r>
            <a:r>
              <a:rPr spc="-10" dirty="0"/>
              <a:t>Linking</a:t>
            </a:r>
          </a:p>
          <a:p>
            <a:pPr marL="12700">
              <a:lnSpc>
                <a:spcPts val="2285"/>
              </a:lnSpc>
            </a:pPr>
            <a:r>
              <a:rPr sz="2000" dirty="0"/>
              <a:t>Step</a:t>
            </a:r>
            <a:r>
              <a:rPr sz="2000" spc="-55" dirty="0"/>
              <a:t> </a:t>
            </a:r>
            <a:r>
              <a:rPr sz="2000" dirty="0"/>
              <a:t>1:</a:t>
            </a:r>
            <a:r>
              <a:rPr sz="2000" spc="-50" dirty="0"/>
              <a:t> </a:t>
            </a:r>
            <a:r>
              <a:rPr sz="2000" dirty="0"/>
              <a:t>Create</a:t>
            </a:r>
            <a:r>
              <a:rPr sz="2000" spc="-50" dirty="0"/>
              <a:t> </a:t>
            </a:r>
            <a:r>
              <a:rPr sz="2000" dirty="0"/>
              <a:t>a</a:t>
            </a:r>
            <a:r>
              <a:rPr sz="2000" spc="-55" dirty="0"/>
              <a:t> </a:t>
            </a:r>
            <a:r>
              <a:rPr sz="2000" dirty="0"/>
              <a:t>Shared</a:t>
            </a:r>
            <a:r>
              <a:rPr sz="2000" spc="-50" dirty="0"/>
              <a:t> </a:t>
            </a:r>
            <a:r>
              <a:rPr sz="2000" dirty="0"/>
              <a:t>Library</a:t>
            </a:r>
            <a:r>
              <a:rPr sz="2000" spc="-50" dirty="0"/>
              <a:t> </a:t>
            </a:r>
            <a:r>
              <a:rPr sz="2000" dirty="0"/>
              <a:t>(.so</a:t>
            </a:r>
            <a:r>
              <a:rPr sz="2000" spc="-55" dirty="0"/>
              <a:t> </a:t>
            </a:r>
            <a:r>
              <a:rPr sz="2000" spc="-10" dirty="0"/>
              <a:t>file)</a:t>
            </a:r>
            <a:endParaRPr sz="2000"/>
          </a:p>
        </p:txBody>
      </p:sp>
      <p:sp>
        <p:nvSpPr>
          <p:cNvPr id="4" name="object 4"/>
          <p:cNvSpPr txBox="1"/>
          <p:nvPr/>
        </p:nvSpPr>
        <p:spPr>
          <a:xfrm>
            <a:off x="439275" y="2498814"/>
            <a:ext cx="726757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20" dirty="0">
                <a:latin typeface="Arial MT"/>
                <a:cs typeface="Arial MT"/>
              </a:rPr>
              <a:t>To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create</a:t>
            </a:r>
            <a:r>
              <a:rPr sz="2000" spc="-8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shared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library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(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.so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file),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use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following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command: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3" name="object 3"/>
          <p:cNvSpPr txBox="1"/>
          <p:nvPr/>
        </p:nvSpPr>
        <p:spPr>
          <a:xfrm>
            <a:off x="522299" y="3050050"/>
            <a:ext cx="538353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shared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fPIC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libmath.so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mathlib.c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83317" y="3648920"/>
            <a:ext cx="10638790" cy="20185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4335" marR="123189" indent="-382270">
              <a:lnSpc>
                <a:spcPct val="114999"/>
              </a:lnSpc>
              <a:spcBef>
                <a:spcPts val="100"/>
              </a:spcBef>
              <a:spcAft>
                <a:spcPts val="600"/>
              </a:spcAft>
              <a:buClr>
                <a:srgbClr val="000000"/>
              </a:buClr>
              <a:buFont typeface="Arial"/>
              <a:buChar char="●"/>
              <a:tabLst>
                <a:tab pos="394335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shared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7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This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tells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GCC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generate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shared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object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file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(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.so</a:t>
            </a:r>
            <a:r>
              <a:rPr sz="2000" dirty="0">
                <a:latin typeface="Arial MT"/>
                <a:cs typeface="Arial MT"/>
              </a:rPr>
              <a:t>),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which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can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dynamically </a:t>
            </a:r>
            <a:r>
              <a:rPr sz="2000" dirty="0">
                <a:latin typeface="Arial MT"/>
                <a:cs typeface="Arial MT"/>
              </a:rPr>
              <a:t>linked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at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runtime.</a:t>
            </a:r>
            <a:endParaRPr sz="2000" dirty="0">
              <a:latin typeface="Arial MT"/>
              <a:cs typeface="Arial MT"/>
            </a:endParaRPr>
          </a:p>
          <a:p>
            <a:pPr marL="394335" marR="5080" indent="-382270">
              <a:lnSpc>
                <a:spcPct val="114999"/>
              </a:lnSpc>
              <a:buClr>
                <a:srgbClr val="000000"/>
              </a:buClr>
              <a:buFont typeface="Arial"/>
              <a:buChar char="●"/>
              <a:tabLst>
                <a:tab pos="394335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fPIC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Generates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b="1" dirty="0">
                <a:latin typeface="Arial"/>
                <a:cs typeface="Arial"/>
              </a:rPr>
              <a:t>Position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Independent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Code</a:t>
            </a:r>
            <a:r>
              <a:rPr sz="2000" b="1" spc="-3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(PIC)</a:t>
            </a:r>
            <a:r>
              <a:rPr sz="2000" dirty="0">
                <a:latin typeface="Arial MT"/>
                <a:cs typeface="Arial MT"/>
              </a:rPr>
              <a:t>,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which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is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required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for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shared </a:t>
            </a:r>
            <a:r>
              <a:rPr sz="2000" dirty="0">
                <a:latin typeface="Arial MT"/>
                <a:cs typeface="Arial MT"/>
              </a:rPr>
              <a:t>libraries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because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they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may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loaded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at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different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memory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addresses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by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different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programs.</a:t>
            </a:r>
            <a:endParaRPr sz="2000" dirty="0">
              <a:latin typeface="Arial MT"/>
              <a:cs typeface="Arial MT"/>
            </a:endParaRPr>
          </a:p>
          <a:p>
            <a:pPr marL="394335">
              <a:lnSpc>
                <a:spcPct val="100000"/>
              </a:lnSpc>
              <a:spcBef>
                <a:spcPts val="1560"/>
              </a:spcBef>
            </a:pPr>
            <a:r>
              <a:rPr sz="2000" dirty="0">
                <a:latin typeface="Arial MT"/>
                <a:cs typeface="Arial MT"/>
              </a:rPr>
              <a:t>This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creates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shared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library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libmath.so</a:t>
            </a:r>
            <a:r>
              <a:rPr sz="2000" spc="-10" dirty="0">
                <a:latin typeface="Arial MT"/>
                <a:cs typeface="Arial MT"/>
              </a:rPr>
              <a:t>.</a:t>
            </a:r>
            <a:endParaRPr sz="20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415541"/>
            <a:ext cx="4475480" cy="68199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dirty="0"/>
              <a:t>Dynamic</a:t>
            </a:r>
            <a:r>
              <a:rPr spc="-135" dirty="0"/>
              <a:t> </a:t>
            </a:r>
            <a:r>
              <a:rPr spc="-10" dirty="0"/>
              <a:t>Linking</a:t>
            </a:r>
          </a:p>
          <a:p>
            <a:pPr marL="12700">
              <a:lnSpc>
                <a:spcPts val="2285"/>
              </a:lnSpc>
            </a:pPr>
            <a:r>
              <a:rPr sz="2000" dirty="0"/>
              <a:t>Step</a:t>
            </a:r>
            <a:r>
              <a:rPr sz="2000" spc="-55" dirty="0"/>
              <a:t> </a:t>
            </a:r>
            <a:r>
              <a:rPr sz="2000" dirty="0"/>
              <a:t>1:</a:t>
            </a:r>
            <a:r>
              <a:rPr sz="2000" spc="-50" dirty="0"/>
              <a:t> </a:t>
            </a:r>
            <a:r>
              <a:rPr sz="2000" dirty="0"/>
              <a:t>Create</a:t>
            </a:r>
            <a:r>
              <a:rPr sz="2000" spc="-50" dirty="0"/>
              <a:t> </a:t>
            </a:r>
            <a:r>
              <a:rPr sz="2000" dirty="0"/>
              <a:t>a</a:t>
            </a:r>
            <a:r>
              <a:rPr sz="2000" spc="-55" dirty="0"/>
              <a:t> </a:t>
            </a:r>
            <a:r>
              <a:rPr sz="2000" dirty="0"/>
              <a:t>Shared</a:t>
            </a:r>
            <a:r>
              <a:rPr sz="2000" spc="-50" dirty="0"/>
              <a:t> </a:t>
            </a:r>
            <a:r>
              <a:rPr sz="2000" dirty="0"/>
              <a:t>Library</a:t>
            </a:r>
            <a:r>
              <a:rPr sz="2000" spc="-50" dirty="0"/>
              <a:t> </a:t>
            </a:r>
            <a:r>
              <a:rPr sz="2000" dirty="0"/>
              <a:t>(.so</a:t>
            </a:r>
            <a:r>
              <a:rPr sz="2000" spc="-55" dirty="0"/>
              <a:t> </a:t>
            </a:r>
            <a:r>
              <a:rPr sz="2000" spc="-10" dirty="0"/>
              <a:t>file)</a:t>
            </a:r>
            <a:endParaRPr sz="2000"/>
          </a:p>
        </p:txBody>
      </p:sp>
      <p:sp>
        <p:nvSpPr>
          <p:cNvPr id="10" name="object 4">
            <a:extLst>
              <a:ext uri="{FF2B5EF4-FFF2-40B4-BE49-F238E27FC236}">
                <a16:creationId xmlns:a16="http://schemas.microsoft.com/office/drawing/2014/main" id="{E0781B0B-C10B-2F69-EC34-6B67D369103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439275" y="2498814"/>
            <a:ext cx="726757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20" dirty="0">
                <a:latin typeface="Arial MT"/>
                <a:cs typeface="Arial MT"/>
              </a:rPr>
              <a:t>To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create</a:t>
            </a:r>
            <a:r>
              <a:rPr sz="2000" spc="-8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shared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library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(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.so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file),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use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following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command: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11" name="object 3">
            <a:extLst>
              <a:ext uri="{FF2B5EF4-FFF2-40B4-BE49-F238E27FC236}">
                <a16:creationId xmlns:a16="http://schemas.microsoft.com/office/drawing/2014/main" id="{7DDB1FDC-911D-7D47-9AE3-FA819381358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522299" y="3050050"/>
            <a:ext cx="538353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shared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fPIC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libmath.so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mathlib.c</a:t>
            </a:r>
            <a:endParaRPr sz="2000">
              <a:latin typeface="Arial"/>
              <a:cs typeface="Arial"/>
            </a:endParaRPr>
          </a:p>
        </p:txBody>
      </p:sp>
      <p:sp>
        <p:nvSpPr>
          <p:cNvPr id="12" name="object 5">
            <a:extLst>
              <a:ext uri="{FF2B5EF4-FFF2-40B4-BE49-F238E27FC236}">
                <a16:creationId xmlns:a16="http://schemas.microsoft.com/office/drawing/2014/main" id="{6705C095-71C4-135B-DBAB-0E7BF5C2474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583317" y="3648920"/>
            <a:ext cx="10638790" cy="20185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4335" marR="123189" indent="-382270">
              <a:lnSpc>
                <a:spcPct val="114999"/>
              </a:lnSpc>
              <a:spcBef>
                <a:spcPts val="100"/>
              </a:spcBef>
              <a:spcAft>
                <a:spcPts val="600"/>
              </a:spcAft>
              <a:buClr>
                <a:srgbClr val="000000"/>
              </a:buClr>
              <a:buFont typeface="Arial"/>
              <a:buChar char="●"/>
              <a:tabLst>
                <a:tab pos="394335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shared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7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This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tells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GCC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generate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shared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object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file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(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.so</a:t>
            </a:r>
            <a:r>
              <a:rPr sz="2000" dirty="0">
                <a:latin typeface="Arial MT"/>
                <a:cs typeface="Arial MT"/>
              </a:rPr>
              <a:t>),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which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can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dynamically </a:t>
            </a:r>
            <a:r>
              <a:rPr sz="2000" dirty="0">
                <a:latin typeface="Arial MT"/>
                <a:cs typeface="Arial MT"/>
              </a:rPr>
              <a:t>linked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at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runtime.</a:t>
            </a:r>
            <a:endParaRPr sz="2000" dirty="0">
              <a:latin typeface="Arial MT"/>
              <a:cs typeface="Arial MT"/>
            </a:endParaRPr>
          </a:p>
          <a:p>
            <a:pPr marL="394335" marR="5080" indent="-382270">
              <a:lnSpc>
                <a:spcPct val="114999"/>
              </a:lnSpc>
              <a:buClr>
                <a:srgbClr val="000000"/>
              </a:buClr>
              <a:buFont typeface="Arial"/>
              <a:buChar char="●"/>
              <a:tabLst>
                <a:tab pos="394335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fPIC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Generates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b="1" dirty="0">
                <a:latin typeface="Arial"/>
                <a:cs typeface="Arial"/>
              </a:rPr>
              <a:t>Position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Independent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Code</a:t>
            </a:r>
            <a:r>
              <a:rPr sz="2000" b="1" spc="-3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(PIC)</a:t>
            </a:r>
            <a:r>
              <a:rPr sz="2000" dirty="0">
                <a:latin typeface="Arial MT"/>
                <a:cs typeface="Arial MT"/>
              </a:rPr>
              <a:t>,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which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is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required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for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shared </a:t>
            </a:r>
            <a:r>
              <a:rPr sz="2000" dirty="0">
                <a:latin typeface="Arial MT"/>
                <a:cs typeface="Arial MT"/>
              </a:rPr>
              <a:t>libraries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because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they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may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loaded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at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different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memory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addresses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by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different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programs.</a:t>
            </a:r>
            <a:endParaRPr sz="2000" dirty="0">
              <a:latin typeface="Arial MT"/>
              <a:cs typeface="Arial MT"/>
            </a:endParaRPr>
          </a:p>
          <a:p>
            <a:pPr marL="394335">
              <a:lnSpc>
                <a:spcPct val="100000"/>
              </a:lnSpc>
              <a:spcBef>
                <a:spcPts val="1560"/>
              </a:spcBef>
            </a:pPr>
            <a:r>
              <a:rPr sz="2000" dirty="0">
                <a:latin typeface="Arial MT"/>
                <a:cs typeface="Arial MT"/>
              </a:rPr>
              <a:t>This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creates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shared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library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libmath.so</a:t>
            </a:r>
            <a:r>
              <a:rPr sz="2000" spc="-10" dirty="0">
                <a:latin typeface="Arial MT"/>
                <a:cs typeface="Arial MT"/>
              </a:rPr>
              <a:t>.</a:t>
            </a:r>
            <a:endParaRPr sz="2000" dirty="0">
              <a:latin typeface="Arial MT"/>
              <a:cs typeface="Arial MT"/>
            </a:endParaRPr>
          </a:p>
        </p:txBody>
      </p:sp>
      <p:grpSp>
        <p:nvGrp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913037" y="1510637"/>
            <a:ext cx="6049645" cy="5053965"/>
            <a:chOff x="5913037" y="1510637"/>
            <a:chExt cx="6049645" cy="5053965"/>
          </a:xfrm>
        </p:grpSpPr>
        <p:sp>
          <p:nvSpPr>
            <p:cNvPr id="7" name="object 7"/>
            <p:cNvSpPr/>
            <p:nvPr/>
          </p:nvSpPr>
          <p:spPr>
            <a:xfrm>
              <a:off x="5917800" y="1515400"/>
              <a:ext cx="6040120" cy="5044440"/>
            </a:xfrm>
            <a:custGeom>
              <a:avLst/>
              <a:gdLst/>
              <a:ahLst/>
              <a:cxnLst/>
              <a:rect l="l" t="t" r="r" b="b"/>
              <a:pathLst>
                <a:path w="6040120" h="5044440">
                  <a:moveTo>
                    <a:pt x="6039599" y="5043899"/>
                  </a:moveTo>
                  <a:lnTo>
                    <a:pt x="0" y="5043899"/>
                  </a:lnTo>
                  <a:lnTo>
                    <a:pt x="0" y="0"/>
                  </a:lnTo>
                  <a:lnTo>
                    <a:pt x="6039599" y="0"/>
                  </a:lnTo>
                  <a:lnTo>
                    <a:pt x="6039599" y="5043899"/>
                  </a:lnTo>
                  <a:close/>
                </a:path>
              </a:pathLst>
            </a:custGeom>
            <a:solidFill>
              <a:srgbClr val="C9DAF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917800" y="1515400"/>
              <a:ext cx="6040120" cy="5044440"/>
            </a:xfrm>
            <a:custGeom>
              <a:avLst/>
              <a:gdLst/>
              <a:ahLst/>
              <a:cxnLst/>
              <a:rect l="l" t="t" r="r" b="b"/>
              <a:pathLst>
                <a:path w="6040120" h="5044440">
                  <a:moveTo>
                    <a:pt x="0" y="0"/>
                  </a:moveTo>
                  <a:lnTo>
                    <a:pt x="6039599" y="0"/>
                  </a:lnTo>
                  <a:lnTo>
                    <a:pt x="6039599" y="5043899"/>
                  </a:lnTo>
                  <a:lnTo>
                    <a:pt x="0" y="50438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6300575" y="1801143"/>
            <a:ext cx="4916805" cy="461780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Arial"/>
                <a:cs typeface="Arial"/>
              </a:rPr>
              <a:t>Why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is</a:t>
            </a:r>
            <a:r>
              <a:rPr sz="1800" b="1" spc="-5" dirty="0"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-fPIC</a:t>
            </a:r>
            <a:r>
              <a:rPr sz="1800" b="1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spc="-10" dirty="0">
                <a:latin typeface="Arial"/>
                <a:cs typeface="Arial"/>
              </a:rPr>
              <a:t>Needed?</a:t>
            </a:r>
            <a:endParaRPr sz="1800" dirty="0">
              <a:latin typeface="Arial"/>
              <a:cs typeface="Arial"/>
            </a:endParaRPr>
          </a:p>
          <a:p>
            <a:pPr marL="12700" marR="17780">
              <a:lnSpc>
                <a:spcPct val="114999"/>
              </a:lnSpc>
              <a:spcBef>
                <a:spcPts val="1200"/>
              </a:spcBef>
            </a:pPr>
            <a:r>
              <a:rPr sz="1800" dirty="0">
                <a:latin typeface="Arial MT"/>
                <a:cs typeface="Arial MT"/>
              </a:rPr>
              <a:t>When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shared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loaded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by</a:t>
            </a:r>
            <a:r>
              <a:rPr sz="1800" spc="-10" dirty="0">
                <a:latin typeface="Arial MT"/>
                <a:cs typeface="Arial MT"/>
              </a:rPr>
              <a:t> different </a:t>
            </a:r>
            <a:r>
              <a:rPr sz="1800" dirty="0">
                <a:latin typeface="Arial MT"/>
                <a:cs typeface="Arial MT"/>
              </a:rPr>
              <a:t>programs,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memory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location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where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</a:t>
            </a:r>
            <a:r>
              <a:rPr sz="1800" spc="-20" dirty="0">
                <a:latin typeface="Arial MT"/>
                <a:cs typeface="Arial MT"/>
              </a:rPr>
              <a:t> gets </a:t>
            </a:r>
            <a:r>
              <a:rPr sz="1800" dirty="0">
                <a:latin typeface="Arial MT"/>
                <a:cs typeface="Arial MT"/>
              </a:rPr>
              <a:t>loaded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not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fixed.</a:t>
            </a:r>
            <a:r>
              <a:rPr sz="1800" spc="-55" dirty="0">
                <a:latin typeface="Arial MT"/>
                <a:cs typeface="Arial MT"/>
              </a:rPr>
              <a:t> </a:t>
            </a:r>
            <a:r>
              <a:rPr sz="1800" spc="-95" dirty="0">
                <a:latin typeface="Arial MT"/>
                <a:cs typeface="Arial MT"/>
              </a:rPr>
              <a:t>To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allow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20" dirty="0">
                <a:latin typeface="Arial MT"/>
                <a:cs typeface="Arial MT"/>
              </a:rPr>
              <a:t> work </a:t>
            </a:r>
            <a:r>
              <a:rPr sz="1800" dirty="0">
                <a:latin typeface="Arial MT"/>
                <a:cs typeface="Arial MT"/>
              </a:rPr>
              <a:t>regardless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where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it's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loaded,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all</a:t>
            </a:r>
            <a:r>
              <a:rPr sz="1800" b="1" spc="-15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addresses </a:t>
            </a:r>
            <a:r>
              <a:rPr sz="1800" b="1" dirty="0">
                <a:latin typeface="Arial"/>
                <a:cs typeface="Arial"/>
              </a:rPr>
              <a:t>inside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it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must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be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relative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instead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of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absolute</a:t>
            </a:r>
            <a:r>
              <a:rPr sz="1800" spc="-10" dirty="0">
                <a:latin typeface="Arial MT"/>
                <a:cs typeface="Arial MT"/>
              </a:rPr>
              <a:t>.</a:t>
            </a:r>
            <a:endParaRPr sz="1800" dirty="0">
              <a:latin typeface="Arial MT"/>
              <a:cs typeface="Arial MT"/>
            </a:endParaRPr>
          </a:p>
          <a:p>
            <a:pPr marL="12700" marR="19050" algn="just">
              <a:lnSpc>
                <a:spcPct val="114999"/>
              </a:lnSpc>
              <a:spcBef>
                <a:spcPts val="1200"/>
              </a:spcBef>
            </a:pPr>
            <a:r>
              <a:rPr sz="1800" dirty="0">
                <a:latin typeface="Arial MT"/>
                <a:cs typeface="Arial MT"/>
              </a:rPr>
              <a:t>Without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fPIC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code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might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contain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absolute </a:t>
            </a:r>
            <a:r>
              <a:rPr sz="1800" dirty="0">
                <a:latin typeface="Arial MT"/>
                <a:cs typeface="Arial MT"/>
              </a:rPr>
              <a:t>addresses,</a:t>
            </a:r>
            <a:r>
              <a:rPr sz="1800" spc="-4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which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require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relocation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at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runtime, </a:t>
            </a:r>
            <a:r>
              <a:rPr sz="1800" dirty="0">
                <a:latin typeface="Arial MT"/>
                <a:cs typeface="Arial MT"/>
              </a:rPr>
              <a:t>leading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inefficiencies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like:</a:t>
            </a:r>
            <a:endParaRPr sz="1800" dirty="0">
              <a:latin typeface="Arial MT"/>
              <a:cs typeface="Arial MT"/>
            </a:endParaRPr>
          </a:p>
          <a:p>
            <a:pPr marL="469265" indent="-366395">
              <a:lnSpc>
                <a:spcPct val="100000"/>
              </a:lnSpc>
              <a:spcBef>
                <a:spcPts val="1520"/>
              </a:spcBef>
              <a:buChar char="●"/>
              <a:tabLst>
                <a:tab pos="469265" algn="l"/>
              </a:tabLst>
            </a:pPr>
            <a:r>
              <a:rPr sz="1800" dirty="0">
                <a:latin typeface="Arial MT"/>
                <a:cs typeface="Arial MT"/>
              </a:rPr>
              <a:t>Increased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memory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usage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due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35" dirty="0">
                <a:latin typeface="Arial MT"/>
                <a:cs typeface="Arial MT"/>
              </a:rPr>
              <a:t>to</a:t>
            </a:r>
            <a:endParaRPr sz="1800" dirty="0">
              <a:latin typeface="Arial MT"/>
              <a:cs typeface="Arial MT"/>
            </a:endParaRPr>
          </a:p>
          <a:p>
            <a:pPr marL="469900">
              <a:lnSpc>
                <a:spcPct val="100000"/>
              </a:lnSpc>
              <a:spcBef>
                <a:spcPts val="325"/>
              </a:spcBef>
              <a:spcAft>
                <a:spcPts val="600"/>
              </a:spcAft>
            </a:pPr>
            <a:r>
              <a:rPr sz="1800" b="1" spc="-10" dirty="0">
                <a:latin typeface="Arial"/>
                <a:cs typeface="Arial"/>
              </a:rPr>
              <a:t>copy-on-</a:t>
            </a:r>
            <a:r>
              <a:rPr sz="1800" b="1" dirty="0">
                <a:latin typeface="Arial"/>
                <a:cs typeface="Arial"/>
              </a:rPr>
              <a:t>write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(COW)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being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broken.</a:t>
            </a:r>
            <a:endParaRPr sz="1800" dirty="0">
              <a:latin typeface="Arial MT"/>
              <a:cs typeface="Arial MT"/>
            </a:endParaRPr>
          </a:p>
          <a:p>
            <a:pPr marL="469900" marR="5080" indent="-367030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sz="1800" dirty="0">
                <a:latin typeface="Arial MT"/>
                <a:cs typeface="Arial MT"/>
              </a:rPr>
              <a:t>Potential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performance</a:t>
            </a:r>
            <a:r>
              <a:rPr sz="1800" b="1" spc="-4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penalties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loading time.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dirty="0"/>
              <a:t>Dynamic</a:t>
            </a:r>
            <a:r>
              <a:rPr spc="-135" dirty="0"/>
              <a:t> </a:t>
            </a:r>
            <a:r>
              <a:rPr spc="-10" dirty="0"/>
              <a:t>Linking</a:t>
            </a:r>
          </a:p>
          <a:p>
            <a:pPr marL="12700">
              <a:lnSpc>
                <a:spcPts val="2285"/>
              </a:lnSpc>
            </a:pPr>
            <a:r>
              <a:rPr sz="2000" dirty="0"/>
              <a:t>Step</a:t>
            </a:r>
            <a:r>
              <a:rPr sz="2000" spc="-55" dirty="0"/>
              <a:t> </a:t>
            </a:r>
            <a:r>
              <a:rPr sz="2000" dirty="0"/>
              <a:t>1:</a:t>
            </a:r>
            <a:r>
              <a:rPr sz="2000" spc="-50" dirty="0"/>
              <a:t> </a:t>
            </a:r>
            <a:r>
              <a:rPr sz="2000" dirty="0"/>
              <a:t>Create</a:t>
            </a:r>
            <a:r>
              <a:rPr sz="2000" spc="-50" dirty="0"/>
              <a:t> </a:t>
            </a:r>
            <a:r>
              <a:rPr sz="2000" dirty="0"/>
              <a:t>a</a:t>
            </a:r>
            <a:r>
              <a:rPr sz="2000" spc="-55" dirty="0"/>
              <a:t> </a:t>
            </a:r>
            <a:r>
              <a:rPr sz="2000" dirty="0"/>
              <a:t>Shared</a:t>
            </a:r>
            <a:r>
              <a:rPr sz="2000" spc="-50" dirty="0"/>
              <a:t> </a:t>
            </a:r>
            <a:r>
              <a:rPr sz="2000" dirty="0"/>
              <a:t>Library</a:t>
            </a:r>
            <a:r>
              <a:rPr sz="2000" spc="-50" dirty="0"/>
              <a:t> </a:t>
            </a:r>
            <a:r>
              <a:rPr sz="2000" dirty="0"/>
              <a:t>(.so</a:t>
            </a:r>
            <a:r>
              <a:rPr sz="2000" spc="-55" dirty="0"/>
              <a:t> </a:t>
            </a:r>
            <a:r>
              <a:rPr sz="2000" spc="-10" dirty="0"/>
              <a:t>file)</a:t>
            </a:r>
            <a:endParaRPr sz="2000"/>
          </a:p>
        </p:txBody>
      </p:sp>
      <p:sp>
        <p:nvSpPr>
          <p:cNvPr id="10" name="object 4">
            <a:extLst>
              <a:ext uri="{FF2B5EF4-FFF2-40B4-BE49-F238E27FC236}">
                <a16:creationId xmlns:a16="http://schemas.microsoft.com/office/drawing/2014/main" id="{EBC29CF9-AD63-1654-4934-33A63A4943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439275" y="2498814"/>
            <a:ext cx="726757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spc="-120" dirty="0">
                <a:latin typeface="Arial MT"/>
                <a:cs typeface="Arial MT"/>
              </a:rPr>
              <a:t>To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create</a:t>
            </a:r>
            <a:r>
              <a:rPr sz="2000" spc="-8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shared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library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(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.so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file),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use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following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command: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11" name="object 3">
            <a:extLst>
              <a:ext uri="{FF2B5EF4-FFF2-40B4-BE49-F238E27FC236}">
                <a16:creationId xmlns:a16="http://schemas.microsoft.com/office/drawing/2014/main" id="{721CD7D2-727A-C5D7-E781-C28F8403276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522299" y="3050050"/>
            <a:ext cx="538353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shared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fPIC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libmath.so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mathlib.c</a:t>
            </a:r>
            <a:endParaRPr sz="2000">
              <a:latin typeface="Arial"/>
              <a:cs typeface="Arial"/>
            </a:endParaRPr>
          </a:p>
        </p:txBody>
      </p:sp>
      <p:sp>
        <p:nvSpPr>
          <p:cNvPr id="12" name="object 5">
            <a:extLst>
              <a:ext uri="{FF2B5EF4-FFF2-40B4-BE49-F238E27FC236}">
                <a16:creationId xmlns:a16="http://schemas.microsoft.com/office/drawing/2014/main" id="{5204B269-54FA-2A50-2E28-1587B9A6F6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583317" y="3648920"/>
            <a:ext cx="10638790" cy="201850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4335" marR="123189" indent="-382270">
              <a:lnSpc>
                <a:spcPct val="114999"/>
              </a:lnSpc>
              <a:spcBef>
                <a:spcPts val="100"/>
              </a:spcBef>
              <a:spcAft>
                <a:spcPts val="600"/>
              </a:spcAft>
              <a:buClr>
                <a:srgbClr val="000000"/>
              </a:buClr>
              <a:buFont typeface="Arial"/>
              <a:buChar char="●"/>
              <a:tabLst>
                <a:tab pos="394335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shared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7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This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tells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GCC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generate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shared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object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file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(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.so</a:t>
            </a:r>
            <a:r>
              <a:rPr sz="2000" dirty="0">
                <a:latin typeface="Arial MT"/>
                <a:cs typeface="Arial MT"/>
              </a:rPr>
              <a:t>),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which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can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dynamically </a:t>
            </a:r>
            <a:r>
              <a:rPr sz="2000" dirty="0">
                <a:latin typeface="Arial MT"/>
                <a:cs typeface="Arial MT"/>
              </a:rPr>
              <a:t>linked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at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runtime.</a:t>
            </a:r>
            <a:endParaRPr sz="2000" dirty="0">
              <a:latin typeface="Arial MT"/>
              <a:cs typeface="Arial MT"/>
            </a:endParaRPr>
          </a:p>
          <a:p>
            <a:pPr marL="394335" marR="5080" indent="-382270">
              <a:lnSpc>
                <a:spcPct val="114999"/>
              </a:lnSpc>
              <a:buClr>
                <a:srgbClr val="000000"/>
              </a:buClr>
              <a:buFont typeface="Arial"/>
              <a:buChar char="●"/>
              <a:tabLst>
                <a:tab pos="394335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fPIC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Generates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b="1" dirty="0">
                <a:latin typeface="Arial"/>
                <a:cs typeface="Arial"/>
              </a:rPr>
              <a:t>Position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Independent</a:t>
            </a:r>
            <a:r>
              <a:rPr sz="2000" b="1" spc="-4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Code</a:t>
            </a:r>
            <a:r>
              <a:rPr sz="2000" b="1" spc="-35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(PIC)</a:t>
            </a:r>
            <a:r>
              <a:rPr sz="2000" dirty="0">
                <a:latin typeface="Arial MT"/>
                <a:cs typeface="Arial MT"/>
              </a:rPr>
              <a:t>,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which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is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required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for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shared </a:t>
            </a:r>
            <a:r>
              <a:rPr sz="2000" dirty="0">
                <a:latin typeface="Arial MT"/>
                <a:cs typeface="Arial MT"/>
              </a:rPr>
              <a:t>libraries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because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they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may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loaded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at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different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memory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addresses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by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different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programs.</a:t>
            </a:r>
            <a:endParaRPr sz="2000" dirty="0">
              <a:latin typeface="Arial MT"/>
              <a:cs typeface="Arial MT"/>
            </a:endParaRPr>
          </a:p>
          <a:p>
            <a:pPr marL="394335">
              <a:lnSpc>
                <a:spcPct val="100000"/>
              </a:lnSpc>
              <a:spcBef>
                <a:spcPts val="1560"/>
              </a:spcBef>
            </a:pPr>
            <a:r>
              <a:rPr sz="2000" dirty="0">
                <a:latin typeface="Arial MT"/>
                <a:cs typeface="Arial MT"/>
              </a:rPr>
              <a:t>This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creates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shared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library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libmath.so</a:t>
            </a:r>
            <a:r>
              <a:rPr sz="2000" spc="-10" dirty="0">
                <a:latin typeface="Arial MT"/>
                <a:cs typeface="Arial MT"/>
              </a:rPr>
              <a:t>.</a:t>
            </a:r>
            <a:endParaRPr sz="2000" dirty="0">
              <a:latin typeface="Arial MT"/>
              <a:cs typeface="Arial MT"/>
            </a:endParaRPr>
          </a:p>
        </p:txBody>
      </p:sp>
      <p:grpSp>
        <p:nvGrp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913037" y="1510637"/>
            <a:ext cx="6049645" cy="5053965"/>
            <a:chOff x="5913037" y="1510637"/>
            <a:chExt cx="6049645" cy="5053965"/>
          </a:xfrm>
        </p:grpSpPr>
        <p:sp>
          <p:nvSpPr>
            <p:cNvPr id="7" name="object 7"/>
            <p:cNvSpPr/>
            <p:nvPr/>
          </p:nvSpPr>
          <p:spPr>
            <a:xfrm>
              <a:off x="5917800" y="1515400"/>
              <a:ext cx="6040120" cy="5044440"/>
            </a:xfrm>
            <a:custGeom>
              <a:avLst/>
              <a:gdLst/>
              <a:ahLst/>
              <a:cxnLst/>
              <a:rect l="l" t="t" r="r" b="b"/>
              <a:pathLst>
                <a:path w="6040120" h="5044440">
                  <a:moveTo>
                    <a:pt x="6039599" y="5043899"/>
                  </a:moveTo>
                  <a:lnTo>
                    <a:pt x="0" y="5043899"/>
                  </a:lnTo>
                  <a:lnTo>
                    <a:pt x="0" y="0"/>
                  </a:lnTo>
                  <a:lnTo>
                    <a:pt x="6039599" y="0"/>
                  </a:lnTo>
                  <a:lnTo>
                    <a:pt x="6039599" y="5043899"/>
                  </a:lnTo>
                  <a:close/>
                </a:path>
              </a:pathLst>
            </a:custGeom>
            <a:solidFill>
              <a:srgbClr val="FFF1C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8" name="object 8"/>
            <p:cNvSpPr/>
            <p:nvPr/>
          </p:nvSpPr>
          <p:spPr>
            <a:xfrm>
              <a:off x="5917800" y="1515400"/>
              <a:ext cx="6040120" cy="5044440"/>
            </a:xfrm>
            <a:custGeom>
              <a:avLst/>
              <a:gdLst/>
              <a:ahLst/>
              <a:cxnLst/>
              <a:rect l="l" t="t" r="r" b="b"/>
              <a:pathLst>
                <a:path w="6040120" h="5044440">
                  <a:moveTo>
                    <a:pt x="0" y="0"/>
                  </a:moveTo>
                  <a:lnTo>
                    <a:pt x="6039599" y="0"/>
                  </a:lnTo>
                  <a:lnTo>
                    <a:pt x="6039599" y="5043899"/>
                  </a:lnTo>
                  <a:lnTo>
                    <a:pt x="0" y="50438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9" name="object 9"/>
          <p:cNvSpPr txBox="1"/>
          <p:nvPr/>
        </p:nvSpPr>
        <p:spPr>
          <a:xfrm>
            <a:off x="6344825" y="2678168"/>
            <a:ext cx="4926965" cy="272343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dirty="0">
                <a:latin typeface="Arial"/>
                <a:cs typeface="Arial"/>
              </a:rPr>
              <a:t>How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Does</a:t>
            </a:r>
            <a:r>
              <a:rPr sz="1800" b="1" spc="-5" dirty="0"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-fPIC</a:t>
            </a:r>
            <a:r>
              <a:rPr sz="1800" b="1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b="1" spc="-10" dirty="0">
                <a:latin typeface="Arial"/>
                <a:cs typeface="Arial"/>
              </a:rPr>
              <a:t>Work?</a:t>
            </a:r>
            <a:endParaRPr sz="1800" dirty="0">
              <a:latin typeface="Arial"/>
              <a:cs typeface="Arial"/>
            </a:endParaRPr>
          </a:p>
          <a:p>
            <a:pPr marL="469900" marR="44450" indent="-367030">
              <a:lnSpc>
                <a:spcPct val="114999"/>
              </a:lnSpc>
              <a:spcBef>
                <a:spcPts val="1200"/>
              </a:spcBef>
              <a:spcAft>
                <a:spcPts val="600"/>
              </a:spcAft>
              <a:buChar char="●"/>
              <a:tabLst>
                <a:tab pos="469900" algn="l"/>
              </a:tabLst>
            </a:pPr>
            <a:r>
              <a:rPr sz="1800" dirty="0">
                <a:latin typeface="Arial MT"/>
                <a:cs typeface="Arial MT"/>
              </a:rPr>
              <a:t>It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ensures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global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symbols</a:t>
            </a:r>
            <a:r>
              <a:rPr sz="1800" b="1" spc="-15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(functions, </a:t>
            </a:r>
            <a:r>
              <a:rPr sz="1800" b="1" dirty="0">
                <a:latin typeface="Arial"/>
                <a:cs typeface="Arial"/>
              </a:rPr>
              <a:t>variables,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etc.)</a:t>
            </a:r>
            <a:r>
              <a:rPr sz="1800" b="1" spc="-10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are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accessed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relative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to</a:t>
            </a:r>
            <a:r>
              <a:rPr sz="1800" b="1" spc="-30" dirty="0">
                <a:latin typeface="Arial"/>
                <a:cs typeface="Arial"/>
              </a:rPr>
              <a:t> </a:t>
            </a:r>
            <a:r>
              <a:rPr sz="1800" b="1" spc="-50" dirty="0">
                <a:latin typeface="Arial"/>
                <a:cs typeface="Arial"/>
              </a:rPr>
              <a:t>a </a:t>
            </a:r>
            <a:r>
              <a:rPr sz="1800" b="1" dirty="0">
                <a:latin typeface="Arial"/>
                <a:cs typeface="Arial"/>
              </a:rPr>
              <a:t>base</a:t>
            </a:r>
            <a:r>
              <a:rPr sz="1800" b="1" spc="-3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register</a:t>
            </a:r>
            <a:r>
              <a:rPr sz="1800" b="1" spc="-15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(usually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Global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Offset Table,</a:t>
            </a:r>
            <a:r>
              <a:rPr sz="1800" b="1" spc="-114" dirty="0">
                <a:latin typeface="Arial"/>
                <a:cs typeface="Arial"/>
              </a:rPr>
              <a:t> </a:t>
            </a:r>
            <a:r>
              <a:rPr sz="1800" b="1" spc="-10" dirty="0">
                <a:latin typeface="Arial"/>
                <a:cs typeface="Arial"/>
              </a:rPr>
              <a:t>GOT</a:t>
            </a:r>
            <a:r>
              <a:rPr sz="1800" spc="-10" dirty="0">
                <a:latin typeface="Arial MT"/>
                <a:cs typeface="Arial MT"/>
              </a:rPr>
              <a:t>).</a:t>
            </a:r>
            <a:endParaRPr sz="1800" dirty="0">
              <a:latin typeface="Arial MT"/>
              <a:cs typeface="Arial MT"/>
            </a:endParaRPr>
          </a:p>
          <a:p>
            <a:pPr marL="469900" marR="5080" indent="-367030">
              <a:lnSpc>
                <a:spcPct val="114999"/>
              </a:lnSpc>
              <a:buChar char="●"/>
              <a:tabLst>
                <a:tab pos="469900" algn="l"/>
              </a:tabLst>
            </a:pPr>
            <a:r>
              <a:rPr sz="1800" dirty="0">
                <a:latin typeface="Arial MT"/>
                <a:cs typeface="Arial MT"/>
              </a:rPr>
              <a:t>When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loaded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runtime,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dirty="0">
                <a:latin typeface="Arial MT"/>
                <a:cs typeface="Arial MT"/>
              </a:rPr>
              <a:t>loader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fixes</a:t>
            </a:r>
            <a:r>
              <a:rPr sz="1800" b="1" spc="-1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only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one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base</a:t>
            </a:r>
            <a:r>
              <a:rPr sz="1800" b="1" spc="-20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address</a:t>
            </a:r>
            <a:r>
              <a:rPr sz="1800" b="1" spc="-5" dirty="0">
                <a:latin typeface="Arial"/>
                <a:cs typeface="Arial"/>
              </a:rPr>
              <a:t> </a:t>
            </a:r>
            <a:r>
              <a:rPr sz="1800" spc="-10" dirty="0">
                <a:latin typeface="Arial MT"/>
                <a:cs typeface="Arial MT"/>
              </a:rPr>
              <a:t>rather </a:t>
            </a:r>
            <a:r>
              <a:rPr sz="1800" dirty="0">
                <a:latin typeface="Arial MT"/>
                <a:cs typeface="Arial MT"/>
              </a:rPr>
              <a:t>than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modifying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multiple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absolute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addresses.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4" y="1415541"/>
            <a:ext cx="5380827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dirty="0"/>
              <a:t>Dynamic</a:t>
            </a:r>
            <a:r>
              <a:rPr spc="-135" dirty="0"/>
              <a:t> </a:t>
            </a:r>
            <a:r>
              <a:rPr spc="-10" dirty="0"/>
              <a:t>Linking</a:t>
            </a:r>
            <a:br>
              <a:rPr lang="en-US" spc="-10" dirty="0"/>
            </a:br>
            <a:r>
              <a:rPr lang="en-US" sz="2000" dirty="0"/>
              <a:t>Step</a:t>
            </a:r>
            <a:r>
              <a:rPr lang="en-US" sz="2000" spc="-40" dirty="0"/>
              <a:t> </a:t>
            </a:r>
            <a:r>
              <a:rPr lang="en-US" sz="2000" dirty="0"/>
              <a:t>2:</a:t>
            </a:r>
            <a:r>
              <a:rPr lang="en-US" sz="2000" spc="-35" dirty="0"/>
              <a:t> </a:t>
            </a:r>
            <a:r>
              <a:rPr lang="en-US" sz="2000" dirty="0"/>
              <a:t>Use</a:t>
            </a:r>
            <a:r>
              <a:rPr lang="en-US" sz="2000" spc="-40" dirty="0"/>
              <a:t> </a:t>
            </a:r>
            <a:r>
              <a:rPr lang="en-US" sz="2000" dirty="0"/>
              <a:t>the</a:t>
            </a:r>
            <a:r>
              <a:rPr lang="en-US" sz="2000" spc="-35" dirty="0"/>
              <a:t> </a:t>
            </a:r>
            <a:r>
              <a:rPr lang="en-US" sz="2000" dirty="0"/>
              <a:t>Shared</a:t>
            </a:r>
            <a:r>
              <a:rPr lang="en-US" sz="2000" spc="-35" dirty="0"/>
              <a:t> </a:t>
            </a:r>
            <a:r>
              <a:rPr lang="en-US" sz="2000" dirty="0"/>
              <a:t>Library</a:t>
            </a:r>
            <a:r>
              <a:rPr lang="en-US" sz="2000" spc="-40" dirty="0"/>
              <a:t> </a:t>
            </a:r>
            <a:r>
              <a:rPr lang="en-US" sz="2000" dirty="0"/>
              <a:t>in</a:t>
            </a:r>
            <a:r>
              <a:rPr lang="en-US" sz="2000" spc="-35" dirty="0"/>
              <a:t> </a:t>
            </a:r>
            <a:r>
              <a:rPr lang="en-US" sz="2000" dirty="0"/>
              <a:t>a</a:t>
            </a:r>
            <a:r>
              <a:rPr lang="en-US" sz="2000" spc="-40" dirty="0"/>
              <a:t> </a:t>
            </a:r>
            <a:r>
              <a:rPr lang="en-US" sz="2000" spc="-10" dirty="0"/>
              <a:t>Program</a:t>
            </a:r>
            <a:endParaRPr sz="2000" spc="-10" dirty="0"/>
          </a:p>
        </p:txBody>
      </p:sp>
      <p:sp>
        <p:nvSpPr>
          <p:cNvPr id="4" name="object 4"/>
          <p:cNvSpPr txBox="1"/>
          <p:nvPr/>
        </p:nvSpPr>
        <p:spPr>
          <a:xfrm>
            <a:off x="410375" y="2787122"/>
            <a:ext cx="4969510" cy="2851678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50495">
              <a:lnSpc>
                <a:spcPts val="2130"/>
              </a:lnSpc>
            </a:pPr>
            <a:r>
              <a:rPr sz="1800" dirty="0">
                <a:latin typeface="Arial MT"/>
                <a:cs typeface="Arial MT"/>
              </a:rPr>
              <a:t>Now,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let's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create</a:t>
            </a:r>
            <a:r>
              <a:rPr sz="1800" spc="-4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b="1" spc="-20" dirty="0">
                <a:latin typeface="Arial"/>
                <a:cs typeface="Arial"/>
              </a:rPr>
              <a:t>main</a:t>
            </a:r>
            <a:endParaRPr sz="1800" dirty="0">
              <a:latin typeface="Arial"/>
              <a:cs typeface="Arial"/>
            </a:endParaRPr>
          </a:p>
          <a:p>
            <a:pPr marL="150495" marR="1483360">
              <a:lnSpc>
                <a:spcPct val="114999"/>
              </a:lnSpc>
            </a:pPr>
            <a:r>
              <a:rPr sz="1800" b="1" dirty="0">
                <a:latin typeface="Arial"/>
                <a:cs typeface="Arial"/>
              </a:rPr>
              <a:t>program</a:t>
            </a:r>
            <a:r>
              <a:rPr sz="1800" b="1" spc="-25" dirty="0">
                <a:latin typeface="Arial"/>
                <a:cs typeface="Arial"/>
              </a:rPr>
              <a:t> </a:t>
            </a:r>
            <a:r>
              <a:rPr sz="1800" dirty="0">
                <a:latin typeface="Arial MT"/>
                <a:cs typeface="Arial MT"/>
              </a:rPr>
              <a:t>that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will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shared </a:t>
            </a:r>
            <a:r>
              <a:rPr sz="1800" dirty="0">
                <a:latin typeface="Arial MT"/>
                <a:cs typeface="Arial MT"/>
              </a:rPr>
              <a:t>library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libmath.so</a:t>
            </a:r>
            <a:r>
              <a:rPr sz="1800" b="1" spc="-56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at</a:t>
            </a:r>
            <a:r>
              <a:rPr sz="1800" spc="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runtime.</a:t>
            </a:r>
            <a:endParaRPr sz="18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740"/>
              </a:spcBef>
            </a:pPr>
            <a:endParaRPr sz="1800" dirty="0">
              <a:latin typeface="Arial MT"/>
              <a:cs typeface="Arial MT"/>
            </a:endParaRPr>
          </a:p>
          <a:p>
            <a:pPr marL="150495" marR="1823085">
              <a:lnSpc>
                <a:spcPct val="114999"/>
              </a:lnSpc>
            </a:pPr>
            <a:r>
              <a:rPr sz="1800" dirty="0">
                <a:latin typeface="Arial MT"/>
                <a:cs typeface="Arial MT"/>
              </a:rPr>
              <a:t>We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declare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functions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b="1" spc="-25" dirty="0">
                <a:solidFill>
                  <a:srgbClr val="188037"/>
                </a:solidFill>
                <a:latin typeface="Courier New"/>
                <a:cs typeface="Courier New"/>
              </a:rPr>
              <a:t>add</a:t>
            </a:r>
            <a:r>
              <a:rPr sz="1800" spc="-2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subtract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which</a:t>
            </a:r>
            <a:r>
              <a:rPr sz="1800" spc="-25" dirty="0">
                <a:latin typeface="Arial MT"/>
                <a:cs typeface="Arial MT"/>
              </a:rPr>
              <a:t> are </a:t>
            </a:r>
            <a:r>
              <a:rPr sz="1800" dirty="0">
                <a:latin typeface="Arial MT"/>
                <a:cs typeface="Arial MT"/>
              </a:rPr>
              <a:t>defined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libmath.so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and </a:t>
            </a:r>
            <a:r>
              <a:rPr sz="1800" dirty="0">
                <a:latin typeface="Arial MT"/>
                <a:cs typeface="Arial MT"/>
              </a:rPr>
              <a:t>call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them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main() </a:t>
            </a:r>
            <a:r>
              <a:rPr sz="1800" spc="-10" dirty="0">
                <a:latin typeface="Arial MT"/>
                <a:cs typeface="Arial MT"/>
              </a:rPr>
              <a:t>function.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898602-2520-2438-1021-87F97D967D85}"/>
              </a:ext>
            </a:extLst>
          </p:cNvPr>
          <p:cNvSpPr txBox="1"/>
          <p:nvPr/>
        </p:nvSpPr>
        <p:spPr>
          <a:xfrm>
            <a:off x="4114800" y="2259570"/>
            <a:ext cx="6094324" cy="3616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R="515620" algn="l">
              <a:lnSpc>
                <a:spcPts val="2130"/>
              </a:lnSpc>
              <a:spcBef>
                <a:spcPts val="1820"/>
              </a:spcBef>
            </a:pPr>
            <a:r>
              <a:rPr lang="en-US" sz="1800" b="1" spc="-10" dirty="0" err="1">
                <a:solidFill>
                  <a:srgbClr val="0F2044"/>
                </a:solidFill>
                <a:latin typeface="Arial"/>
                <a:cs typeface="Arial"/>
              </a:rPr>
              <a:t>main.c</a:t>
            </a:r>
            <a:endParaRPr lang="en-US" sz="1800" dirty="0">
              <a:latin typeface="Arial"/>
              <a:cs typeface="Arial"/>
            </a:endParaRPr>
          </a:p>
        </p:txBody>
      </p:sp>
      <p:pic>
        <p:nvPicPr>
          <p:cNvPr id="3" name="object 3" descr="C code for a main function that declares and calls both add and subtract functions from a shared library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045949" y="2700752"/>
            <a:ext cx="7793250" cy="3051124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dirty="0"/>
              <a:t>Dynamic</a:t>
            </a:r>
            <a:r>
              <a:rPr spc="-135" dirty="0"/>
              <a:t> </a:t>
            </a:r>
            <a:r>
              <a:rPr spc="-10" dirty="0"/>
              <a:t>Linking</a:t>
            </a:r>
          </a:p>
          <a:p>
            <a:pPr marL="12700">
              <a:lnSpc>
                <a:spcPts val="2285"/>
              </a:lnSpc>
            </a:pPr>
            <a:r>
              <a:rPr sz="2000" dirty="0"/>
              <a:t>Step</a:t>
            </a:r>
            <a:r>
              <a:rPr sz="2000" spc="-50" dirty="0"/>
              <a:t> </a:t>
            </a:r>
            <a:r>
              <a:rPr sz="2000" dirty="0"/>
              <a:t>3:</a:t>
            </a:r>
            <a:r>
              <a:rPr sz="2000" spc="-50" dirty="0"/>
              <a:t> </a:t>
            </a:r>
            <a:r>
              <a:rPr sz="2000" dirty="0"/>
              <a:t>Compile</a:t>
            </a:r>
            <a:r>
              <a:rPr sz="2000" spc="-45" dirty="0"/>
              <a:t> </a:t>
            </a:r>
            <a:r>
              <a:rPr sz="2000" dirty="0"/>
              <a:t>and</a:t>
            </a:r>
            <a:r>
              <a:rPr sz="2000" spc="-50" dirty="0"/>
              <a:t> </a:t>
            </a:r>
            <a:r>
              <a:rPr sz="2000" dirty="0"/>
              <a:t>Run</a:t>
            </a:r>
            <a:r>
              <a:rPr sz="2000" spc="-45" dirty="0"/>
              <a:t> </a:t>
            </a:r>
            <a:r>
              <a:rPr sz="2000" dirty="0"/>
              <a:t>the</a:t>
            </a:r>
            <a:r>
              <a:rPr sz="2000" spc="-50" dirty="0"/>
              <a:t> </a:t>
            </a:r>
            <a:r>
              <a:rPr sz="2000" dirty="0"/>
              <a:t>Program</a:t>
            </a:r>
            <a:r>
              <a:rPr sz="2000" spc="-45" dirty="0"/>
              <a:t> </a:t>
            </a:r>
            <a:r>
              <a:rPr sz="2000" dirty="0"/>
              <a:t>with</a:t>
            </a:r>
            <a:r>
              <a:rPr sz="2000" spc="-50" dirty="0"/>
              <a:t> </a:t>
            </a:r>
            <a:r>
              <a:rPr sz="2000" dirty="0"/>
              <a:t>Dynamic</a:t>
            </a:r>
            <a:r>
              <a:rPr sz="2000" spc="-45" dirty="0"/>
              <a:t> </a:t>
            </a:r>
            <a:r>
              <a:rPr sz="2000" spc="-10" dirty="0"/>
              <a:t>Linking</a:t>
            </a:r>
            <a:endParaRPr sz="2000"/>
          </a:p>
        </p:txBody>
      </p:sp>
      <p:sp>
        <p:nvSpPr>
          <p:cNvPr id="3" name="object 3"/>
          <p:cNvSpPr txBox="1"/>
          <p:nvPr/>
        </p:nvSpPr>
        <p:spPr>
          <a:xfrm>
            <a:off x="548650" y="2523144"/>
            <a:ext cx="6163945" cy="72644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9"/>
              </a:spcBef>
            </a:pPr>
            <a:r>
              <a:rPr sz="2000" dirty="0">
                <a:latin typeface="Arial MT"/>
                <a:cs typeface="Arial MT"/>
              </a:rPr>
              <a:t>Now</a:t>
            </a:r>
            <a:r>
              <a:rPr sz="2000" spc="-6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will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compile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program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main.c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spc="-25" dirty="0">
                <a:latin typeface="Arial MT"/>
                <a:cs typeface="Arial MT"/>
              </a:rPr>
              <a:t>but</a:t>
            </a:r>
            <a:endParaRPr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360"/>
              </a:spcBef>
            </a:pPr>
            <a:r>
              <a:rPr sz="2000" b="1" dirty="0">
                <a:latin typeface="Arial"/>
                <a:cs typeface="Arial"/>
              </a:rPr>
              <a:t>dynamically</a:t>
            </a:r>
            <a:r>
              <a:rPr sz="2000" b="1" spc="-3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link</a:t>
            </a:r>
            <a:r>
              <a:rPr sz="2000" b="1" spc="-30" dirty="0">
                <a:latin typeface="Arial"/>
                <a:cs typeface="Arial"/>
              </a:rPr>
              <a:t> </a:t>
            </a:r>
            <a:r>
              <a:rPr sz="2000" dirty="0">
                <a:latin typeface="Arial MT"/>
                <a:cs typeface="Arial MT"/>
              </a:rPr>
              <a:t>it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shared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library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libmath.so</a:t>
            </a:r>
            <a:r>
              <a:rPr sz="2000" spc="-10" dirty="0">
                <a:latin typeface="Arial MT"/>
                <a:cs typeface="Arial MT"/>
              </a:rPr>
              <a:t>: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580150" y="3423625"/>
            <a:ext cx="446405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program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main.c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L.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-lmath</a:t>
            </a:r>
            <a:endParaRPr sz="20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48650" y="4135620"/>
            <a:ext cx="11414750" cy="200074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469265" indent="-381635">
              <a:lnSpc>
                <a:spcPct val="100000"/>
              </a:lnSpc>
              <a:spcBef>
                <a:spcPts val="459"/>
              </a:spcBef>
              <a:spcAft>
                <a:spcPts val="600"/>
              </a:spcAft>
              <a:buClr>
                <a:srgbClr val="000000"/>
              </a:buClr>
              <a:buFont typeface="Arial"/>
              <a:buChar char="●"/>
              <a:tabLst>
                <a:tab pos="469265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L.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6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This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tells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linker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look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for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libraries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in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current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directory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spc="-20" dirty="0">
                <a:latin typeface="Arial MT"/>
                <a:cs typeface="Arial MT"/>
              </a:rPr>
              <a:t>(</a:t>
            </a:r>
            <a:r>
              <a:rPr sz="2000" spc="-20" dirty="0">
                <a:solidFill>
                  <a:srgbClr val="188037"/>
                </a:solidFill>
                <a:latin typeface="Courier New"/>
                <a:cs typeface="Courier New"/>
              </a:rPr>
              <a:t>.</a:t>
            </a:r>
            <a:r>
              <a:rPr sz="2000" spc="-20" dirty="0">
                <a:latin typeface="Arial MT"/>
                <a:cs typeface="Arial MT"/>
              </a:rPr>
              <a:t>).</a:t>
            </a:r>
            <a:endParaRPr sz="2000" dirty="0">
              <a:latin typeface="Arial MT"/>
              <a:cs typeface="Arial MT"/>
            </a:endParaRPr>
          </a:p>
          <a:p>
            <a:pPr marL="469900" marR="764540" indent="-382270">
              <a:lnSpc>
                <a:spcPct val="114999"/>
              </a:lnSpc>
              <a:buClr>
                <a:srgbClr val="000000"/>
              </a:buClr>
              <a:buFont typeface="Arial"/>
              <a:buChar char="●"/>
              <a:tabLst>
                <a:tab pos="469900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lmath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9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This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tells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linker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link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against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shared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library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libmath.so</a:t>
            </a:r>
            <a:r>
              <a:rPr sz="2000" b="1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br>
              <a:rPr lang="en-US" sz="2000" b="1" spc="-650" dirty="0">
                <a:solidFill>
                  <a:srgbClr val="188037"/>
                </a:solidFill>
                <a:latin typeface="Courier New"/>
                <a:cs typeface="Courier New"/>
              </a:rPr>
            </a:br>
            <a:r>
              <a:rPr sz="2000" spc="-25" dirty="0">
                <a:latin typeface="Arial MT"/>
                <a:cs typeface="Arial MT"/>
              </a:rPr>
              <a:t>(by </a:t>
            </a:r>
            <a:r>
              <a:rPr sz="2000" dirty="0">
                <a:latin typeface="Arial MT"/>
                <a:cs typeface="Arial MT"/>
              </a:rPr>
              <a:t>convention,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lib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is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dropped,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and</a:t>
            </a:r>
            <a:r>
              <a:rPr sz="2000" spc="-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so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is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inferred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from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l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spc="-10" dirty="0">
                <a:latin typeface="Arial MT"/>
                <a:cs typeface="Arial MT"/>
              </a:rPr>
              <a:t>flag).</a:t>
            </a:r>
            <a:endParaRPr sz="2000" dirty="0">
              <a:latin typeface="Arial MT"/>
              <a:cs typeface="Arial MT"/>
            </a:endParaRPr>
          </a:p>
          <a:p>
            <a:pPr marL="12700" marR="5080">
              <a:lnSpc>
                <a:spcPct val="114999"/>
              </a:lnSpc>
              <a:spcBef>
                <a:spcPts val="1200"/>
              </a:spcBef>
            </a:pPr>
            <a:r>
              <a:rPr sz="2000" dirty="0">
                <a:latin typeface="Arial MT"/>
                <a:cs typeface="Arial MT"/>
              </a:rPr>
              <a:t>When</a:t>
            </a:r>
            <a:r>
              <a:rPr sz="2000" spc="-6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you</a:t>
            </a:r>
            <a:r>
              <a:rPr sz="2000" spc="-5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run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this,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executable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will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dynamically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linked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libmath.so</a:t>
            </a:r>
            <a:r>
              <a:rPr sz="2000" dirty="0">
                <a:latin typeface="Arial MT"/>
                <a:cs typeface="Arial MT"/>
              </a:rPr>
              <a:t>.</a:t>
            </a:r>
            <a:r>
              <a:rPr sz="2000" spc="-80" dirty="0">
                <a:latin typeface="Arial MT"/>
                <a:cs typeface="Arial MT"/>
              </a:rPr>
              <a:t> </a:t>
            </a:r>
            <a:br>
              <a:rPr lang="en-US" sz="2000" spc="-80" dirty="0">
                <a:latin typeface="Arial MT"/>
                <a:cs typeface="Arial MT"/>
              </a:rPr>
            </a:b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shared </a:t>
            </a:r>
            <a:r>
              <a:rPr sz="2000" dirty="0">
                <a:latin typeface="Arial MT"/>
                <a:cs typeface="Arial MT"/>
              </a:rPr>
              <a:t>library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libmath.so</a:t>
            </a:r>
            <a:r>
              <a:rPr sz="2000" b="1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must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available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at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runtime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for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program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execute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properly.</a:t>
            </a:r>
            <a:endParaRPr sz="20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dirty="0"/>
              <a:t>Dynamic</a:t>
            </a:r>
            <a:r>
              <a:rPr spc="-135" dirty="0"/>
              <a:t> </a:t>
            </a:r>
            <a:r>
              <a:rPr spc="-10" dirty="0"/>
              <a:t>Linking</a:t>
            </a:r>
          </a:p>
          <a:p>
            <a:pPr marL="12700">
              <a:lnSpc>
                <a:spcPts val="2285"/>
              </a:lnSpc>
            </a:pPr>
            <a:r>
              <a:rPr sz="2000" dirty="0"/>
              <a:t>Step</a:t>
            </a:r>
            <a:r>
              <a:rPr sz="2000" spc="-50" dirty="0"/>
              <a:t> </a:t>
            </a:r>
            <a:r>
              <a:rPr sz="2000" dirty="0"/>
              <a:t>3:</a:t>
            </a:r>
            <a:r>
              <a:rPr sz="2000" spc="-50" dirty="0"/>
              <a:t> </a:t>
            </a:r>
            <a:r>
              <a:rPr sz="2000" dirty="0"/>
              <a:t>Compile</a:t>
            </a:r>
            <a:r>
              <a:rPr sz="2000" spc="-45" dirty="0"/>
              <a:t> </a:t>
            </a:r>
            <a:r>
              <a:rPr sz="2000" dirty="0"/>
              <a:t>and</a:t>
            </a:r>
            <a:r>
              <a:rPr sz="2000" spc="-50" dirty="0"/>
              <a:t> </a:t>
            </a:r>
            <a:r>
              <a:rPr sz="2000" dirty="0"/>
              <a:t>Run</a:t>
            </a:r>
            <a:r>
              <a:rPr sz="2000" spc="-45" dirty="0"/>
              <a:t> </a:t>
            </a:r>
            <a:r>
              <a:rPr sz="2000" dirty="0"/>
              <a:t>the</a:t>
            </a:r>
            <a:r>
              <a:rPr sz="2000" spc="-50" dirty="0"/>
              <a:t> </a:t>
            </a:r>
            <a:r>
              <a:rPr sz="2000" dirty="0"/>
              <a:t>Program</a:t>
            </a:r>
            <a:r>
              <a:rPr sz="2000" spc="-45" dirty="0"/>
              <a:t> </a:t>
            </a:r>
            <a:r>
              <a:rPr sz="2000" dirty="0"/>
              <a:t>with</a:t>
            </a:r>
            <a:r>
              <a:rPr sz="2000" spc="-50" dirty="0"/>
              <a:t> </a:t>
            </a:r>
            <a:r>
              <a:rPr sz="2000" dirty="0"/>
              <a:t>Dynamic</a:t>
            </a:r>
            <a:r>
              <a:rPr sz="2000" spc="-45" dirty="0"/>
              <a:t> </a:t>
            </a:r>
            <a:r>
              <a:rPr sz="2000" spc="-10" dirty="0"/>
              <a:t>Linking</a:t>
            </a:r>
            <a:endParaRPr sz="2000"/>
          </a:p>
        </p:txBody>
      </p:sp>
      <p:sp>
        <p:nvSpPr>
          <p:cNvPr id="13" name="object 3">
            <a:extLst>
              <a:ext uri="{FF2B5EF4-FFF2-40B4-BE49-F238E27FC236}">
                <a16:creationId xmlns:a16="http://schemas.microsoft.com/office/drawing/2014/main" id="{62161F51-063F-D028-4546-60EBBD76A0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548650" y="2523144"/>
            <a:ext cx="6163945" cy="72644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9"/>
              </a:spcBef>
            </a:pPr>
            <a:r>
              <a:rPr sz="2000" dirty="0">
                <a:latin typeface="Arial MT"/>
                <a:cs typeface="Arial MT"/>
              </a:rPr>
              <a:t>Now</a:t>
            </a:r>
            <a:r>
              <a:rPr sz="2000" spc="-6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will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compile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program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main.c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spc="-25" dirty="0">
                <a:latin typeface="Arial MT"/>
                <a:cs typeface="Arial MT"/>
              </a:rPr>
              <a:t>but</a:t>
            </a:r>
            <a:endParaRPr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360"/>
              </a:spcBef>
            </a:pPr>
            <a:r>
              <a:rPr sz="2000" b="1" dirty="0">
                <a:latin typeface="Arial"/>
                <a:cs typeface="Arial"/>
              </a:rPr>
              <a:t>dynamically</a:t>
            </a:r>
            <a:r>
              <a:rPr sz="2000" b="1" spc="-3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link</a:t>
            </a:r>
            <a:r>
              <a:rPr sz="2000" b="1" spc="-30" dirty="0">
                <a:latin typeface="Arial"/>
                <a:cs typeface="Arial"/>
              </a:rPr>
              <a:t> </a:t>
            </a:r>
            <a:r>
              <a:rPr sz="2000" dirty="0">
                <a:latin typeface="Arial MT"/>
                <a:cs typeface="Arial MT"/>
              </a:rPr>
              <a:t>it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shared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library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libmath.so</a:t>
            </a:r>
            <a:r>
              <a:rPr sz="2000" spc="-10" dirty="0">
                <a:latin typeface="Arial MT"/>
                <a:cs typeface="Arial MT"/>
              </a:rPr>
              <a:t>: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14" name="object 5">
            <a:extLst>
              <a:ext uri="{FF2B5EF4-FFF2-40B4-BE49-F238E27FC236}">
                <a16:creationId xmlns:a16="http://schemas.microsoft.com/office/drawing/2014/main" id="{6468528A-EBD2-41AE-AA9D-DD11FFE630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580150" y="3423625"/>
            <a:ext cx="446405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program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main.c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L.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-lmath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15" name="object 4">
            <a:extLst>
              <a:ext uri="{FF2B5EF4-FFF2-40B4-BE49-F238E27FC236}">
                <a16:creationId xmlns:a16="http://schemas.microsoft.com/office/drawing/2014/main" id="{16A321D2-36AD-3A52-9596-C286092DE2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548650" y="4135620"/>
            <a:ext cx="11414750" cy="200074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469265" indent="-381635">
              <a:lnSpc>
                <a:spcPct val="100000"/>
              </a:lnSpc>
              <a:spcBef>
                <a:spcPts val="459"/>
              </a:spcBef>
              <a:spcAft>
                <a:spcPts val="600"/>
              </a:spcAft>
              <a:buClr>
                <a:srgbClr val="000000"/>
              </a:buClr>
              <a:buFont typeface="Arial"/>
              <a:buChar char="●"/>
              <a:tabLst>
                <a:tab pos="469265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L.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6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This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tells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linker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look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for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libraries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in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current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directory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spc="-20" dirty="0">
                <a:latin typeface="Arial MT"/>
                <a:cs typeface="Arial MT"/>
              </a:rPr>
              <a:t>(</a:t>
            </a:r>
            <a:r>
              <a:rPr sz="2000" spc="-20" dirty="0">
                <a:solidFill>
                  <a:srgbClr val="188037"/>
                </a:solidFill>
                <a:latin typeface="Courier New"/>
                <a:cs typeface="Courier New"/>
              </a:rPr>
              <a:t>.</a:t>
            </a:r>
            <a:r>
              <a:rPr sz="2000" spc="-20" dirty="0">
                <a:latin typeface="Arial MT"/>
                <a:cs typeface="Arial MT"/>
              </a:rPr>
              <a:t>).</a:t>
            </a:r>
            <a:endParaRPr sz="2000" dirty="0">
              <a:latin typeface="Arial MT"/>
              <a:cs typeface="Arial MT"/>
            </a:endParaRPr>
          </a:p>
          <a:p>
            <a:pPr marL="469900" marR="764540" indent="-382270">
              <a:lnSpc>
                <a:spcPct val="114999"/>
              </a:lnSpc>
              <a:buClr>
                <a:srgbClr val="000000"/>
              </a:buClr>
              <a:buFont typeface="Arial"/>
              <a:buChar char="●"/>
              <a:tabLst>
                <a:tab pos="469900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lmath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9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This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tells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linker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link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against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shared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library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libmath.so</a:t>
            </a:r>
            <a:r>
              <a:rPr sz="2000" b="1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br>
              <a:rPr lang="en-US" sz="2000" b="1" spc="-650" dirty="0">
                <a:solidFill>
                  <a:srgbClr val="188037"/>
                </a:solidFill>
                <a:latin typeface="Courier New"/>
                <a:cs typeface="Courier New"/>
              </a:rPr>
            </a:br>
            <a:r>
              <a:rPr sz="2000" spc="-25" dirty="0">
                <a:latin typeface="Arial MT"/>
                <a:cs typeface="Arial MT"/>
              </a:rPr>
              <a:t>(by </a:t>
            </a:r>
            <a:r>
              <a:rPr sz="2000" dirty="0">
                <a:latin typeface="Arial MT"/>
                <a:cs typeface="Arial MT"/>
              </a:rPr>
              <a:t>convention,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lib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is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dropped,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and</a:t>
            </a:r>
            <a:r>
              <a:rPr sz="2000" spc="-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so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is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inferred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from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l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spc="-10" dirty="0">
                <a:latin typeface="Arial MT"/>
                <a:cs typeface="Arial MT"/>
              </a:rPr>
              <a:t>flag).</a:t>
            </a:r>
            <a:endParaRPr sz="2000" dirty="0">
              <a:latin typeface="Arial MT"/>
              <a:cs typeface="Arial MT"/>
            </a:endParaRPr>
          </a:p>
          <a:p>
            <a:pPr marL="12700" marR="5080">
              <a:lnSpc>
                <a:spcPct val="114999"/>
              </a:lnSpc>
              <a:spcBef>
                <a:spcPts val="1200"/>
              </a:spcBef>
            </a:pPr>
            <a:r>
              <a:rPr sz="2000" dirty="0">
                <a:latin typeface="Arial MT"/>
                <a:cs typeface="Arial MT"/>
              </a:rPr>
              <a:t>When</a:t>
            </a:r>
            <a:r>
              <a:rPr sz="2000" spc="-6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you</a:t>
            </a:r>
            <a:r>
              <a:rPr sz="2000" spc="-5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run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this,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executable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will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dynamically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linked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libmath.so</a:t>
            </a:r>
            <a:r>
              <a:rPr sz="2000" dirty="0">
                <a:latin typeface="Arial MT"/>
                <a:cs typeface="Arial MT"/>
              </a:rPr>
              <a:t>.</a:t>
            </a:r>
            <a:r>
              <a:rPr sz="2000" spc="-80" dirty="0">
                <a:latin typeface="Arial MT"/>
                <a:cs typeface="Arial MT"/>
              </a:rPr>
              <a:t> </a:t>
            </a:r>
            <a:br>
              <a:rPr lang="en-US" sz="2000" spc="-80" dirty="0">
                <a:latin typeface="Arial MT"/>
                <a:cs typeface="Arial MT"/>
              </a:rPr>
            </a:b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shared </a:t>
            </a:r>
            <a:r>
              <a:rPr sz="2000" dirty="0">
                <a:latin typeface="Arial MT"/>
                <a:cs typeface="Arial MT"/>
              </a:rPr>
              <a:t>library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libmath.so</a:t>
            </a:r>
            <a:r>
              <a:rPr sz="2000" b="1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must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available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at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runtime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for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program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execute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properly.</a:t>
            </a:r>
            <a:endParaRPr sz="2000" dirty="0">
              <a:latin typeface="Arial MT"/>
              <a:cs typeface="Arial MT"/>
            </a:endParaRPr>
          </a:p>
        </p:txBody>
      </p:sp>
      <p:grpSp>
        <p:nvGrpSpPr>
          <p:cNvPr id="8" name="object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93137" y="2251737"/>
            <a:ext cx="6569075" cy="1990089"/>
            <a:chOff x="5393137" y="2251737"/>
            <a:chExt cx="6569075" cy="1990089"/>
          </a:xfrm>
        </p:grpSpPr>
        <p:sp>
          <p:nvSpPr>
            <p:cNvPr id="9" name="object 9"/>
            <p:cNvSpPr/>
            <p:nvPr/>
          </p:nvSpPr>
          <p:spPr>
            <a:xfrm>
              <a:off x="5397899" y="2256500"/>
              <a:ext cx="6559550" cy="1980564"/>
            </a:xfrm>
            <a:custGeom>
              <a:avLst/>
              <a:gdLst/>
              <a:ahLst/>
              <a:cxnLst/>
              <a:rect l="l" t="t" r="r" b="b"/>
              <a:pathLst>
                <a:path w="6559550" h="1980564">
                  <a:moveTo>
                    <a:pt x="6559499" y="1979999"/>
                  </a:moveTo>
                  <a:lnTo>
                    <a:pt x="0" y="1979999"/>
                  </a:lnTo>
                  <a:lnTo>
                    <a:pt x="0" y="0"/>
                  </a:lnTo>
                  <a:lnTo>
                    <a:pt x="6559499" y="0"/>
                  </a:lnTo>
                  <a:lnTo>
                    <a:pt x="6559499" y="1979999"/>
                  </a:lnTo>
                  <a:close/>
                </a:path>
              </a:pathLst>
            </a:custGeom>
            <a:solidFill>
              <a:srgbClr val="D9EAD3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397899" y="2256500"/>
              <a:ext cx="6559550" cy="1980564"/>
            </a:xfrm>
            <a:custGeom>
              <a:avLst/>
              <a:gdLst/>
              <a:ahLst/>
              <a:cxnLst/>
              <a:rect l="l" t="t" r="r" b="b"/>
              <a:pathLst>
                <a:path w="6559550" h="1980564">
                  <a:moveTo>
                    <a:pt x="0" y="0"/>
                  </a:moveTo>
                  <a:lnTo>
                    <a:pt x="6559499" y="0"/>
                  </a:lnTo>
                  <a:lnTo>
                    <a:pt x="6559499" y="1979999"/>
                  </a:lnTo>
                  <a:lnTo>
                    <a:pt x="0" y="19799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5670050" y="2606682"/>
            <a:ext cx="5946140" cy="656590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25"/>
              </a:spcBef>
            </a:pPr>
            <a:r>
              <a:rPr sz="1800" dirty="0">
                <a:latin typeface="Arial MT"/>
                <a:cs typeface="Arial MT"/>
              </a:rPr>
              <a:t>If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shared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library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located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</a:t>
            </a:r>
            <a:r>
              <a:rPr sz="1800" spc="5" dirty="0">
                <a:latin typeface="Arial MT"/>
                <a:cs typeface="Arial MT"/>
              </a:rPr>
              <a:t> </a:t>
            </a:r>
            <a:r>
              <a:rPr sz="1800" b="1" dirty="0">
                <a:latin typeface="Arial"/>
                <a:cs typeface="Arial"/>
              </a:rPr>
              <a:t>different</a:t>
            </a:r>
            <a:r>
              <a:rPr sz="1800" b="1" spc="-15" dirty="0">
                <a:latin typeface="Arial"/>
                <a:cs typeface="Arial"/>
              </a:rPr>
              <a:t> </a:t>
            </a:r>
            <a:r>
              <a:rPr sz="1800" b="1" dirty="0">
                <a:latin typeface="Arial"/>
                <a:cs typeface="Arial"/>
              </a:rPr>
              <a:t>directory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say</a:t>
            </a:r>
            <a:endParaRPr sz="18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320"/>
              </a:spcBef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/usr/local/mylibs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you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specify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path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using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800" b="1" spc="-25" dirty="0">
                <a:solidFill>
                  <a:srgbClr val="188037"/>
                </a:solidFill>
                <a:latin typeface="Courier New"/>
                <a:cs typeface="Courier New"/>
              </a:rPr>
              <a:t>L</a:t>
            </a:r>
            <a:r>
              <a:rPr sz="1800" spc="-25" dirty="0">
                <a:latin typeface="Arial MT"/>
                <a:cs typeface="Arial MT"/>
              </a:rPr>
              <a:t>: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597025" y="3410049"/>
            <a:ext cx="6172200" cy="492759"/>
          </a:xfrm>
          <a:prstGeom prst="rect">
            <a:avLst/>
          </a:prstGeom>
          <a:solidFill>
            <a:srgbClr val="D9EAD3"/>
          </a:solidFill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4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4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program</a:t>
            </a:r>
            <a:r>
              <a:rPr sz="2000" b="1" spc="-4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main.c</a:t>
            </a:r>
            <a:r>
              <a:rPr sz="2000" b="1" spc="-4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L/usr/local/mylibs</a:t>
            </a:r>
            <a:r>
              <a:rPr sz="2000" b="1" spc="-3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-lmath</a:t>
            </a:r>
            <a:endParaRPr sz="2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885"/>
              </a:lnSpc>
              <a:spcBef>
                <a:spcPts val="100"/>
              </a:spcBef>
            </a:pPr>
            <a:r>
              <a:rPr dirty="0"/>
              <a:t>Dynamic</a:t>
            </a:r>
            <a:r>
              <a:rPr spc="-135" dirty="0"/>
              <a:t> </a:t>
            </a:r>
            <a:r>
              <a:rPr spc="-10" dirty="0"/>
              <a:t>Linking</a:t>
            </a:r>
          </a:p>
          <a:p>
            <a:pPr marL="12700">
              <a:lnSpc>
                <a:spcPts val="2285"/>
              </a:lnSpc>
            </a:pPr>
            <a:r>
              <a:rPr sz="2000" dirty="0"/>
              <a:t>Step</a:t>
            </a:r>
            <a:r>
              <a:rPr sz="2000" spc="-50" dirty="0"/>
              <a:t> </a:t>
            </a:r>
            <a:r>
              <a:rPr sz="2000" dirty="0"/>
              <a:t>3:</a:t>
            </a:r>
            <a:r>
              <a:rPr sz="2000" spc="-50" dirty="0"/>
              <a:t> </a:t>
            </a:r>
            <a:r>
              <a:rPr sz="2000" dirty="0"/>
              <a:t>Compile</a:t>
            </a:r>
            <a:r>
              <a:rPr sz="2000" spc="-45" dirty="0"/>
              <a:t> </a:t>
            </a:r>
            <a:r>
              <a:rPr sz="2000" dirty="0"/>
              <a:t>and</a:t>
            </a:r>
            <a:r>
              <a:rPr sz="2000" spc="-50" dirty="0"/>
              <a:t> </a:t>
            </a:r>
            <a:r>
              <a:rPr sz="2000" dirty="0"/>
              <a:t>Run</a:t>
            </a:r>
            <a:r>
              <a:rPr sz="2000" spc="-45" dirty="0"/>
              <a:t> </a:t>
            </a:r>
            <a:r>
              <a:rPr sz="2000" dirty="0"/>
              <a:t>the</a:t>
            </a:r>
            <a:r>
              <a:rPr sz="2000" spc="-50" dirty="0"/>
              <a:t> </a:t>
            </a:r>
            <a:r>
              <a:rPr sz="2000" dirty="0"/>
              <a:t>Program</a:t>
            </a:r>
            <a:r>
              <a:rPr sz="2000" spc="-45" dirty="0"/>
              <a:t> </a:t>
            </a:r>
            <a:r>
              <a:rPr sz="2000" dirty="0"/>
              <a:t>with</a:t>
            </a:r>
            <a:r>
              <a:rPr sz="2000" spc="-50" dirty="0"/>
              <a:t> </a:t>
            </a:r>
            <a:r>
              <a:rPr sz="2000" dirty="0"/>
              <a:t>Dynamic</a:t>
            </a:r>
            <a:r>
              <a:rPr sz="2000" spc="-45" dirty="0"/>
              <a:t> </a:t>
            </a:r>
            <a:r>
              <a:rPr sz="2000" spc="-10" dirty="0"/>
              <a:t>Linking</a:t>
            </a:r>
            <a:endParaRPr sz="2000"/>
          </a:p>
        </p:txBody>
      </p:sp>
      <p:sp>
        <p:nvSpPr>
          <p:cNvPr id="13" name="object 3">
            <a:extLst>
              <a:ext uri="{FF2B5EF4-FFF2-40B4-BE49-F238E27FC236}">
                <a16:creationId xmlns:a16="http://schemas.microsoft.com/office/drawing/2014/main" id="{038811A4-593E-CFC1-D6BE-CA9718F8531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548650" y="2523144"/>
            <a:ext cx="6163945" cy="72644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459"/>
              </a:spcBef>
            </a:pPr>
            <a:r>
              <a:rPr sz="2000" dirty="0">
                <a:latin typeface="Arial MT"/>
                <a:cs typeface="Arial MT"/>
              </a:rPr>
              <a:t>Now</a:t>
            </a:r>
            <a:r>
              <a:rPr sz="2000" spc="-6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will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compile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program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main.c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spc="-25" dirty="0">
                <a:latin typeface="Arial MT"/>
                <a:cs typeface="Arial MT"/>
              </a:rPr>
              <a:t>but</a:t>
            </a:r>
            <a:endParaRPr sz="2000" dirty="0">
              <a:latin typeface="Arial MT"/>
              <a:cs typeface="Arial MT"/>
            </a:endParaRPr>
          </a:p>
          <a:p>
            <a:pPr marL="12700">
              <a:lnSpc>
                <a:spcPct val="100000"/>
              </a:lnSpc>
              <a:spcBef>
                <a:spcPts val="360"/>
              </a:spcBef>
            </a:pPr>
            <a:r>
              <a:rPr sz="2000" b="1" dirty="0">
                <a:latin typeface="Arial"/>
                <a:cs typeface="Arial"/>
              </a:rPr>
              <a:t>dynamically</a:t>
            </a:r>
            <a:r>
              <a:rPr sz="2000" b="1" spc="-30" dirty="0">
                <a:latin typeface="Arial"/>
                <a:cs typeface="Arial"/>
              </a:rPr>
              <a:t> </a:t>
            </a:r>
            <a:r>
              <a:rPr sz="2000" b="1" dirty="0">
                <a:latin typeface="Arial"/>
                <a:cs typeface="Arial"/>
              </a:rPr>
              <a:t>link</a:t>
            </a:r>
            <a:r>
              <a:rPr sz="2000" b="1" spc="-30" dirty="0">
                <a:latin typeface="Arial"/>
                <a:cs typeface="Arial"/>
              </a:rPr>
              <a:t> </a:t>
            </a:r>
            <a:r>
              <a:rPr sz="2000" dirty="0">
                <a:latin typeface="Arial MT"/>
                <a:cs typeface="Arial MT"/>
              </a:rPr>
              <a:t>it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shared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library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libmath.so</a:t>
            </a:r>
            <a:r>
              <a:rPr sz="2000" spc="-10" dirty="0">
                <a:latin typeface="Arial MT"/>
                <a:cs typeface="Arial MT"/>
              </a:rPr>
              <a:t>:</a:t>
            </a:r>
            <a:endParaRPr sz="2000" dirty="0">
              <a:latin typeface="Arial MT"/>
              <a:cs typeface="Arial MT"/>
            </a:endParaRPr>
          </a:p>
        </p:txBody>
      </p:sp>
      <p:sp>
        <p:nvSpPr>
          <p:cNvPr id="14" name="object 5">
            <a:extLst>
              <a:ext uri="{FF2B5EF4-FFF2-40B4-BE49-F238E27FC236}">
                <a16:creationId xmlns:a16="http://schemas.microsoft.com/office/drawing/2014/main" id="{83E3EA4E-BD5A-2C36-2060-3C5AAD840FD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580150" y="3423625"/>
            <a:ext cx="446405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program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main.c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L.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-lmath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15" name="object 4">
            <a:extLst>
              <a:ext uri="{FF2B5EF4-FFF2-40B4-BE49-F238E27FC236}">
                <a16:creationId xmlns:a16="http://schemas.microsoft.com/office/drawing/2014/main" id="{59DBC92E-B4DE-D47A-CA7F-5450808040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548650" y="4135620"/>
            <a:ext cx="11414750" cy="2000740"/>
          </a:xfrm>
          <a:prstGeom prst="rect">
            <a:avLst/>
          </a:prstGeom>
        </p:spPr>
        <p:txBody>
          <a:bodyPr vert="horz" wrap="square" lIns="0" tIns="58419" rIns="0" bIns="0" rtlCol="0">
            <a:spAutoFit/>
          </a:bodyPr>
          <a:lstStyle/>
          <a:p>
            <a:pPr marL="469265" indent="-381635">
              <a:lnSpc>
                <a:spcPct val="100000"/>
              </a:lnSpc>
              <a:spcBef>
                <a:spcPts val="459"/>
              </a:spcBef>
              <a:spcAft>
                <a:spcPts val="600"/>
              </a:spcAft>
              <a:buClr>
                <a:srgbClr val="000000"/>
              </a:buClr>
              <a:buFont typeface="Arial"/>
              <a:buChar char="●"/>
              <a:tabLst>
                <a:tab pos="469265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L.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6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This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tells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linker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look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for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libraries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in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current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directory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spc="-20" dirty="0">
                <a:latin typeface="Arial MT"/>
                <a:cs typeface="Arial MT"/>
              </a:rPr>
              <a:t>(</a:t>
            </a:r>
            <a:r>
              <a:rPr sz="2000" spc="-20" dirty="0">
                <a:solidFill>
                  <a:srgbClr val="188037"/>
                </a:solidFill>
                <a:latin typeface="Courier New"/>
                <a:cs typeface="Courier New"/>
              </a:rPr>
              <a:t>.</a:t>
            </a:r>
            <a:r>
              <a:rPr sz="2000" spc="-20" dirty="0">
                <a:latin typeface="Arial MT"/>
                <a:cs typeface="Arial MT"/>
              </a:rPr>
              <a:t>).</a:t>
            </a:r>
            <a:endParaRPr sz="2000" dirty="0">
              <a:latin typeface="Arial MT"/>
              <a:cs typeface="Arial MT"/>
            </a:endParaRPr>
          </a:p>
          <a:p>
            <a:pPr marL="469900" marR="764540" indent="-382270">
              <a:lnSpc>
                <a:spcPct val="114999"/>
              </a:lnSpc>
              <a:buClr>
                <a:srgbClr val="000000"/>
              </a:buClr>
              <a:buFont typeface="Arial"/>
              <a:buChar char="●"/>
              <a:tabLst>
                <a:tab pos="469900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lmath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9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This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tells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linker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link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against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shared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library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libmath.so</a:t>
            </a:r>
            <a:r>
              <a:rPr sz="2000" b="1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br>
              <a:rPr lang="en-US" sz="2000" b="1" spc="-650" dirty="0">
                <a:solidFill>
                  <a:srgbClr val="188037"/>
                </a:solidFill>
                <a:latin typeface="Courier New"/>
                <a:cs typeface="Courier New"/>
              </a:rPr>
            </a:br>
            <a:r>
              <a:rPr sz="2000" spc="-25" dirty="0">
                <a:latin typeface="Arial MT"/>
                <a:cs typeface="Arial MT"/>
              </a:rPr>
              <a:t>(by </a:t>
            </a:r>
            <a:r>
              <a:rPr sz="2000" dirty="0">
                <a:latin typeface="Arial MT"/>
                <a:cs typeface="Arial MT"/>
              </a:rPr>
              <a:t>convention,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lib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is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dropped,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and</a:t>
            </a:r>
            <a:r>
              <a:rPr sz="2000" spc="-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so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is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inferred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from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1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l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spc="-10" dirty="0">
                <a:latin typeface="Arial MT"/>
                <a:cs typeface="Arial MT"/>
              </a:rPr>
              <a:t>flag).</a:t>
            </a:r>
            <a:endParaRPr sz="2000" dirty="0">
              <a:latin typeface="Arial MT"/>
              <a:cs typeface="Arial MT"/>
            </a:endParaRPr>
          </a:p>
          <a:p>
            <a:pPr marL="12700" marR="5080">
              <a:lnSpc>
                <a:spcPct val="114999"/>
              </a:lnSpc>
              <a:spcBef>
                <a:spcPts val="1200"/>
              </a:spcBef>
            </a:pPr>
            <a:r>
              <a:rPr sz="2000" dirty="0">
                <a:latin typeface="Arial MT"/>
                <a:cs typeface="Arial MT"/>
              </a:rPr>
              <a:t>When</a:t>
            </a:r>
            <a:r>
              <a:rPr sz="2000" spc="-6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you</a:t>
            </a:r>
            <a:r>
              <a:rPr sz="2000" spc="-5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run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this,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executable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will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dynamically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linked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libmath.so</a:t>
            </a:r>
            <a:r>
              <a:rPr sz="2000" dirty="0">
                <a:latin typeface="Arial MT"/>
                <a:cs typeface="Arial MT"/>
              </a:rPr>
              <a:t>.</a:t>
            </a:r>
            <a:r>
              <a:rPr sz="2000" spc="-80" dirty="0">
                <a:latin typeface="Arial MT"/>
                <a:cs typeface="Arial MT"/>
              </a:rPr>
              <a:t> </a:t>
            </a:r>
            <a:br>
              <a:rPr lang="en-US" sz="2000" spc="-80" dirty="0">
                <a:latin typeface="Arial MT"/>
                <a:cs typeface="Arial MT"/>
              </a:rPr>
            </a:b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shared </a:t>
            </a:r>
            <a:r>
              <a:rPr sz="2000" dirty="0">
                <a:latin typeface="Arial MT"/>
                <a:cs typeface="Arial MT"/>
              </a:rPr>
              <a:t>library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libmath.so</a:t>
            </a:r>
            <a:r>
              <a:rPr sz="2000" b="1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must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be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available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at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runtime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for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program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execute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properly.</a:t>
            </a:r>
            <a:endParaRPr sz="2000" dirty="0">
              <a:latin typeface="Arial MT"/>
              <a:cs typeface="Arial MT"/>
            </a:endParaRPr>
          </a:p>
        </p:txBody>
      </p:sp>
      <p:grpSp>
        <p:nvGrpSpPr>
          <p:cNvPr id="8" name="object 8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/>
        </p:nvGrpSpPr>
        <p:grpSpPr>
          <a:xfrm>
            <a:off x="5393137" y="2627812"/>
            <a:ext cx="6569075" cy="1696085"/>
            <a:chOff x="5393137" y="2627812"/>
            <a:chExt cx="6569075" cy="1696085"/>
          </a:xfrm>
        </p:grpSpPr>
        <p:sp>
          <p:nvSpPr>
            <p:cNvPr id="9" name="object 9"/>
            <p:cNvSpPr/>
            <p:nvPr/>
          </p:nvSpPr>
          <p:spPr>
            <a:xfrm>
              <a:off x="5397899" y="2632574"/>
              <a:ext cx="6559550" cy="1686560"/>
            </a:xfrm>
            <a:custGeom>
              <a:avLst/>
              <a:gdLst/>
              <a:ahLst/>
              <a:cxnLst/>
              <a:rect l="l" t="t" r="r" b="b"/>
              <a:pathLst>
                <a:path w="6559550" h="1686560">
                  <a:moveTo>
                    <a:pt x="6559499" y="1686299"/>
                  </a:moveTo>
                  <a:lnTo>
                    <a:pt x="0" y="1686299"/>
                  </a:lnTo>
                  <a:lnTo>
                    <a:pt x="0" y="0"/>
                  </a:lnTo>
                  <a:lnTo>
                    <a:pt x="6559499" y="0"/>
                  </a:lnTo>
                  <a:lnTo>
                    <a:pt x="6559499" y="1686299"/>
                  </a:lnTo>
                  <a:close/>
                </a:path>
              </a:pathLst>
            </a:custGeom>
            <a:solidFill>
              <a:srgbClr val="FCE4C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5397899" y="2632574"/>
              <a:ext cx="6559550" cy="1686560"/>
            </a:xfrm>
            <a:custGeom>
              <a:avLst/>
              <a:gdLst/>
              <a:ahLst/>
              <a:cxnLst/>
              <a:rect l="l" t="t" r="r" b="b"/>
              <a:pathLst>
                <a:path w="6559550" h="1686560">
                  <a:moveTo>
                    <a:pt x="0" y="0"/>
                  </a:moveTo>
                  <a:lnTo>
                    <a:pt x="6559499" y="0"/>
                  </a:lnTo>
                  <a:lnTo>
                    <a:pt x="6559499" y="1686299"/>
                  </a:lnTo>
                  <a:lnTo>
                    <a:pt x="0" y="1686299"/>
                  </a:lnTo>
                  <a:lnTo>
                    <a:pt x="0" y="0"/>
                  </a:lnTo>
                  <a:close/>
                </a:path>
              </a:pathLst>
            </a:custGeom>
            <a:ln w="9524">
              <a:solidFill>
                <a:srgbClr val="0F204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5670050" y="2952631"/>
            <a:ext cx="4507230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If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libutil.so</a:t>
            </a:r>
            <a:r>
              <a:rPr sz="1800" b="1" spc="-58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is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in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current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directory </a:t>
            </a:r>
            <a:r>
              <a:rPr sz="1800" spc="-25" dirty="0">
                <a:latin typeface="Arial MT"/>
                <a:cs typeface="Arial MT"/>
              </a:rPr>
              <a:t>(</a:t>
            </a:r>
            <a:r>
              <a:rPr sz="1800" spc="-25" dirty="0">
                <a:solidFill>
                  <a:srgbClr val="188037"/>
                </a:solidFill>
                <a:latin typeface="Courier New"/>
                <a:cs typeface="Courier New"/>
              </a:rPr>
              <a:t>.</a:t>
            </a:r>
            <a:r>
              <a:rPr sz="1800" spc="-25" dirty="0">
                <a:latin typeface="Arial MT"/>
                <a:cs typeface="Arial MT"/>
              </a:rPr>
              <a:t>)</a:t>
            </a:r>
            <a:endParaRPr sz="1800">
              <a:latin typeface="Arial MT"/>
              <a:cs typeface="Arial MT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5597025" y="3410049"/>
            <a:ext cx="6172200" cy="492759"/>
          </a:xfrm>
          <a:prstGeom prst="rect">
            <a:avLst/>
          </a:prstGeom>
          <a:solidFill>
            <a:srgbClr val="FCE4CD"/>
          </a:solidFill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program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main.c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L.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-lutil</a:t>
            </a:r>
            <a:endParaRPr sz="200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410375" y="1371600"/>
            <a:ext cx="464614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spcBef>
                <a:spcPts val="100"/>
              </a:spcBef>
            </a:pPr>
            <a:r>
              <a:rPr dirty="0"/>
              <a:t>Manual</a:t>
            </a:r>
            <a:r>
              <a:rPr spc="-35" dirty="0"/>
              <a:t> </a:t>
            </a:r>
            <a:r>
              <a:rPr dirty="0"/>
              <a:t>Runtime</a:t>
            </a:r>
            <a:r>
              <a:rPr spc="-30" dirty="0"/>
              <a:t> </a:t>
            </a:r>
            <a:r>
              <a:rPr spc="-10" dirty="0"/>
              <a:t>Linking</a:t>
            </a:r>
            <a:br>
              <a:rPr lang="en-US" spc="-10" dirty="0"/>
            </a:br>
            <a:r>
              <a:rPr lang="en-US" sz="2000" b="1" dirty="0" err="1">
                <a:solidFill>
                  <a:srgbClr val="188037"/>
                </a:solidFill>
                <a:latin typeface="Courier New"/>
                <a:cs typeface="Courier New"/>
              </a:rPr>
              <a:t>dlopen</a:t>
            </a:r>
            <a:r>
              <a:rPr lang="en-US" sz="2000" b="1" dirty="0">
                <a:solidFill>
                  <a:srgbClr val="188037"/>
                </a:solidFill>
                <a:latin typeface="Courier New"/>
                <a:cs typeface="Courier New"/>
              </a:rPr>
              <a:t>()</a:t>
            </a:r>
            <a:r>
              <a:rPr lang="en-US" sz="2000" dirty="0">
                <a:latin typeface="Arial MT"/>
                <a:cs typeface="Arial MT"/>
              </a:rPr>
              <a:t>,</a:t>
            </a:r>
            <a:r>
              <a:rPr lang="en-US" sz="2000" spc="-30" dirty="0">
                <a:latin typeface="Arial MT"/>
                <a:cs typeface="Arial MT"/>
              </a:rPr>
              <a:t> </a:t>
            </a:r>
            <a:r>
              <a:rPr lang="en-US" sz="2000" b="1" dirty="0" err="1">
                <a:solidFill>
                  <a:srgbClr val="188037"/>
                </a:solidFill>
                <a:latin typeface="Courier New"/>
                <a:cs typeface="Courier New"/>
              </a:rPr>
              <a:t>dlsym</a:t>
            </a:r>
            <a:r>
              <a:rPr lang="en-US" sz="2000" b="1" dirty="0">
                <a:solidFill>
                  <a:srgbClr val="188037"/>
                </a:solidFill>
                <a:latin typeface="Courier New"/>
                <a:cs typeface="Courier New"/>
              </a:rPr>
              <a:t>()</a:t>
            </a:r>
            <a:r>
              <a:rPr lang="en-US" sz="2000" dirty="0">
                <a:latin typeface="Arial MT"/>
                <a:cs typeface="Arial MT"/>
              </a:rPr>
              <a:t>,</a:t>
            </a:r>
            <a:r>
              <a:rPr lang="en-US" sz="2000" spc="-25" dirty="0">
                <a:latin typeface="Arial MT"/>
                <a:cs typeface="Arial MT"/>
              </a:rPr>
              <a:t> </a:t>
            </a:r>
            <a:r>
              <a:rPr lang="en-US" sz="2000" dirty="0">
                <a:latin typeface="Arial MT"/>
                <a:cs typeface="Arial MT"/>
              </a:rPr>
              <a:t>and</a:t>
            </a:r>
            <a:r>
              <a:rPr lang="en-US" sz="2000" spc="-25" dirty="0">
                <a:latin typeface="Arial MT"/>
                <a:cs typeface="Arial MT"/>
              </a:rPr>
              <a:t> </a:t>
            </a:r>
            <a:r>
              <a:rPr lang="en-US" sz="2000" b="1" spc="-10" dirty="0" err="1">
                <a:solidFill>
                  <a:srgbClr val="188037"/>
                </a:solidFill>
                <a:latin typeface="Courier New"/>
                <a:cs typeface="Courier New"/>
              </a:rPr>
              <a:t>dlclose</a:t>
            </a:r>
            <a:r>
              <a:rPr lang="en-US"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()</a:t>
            </a:r>
            <a:endParaRPr sz="2000" spc="-10" dirty="0"/>
          </a:p>
        </p:txBody>
      </p:sp>
      <p:sp>
        <p:nvSpPr>
          <p:cNvPr id="3" name="object 3"/>
          <p:cNvSpPr txBox="1"/>
          <p:nvPr/>
        </p:nvSpPr>
        <p:spPr>
          <a:xfrm>
            <a:off x="396250" y="2438400"/>
            <a:ext cx="4660265" cy="268804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999"/>
              </a:lnSpc>
              <a:spcBef>
                <a:spcPts val="1125"/>
              </a:spcBef>
            </a:pPr>
            <a:r>
              <a:rPr sz="1800" dirty="0">
                <a:latin typeface="Arial MT"/>
                <a:cs typeface="Arial MT"/>
              </a:rPr>
              <a:t>While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shared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libraries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are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generally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linked </a:t>
            </a:r>
            <a:r>
              <a:rPr sz="1800" dirty="0">
                <a:latin typeface="Arial MT"/>
                <a:cs typeface="Arial MT"/>
              </a:rPr>
              <a:t>automatically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by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dynamic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linker,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you</a:t>
            </a:r>
            <a:r>
              <a:rPr sz="1800" spc="-25" dirty="0">
                <a:latin typeface="Arial MT"/>
                <a:cs typeface="Arial MT"/>
              </a:rPr>
              <a:t> can </a:t>
            </a:r>
            <a:r>
              <a:rPr sz="1800" dirty="0">
                <a:latin typeface="Arial MT"/>
                <a:cs typeface="Arial MT"/>
              </a:rPr>
              <a:t>manually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load,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access,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unload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shared </a:t>
            </a:r>
            <a:r>
              <a:rPr sz="1800" dirty="0">
                <a:latin typeface="Arial MT"/>
                <a:cs typeface="Arial MT"/>
              </a:rPr>
              <a:t>libraries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at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runtime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using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dlopen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dlsym</a:t>
            </a:r>
            <a:r>
              <a:rPr sz="1800" spc="-10" dirty="0">
                <a:latin typeface="Arial MT"/>
                <a:cs typeface="Arial MT"/>
              </a:rPr>
              <a:t>,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5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dlclose</a:t>
            </a:r>
            <a:r>
              <a:rPr sz="1800" spc="-57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functions from</a:t>
            </a:r>
            <a:r>
              <a:rPr sz="1800" spc="10" dirty="0">
                <a:latin typeface="Arial MT"/>
                <a:cs typeface="Arial MT"/>
              </a:rPr>
              <a:t> 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&lt;dlfcn.h&gt;</a:t>
            </a:r>
            <a:r>
              <a:rPr sz="1800" spc="-10" dirty="0">
                <a:latin typeface="Arial MT"/>
                <a:cs typeface="Arial MT"/>
              </a:rPr>
              <a:t>.</a:t>
            </a:r>
            <a:endParaRPr sz="1800" dirty="0">
              <a:latin typeface="Arial MT"/>
              <a:cs typeface="Arial MT"/>
            </a:endParaRPr>
          </a:p>
          <a:p>
            <a:pPr marL="12700" marR="55880">
              <a:lnSpc>
                <a:spcPct val="114999"/>
              </a:lnSpc>
              <a:spcBef>
                <a:spcPts val="1200"/>
              </a:spcBef>
            </a:pPr>
            <a:r>
              <a:rPr sz="1800" dirty="0">
                <a:latin typeface="Arial MT"/>
                <a:cs typeface="Arial MT"/>
              </a:rPr>
              <a:t>This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offers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flexibility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load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libraries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0" dirty="0">
                <a:latin typeface="Arial MT"/>
                <a:cs typeface="Arial MT"/>
              </a:rPr>
              <a:t>only </a:t>
            </a:r>
            <a:r>
              <a:rPr sz="1800" dirty="0">
                <a:latin typeface="Arial MT"/>
                <a:cs typeface="Arial MT"/>
              </a:rPr>
              <a:t>when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needed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based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on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program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input, </a:t>
            </a:r>
            <a:r>
              <a:rPr sz="1800" dirty="0">
                <a:latin typeface="Arial MT"/>
                <a:cs typeface="Arial MT"/>
              </a:rPr>
              <a:t>allowing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modular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extensible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applications.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431099" y="1681325"/>
            <a:ext cx="6271895" cy="3803605"/>
          </a:xfrm>
          <a:prstGeom prst="rect">
            <a:avLst/>
          </a:prstGeom>
          <a:solidFill>
            <a:srgbClr val="FFF1CC"/>
          </a:solidFill>
          <a:ln w="9524">
            <a:solidFill>
              <a:srgbClr val="0F2044"/>
            </a:solidFill>
          </a:ln>
        </p:spPr>
        <p:txBody>
          <a:bodyPr vert="horz" wrap="square" lIns="0" tIns="210820" rIns="0" bIns="0" rtlCol="0">
            <a:spAutoFit/>
          </a:bodyPr>
          <a:lstStyle/>
          <a:p>
            <a:pPr marL="85090" marR="285750">
              <a:lnSpc>
                <a:spcPct val="150000"/>
              </a:lnSpc>
              <a:spcBef>
                <a:spcPts val="1660"/>
              </a:spcBef>
            </a:pP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ldl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program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with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dynamic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linking</a:t>
            </a:r>
            <a:r>
              <a:rPr sz="1800" spc="-10" dirty="0">
                <a:latin typeface="Arial MT"/>
                <a:cs typeface="Arial MT"/>
              </a:rPr>
              <a:t> library,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libdl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which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provides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functions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dlopen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dlsym</a:t>
            </a:r>
            <a:r>
              <a:rPr sz="1800" dirty="0">
                <a:latin typeface="Arial MT"/>
                <a:cs typeface="Arial MT"/>
              </a:rPr>
              <a:t>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and </a:t>
            </a:r>
            <a:r>
              <a:rPr sz="1800" b="1" spc="-10" dirty="0" err="1">
                <a:solidFill>
                  <a:srgbClr val="188037"/>
                </a:solidFill>
                <a:latin typeface="Courier New"/>
                <a:cs typeface="Courier New"/>
              </a:rPr>
              <a:t>dlclose</a:t>
            </a:r>
            <a:r>
              <a:rPr sz="1800" spc="-10" dirty="0">
                <a:latin typeface="Arial MT"/>
                <a:cs typeface="Arial MT"/>
              </a:rPr>
              <a:t>.</a:t>
            </a:r>
            <a:endParaRPr sz="1800" dirty="0">
              <a:latin typeface="Arial MT"/>
              <a:cs typeface="Arial MT"/>
            </a:endParaRPr>
          </a:p>
          <a:p>
            <a:pPr>
              <a:lnSpc>
                <a:spcPct val="100000"/>
              </a:lnSpc>
              <a:spcBef>
                <a:spcPts val="180"/>
              </a:spcBef>
            </a:pPr>
            <a:endParaRPr sz="1800" dirty="0">
              <a:latin typeface="Arial MT"/>
              <a:cs typeface="Arial MT"/>
            </a:endParaRPr>
          </a:p>
          <a:p>
            <a:pPr marL="542290" indent="-366395">
              <a:lnSpc>
                <a:spcPct val="100000"/>
              </a:lnSpc>
              <a:spcAft>
                <a:spcPts val="600"/>
              </a:spcAft>
              <a:buClr>
                <a:srgbClr val="000000"/>
              </a:buClr>
              <a:buFont typeface="Arial"/>
              <a:buChar char="●"/>
              <a:tabLst>
                <a:tab pos="542290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dlopen()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Loads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shared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library.</a:t>
            </a:r>
            <a:endParaRPr sz="1800" dirty="0">
              <a:latin typeface="Arial MT"/>
              <a:cs typeface="Arial MT"/>
            </a:endParaRPr>
          </a:p>
          <a:p>
            <a:pPr marL="542290" marR="760095" indent="-367030">
              <a:lnSpc>
                <a:spcPct val="150000"/>
              </a:lnSpc>
              <a:spcAft>
                <a:spcPts val="600"/>
              </a:spcAft>
              <a:buClr>
                <a:srgbClr val="000000"/>
              </a:buClr>
              <a:buFont typeface="Arial"/>
              <a:buChar char="●"/>
              <a:tabLst>
                <a:tab pos="542290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dlsym()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Retrieves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function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from</a:t>
            </a:r>
            <a:r>
              <a:rPr sz="1800" spc="-2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shared library.</a:t>
            </a:r>
            <a:endParaRPr sz="1800" dirty="0">
              <a:latin typeface="Arial MT"/>
              <a:cs typeface="Arial MT"/>
            </a:endParaRPr>
          </a:p>
          <a:p>
            <a:pPr marL="542290" marR="1196975" indent="-367030">
              <a:lnSpc>
                <a:spcPct val="150000"/>
              </a:lnSpc>
              <a:buClr>
                <a:srgbClr val="000000"/>
              </a:buClr>
              <a:buFont typeface="Arial"/>
              <a:buChar char="●"/>
              <a:tabLst>
                <a:tab pos="542290" algn="l"/>
              </a:tabLst>
            </a:pPr>
            <a:r>
              <a:rPr sz="1800" b="1" dirty="0">
                <a:solidFill>
                  <a:srgbClr val="188037"/>
                </a:solidFill>
                <a:latin typeface="Courier New"/>
                <a:cs typeface="Courier New"/>
              </a:rPr>
              <a:t>dlclose()</a:t>
            </a:r>
            <a:r>
              <a:rPr sz="1800" dirty="0">
                <a:latin typeface="Arial MT"/>
                <a:cs typeface="Arial MT"/>
              </a:rPr>
              <a:t>: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Closes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and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frees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25" dirty="0">
                <a:latin typeface="Arial MT"/>
                <a:cs typeface="Arial MT"/>
              </a:rPr>
              <a:t>the </a:t>
            </a:r>
            <a:r>
              <a:rPr sz="1800" spc="-10" dirty="0">
                <a:latin typeface="Arial MT"/>
                <a:cs typeface="Arial MT"/>
              </a:rPr>
              <a:t>resources.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10375" y="1394846"/>
            <a:ext cx="4618825" cy="66255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100"/>
              </a:spcBef>
            </a:pPr>
            <a:r>
              <a:rPr dirty="0"/>
              <a:t>Manual</a:t>
            </a:r>
            <a:r>
              <a:rPr spc="-35" dirty="0"/>
              <a:t> </a:t>
            </a:r>
            <a:r>
              <a:rPr dirty="0"/>
              <a:t>Runtime</a:t>
            </a:r>
            <a:r>
              <a:rPr spc="-30" dirty="0"/>
              <a:t> </a:t>
            </a:r>
            <a:r>
              <a:rPr spc="-10" dirty="0"/>
              <a:t>Linking</a:t>
            </a:r>
          </a:p>
          <a:p>
            <a:pPr marL="12700">
              <a:lnSpc>
                <a:spcPts val="2060"/>
              </a:lnSpc>
            </a:pP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dlopen()</a:t>
            </a:r>
            <a:r>
              <a:rPr sz="2000" dirty="0">
                <a:solidFill>
                  <a:srgbClr val="000000"/>
                </a:solidFill>
                <a:latin typeface="Arial MT"/>
                <a:cs typeface="Arial MT"/>
              </a:rPr>
              <a:t>,</a:t>
            </a:r>
            <a:r>
              <a:rPr sz="2000" spc="-30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dlsym()</a:t>
            </a:r>
            <a:r>
              <a:rPr sz="2000" dirty="0">
                <a:solidFill>
                  <a:srgbClr val="000000"/>
                </a:solidFill>
                <a:latin typeface="Arial MT"/>
                <a:cs typeface="Arial MT"/>
              </a:rPr>
              <a:t>,</a:t>
            </a:r>
            <a:r>
              <a:rPr sz="2000" spc="-2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000" dirty="0">
                <a:solidFill>
                  <a:srgbClr val="000000"/>
                </a:solidFill>
                <a:latin typeface="Arial MT"/>
                <a:cs typeface="Arial MT"/>
              </a:rPr>
              <a:t>and</a:t>
            </a:r>
            <a:r>
              <a:rPr sz="2000" spc="-25" dirty="0">
                <a:solidFill>
                  <a:srgbClr val="000000"/>
                </a:solidFill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dlclose()</a:t>
            </a:r>
            <a:endParaRPr sz="2000" b="1" dirty="0">
              <a:latin typeface="Courier New"/>
              <a:cs typeface="Courier New"/>
            </a:endParaRPr>
          </a:p>
        </p:txBody>
      </p:sp>
      <p:pic>
        <p:nvPicPr>
          <p:cNvPr id="4" name="object 4" descr="C source code for mathlib.c containing the function definitions for add and subtract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422900" y="2364065"/>
            <a:ext cx="5181476" cy="2864757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422825" y="5310475"/>
            <a:ext cx="518160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 err="1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shared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 err="1">
                <a:solidFill>
                  <a:srgbClr val="A00C30"/>
                </a:solidFill>
                <a:latin typeface="Arial"/>
                <a:cs typeface="Arial"/>
              </a:rPr>
              <a:t>fPIC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libmath.so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 err="1">
                <a:solidFill>
                  <a:srgbClr val="A00C30"/>
                </a:solidFill>
                <a:latin typeface="Arial"/>
                <a:cs typeface="Arial"/>
              </a:rPr>
              <a:t>mathlib.c</a:t>
            </a:r>
            <a:endParaRPr sz="2000" dirty="0">
              <a:latin typeface="Arial"/>
              <a:cs typeface="Arial"/>
            </a:endParaRPr>
          </a:p>
        </p:txBody>
      </p:sp>
      <p:pic>
        <p:nvPicPr>
          <p:cNvPr id="2" name="object 2" descr="C code demonstrating manual dynamic loading using &lt;dlfcn.h&gt;, featuring dlopen to load a library and dlsym to obtain function pointers for add and subtract.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5812150" y="853475"/>
            <a:ext cx="5746800" cy="5329573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5812149" y="6277450"/>
            <a:ext cx="5747385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5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4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program_dynamic</a:t>
            </a:r>
            <a:r>
              <a:rPr sz="2000" b="1" spc="-5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main_dynamic.c</a:t>
            </a:r>
            <a:r>
              <a:rPr sz="2000" b="1" spc="-4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ldl</a:t>
            </a:r>
            <a:endParaRPr sz="2000" dirty="0">
              <a:latin typeface="Arial"/>
              <a:cs typeface="Arial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870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Shared</a:t>
            </a:r>
            <a:r>
              <a:rPr spc="-114" dirty="0"/>
              <a:t> </a:t>
            </a:r>
            <a:r>
              <a:rPr dirty="0"/>
              <a:t>Library</a:t>
            </a:r>
            <a:r>
              <a:rPr spc="-110" dirty="0"/>
              <a:t> </a:t>
            </a:r>
            <a:r>
              <a:rPr spc="-10" dirty="0"/>
              <a:t>Versioning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48650" y="2367733"/>
            <a:ext cx="5814695" cy="381040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>
              <a:lnSpc>
                <a:spcPct val="114999"/>
              </a:lnSpc>
              <a:spcBef>
                <a:spcPts val="100"/>
              </a:spcBef>
            </a:pPr>
            <a:r>
              <a:rPr sz="1800" dirty="0">
                <a:latin typeface="Arial MT"/>
                <a:cs typeface="Arial MT"/>
              </a:rPr>
              <a:t>When</a:t>
            </a:r>
            <a:r>
              <a:rPr sz="1800" spc="-2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you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create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shared</a:t>
            </a:r>
            <a:r>
              <a:rPr sz="1800" spc="-1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libraries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(</a:t>
            </a:r>
            <a:r>
              <a:rPr sz="1800" b="1" spc="-10" dirty="0">
                <a:solidFill>
                  <a:srgbClr val="188037"/>
                </a:solidFill>
                <a:latin typeface="Courier New"/>
                <a:cs typeface="Courier New"/>
              </a:rPr>
              <a:t>.so</a:t>
            </a:r>
            <a:r>
              <a:rPr sz="1800" spc="-585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1800" dirty="0">
                <a:latin typeface="Arial MT"/>
                <a:cs typeface="Arial MT"/>
              </a:rPr>
              <a:t>files),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it's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common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release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different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versions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over</a:t>
            </a:r>
            <a:r>
              <a:rPr sz="1800" spc="-3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time.</a:t>
            </a:r>
            <a:r>
              <a:rPr sz="1800" spc="-65" dirty="0">
                <a:latin typeface="Arial MT"/>
                <a:cs typeface="Arial MT"/>
              </a:rPr>
              <a:t> </a:t>
            </a:r>
            <a:r>
              <a:rPr sz="1800" spc="-35" dirty="0">
                <a:latin typeface="Arial MT"/>
                <a:cs typeface="Arial MT"/>
              </a:rPr>
              <a:t>You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might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update </a:t>
            </a:r>
            <a:r>
              <a:rPr sz="1800" dirty="0">
                <a:latin typeface="Arial MT"/>
                <a:cs typeface="Arial MT"/>
              </a:rPr>
              <a:t>the</a:t>
            </a:r>
            <a:r>
              <a:rPr sz="1800" spc="-30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library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to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fix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bugs,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add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features,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dirty="0">
                <a:latin typeface="Arial MT"/>
                <a:cs typeface="Arial MT"/>
              </a:rPr>
              <a:t>or</a:t>
            </a:r>
            <a:r>
              <a:rPr sz="1800" spc="-15" dirty="0">
                <a:latin typeface="Arial MT"/>
                <a:cs typeface="Arial MT"/>
              </a:rPr>
              <a:t> </a:t>
            </a:r>
            <a:r>
              <a:rPr sz="1800" spc="-10" dirty="0">
                <a:latin typeface="Arial MT"/>
                <a:cs typeface="Arial MT"/>
              </a:rPr>
              <a:t>optimize performance.</a:t>
            </a:r>
            <a:endParaRPr lang="en-US" sz="1800" spc="-10" dirty="0">
              <a:latin typeface="Arial MT"/>
              <a:cs typeface="Arial MT"/>
            </a:endParaRPr>
          </a:p>
          <a:p>
            <a:pPr marL="12700" marR="5080">
              <a:lnSpc>
                <a:spcPct val="114999"/>
              </a:lnSpc>
              <a:spcBef>
                <a:spcPts val="1200"/>
              </a:spcBef>
            </a:pPr>
            <a:r>
              <a:rPr lang="en-US" sz="1800" dirty="0">
                <a:latin typeface="Arial MT"/>
                <a:cs typeface="Arial MT"/>
              </a:rPr>
              <a:t>Shared</a:t>
            </a:r>
            <a:r>
              <a:rPr lang="en-US" sz="1800" spc="-40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library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versioning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allows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different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programs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to</a:t>
            </a:r>
            <a:r>
              <a:rPr lang="en-US" sz="1800" spc="-25" dirty="0">
                <a:latin typeface="Arial MT"/>
                <a:cs typeface="Arial MT"/>
              </a:rPr>
              <a:t> use </a:t>
            </a:r>
            <a:r>
              <a:rPr lang="en-US" sz="1800" dirty="0">
                <a:latin typeface="Arial MT"/>
                <a:cs typeface="Arial MT"/>
              </a:rPr>
              <a:t>different</a:t>
            </a:r>
            <a:r>
              <a:rPr lang="en-US" sz="1800" spc="-3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versions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of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the</a:t>
            </a:r>
            <a:r>
              <a:rPr lang="en-US" sz="1800" spc="-20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same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library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without</a:t>
            </a:r>
            <a:r>
              <a:rPr lang="en-US" sz="1800" spc="-20" dirty="0">
                <a:latin typeface="Arial MT"/>
                <a:cs typeface="Arial MT"/>
              </a:rPr>
              <a:t> </a:t>
            </a:r>
            <a:r>
              <a:rPr lang="en-US" sz="1800" spc="-10" dirty="0">
                <a:latin typeface="Arial MT"/>
                <a:cs typeface="Arial MT"/>
              </a:rPr>
              <a:t>conflicts.</a:t>
            </a:r>
            <a:endParaRPr lang="en-US" sz="1800" dirty="0">
              <a:latin typeface="Arial MT"/>
              <a:cs typeface="Arial MT"/>
            </a:endParaRPr>
          </a:p>
          <a:p>
            <a:pPr marL="12700" marR="539115">
              <a:lnSpc>
                <a:spcPct val="114999"/>
              </a:lnSpc>
              <a:spcBef>
                <a:spcPts val="1200"/>
              </a:spcBef>
            </a:pPr>
            <a:r>
              <a:rPr lang="en-US" sz="1800" b="1" dirty="0">
                <a:latin typeface="Arial"/>
                <a:cs typeface="Arial"/>
              </a:rPr>
              <a:t>Symbolic</a:t>
            </a:r>
            <a:r>
              <a:rPr lang="en-US" sz="1800" b="1" spc="-30" dirty="0">
                <a:latin typeface="Arial"/>
                <a:cs typeface="Arial"/>
              </a:rPr>
              <a:t> </a:t>
            </a:r>
            <a:r>
              <a:rPr lang="en-US" sz="1800" b="1" dirty="0">
                <a:latin typeface="Arial"/>
                <a:cs typeface="Arial"/>
              </a:rPr>
              <a:t>links</a:t>
            </a:r>
            <a:r>
              <a:rPr lang="en-US" sz="1800" b="1" spc="-20" dirty="0">
                <a:latin typeface="Arial"/>
                <a:cs typeface="Arial"/>
              </a:rPr>
              <a:t> </a:t>
            </a:r>
            <a:r>
              <a:rPr lang="en-US" sz="1800" b="1" dirty="0">
                <a:latin typeface="Arial"/>
                <a:cs typeface="Arial"/>
              </a:rPr>
              <a:t>(</a:t>
            </a:r>
            <a:r>
              <a:rPr lang="en-US" sz="1800" b="1" dirty="0" err="1">
                <a:latin typeface="Arial"/>
                <a:cs typeface="Arial"/>
              </a:rPr>
              <a:t>symlinks</a:t>
            </a:r>
            <a:r>
              <a:rPr lang="en-US" sz="1800" b="1" dirty="0">
                <a:latin typeface="Arial"/>
                <a:cs typeface="Arial"/>
              </a:rPr>
              <a:t>)</a:t>
            </a:r>
            <a:r>
              <a:rPr lang="en-US" sz="1800" b="1" spc="-10" dirty="0">
                <a:latin typeface="Arial"/>
                <a:cs typeface="Arial"/>
              </a:rPr>
              <a:t> </a:t>
            </a:r>
            <a:r>
              <a:rPr lang="en-US" sz="1800" dirty="0">
                <a:latin typeface="Arial MT"/>
                <a:cs typeface="Arial MT"/>
              </a:rPr>
              <a:t>are</a:t>
            </a:r>
            <a:r>
              <a:rPr lang="en-US" sz="1800" spc="-20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used</a:t>
            </a:r>
            <a:r>
              <a:rPr lang="en-US" sz="1800" spc="-1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to</a:t>
            </a:r>
            <a:r>
              <a:rPr lang="en-US" sz="1800" spc="-20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point</a:t>
            </a:r>
            <a:r>
              <a:rPr lang="en-US" sz="1800" spc="-20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to</a:t>
            </a:r>
            <a:r>
              <a:rPr lang="en-US" sz="1800" spc="-15" dirty="0">
                <a:latin typeface="Arial MT"/>
                <a:cs typeface="Arial MT"/>
              </a:rPr>
              <a:t> </a:t>
            </a:r>
            <a:r>
              <a:rPr lang="en-US" sz="1800" spc="-25" dirty="0">
                <a:latin typeface="Arial MT"/>
                <a:cs typeface="Arial MT"/>
              </a:rPr>
              <a:t>the </a:t>
            </a:r>
            <a:r>
              <a:rPr lang="en-US" sz="1800" dirty="0">
                <a:latin typeface="Arial MT"/>
                <a:cs typeface="Arial MT"/>
              </a:rPr>
              <a:t>correct</a:t>
            </a:r>
            <a:r>
              <a:rPr lang="en-US" sz="1800" spc="-30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version</a:t>
            </a:r>
            <a:r>
              <a:rPr lang="en-US" sz="1800" spc="-20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of</a:t>
            </a:r>
            <a:r>
              <a:rPr lang="en-US" sz="1800" spc="-1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the</a:t>
            </a:r>
            <a:r>
              <a:rPr lang="en-US" sz="1800" spc="-20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library</a:t>
            </a:r>
            <a:r>
              <a:rPr lang="en-US" sz="1800" spc="-20" dirty="0">
                <a:latin typeface="Arial MT"/>
                <a:cs typeface="Arial MT"/>
              </a:rPr>
              <a:t> </a:t>
            </a:r>
            <a:r>
              <a:rPr lang="en-US" sz="1800" spc="-10" dirty="0">
                <a:latin typeface="Arial MT"/>
                <a:cs typeface="Arial MT"/>
              </a:rPr>
              <a:t>dynamically,</a:t>
            </a:r>
            <a:r>
              <a:rPr lang="en-US" sz="1800" spc="-1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so</a:t>
            </a:r>
            <a:r>
              <a:rPr lang="en-US" sz="1800" spc="-20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you</a:t>
            </a:r>
            <a:r>
              <a:rPr lang="en-US" sz="1800" spc="-15" dirty="0">
                <a:latin typeface="Arial MT"/>
                <a:cs typeface="Arial MT"/>
              </a:rPr>
              <a:t> </a:t>
            </a:r>
            <a:r>
              <a:rPr lang="en-US" sz="1800" spc="-25" dirty="0">
                <a:latin typeface="Arial MT"/>
                <a:cs typeface="Arial MT"/>
              </a:rPr>
              <a:t>can </a:t>
            </a:r>
            <a:r>
              <a:rPr lang="en-US" sz="1800" dirty="0">
                <a:latin typeface="Arial MT"/>
                <a:cs typeface="Arial MT"/>
              </a:rPr>
              <a:t>update</a:t>
            </a:r>
            <a:r>
              <a:rPr lang="en-US" sz="1800" spc="-30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or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switch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versions</a:t>
            </a:r>
            <a:r>
              <a:rPr lang="en-US" sz="1800" spc="-30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without</a:t>
            </a:r>
            <a:r>
              <a:rPr lang="en-US" sz="1800" spc="-25" dirty="0">
                <a:latin typeface="Arial MT"/>
                <a:cs typeface="Arial MT"/>
              </a:rPr>
              <a:t> </a:t>
            </a:r>
            <a:r>
              <a:rPr lang="en-US" sz="1800" dirty="0">
                <a:latin typeface="Arial MT"/>
                <a:cs typeface="Arial MT"/>
              </a:rPr>
              <a:t>recompiling</a:t>
            </a:r>
            <a:r>
              <a:rPr lang="en-US" sz="1800" spc="-25" dirty="0">
                <a:latin typeface="Arial MT"/>
                <a:cs typeface="Arial MT"/>
              </a:rPr>
              <a:t> the </a:t>
            </a:r>
            <a:r>
              <a:rPr lang="en-US" sz="1800" spc="-10" dirty="0">
                <a:latin typeface="Arial MT"/>
                <a:cs typeface="Arial MT"/>
              </a:rPr>
              <a:t>program.</a:t>
            </a:r>
            <a:endParaRPr lang="en-US" sz="1800" dirty="0">
              <a:latin typeface="Arial MT"/>
              <a:cs typeface="Arial MT"/>
            </a:endParaRPr>
          </a:p>
          <a:p>
            <a:pPr marL="12700" marR="5080">
              <a:lnSpc>
                <a:spcPct val="114999"/>
              </a:lnSpc>
              <a:spcBef>
                <a:spcPts val="100"/>
              </a:spcBef>
            </a:pPr>
            <a:endParaRPr sz="1800" dirty="0">
              <a:latin typeface="Arial MT"/>
              <a:cs typeface="Arial MT"/>
            </a:endParaRPr>
          </a:p>
        </p:txBody>
      </p:sp>
      <p:pic>
        <p:nvPicPr>
          <p:cNvPr id="5" name="object 5" descr="A diagram explaining Semantic Versioning (SemVer) using the example &quot;4.7.6,&quot; breaking it down into Major Version (API breaks), Minor Version (no API breaks), and Patches (bug fixes)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014289" y="2699585"/>
            <a:ext cx="4498085" cy="2142263"/>
          </a:xfrm>
          <a:prstGeom prst="rect">
            <a:avLst/>
          </a:prstGeom>
        </p:spPr>
      </p:pic>
      <p:sp>
        <p:nvSpPr>
          <p:cNvPr id="6" name="object 6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 txBox="1"/>
          <p:nvPr/>
        </p:nvSpPr>
        <p:spPr>
          <a:xfrm>
            <a:off x="8173087" y="5394919"/>
            <a:ext cx="2457450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Image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credit</a:t>
            </a:r>
            <a:r>
              <a:rPr sz="1000" spc="-20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dirty="0">
                <a:solidFill>
                  <a:srgbClr val="0F2044"/>
                </a:solidFill>
                <a:latin typeface="Arial MT"/>
                <a:cs typeface="Arial MT"/>
              </a:rPr>
              <a:t>-</a:t>
            </a:r>
            <a:r>
              <a:rPr sz="1000" spc="-25" dirty="0">
                <a:solidFill>
                  <a:srgbClr val="0F2044"/>
                </a:solidFill>
                <a:latin typeface="Arial MT"/>
                <a:cs typeface="Arial MT"/>
              </a:rPr>
              <a:t> </a:t>
            </a:r>
            <a:r>
              <a:rPr sz="1000" spc="-10" dirty="0">
                <a:solidFill>
                  <a:srgbClr val="0F2044"/>
                </a:solidFill>
                <a:latin typeface="Arial MT"/>
                <a:cs typeface="Arial MT"/>
              </a:rPr>
              <a:t>https://kodein.hashnode.dev/</a:t>
            </a:r>
            <a:endParaRPr sz="100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870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Shared</a:t>
            </a:r>
            <a:r>
              <a:rPr spc="-114" dirty="0"/>
              <a:t> </a:t>
            </a:r>
            <a:r>
              <a:rPr dirty="0"/>
              <a:t>Library</a:t>
            </a:r>
            <a:r>
              <a:rPr spc="-110" dirty="0"/>
              <a:t> </a:t>
            </a:r>
            <a:r>
              <a:rPr spc="-10" dirty="0"/>
              <a:t>Versioning</a:t>
            </a:r>
          </a:p>
        </p:txBody>
      </p:sp>
      <p:pic>
        <p:nvPicPr>
          <p:cNvPr id="3" name="object 3" descr="C source code for libmath_v1.c with an add function that specifically prints &quot;libmath v1&quot; in its output.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395750" y="2409566"/>
            <a:ext cx="6915899" cy="225705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395749" y="4820249"/>
            <a:ext cx="691642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3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shared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fPIC</a:t>
            </a:r>
            <a:r>
              <a:rPr sz="2000" b="1" spc="-3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libmath.so.1.0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libmath_v1.c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10375" y="5560339"/>
            <a:ext cx="7309484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dirty="0">
                <a:latin typeface="Arial MT"/>
                <a:cs typeface="Arial MT"/>
              </a:rPr>
              <a:t>This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creates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version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b="1" dirty="0">
                <a:latin typeface="Arial"/>
                <a:cs typeface="Arial"/>
              </a:rPr>
              <a:t>1.0</a:t>
            </a:r>
            <a:r>
              <a:rPr sz="2000" b="1" spc="-35" dirty="0">
                <a:latin typeface="Arial"/>
                <a:cs typeface="Arial"/>
              </a:rPr>
              <a:t> </a:t>
            </a:r>
            <a:r>
              <a:rPr sz="2000" dirty="0">
                <a:latin typeface="Arial MT"/>
                <a:cs typeface="Arial MT"/>
              </a:rPr>
              <a:t>of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shared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library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libmath.so.1.0</a:t>
            </a:r>
            <a:r>
              <a:rPr sz="2000" spc="-10" dirty="0">
                <a:latin typeface="Arial MT"/>
                <a:cs typeface="Arial MT"/>
              </a:rPr>
              <a:t>.</a:t>
            </a:r>
            <a:endParaRPr sz="20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870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Shared</a:t>
            </a:r>
            <a:r>
              <a:rPr spc="-114" dirty="0"/>
              <a:t> </a:t>
            </a:r>
            <a:r>
              <a:rPr dirty="0"/>
              <a:t>Library</a:t>
            </a:r>
            <a:r>
              <a:rPr spc="-110" dirty="0"/>
              <a:t> </a:t>
            </a:r>
            <a:r>
              <a:rPr spc="-10" dirty="0"/>
              <a:t>Versioning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12999" y="2246356"/>
            <a:ext cx="749935" cy="2997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b="1" spc="-10" dirty="0">
                <a:solidFill>
                  <a:srgbClr val="0F2044"/>
                </a:solidFill>
                <a:latin typeface="Arial"/>
                <a:cs typeface="Arial"/>
              </a:rPr>
              <a:t>main.c</a:t>
            </a:r>
            <a:endParaRPr sz="1800">
              <a:latin typeface="Arial"/>
              <a:cs typeface="Arial"/>
            </a:endParaRPr>
          </a:p>
        </p:txBody>
      </p:sp>
      <p:pic>
        <p:nvPicPr>
          <p:cNvPr id="3" name="object 3" descr="C code for a main function that declares an external add function and calls it with arguments 5 and 3.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39975" y="2644172"/>
            <a:ext cx="5959524" cy="2643124"/>
          </a:xfrm>
          <a:prstGeom prst="rect">
            <a:avLst/>
          </a:prstGeom>
        </p:spPr>
      </p:pic>
      <p:sp>
        <p:nvSpPr>
          <p:cNvPr id="5" name="object 5"/>
          <p:cNvSpPr txBox="1"/>
          <p:nvPr/>
        </p:nvSpPr>
        <p:spPr>
          <a:xfrm>
            <a:off x="471950" y="5353649"/>
            <a:ext cx="6003925" cy="384080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program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main.c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L.</a:t>
            </a:r>
            <a:r>
              <a:rPr sz="2000" b="1" spc="-2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-lmath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962017" y="2848845"/>
            <a:ext cx="4641215" cy="2183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94335" marR="5080" indent="-382270">
              <a:lnSpc>
                <a:spcPct val="114999"/>
              </a:lnSpc>
              <a:spcBef>
                <a:spcPts val="100"/>
              </a:spcBef>
              <a:spcAft>
                <a:spcPts val="600"/>
              </a:spcAft>
              <a:buClr>
                <a:srgbClr val="000000"/>
              </a:buClr>
              <a:buFont typeface="Arial MT"/>
              <a:buChar char="●"/>
              <a:tabLst>
                <a:tab pos="394335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L.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7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This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tells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compiler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look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25" dirty="0">
                <a:latin typeface="Arial MT"/>
                <a:cs typeface="Arial MT"/>
              </a:rPr>
              <a:t>for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library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in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current</a:t>
            </a:r>
            <a:r>
              <a:rPr sz="2000" spc="-3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directory.</a:t>
            </a:r>
            <a:endParaRPr sz="2000" dirty="0">
              <a:latin typeface="Arial MT"/>
              <a:cs typeface="Arial MT"/>
            </a:endParaRPr>
          </a:p>
          <a:p>
            <a:pPr marL="394335" marR="29209" indent="-382270">
              <a:lnSpc>
                <a:spcPct val="114999"/>
              </a:lnSpc>
              <a:buClr>
                <a:srgbClr val="000000"/>
              </a:buClr>
              <a:buFont typeface="Arial MT"/>
              <a:buChar char="●"/>
              <a:tabLst>
                <a:tab pos="394335" algn="l"/>
              </a:tabLst>
            </a:pP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lmath</a:t>
            </a:r>
            <a:r>
              <a:rPr sz="2000" dirty="0">
                <a:latin typeface="Arial MT"/>
                <a:cs typeface="Arial MT"/>
              </a:rPr>
              <a:t>:</a:t>
            </a:r>
            <a:r>
              <a:rPr sz="2000" spc="-7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This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links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against </a:t>
            </a:r>
            <a:r>
              <a:rPr sz="2000" b="1" dirty="0">
                <a:solidFill>
                  <a:srgbClr val="188037"/>
                </a:solidFill>
                <a:latin typeface="Courier New"/>
                <a:cs typeface="Courier New"/>
              </a:rPr>
              <a:t>libmath.so</a:t>
            </a:r>
            <a:r>
              <a:rPr sz="2000" dirty="0">
                <a:latin typeface="Arial MT"/>
                <a:cs typeface="Arial MT"/>
              </a:rPr>
              <a:t>,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but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we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haven't</a:t>
            </a:r>
            <a:r>
              <a:rPr sz="2000" spc="-50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created </a:t>
            </a:r>
            <a:r>
              <a:rPr sz="2000" dirty="0">
                <a:latin typeface="Arial MT"/>
                <a:cs typeface="Arial MT"/>
              </a:rPr>
              <a:t>that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yet,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which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is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where</a:t>
            </a:r>
            <a:r>
              <a:rPr sz="2000" spc="-45" dirty="0">
                <a:latin typeface="Arial MT"/>
                <a:cs typeface="Arial MT"/>
              </a:rPr>
              <a:t> </a:t>
            </a:r>
            <a:r>
              <a:rPr sz="2000" spc="-10" dirty="0">
                <a:latin typeface="Arial MT"/>
                <a:cs typeface="Arial MT"/>
              </a:rPr>
              <a:t>symlinks </a:t>
            </a:r>
            <a:r>
              <a:rPr sz="2000" dirty="0">
                <a:latin typeface="Arial MT"/>
                <a:cs typeface="Arial MT"/>
              </a:rPr>
              <a:t>come</a:t>
            </a:r>
            <a:r>
              <a:rPr sz="2000" spc="-4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into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spc="-20" dirty="0">
                <a:latin typeface="Arial MT"/>
                <a:cs typeface="Arial MT"/>
              </a:rPr>
              <a:t>play.</a:t>
            </a:r>
            <a:endParaRPr sz="20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2870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Shared</a:t>
            </a:r>
            <a:r>
              <a:rPr spc="-114" dirty="0"/>
              <a:t> </a:t>
            </a:r>
            <a:r>
              <a:rPr dirty="0"/>
              <a:t>Library</a:t>
            </a:r>
            <a:r>
              <a:rPr spc="-110" dirty="0"/>
              <a:t> </a:t>
            </a:r>
            <a:r>
              <a:rPr spc="-10" dirty="0"/>
              <a:t>Versioning</a:t>
            </a:r>
          </a:p>
        </p:txBody>
      </p:sp>
      <p:pic>
        <p:nvPicPr>
          <p:cNvPr id="5" name="object 5" descr="C source code for libmath_v2.c showing an updated add function that prints &quot;libmath v2&quot; to the console.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95750" y="2410773"/>
            <a:ext cx="6915899" cy="2257076"/>
          </a:xfrm>
          <a:prstGeom prst="rect">
            <a:avLst/>
          </a:prstGeom>
        </p:spPr>
      </p:pic>
      <p:sp>
        <p:nvSpPr>
          <p:cNvPr id="3" name="object 3"/>
          <p:cNvSpPr txBox="1"/>
          <p:nvPr/>
        </p:nvSpPr>
        <p:spPr>
          <a:xfrm>
            <a:off x="395749" y="4820249"/>
            <a:ext cx="6916420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gcc</a:t>
            </a:r>
            <a:r>
              <a:rPr sz="2000" b="1" spc="-3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shared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fPIC</a:t>
            </a:r>
            <a:r>
              <a:rPr sz="2000" b="1" spc="-3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-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o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libmath.so.2.0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libmath_v2.c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10375" y="5560339"/>
            <a:ext cx="7309484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dirty="0">
                <a:latin typeface="Arial MT"/>
                <a:cs typeface="Arial MT"/>
              </a:rPr>
              <a:t>This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creates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version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b="1" dirty="0">
                <a:latin typeface="Arial"/>
                <a:cs typeface="Arial"/>
              </a:rPr>
              <a:t>2.0</a:t>
            </a:r>
            <a:r>
              <a:rPr sz="2000" b="1" spc="-35" dirty="0">
                <a:latin typeface="Arial"/>
                <a:cs typeface="Arial"/>
              </a:rPr>
              <a:t> </a:t>
            </a:r>
            <a:r>
              <a:rPr sz="2000" dirty="0">
                <a:latin typeface="Arial MT"/>
                <a:cs typeface="Arial MT"/>
              </a:rPr>
              <a:t>of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the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shared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library</a:t>
            </a:r>
            <a:r>
              <a:rPr sz="2000" spc="-2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libmath.so.2.0</a:t>
            </a:r>
            <a:r>
              <a:rPr sz="2000" spc="-10" dirty="0">
                <a:latin typeface="Arial MT"/>
                <a:cs typeface="Arial MT"/>
              </a:rPr>
              <a:t>.</a:t>
            </a:r>
            <a:endParaRPr sz="20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2900"/>
              </a:lnSpc>
              <a:spcBef>
                <a:spcPts val="100"/>
              </a:spcBef>
            </a:pPr>
            <a:r>
              <a:rPr dirty="0"/>
              <a:t>Shared</a:t>
            </a:r>
            <a:r>
              <a:rPr spc="-114" dirty="0"/>
              <a:t> </a:t>
            </a:r>
            <a:r>
              <a:rPr dirty="0"/>
              <a:t>Library</a:t>
            </a:r>
            <a:r>
              <a:rPr spc="-110" dirty="0"/>
              <a:t> </a:t>
            </a:r>
            <a:r>
              <a:rPr spc="-10" dirty="0"/>
              <a:t>Versioning</a:t>
            </a:r>
          </a:p>
          <a:p>
            <a:pPr marL="12700">
              <a:lnSpc>
                <a:spcPts val="2060"/>
              </a:lnSpc>
            </a:pPr>
            <a:r>
              <a:rPr sz="1800" dirty="0"/>
              <a:t>Create</a:t>
            </a:r>
            <a:r>
              <a:rPr sz="1800" spc="-55" dirty="0"/>
              <a:t> </a:t>
            </a:r>
            <a:r>
              <a:rPr sz="1800" dirty="0"/>
              <a:t>Symlinks</a:t>
            </a:r>
            <a:r>
              <a:rPr sz="1800" spc="-55" dirty="0"/>
              <a:t> </a:t>
            </a:r>
            <a:r>
              <a:rPr sz="1800" dirty="0"/>
              <a:t>for</a:t>
            </a:r>
            <a:r>
              <a:rPr sz="1800" spc="-50" dirty="0"/>
              <a:t> </a:t>
            </a:r>
            <a:r>
              <a:rPr sz="1800" spc="-10" dirty="0"/>
              <a:t>Versioning</a:t>
            </a:r>
            <a:endParaRPr sz="1800"/>
          </a:p>
        </p:txBody>
      </p:sp>
      <p:sp>
        <p:nvSpPr>
          <p:cNvPr id="3" name="object 3"/>
          <p:cNvSpPr txBox="1"/>
          <p:nvPr/>
        </p:nvSpPr>
        <p:spPr>
          <a:xfrm>
            <a:off x="656300" y="2289699"/>
            <a:ext cx="6003925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ln</a:t>
            </a:r>
            <a:r>
              <a:rPr sz="2000" b="1" spc="-4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-sf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libmath.so.1.0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libmath.so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type="body" idx="1"/>
          </p:nvPr>
        </p:nvSpPr>
        <p:spPr>
          <a:xfrm>
            <a:off x="637150" y="2971800"/>
            <a:ext cx="9444990" cy="1585690"/>
          </a:xfrm>
          <a:prstGeom prst="rect">
            <a:avLst/>
          </a:prstGeom>
        </p:spPr>
        <p:txBody>
          <a:bodyPr vert="horz" wrap="square" lIns="0" tIns="53975" rIns="0" bIns="0" rtlCol="0">
            <a:spAutoFit/>
          </a:bodyPr>
          <a:lstStyle/>
          <a:p>
            <a:pPr marL="469265" indent="-366395">
              <a:lnSpc>
                <a:spcPct val="100000"/>
              </a:lnSpc>
              <a:spcBef>
                <a:spcPts val="425"/>
              </a:spcBef>
              <a:spcAft>
                <a:spcPts val="600"/>
              </a:spcAft>
              <a:buClr>
                <a:srgbClr val="000000"/>
              </a:buClr>
              <a:buFont typeface="Arial"/>
              <a:buChar char="●"/>
              <a:tabLst>
                <a:tab pos="469265" algn="l"/>
              </a:tabLst>
            </a:pP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ln</a:t>
            </a:r>
            <a:r>
              <a:rPr b="1" spc="-10" dirty="0">
                <a:solidFill>
                  <a:srgbClr val="188037"/>
                </a:solidFill>
                <a:latin typeface="Courier New"/>
                <a:cs typeface="Courier New"/>
              </a:rPr>
              <a:t> -</a:t>
            </a: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sf</a:t>
            </a:r>
            <a:r>
              <a:rPr dirty="0"/>
              <a:t>:</a:t>
            </a:r>
            <a:r>
              <a:rPr spc="-10" dirty="0"/>
              <a:t> </a:t>
            </a:r>
            <a:r>
              <a:rPr dirty="0"/>
              <a:t>Creates</a:t>
            </a:r>
            <a:r>
              <a:rPr spc="-5" dirty="0"/>
              <a:t> </a:t>
            </a:r>
            <a:r>
              <a:rPr dirty="0"/>
              <a:t>a</a:t>
            </a:r>
            <a:r>
              <a:rPr spc="-5" dirty="0"/>
              <a:t> </a:t>
            </a:r>
            <a:r>
              <a:rPr dirty="0"/>
              <a:t>symbolic</a:t>
            </a:r>
            <a:r>
              <a:rPr spc="-5" dirty="0"/>
              <a:t> </a:t>
            </a:r>
            <a:r>
              <a:rPr dirty="0"/>
              <a:t>link</a:t>
            </a:r>
            <a:r>
              <a:rPr spc="-10" dirty="0"/>
              <a:t> (</a:t>
            </a:r>
            <a:r>
              <a:rPr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s</a:t>
            </a:r>
            <a:r>
              <a:rPr dirty="0"/>
              <a:t>)</a:t>
            </a:r>
            <a:r>
              <a:rPr spc="-5" dirty="0"/>
              <a:t> </a:t>
            </a:r>
            <a:r>
              <a:rPr dirty="0"/>
              <a:t>and</a:t>
            </a:r>
            <a:r>
              <a:rPr spc="-5" dirty="0"/>
              <a:t> </a:t>
            </a:r>
            <a:r>
              <a:rPr dirty="0"/>
              <a:t>forcefully</a:t>
            </a:r>
            <a:r>
              <a:rPr spc="-10" dirty="0"/>
              <a:t> </a:t>
            </a:r>
            <a:r>
              <a:rPr dirty="0"/>
              <a:t>replaces</a:t>
            </a:r>
            <a:r>
              <a:rPr spc="-5" dirty="0"/>
              <a:t> </a:t>
            </a:r>
            <a:r>
              <a:rPr dirty="0"/>
              <a:t>any</a:t>
            </a:r>
            <a:r>
              <a:rPr spc="-5" dirty="0"/>
              <a:t> </a:t>
            </a:r>
            <a:r>
              <a:rPr dirty="0"/>
              <a:t>existing</a:t>
            </a:r>
            <a:r>
              <a:rPr spc="-10" dirty="0"/>
              <a:t> </a:t>
            </a:r>
            <a:r>
              <a:rPr dirty="0"/>
              <a:t>link</a:t>
            </a:r>
            <a:r>
              <a:rPr spc="-5" dirty="0"/>
              <a:t> </a:t>
            </a:r>
            <a:r>
              <a:rPr spc="-10" dirty="0"/>
              <a:t>(</a:t>
            </a:r>
            <a:r>
              <a:rPr b="1" spc="-10" dirty="0">
                <a:solidFill>
                  <a:srgbClr val="188037"/>
                </a:solidFill>
                <a:latin typeface="Courier New"/>
                <a:cs typeface="Courier New"/>
              </a:rPr>
              <a:t>-</a:t>
            </a:r>
            <a:r>
              <a:rPr b="1" spc="-25" dirty="0">
                <a:solidFill>
                  <a:srgbClr val="188037"/>
                </a:solidFill>
                <a:latin typeface="Courier New"/>
                <a:cs typeface="Courier New"/>
              </a:rPr>
              <a:t>f</a:t>
            </a:r>
            <a:r>
              <a:rPr spc="-25" dirty="0"/>
              <a:t>).</a:t>
            </a:r>
          </a:p>
          <a:p>
            <a:pPr marL="469265" indent="-366395">
              <a:lnSpc>
                <a:spcPct val="100000"/>
              </a:lnSpc>
              <a:spcBef>
                <a:spcPts val="320"/>
              </a:spcBef>
              <a:spcAft>
                <a:spcPts val="600"/>
              </a:spcAft>
              <a:buClr>
                <a:srgbClr val="000000"/>
              </a:buClr>
              <a:buFont typeface="Arial"/>
              <a:buChar char="●"/>
              <a:tabLst>
                <a:tab pos="469265" algn="l"/>
              </a:tabLst>
            </a:pP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libmath.so</a:t>
            </a:r>
            <a:r>
              <a:rPr dirty="0"/>
              <a:t>:</a:t>
            </a:r>
            <a:r>
              <a:rPr spc="-70" dirty="0"/>
              <a:t> </a:t>
            </a:r>
            <a:r>
              <a:rPr dirty="0"/>
              <a:t>The</a:t>
            </a:r>
            <a:r>
              <a:rPr spc="-20" dirty="0"/>
              <a:t> </a:t>
            </a:r>
            <a:r>
              <a:rPr dirty="0"/>
              <a:t>name</a:t>
            </a:r>
            <a:r>
              <a:rPr spc="-25" dirty="0"/>
              <a:t> </a:t>
            </a:r>
            <a:r>
              <a:rPr dirty="0"/>
              <a:t>of</a:t>
            </a:r>
            <a:r>
              <a:rPr spc="-20" dirty="0"/>
              <a:t> </a:t>
            </a:r>
            <a:r>
              <a:rPr dirty="0"/>
              <a:t>the</a:t>
            </a:r>
            <a:r>
              <a:rPr spc="-20" dirty="0"/>
              <a:t> </a:t>
            </a:r>
            <a:r>
              <a:rPr spc="-10" dirty="0"/>
              <a:t>symlink.</a:t>
            </a:r>
          </a:p>
          <a:p>
            <a:pPr marL="469265" indent="-366395">
              <a:lnSpc>
                <a:spcPct val="100000"/>
              </a:lnSpc>
              <a:spcBef>
                <a:spcPts val="325"/>
              </a:spcBef>
              <a:buClr>
                <a:srgbClr val="000000"/>
              </a:buClr>
              <a:buFont typeface="Arial"/>
              <a:buChar char="●"/>
              <a:tabLst>
                <a:tab pos="469265" algn="l"/>
              </a:tabLst>
            </a:pPr>
            <a:r>
              <a:rPr b="1" dirty="0">
                <a:solidFill>
                  <a:srgbClr val="188037"/>
                </a:solidFill>
                <a:latin typeface="Courier New"/>
                <a:cs typeface="Courier New"/>
              </a:rPr>
              <a:t>libmath.so.1.0</a:t>
            </a:r>
            <a:r>
              <a:rPr dirty="0"/>
              <a:t>:</a:t>
            </a:r>
            <a:r>
              <a:rPr spc="-60" dirty="0"/>
              <a:t> </a:t>
            </a:r>
            <a:r>
              <a:rPr dirty="0"/>
              <a:t>The</a:t>
            </a:r>
            <a:r>
              <a:rPr spc="-20" dirty="0"/>
              <a:t> </a:t>
            </a:r>
            <a:r>
              <a:rPr dirty="0"/>
              <a:t>actual</a:t>
            </a:r>
            <a:r>
              <a:rPr spc="-20" dirty="0"/>
              <a:t> </a:t>
            </a:r>
            <a:r>
              <a:rPr dirty="0"/>
              <a:t>file</a:t>
            </a:r>
            <a:r>
              <a:rPr spc="-20" dirty="0"/>
              <a:t> </a:t>
            </a:r>
            <a:r>
              <a:rPr dirty="0"/>
              <a:t>to</a:t>
            </a:r>
            <a:r>
              <a:rPr spc="-25" dirty="0"/>
              <a:t> </a:t>
            </a:r>
            <a:r>
              <a:rPr dirty="0"/>
              <a:t>which</a:t>
            </a:r>
            <a:r>
              <a:rPr spc="-20" dirty="0"/>
              <a:t> </a:t>
            </a:r>
            <a:r>
              <a:rPr dirty="0"/>
              <a:t>the</a:t>
            </a:r>
            <a:r>
              <a:rPr spc="-20" dirty="0"/>
              <a:t> </a:t>
            </a:r>
            <a:r>
              <a:rPr dirty="0"/>
              <a:t>symlink</a:t>
            </a:r>
            <a:r>
              <a:rPr spc="-20" dirty="0"/>
              <a:t> </a:t>
            </a:r>
            <a:r>
              <a:rPr dirty="0"/>
              <a:t>points</a:t>
            </a:r>
            <a:r>
              <a:rPr spc="-20" dirty="0"/>
              <a:t> </a:t>
            </a:r>
            <a:r>
              <a:rPr dirty="0"/>
              <a:t>(version</a:t>
            </a:r>
            <a:r>
              <a:rPr spc="-25" dirty="0"/>
              <a:t> </a:t>
            </a:r>
            <a:r>
              <a:rPr dirty="0"/>
              <a:t>1.0</a:t>
            </a:r>
            <a:r>
              <a:rPr spc="-20" dirty="0"/>
              <a:t> </a:t>
            </a:r>
            <a:r>
              <a:rPr dirty="0"/>
              <a:t>of</a:t>
            </a:r>
            <a:r>
              <a:rPr spc="-20" dirty="0"/>
              <a:t> </a:t>
            </a:r>
            <a:r>
              <a:rPr dirty="0"/>
              <a:t>the</a:t>
            </a:r>
            <a:r>
              <a:rPr spc="-20" dirty="0"/>
              <a:t> </a:t>
            </a:r>
            <a:r>
              <a:rPr spc="-10" dirty="0"/>
              <a:t>library).</a:t>
            </a:r>
          </a:p>
          <a:p>
            <a:pPr marL="12700">
              <a:lnSpc>
                <a:spcPct val="100000"/>
              </a:lnSpc>
              <a:spcBef>
                <a:spcPts val="1525"/>
              </a:spcBef>
            </a:pPr>
            <a:r>
              <a:rPr dirty="0"/>
              <a:t>At</a:t>
            </a:r>
            <a:r>
              <a:rPr spc="-15" dirty="0"/>
              <a:t> </a:t>
            </a:r>
            <a:r>
              <a:rPr dirty="0"/>
              <a:t>this point,</a:t>
            </a:r>
            <a:r>
              <a:rPr spc="15" dirty="0"/>
              <a:t> </a:t>
            </a:r>
            <a:r>
              <a:rPr b="1" spc="-10" dirty="0">
                <a:solidFill>
                  <a:srgbClr val="188037"/>
                </a:solidFill>
                <a:latin typeface="Courier New"/>
                <a:cs typeface="Courier New"/>
              </a:rPr>
              <a:t>libmath.so</a:t>
            </a:r>
            <a:r>
              <a:rPr b="1" spc="-58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dirty="0"/>
              <a:t>points to</a:t>
            </a:r>
            <a:r>
              <a:rPr spc="5" dirty="0"/>
              <a:t> </a:t>
            </a:r>
            <a:r>
              <a:rPr b="1" spc="-10" dirty="0">
                <a:solidFill>
                  <a:srgbClr val="188037"/>
                </a:solidFill>
                <a:latin typeface="Courier New"/>
                <a:cs typeface="Courier New"/>
              </a:rPr>
              <a:t>libmath.so.1.0</a:t>
            </a:r>
            <a:r>
              <a:rPr spc="-1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F47889C-1366-3041-9985-1DDB3F645337}"/>
              </a:ext>
            </a:extLst>
          </p:cNvPr>
          <p:cNvSpPr txBox="1"/>
          <p:nvPr/>
        </p:nvSpPr>
        <p:spPr>
          <a:xfrm>
            <a:off x="631288" y="4876800"/>
            <a:ext cx="27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3970">
              <a:lnSpc>
                <a:spcPct val="100000"/>
              </a:lnSpc>
            </a:pPr>
            <a:r>
              <a:rPr lang="en-US" b="1" dirty="0">
                <a:solidFill>
                  <a:srgbClr val="0F2044"/>
                </a:solidFill>
                <a:latin typeface="Arial"/>
                <a:cs typeface="Arial"/>
              </a:rPr>
              <a:t>Update</a:t>
            </a:r>
            <a:r>
              <a:rPr lang="en-US" b="1" spc="-25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lang="en-US" b="1" dirty="0">
                <a:solidFill>
                  <a:srgbClr val="0F2044"/>
                </a:solidFill>
                <a:latin typeface="Arial"/>
                <a:cs typeface="Arial"/>
              </a:rPr>
              <a:t>the</a:t>
            </a:r>
            <a:r>
              <a:rPr lang="en-US" b="1" spc="-20" dirty="0">
                <a:solidFill>
                  <a:srgbClr val="0F2044"/>
                </a:solidFill>
                <a:latin typeface="Arial"/>
                <a:cs typeface="Arial"/>
              </a:rPr>
              <a:t> </a:t>
            </a:r>
            <a:r>
              <a:rPr lang="en-US" b="1" spc="-10" dirty="0" err="1">
                <a:solidFill>
                  <a:srgbClr val="0F2044"/>
                </a:solidFill>
                <a:latin typeface="Arial"/>
                <a:cs typeface="Arial"/>
              </a:rPr>
              <a:t>Symlink</a:t>
            </a:r>
            <a:endParaRPr lang="en-US" b="1" spc="-10" dirty="0">
              <a:solidFill>
                <a:srgbClr val="0F2044"/>
              </a:solidFill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56300" y="5413900"/>
            <a:ext cx="6003925" cy="492759"/>
          </a:xfrm>
          <a:prstGeom prst="rect">
            <a:avLst/>
          </a:prstGeom>
          <a:ln w="9524">
            <a:solidFill>
              <a:srgbClr val="000000"/>
            </a:solidFill>
          </a:ln>
        </p:spPr>
        <p:txBody>
          <a:bodyPr vert="horz" wrap="square" lIns="0" tIns="75565" rIns="0" bIns="0" rtlCol="0">
            <a:spAutoFit/>
          </a:bodyPr>
          <a:lstStyle/>
          <a:p>
            <a:pPr marL="85725">
              <a:lnSpc>
                <a:spcPct val="100000"/>
              </a:lnSpc>
              <a:spcBef>
                <a:spcPts val="595"/>
              </a:spcBef>
            </a:pP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ln</a:t>
            </a:r>
            <a:r>
              <a:rPr sz="2000" b="1" spc="-4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-sf</a:t>
            </a:r>
            <a:r>
              <a:rPr sz="2000" b="1" spc="-30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dirty="0">
                <a:solidFill>
                  <a:srgbClr val="A00C30"/>
                </a:solidFill>
                <a:latin typeface="Arial"/>
                <a:cs typeface="Arial"/>
              </a:rPr>
              <a:t>libmath.so.2.0</a:t>
            </a:r>
            <a:r>
              <a:rPr sz="2000" b="1" spc="-25" dirty="0">
                <a:solidFill>
                  <a:srgbClr val="A00C30"/>
                </a:solidFill>
                <a:latin typeface="Arial"/>
                <a:cs typeface="Arial"/>
              </a:rPr>
              <a:t> </a:t>
            </a:r>
            <a:r>
              <a:rPr sz="2000" b="1" spc="-10" dirty="0">
                <a:solidFill>
                  <a:srgbClr val="A00C30"/>
                </a:solidFill>
                <a:latin typeface="Arial"/>
                <a:cs typeface="Arial"/>
              </a:rPr>
              <a:t>libmath.so</a:t>
            </a:r>
            <a:endParaRPr sz="2000" dirty="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729325" y="6116715"/>
            <a:ext cx="5432425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000" dirty="0">
                <a:latin typeface="Arial MT"/>
                <a:cs typeface="Arial MT"/>
              </a:rPr>
              <a:t>Now</a:t>
            </a:r>
            <a:r>
              <a:rPr sz="2000" spc="-35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libmath.so</a:t>
            </a:r>
            <a:r>
              <a:rPr sz="2000" spc="-650" dirty="0">
                <a:solidFill>
                  <a:srgbClr val="188037"/>
                </a:solidFill>
                <a:latin typeface="Courier New"/>
                <a:cs typeface="Courier New"/>
              </a:rPr>
              <a:t> </a:t>
            </a:r>
            <a:r>
              <a:rPr sz="2000" dirty="0">
                <a:latin typeface="Arial MT"/>
                <a:cs typeface="Arial MT"/>
              </a:rPr>
              <a:t>points</a:t>
            </a:r>
            <a:r>
              <a:rPr sz="2000" spc="-20" dirty="0">
                <a:latin typeface="Arial MT"/>
                <a:cs typeface="Arial MT"/>
              </a:rPr>
              <a:t> </a:t>
            </a:r>
            <a:r>
              <a:rPr sz="2000" dirty="0">
                <a:latin typeface="Arial MT"/>
                <a:cs typeface="Arial MT"/>
              </a:rPr>
              <a:t>to</a:t>
            </a:r>
            <a:r>
              <a:rPr sz="2000" spc="-10" dirty="0">
                <a:latin typeface="Arial MT"/>
                <a:cs typeface="Arial MT"/>
              </a:rPr>
              <a:t> </a:t>
            </a:r>
            <a:r>
              <a:rPr sz="2000" b="1" spc="-10" dirty="0">
                <a:solidFill>
                  <a:srgbClr val="188037"/>
                </a:solidFill>
                <a:latin typeface="Courier New"/>
                <a:cs typeface="Courier New"/>
              </a:rPr>
              <a:t>libmath.so.2.0</a:t>
            </a:r>
            <a:r>
              <a:rPr sz="2000" spc="-10" dirty="0">
                <a:latin typeface="Arial MT"/>
                <a:cs typeface="Arial MT"/>
              </a:rPr>
              <a:t>.</a:t>
            </a:r>
            <a:endParaRPr sz="20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410375" y="1524000"/>
            <a:ext cx="5901055" cy="4064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Why</a:t>
            </a:r>
            <a:r>
              <a:rPr spc="-55" dirty="0"/>
              <a:t> </a:t>
            </a:r>
            <a:r>
              <a:rPr dirty="0"/>
              <a:t>Is</a:t>
            </a:r>
            <a:r>
              <a:rPr spc="-55" dirty="0"/>
              <a:t> </a:t>
            </a:r>
            <a:r>
              <a:rPr dirty="0"/>
              <a:t>This</a:t>
            </a:r>
            <a:r>
              <a:rPr spc="-55" dirty="0"/>
              <a:t> </a:t>
            </a:r>
            <a:r>
              <a:rPr dirty="0"/>
              <a:t>Different</a:t>
            </a:r>
            <a:r>
              <a:rPr spc="-55" dirty="0"/>
              <a:t> </a:t>
            </a:r>
            <a:r>
              <a:rPr dirty="0"/>
              <a:t>From</a:t>
            </a:r>
            <a:r>
              <a:rPr spc="-55" dirty="0"/>
              <a:t> </a:t>
            </a:r>
            <a:r>
              <a:rPr spc="-10" dirty="0"/>
              <a:t>Recompiling?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565949" y="2144714"/>
            <a:ext cx="5828030" cy="4431983"/>
          </a:xfrm>
          <a:prstGeom prst="rect">
            <a:avLst/>
          </a:prstGeom>
          <a:ln w="19049">
            <a:solidFill>
              <a:srgbClr val="980000"/>
            </a:solidFill>
          </a:ln>
        </p:spPr>
        <p:txBody>
          <a:bodyPr vert="horz" wrap="square" lIns="0" tIns="76200" rIns="0" bIns="0" rtlCol="0">
            <a:spAutoFit/>
          </a:bodyPr>
          <a:lstStyle/>
          <a:p>
            <a:pPr marL="542290" indent="-366395">
              <a:lnSpc>
                <a:spcPct val="100000"/>
              </a:lnSpc>
              <a:spcBef>
                <a:spcPts val="600"/>
              </a:spcBef>
              <a:spcAft>
                <a:spcPts val="600"/>
              </a:spcAft>
              <a:buChar char="●"/>
              <a:tabLst>
                <a:tab pos="542290" algn="l"/>
              </a:tabLst>
            </a:pP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When</a:t>
            </a:r>
            <a:r>
              <a:rPr sz="1800" spc="-3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a</a:t>
            </a:r>
            <a:r>
              <a:rPr sz="1800" spc="-1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statically</a:t>
            </a:r>
            <a:r>
              <a:rPr sz="1800" spc="-1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linked</a:t>
            </a:r>
            <a:r>
              <a:rPr sz="1800" spc="-1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library</a:t>
            </a:r>
            <a:r>
              <a:rPr sz="1800" spc="-1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is</a:t>
            </a:r>
            <a:r>
              <a:rPr sz="1800" spc="-1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updated,</a:t>
            </a:r>
            <a:r>
              <a:rPr sz="1800" spc="-1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980000"/>
                </a:solidFill>
                <a:latin typeface="Arial MT"/>
                <a:cs typeface="Arial MT"/>
              </a:rPr>
              <a:t>any</a:t>
            </a:r>
            <a:endParaRPr sz="1800" dirty="0">
              <a:latin typeface="Arial MT"/>
              <a:cs typeface="Arial MT"/>
            </a:endParaRPr>
          </a:p>
          <a:p>
            <a:pPr marL="542925" marR="247015">
              <a:lnSpc>
                <a:spcPct val="150000"/>
              </a:lnSpc>
              <a:spcAft>
                <a:spcPts val="600"/>
              </a:spcAft>
            </a:pP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executable</a:t>
            </a:r>
            <a:r>
              <a:rPr sz="18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that</a:t>
            </a:r>
            <a:r>
              <a:rPr sz="1800" spc="-1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uses</a:t>
            </a:r>
            <a:r>
              <a:rPr sz="18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that</a:t>
            </a:r>
            <a:r>
              <a:rPr sz="1800" spc="-1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library</a:t>
            </a:r>
            <a:r>
              <a:rPr sz="1800" spc="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must</a:t>
            </a:r>
            <a:r>
              <a:rPr sz="1800" b="1" spc="-1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25" dirty="0">
                <a:solidFill>
                  <a:srgbClr val="980000"/>
                </a:solidFill>
                <a:latin typeface="Arial"/>
                <a:cs typeface="Arial"/>
              </a:rPr>
              <a:t>be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recompiled</a:t>
            </a:r>
            <a:r>
              <a:rPr sz="1800" b="1" spc="-4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and</a:t>
            </a:r>
            <a:r>
              <a:rPr sz="1800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re-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linked</a:t>
            </a:r>
            <a:r>
              <a:rPr sz="1800" b="1" spc="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to</a:t>
            </a:r>
            <a:r>
              <a:rPr sz="1800" spc="-2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incorporate</a:t>
            </a:r>
            <a:r>
              <a:rPr sz="1800" spc="-2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the</a:t>
            </a:r>
            <a:r>
              <a:rPr sz="1800" spc="-25" dirty="0">
                <a:solidFill>
                  <a:srgbClr val="980000"/>
                </a:solidFill>
                <a:latin typeface="Arial MT"/>
                <a:cs typeface="Arial MT"/>
              </a:rPr>
              <a:t> new 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version.</a:t>
            </a:r>
            <a:endParaRPr sz="1800" dirty="0">
              <a:latin typeface="Arial MT"/>
              <a:cs typeface="Arial MT"/>
            </a:endParaRPr>
          </a:p>
          <a:p>
            <a:pPr marL="542925" marR="436880" indent="-367030">
              <a:lnSpc>
                <a:spcPct val="150000"/>
              </a:lnSpc>
              <a:spcAft>
                <a:spcPts val="600"/>
              </a:spcAft>
              <a:buChar char="●"/>
              <a:tabLst>
                <a:tab pos="542925" algn="l"/>
              </a:tabLst>
            </a:pP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This</a:t>
            </a:r>
            <a:r>
              <a:rPr sz="18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means</a:t>
            </a:r>
            <a:r>
              <a:rPr sz="18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creating</a:t>
            </a:r>
            <a:r>
              <a:rPr sz="18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a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new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executable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file</a:t>
            </a:r>
            <a:r>
              <a:rPr sz="1800" b="1" spc="-1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spc="-20" dirty="0">
                <a:solidFill>
                  <a:srgbClr val="980000"/>
                </a:solidFill>
                <a:latin typeface="Arial MT"/>
                <a:cs typeface="Arial MT"/>
              </a:rPr>
              <a:t>that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now</a:t>
            </a:r>
            <a:r>
              <a:rPr sz="1800" spc="-2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includes</a:t>
            </a:r>
            <a:r>
              <a:rPr sz="1800" spc="-1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updated</a:t>
            </a:r>
            <a:r>
              <a:rPr sz="1800" spc="-1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library</a:t>
            </a:r>
            <a:r>
              <a:rPr sz="1800" spc="-1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code.</a:t>
            </a:r>
            <a:endParaRPr sz="1800" dirty="0">
              <a:latin typeface="Arial MT"/>
              <a:cs typeface="Arial MT"/>
            </a:endParaRPr>
          </a:p>
          <a:p>
            <a:pPr marL="542290" indent="-366395">
              <a:lnSpc>
                <a:spcPct val="100000"/>
              </a:lnSpc>
              <a:spcBef>
                <a:spcPts val="1080"/>
              </a:spcBef>
              <a:spcAft>
                <a:spcPts val="600"/>
              </a:spcAft>
              <a:buChar char="●"/>
              <a:tabLst>
                <a:tab pos="542290" algn="l"/>
              </a:tabLst>
            </a:pP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If</a:t>
            </a:r>
            <a:r>
              <a:rPr sz="1800" spc="-3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file.a</a:t>
            </a:r>
            <a:r>
              <a:rPr sz="1800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changes,</a:t>
            </a:r>
            <a:r>
              <a:rPr sz="1800" spc="-2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we</a:t>
            </a:r>
            <a:r>
              <a:rPr sz="1800" spc="-2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must</a:t>
            </a:r>
            <a:r>
              <a:rPr sz="1800" spc="-2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rerun</a:t>
            </a:r>
            <a:r>
              <a:rPr sz="1800" spc="-2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the</a:t>
            </a:r>
            <a:r>
              <a:rPr sz="1800" spc="-2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compilation</a:t>
            </a:r>
            <a:r>
              <a:rPr sz="1800" spc="-25" dirty="0">
                <a:solidFill>
                  <a:srgbClr val="980000"/>
                </a:solidFill>
                <a:latin typeface="Arial MT"/>
                <a:cs typeface="Arial MT"/>
              </a:rPr>
              <a:t> for</a:t>
            </a:r>
            <a:endParaRPr sz="1800" dirty="0">
              <a:latin typeface="Arial MT"/>
              <a:cs typeface="Arial MT"/>
            </a:endParaRPr>
          </a:p>
          <a:p>
            <a:pPr marL="542925">
              <a:lnSpc>
                <a:spcPct val="100000"/>
              </a:lnSpc>
              <a:spcBef>
                <a:spcPts val="1080"/>
              </a:spcBef>
              <a:spcAft>
                <a:spcPts val="600"/>
              </a:spcAft>
            </a:pP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my_program</a:t>
            </a:r>
            <a:r>
              <a:rPr sz="1800" b="1" spc="-2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to</a:t>
            </a:r>
            <a:r>
              <a:rPr sz="18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use</a:t>
            </a:r>
            <a:r>
              <a:rPr sz="18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new</a:t>
            </a:r>
            <a:r>
              <a:rPr sz="1800" spc="-2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library</a:t>
            </a:r>
            <a:r>
              <a:rPr sz="1800" spc="-1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version.</a:t>
            </a:r>
            <a:endParaRPr sz="1800" dirty="0">
              <a:latin typeface="Arial MT"/>
              <a:cs typeface="Arial MT"/>
            </a:endParaRPr>
          </a:p>
          <a:p>
            <a:pPr marL="542925" marR="539750" indent="-367030">
              <a:lnSpc>
                <a:spcPct val="150000"/>
              </a:lnSpc>
              <a:buChar char="●"/>
              <a:tabLst>
                <a:tab pos="542925" algn="l"/>
              </a:tabLst>
            </a:pP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Need</a:t>
            </a:r>
            <a:r>
              <a:rPr sz="1800" spc="-30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to</a:t>
            </a:r>
            <a:r>
              <a:rPr sz="1800" spc="-2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rebuild</a:t>
            </a:r>
            <a:r>
              <a:rPr sz="1800" b="1" spc="-15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and</a:t>
            </a:r>
            <a:r>
              <a:rPr sz="1800" spc="-2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980000"/>
                </a:solidFill>
                <a:latin typeface="Arial"/>
                <a:cs typeface="Arial"/>
              </a:rPr>
              <a:t>redistribute</a:t>
            </a:r>
            <a:r>
              <a:rPr sz="1800" b="1" spc="-20" dirty="0">
                <a:solidFill>
                  <a:srgbClr val="980000"/>
                </a:solidFill>
                <a:latin typeface="Arial"/>
                <a:cs typeface="Arial"/>
              </a:rPr>
              <a:t> 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executables,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making</a:t>
            </a:r>
            <a:r>
              <a:rPr sz="1800" spc="-1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updates</a:t>
            </a:r>
            <a:r>
              <a:rPr sz="1800" spc="-1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much</a:t>
            </a:r>
            <a:r>
              <a:rPr sz="1800" spc="-1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980000"/>
                </a:solidFill>
                <a:latin typeface="Arial MT"/>
                <a:cs typeface="Arial MT"/>
              </a:rPr>
              <a:t>less</a:t>
            </a:r>
            <a:r>
              <a:rPr sz="1800" spc="-15" dirty="0">
                <a:solidFill>
                  <a:srgbClr val="980000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980000"/>
                </a:solidFill>
                <a:latin typeface="Arial MT"/>
                <a:cs typeface="Arial MT"/>
              </a:rPr>
              <a:t>efficient.</a:t>
            </a:r>
            <a:endParaRPr sz="1800" dirty="0">
              <a:latin typeface="Arial MT"/>
              <a:cs typeface="Arial MT"/>
            </a:endParaRPr>
          </a:p>
        </p:txBody>
      </p:sp>
      <p:sp>
        <p:nvSpPr>
          <p:cNvPr id="2" name="object 2">
            <a:extLs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6504024" y="1140078"/>
            <a:ext cx="5486400" cy="5448935"/>
          </a:xfrm>
          <a:custGeom>
            <a:avLst/>
            <a:gdLst/>
            <a:ahLst/>
            <a:cxnLst/>
            <a:rect l="l" t="t" r="r" b="b"/>
            <a:pathLst>
              <a:path w="5486400" h="5448935">
                <a:moveTo>
                  <a:pt x="0" y="0"/>
                </a:moveTo>
                <a:lnTo>
                  <a:pt x="5486399" y="0"/>
                </a:lnTo>
                <a:lnTo>
                  <a:pt x="5486399" y="5448899"/>
                </a:lnTo>
                <a:lnTo>
                  <a:pt x="0" y="5448899"/>
                </a:lnTo>
                <a:lnTo>
                  <a:pt x="0" y="0"/>
                </a:lnTo>
                <a:close/>
              </a:path>
            </a:pathLst>
          </a:custGeom>
          <a:ln w="19049">
            <a:solidFill>
              <a:srgbClr val="1B4587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/>
          <p:nvPr/>
        </p:nvSpPr>
        <p:spPr>
          <a:xfrm>
            <a:off x="6667575" y="1066800"/>
            <a:ext cx="5219700" cy="5516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79095" marR="265430" indent="-367030">
              <a:lnSpc>
                <a:spcPct val="150000"/>
              </a:lnSpc>
              <a:spcBef>
                <a:spcPts val="100"/>
              </a:spcBef>
              <a:spcAft>
                <a:spcPts val="600"/>
              </a:spcAft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In</a:t>
            </a:r>
            <a:r>
              <a:rPr sz="1800" spc="-2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dynamic</a:t>
            </a:r>
            <a:r>
              <a:rPr sz="1800" spc="47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linking,</a:t>
            </a:r>
            <a:r>
              <a:rPr sz="1800" spc="-1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When</a:t>
            </a:r>
            <a:r>
              <a:rPr sz="1800" spc="-1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a</a:t>
            </a:r>
            <a:r>
              <a:rPr sz="1800" spc="-1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shared</a:t>
            </a:r>
            <a:r>
              <a:rPr sz="1800" spc="-1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library</a:t>
            </a:r>
            <a:r>
              <a:rPr sz="1800" spc="-1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1155CC"/>
                </a:solidFill>
                <a:latin typeface="Arial MT"/>
                <a:cs typeface="Arial MT"/>
              </a:rPr>
              <a:t>is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updated,</a:t>
            </a:r>
            <a:r>
              <a:rPr sz="1800" spc="-4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we</a:t>
            </a:r>
            <a:r>
              <a:rPr sz="1800" spc="-1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typically</a:t>
            </a:r>
            <a:r>
              <a:rPr sz="1800" spc="-1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just</a:t>
            </a:r>
            <a:r>
              <a:rPr sz="1800" spc="-1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replace</a:t>
            </a:r>
            <a:r>
              <a:rPr sz="1800" spc="-1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the</a:t>
            </a:r>
            <a:r>
              <a:rPr sz="1800" spc="1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1155CC"/>
                </a:solidFill>
                <a:latin typeface="Courier New"/>
                <a:cs typeface="Courier New"/>
              </a:rPr>
              <a:t>.so</a:t>
            </a:r>
            <a:r>
              <a:rPr sz="1800" spc="-585" dirty="0">
                <a:solidFill>
                  <a:srgbClr val="1155CC"/>
                </a:solidFill>
                <a:latin typeface="Courier New"/>
                <a:cs typeface="Courier New"/>
              </a:rPr>
              <a:t> </a:t>
            </a:r>
            <a:r>
              <a:rPr sz="1800" spc="-20" dirty="0">
                <a:solidFill>
                  <a:srgbClr val="1155CC"/>
                </a:solidFill>
                <a:latin typeface="Arial MT"/>
                <a:cs typeface="Arial MT"/>
              </a:rPr>
              <a:t>file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(or</a:t>
            </a:r>
            <a:r>
              <a:rPr sz="1800" spc="-2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change</a:t>
            </a:r>
            <a:r>
              <a:rPr sz="1800" spc="-1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a</a:t>
            </a:r>
            <a:r>
              <a:rPr sz="1800" spc="-1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symbolic</a:t>
            </a:r>
            <a:r>
              <a:rPr sz="1800" spc="-1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link</a:t>
            </a:r>
            <a:r>
              <a:rPr sz="1800" spc="-1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to</a:t>
            </a:r>
            <a:r>
              <a:rPr sz="1800" spc="-1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point</a:t>
            </a:r>
            <a:r>
              <a:rPr sz="1800" spc="-1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to</a:t>
            </a:r>
            <a:r>
              <a:rPr sz="1800" spc="-1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a</a:t>
            </a:r>
            <a:r>
              <a:rPr sz="1800" spc="-1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1155CC"/>
                </a:solidFill>
                <a:latin typeface="Arial MT"/>
                <a:cs typeface="Arial MT"/>
              </a:rPr>
              <a:t>new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version),</a:t>
            </a:r>
            <a:r>
              <a:rPr sz="1800" spc="-3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and</a:t>
            </a:r>
            <a:r>
              <a:rPr sz="1800" spc="-1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b="1" dirty="0">
                <a:solidFill>
                  <a:srgbClr val="1155CC"/>
                </a:solidFill>
                <a:latin typeface="Arial"/>
                <a:cs typeface="Arial"/>
              </a:rPr>
              <a:t>all</a:t>
            </a:r>
            <a:r>
              <a:rPr sz="1800" b="1" spc="-30" dirty="0">
                <a:solidFill>
                  <a:srgbClr val="1155CC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1155CC"/>
                </a:solidFill>
                <a:latin typeface="Arial"/>
                <a:cs typeface="Arial"/>
              </a:rPr>
              <a:t>executables</a:t>
            </a:r>
            <a:r>
              <a:rPr sz="1800" b="1" spc="-30" dirty="0">
                <a:solidFill>
                  <a:srgbClr val="1155CC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1155CC"/>
                </a:solidFill>
                <a:latin typeface="Arial"/>
                <a:cs typeface="Arial"/>
              </a:rPr>
              <a:t>using</a:t>
            </a:r>
            <a:r>
              <a:rPr sz="1800" b="1" spc="-30" dirty="0">
                <a:solidFill>
                  <a:srgbClr val="1155CC"/>
                </a:solidFill>
                <a:latin typeface="Arial"/>
                <a:cs typeface="Arial"/>
              </a:rPr>
              <a:t> </a:t>
            </a:r>
            <a:r>
              <a:rPr sz="1800" b="1" spc="-20" dirty="0">
                <a:solidFill>
                  <a:srgbClr val="1155CC"/>
                </a:solidFill>
                <a:latin typeface="Arial"/>
                <a:cs typeface="Arial"/>
              </a:rPr>
              <a:t>that </a:t>
            </a:r>
            <a:r>
              <a:rPr sz="1800" b="1" dirty="0">
                <a:solidFill>
                  <a:srgbClr val="1155CC"/>
                </a:solidFill>
                <a:latin typeface="Arial"/>
                <a:cs typeface="Arial"/>
              </a:rPr>
              <a:t>library</a:t>
            </a:r>
            <a:r>
              <a:rPr sz="1800" b="1" spc="-30" dirty="0">
                <a:solidFill>
                  <a:srgbClr val="1155CC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1155CC"/>
                </a:solidFill>
                <a:latin typeface="Arial"/>
                <a:cs typeface="Arial"/>
              </a:rPr>
              <a:t>automatically</a:t>
            </a:r>
            <a:r>
              <a:rPr sz="1800" b="1" spc="-30" dirty="0">
                <a:solidFill>
                  <a:srgbClr val="1155CC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1155CC"/>
                </a:solidFill>
                <a:latin typeface="Arial"/>
                <a:cs typeface="Arial"/>
              </a:rPr>
              <a:t>use</a:t>
            </a:r>
            <a:r>
              <a:rPr sz="1800" b="1" spc="-30" dirty="0">
                <a:solidFill>
                  <a:srgbClr val="1155CC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1155CC"/>
                </a:solidFill>
                <a:latin typeface="Arial"/>
                <a:cs typeface="Arial"/>
              </a:rPr>
              <a:t>the</a:t>
            </a:r>
            <a:r>
              <a:rPr sz="1800" b="1" spc="-30" dirty="0">
                <a:solidFill>
                  <a:srgbClr val="1155CC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1155CC"/>
                </a:solidFill>
                <a:latin typeface="Arial"/>
                <a:cs typeface="Arial"/>
              </a:rPr>
              <a:t>new</a:t>
            </a:r>
            <a:r>
              <a:rPr sz="1800" b="1" spc="-25" dirty="0">
                <a:solidFill>
                  <a:srgbClr val="1155CC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1155CC"/>
                </a:solidFill>
                <a:latin typeface="Arial"/>
                <a:cs typeface="Arial"/>
              </a:rPr>
              <a:t>version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without</a:t>
            </a:r>
            <a:r>
              <a:rPr sz="1800" spc="-3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1155CC"/>
                </a:solidFill>
                <a:latin typeface="Arial MT"/>
                <a:cs typeface="Arial MT"/>
              </a:rPr>
              <a:t>recompilation.</a:t>
            </a:r>
            <a:endParaRPr sz="1800" dirty="0">
              <a:latin typeface="Arial MT"/>
              <a:cs typeface="Arial MT"/>
            </a:endParaRPr>
          </a:p>
          <a:p>
            <a:pPr marL="379095" marR="5080" indent="-367030">
              <a:lnSpc>
                <a:spcPct val="150000"/>
              </a:lnSpc>
              <a:spcAft>
                <a:spcPts val="600"/>
              </a:spcAft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The</a:t>
            </a:r>
            <a:r>
              <a:rPr sz="1800" spc="-3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executable</a:t>
            </a:r>
            <a:r>
              <a:rPr sz="1800" spc="-2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dynamically</a:t>
            </a:r>
            <a:r>
              <a:rPr sz="1800" spc="-1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loads</a:t>
            </a:r>
            <a:r>
              <a:rPr sz="1800" spc="-2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1155CC"/>
                </a:solidFill>
                <a:latin typeface="Arial MT"/>
                <a:cs typeface="Arial MT"/>
              </a:rPr>
              <a:t>new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version</a:t>
            </a:r>
            <a:r>
              <a:rPr sz="1800" spc="-3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of</a:t>
            </a:r>
            <a:r>
              <a:rPr sz="1800" spc="-2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library</a:t>
            </a:r>
            <a:r>
              <a:rPr sz="1800" spc="-2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at </a:t>
            </a:r>
            <a:r>
              <a:rPr sz="1800" b="1" dirty="0">
                <a:solidFill>
                  <a:srgbClr val="1155CC"/>
                </a:solidFill>
                <a:latin typeface="Arial"/>
                <a:cs typeface="Arial"/>
              </a:rPr>
              <a:t>runtime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,</a:t>
            </a:r>
            <a:r>
              <a:rPr sz="1800" spc="-2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the</a:t>
            </a:r>
            <a:r>
              <a:rPr sz="1800" spc="-1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1155CC"/>
                </a:solidFill>
                <a:latin typeface="Arial MT"/>
                <a:cs typeface="Arial MT"/>
              </a:rPr>
              <a:t>executable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remains </a:t>
            </a:r>
            <a:r>
              <a:rPr sz="1800" b="1" spc="-10" dirty="0">
                <a:solidFill>
                  <a:srgbClr val="1155CC"/>
                </a:solidFill>
                <a:latin typeface="Arial"/>
                <a:cs typeface="Arial"/>
              </a:rPr>
              <a:t>unchanged</a:t>
            </a:r>
            <a:r>
              <a:rPr sz="1800" spc="-10" dirty="0">
                <a:solidFill>
                  <a:srgbClr val="1155CC"/>
                </a:solidFill>
                <a:latin typeface="Arial MT"/>
                <a:cs typeface="Arial MT"/>
              </a:rPr>
              <a:t>.</a:t>
            </a:r>
            <a:endParaRPr sz="1800" dirty="0">
              <a:latin typeface="Arial MT"/>
              <a:cs typeface="Arial MT"/>
            </a:endParaRPr>
          </a:p>
          <a:p>
            <a:pPr marL="379095" marR="214629" indent="-367030">
              <a:lnSpc>
                <a:spcPct val="150000"/>
              </a:lnSpc>
              <a:buChar char="●"/>
              <a:tabLst>
                <a:tab pos="379095" algn="l"/>
              </a:tabLst>
            </a:pP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Once</a:t>
            </a:r>
            <a:r>
              <a:rPr sz="1800" spc="-3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the</a:t>
            </a:r>
            <a:r>
              <a:rPr sz="1800" spc="-2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shared</a:t>
            </a:r>
            <a:r>
              <a:rPr sz="1800" spc="-2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library</a:t>
            </a:r>
            <a:r>
              <a:rPr sz="1800" spc="-2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is</a:t>
            </a:r>
            <a:r>
              <a:rPr sz="1800" spc="-2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updated,</a:t>
            </a:r>
            <a:r>
              <a:rPr sz="1800" spc="1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b="1" spc="-25" dirty="0">
                <a:solidFill>
                  <a:srgbClr val="1155CC"/>
                </a:solidFill>
                <a:latin typeface="Arial"/>
                <a:cs typeface="Arial"/>
              </a:rPr>
              <a:t>all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programs</a:t>
            </a:r>
            <a:r>
              <a:rPr sz="1800" spc="-3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using</a:t>
            </a:r>
            <a:r>
              <a:rPr sz="1800" spc="-2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it</a:t>
            </a:r>
            <a:r>
              <a:rPr sz="1800" spc="-2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benefit</a:t>
            </a:r>
            <a:r>
              <a:rPr sz="1800" spc="-2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spc="-10" dirty="0">
                <a:solidFill>
                  <a:srgbClr val="1155CC"/>
                </a:solidFill>
                <a:latin typeface="Arial MT"/>
                <a:cs typeface="Arial MT"/>
              </a:rPr>
              <a:t>instantly,</a:t>
            </a:r>
            <a:r>
              <a:rPr sz="1800" spc="-2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whereas</a:t>
            </a:r>
            <a:r>
              <a:rPr sz="1800" spc="-2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1155CC"/>
                </a:solidFill>
                <a:latin typeface="Arial MT"/>
                <a:cs typeface="Arial MT"/>
              </a:rPr>
              <a:t>in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static</a:t>
            </a:r>
            <a:r>
              <a:rPr sz="1800" spc="-3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linking,</a:t>
            </a:r>
            <a:r>
              <a:rPr sz="1800" spc="-2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each</a:t>
            </a:r>
            <a:r>
              <a:rPr sz="1800" spc="-2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executable</a:t>
            </a:r>
            <a:r>
              <a:rPr sz="1800" spc="-25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has</a:t>
            </a:r>
            <a:r>
              <a:rPr sz="1800" spc="-2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dirty="0">
                <a:solidFill>
                  <a:srgbClr val="1155CC"/>
                </a:solidFill>
                <a:latin typeface="Arial MT"/>
                <a:cs typeface="Arial MT"/>
              </a:rPr>
              <a:t>to</a:t>
            </a:r>
            <a:r>
              <a:rPr sz="1800" spc="-20" dirty="0">
                <a:solidFill>
                  <a:srgbClr val="1155CC"/>
                </a:solidFill>
                <a:latin typeface="Arial MT"/>
                <a:cs typeface="Arial MT"/>
              </a:rPr>
              <a:t> </a:t>
            </a:r>
            <a:r>
              <a:rPr sz="1800" spc="-25" dirty="0">
                <a:solidFill>
                  <a:srgbClr val="1155CC"/>
                </a:solidFill>
                <a:latin typeface="Arial MT"/>
                <a:cs typeface="Arial MT"/>
              </a:rPr>
              <a:t>be </a:t>
            </a:r>
            <a:r>
              <a:rPr sz="1800" b="1" dirty="0">
                <a:solidFill>
                  <a:srgbClr val="1155CC"/>
                </a:solidFill>
                <a:latin typeface="Arial"/>
                <a:cs typeface="Arial"/>
              </a:rPr>
              <a:t>manually</a:t>
            </a:r>
            <a:r>
              <a:rPr sz="1800" b="1" spc="-45" dirty="0">
                <a:solidFill>
                  <a:srgbClr val="1155CC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1155CC"/>
                </a:solidFill>
                <a:latin typeface="Arial"/>
                <a:cs typeface="Arial"/>
              </a:rPr>
              <a:t>recompiled</a:t>
            </a:r>
            <a:r>
              <a:rPr sz="1800" b="1" spc="-35" dirty="0">
                <a:solidFill>
                  <a:srgbClr val="1155CC"/>
                </a:solidFill>
                <a:latin typeface="Arial"/>
                <a:cs typeface="Arial"/>
              </a:rPr>
              <a:t> </a:t>
            </a:r>
            <a:r>
              <a:rPr sz="1800" b="1" dirty="0">
                <a:solidFill>
                  <a:srgbClr val="1155CC"/>
                </a:solidFill>
                <a:latin typeface="Arial"/>
                <a:cs typeface="Arial"/>
              </a:rPr>
              <a:t>and</a:t>
            </a:r>
            <a:r>
              <a:rPr sz="1800" b="1" spc="-35" dirty="0">
                <a:solidFill>
                  <a:srgbClr val="1155CC"/>
                </a:solidFill>
                <a:latin typeface="Arial"/>
                <a:cs typeface="Arial"/>
              </a:rPr>
              <a:t> </a:t>
            </a:r>
            <a:r>
              <a:rPr sz="1800" b="1" spc="-10" dirty="0">
                <a:solidFill>
                  <a:srgbClr val="1155CC"/>
                </a:solidFill>
                <a:latin typeface="Arial"/>
                <a:cs typeface="Arial"/>
              </a:rPr>
              <a:t>replaced</a:t>
            </a:r>
            <a:r>
              <a:rPr sz="1800" spc="-10" dirty="0">
                <a:solidFill>
                  <a:srgbClr val="1155CC"/>
                </a:solidFill>
                <a:latin typeface="Arial MT"/>
                <a:cs typeface="Arial MT"/>
              </a:rPr>
              <a:t>.</a:t>
            </a:r>
            <a:endParaRPr sz="1800" dirty="0">
              <a:latin typeface="Arial MT"/>
              <a:cs typeface="Arial MT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F2044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a2761ec8-7198-4440-bea0-e9dd2af28b51}" enabled="1" method="Standard" siteId="{73e15cf5-5dbb-46af-a862-753916269d73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96</TotalTime>
  <Words>3868</Words>
  <Application>Microsoft Office PowerPoint</Application>
  <PresentationFormat>Widescreen</PresentationFormat>
  <Paragraphs>366</Paragraphs>
  <Slides>30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8" baseType="lpstr">
      <vt:lpstr>MS PGothic</vt:lpstr>
      <vt:lpstr>Aptos</vt:lpstr>
      <vt:lpstr>Arial</vt:lpstr>
      <vt:lpstr>Arial MT</vt:lpstr>
      <vt:lpstr>Courier New</vt:lpstr>
      <vt:lpstr>Georgia</vt:lpstr>
      <vt:lpstr>Times New Roman</vt:lpstr>
      <vt:lpstr>Office Theme</vt:lpstr>
      <vt:lpstr>CSC 362: System Programming</vt:lpstr>
      <vt:lpstr>Status Check</vt:lpstr>
      <vt:lpstr>Compilation Stage Breakdown Preprocessing</vt:lpstr>
      <vt:lpstr>Compilation Stage Breakdown Compiling</vt:lpstr>
      <vt:lpstr>Compilation Stage Breakdown Compiling</vt:lpstr>
      <vt:lpstr>Compilation Stage Breakdown Assembling</vt:lpstr>
      <vt:lpstr>Compilation Stage Breakdown Linking</vt:lpstr>
      <vt:lpstr>Breakdown of the Flags</vt:lpstr>
      <vt:lpstr>Static Linking</vt:lpstr>
      <vt:lpstr>Static Linking vs Dynamic Linking</vt:lpstr>
      <vt:lpstr>Static Linking</vt:lpstr>
      <vt:lpstr>Static Linking</vt:lpstr>
      <vt:lpstr>Dynamic Linking</vt:lpstr>
      <vt:lpstr>Dynamic Linking</vt:lpstr>
      <vt:lpstr>Dynamic Linking Step 1: Create a Shared Library (.so file)</vt:lpstr>
      <vt:lpstr>Dynamic Linking Step 1: Create a Shared Library (.so file)</vt:lpstr>
      <vt:lpstr>Dynamic Linking Step 1: Create a Shared Library (.so file)</vt:lpstr>
      <vt:lpstr>Dynamic Linking Step 1: Create a Shared Library (.so file)</vt:lpstr>
      <vt:lpstr>Dynamic Linking Step 2: Use the Shared Library in a Program</vt:lpstr>
      <vt:lpstr>Dynamic Linking Step 3: Compile and Run the Program with Dynamic Linking</vt:lpstr>
      <vt:lpstr>Dynamic Linking Step 3: Compile and Run the Program with Dynamic Linking</vt:lpstr>
      <vt:lpstr>Dynamic Linking Step 3: Compile and Run the Program with Dynamic Linking</vt:lpstr>
      <vt:lpstr>Manual Runtime Linking dlopen(), dlsym(), and dlclose()</vt:lpstr>
      <vt:lpstr>Manual Runtime Linking dlopen(), dlsym(), and dlclose()</vt:lpstr>
      <vt:lpstr>Shared Library Versioning</vt:lpstr>
      <vt:lpstr>Shared Library Versioning</vt:lpstr>
      <vt:lpstr>Shared Library Versioning</vt:lpstr>
      <vt:lpstr>Shared Library Versioning</vt:lpstr>
      <vt:lpstr>Shared Library Versioning Create Symlinks for Versioning</vt:lpstr>
      <vt:lpstr>Why Is This Different From Recompiling?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CSC362 - Lecture 10.pptx</dc:title>
  <cp:lastModifiedBy>Richard Johnson</cp:lastModifiedBy>
  <cp:revision>96</cp:revision>
  <dcterms:created xsi:type="dcterms:W3CDTF">2026-01-14T00:59:09Z</dcterms:created>
  <dcterms:modified xsi:type="dcterms:W3CDTF">2026-02-16T14:54:14Z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2026-01-14T00:00:00Z</vt:filetime>
  </property>
  <property fmtid="{D5CDD505-2E9C-101B-9397-08002B2CF9AE}" pid="3" name="Creator">
    <vt:lpwstr>Google</vt:lpwstr>
  </property>
  <property fmtid="{D5CDD505-2E9C-101B-9397-08002B2CF9AE}" pid="4" name="LastSaved">
    <vt:filetime>2026-01-14T00:00:00Z</vt:filetime>
  </property>
</Properties>
</file>